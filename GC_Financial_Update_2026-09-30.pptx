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5.xml" ContentType="application/vnd.openxmlformats-officedocument.drawingml.chart+xml"/>
  <Override PartName="/ppt/charts/chart52.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3.xml" ContentType="application/vnd.ms-office.chartcolorstyle+xml"/>
  <Override PartName="/ppt/charts/colors4.xml" ContentType="application/vnd.ms-office.chartcolorstyle+xml"/>
  <Override PartName="/ppt/charts/style1.xml" ContentType="application/vnd.ms-office.chartstyle+xml"/>
  <Override PartName="/ppt/charts/style3.xml" ContentType="application/vnd.ms-office.chartstyle+xml"/>
  <Override PartName="/ppt/charts/style4.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6.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35"/>
  </p:notesMasterIdLst>
  <p:sldIdLst>
    <p:sldId id="2147481610" r:id="rId44"/>
    <p:sldId id="2147481611" r:id="rId45"/>
    <p:sldId id="2147481612" r:id="rId46"/>
    <p:sldId id="2147481613" r:id="rId47"/>
    <p:sldId id="2147481617" r:id="rId51"/>
    <p:sldId id="2147481632" r:id="rId66"/>
    <p:sldId id="2147481633" r:id="rId67"/>
    <p:sldId id="2147481627" r:id="rId61"/>
    <p:sldId id="2147481634" r:id="rId68"/>
    <p:sldId id="256" r:id="rId11"/>
    <p:sldId id="2147481639" r:id="rId73"/>
    <p:sldId id="2147481581" r:id="rId13"/>
    <p:sldId id="2147481635" r:id="rId69"/>
    <p:sldId id="2147481636" r:id="rId70"/>
    <p:sldId id="2147481628" r:id="rId62"/>
    <p:sldId id="2147481637" r:id="rId71"/>
    <p:sldId id="2147481644" r:id="rId78"/>
    <p:sldId id="2147481614" r:id="rId48"/>
    <p:sldId id="2147481604" r:id="rId17"/>
    <p:sldId id="2147481605" r:id="rId18"/>
    <p:sldId id="261" r:id="rId19"/>
    <p:sldId id="335" r:id="rId22"/>
    <p:sldId id="334" r:id="rId23"/>
    <p:sldId id="2147473812" r:id="rId24"/>
    <p:sldId id="2147481607" r:id="rId25"/>
    <p:sldId id="274" r:id="rId27"/>
    <p:sldId id="281" r:id="rId28"/>
    <p:sldId id="275" r:id="rId29"/>
    <p:sldId id="2147481606" r:id="rId30"/>
    <p:sldId id="260" r:id="rId31"/>
    <p:sldId id="268" r:id="rId32"/>
    <p:sldId id="269" r:id="rId33"/>
    <p:sldId id="2147481646" r:id="rId80"/>
    <p:sldId id="2147481615" r:id="rId49"/>
    <p:sldId id="2147481645" r:id="rId79"/>
    <p:sldId id="2147481631" r:id="rId65"/>
    <p:sldId id="2147481616" r:id="rId50"/>
    <p:sldId id="2147481638" r:id="rId72"/>
    <p:sldId id="2147481640" r:id="rId74"/>
    <p:sldId id="2147481641" r:id="rId75"/>
    <p:sldId id="2147481642" r:id="rId76"/>
    <p:sldId id="2147481602" r:id="rId15"/>
    <p:sldId id="262" r:id="rId20"/>
    <p:sldId id="263" r:id="rId21"/>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470"/>
            <p14:sldId id="2147481526"/>
            <p14:sldId id="2147481597"/>
            <p14:sldId id="2147481586"/>
            <p14:sldId id="256"/>
            <p14:sldId id="2147481582"/>
            <p14:sldId id="2147481581"/>
            <p14:sldId id="2147481601"/>
            <p14:sldId id="2147481602"/>
            <p14:sldId id="2147481598"/>
            <p14:sldId id="2147481604"/>
            <p14:sldId id="2147481605"/>
            <p14:sldId id="261"/>
            <p14:sldId id="262"/>
            <p14:sldId id="263"/>
            <p14:sldId id="335"/>
            <p14:sldId id="334"/>
            <p14:sldId id="2147473812"/>
            <p14:sldId id="2147481607"/>
            <p14:sldId id="2147481608"/>
            <p14:sldId id="274"/>
            <p14:sldId id="281"/>
            <p14:sldId id="275"/>
            <p14:sldId id="2147481606"/>
            <p14:sldId id="260"/>
            <p14:sldId id="268"/>
            <p14:sldId id="269"/>
            <p14:sldId id="2147481584"/>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155" d="100"/>
          <a:sy n="155" d="100"/>
        </p:scale>
        <p:origin x="3078"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5.xml"/><Relationship Id="rId13" Type="http://schemas.openxmlformats.org/officeDocument/2006/relationships/slide" Target="slides/slide7.xml"/><Relationship Id="rId15"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5" Type="http://schemas.openxmlformats.org/officeDocument/2006/relationships/notesMaster" Target="notesMasters/notes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 Id="rId42" Type="http://schemas.microsoft.com/office/2018/10/relationships/authors" Target="authors.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61" Type="http://schemas.openxmlformats.org/officeDocument/2006/relationships/slide" Target="slides/slide47.xml"/><Relationship Id="rId62" Type="http://schemas.openxmlformats.org/officeDocument/2006/relationships/slide" Target="slides/slide48.xml"/><Relationship Id="rId65" Type="http://schemas.openxmlformats.org/officeDocument/2006/relationships/slide" Target="slides/slide51.xml"/><Relationship Id="rId66" Type="http://schemas.openxmlformats.org/officeDocument/2006/relationships/slide" Target="slides/slide52.xml"/><Relationship Id="rId67" Type="http://schemas.openxmlformats.org/officeDocument/2006/relationships/slide" Target="slides/slide53.xml"/><Relationship Id="rId68" Type="http://schemas.openxmlformats.org/officeDocument/2006/relationships/slide" Target="slides/slide54.xml"/><Relationship Id="rId69" Type="http://schemas.openxmlformats.org/officeDocument/2006/relationships/slide" Target="slides/slide55.xml"/><Relationship Id="rId70" Type="http://schemas.openxmlformats.org/officeDocument/2006/relationships/slide" Target="slides/slide56.xml"/><Relationship Id="rId71"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 Id="rId78" Type="http://schemas.openxmlformats.org/officeDocument/2006/relationships/slide" Target="slides/slide64.xml"/><Relationship Id="rId79" Type="http://schemas.openxmlformats.org/officeDocument/2006/relationships/slide" Target="slides/slide65.xml"/><Relationship Id="rId80"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3.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11.xlsx"/><Relationship Id="rId4" Type="http://schemas.openxmlformats.org/officeDocument/2006/relationships/chartUserShapes" Target="../drawings/drawing1.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c:f>
              <c:numCache>
                <c:formatCode>General</c:formatCode>
                <c:ptCount val="11"/>
                <c:pt idx="0">
                  <c:v>2015</c:v>
                </c:pt>
                <c:pt idx="1">
                  <c:v>2016</c:v>
                </c:pt>
                <c:pt idx="2">
                  <c:v>2017</c:v>
                </c:pt>
                <c:pt idx="3">
                  <c:v>2018</c:v>
                </c:pt>
                <c:pt idx="4">
                  <c:v>2019</c:v>
                </c:pt>
                <c:pt idx="5">
                  <c:v>2020</c:v>
                </c:pt>
                <c:pt idx="6">
                  <c:v>2021</c:v>
                </c:pt>
                <c:pt idx="7">
                  <c:v>2022</c:v>
                </c:pt>
                <c:pt idx="8">
                  <c:v>2023</c:v>
                </c:pt>
                <c:pt idx="9">
                  <c:v>2024</c:v>
                </c:pt>
                <c:pt idx="10">
                  <c:v>2025</c:v>
                </c:pt>
              </c:numCache>
            </c:numRef>
          </c:cat>
          <c:val>
            <c:numRef>
              <c:f>Sheet1!$B$2:$B$12</c:f>
              <c:numCache>
                <c:formatCode>General</c:formatCode>
                <c:ptCount val="11"/>
                <c:pt idx="0">
                  <c:v>3</c:v>
                </c:pt>
                <c:pt idx="1">
                  <c:v>4</c:v>
                </c:pt>
                <c:pt idx="2">
                  <c:v>4</c:v>
                </c:pt>
                <c:pt idx="3">
                  <c:v>6</c:v>
                </c:pt>
                <c:pt idx="4">
                  <c:v>5</c:v>
                </c:pt>
                <c:pt idx="5">
                  <c:v>2</c:v>
                </c:pt>
                <c:pt idx="6">
                  <c:v>2</c:v>
                </c:pt>
                <c:pt idx="7">
                  <c:v>3</c:v>
                </c:pt>
                <c:pt idx="8">
                  <c:v>15</c:v>
                </c:pt>
                <c:pt idx="9">
                  <c:v>16</c:v>
                </c:pt>
                <c:pt idx="10">
                  <c:v>16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8"/>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bg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5335-4267-B8A0-8B82735AC67C}"/>
              </c:ext>
            </c:extLst>
          </c:dPt>
          <c:cat>
            <c:strRef>
              <c:f>Sheet1!$A$2:$A$5</c:f>
              <c:strCache>
                <c:ptCount val="4"/>
                <c:pt idx="0">
                  <c:v>p0</c:v>
                </c:pt>
                <c:pt idx="1">
                  <c:v>p1</c:v>
                </c:pt>
                <c:pt idx="2">
                  <c:v>p2</c:v>
                </c:pt>
                <c:pt idx="3">
                  <c:v>p3</c:v>
                </c:pt>
              </c:strCache>
            </c:strRef>
          </c:cat>
          <c:val>
            <c:numRef>
              <c:f>Sheet1!$B$2:$B$5</c:f>
              <c:numCache>
                <c:formatCode>General</c:formatCode>
                <c:ptCount val="4"/>
                <c:pt idx="0">
                  <c:v>1474</c:v>
                </c:pt>
                <c:pt idx="1">
                  <c:v>1638</c:v>
                </c:pt>
                <c:pt idx="2">
                  <c:v>1772</c:v>
                </c:pt>
                <c:pt idx="3">
                  <c:v>1782</c:v>
                </c:pt>
              </c:numCache>
            </c:numRef>
          </c:val>
          <c:smooth val="0"/>
          <c:extLst>
            <c:ext xmlns:c16="http://schemas.microsoft.com/office/drawing/2014/chart" uri="{C3380CC4-5D6E-409C-BE32-E72D297353CC}">
              <c16:uniqueId val="{00000001-5335-4267-B8A0-8B82735AC6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889.8"/>
          <c:min val="1366.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10B8-43B7-8C04-18173E04C150}"/>
              </c:ext>
            </c:extLst>
          </c:dPt>
          <c:cat>
            <c:strRef>
              <c:f>Sheet1!$A$2:$A$5</c:f>
              <c:strCache>
                <c:ptCount val="4"/>
                <c:pt idx="0">
                  <c:v>p0</c:v>
                </c:pt>
                <c:pt idx="1">
                  <c:v>p1</c:v>
                </c:pt>
                <c:pt idx="2">
                  <c:v>p2</c:v>
                </c:pt>
                <c:pt idx="3">
                  <c:v>p3</c:v>
                </c:pt>
              </c:strCache>
            </c:strRef>
          </c:cat>
          <c:val>
            <c:numRef>
              <c:f>Sheet1!$B$2:$B$5</c:f>
              <c:numCache>
                <c:formatCode>General</c:formatCode>
                <c:ptCount val="4"/>
                <c:pt idx="0">
                  <c:v>2063</c:v>
                </c:pt>
                <c:pt idx="1">
                  <c:v>2297</c:v>
                </c:pt>
                <c:pt idx="2">
                  <c:v>2442</c:v>
                </c:pt>
                <c:pt idx="3">
                  <c:v>2473</c:v>
                </c:pt>
              </c:numCache>
            </c:numRef>
          </c:val>
          <c:smooth val="0"/>
          <c:extLst>
            <c:ext xmlns:c16="http://schemas.microsoft.com/office/drawing/2014/chart" uri="{C3380CC4-5D6E-409C-BE32-E72D297353CC}">
              <c16:uniqueId val="{00000001-10B8-43B7-8C04-18173E04C15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616.5"/>
          <c:min val="191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BA5-4E96-BF12-160A8122BDC1}"/>
              </c:ext>
            </c:extLst>
          </c:dPt>
          <c:cat>
            <c:strRef>
              <c:f>Sheet1!$A$2:$A$5</c:f>
              <c:strCache>
                <c:ptCount val="4"/>
                <c:pt idx="0">
                  <c:v>p0</c:v>
                </c:pt>
                <c:pt idx="1">
                  <c:v>p1</c:v>
                </c:pt>
                <c:pt idx="2">
                  <c:v>p2</c:v>
                </c:pt>
                <c:pt idx="3">
                  <c:v>p3</c:v>
                </c:pt>
              </c:strCache>
            </c:strRef>
          </c:cat>
          <c:val>
            <c:numRef>
              <c:f>Sheet1!$B$2:$B$5</c:f>
              <c:numCache>
                <c:formatCode>General</c:formatCode>
                <c:ptCount val="4"/>
                <c:pt idx="0">
                  <c:v>1908</c:v>
                </c:pt>
                <c:pt idx="1">
                  <c:v>2162</c:v>
                </c:pt>
                <c:pt idx="2">
                  <c:v>2321</c:v>
                </c:pt>
                <c:pt idx="3">
                  <c:v>2353</c:v>
                </c:pt>
              </c:numCache>
            </c:numRef>
          </c:val>
          <c:smooth val="0"/>
          <c:extLst>
            <c:ext xmlns:c16="http://schemas.microsoft.com/office/drawing/2014/chart" uri="{C3380CC4-5D6E-409C-BE32-E72D297353CC}">
              <c16:uniqueId val="{00000001-6BA5-4E96-BF12-160A8122BDC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08.75"/>
          <c:min val="1752.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21E3-4BB7-85E9-E2032FC16804}"/>
              </c:ext>
            </c:extLst>
          </c:dPt>
          <c:cat>
            <c:strRef>
              <c:f>Sheet1!$A$2:$A$5</c:f>
              <c:strCache>
                <c:ptCount val="4"/>
                <c:pt idx="0">
                  <c:v>p0</c:v>
                </c:pt>
                <c:pt idx="1">
                  <c:v>p1</c:v>
                </c:pt>
                <c:pt idx="2">
                  <c:v>p2</c:v>
                </c:pt>
                <c:pt idx="3">
                  <c:v>p3</c:v>
                </c:pt>
              </c:strCache>
            </c:strRef>
          </c:cat>
          <c:val>
            <c:numRef>
              <c:f>Sheet1!$B$2:$B$5</c:f>
              <c:numCache>
                <c:formatCode>General</c:formatCode>
                <c:ptCount val="4"/>
                <c:pt idx="0">
                  <c:v>156</c:v>
                </c:pt>
                <c:pt idx="1">
                  <c:v>135</c:v>
                </c:pt>
                <c:pt idx="2">
                  <c:v>121</c:v>
                </c:pt>
                <c:pt idx="3">
                  <c:v>120</c:v>
                </c:pt>
              </c:numCache>
            </c:numRef>
          </c:val>
          <c:smooth val="0"/>
          <c:extLst>
            <c:ext xmlns:c16="http://schemas.microsoft.com/office/drawing/2014/chart" uri="{C3380CC4-5D6E-409C-BE32-E72D297353CC}">
              <c16:uniqueId val="{00000001-21E3-4BB7-85E9-E2032FC1680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68.6"/>
          <c:min val="107.4"/>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558-4A0B-BDDB-66600DAB8E93}"/>
              </c:ext>
            </c:extLst>
          </c:dPt>
          <c:cat>
            <c:strRef>
              <c:f>Sheet1!$A$2:$A$5</c:f>
              <c:strCache>
                <c:ptCount val="4"/>
                <c:pt idx="0">
                  <c:v>p0</c:v>
                </c:pt>
                <c:pt idx="1">
                  <c:v>p1</c:v>
                </c:pt>
                <c:pt idx="2">
                  <c:v>p2</c:v>
                </c:pt>
                <c:pt idx="3">
                  <c:v>p3</c:v>
                </c:pt>
              </c:strCache>
            </c:strRef>
          </c:cat>
          <c:val>
            <c:numRef>
              <c:f>Sheet1!$B$2:$B$5</c:f>
              <c:numCache>
                <c:formatCode>General</c:formatCode>
                <c:ptCount val="4"/>
                <c:pt idx="0">
                  <c:v>7.5</c:v>
                </c:pt>
                <c:pt idx="1">
                  <c:v>5.9</c:v>
                </c:pt>
                <c:pt idx="2">
                  <c:v>4.9000000000000004</c:v>
                </c:pt>
                <c:pt idx="3">
                  <c:v>4.9000000000000004</c:v>
                </c:pt>
              </c:numCache>
            </c:numRef>
          </c:val>
          <c:smooth val="0"/>
          <c:extLst>
            <c:ext xmlns:c16="http://schemas.microsoft.com/office/drawing/2014/chart" uri="{C3380CC4-5D6E-409C-BE32-E72D297353CC}">
              <c16:uniqueId val="{00000001-6558-4A0B-BDDB-66600DAB8E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8.41"/>
          <c:min val="3.9900000000000007"/>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7EAE-4D98-90D3-1A6D91A95292}"/>
              </c:ext>
            </c:extLst>
          </c:dPt>
          <c:cat>
            <c:strRef>
              <c:f>Sheet1!$A$2:$A$5</c:f>
              <c:strCache>
                <c:ptCount val="4"/>
                <c:pt idx="0">
                  <c:v>p0</c:v>
                </c:pt>
                <c:pt idx="1">
                  <c:v>p1</c:v>
                </c:pt>
                <c:pt idx="2">
                  <c:v>p2</c:v>
                </c:pt>
                <c:pt idx="3">
                  <c:v>p3</c:v>
                </c:pt>
              </c:strCache>
            </c:strRef>
          </c:cat>
          <c:val>
            <c:numRef>
              <c:f>Sheet1!$B$2:$B$5</c:f>
              <c:numCache>
                <c:formatCode>General</c:formatCode>
                <c:ptCount val="4"/>
                <c:pt idx="0">
                  <c:v>282</c:v>
                </c:pt>
                <c:pt idx="1">
                  <c:v>296</c:v>
                </c:pt>
                <c:pt idx="2">
                  <c:v>267</c:v>
                </c:pt>
                <c:pt idx="3">
                  <c:v>291</c:v>
                </c:pt>
              </c:numCache>
            </c:numRef>
          </c:val>
          <c:smooth val="0"/>
          <c:extLst>
            <c:ext xmlns:c16="http://schemas.microsoft.com/office/drawing/2014/chart" uri="{C3380CC4-5D6E-409C-BE32-E72D297353CC}">
              <c16:uniqueId val="{00000001-7EAE-4D98-90D3-1A6D91A9529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06.14999999999998"/>
          <c:min val="256.8500000000000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9023-490B-8300-3D05C1CDF626}"/>
              </c:ext>
            </c:extLst>
          </c:dPt>
          <c:cat>
            <c:strRef>
              <c:f>Sheet1!$A$2:$A$5</c:f>
              <c:strCache>
                <c:ptCount val="4"/>
                <c:pt idx="0">
                  <c:v>p0</c:v>
                </c:pt>
                <c:pt idx="1">
                  <c:v>p1</c:v>
                </c:pt>
                <c:pt idx="2">
                  <c:v>p2</c:v>
                </c:pt>
                <c:pt idx="3">
                  <c:v>p3</c:v>
                </c:pt>
              </c:strCache>
            </c:strRef>
          </c:cat>
          <c:val>
            <c:numRef>
              <c:f>Sheet1!$B$2:$B$5</c:f>
              <c:numCache>
                <c:formatCode>General</c:formatCode>
                <c:ptCount val="4"/>
                <c:pt idx="0">
                  <c:v>120</c:v>
                </c:pt>
                <c:pt idx="1">
                  <c:v>370</c:v>
                </c:pt>
                <c:pt idx="2">
                  <c:v>130</c:v>
                </c:pt>
                <c:pt idx="3">
                  <c:v>125</c:v>
                </c:pt>
              </c:numCache>
            </c:numRef>
          </c:val>
          <c:smooth val="0"/>
          <c:extLst>
            <c:ext xmlns:c16="http://schemas.microsoft.com/office/drawing/2014/chart" uri="{C3380CC4-5D6E-409C-BE32-E72D297353CC}">
              <c16:uniqueId val="{00000001-9023-490B-8300-3D05C1CDF626}"/>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457.5"/>
          <c:min val="3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BF85-45C6-B44D-ECFC0460F120}"/>
              </c:ext>
            </c:extLst>
          </c:dPt>
          <c:cat>
            <c:strRef>
              <c:f>Sheet1!$A$2:$A$5</c:f>
              <c:strCache>
                <c:ptCount val="4"/>
                <c:pt idx="0">
                  <c:v>p0</c:v>
                </c:pt>
                <c:pt idx="1">
                  <c:v>p1</c:v>
                </c:pt>
                <c:pt idx="2">
                  <c:v>p2</c:v>
                </c:pt>
                <c:pt idx="3">
                  <c:v>p3</c:v>
                </c:pt>
              </c:strCache>
            </c:strRef>
          </c:cat>
          <c:val>
            <c:numRef>
              <c:f>Sheet1!$B$2:$B$5</c:f>
              <c:numCache>
                <c:formatCode>General</c:formatCode>
                <c:ptCount val="4"/>
                <c:pt idx="0">
                  <c:v>3741</c:v>
                </c:pt>
                <c:pt idx="1">
                  <c:v>4110</c:v>
                </c:pt>
                <c:pt idx="2">
                  <c:v>4363</c:v>
                </c:pt>
                <c:pt idx="3">
                  <c:v>5050</c:v>
                </c:pt>
              </c:numCache>
            </c:numRef>
          </c:val>
          <c:smooth val="0"/>
          <c:extLst>
            <c:ext xmlns:c16="http://schemas.microsoft.com/office/drawing/2014/chart" uri="{C3380CC4-5D6E-409C-BE32-E72D297353CC}">
              <c16:uniqueId val="{00000001-BF85-45C6-B44D-ECFC0460F12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5508.15"/>
          <c:min val="3282.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0400-403D-8886-26E44EBEBBF3}"/>
              </c:ext>
            </c:extLst>
          </c:dPt>
          <c:cat>
            <c:strRef>
              <c:f>Sheet1!$A$2:$A$5</c:f>
              <c:strCache>
                <c:ptCount val="4"/>
                <c:pt idx="0">
                  <c:v>p0</c:v>
                </c:pt>
                <c:pt idx="1">
                  <c:v>p1</c:v>
                </c:pt>
                <c:pt idx="2">
                  <c:v>p2</c:v>
                </c:pt>
                <c:pt idx="3">
                  <c:v>p3</c:v>
                </c:pt>
              </c:strCache>
            </c:strRef>
          </c:cat>
          <c:val>
            <c:numRef>
              <c:f>Sheet1!$B$2:$B$5</c:f>
              <c:numCache>
                <c:formatCode>General</c:formatCode>
                <c:ptCount val="4"/>
                <c:pt idx="0">
                  <c:v>3.4</c:v>
                </c:pt>
                <c:pt idx="1">
                  <c:v>3.3</c:v>
                </c:pt>
                <c:pt idx="2">
                  <c:v>3.5</c:v>
                </c:pt>
                <c:pt idx="3">
                  <c:v>3.4</c:v>
                </c:pt>
              </c:numCache>
            </c:numRef>
          </c:val>
          <c:smooth val="0"/>
          <c:extLst>
            <c:ext xmlns:c16="http://schemas.microsoft.com/office/drawing/2014/chart" uri="{C3380CC4-5D6E-409C-BE32-E72D297353CC}">
              <c16:uniqueId val="{00000001-0400-403D-8886-26E44EBEBBF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5700000000000003"/>
          <c:min val="3.22999999999999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3F7D-4598-8EEE-156FA4B2C161}"/>
              </c:ext>
            </c:extLst>
          </c:dPt>
          <c:cat>
            <c:strRef>
              <c:f>Sheet1!$A$2:$A$5</c:f>
              <c:strCache>
                <c:ptCount val="4"/>
                <c:pt idx="0">
                  <c:v>p0</c:v>
                </c:pt>
                <c:pt idx="1">
                  <c:v>p1</c:v>
                </c:pt>
                <c:pt idx="2">
                  <c:v>p2</c:v>
                </c:pt>
                <c:pt idx="3">
                  <c:v>p3</c:v>
                </c:pt>
              </c:strCache>
            </c:strRef>
          </c:cat>
          <c:val>
            <c:numRef>
              <c:f>Sheet1!$B$2:$B$5</c:f>
              <c:numCache>
                <c:formatCode>General</c:formatCode>
                <c:ptCount val="4"/>
                <c:pt idx="0">
                  <c:v>1292</c:v>
                </c:pt>
                <c:pt idx="1">
                  <c:v>1257</c:v>
                </c:pt>
                <c:pt idx="2">
                  <c:v>1432</c:v>
                </c:pt>
                <c:pt idx="3">
                  <c:v>1954</c:v>
                </c:pt>
              </c:numCache>
            </c:numRef>
          </c:val>
          <c:smooth val="0"/>
          <c:extLst>
            <c:ext xmlns:c16="http://schemas.microsoft.com/office/drawing/2014/chart" uri="{C3380CC4-5D6E-409C-BE32-E72D297353CC}">
              <c16:uniqueId val="{00000001-3F7D-4598-8EEE-156FA4B2C1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197.9499999999998"/>
          <c:min val="1013.0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A72F-4EEB-9676-B95609204D61}"/>
              </c:ext>
            </c:extLst>
          </c:dPt>
          <c:cat>
            <c:strRef>
              <c:f>Sheet1!$A$2:$A$5</c:f>
              <c:strCache>
                <c:ptCount val="4"/>
                <c:pt idx="0">
                  <c:v>p0</c:v>
                </c:pt>
                <c:pt idx="1">
                  <c:v>p1</c:v>
                </c:pt>
                <c:pt idx="2">
                  <c:v>p2</c:v>
                </c:pt>
                <c:pt idx="3">
                  <c:v>p3</c:v>
                </c:pt>
              </c:strCache>
            </c:strRef>
          </c:cat>
          <c:val>
            <c:numRef>
              <c:f>Sheet1!$B$2:$B$5</c:f>
              <c:numCache>
                <c:formatCode>General</c:formatCode>
                <c:ptCount val="4"/>
                <c:pt idx="0">
                  <c:v>563</c:v>
                </c:pt>
                <c:pt idx="1">
                  <c:v>546</c:v>
                </c:pt>
                <c:pt idx="2">
                  <c:v>412</c:v>
                </c:pt>
                <c:pt idx="3">
                  <c:v>572</c:v>
                </c:pt>
              </c:numCache>
            </c:numRef>
          </c:val>
          <c:smooth val="0"/>
          <c:extLst>
            <c:ext xmlns:c16="http://schemas.microsoft.com/office/drawing/2014/chart" uri="{C3380CC4-5D6E-409C-BE32-E72D297353CC}">
              <c16:uniqueId val="{00000001-A72F-4EEB-9676-B95609204D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628"/>
          <c:min val="35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FA44-4DAE-A63A-1B1AC4627DB8}"/>
              </c:ext>
            </c:extLst>
          </c:dPt>
          <c:cat>
            <c:strRef>
              <c:f>Sheet1!$A$2:$A$5</c:f>
              <c:strCache>
                <c:ptCount val="4"/>
                <c:pt idx="0">
                  <c:v>p0</c:v>
                </c:pt>
                <c:pt idx="1">
                  <c:v>p1</c:v>
                </c:pt>
                <c:pt idx="2">
                  <c:v>p2</c:v>
                </c:pt>
                <c:pt idx="3">
                  <c:v>p3</c:v>
                </c:pt>
              </c:strCache>
            </c:strRef>
          </c:cat>
          <c:val>
            <c:numRef>
              <c:f>Sheet1!$B$2:$B$5</c:f>
              <c:numCache>
                <c:formatCode>General</c:formatCode>
                <c:ptCount val="4"/>
                <c:pt idx="0">
                  <c:v>1714</c:v>
                </c:pt>
                <c:pt idx="1">
                  <c:v>1906</c:v>
                </c:pt>
                <c:pt idx="2">
                  <c:v>2110</c:v>
                </c:pt>
                <c:pt idx="3">
                  <c:v>2343</c:v>
                </c:pt>
              </c:numCache>
            </c:numRef>
          </c:val>
          <c:smooth val="0"/>
          <c:extLst>
            <c:ext xmlns:c16="http://schemas.microsoft.com/office/drawing/2014/chart" uri="{C3380CC4-5D6E-409C-BE32-E72D297353CC}">
              <c16:uniqueId val="{00000001-FA44-4DAE-A63A-1B1AC4627DB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63.15"/>
          <c:min val="1493.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Net Tuition &amp; Fees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9D70-4E7C-90C7-4DADF39FEFB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9D70-4E7C-90C7-4DADF39FEFB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9D70-4E7C-90C7-4DADF39FEFB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1248</c:v>
                </c:pt>
                <c:pt idx="1">
                  <c:v>1474</c:v>
                </c:pt>
                <c:pt idx="2">
                  <c:v>1638</c:v>
                </c:pt>
                <c:pt idx="3">
                  <c:v>1772</c:v>
                </c:pt>
                <c:pt idx="4">
                  <c:v>1782</c:v>
                </c:pt>
              </c:numCache>
            </c:numRef>
          </c:val>
          <c:smooth val="0"/>
          <c:extLst>
            <c:ext xmlns:c16="http://schemas.microsoft.com/office/drawing/2014/chart" uri="{C3380CC4-5D6E-409C-BE32-E72D297353CC}">
              <c16:uniqueId val="{00000002-9D70-4E7C-90C7-4DADF39FEFB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835.4"/>
          <c:min val="1114.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Research Awards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212B-4C58-BFEE-0E98B2A17B7C}"/>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212B-4C58-BFEE-0E98B2A17B7C}"/>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212B-4C58-BFEE-0E98B2A17B7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232</c:v>
                </c:pt>
                <c:pt idx="1">
                  <c:v>282</c:v>
                </c:pt>
                <c:pt idx="2">
                  <c:v>296</c:v>
                </c:pt>
                <c:pt idx="3">
                  <c:v>267</c:v>
                </c:pt>
                <c:pt idx="4">
                  <c:v>291</c:v>
                </c:pt>
              </c:numCache>
            </c:numRef>
          </c:val>
          <c:smooth val="0"/>
          <c:extLst>
            <c:ext xmlns:c16="http://schemas.microsoft.com/office/drawing/2014/chart" uri="{C3380CC4-5D6E-409C-BE32-E72D297353CC}">
              <c16:uniqueId val="{00000002-212B-4C58-BFEE-0E98B2A17B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02.39999999999998"/>
          <c:min val="21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Philanthropy</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32CD-41DE-9A95-27CC7B738D7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32CD-41DE-9A95-27CC7B738D7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32CD-41DE-9A95-27CC7B738D7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99</c:v>
                </c:pt>
                <c:pt idx="1">
                  <c:v>120</c:v>
                </c:pt>
                <c:pt idx="2">
                  <c:v>370</c:v>
                </c:pt>
                <c:pt idx="3">
                  <c:v>130</c:v>
                </c:pt>
                <c:pt idx="4">
                  <c:v>125</c:v>
                </c:pt>
              </c:numCache>
            </c:numRef>
          </c:val>
          <c:smooth val="0"/>
          <c:extLst>
            <c:ext xmlns:c16="http://schemas.microsoft.com/office/drawing/2014/chart" uri="{C3380CC4-5D6E-409C-BE32-E72D297353CC}">
              <c16:uniqueId val="{00000002-32CD-41DE-9A95-27CC7B738D7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99.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Revenue</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178F-4D1B-AA44-A643A3DE9D93}"/>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78F-4D1B-AA44-A643A3DE9D93}"/>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78F-4D1B-AA44-A643A3DE9D9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1777</c:v>
                </c:pt>
                <c:pt idx="1">
                  <c:v>2063</c:v>
                </c:pt>
                <c:pt idx="2">
                  <c:v>2297</c:v>
                </c:pt>
                <c:pt idx="3">
                  <c:v>2442</c:v>
                </c:pt>
                <c:pt idx="4">
                  <c:v>2473</c:v>
                </c:pt>
              </c:numCache>
            </c:numRef>
          </c:val>
          <c:smooth val="0"/>
          <c:extLst>
            <c:ext xmlns:c16="http://schemas.microsoft.com/office/drawing/2014/chart" uri="{C3380CC4-5D6E-409C-BE32-E72D297353CC}">
              <c16:uniqueId val="{00000002-178F-4D1B-AA44-A643A3DE9D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542.6"/>
          <c:min val="1603"/>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Expenses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C357-4C85-806B-7E2E64513A5D}"/>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C357-4C85-806B-7E2E64513A5D}"/>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C357-4C85-806B-7E2E64513A5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1598</c:v>
                </c:pt>
                <c:pt idx="1">
                  <c:v>1908</c:v>
                </c:pt>
                <c:pt idx="2">
                  <c:v>2162</c:v>
                </c:pt>
                <c:pt idx="3">
                  <c:v>2321</c:v>
                </c:pt>
                <c:pt idx="4">
                  <c:v>2353</c:v>
                </c:pt>
              </c:numCache>
            </c:numRef>
          </c:val>
          <c:smooth val="0"/>
          <c:extLst>
            <c:ext xmlns:c16="http://schemas.microsoft.com/office/drawing/2014/chart" uri="{C3380CC4-5D6E-409C-BE32-E72D297353CC}">
              <c16:uniqueId val="{00000002-C357-4C85-806B-7E2E64513A5D}"/>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428.5"/>
          <c:min val="1409.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7EB9-4192-ACB3-7A5B2A54C285}"/>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7EB9-4192-ACB3-7A5B2A54C285}"/>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7EB9-4192-ACB3-7A5B2A54C28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180</c:v>
                </c:pt>
                <c:pt idx="1">
                  <c:v>156</c:v>
                </c:pt>
                <c:pt idx="2">
                  <c:v>135.19999999999999</c:v>
                </c:pt>
                <c:pt idx="3">
                  <c:v>120.7</c:v>
                </c:pt>
                <c:pt idx="4">
                  <c:v>120.1</c:v>
                </c:pt>
              </c:numCache>
            </c:numRef>
          </c:val>
          <c:smooth val="0"/>
          <c:extLst>
            <c:ext xmlns:c16="http://schemas.microsoft.com/office/drawing/2014/chart" uri="{C3380CC4-5D6E-409C-BE32-E72D297353CC}">
              <c16:uniqueId val="{00000002-7EB9-4192-ACB3-7A5B2A54C28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94.4"/>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D869-473F-81C2-A303C48DD544}"/>
              </c:ext>
            </c:extLst>
          </c:dPt>
          <c:dLbls>
            <c:dLbl>
              <c:idx val="0"/>
              <c:numFmt formatCode="0.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D869-473F-81C2-A303C48DD544}"/>
                </c:ext>
              </c:extLst>
            </c:dLbl>
            <c:dLbl>
              <c:idx val="4"/>
              <c:numFmt formatCode="0.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D869-473F-81C2-A303C48DD54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0.10073157006190209</c:v>
                </c:pt>
                <c:pt idx="1">
                  <c:v>7.4999999999999997E-2</c:v>
                </c:pt>
                <c:pt idx="2">
                  <c:v>5.8999999999999997E-2</c:v>
                </c:pt>
                <c:pt idx="3">
                  <c:v>4.9000000000000002E-2</c:v>
                </c:pt>
                <c:pt idx="4">
                  <c:v>4.9000000000000002E-2</c:v>
                </c:pt>
              </c:numCache>
            </c:numRef>
          </c:val>
          <c:smooth val="0"/>
          <c:extLst>
            <c:ext xmlns:c16="http://schemas.microsoft.com/office/drawing/2014/chart" uri="{C3380CC4-5D6E-409C-BE32-E72D297353CC}">
              <c16:uniqueId val="{00000002-D869-473F-81C2-A303C48DD54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0.1087900956668542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0.115</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4.9460762227609832E-2"/>
          <c:y val="0.10349034212645429"/>
          <c:w val="0.93805059108755817"/>
          <c:h val="0.61650179765270907"/>
        </c:manualLayout>
      </c:layout>
      <c:barChart>
        <c:barDir val="col"/>
        <c:grouping val="clustered"/>
        <c:varyColors val="1"/>
        <c:ser>
          <c:idx val="0"/>
          <c:order val="0"/>
          <c:tx>
            <c:strRef>
              <c:f>Sheet1!$B$1</c:f>
              <c:strCache>
                <c:ptCount val="1"/>
                <c:pt idx="0">
                  <c:v>FY25 EBIDA margin</c:v>
                </c:pt>
              </c:strCache>
            </c:strRef>
          </c:tx>
          <c:spPr>
            <a:solidFill>
              <a:srgbClr val="7F7F7F"/>
            </a:solidFill>
            <a:ln>
              <a:solidFill>
                <a:schemeClr val="bg1"/>
              </a:solidFill>
            </a:ln>
          </c:spPr>
          <c:invertIfNegative val="1"/>
          <c:dPt>
            <c:idx val="16"/>
            <c:invertIfNegative val="1"/>
            <c:bubble3D val="0"/>
            <c:spPr>
              <a:solidFill>
                <a:srgbClr val="C8102E"/>
              </a:solidFill>
              <a:ln>
                <a:solidFill>
                  <a:schemeClr val="bg1"/>
                </a:solidFill>
              </a:ln>
            </c:spPr>
            <c:extLst>
              <c:ext xmlns:c16="http://schemas.microsoft.com/office/drawing/2014/chart" uri="{C3380CC4-5D6E-409C-BE32-E72D297353CC}">
                <c16:uniqueId val="{00000001-F1A1-499D-BD85-758D35ED83C8}"/>
              </c:ext>
            </c:extLst>
          </c:dPt>
          <c:dLbls>
            <c:numFmt formatCode="#,##0.0" sourceLinked="0"/>
            <c:spPr>
              <a:noFill/>
              <a:ln>
                <a:noFill/>
              </a:ln>
              <a:effectLst/>
            </c:spPr>
            <c:txPr>
              <a:bodyPr/>
              <a:lstStyle/>
              <a:p>
                <a:pPr>
                  <a:defRPr sz="1400" b="1">
                    <a:solidFill>
                      <a:srgbClr val="000000"/>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Sheet1!$A$2:$A$23</c:f>
              <c:strCache>
                <c:ptCount val="22"/>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pt idx="21">
                  <c:v>Drexel †</c:v>
                </c:pt>
              </c:strCache>
            </c:strRef>
          </c:cat>
          <c:val>
            <c:numRef>
              <c:f>Sheet1!$B$2:$B$23</c:f>
              <c:numCache>
                <c:formatCode>General</c:formatCode>
                <c:ptCount val="22"/>
                <c:pt idx="0">
                  <c:v>9.9700000000000006</c:v>
                </c:pt>
                <c:pt idx="1">
                  <c:v>23.88</c:v>
                </c:pt>
                <c:pt idx="2">
                  <c:v>18.059999999999999</c:v>
                </c:pt>
                <c:pt idx="3">
                  <c:v>9.86</c:v>
                </c:pt>
                <c:pt idx="4">
                  <c:v>6.85</c:v>
                </c:pt>
                <c:pt idx="5">
                  <c:v>5.64</c:v>
                </c:pt>
                <c:pt idx="6">
                  <c:v>4.8600000000000003</c:v>
                </c:pt>
                <c:pt idx="7">
                  <c:v>9.85</c:v>
                </c:pt>
                <c:pt idx="8">
                  <c:v>7.15</c:v>
                </c:pt>
                <c:pt idx="9">
                  <c:v>2.94</c:v>
                </c:pt>
                <c:pt idx="10">
                  <c:v>18.260000000000002</c:v>
                </c:pt>
                <c:pt idx="11">
                  <c:v>14.96</c:v>
                </c:pt>
                <c:pt idx="12">
                  <c:v>11.39</c:v>
                </c:pt>
                <c:pt idx="13">
                  <c:v>10.5</c:v>
                </c:pt>
                <c:pt idx="14">
                  <c:v>9.66</c:v>
                </c:pt>
                <c:pt idx="15">
                  <c:v>9.07</c:v>
                </c:pt>
                <c:pt idx="16">
                  <c:v>9.4600000000000009</c:v>
                </c:pt>
                <c:pt idx="17">
                  <c:v>8.34</c:v>
                </c:pt>
                <c:pt idx="18">
                  <c:v>10.95</c:v>
                </c:pt>
                <c:pt idx="19">
                  <c:v>0.69</c:v>
                </c:pt>
                <c:pt idx="20">
                  <c:v>10.68</c:v>
                </c:pt>
                <c:pt idx="21">
                  <c:v>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bg1"/>
                    </a:solidFill>
                  </a:ln>
                </c14:spPr>
              </c14:invertSolidFillFmt>
            </c:ext>
            <c:ext xmlns:c16="http://schemas.microsoft.com/office/drawing/2014/chart" uri="{C3380CC4-5D6E-409C-BE32-E72D297353CC}">
              <c16:uniqueId val="{00000002-B892-41E2-91C4-A305EB5790DF}"/>
            </c:ext>
          </c:extLst>
        </c:ser>
        <c:dLbls>
          <c:dLblPos val="outEnd"/>
          <c:showLegendKey val="0"/>
          <c:showVal val="1"/>
          <c:showCatName val="0"/>
          <c:showSerName val="0"/>
          <c:showPercent val="0"/>
          <c:showBubbleSize val="0"/>
        </c:dLbls>
        <c:gapWidth val="45"/>
        <c:axId val="-2068027336"/>
        <c:axId val="-2113994440"/>
      </c:barChart>
      <c:lineChart>
        <c:grouping val="standard"/>
        <c:varyColors val="0"/>
        <c:ser>
          <c:idx val="2"/>
          <c:order val="1"/>
          <c:tx>
            <c:strRef>
              <c:f>Sheet1!$D$1</c:f>
              <c:strCache>
                <c:ptCount val="1"/>
                <c:pt idx="0">
                  <c:v>Moody’s broad A median — 11.5%</c:v>
                </c:pt>
              </c:strCache>
            </c:strRef>
          </c:tx>
          <c:spPr>
            <a:ln w="31750">
              <a:solidFill>
                <a:srgbClr val="000000"/>
              </a:solidFill>
              <a:prstDash val="dash"/>
            </a:ln>
          </c:spPr>
          <c:marker>
            <c:symbol val="none"/>
          </c:marker>
          <c:cat>
            <c:strRef>
              <c:f>Sheet1!$A$2:$A$22</c:f>
              <c:strCache>
                <c:ptCount val="21"/>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strCache>
            </c:strRef>
          </c:cat>
          <c:val>
            <c:numRef>
              <c:f>Sheet1!$D$2:$D$23</c:f>
              <c:numCache>
                <c:formatCode>General</c:formatCode>
                <c:ptCount val="22"/>
                <c:pt idx="0">
                  <c:v>11.5</c:v>
                </c:pt>
                <c:pt idx="1">
                  <c:v>11.5</c:v>
                </c:pt>
                <c:pt idx="2">
                  <c:v>11.5</c:v>
                </c:pt>
                <c:pt idx="3">
                  <c:v>11.5</c:v>
                </c:pt>
                <c:pt idx="4">
                  <c:v>11.5</c:v>
                </c:pt>
                <c:pt idx="5">
                  <c:v>11.5</c:v>
                </c:pt>
                <c:pt idx="6">
                  <c:v>11.5</c:v>
                </c:pt>
                <c:pt idx="7">
                  <c:v>11.5</c:v>
                </c:pt>
                <c:pt idx="8">
                  <c:v>11.5</c:v>
                </c:pt>
                <c:pt idx="9">
                  <c:v>11.5</c:v>
                </c:pt>
                <c:pt idx="10">
                  <c:v>11.5</c:v>
                </c:pt>
                <c:pt idx="11">
                  <c:v>11.5</c:v>
                </c:pt>
                <c:pt idx="12">
                  <c:v>11.5</c:v>
                </c:pt>
                <c:pt idx="13">
                  <c:v>11.5</c:v>
                </c:pt>
                <c:pt idx="14">
                  <c:v>11.5</c:v>
                </c:pt>
                <c:pt idx="15">
                  <c:v>11.5</c:v>
                </c:pt>
                <c:pt idx="16">
                  <c:v>11.5</c:v>
                </c:pt>
                <c:pt idx="17">
                  <c:v>11.5</c:v>
                </c:pt>
                <c:pt idx="18">
                  <c:v>11.5</c:v>
                </c:pt>
                <c:pt idx="19">
                  <c:v>11.5</c:v>
                </c:pt>
                <c:pt idx="20">
                  <c:v>11.5</c:v>
                </c:pt>
                <c:pt idx="21">
                  <c:v>11.5</c:v>
                </c:pt>
              </c:numCache>
            </c:numRef>
          </c:val>
          <c:smooth val="0"/>
          <c:extLst>
            <c:ext xmlns:c16="http://schemas.microsoft.com/office/drawing/2014/chart" uri="{C3380CC4-5D6E-409C-BE32-E72D297353CC}">
              <c16:uniqueId val="{00000003-B892-41E2-91C4-A305EB5790D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chemeClr val="bg1"/>
            </a:solidFill>
          </a:ln>
        </c:spPr>
        <c:txPr>
          <a:bodyPr/>
          <a:lstStyle/>
          <a:p>
            <a:pPr>
              <a:defRPr sz="1100">
                <a:solidFill>
                  <a:schemeClr val="bg1"/>
                </a:solidFill>
                <a:latin typeface="Lato"/>
              </a:defRPr>
            </a:pPr>
            <a:endParaRPr lang="en-US"/>
          </a:p>
        </c:txPr>
        <c:crossAx val="-2113994440"/>
        <c:crosses val="autoZero"/>
        <c:auto val="1"/>
        <c:lblAlgn val="ctr"/>
        <c:lblOffset val="100"/>
        <c:noMultiLvlLbl val="0"/>
      </c:catAx>
      <c:valAx>
        <c:axId val="-2113994440"/>
        <c:scaling>
          <c:orientation val="minMax"/>
          <c:max val="25"/>
          <c:min val="0"/>
        </c:scaling>
        <c:delete val="0"/>
        <c:axPos val="l"/>
        <c:numFmt formatCode="0.0&quot;%&quot;" sourceLinked="0"/>
        <c:majorTickMark val="out"/>
        <c:minorTickMark val="none"/>
        <c:tickLblPos val="nextTo"/>
        <c:spPr>
          <a:ln>
            <a:solidFill>
              <a:schemeClr val="bg1"/>
            </a:solidFill>
          </a:ln>
        </c:spPr>
        <c:txPr>
          <a:bodyPr/>
          <a:lstStyle/>
          <a:p>
            <a:pPr>
              <a:defRPr sz="1000">
                <a:solidFill>
                  <a:schemeClr val="bg1"/>
                </a:solidFill>
                <a:latin typeface="Lato"/>
              </a:defRPr>
            </a:pPr>
            <a:endParaRPr lang="en-US"/>
          </a:p>
        </c:txPr>
        <c:crossAx val="-2068027336"/>
        <c:crosses val="autoZero"/>
        <c:crossBetween val="between"/>
      </c:valAx>
    </c:plotArea>
    <c:legend>
      <c:legendPos val="t"/>
      <c:overlay val="0"/>
      <c:txPr>
        <a:bodyPr/>
        <a:lstStyle/>
        <a:p>
          <a:pPr>
            <a:defRPr sz="1000">
              <a:solidFill>
                <a:srgbClr val="49494D"/>
              </a:solidFill>
              <a:latin typeface="Lato"/>
            </a:defRPr>
          </a:pPr>
          <a:endParaRPr lang="en-US"/>
        </a:p>
      </c:txPr>
    </c:legend>
    <c:plotVisOnly val="1"/>
    <c:dispBlanksAs val="gap"/>
    <c:showDLblsOverMax val="1"/>
  </c:chart>
  <c:txPr>
    <a:bodyPr/>
    <a:lstStyle/>
    <a:p>
      <a:pPr>
        <a:defRPr sz="850">
          <a:latin typeface="Lato"/>
        </a:defRPr>
      </a:pPr>
      <a:endParaRPr lang="en-US"/>
    </a:p>
  </c:tx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sz="1100" b="1">
                        <a:solidFill>
                          <a:srgbClr val="000000"/>
                        </a:solidFill>
                        <a:latin typeface="Lato"/>
                      </a:rPr>
                      <a:t>100 (2025)</a:t>
                    </a:r>
                  </a:p>
                </c:rich>
              </c:tx>
              <c:dLblPos val="t"/>
              <c:showLegendKey val="0"/>
              <c:showVal val="1"/>
              <c:showCatName val="0"/>
              <c:showSerName val="0"/>
              <c:showPercent val="0"/>
              <c:showBubbleSize val="0"/>
            </c:dLbl>
            <c:dLbl>
              <c:idx val="17"/>
              <c:tx>
                <c:rich>
                  <a:bodyPr/>
                  <a:lstStyle/>
                  <a:p>
                    <a:r>
                      <a:rPr sz="1100" b="1">
                        <a:solidFill>
                          <a:srgbClr val="C8102E"/>
                        </a:solidFill>
                        <a:latin typeface="Lato"/>
                      </a:rPr>
                      <a:t>85 (2029)</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94.0</c:v>
                </c:pt>
                <c:pt idx="1">
                  <c:v>93.6</c:v>
                </c:pt>
                <c:pt idx="2">
                  <c:v>94.5</c:v>
                </c:pt>
                <c:pt idx="3">
                  <c:v>93.7</c:v>
                </c:pt>
                <c:pt idx="4">
                  <c:v>92.7</c:v>
                </c:pt>
                <c:pt idx="5">
                  <c:v>93.7</c:v>
                </c:pt>
                <c:pt idx="6">
                  <c:v>95.7</c:v>
                </c:pt>
                <c:pt idx="7">
                  <c:v>96.0</c:v>
                </c:pt>
                <c:pt idx="8">
                  <c:v>93.9</c:v>
                </c:pt>
                <c:pt idx="9">
                  <c:v>93.4</c:v>
                </c:pt>
                <c:pt idx="10">
                  <c:v>96.0</c:v>
                </c:pt>
                <c:pt idx="11">
                  <c:v>95.9</c:v>
                </c:pt>
                <c:pt idx="12">
                  <c:v>96.7</c:v>
                </c:pt>
                <c:pt idx="13">
                  <c:v>100.0</c:v>
                </c:pt>
                <c:pt idx="14">
                  <c:v>98.2</c:v>
                </c:pt>
                <c:pt idx="15">
                  <c:v>95.3</c:v>
                </c:pt>
                <c:pt idx="16">
                  <c:v>91.3</c:v>
                </c:pt>
                <c:pt idx="17">
                  <c:v>85.2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max val="105.0"/>
          <c:min val="8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5.0"/>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Institutions</c:v>
                </c:pt>
              </c:strCache>
            </c:strRef>
          </c:tx>
          <c:spPr>
            <a:solidFill>
              <a:srgbClr val="000000"/>
            </a:solidFill>
          </c:spPr>
          <c:dPt>
            <c:idx val="15"/>
            <c:spPr>
              <a:solidFill>
                <a:srgbClr val="C8102E"/>
              </a:solidFill>
            </c:spPr>
          </c:dPt>
          <c:dPt>
            <c:idx val="17"/>
            <c:spPr>
              <a:solidFill>
                <a:srgbClr val="C8102E"/>
              </a:solidFill>
            </c:spPr>
          </c:dPt>
          <c:dLbls>
            <c:dLbl>
              <c:idx val="15"/>
              <c:tx>
                <c:rich>
                  <a:bodyPr/>
                  <a:lstStyle/>
                  <a:p>
                    <a:r>
                      <a:rPr sz="1100" b="1">
                        <a:solidFill>
                          <a:srgbClr val="C8102E"/>
                        </a:solidFill>
                        <a:latin typeface="Lato"/>
                      </a:rPr>
                      <a:t>4,726 peak</a:t>
                    </a:r>
                  </a:p>
                </c:rich>
              </c:tx>
              <c:dLblPos val="outEnd"/>
              <c:showLegendKey val="0"/>
              <c:showVal val="1"/>
              <c:showCatName val="0"/>
              <c:showSerName val="0"/>
              <c:showPercent val="0"/>
              <c:showBubbleSize val="0"/>
            </c:dLbl>
            <c:dLbl>
              <c:idx val="17"/>
              <c:tx>
                <c:rich>
                  <a:bodyPr/>
                  <a:lstStyle/>
                  <a:p>
                    <a:r>
                      <a:rPr sz="1100" b="1">
                        <a:solidFill>
                          <a:srgbClr val="C8102E"/>
                        </a:solidFill>
                        <a:latin typeface="Lato"/>
                      </a:rPr>
                      <a:t>3,896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Sheet1!$A$2:$A$19</c:f>
              <c:strCache>
                <c:ptCount val="18"/>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2012–13</c:v>
                </c:pt>
                <c:pt idx="16">
                  <c:v>2018</c:v>
                </c:pt>
                <c:pt idx="17">
                  <c:v>2022–23</c:v>
                </c:pt>
              </c:strCache>
            </c:strRef>
          </c:cat>
          <c:val>
            <c:numRef>
              <c:f>Sheet1!$B$2:$B$19</c:f>
              <c:numCache>
                <c:formatCode>General</c:formatCode>
                <c:ptCount val="18"/>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4084</c:v>
                </c:pt>
                <c:pt idx="14">
                  <c:v>4495</c:v>
                </c:pt>
                <c:pt idx="15">
                  <c:v>4726</c:v>
                </c:pt>
                <c:pt idx="16">
                  <c:v>4313</c:v>
                </c:pt>
                <c:pt idx="17">
                  <c:v>3896</c:v>
                </c:pt>
              </c:numCache>
            </c:numRef>
          </c:val>
        </c:ser>
        <c:dLbls>
          <c:numFmt formatCode="#,##0" sourceLinked="0"/>
          <c:txPr>
            <a:bodyPr/>
            <a:lstStyle/>
            <a:p>
              <a:pPr>
                <a:defRPr sz="10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55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1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55"/>
          <c:y val="0.12"/>
          <c:w val="0.925"/>
          <c:h val="0.72"/>
        </c:manualLayout>
      </c:layout>
      <c:lineChart>
        <c:grouping val="standard"/>
        <c:varyColors val="0"/>
        <c:ser>
          <c:idx val="0"/>
          <c:order val="0"/>
          <c:tx>
            <c:strRef>
              <c:f>Sheet1!$B$1</c:f>
              <c:strCache>
                <c:ptCount val="1"/>
                <c:pt idx="0">
                  <c:v>Federal government</c:v>
                </c:pt>
              </c:strCache>
            </c:strRef>
          </c:tx>
          <c:spPr>
            <a:ln w="38100">
              <a:solidFill>
                <a:srgbClr val="C8102E"/>
              </a:solidFill>
            </a:ln>
          </c:spPr>
          <c:marker>
            <c:symbol val="none"/>
          </c:marker>
          <c:dLbls>
            <c:dLbl>
              <c:idx val="11"/>
              <c:tx>
                <c:rich>
                  <a:bodyPr/>
                  <a:lstStyle/>
                  <a:p>
                    <a:r>
                      <a:rPr sz="1100" b="1">
                        <a:solidFill>
                          <a:srgbClr val="C8102E"/>
                        </a:solidFill>
                        <a:latin typeface="Lato"/>
                      </a:rPr>
                      <a:t>1.9% (1964)</a:t>
                    </a:r>
                  </a:p>
                </c:rich>
              </c:tx>
              <c:dLblPos val="t"/>
              <c:showLegendKey val="0"/>
              <c:showVal val="1"/>
              <c:showCatName val="0"/>
              <c:showSerName val="0"/>
              <c:showPercent val="0"/>
              <c:showBubbleSize val="0"/>
            </c:dLbl>
            <c:dLbl>
              <c:idx val="71"/>
              <c:tx>
                <c:rich>
                  <a:bodyPr/>
                  <a:lstStyle/>
                  <a:p>
                    <a:r>
                      <a:rPr sz="1100" b="1">
                        <a:solidFill>
                          <a:srgbClr val="C8102E"/>
                        </a:solidFill>
                        <a:latin typeface="Lato"/>
                      </a:rPr>
                      <a:t>0.6%</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Sheet1!$B$2:$B$73</c:f>
              <c:numCache>
                <c:formatCode>General</c:formatCode>
                <c:ptCount val="72"/>
                <c:pt idx="0">
                  <c:v>0.0070999999999999995</c:v>
                </c:pt>
                <c:pt idx="1">
                  <c:v>0.0079</c:v>
                </c:pt>
                <c:pt idx="2">
                  <c:v>0.008199999999999999</c:v>
                </c:pt>
                <c:pt idx="3">
                  <c:v>0.0111</c:v>
                </c:pt>
                <c:pt idx="4">
                  <c:v>0.0131</c:v>
                </c:pt>
                <c:pt idx="5">
                  <c:v>0.014499999999999999</c:v>
                </c:pt>
                <c:pt idx="6">
                  <c:v>0.015700000000000002</c:v>
                </c:pt>
                <c:pt idx="7">
                  <c:v>0.016399999999999998</c:v>
                </c:pt>
                <c:pt idx="8">
                  <c:v>0.0169</c:v>
                </c:pt>
                <c:pt idx="9">
                  <c:v>0.0168</c:v>
                </c:pt>
                <c:pt idx="10">
                  <c:v>0.0183</c:v>
                </c:pt>
                <c:pt idx="11">
                  <c:v>0.018600000000000002</c:v>
                </c:pt>
                <c:pt idx="12">
                  <c:v>0.0178</c:v>
                </c:pt>
                <c:pt idx="13">
                  <c:v>0.0174</c:v>
                </c:pt>
                <c:pt idx="14">
                  <c:v>0.0169</c:v>
                </c:pt>
                <c:pt idx="15">
                  <c:v>0.0159</c:v>
                </c:pt>
                <c:pt idx="16">
                  <c:v>0.015</c:v>
                </c:pt>
                <c:pt idx="17">
                  <c:v>0.013999999999999999</c:v>
                </c:pt>
                <c:pt idx="18">
                  <c:v>0.0131</c:v>
                </c:pt>
                <c:pt idx="19">
                  <c:v>0.0125</c:v>
                </c:pt>
                <c:pt idx="20">
                  <c:v>0.0116</c:v>
                </c:pt>
                <c:pt idx="21">
                  <c:v>0.011200000000000002</c:v>
                </c:pt>
                <c:pt idx="22">
                  <c:v>0.011000000000000001</c:v>
                </c:pt>
                <c:pt idx="23">
                  <c:v>0.0108</c:v>
                </c:pt>
                <c:pt idx="24">
                  <c:v>0.0106</c:v>
                </c:pt>
                <c:pt idx="25">
                  <c:v>0.0104</c:v>
                </c:pt>
                <c:pt idx="26">
                  <c:v>0.0104</c:v>
                </c:pt>
                <c:pt idx="27">
                  <c:v>0.0105</c:v>
                </c:pt>
                <c:pt idx="28">
                  <c:v>0.0105</c:v>
                </c:pt>
                <c:pt idx="29">
                  <c:v>0.0111</c:v>
                </c:pt>
                <c:pt idx="30">
                  <c:v>0.011399999999999999</c:v>
                </c:pt>
                <c:pt idx="31">
                  <c:v>0.0115</c:v>
                </c:pt>
                <c:pt idx="32">
                  <c:v>0.0121</c:v>
                </c:pt>
                <c:pt idx="33">
                  <c:v>0.011899999999999999</c:v>
                </c:pt>
                <c:pt idx="34">
                  <c:v>0.0121</c:v>
                </c:pt>
                <c:pt idx="35">
                  <c:v>0.0115</c:v>
                </c:pt>
                <c:pt idx="36">
                  <c:v>0.010700000000000001</c:v>
                </c:pt>
                <c:pt idx="37">
                  <c:v>0.0103</c:v>
                </c:pt>
                <c:pt idx="38">
                  <c:v>0.009899999999999999</c:v>
                </c:pt>
                <c:pt idx="39">
                  <c:v>0.009300000000000001</c:v>
                </c:pt>
                <c:pt idx="40">
                  <c:v>0.0088</c:v>
                </c:pt>
                <c:pt idx="41">
                  <c:v>0.0083</c:v>
                </c:pt>
                <c:pt idx="42">
                  <c:v>0.008199999999999999</c:v>
                </c:pt>
                <c:pt idx="43">
                  <c:v>0.0079</c:v>
                </c:pt>
                <c:pt idx="44">
                  <c:v>0.0075</c:v>
                </c:pt>
                <c:pt idx="45">
                  <c:v>0.0073</c:v>
                </c:pt>
                <c:pt idx="46">
                  <c:v>0.0069</c:v>
                </c:pt>
                <c:pt idx="47">
                  <c:v>0.0066</c:v>
                </c:pt>
                <c:pt idx="48">
                  <c:v>0.006999999999999999</c:v>
                </c:pt>
                <c:pt idx="49">
                  <c:v>0.0072</c:v>
                </c:pt>
                <c:pt idx="50">
                  <c:v>0.0074</c:v>
                </c:pt>
                <c:pt idx="51">
                  <c:v>0.0074</c:v>
                </c:pt>
                <c:pt idx="52">
                  <c:v>0.0073</c:v>
                </c:pt>
                <c:pt idx="53">
                  <c:v>0.0072</c:v>
                </c:pt>
                <c:pt idx="54">
                  <c:v>0.0073</c:v>
                </c:pt>
                <c:pt idx="55">
                  <c:v>0.008</c:v>
                </c:pt>
                <c:pt idx="56">
                  <c:v>0.0087</c:v>
                </c:pt>
                <c:pt idx="57">
                  <c:v>0.0084</c:v>
                </c:pt>
                <c:pt idx="58">
                  <c:v>0.008100000000000001</c:v>
                </c:pt>
                <c:pt idx="59">
                  <c:v>0.0076</c:v>
                </c:pt>
                <c:pt idx="60">
                  <c:v>0.0070999999999999995</c:v>
                </c:pt>
                <c:pt idx="61">
                  <c:v>0.0067</c:v>
                </c:pt>
                <c:pt idx="62">
                  <c:v>0.006500000000000001</c:v>
                </c:pt>
                <c:pt idx="63">
                  <c:v>0.0063</c:v>
                </c:pt>
                <c:pt idx="64">
                  <c:v>0.0062</c:v>
                </c:pt>
                <c:pt idx="65">
                  <c:v>0.0063</c:v>
                </c:pt>
                <c:pt idx="66">
                  <c:v>0.0063</c:v>
                </c:pt>
                <c:pt idx="67">
                  <c:v>0.0069</c:v>
                </c:pt>
                <c:pt idx="68">
                  <c:v>0.0062</c:v>
                </c:pt>
                <c:pt idx="69">
                  <c:v>0.0063</c:v>
                </c:pt>
                <c:pt idx="70">
                  <c:v>0.0062</c:v>
                </c:pt>
                <c:pt idx="71">
                  <c:v>0.0063</c:v>
                </c:pt>
              </c:numCache>
            </c:numRef>
          </c:val>
          <c:smooth val="0"/>
        </c:ser>
        <c:ser>
          <c:idx val="1"/>
          <c:order val="1"/>
          <c:tx>
            <c:strRef>
              <c:f>Sheet1!$C$1</c:f>
              <c:strCache>
                <c:ptCount val="1"/>
                <c:pt idx="0">
                  <c:v>Business, universities and other nonfederal</c:v>
                </c:pt>
              </c:strCache>
            </c:strRef>
          </c:tx>
          <c:spPr>
            <a:ln w="38100">
              <a:solidFill>
                <a:srgbClr val="000000"/>
              </a:solidFill>
            </a:ln>
          </c:spPr>
          <c:marker>
            <c:symbol val="none"/>
          </c:marker>
          <c:dLbls>
            <c:dLbl>
              <c:idx val="71"/>
              <c:tx>
                <c:rich>
                  <a:bodyPr/>
                  <a:lstStyle/>
                  <a:p>
                    <a:r>
                      <a:rPr sz="1100" b="1">
                        <a:solidFill>
                          <a:srgbClr val="000000"/>
                        </a:solidFill>
                        <a:latin typeface="Lato"/>
                      </a:rPr>
                      <a:t>2.8%</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Sheet1!$C$2:$C$73</c:f>
              <c:numCache>
                <c:formatCode>General</c:formatCode>
                <c:ptCount val="72"/>
                <c:pt idx="0">
                  <c:v>0.0060999999999999995</c:v>
                </c:pt>
                <c:pt idx="1">
                  <c:v>0.006500000000000001</c:v>
                </c:pt>
                <c:pt idx="2">
                  <c:v>0.0063</c:v>
                </c:pt>
                <c:pt idx="3">
                  <c:v>0.0078000000000000005</c:v>
                </c:pt>
                <c:pt idx="4">
                  <c:v>0.0077</c:v>
                </c:pt>
                <c:pt idx="5">
                  <c:v>0.0082</c:v>
                </c:pt>
                <c:pt idx="6">
                  <c:v>0.0083</c:v>
                </c:pt>
                <c:pt idx="7">
                  <c:v>0.0088</c:v>
                </c:pt>
                <c:pt idx="8">
                  <c:v>0.009099999999999999</c:v>
                </c:pt>
                <c:pt idx="9">
                  <c:v>0.009099999999999999</c:v>
                </c:pt>
                <c:pt idx="10">
                  <c:v>0.0093</c:v>
                </c:pt>
                <c:pt idx="11">
                  <c:v>0.0093</c:v>
                </c:pt>
                <c:pt idx="12">
                  <c:v>0.0095</c:v>
                </c:pt>
                <c:pt idx="13">
                  <c:v>0.0097</c:v>
                </c:pt>
                <c:pt idx="14">
                  <c:v>0.0102</c:v>
                </c:pt>
                <c:pt idx="15">
                  <c:v>0.0103</c:v>
                </c:pt>
                <c:pt idx="16">
                  <c:v>0.0105</c:v>
                </c:pt>
                <c:pt idx="17">
                  <c:v>0.0105</c:v>
                </c:pt>
                <c:pt idx="18">
                  <c:v>0.0101</c:v>
                </c:pt>
                <c:pt idx="19">
                  <c:v>0.01</c:v>
                </c:pt>
                <c:pt idx="20">
                  <c:v>0.01</c:v>
                </c:pt>
                <c:pt idx="21">
                  <c:v>0.0104</c:v>
                </c:pt>
                <c:pt idx="22">
                  <c:v>0.0102</c:v>
                </c:pt>
                <c:pt idx="23">
                  <c:v>0.0102</c:v>
                </c:pt>
                <c:pt idx="24">
                  <c:v>0.0102</c:v>
                </c:pt>
                <c:pt idx="25">
                  <c:v>0.0103</c:v>
                </c:pt>
                <c:pt idx="26">
                  <c:v>0.010700000000000001</c:v>
                </c:pt>
                <c:pt idx="27">
                  <c:v>0.011600000000000001</c:v>
                </c:pt>
                <c:pt idx="28">
                  <c:v>0.012000000000000002</c:v>
                </c:pt>
                <c:pt idx="29">
                  <c:v>0.0131</c:v>
                </c:pt>
                <c:pt idx="30">
                  <c:v>0.0134</c:v>
                </c:pt>
                <c:pt idx="31">
                  <c:v>0.013800000000000002</c:v>
                </c:pt>
                <c:pt idx="32">
                  <c:v>0.014300000000000002</c:v>
                </c:pt>
                <c:pt idx="33">
                  <c:v>0.014300000000000002</c:v>
                </c:pt>
                <c:pt idx="34">
                  <c:v>0.014000000000000002</c:v>
                </c:pt>
                <c:pt idx="35">
                  <c:v>0.014100000000000001</c:v>
                </c:pt>
                <c:pt idx="36">
                  <c:v>0.014400000000000001</c:v>
                </c:pt>
                <c:pt idx="37">
                  <c:v>0.0152</c:v>
                </c:pt>
                <c:pt idx="38">
                  <c:v>0.0163</c:v>
                </c:pt>
                <c:pt idx="39">
                  <c:v>0.0161</c:v>
                </c:pt>
                <c:pt idx="40">
                  <c:v>0.0154</c:v>
                </c:pt>
                <c:pt idx="41">
                  <c:v>0.014900000000000002</c:v>
                </c:pt>
                <c:pt idx="42">
                  <c:v>0.0158</c:v>
                </c:pt>
                <c:pt idx="43">
                  <c:v>0.0166</c:v>
                </c:pt>
                <c:pt idx="44">
                  <c:v>0.017200000000000003</c:v>
                </c:pt>
                <c:pt idx="45">
                  <c:v>0.017599999999999998</c:v>
                </c:pt>
                <c:pt idx="46">
                  <c:v>0.018500000000000003</c:v>
                </c:pt>
                <c:pt idx="47">
                  <c:v>0.019500000000000003</c:v>
                </c:pt>
                <c:pt idx="48">
                  <c:v>0.019299999999999998</c:v>
                </c:pt>
                <c:pt idx="49">
                  <c:v>0.018199999999999997</c:v>
                </c:pt>
                <c:pt idx="50">
                  <c:v>0.018099999999999998</c:v>
                </c:pt>
                <c:pt idx="51">
                  <c:v>0.0174</c:v>
                </c:pt>
                <c:pt idx="52">
                  <c:v>0.0176</c:v>
                </c:pt>
                <c:pt idx="53">
                  <c:v>0.018099999999999998</c:v>
                </c:pt>
                <c:pt idx="54">
                  <c:v>0.0189</c:v>
                </c:pt>
                <c:pt idx="55">
                  <c:v>0.0195</c:v>
                </c:pt>
                <c:pt idx="56">
                  <c:v>0.0191</c:v>
                </c:pt>
                <c:pt idx="57">
                  <c:v>0.0186</c:v>
                </c:pt>
                <c:pt idx="58">
                  <c:v>0.0192</c:v>
                </c:pt>
                <c:pt idx="59">
                  <c:v>0.0191</c:v>
                </c:pt>
                <c:pt idx="60">
                  <c:v>0.019799999999999998</c:v>
                </c:pt>
                <c:pt idx="61">
                  <c:v>0.020300000000000002</c:v>
                </c:pt>
                <c:pt idx="62">
                  <c:v>0.0204</c:v>
                </c:pt>
                <c:pt idx="63">
                  <c:v>0.0215</c:v>
                </c:pt>
                <c:pt idx="64">
                  <c:v>0.022000000000000002</c:v>
                </c:pt>
                <c:pt idx="65">
                  <c:v>0.0228</c:v>
                </c:pt>
                <c:pt idx="66">
                  <c:v>0.024600000000000004</c:v>
                </c:pt>
                <c:pt idx="67">
                  <c:v>0.026500000000000003</c:v>
                </c:pt>
                <c:pt idx="68">
                  <c:v>0.027000000000000003</c:v>
                </c:pt>
                <c:pt idx="69">
                  <c:v>0.0279</c:v>
                </c:pt>
                <c:pt idx="70">
                  <c:v>0.0275</c:v>
                </c:pt>
                <c:pt idx="71">
                  <c:v>0.027600000000000003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0.032"/>
          <c:min val="0.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majorUnit val="0.004"/>
      </c:valAx>
    </c:plotArea>
    <c:legend>
      <c:legendPos val="t"/>
      <c:layout/>
      <c:overlay val="0"/>
      <c:txPr>
        <a:bodyPr/>
        <a:lstStyle/>
        <a:p>
          <a:pPr>
            <a:defRPr sz="1200"/>
          </a:pPr>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Pages</c:v>
                </c:pt>
              </c:strCache>
            </c:strRef>
          </c:tx>
          <c:spPr>
            <a:solidFill>
              <a:srgbClr val="000000"/>
            </a:solidFill>
          </c:spPr>
          <c:dPt>
            <c:idx val="0"/>
            <c:spPr>
              <a:solidFill>
                <a:srgbClr val="C8102E"/>
              </a:solidFill>
            </c:spPr>
          </c:dPt>
          <c:dPt>
            <c:idx val="74"/>
            <c:spPr>
              <a:solidFill>
                <a:srgbClr val="C8102E"/>
              </a:solidFill>
            </c:spPr>
          </c:dPt>
          <c:dLbls>
            <c:dLbl>
              <c:idx val="0"/>
              <c:tx>
                <c:rich>
                  <a:bodyPr/>
                  <a:lstStyle/>
                  <a:p>
                    <a:r>
                      <a:rPr sz="1100" b="1">
                        <a:solidFill>
                          <a:srgbClr val="C8102E"/>
                        </a:solidFill>
                        <a:latin typeface="Lato"/>
                      </a:rPr>
                      <a:t>9,745</a:t>
                    </a:r>
                  </a:p>
                </c:rich>
              </c:tx>
              <c:dLblPos val="outEnd"/>
              <c:showLegendKey val="0"/>
              <c:showVal val="1"/>
              <c:showCatName val="0"/>
              <c:showSerName val="0"/>
              <c:showPercent val="0"/>
              <c:showBubbleSize val="0"/>
            </c:dLbl>
            <c:dLbl>
              <c:idx val="74"/>
              <c:tx>
                <c:rich>
                  <a:bodyPr/>
                  <a:lstStyle/>
                  <a:p>
                    <a:r>
                      <a:rPr sz="1100" b="1">
                        <a:solidFill>
                          <a:srgbClr val="C8102E"/>
                        </a:solidFill>
                        <a:latin typeface="Lato"/>
                      </a:rPr>
                      <a:t>194,395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Sheet1!$A$2:$A$76</c:f>
              <c:strCache>
                <c:ptCount val="75"/>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pt idx="74">
                  <c:v>2024</c:v>
                </c:pt>
              </c:strCache>
            </c:strRef>
          </c:cat>
          <c:val>
            <c:numRef>
              <c:f>Sheet1!$B$2:$B$76</c:f>
              <c:numCache>
                <c:formatCode>General</c:formatCode>
                <c:ptCount val="75"/>
                <c:pt idx="0">
                  <c:v>9745</c:v>
                </c:pt>
                <c:pt idx="1">
                  <c:v>15932</c:v>
                </c:pt>
                <c:pt idx="2">
                  <c:v>19232</c:v>
                </c:pt>
                <c:pt idx="3">
                  <c:v>18464</c:v>
                </c:pt>
                <c:pt idx="4">
                  <c:v>16502</c:v>
                </c:pt>
                <c:pt idx="5">
                  <c:v>17989</c:v>
                </c:pt>
                <c:pt idx="6">
                  <c:v>21651</c:v>
                </c:pt>
                <c:pt idx="7">
                  <c:v>19589</c:v>
                </c:pt>
                <c:pt idx="8">
                  <c:v>20643</c:v>
                </c:pt>
                <c:pt idx="9">
                  <c:v>21760</c:v>
                </c:pt>
                <c:pt idx="10">
                  <c:v>22877</c:v>
                </c:pt>
                <c:pt idx="11">
                  <c:v>25242</c:v>
                </c:pt>
                <c:pt idx="12">
                  <c:v>22863</c:v>
                </c:pt>
                <c:pt idx="13">
                  <c:v>25828</c:v>
                </c:pt>
                <c:pt idx="14">
                  <c:v>31584</c:v>
                </c:pt>
                <c:pt idx="15">
                  <c:v>34783</c:v>
                </c:pt>
                <c:pt idx="16">
                  <c:v>43118</c:v>
                </c:pt>
                <c:pt idx="17">
                  <c:v>50375</c:v>
                </c:pt>
                <c:pt idx="18">
                  <c:v>53513</c:v>
                </c:pt>
                <c:pt idx="19">
                  <c:v>52863</c:v>
                </c:pt>
                <c:pt idx="20">
                  <c:v>54834</c:v>
                </c:pt>
                <c:pt idx="21">
                  <c:v>56720</c:v>
                </c:pt>
                <c:pt idx="22">
                  <c:v>60632</c:v>
                </c:pt>
                <c:pt idx="23">
                  <c:v>64872</c:v>
                </c:pt>
                <c:pt idx="24">
                  <c:v>67860</c:v>
                </c:pt>
                <c:pt idx="25">
                  <c:v>71224</c:v>
                </c:pt>
                <c:pt idx="26">
                  <c:v>72740</c:v>
                </c:pt>
                <c:pt idx="27">
                  <c:v>84729</c:v>
                </c:pt>
                <c:pt idx="28">
                  <c:v>94151</c:v>
                </c:pt>
                <c:pt idx="29">
                  <c:v>98032</c:v>
                </c:pt>
                <c:pt idx="30">
                  <c:v>102195</c:v>
                </c:pt>
                <c:pt idx="31">
                  <c:v>107109</c:v>
                </c:pt>
                <c:pt idx="32">
                  <c:v>104938</c:v>
                </c:pt>
                <c:pt idx="33">
                  <c:v>105654</c:v>
                </c:pt>
                <c:pt idx="34">
                  <c:v>111830</c:v>
                </c:pt>
                <c:pt idx="35">
                  <c:v>105935</c:v>
                </c:pt>
                <c:pt idx="36">
                  <c:v>109509</c:v>
                </c:pt>
                <c:pt idx="37">
                  <c:v>114337</c:v>
                </c:pt>
                <c:pt idx="38">
                  <c:v>117480</c:v>
                </c:pt>
                <c:pt idx="39">
                  <c:v>122090</c:v>
                </c:pt>
                <c:pt idx="40">
                  <c:v>126893</c:v>
                </c:pt>
                <c:pt idx="41">
                  <c:v>125331</c:v>
                </c:pt>
                <c:pt idx="42">
                  <c:v>128344</c:v>
                </c:pt>
                <c:pt idx="43">
                  <c:v>132228</c:v>
                </c:pt>
                <c:pt idx="44">
                  <c:v>134196</c:v>
                </c:pt>
                <c:pt idx="45">
                  <c:v>138186</c:v>
                </c:pt>
                <c:pt idx="46">
                  <c:v>132112</c:v>
                </c:pt>
                <c:pt idx="47">
                  <c:v>131060</c:v>
                </c:pt>
                <c:pt idx="48">
                  <c:v>135127</c:v>
                </c:pt>
                <c:pt idx="49">
                  <c:v>134932</c:v>
                </c:pt>
                <c:pt idx="50">
                  <c:v>138049</c:v>
                </c:pt>
                <c:pt idx="51">
                  <c:v>141281</c:v>
                </c:pt>
                <c:pt idx="52">
                  <c:v>145099</c:v>
                </c:pt>
                <c:pt idx="53">
                  <c:v>144187</c:v>
                </c:pt>
                <c:pt idx="54">
                  <c:v>147639</c:v>
                </c:pt>
                <c:pt idx="55">
                  <c:v>151973</c:v>
                </c:pt>
                <c:pt idx="56">
                  <c:v>154107</c:v>
                </c:pt>
                <c:pt idx="57">
                  <c:v>156010</c:v>
                </c:pt>
                <c:pt idx="58">
                  <c:v>157974</c:v>
                </c:pt>
                <c:pt idx="59">
                  <c:v>163333</c:v>
                </c:pt>
                <c:pt idx="60">
                  <c:v>165494</c:v>
                </c:pt>
                <c:pt idx="61">
                  <c:v>169301</c:v>
                </c:pt>
                <c:pt idx="62">
                  <c:v>174545</c:v>
                </c:pt>
                <c:pt idx="63">
                  <c:v>175496</c:v>
                </c:pt>
                <c:pt idx="64">
                  <c:v>175274</c:v>
                </c:pt>
                <c:pt idx="65">
                  <c:v>178351</c:v>
                </c:pt>
                <c:pt idx="66">
                  <c:v>185131</c:v>
                </c:pt>
                <c:pt idx="67">
                  <c:v>186468</c:v>
                </c:pt>
                <c:pt idx="68">
                  <c:v>185544</c:v>
                </c:pt>
                <c:pt idx="69">
                  <c:v>186067</c:v>
                </c:pt>
                <c:pt idx="70">
                  <c:v>186644</c:v>
                </c:pt>
                <c:pt idx="71">
                  <c:v>188343</c:v>
                </c:pt>
                <c:pt idx="72">
                  <c:v>188148</c:v>
                </c:pt>
                <c:pt idx="73">
                  <c:v>190627</c:v>
                </c:pt>
                <c:pt idx="74">
                  <c:v>194395</c:v>
                </c:pt>
              </c:numCache>
            </c:numRef>
          </c:val>
        </c:ser>
        <c:gapWidth val="2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max val="2000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50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High school degree / no four-year degree</c:v>
                </c:pt>
              </c:strCache>
            </c:strRef>
          </c:tx>
          <c:spPr>
            <a:solidFill>
              <a:srgbClr val="8C8C8C"/>
            </a:solidFill>
          </c:spPr>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ser>
        <c:ser>
          <c:idx val="1"/>
          <c:order val="1"/>
          <c:tx>
            <c:strRef>
              <c:f>Sheet1!$C$1</c:f>
              <c:strCache>
                <c:ptCount val="1"/>
                <c:pt idx="0">
                  <c:v>Four-year college degree</c:v>
                </c:pt>
              </c:strCache>
            </c:strRef>
          </c:tx>
          <c:spPr>
            <a:solidFill>
              <a:srgbClr val="C8102E"/>
            </a:solidFill>
          </c:spPr>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ser>
        <c:dLbls>
          <c:numFmt formatCode="&quot;$&quot;0" sourceLinked="0"/>
          <c:txPr>
            <a:bodyPr/>
            <a:lstStyle/>
            <a:p>
              <a:pPr>
                <a:defRPr sz="1200">
                  <a:latin typeface="Lato"/>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max val="1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20.0"/>
      </c:valAx>
    </c:plotArea>
    <c:legend>
      <c:legendPos val="t"/>
      <c:overlay val="0"/>
    </c:legend>
    <c:dispBlanksAs val="gap"/>
  </c:chart>
  <c:txPr>
    <a:bodyPr/>
    <a:lstStyle/>
    <a:p>
      <a:pPr>
        <a:defRPr sz="1200">
          <a:solidFill>
            <a:srgbClr val="000000"/>
          </a:solidFill>
          <a:latin typeface="Lato"/>
        </a:defRPr>
      </a:pPr>
      <a:endParaRPr lang="en-US"/>
    </a:p>
  </c:tx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percentStacked"/>
        <c:ser>
          <c:idx val="0"/>
          <c:order val="0"/>
          <c:tx>
            <c:strRef>
              <c:f>Sheet1!$B$1</c:f>
              <c:strCache>
                <c:ptCount val="1"/>
                <c:pt idx="0">
                  <c:v>Public</c:v>
                </c:pt>
              </c:strCache>
            </c:strRef>
          </c:tx>
          <c:spPr>
            <a:solidFill>
              <a:srgbClr val="000000"/>
            </a:solidFill>
          </c:spPr>
          <c:dLbls>
            <c:dLbl>
              <c:idx val="0"/>
              <c:tx>
                <c:rich>
                  <a:bodyPr/>
                  <a:lstStyle/>
                  <a:p>
                    <a:r>
                      <a:rPr sz="1100" b="1">
                        <a:solidFill>
                          <a:srgbClr val="FFFFFF"/>
                        </a:solidFill>
                        <a:latin typeface="Lato"/>
                      </a:rPr>
                      <a:t>1,884 (32%)</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1,582 (40%)</a:t>
                    </a:r>
                  </a:p>
                </c:rich>
              </c:tx>
              <c:dLblPos val="ctr"/>
              <c:showLegendKey val="0"/>
              <c:showVal val="1"/>
              <c:showCatName val="0"/>
              <c:showSerName val="0"/>
              <c:showPercent val="0"/>
              <c:showBubbleSize val="0"/>
            </c:dLbl>
            <c:dLbl>
              <c:idx val="2"/>
              <c:tx>
                <c:rich>
                  <a:bodyPr/>
                  <a:lstStyle/>
                  <a:p>
                    <a:r>
                      <a:rPr sz="1100" b="1">
                        <a:solidFill>
                          <a:srgbClr val="FFFFFF"/>
                        </a:solidFill>
                        <a:latin typeface="Lato"/>
                      </a:rPr>
                      <a:t>302 (15%)</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756 (29%)</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826 (64%)</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ser>
        <c:ser>
          <c:idx val="1"/>
          <c:order val="1"/>
          <c:tx>
            <c:strRef>
              <c:f>Sheet1!$C$1</c:f>
              <c:strCache>
                <c:ptCount val="1"/>
                <c:pt idx="0">
                  <c:v>Private nonprofit</c:v>
                </c:pt>
              </c:strCache>
            </c:strRef>
          </c:tx>
          <c:spPr>
            <a:solidFill>
              <a:srgbClr val="C8102E"/>
            </a:solidFill>
          </c:spPr>
          <c:dLbls>
            <c:dLbl>
              <c:idx val="0"/>
              <c:tx>
                <c:rich>
                  <a:bodyPr/>
                  <a:lstStyle/>
                  <a:p>
                    <a:r>
                      <a:rPr sz="1100" b="1">
                        <a:solidFill>
                          <a:srgbClr val="FFFFFF"/>
                        </a:solidFill>
                        <a:latin typeface="Lato"/>
                      </a:rPr>
                      <a:t>1,740 (30%)</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1,626 (42%)</a:t>
                    </a:r>
                  </a:p>
                </c:rich>
              </c:tx>
              <c:dLblPos val="ctr"/>
              <c:showLegendKey val="0"/>
              <c:showVal val="1"/>
              <c:showCatName val="0"/>
              <c:showSerName val="0"/>
              <c:showPercent val="0"/>
              <c:showBubbleSize val="0"/>
            </c:dLbl>
            <c:dLbl>
              <c:idx val="2"/>
              <c:tx>
                <c:rich>
                  <a:bodyPr/>
                  <a:lstStyle/>
                  <a:p>
                    <a:r>
                      <a:rPr sz="900" b="1">
                        <a:solidFill>
                          <a:srgbClr val="FFFFFF"/>
                        </a:solidFill>
                        <a:latin typeface="Lato"/>
                      </a:rPr>
                      <a:t>6%</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1,541 (59%)</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85 (7%)</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ser>
        <c:ser>
          <c:idx val="2"/>
          <c:order val="2"/>
          <c:tx>
            <c:strRef>
              <c:f>Sheet1!$D$1</c:f>
              <c:strCache>
                <c:ptCount val="1"/>
                <c:pt idx="0">
                  <c:v>Private for-profit</c:v>
                </c:pt>
              </c:strCache>
            </c:strRef>
          </c:tx>
          <c:spPr>
            <a:solidFill>
              <a:srgbClr val="8C8C8C"/>
            </a:solidFill>
          </c:spPr>
          <c:dLbls>
            <c:dLbl>
              <c:idx val="0"/>
              <c:tx>
                <c:rich>
                  <a:bodyPr/>
                  <a:lstStyle/>
                  <a:p>
                    <a:r>
                      <a:rPr sz="1100" b="1">
                        <a:solidFill>
                          <a:srgbClr val="FFFFFF"/>
                        </a:solidFill>
                        <a:latin typeface="Lato"/>
                      </a:rPr>
                      <a:t>2,215 (38%)</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691 (18%)</a:t>
                    </a:r>
                  </a:p>
                </c:rich>
              </c:tx>
              <c:dLblPos val="ctr"/>
              <c:showLegendKey val="0"/>
              <c:showVal val="1"/>
              <c:showCatName val="0"/>
              <c:showSerName val="0"/>
              <c:showPercent val="0"/>
              <c:showBubbleSize val="0"/>
            </c:dLbl>
            <c:dLbl>
              <c:idx val="2"/>
              <c:tx>
                <c:rich>
                  <a:bodyPr/>
                  <a:lstStyle/>
                  <a:p>
                    <a:r>
                      <a:rPr sz="1100" b="1">
                        <a:solidFill>
                          <a:srgbClr val="FFFFFF"/>
                        </a:solidFill>
                        <a:latin typeface="Lato"/>
                      </a:rPr>
                      <a:t>1,524 (79%)</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322 (12%)</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369 (29%)</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t"/>
      <c:overlay val="0"/>
    </c:legend>
    <c:dispBlanksAs val="gap"/>
  </c:chart>
  <c:txPr>
    <a:bodyPr/>
    <a:lstStyle/>
    <a:p>
      <a:pPr>
        <a:defRPr sz="1200">
          <a:solidFill>
            <a:srgbClr val="000000"/>
          </a:solidFill>
          <a:latin typeface="Lato"/>
        </a:defRPr>
      </a:pPr>
      <a:endParaRPr lang="en-US"/>
    </a:p>
  </c:tx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Colleges per million</c:v>
                </c:pt>
              </c:strCache>
            </c:strRef>
          </c:tx>
          <c:spPr>
            <a:solidFill>
              <a:srgbClr val="000000"/>
            </a:solidFill>
          </c:spPr>
          <c:dPt>
            <c:idx val="0"/>
            <c:spPr>
              <a:solidFill>
                <a:srgbClr val="C8102E"/>
              </a:solidFill>
            </c:spPr>
          </c:dPt>
          <c:dPt>
            <c:idx val="29"/>
            <c:spPr>
              <a:solidFill>
                <a:srgbClr val="8C8C8C"/>
              </a:solidFill>
            </c:spPr>
          </c:dPt>
          <c:dLbls>
            <c:dLbl>
              <c:idx val="0"/>
              <c:tx>
                <c:rich>
                  <a:bodyPr/>
                  <a:lstStyle/>
                  <a:p>
                    <a:r>
                      <a:rPr sz="1100" b="1">
                        <a:solidFill>
                          <a:srgbClr val="C8102E"/>
                        </a:solidFill>
                        <a:latin typeface="Lato"/>
                      </a:rPr>
                      <a:t>6.91</a:t>
                    </a:r>
                  </a:p>
                </c:rich>
              </c:tx>
              <c:dLblPos val="outEnd"/>
              <c:showLegendKey val="0"/>
              <c:showVal val="1"/>
              <c:showCatName val="0"/>
              <c:showSerName val="0"/>
              <c:showPercent val="0"/>
              <c:showBubbleSize val="0"/>
            </c:dLbl>
            <c:dLbl>
              <c:idx val="1"/>
              <c:tx>
                <c:rich>
                  <a:bodyPr/>
                  <a:lstStyle/>
                  <a:p>
                    <a:r>
                      <a:rPr sz="1100" b="1">
                        <a:solidFill>
                          <a:srgbClr val="000000"/>
                        </a:solidFill>
                        <a:latin typeface="Lato"/>
                      </a:rPr>
                      <a:t>4.71</a:t>
                    </a:r>
                  </a:p>
                </c:rich>
              </c:tx>
              <c:dLblPos val="outEnd"/>
              <c:showLegendKey val="0"/>
              <c:showVal val="1"/>
              <c:showCatName val="0"/>
              <c:showSerName val="0"/>
              <c:showPercent val="0"/>
              <c:showBubbleSize val="0"/>
            </c:dLbl>
            <c:dLbl>
              <c:idx val="2"/>
              <c:tx>
                <c:rich>
                  <a:bodyPr/>
                  <a:lstStyle/>
                  <a:p>
                    <a:r>
                      <a:rPr sz="1100" b="1">
                        <a:solidFill>
                          <a:srgbClr val="000000"/>
                        </a:solidFill>
                        <a:latin typeface="Lato"/>
                      </a:rPr>
                      <a:t>4.61</a:t>
                    </a:r>
                  </a:p>
                </c:rich>
              </c:tx>
              <c:dLblPos val="outEnd"/>
              <c:showLegendKey val="0"/>
              <c:showVal val="1"/>
              <c:showCatName val="0"/>
              <c:showSerName val="0"/>
              <c:showPercent val="0"/>
              <c:showBubbleSize val="0"/>
            </c:dLbl>
            <c:dLbl>
              <c:idx val="3"/>
              <c:tx>
                <c:rich>
                  <a:bodyPr/>
                  <a:lstStyle/>
                  <a:p>
                    <a:r>
                      <a:rPr sz="1100" b="1">
                        <a:solidFill>
                          <a:srgbClr val="000000"/>
                        </a:solidFill>
                        <a:latin typeface="Lato"/>
                      </a:rPr>
                      <a:t>4.33</a:t>
                    </a:r>
                  </a:p>
                </c:rich>
              </c:tx>
              <c:dLblPos val="outEnd"/>
              <c:showLegendKey val="0"/>
              <c:showVal val="1"/>
              <c:showCatName val="0"/>
              <c:showSerName val="0"/>
              <c:showPercent val="0"/>
              <c:showBubbleSize val="0"/>
            </c:dLbl>
            <c:dLbl>
              <c:idx val="4"/>
              <c:tx>
                <c:rich>
                  <a:bodyPr/>
                  <a:lstStyle/>
                  <a:p>
                    <a:r>
                      <a:rPr sz="1100" b="1">
                        <a:solidFill>
                          <a:srgbClr val="000000"/>
                        </a:solidFill>
                        <a:latin typeface="Lato"/>
                      </a:rPr>
                      <a:t>3.82</a:t>
                    </a:r>
                  </a:p>
                </c:rich>
              </c:tx>
              <c:dLblPos val="outEnd"/>
              <c:showLegendKey val="0"/>
              <c:showVal val="1"/>
              <c:showCatName val="0"/>
              <c:showSerName val="0"/>
              <c:showPercent val="0"/>
              <c:showBubbleSize val="0"/>
            </c:dLbl>
            <c:dLbl>
              <c:idx val="29"/>
              <c:tx>
                <c:rich>
                  <a:bodyPr/>
                  <a:lstStyle/>
                  <a:p>
                    <a:r>
                      <a:rPr sz="1100" b="1">
                        <a:solidFill>
                          <a:srgbClr val="000000"/>
                        </a:solidFill>
                        <a:latin typeface="Lato"/>
                      </a:rPr>
                      <a:t>1.64 avg</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Sheet1!$A$2:$A$31</c:f>
              <c:strCache>
                <c:ptCount val="30"/>
                <c:pt idx="0">
                  <c:v>USA</c:v>
                </c:pt>
                <c:pt idx="1">
                  <c:v>KOR</c:v>
                </c:pt>
                <c:pt idx="2">
                  <c:v>JPN</c:v>
                </c:pt>
                <c:pt idx="3">
                  <c:v>FRA</c:v>
                </c:pt>
                <c:pt idx="4">
                  <c:v>DEU</c:v>
                </c:pt>
                <c:pt idx="5">
                  <c:v>GBR</c:v>
                </c:pt>
                <c:pt idx="6">
                  <c:v>TUR</c:v>
                </c:pt>
                <c:pt idx="7">
                  <c:v>RUS</c:v>
                </c:pt>
                <c:pt idx="8">
                  <c:v>IRN</c:v>
                </c:pt>
                <c:pt idx="9">
                  <c:v>COL</c:v>
                </c:pt>
                <c:pt idx="10">
                  <c:v>ITA</c:v>
                </c:pt>
                <c:pt idx="11">
                  <c:v>MEX</c:v>
                </c:pt>
                <c:pt idx="12">
                  <c:v>PHL</c:v>
                </c:pt>
                <c:pt idx="13">
                  <c:v>THA</c:v>
                </c:pt>
                <c:pt idx="14">
                  <c:v>BRA</c:v>
                </c:pt>
                <c:pt idx="15">
                  <c:v>KEN</c:v>
                </c:pt>
                <c:pt idx="16">
                  <c:v>SDN</c:v>
                </c:pt>
                <c:pt idx="17">
                  <c:v>IDN</c:v>
                </c:pt>
                <c:pt idx="18">
                  <c:v>PAK</c:v>
                </c:pt>
                <c:pt idx="19">
                  <c:v>VNM</c:v>
                </c:pt>
                <c:pt idx="20">
                  <c:v>NGA</c:v>
                </c:pt>
                <c:pt idx="21">
                  <c:v>ZAF</c:v>
                </c:pt>
                <c:pt idx="22">
                  <c:v>BGD</c:v>
                </c:pt>
                <c:pt idx="23">
                  <c:v>EGY</c:v>
                </c:pt>
                <c:pt idx="24">
                  <c:v>UGA</c:v>
                </c:pt>
                <c:pt idx="25">
                  <c:v>TZA</c:v>
                </c:pt>
                <c:pt idx="26">
                  <c:v>ETH</c:v>
                </c:pt>
                <c:pt idx="27">
                  <c:v>COD</c:v>
                </c:pt>
                <c:pt idx="28">
                  <c:v>MMR</c:v>
                </c:pt>
                <c:pt idx="29">
                  <c:v>Avg</c:v>
                </c:pt>
              </c:strCache>
            </c:strRef>
          </c:cat>
          <c:val>
            <c:numRef>
              <c:f>Sheet1!$B$2:$B$31</c:f>
              <c:numCache>
                <c:formatCode>General</c:formatCode>
                <c:ptCount val="30"/>
                <c:pt idx="0">
                  <c:v>6.91</c:v>
                </c:pt>
                <c:pt idx="1">
                  <c:v>4.71</c:v>
                </c:pt>
                <c:pt idx="2">
                  <c:v>4.61</c:v>
                </c:pt>
                <c:pt idx="3">
                  <c:v>4.33</c:v>
                </c:pt>
                <c:pt idx="4">
                  <c:v>3.82</c:v>
                </c:pt>
                <c:pt idx="5">
                  <c:v>2.82</c:v>
                </c:pt>
                <c:pt idx="6">
                  <c:v>2.25</c:v>
                </c:pt>
                <c:pt idx="7">
                  <c:v>2.15</c:v>
                </c:pt>
                <c:pt idx="8">
                  <c:v>2.11</c:v>
                </c:pt>
                <c:pt idx="9">
                  <c:v>1.95</c:v>
                </c:pt>
                <c:pt idx="10">
                  <c:v>1.58</c:v>
                </c:pt>
                <c:pt idx="11">
                  <c:v>1.27</c:v>
                </c:pt>
                <c:pt idx="12">
                  <c:v>1.02</c:v>
                </c:pt>
                <c:pt idx="13">
                  <c:v>0.93</c:v>
                </c:pt>
                <c:pt idx="14">
                  <c:v>0.9</c:v>
                </c:pt>
                <c:pt idx="15">
                  <c:v>0.87</c:v>
                </c:pt>
                <c:pt idx="16">
                  <c:v>0.69</c:v>
                </c:pt>
                <c:pt idx="17">
                  <c:v>0.68</c:v>
                </c:pt>
                <c:pt idx="18">
                  <c:v>0.54</c:v>
                </c:pt>
                <c:pt idx="19">
                  <c:v>0.51</c:v>
                </c:pt>
                <c:pt idx="20">
                  <c:v>0.49</c:v>
                </c:pt>
                <c:pt idx="21">
                  <c:v>0.45</c:v>
                </c:pt>
                <c:pt idx="22">
                  <c:v>0.43</c:v>
                </c:pt>
                <c:pt idx="23">
                  <c:v>0.38</c:v>
                </c:pt>
                <c:pt idx="24">
                  <c:v>0.36</c:v>
                </c:pt>
                <c:pt idx="25">
                  <c:v>0.29</c:v>
                </c:pt>
                <c:pt idx="26">
                  <c:v>0.23</c:v>
                </c:pt>
                <c:pt idx="27">
                  <c:v>0.09</c:v>
                </c:pt>
                <c:pt idx="28">
                  <c:v>0.09</c:v>
                </c:pt>
                <c:pt idx="29">
                  <c:v>1.64</c:v>
                </c:pt>
              </c:numCache>
            </c:numRef>
          </c:val>
        </c:ser>
        <c:gapWidth val="35"/>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tickLblSkip val="1"/>
        <c:tickMarkSkip val="1"/>
        <c:noMultiLvlLbl val="0"/>
      </c:catAx>
      <c:valAx>
        <c:axId val="-2113994440"/>
        <c:scaling>
          <c:max val="8.0"/>
          <c:min val="0.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majorUnit val="2.0"/>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sz="1100" b="1">
                        <a:solidFill>
                          <a:srgbClr val="C8102E"/>
                        </a:solidFill>
                        <a:latin typeface="Lato"/>
                      </a:rPr>
                      <a:t>92%</a:t>
                    </a:r>
                  </a:p>
                </c:rich>
              </c:tx>
              <c:dLblPos val="t"/>
              <c:showLegendKey val="0"/>
              <c:showVal val="1"/>
              <c:showCatName val="0"/>
              <c:showSerName val="0"/>
              <c:showPercent val="0"/>
              <c:showBubbleSize val="0"/>
            </c:dLbl>
            <c:dLbl>
              <c:idx val="44"/>
              <c:tx>
                <c:rich>
                  <a:bodyPr/>
                  <a:lstStyle/>
                  <a:p>
                    <a:r>
                      <a:rPr sz="1100" b="1">
                        <a:solidFill>
                          <a:srgbClr val="C8102E"/>
                        </a:solidFill>
                        <a:latin typeface="Lato"/>
                      </a:rPr>
                      <a:t>50%</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c:v>
                </c:pt>
                <c:pt idx="1">
                  <c:v>0.890999972820282</c:v>
                </c:pt>
                <c:pt idx="2">
                  <c:v>0.8960000276565552</c:v>
                </c:pt>
                <c:pt idx="3">
                  <c:v>0.8880000114440918</c:v>
                </c:pt>
                <c:pt idx="4">
                  <c:v>0.8989999890327454</c:v>
                </c:pt>
                <c:pt idx="5">
                  <c:v>0.8640000224113464</c:v>
                </c:pt>
                <c:pt idx="6">
                  <c:v>0.8579999804496765</c:v>
                </c:pt>
                <c:pt idx="7">
                  <c:v>0.8399999737739563</c:v>
                </c:pt>
                <c:pt idx="8">
                  <c:v>0.8209999799728394</c:v>
                </c:pt>
                <c:pt idx="9">
                  <c:v>0.7960000038146973</c:v>
                </c:pt>
                <c:pt idx="10">
                  <c:v>0.7850000262260437</c:v>
                </c:pt>
                <c:pt idx="11">
                  <c:v>0.7839999794960022</c:v>
                </c:pt>
                <c:pt idx="12">
                  <c:v>0.7400000095367432</c:v>
                </c:pt>
                <c:pt idx="13">
                  <c:v>0.7080000042915344</c:v>
                </c:pt>
                <c:pt idx="14">
                  <c:v>0.6819999814033508</c:v>
                </c:pt>
                <c:pt idx="15">
                  <c:v>0.6959999799728394</c:v>
                </c:pt>
                <c:pt idx="16">
                  <c:v>0.6740000247955322</c:v>
                </c:pt>
                <c:pt idx="17">
                  <c:v>0.6729999780654907</c:v>
                </c:pt>
                <c:pt idx="18">
                  <c:v>0.6710000038146973</c:v>
                </c:pt>
                <c:pt idx="19">
                  <c:v>0.652999997138977</c:v>
                </c:pt>
                <c:pt idx="20">
                  <c:v>0.6230000257492065</c:v>
                </c:pt>
                <c:pt idx="21">
                  <c:v>0.6010000109672546</c:v>
                </c:pt>
                <c:pt idx="22">
                  <c:v>0.5830000042915344</c:v>
                </c:pt>
                <c:pt idx="23">
                  <c:v>0.5759999752044678</c:v>
                </c:pt>
                <c:pt idx="24">
                  <c:v>0.5649999976158142</c:v>
                </c:pt>
                <c:pt idx="25">
                  <c:v>0.5929999947547913</c:v>
                </c:pt>
                <c:pt idx="26">
                  <c:v>0.574999988079071</c:v>
                </c:pt>
                <c:pt idx="27">
                  <c:v>0.578000009059906</c:v>
                </c:pt>
                <c:pt idx="28">
                  <c:v>0.6010000109672546</c:v>
                </c:pt>
                <c:pt idx="29">
                  <c:v>0.593999981880188</c:v>
                </c:pt>
                <c:pt idx="30">
                  <c:v>0.6100000143051147</c:v>
                </c:pt>
                <c:pt idx="31">
                  <c:v>0.6119999885559082</c:v>
                </c:pt>
                <c:pt idx="32">
                  <c:v>0.6079999804496765</c:v>
                </c:pt>
                <c:pt idx="33">
                  <c:v>0.5989999771118164</c:v>
                </c:pt>
                <c:pt idx="34">
                  <c:v>0.5799999833106995</c:v>
                </c:pt>
                <c:pt idx="35">
                  <c:v>0.5860000252723694</c:v>
                </c:pt>
                <c:pt idx="36">
                  <c:v>0.5490000247955322</c:v>
                </c:pt>
                <c:pt idx="37">
                  <c:v>0.5659999847412109</c:v>
                </c:pt>
                <c:pt idx="38">
                  <c:v>0.5569999814033508</c:v>
                </c:pt>
                <c:pt idx="39">
                  <c:v>0.5429999828338623</c:v>
                </c:pt>
                <c:pt idx="40">
                  <c:v>0.5</c:v>
                </c:pt>
                <c:pt idx="41">
                  <c:v>0.5320000052452087</c:v>
                </c:pt>
                <c:pt idx="42">
                  <c:v>0.5429999828338623</c:v>
                </c:pt>
                <c:pt idx="43">
                  <c:v>0.5270000100135803</c:v>
                </c:pt>
                <c:pt idx="44">
                  <c:v>0.503000020980835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1.0"/>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Median weekly earnings</c:v>
                </c:pt>
              </c:strCache>
            </c:strRef>
          </c:tx>
          <c:spPr>
            <a:solidFill>
              <a:srgbClr val="000000"/>
            </a:solidFill>
          </c:spPr>
          <c:dPt>
            <c:idx val="4"/>
            <c:spPr>
              <a:solidFill>
                <a:srgbClr val="C8102E"/>
              </a:solidFill>
            </c:spPr>
          </c:dPt>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770</c:v>
                </c:pt>
                <c:pt idx="1">
                  <c:v>966</c:v>
                </c:pt>
                <c:pt idx="2">
                  <c:v>1062</c:v>
                </c:pt>
                <c:pt idx="3">
                  <c:v>1135</c:v>
                </c:pt>
                <c:pt idx="4">
                  <c:v>1578</c:v>
                </c:pt>
                <c:pt idx="5">
                  <c:v>1876</c:v>
                </c:pt>
                <c:pt idx="6">
                  <c:v>2294</c:v>
                </c:pt>
                <c:pt idx="7">
                  <c:v>2307</c:v>
                </c:pt>
              </c:numCache>
            </c:numRef>
          </c:val>
        </c:ser>
        <c:dLbls>
          <c:numFmt formatCode="&quot;$&quot;#,##0" sourceLinked="0"/>
          <c:txPr>
            <a:bodyPr/>
            <a:lstStyle/>
            <a:p>
              <a:pPr>
                <a:defRPr sz="1100">
                  <a:latin typeface="Lato"/>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26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500.0"/>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Unemployment rate</c:v>
                </c:pt>
              </c:strCache>
            </c:strRef>
          </c:tx>
          <c:spPr>
            <a:solidFill>
              <a:srgbClr val="C8102E"/>
            </a:solidFill>
          </c:spPr>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0.061</c:v>
                </c:pt>
                <c:pt idx="1">
                  <c:v>0.043</c:v>
                </c:pt>
                <c:pt idx="2">
                  <c:v>0.038</c:v>
                </c:pt>
                <c:pt idx="3">
                  <c:v>0.03</c:v>
                </c:pt>
                <c:pt idx="4">
                  <c:v>0.028</c:v>
                </c:pt>
                <c:pt idx="5">
                  <c:v>0.026</c:v>
                </c:pt>
                <c:pt idx="6">
                  <c:v>0.019</c:v>
                </c:pt>
                <c:pt idx="7">
                  <c:v>0.018</c:v>
                </c:pt>
              </c:numCache>
            </c:numRef>
          </c:val>
        </c:ser>
        <c:dLbls>
          <c:numFmt formatCode="0.0%" sourceLinked="0"/>
          <c:txPr>
            <a:bodyPr/>
            <a:lstStyle/>
            <a:p>
              <a:pPr>
                <a:defRPr sz="1000">
                  <a:latin typeface="Lato"/>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0.07"/>
          <c:min val="0.0"/>
        </c:scaling>
        <c:delete val="0"/>
        <c:axPos val="b"/>
        <c:majorGridlines>
          <c:spPr>
            <a:ln w="6350">
              <a:solidFill>
                <a:srgbClr val="D9D9D9"/>
              </a:solidFill>
            </a:ln>
          </c:spPr>
        </c:majorGridlines>
        <c:numFmt formatCode="0.0%" sourceLinked="0"/>
        <c:majorTickMark val="out"/>
        <c:minorTickMark val="none"/>
        <c:tickLblPos val="high"/>
        <c:spPr>
          <a:ln>
            <a:noFill/>
          </a:ln>
        </c:spPr>
        <c:crossAx val="-2068027336"/>
        <c:crosses val="autoZero"/>
        <c:majorUnit val="0.02"/>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billion</c:v>
                </c:pt>
              </c:strCache>
            </c:strRef>
          </c:tx>
          <c:spPr>
            <a:solidFill>
              <a:srgbClr val="8C8C8C"/>
            </a:solidFill>
          </c:spPr>
          <c:dPt>
            <c:idx val="15"/>
            <c:spPr>
              <a:solidFill>
                <a:srgbClr val="C8102E"/>
              </a:solidFill>
            </c:spPr>
          </c:dPt>
          <c:dPt>
            <c:idx val="26"/>
            <c:spPr>
              <a:solidFill>
                <a:srgbClr val="C8102E"/>
              </a:solidFill>
            </c:spPr>
          </c:dPt>
          <c:dLbls>
            <c:dLbl>
              <c:idx val="0"/>
              <c:tx>
                <c:rich>
                  <a:bodyPr/>
                  <a:lstStyle/>
                  <a:p>
                    <a:r>
                      <a:rPr sz="900" b="0">
                        <a:solidFill>
                          <a:srgbClr val="000000"/>
                        </a:solidFill>
                        <a:latin typeface="Lato"/>
                      </a:rPr>
                      <a:t>$159</a:t>
                    </a:r>
                  </a:p>
                </c:rich>
              </c:tx>
              <c:dLblPos val="outEnd"/>
              <c:showLegendKey val="0"/>
              <c:showVal val="1"/>
              <c:showCatName val="0"/>
              <c:showSerName val="0"/>
              <c:showPercent val="0"/>
              <c:showBubbleSize val="0"/>
            </c:dLbl>
            <c:dLbl>
              <c:idx val="1"/>
              <c:tx>
                <c:rich>
                  <a:bodyPr/>
                  <a:lstStyle/>
                  <a:p>
                    <a:r>
                      <a:rPr sz="900" b="0">
                        <a:solidFill>
                          <a:srgbClr val="000000"/>
                        </a:solidFill>
                        <a:latin typeface="Lato"/>
                      </a:rPr>
                      <a:t>$158</a:t>
                    </a:r>
                  </a:p>
                </c:rich>
              </c:tx>
              <c:dLblPos val="outEnd"/>
              <c:showLegendKey val="0"/>
              <c:showVal val="1"/>
              <c:showCatName val="0"/>
              <c:showSerName val="0"/>
              <c:showPercent val="0"/>
              <c:showBubbleSize val="0"/>
            </c:dLbl>
            <c:dLbl>
              <c:idx val="2"/>
              <c:tx>
                <c:rich>
                  <a:bodyPr/>
                  <a:lstStyle/>
                  <a:p>
                    <a:r>
                      <a:rPr sz="900" b="0">
                        <a:solidFill>
                          <a:srgbClr val="000000"/>
                        </a:solidFill>
                        <a:latin typeface="Lato"/>
                      </a:rPr>
                      <a:t>$129</a:t>
                    </a:r>
                  </a:p>
                </c:rich>
              </c:tx>
              <c:dLblPos val="outEnd"/>
              <c:showLegendKey val="0"/>
              <c:showVal val="1"/>
              <c:showCatName val="0"/>
              <c:showSerName val="0"/>
              <c:showPercent val="0"/>
              <c:showBubbleSize val="0"/>
            </c:dLbl>
            <c:dLbl>
              <c:idx val="3"/>
              <c:tx>
                <c:rich>
                  <a:bodyPr/>
                  <a:lstStyle/>
                  <a:p>
                    <a:r>
                      <a:rPr sz="900" b="0">
                        <a:solidFill>
                          <a:srgbClr val="000000"/>
                        </a:solidFill>
                        <a:latin typeface="Lato"/>
                      </a:rPr>
                      <a:t>$110</a:t>
                    </a:r>
                  </a:p>
                </c:rich>
              </c:tx>
              <c:dLblPos val="outEnd"/>
              <c:showLegendKey val="0"/>
              <c:showVal val="1"/>
              <c:showCatName val="0"/>
              <c:showSerName val="0"/>
              <c:showPercent val="0"/>
              <c:showBubbleSize val="0"/>
            </c:dLbl>
            <c:dLbl>
              <c:idx val="4"/>
              <c:tx>
                <c:rich>
                  <a:bodyPr/>
                  <a:lstStyle/>
                  <a:p>
                    <a:r>
                      <a:rPr sz="900" b="0">
                        <a:solidFill>
                          <a:srgbClr val="000000"/>
                        </a:solidFill>
                        <a:latin typeface="Lato"/>
                      </a:rPr>
                      <a:t>$109</a:t>
                    </a:r>
                  </a:p>
                </c:rich>
              </c:tx>
              <c:dLblPos val="outEnd"/>
              <c:showLegendKey val="0"/>
              <c:showVal val="1"/>
              <c:showCatName val="0"/>
              <c:showSerName val="0"/>
              <c:showPercent val="0"/>
              <c:showBubbleSize val="0"/>
            </c:dLbl>
            <c:dLbl>
              <c:idx val="5"/>
              <c:tx>
                <c:rich>
                  <a:bodyPr/>
                  <a:lstStyle/>
                  <a:p>
                    <a:r>
                      <a:rPr sz="900" b="0">
                        <a:solidFill>
                          <a:srgbClr val="000000"/>
                        </a:solidFill>
                        <a:latin typeface="Lato"/>
                      </a:rPr>
                      <a:t>$108</a:t>
                    </a:r>
                  </a:p>
                </c:rich>
              </c:tx>
              <c:dLblPos val="outEnd"/>
              <c:showLegendKey val="0"/>
              <c:showVal val="1"/>
              <c:showCatName val="0"/>
              <c:showSerName val="0"/>
              <c:showPercent val="0"/>
              <c:showBubbleSize val="0"/>
            </c:dLbl>
            <c:dLbl>
              <c:idx val="6"/>
              <c:tx>
                <c:rich>
                  <a:bodyPr/>
                  <a:lstStyle/>
                  <a:p>
                    <a:r>
                      <a:rPr sz="900" b="0">
                        <a:solidFill>
                          <a:srgbClr val="000000"/>
                        </a:solidFill>
                        <a:latin typeface="Lato"/>
                      </a:rPr>
                      <a:t>$99</a:t>
                    </a:r>
                  </a:p>
                </c:rich>
              </c:tx>
              <c:dLblPos val="outEnd"/>
              <c:showLegendKey val="0"/>
              <c:showVal val="1"/>
              <c:showCatName val="0"/>
              <c:showSerName val="0"/>
              <c:showPercent val="0"/>
              <c:showBubbleSize val="0"/>
            </c:dLbl>
            <c:dLbl>
              <c:idx val="7"/>
              <c:tx>
                <c:rich>
                  <a:bodyPr/>
                  <a:lstStyle/>
                  <a:p>
                    <a:r>
                      <a:rPr sz="900" b="0">
                        <a:solidFill>
                          <a:srgbClr val="000000"/>
                        </a:solidFill>
                        <a:latin typeface="Lato"/>
                      </a:rPr>
                      <a:t>$91</a:t>
                    </a:r>
                  </a:p>
                </c:rich>
              </c:tx>
              <c:dLblPos val="outEnd"/>
              <c:showLegendKey val="0"/>
              <c:showVal val="1"/>
              <c:showCatName val="0"/>
              <c:showSerName val="0"/>
              <c:showPercent val="0"/>
              <c:showBubbleSize val="0"/>
            </c:dLbl>
            <c:dLbl>
              <c:idx val="8"/>
              <c:tx>
                <c:rich>
                  <a:bodyPr/>
                  <a:lstStyle/>
                  <a:p>
                    <a:r>
                      <a:rPr sz="900" b="0">
                        <a:solidFill>
                          <a:srgbClr val="000000"/>
                        </a:solidFill>
                        <a:latin typeface="Lato"/>
                      </a:rPr>
                      <a:t>$89</a:t>
                    </a:r>
                  </a:p>
                </c:rich>
              </c:tx>
              <c:dLblPos val="outEnd"/>
              <c:showLegendKey val="0"/>
              <c:showVal val="1"/>
              <c:showCatName val="0"/>
              <c:showSerName val="0"/>
              <c:showPercent val="0"/>
              <c:showBubbleSize val="0"/>
            </c:dLbl>
            <c:dLbl>
              <c:idx val="9"/>
              <c:tx>
                <c:rich>
                  <a:bodyPr/>
                  <a:lstStyle/>
                  <a:p>
                    <a:r>
                      <a:rPr sz="900" b="0">
                        <a:solidFill>
                          <a:srgbClr val="000000"/>
                        </a:solidFill>
                        <a:latin typeface="Lato"/>
                      </a:rPr>
                      <a:t>$79</a:t>
                    </a:r>
                  </a:p>
                </c:rich>
              </c:tx>
              <c:dLblPos val="outEnd"/>
              <c:showLegendKey val="0"/>
              <c:showVal val="1"/>
              <c:showCatName val="0"/>
              <c:showSerName val="0"/>
              <c:showPercent val="0"/>
              <c:showBubbleSize val="0"/>
            </c:dLbl>
            <c:dLbl>
              <c:idx val="10"/>
              <c:tx>
                <c:rich>
                  <a:bodyPr/>
                  <a:lstStyle/>
                  <a:p>
                    <a:r>
                      <a:rPr sz="900" b="0">
                        <a:solidFill>
                          <a:srgbClr val="000000"/>
                        </a:solidFill>
                        <a:latin typeface="Lato"/>
                      </a:rPr>
                      <a:t>$78</a:t>
                    </a:r>
                  </a:p>
                </c:rich>
              </c:tx>
              <c:dLblPos val="outEnd"/>
              <c:showLegendKey val="0"/>
              <c:showVal val="1"/>
              <c:showCatName val="0"/>
              <c:showSerName val="0"/>
              <c:showPercent val="0"/>
              <c:showBubbleSize val="0"/>
            </c:dLbl>
            <c:dLbl>
              <c:idx val="11"/>
              <c:tx>
                <c:rich>
                  <a:bodyPr/>
                  <a:lstStyle/>
                  <a:p>
                    <a:r>
                      <a:rPr sz="900" b="0">
                        <a:solidFill>
                          <a:srgbClr val="000000"/>
                        </a:solidFill>
                        <a:latin typeface="Lato"/>
                      </a:rPr>
                      <a:t>$62</a:t>
                    </a:r>
                  </a:p>
                </c:rich>
              </c:tx>
              <c:dLblPos val="outEnd"/>
              <c:showLegendKey val="0"/>
              <c:showVal val="1"/>
              <c:showCatName val="0"/>
              <c:showSerName val="0"/>
              <c:showPercent val="0"/>
              <c:showBubbleSize val="0"/>
            </c:dLbl>
            <c:dLbl>
              <c:idx val="12"/>
              <c:tx>
                <c:rich>
                  <a:bodyPr/>
                  <a:lstStyle/>
                  <a:p>
                    <a:r>
                      <a:rPr sz="900" b="0">
                        <a:solidFill>
                          <a:srgbClr val="000000"/>
                        </a:solidFill>
                        <a:latin typeface="Lato"/>
                      </a:rPr>
                      <a:t>$59</a:t>
                    </a:r>
                  </a:p>
                </c:rich>
              </c:tx>
              <c:dLblPos val="outEnd"/>
              <c:showLegendKey val="0"/>
              <c:showVal val="1"/>
              <c:showCatName val="0"/>
              <c:showSerName val="0"/>
              <c:showPercent val="0"/>
              <c:showBubbleSize val="0"/>
            </c:dLbl>
            <c:dLbl>
              <c:idx val="13"/>
              <c:tx>
                <c:rich>
                  <a:bodyPr/>
                  <a:lstStyle/>
                  <a:p>
                    <a:r>
                      <a:rPr sz="900" b="0">
                        <a:solidFill>
                          <a:srgbClr val="000000"/>
                        </a:solidFill>
                        <a:latin typeface="Lato"/>
                      </a:rPr>
                      <a:t>$50</a:t>
                    </a:r>
                  </a:p>
                </c:rich>
              </c:tx>
              <c:dLblPos val="outEnd"/>
              <c:showLegendKey val="0"/>
              <c:showVal val="1"/>
              <c:showCatName val="0"/>
              <c:showSerName val="0"/>
              <c:showPercent val="0"/>
              <c:showBubbleSize val="0"/>
            </c:dLbl>
            <c:dLbl>
              <c:idx val="14"/>
              <c:tx>
                <c:rich>
                  <a:bodyPr/>
                  <a:lstStyle/>
                  <a:p>
                    <a:r>
                      <a:rPr sz="900" b="0">
                        <a:solidFill>
                          <a:srgbClr val="000000"/>
                        </a:solidFill>
                        <a:latin typeface="Lato"/>
                      </a:rPr>
                      <a:t>$49</a:t>
                    </a:r>
                  </a:p>
                </c:rich>
              </c:tx>
              <c:dLblPos val="outEnd"/>
              <c:showLegendKey val="0"/>
              <c:showVal val="1"/>
              <c:showCatName val="0"/>
              <c:showSerName val="0"/>
              <c:showPercent val="0"/>
              <c:showBubbleSize val="0"/>
            </c:dLbl>
            <c:dLbl>
              <c:idx val="15"/>
              <c:tx>
                <c:rich>
                  <a:bodyPr/>
                  <a:lstStyle/>
                  <a:p>
                    <a:r>
                      <a:rPr sz="900" b="1">
                        <a:solidFill>
                          <a:srgbClr val="C8102E"/>
                        </a:solidFill>
                        <a:latin typeface="Lato"/>
                      </a:rPr>
                      <a:t>$48</a:t>
                    </a:r>
                  </a:p>
                </c:rich>
              </c:tx>
              <c:dLblPos val="outEnd"/>
              <c:showLegendKey val="0"/>
              <c:showVal val="1"/>
              <c:showCatName val="0"/>
              <c:showSerName val="0"/>
              <c:showPercent val="0"/>
              <c:showBubbleSize val="0"/>
            </c:dLbl>
            <c:dLbl>
              <c:idx val="16"/>
              <c:tx>
                <c:rich>
                  <a:bodyPr/>
                  <a:lstStyle/>
                  <a:p>
                    <a:r>
                      <a:rPr sz="900" b="0">
                        <a:solidFill>
                          <a:srgbClr val="000000"/>
                        </a:solidFill>
                        <a:latin typeface="Lato"/>
                      </a:rPr>
                      <a:t>$36</a:t>
                    </a:r>
                  </a:p>
                </c:rich>
              </c:tx>
              <c:dLblPos val="outEnd"/>
              <c:showLegendKey val="0"/>
              <c:showVal val="1"/>
              <c:showCatName val="0"/>
              <c:showSerName val="0"/>
              <c:showPercent val="0"/>
              <c:showBubbleSize val="0"/>
            </c:dLbl>
            <c:dLbl>
              <c:idx val="17"/>
              <c:tx>
                <c:rich>
                  <a:bodyPr/>
                  <a:lstStyle/>
                  <a:p>
                    <a:r>
                      <a:rPr sz="900" b="0">
                        <a:solidFill>
                          <a:srgbClr val="000000"/>
                        </a:solidFill>
                        <a:latin typeface="Lato"/>
                      </a:rPr>
                      <a:t>$23</a:t>
                    </a:r>
                  </a:p>
                </c:rich>
              </c:tx>
              <c:dLblPos val="outEnd"/>
              <c:showLegendKey val="0"/>
              <c:showVal val="1"/>
              <c:showCatName val="0"/>
              <c:showSerName val="0"/>
              <c:showPercent val="0"/>
              <c:showBubbleSize val="0"/>
            </c:dLbl>
            <c:dLbl>
              <c:idx val="18"/>
              <c:tx>
                <c:rich>
                  <a:bodyPr/>
                  <a:lstStyle/>
                  <a:p>
                    <a:r>
                      <a:rPr sz="900" b="0">
                        <a:solidFill>
                          <a:srgbClr val="000000"/>
                        </a:solidFill>
                        <a:latin typeface="Lato"/>
                      </a:rPr>
                      <a:t>$22</a:t>
                    </a:r>
                  </a:p>
                </c:rich>
              </c:tx>
              <c:dLblPos val="outEnd"/>
              <c:showLegendKey val="0"/>
              <c:showVal val="1"/>
              <c:showCatName val="0"/>
              <c:showSerName val="0"/>
              <c:showPercent val="0"/>
              <c:showBubbleSize val="0"/>
            </c:dLbl>
            <c:dLbl>
              <c:idx val="19"/>
              <c:tx>
                <c:rich>
                  <a:bodyPr/>
                  <a:lstStyle/>
                  <a:p>
                    <a:r>
                      <a:rPr sz="900" b="0">
                        <a:solidFill>
                          <a:srgbClr val="000000"/>
                        </a:solidFill>
                        <a:latin typeface="Lato"/>
                      </a:rPr>
                      <a:t>$16</a:t>
                    </a:r>
                  </a:p>
                </c:rich>
              </c:tx>
              <c:dLblPos val="outEnd"/>
              <c:showLegendKey val="0"/>
              <c:showVal val="1"/>
              <c:showCatName val="0"/>
              <c:showSerName val="0"/>
              <c:showPercent val="0"/>
              <c:showBubbleSize val="0"/>
            </c:dLbl>
            <c:dLbl>
              <c:idx val="20"/>
              <c:tx>
                <c:rich>
                  <a:bodyPr/>
                  <a:lstStyle/>
                  <a:p>
                    <a:r>
                      <a:rPr sz="900" b="0">
                        <a:solidFill>
                          <a:srgbClr val="000000"/>
                        </a:solidFill>
                        <a:latin typeface="Lato"/>
                      </a:rPr>
                      <a:t>$15</a:t>
                    </a:r>
                  </a:p>
                </c:rich>
              </c:tx>
              <c:dLblPos val="outEnd"/>
              <c:showLegendKey val="0"/>
              <c:showVal val="1"/>
              <c:showCatName val="0"/>
              <c:showSerName val="0"/>
              <c:showPercent val="0"/>
              <c:showBubbleSize val="0"/>
            </c:dLbl>
            <c:dLbl>
              <c:idx val="21"/>
              <c:tx>
                <c:rich>
                  <a:bodyPr/>
                  <a:lstStyle/>
                  <a:p>
                    <a:r>
                      <a:rPr sz="900" b="0">
                        <a:solidFill>
                          <a:srgbClr val="000000"/>
                        </a:solidFill>
                        <a:latin typeface="Lato"/>
                      </a:rPr>
                      <a:t>$14</a:t>
                    </a:r>
                  </a:p>
                </c:rich>
              </c:tx>
              <c:dLblPos val="outEnd"/>
              <c:showLegendKey val="0"/>
              <c:showVal val="1"/>
              <c:showCatName val="0"/>
              <c:showSerName val="0"/>
              <c:showPercent val="0"/>
              <c:showBubbleSize val="0"/>
            </c:dLbl>
            <c:dLbl>
              <c:idx val="22"/>
              <c:tx>
                <c:rich>
                  <a:bodyPr/>
                  <a:lstStyle/>
                  <a:p>
                    <a:r>
                      <a:rPr sz="900" b="0">
                        <a:solidFill>
                          <a:srgbClr val="000000"/>
                        </a:solidFill>
                        <a:latin typeface="Lato"/>
                      </a:rPr>
                      <a:t>$12</a:t>
                    </a:r>
                  </a:p>
                </c:rich>
              </c:tx>
              <c:dLblPos val="outEnd"/>
              <c:showLegendKey val="0"/>
              <c:showVal val="1"/>
              <c:showCatName val="0"/>
              <c:showSerName val="0"/>
              <c:showPercent val="0"/>
              <c:showBubbleSize val="0"/>
            </c:dLbl>
            <c:dLbl>
              <c:idx val="23"/>
              <c:tx>
                <c:rich>
                  <a:bodyPr/>
                  <a:lstStyle/>
                  <a:p>
                    <a:r>
                      <a:rPr sz="900" b="0">
                        <a:solidFill>
                          <a:srgbClr val="000000"/>
                        </a:solidFill>
                        <a:latin typeface="Lato"/>
                      </a:rPr>
                      <a:t>$10</a:t>
                    </a:r>
                  </a:p>
                </c:rich>
              </c:tx>
              <c:dLblPos val="outEnd"/>
              <c:showLegendKey val="0"/>
              <c:showVal val="1"/>
              <c:showCatName val="0"/>
              <c:showSerName val="0"/>
              <c:showPercent val="0"/>
              <c:showBubbleSize val="0"/>
            </c:dLbl>
            <c:dLbl>
              <c:idx val="24"/>
              <c:tx>
                <c:rich>
                  <a:bodyPr/>
                  <a:lstStyle/>
                  <a:p>
                    <a:r>
                      <a:rPr sz="900" b="0">
                        <a:solidFill>
                          <a:srgbClr val="000000"/>
                        </a:solidFill>
                        <a:latin typeface="Lato"/>
                      </a:rPr>
                      <a:t>$9</a:t>
                    </a:r>
                  </a:p>
                </c:rich>
              </c:tx>
              <c:dLblPos val="outEnd"/>
              <c:showLegendKey val="0"/>
              <c:showVal val="1"/>
              <c:showCatName val="0"/>
              <c:showSerName val="0"/>
              <c:showPercent val="0"/>
              <c:showBubbleSize val="0"/>
            </c:dLbl>
            <c:dLbl>
              <c:idx val="25"/>
              <c:tx>
                <c:rich>
                  <a:bodyPr/>
                  <a:lstStyle/>
                  <a:p>
                    <a:r>
                      <a:rPr sz="900" b="0">
                        <a:solidFill>
                          <a:srgbClr val="000000"/>
                        </a:solidFill>
                        <a:latin typeface="Lato"/>
                      </a:rPr>
                      <a:t>$9</a:t>
                    </a:r>
                  </a:p>
                </c:rich>
              </c:tx>
              <c:dLblPos val="outEnd"/>
              <c:showLegendKey val="0"/>
              <c:showVal val="1"/>
              <c:showCatName val="0"/>
              <c:showSerName val="0"/>
              <c:showPercent val="0"/>
              <c:showBubbleSize val="0"/>
            </c:dLbl>
            <c:dLbl>
              <c:idx val="26"/>
              <c:tx>
                <c:rich>
                  <a:bodyPr/>
                  <a:lstStyle/>
                  <a:p>
                    <a:r>
                      <a:rPr sz="900" b="1">
                        <a:solidFill>
                          <a:srgbClr val="C8102E"/>
                        </a:solidFill>
                        <a:latin typeface="Lato"/>
                      </a:rPr>
                      <a:t>$9</a:t>
                    </a:r>
                  </a:p>
                </c:rich>
              </c:tx>
              <c:dLblPos val="outEnd"/>
              <c:showLegendKey val="0"/>
              <c:showVal val="1"/>
              <c:showCatName val="0"/>
              <c:showSerName val="0"/>
              <c:showPercent val="0"/>
              <c:showBubbleSize val="0"/>
            </c:dLbl>
            <c:dLbl>
              <c:idx val="27"/>
              <c:tx>
                <c:rich>
                  <a:bodyPr/>
                  <a:lstStyle/>
                  <a:p>
                    <a:r>
                      <a:rPr sz="900" b="0">
                        <a:solidFill>
                          <a:srgbClr val="000000"/>
                        </a:solidFill>
                        <a:latin typeface="Lato"/>
                      </a:rPr>
                      <a:t>$7</a:t>
                    </a:r>
                  </a:p>
                </c:rich>
              </c:tx>
              <c:dLblPos val="outEnd"/>
              <c:showLegendKey val="0"/>
              <c:showVal val="1"/>
              <c:showCatName val="0"/>
              <c:showSerName val="0"/>
              <c:showPercent val="0"/>
              <c:showBubbleSize val="0"/>
            </c:dLbl>
            <c:dLbl>
              <c:idx val="28"/>
              <c:tx>
                <c:rich>
                  <a:bodyPr/>
                  <a:lstStyle/>
                  <a:p>
                    <a:r>
                      <a:rPr sz="900" b="0">
                        <a:solidFill>
                          <a:srgbClr val="000000"/>
                        </a:solidFill>
                        <a:latin typeface="Lato"/>
                      </a:rPr>
                      <a:t>$3</a:t>
                    </a:r>
                  </a:p>
                </c:rich>
              </c:tx>
              <c:dLblPos val="outEnd"/>
              <c:showLegendKey val="0"/>
              <c:showVal val="1"/>
              <c:showCatName val="0"/>
              <c:showSerName val="0"/>
              <c:showPercent val="0"/>
              <c:showBubbleSize val="0"/>
            </c:dLbl>
            <c:dLbl>
              <c:idx val="29"/>
              <c:tx>
                <c:rich>
                  <a:bodyPr/>
                  <a:lstStyle/>
                  <a:p>
                    <a:r>
                      <a:rPr sz="900" b="0">
                        <a:solidFill>
                          <a:srgbClr val="000000"/>
                        </a:solidFill>
                        <a:latin typeface="Lato"/>
                      </a:rPr>
                      <a:t>$2</a:t>
                    </a:r>
                  </a:p>
                </c:rich>
              </c:tx>
              <c:dLblPos val="outEnd"/>
              <c:showLegendKey val="0"/>
              <c:showVal val="1"/>
              <c:showCatName val="0"/>
              <c:showSerName val="0"/>
              <c:showPercent val="0"/>
              <c:showBubbleSize val="0"/>
            </c:dLbl>
            <c:dLbl>
              <c:idx val="30"/>
              <c:tx>
                <c:rich>
                  <a:bodyPr/>
                  <a:lstStyle/>
                  <a:p>
                    <a:r>
                      <a:rPr sz="900" b="0">
                        <a:solidFill>
                          <a:srgbClr val="000000"/>
                        </a:solidFill>
                        <a:latin typeface="Lato"/>
                      </a:rPr>
                      <a:t>$1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Sheet1!$A$2:$A$32</c:f>
              <c:strCache>
                <c:ptCount val="31"/>
                <c:pt idx="0">
                  <c:v>Wine and Spirits</c:v>
                </c:pt>
                <c:pt idx="1">
                  <c:v>Pet care (2025)</c:v>
                </c:pt>
                <c:pt idx="2">
                  <c:v>Beer</c:v>
                </c:pt>
                <c:pt idx="3">
                  <c:v>Soft drinks</c:v>
                </c:pt>
                <c:pt idx="4">
                  <c:v>Lottery tickets (FY2025)</c:v>
                </c:pt>
                <c:pt idx="5">
                  <c:v>Tobacco</c:v>
                </c:pt>
                <c:pt idx="6">
                  <c:v>Bottled water</c:v>
                </c:pt>
                <c:pt idx="7">
                  <c:v>Beauty and personal care</c:v>
                </c:pt>
                <c:pt idx="8">
                  <c:v>Coffee</c:v>
                </c:pt>
                <c:pt idx="9">
                  <c:v>Gambling, non-lottery (2025)</c:v>
                </c:pt>
                <c:pt idx="10">
                  <c:v>Video games</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 (2024)</c:v>
                </c:pt>
                <c:pt idx="28">
                  <c:v>Valentine's flowers (2026)</c:v>
                </c:pt>
                <c:pt idx="29">
                  <c:v>Tattoos</c:v>
                </c:pt>
                <c:pt idx="30">
                  <c:v>Twinkies</c:v>
                </c:pt>
              </c:strCache>
            </c:strRef>
          </c:cat>
          <c:val>
            <c:numRef>
              <c:f>Sheet1!$B$2:$B$32</c:f>
              <c:numCache>
                <c:formatCode>General</c:formatCode>
                <c:ptCount val="31"/>
                <c:pt idx="0">
                  <c:v>159.4</c:v>
                </c:pt>
                <c:pt idx="1">
                  <c:v>158.0</c:v>
                </c:pt>
                <c:pt idx="2">
                  <c:v>129.3</c:v>
                </c:pt>
                <c:pt idx="3">
                  <c:v>109.5</c:v>
                </c:pt>
                <c:pt idx="4">
                  <c:v>109.4</c:v>
                </c:pt>
                <c:pt idx="5">
                  <c:v>107.5</c:v>
                </c:pt>
                <c:pt idx="6">
                  <c:v>98.5</c:v>
                </c:pt>
                <c:pt idx="7">
                  <c:v>91.4</c:v>
                </c:pt>
                <c:pt idx="8">
                  <c:v>88.6</c:v>
                </c:pt>
                <c:pt idx="9">
                  <c:v>78.7</c:v>
                </c:pt>
                <c:pt idx="10">
                  <c:v>78.0</c:v>
                </c:pt>
                <c:pt idx="11">
                  <c:v>62.0</c:v>
                </c:pt>
                <c:pt idx="12">
                  <c:v>59.0</c:v>
                </c:pt>
                <c:pt idx="13">
                  <c:v>49.8</c:v>
                </c:pt>
                <c:pt idx="14">
                  <c:v>49.0</c:v>
                </c:pt>
                <c:pt idx="15">
                  <c:v>47.5</c:v>
                </c:pt>
                <c:pt idx="16">
                  <c:v>35.6</c:v>
                </c:pt>
                <c:pt idx="17">
                  <c:v>23.2</c:v>
                </c:pt>
                <c:pt idx="18">
                  <c:v>22.0</c:v>
                </c:pt>
                <c:pt idx="19">
                  <c:v>16.0</c:v>
                </c:pt>
                <c:pt idx="20">
                  <c:v>15.0</c:v>
                </c:pt>
                <c:pt idx="21">
                  <c:v>13.9</c:v>
                </c:pt>
                <c:pt idx="22">
                  <c:v>12.0</c:v>
                </c:pt>
                <c:pt idx="23">
                  <c:v>10.2</c:v>
                </c:pt>
                <c:pt idx="24">
                  <c:v>9.0</c:v>
                </c:pt>
                <c:pt idx="25">
                  <c:v>8.9</c:v>
                </c:pt>
                <c:pt idx="26">
                  <c:v>8.75</c:v>
                </c:pt>
                <c:pt idx="27">
                  <c:v>7.3</c:v>
                </c:pt>
                <c:pt idx="28">
                  <c:v>3.1</c:v>
                </c:pt>
                <c:pt idx="29">
                  <c:v>2.0</c:v>
                </c:pt>
                <c:pt idx="30">
                  <c:v>1.0</c:v>
                </c:pt>
              </c:numCache>
            </c:numRef>
          </c:val>
        </c:ser>
        <c:dLbls>
          <c:numFmt formatCode="&quot;$&quot;0" sourceLinked="0"/>
          <c:txPr>
            <a:bodyPr/>
            <a:lstStyle/>
            <a:p>
              <a:pPr>
                <a:defRPr sz="900">
                  <a:latin typeface="Lato"/>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800"/>
            </a:pPr>
          </a:p>
        </c:txPr>
        <c:crossAx val="-2113994440"/>
        <c:crosses val="autoZero"/>
        <c:auto val="1"/>
        <c:lblAlgn val="ctr"/>
        <c:lblOffset val="100"/>
        <c:tickLblSkip val="1"/>
        <c:tickMarkSkip val="1"/>
        <c:noMultiLvlLbl val="0"/>
      </c:catAx>
      <c:valAx>
        <c:axId val="-2113994440"/>
        <c:scaling>
          <c:max val="180.0"/>
          <c:min val="0.0"/>
        </c:scaling>
        <c:delete val="0"/>
        <c:axPos val="b"/>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majorUnit val="20.0"/>
      </c:valAx>
    </c:plotArea>
    <c:dispBlanksAs val="gap"/>
  </c:chart>
  <c:txPr>
    <a:bodyPr/>
    <a:lstStyle/>
    <a:p>
      <a:pPr>
        <a:defRPr sz="800">
          <a:solidFill>
            <a:srgbClr val="000000"/>
          </a:solidFill>
          <a:latin typeface="Lato"/>
        </a:defRPr>
      </a:pPr>
      <a:endParaRPr lang="en-US"/>
    </a:p>
  </c:tx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8.2000000000000003E-2"/>
          <c:y val="6.8376068376068397E-2"/>
          <c:w val="0.89999999999999991"/>
          <c:h val="0.79914529914529919"/>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c:v>
                </c:pt>
                <c:pt idx="1">
                  <c:v>2508</c:v>
                </c:pt>
                <c:pt idx="2">
                  <c:v>9334</c:v>
                </c:pt>
                <c:pt idx="3">
                  <c:v>6353</c:v>
                </c:pt>
                <c:pt idx="4">
                  <c:v>9337</c:v>
                </c:pt>
                <c:pt idx="5">
                  <c:v>4665</c:v>
                </c:pt>
                <c:pt idx="6">
                  <c:v>4964</c:v>
                </c:pt>
                <c:pt idx="7">
                  <c:v>5235</c:v>
                </c:pt>
                <c:pt idx="8">
                  <c:v>5791</c:v>
                </c:pt>
                <c:pt idx="9">
                  <c:v>8387</c:v>
                </c:pt>
                <c:pt idx="10">
                  <c:v>9230</c:v>
                </c:pt>
                <c:pt idx="11">
                  <c:v>8726</c:v>
                </c:pt>
                <c:pt idx="12">
                  <c:v>7761</c:v>
                </c:pt>
                <c:pt idx="13">
                  <c:v>7646</c:v>
                </c:pt>
                <c:pt idx="14">
                  <c:v>9217</c:v>
                </c:pt>
                <c:pt idx="15">
                  <c:v>8742</c:v>
                </c:pt>
                <c:pt idx="16">
                  <c:v>25751</c:v>
                </c:pt>
                <c:pt idx="17">
                  <c:v>11117</c:v>
                </c:pt>
                <c:pt idx="18">
                  <c:v>11502</c:v>
                </c:pt>
                <c:pt idx="19">
                  <c:v>13192</c:v>
                </c:pt>
                <c:pt idx="20">
                  <c:v>4827</c:v>
                </c:pt>
                <c:pt idx="21">
                  <c:v>6425</c:v>
                </c:pt>
                <c:pt idx="22">
                  <c:v>9148</c:v>
                </c:pt>
                <c:pt idx="23">
                  <c:v>9316</c:v>
                </c:pt>
                <c:pt idx="24">
                  <c:v>7051</c:v>
                </c:pt>
                <c:pt idx="25">
                  <c:v>9026</c:v>
                </c:pt>
                <c:pt idx="26">
                  <c:v>8138</c:v>
                </c:pt>
                <c:pt idx="27">
                  <c:v>14956</c:v>
                </c:pt>
                <c:pt idx="28">
                  <c:v>21253</c:v>
                </c:pt>
                <c:pt idx="29">
                  <c:v>10627</c:v>
                </c:pt>
                <c:pt idx="30">
                  <c:v>9919</c:v>
                </c:pt>
                <c:pt idx="31">
                  <c:v>29179</c:v>
                </c:pt>
                <c:pt idx="32">
                  <c:v>12709</c:v>
                </c:pt>
                <c:pt idx="33">
                  <c:v>53517</c:v>
                </c:pt>
                <c:pt idx="34">
                  <c:v>56954</c:v>
                </c:pt>
                <c:pt idx="35">
                  <c:v>9284</c:v>
                </c:pt>
                <c:pt idx="36">
                  <c:v>21697</c:v>
                </c:pt>
                <c:pt idx="37">
                  <c:v>11458</c:v>
                </c:pt>
                <c:pt idx="38">
                  <c:v>10972</c:v>
                </c:pt>
                <c:pt idx="39">
                  <c:v>21854</c:v>
                </c:pt>
                <c:pt idx="40">
                  <c:v>20555</c:v>
                </c:pt>
                <c:pt idx="41">
                  <c:v>9788</c:v>
                </c:pt>
                <c:pt idx="42">
                  <c:v>15524</c:v>
                </c:pt>
                <c:pt idx="43">
                  <c:v>10904</c:v>
                </c:pt>
                <c:pt idx="44">
                  <c:v>12924</c:v>
                </c:pt>
                <c:pt idx="45">
                  <c:v>18250</c:v>
                </c:pt>
                <c:pt idx="46">
                  <c:v>15560</c:v>
                </c:pt>
                <c:pt idx="47">
                  <c:v>12587</c:v>
                </c:pt>
                <c:pt idx="48">
                  <c:v>20297</c:v>
                </c:pt>
                <c:pt idx="49">
                  <c:v>14135</c:v>
                </c:pt>
                <c:pt idx="50">
                  <c:v>14858</c:v>
                </c:pt>
                <c:pt idx="51">
                  <c:v>15187</c:v>
                </c:pt>
                <c:pt idx="52">
                  <c:v>13479</c:v>
                </c:pt>
                <c:pt idx="53">
                  <c:v>14271</c:v>
                </c:pt>
                <c:pt idx="54">
                  <c:v>20828</c:v>
                </c:pt>
                <c:pt idx="55">
                  <c:v>9825</c:v>
                </c:pt>
                <c:pt idx="56">
                  <c:v>33216</c:v>
                </c:pt>
                <c:pt idx="57">
                  <c:v>7092</c:v>
                </c:pt>
                <c:pt idx="58">
                  <c:v>26861</c:v>
                </c:pt>
                <c:pt idx="59">
                  <c:v>16670</c:v>
                </c:pt>
                <c:pt idx="60">
                  <c:v>49465</c:v>
                </c:pt>
                <c:pt idx="61">
                  <c:v>10958</c:v>
                </c:pt>
                <c:pt idx="62">
                  <c:v>16512</c:v>
                </c:pt>
                <c:pt idx="63">
                  <c:v>17043</c:v>
                </c:pt>
                <c:pt idx="64">
                  <c:v>13649</c:v>
                </c:pt>
                <c:pt idx="65">
                  <c:v>13335</c:v>
                </c:pt>
                <c:pt idx="66">
                  <c:v>15245</c:v>
                </c:pt>
                <c:pt idx="67">
                  <c:v>15258</c:v>
                </c:pt>
                <c:pt idx="68">
                  <c:v>13805</c:v>
                </c:pt>
                <c:pt idx="69">
                  <c:v>7099</c:v>
                </c:pt>
                <c:pt idx="70">
                  <c:v>11476</c:v>
                </c:pt>
                <c:pt idx="71">
                  <c:v>24313</c:v>
                </c:pt>
                <c:pt idx="72">
                  <c:v>13157</c:v>
                </c:pt>
                <c:pt idx="73">
                  <c:v>26500</c:v>
                </c:pt>
                <c:pt idx="74">
                  <c:v>20227</c:v>
                </c:pt>
                <c:pt idx="75">
                  <c:v>21249</c:v>
                </c:pt>
                <c:pt idx="76">
                  <c:v>29290</c:v>
                </c:pt>
                <c:pt idx="77">
                  <c:v>23238</c:v>
                </c:pt>
                <c:pt idx="78">
                  <c:v>21642</c:v>
                </c:pt>
                <c:pt idx="79">
                  <c:v>28299</c:v>
                </c:pt>
                <c:pt idx="80">
                  <c:v>18934</c:v>
                </c:pt>
                <c:pt idx="81">
                  <c:v>21269</c:v>
                </c:pt>
                <c:pt idx="82">
                  <c:v>21679</c:v>
                </c:pt>
                <c:pt idx="83">
                  <c:v>22327</c:v>
                </c:pt>
                <c:pt idx="84">
                  <c:v>20011</c:v>
                </c:pt>
                <c:pt idx="85">
                  <c:v>10964</c:v>
                </c:pt>
                <c:pt idx="86">
                  <c:v>9329</c:v>
                </c:pt>
                <c:pt idx="87">
                  <c:v>19104</c:v>
                </c:pt>
                <c:pt idx="88">
                  <c:v>30684</c:v>
                </c:pt>
                <c:pt idx="89">
                  <c:v>20925</c:v>
                </c:pt>
                <c:pt idx="90">
                  <c:v>13235</c:v>
                </c:pt>
                <c:pt idx="91">
                  <c:v>30947</c:v>
                </c:pt>
                <c:pt idx="92">
                  <c:v>5567</c:v>
                </c:pt>
                <c:pt idx="93">
                  <c:v>18328</c:v>
                </c:pt>
                <c:pt idx="94">
                  <c:v>14086</c:v>
                </c:pt>
                <c:pt idx="95">
                  <c:v>14224</c:v>
                </c:pt>
                <c:pt idx="96">
                  <c:v>15745</c:v>
                </c:pt>
                <c:pt idx="97">
                  <c:v>12030</c:v>
                </c:pt>
                <c:pt idx="98">
                  <c:v>25335</c:v>
                </c:pt>
                <c:pt idx="99">
                  <c:v>13494</c:v>
                </c:pt>
                <c:pt idx="100">
                  <c:v>26036</c:v>
                </c:pt>
                <c:pt idx="101">
                  <c:v>32265</c:v>
                </c:pt>
                <c:pt idx="102">
                  <c:v>30260</c:v>
                </c:pt>
                <c:pt idx="103">
                  <c:v>22094</c:v>
                </c:pt>
                <c:pt idx="104">
                  <c:v>5524</c:v>
                </c:pt>
                <c:pt idx="105">
                  <c:v>16315</c:v>
                </c:pt>
                <c:pt idx="106">
                  <c:v>30498</c:v>
                </c:pt>
                <c:pt idx="107">
                  <c:v>20607</c:v>
                </c:pt>
                <c:pt idx="108">
                  <c:v>12074</c:v>
                </c:pt>
                <c:pt idx="109">
                  <c:v>20896</c:v>
                </c:pt>
                <c:pt idx="110">
                  <c:v>20286</c:v>
                </c:pt>
                <c:pt idx="111">
                  <c:v>12513</c:v>
                </c:pt>
                <c:pt idx="112">
                  <c:v>25184</c:v>
                </c:pt>
                <c:pt idx="113">
                  <c:v>17800</c:v>
                </c:pt>
                <c:pt idx="114">
                  <c:v>20146</c:v>
                </c:pt>
                <c:pt idx="115">
                  <c:v>24016</c:v>
                </c:pt>
                <c:pt idx="116">
                  <c:v>20586</c:v>
                </c:pt>
                <c:pt idx="117">
                  <c:v>23151</c:v>
                </c:pt>
                <c:pt idx="118">
                  <c:v>18600</c:v>
                </c:pt>
                <c:pt idx="119">
                  <c:v>22063</c:v>
                </c:pt>
                <c:pt idx="120">
                  <c:v>16282</c:v>
                </c:pt>
                <c:pt idx="121">
                  <c:v>22075</c:v>
                </c:pt>
                <c:pt idx="122">
                  <c:v>10566</c:v>
                </c:pt>
                <c:pt idx="123">
                  <c:v>20831</c:v>
                </c:pt>
                <c:pt idx="124">
                  <c:v>19058</c:v>
                </c:pt>
                <c:pt idx="125">
                  <c:v>23283</c:v>
                </c:pt>
                <c:pt idx="126">
                  <c:v>19951</c:v>
                </c:pt>
                <c:pt idx="127">
                  <c:v>15644</c:v>
                </c:pt>
                <c:pt idx="128">
                  <c:v>15070</c:v>
                </c:pt>
                <c:pt idx="129">
                  <c:v>46080</c:v>
                </c:pt>
                <c:pt idx="130">
                  <c:v>9216</c:v>
                </c:pt>
                <c:pt idx="131">
                  <c:v>18408</c:v>
                </c:pt>
                <c:pt idx="132">
                  <c:v>23686</c:v>
                </c:pt>
                <c:pt idx="133">
                  <c:v>19849</c:v>
                </c:pt>
                <c:pt idx="134">
                  <c:v>19341</c:v>
                </c:pt>
                <c:pt idx="135">
                  <c:v>6100</c:v>
                </c:pt>
                <c:pt idx="136">
                  <c:v>12404</c:v>
                </c:pt>
                <c:pt idx="137">
                  <c:v>21311</c:v>
                </c:pt>
                <c:pt idx="138">
                  <c:v>26054</c:v>
                </c:pt>
                <c:pt idx="139">
                  <c:v>16383</c:v>
                </c:pt>
                <c:pt idx="140">
                  <c:v>29135</c:v>
                </c:pt>
                <c:pt idx="141">
                  <c:v>26972</c:v>
                </c:pt>
                <c:pt idx="142">
                  <c:v>23544</c:v>
                </c:pt>
                <c:pt idx="143">
                  <c:v>22472</c:v>
                </c:pt>
                <c:pt idx="144">
                  <c:v>26598</c:v>
                </c:pt>
                <c:pt idx="145">
                  <c:v>25263</c:v>
                </c:pt>
                <c:pt idx="146">
                  <c:v>22583</c:v>
                </c:pt>
                <c:pt idx="147">
                  <c:v>21401</c:v>
                </c:pt>
                <c:pt idx="148">
                  <c:v>24038</c:v>
                </c:pt>
                <c:pt idx="149">
                  <c:v>26569</c:v>
                </c:pt>
                <c:pt idx="150">
                  <c:v>25669</c:v>
                </c:pt>
                <c:pt idx="151">
                  <c:v>13186</c:v>
                </c:pt>
                <c:pt idx="152">
                  <c:v>22814</c:v>
                </c:pt>
                <c:pt idx="153">
                  <c:v>20894</c:v>
                </c:pt>
                <c:pt idx="154">
                  <c:v>37702</c:v>
                </c:pt>
                <c:pt idx="155">
                  <c:v>10372</c:v>
                </c:pt>
                <c:pt idx="156">
                  <c:v>19719</c:v>
                </c:pt>
                <c:pt idx="157">
                  <c:v>21063</c:v>
                </c:pt>
                <c:pt idx="158">
                  <c:v>23459</c:v>
                </c:pt>
                <c:pt idx="159">
                  <c:v>14258</c:v>
                </c:pt>
                <c:pt idx="160">
                  <c:v>15845</c:v>
                </c:pt>
                <c:pt idx="161">
                  <c:v>21677</c:v>
                </c:pt>
                <c:pt idx="162">
                  <c:v>35639</c:v>
                </c:pt>
                <c:pt idx="163">
                  <c:v>6106</c:v>
                </c:pt>
                <c:pt idx="164">
                  <c:v>21630</c:v>
                </c:pt>
                <c:pt idx="165">
                  <c:v>18086</c:v>
                </c:pt>
                <c:pt idx="166">
                  <c:v>18878</c:v>
                </c:pt>
                <c:pt idx="167">
                  <c:v>15210</c:v>
                </c:pt>
                <c:pt idx="168">
                  <c:v>20898</c:v>
                </c:pt>
                <c:pt idx="169">
                  <c:v>21741</c:v>
                </c:pt>
                <c:pt idx="170">
                  <c:v>18273</c:v>
                </c:pt>
                <c:pt idx="171">
                  <c:v>28340</c:v>
                </c:pt>
                <c:pt idx="172">
                  <c:v>20252</c:v>
                </c:pt>
                <c:pt idx="173">
                  <c:v>27426</c:v>
                </c:pt>
                <c:pt idx="174">
                  <c:v>31027</c:v>
                </c:pt>
                <c:pt idx="175">
                  <c:v>23931</c:v>
                </c:pt>
                <c:pt idx="176">
                  <c:v>22085</c:v>
                </c:pt>
                <c:pt idx="177">
                  <c:v>22960</c:v>
                </c:pt>
                <c:pt idx="178">
                  <c:v>23509</c:v>
                </c:pt>
                <c:pt idx="179">
                  <c:v>29249</c:v>
                </c:pt>
                <c:pt idx="180">
                  <c:v>22382</c:v>
                </c:pt>
                <c:pt idx="181">
                  <c:v>31872</c:v>
                </c:pt>
                <c:pt idx="182">
                  <c:v>25480</c:v>
                </c:pt>
                <c:pt idx="183">
                  <c:v>20951</c:v>
                </c:pt>
                <c:pt idx="184">
                  <c:v>27642</c:v>
                </c:pt>
                <c:pt idx="185">
                  <c:v>19616</c:v>
                </c:pt>
                <c:pt idx="186">
                  <c:v>29579</c:v>
                </c:pt>
                <c:pt idx="187">
                  <c:v>20082</c:v>
                </c:pt>
                <c:pt idx="188">
                  <c:v>12724</c:v>
                </c:pt>
                <c:pt idx="189">
                  <c:v>16641</c:v>
                </c:pt>
                <c:pt idx="190">
                  <c:v>21131</c:v>
                </c:pt>
                <c:pt idx="191">
                  <c:v>17360</c:v>
                </c:pt>
                <c:pt idx="192">
                  <c:v>12756</c:v>
                </c:pt>
                <c:pt idx="193">
                  <c:v>11404</c:v>
                </c:pt>
                <c:pt idx="194">
                  <c:v>19923</c:v>
                </c:pt>
                <c:pt idx="195">
                  <c:v>18605</c:v>
                </c:pt>
                <c:pt idx="196">
                  <c:v>16646</c:v>
                </c:pt>
                <c:pt idx="197">
                  <c:v>18277</c:v>
                </c:pt>
                <c:pt idx="198">
                  <c:v>24906</c:v>
                </c:pt>
                <c:pt idx="199">
                  <c:v>19910</c:v>
                </c:pt>
                <c:pt idx="200">
                  <c:v>29357</c:v>
                </c:pt>
                <c:pt idx="201">
                  <c:v>22051</c:v>
                </c:pt>
                <c:pt idx="202">
                  <c:v>26674</c:v>
                </c:pt>
                <c:pt idx="203">
                  <c:v>18885</c:v>
                </c:pt>
                <c:pt idx="204">
                  <c:v>21005</c:v>
                </c:pt>
                <c:pt idx="205">
                  <c:v>14107</c:v>
                </c:pt>
                <c:pt idx="206">
                  <c:v>25817</c:v>
                </c:pt>
                <c:pt idx="207">
                  <c:v>17707</c:v>
                </c:pt>
                <c:pt idx="208">
                  <c:v>27061</c:v>
                </c:pt>
                <c:pt idx="209">
                  <c:v>21751</c:v>
                </c:pt>
                <c:pt idx="210">
                  <c:v>22715</c:v>
                </c:pt>
                <c:pt idx="211">
                  <c:v>16927</c:v>
                </c:pt>
                <c:pt idx="212">
                  <c:v>19932</c:v>
                </c:pt>
                <c:pt idx="213">
                  <c:v>16334</c:v>
                </c:pt>
                <c:pt idx="214">
                  <c:v>32020</c:v>
                </c:pt>
                <c:pt idx="215">
                  <c:v>8709</c:v>
                </c:pt>
                <c:pt idx="216">
                  <c:v>20689</c:v>
                </c:pt>
                <c:pt idx="217">
                  <c:v>8470</c:v>
                </c:pt>
                <c:pt idx="218">
                  <c:v>26005</c:v>
                </c:pt>
                <c:pt idx="219">
                  <c:v>29529</c:v>
                </c:pt>
                <c:pt idx="220">
                  <c:v>12641</c:v>
                </c:pt>
                <c:pt idx="221">
                  <c:v>22371</c:v>
                </c:pt>
                <c:pt idx="222">
                  <c:v>25942</c:v>
                </c:pt>
                <c:pt idx="223">
                  <c:v>17432</c:v>
                </c:pt>
                <c:pt idx="224">
                  <c:v>21666</c:v>
                </c:pt>
                <c:pt idx="225">
                  <c:v>49430</c:v>
                </c:pt>
                <c:pt idx="226">
                  <c:v>14836</c:v>
                </c:pt>
                <c:pt idx="227">
                  <c:v>31072</c:v>
                </c:pt>
                <c:pt idx="228">
                  <c:v>19748</c:v>
                </c:pt>
                <c:pt idx="229">
                  <c:v>21983</c:v>
                </c:pt>
                <c:pt idx="230">
                  <c:v>20148</c:v>
                </c:pt>
                <c:pt idx="231">
                  <c:v>16692</c:v>
                </c:pt>
                <c:pt idx="232">
                  <c:v>26683</c:v>
                </c:pt>
                <c:pt idx="233">
                  <c:v>22344</c:v>
                </c:pt>
                <c:pt idx="234">
                  <c:v>28882</c:v>
                </c:pt>
                <c:pt idx="235">
                  <c:v>21662</c:v>
                </c:pt>
                <c:pt idx="236">
                  <c:v>25163</c:v>
                </c:pt>
                <c:pt idx="237">
                  <c:v>15676</c:v>
                </c:pt>
                <c:pt idx="238">
                  <c:v>27431</c:v>
                </c:pt>
                <c:pt idx="239">
                  <c:v>24425</c:v>
                </c:pt>
                <c:pt idx="240">
                  <c:v>31625</c:v>
                </c:pt>
                <c:pt idx="241">
                  <c:v>34649</c:v>
                </c:pt>
                <c:pt idx="242">
                  <c:v>17882</c:v>
                </c:pt>
                <c:pt idx="243">
                  <c:v>18669</c:v>
                </c:pt>
                <c:pt idx="244">
                  <c:v>21365</c:v>
                </c:pt>
                <c:pt idx="245">
                  <c:v>21649</c:v>
                </c:pt>
                <c:pt idx="246">
                  <c:v>28333</c:v>
                </c:pt>
                <c:pt idx="247">
                  <c:v>27006</c:v>
                </c:pt>
                <c:pt idx="248">
                  <c:v>19310</c:v>
                </c:pt>
                <c:pt idx="249">
                  <c:v>22227</c:v>
                </c:pt>
                <c:pt idx="250">
                  <c:v>20519</c:v>
                </c:pt>
                <c:pt idx="251">
                  <c:v>31942</c:v>
                </c:pt>
                <c:pt idx="252">
                  <c:v>17131</c:v>
                </c:pt>
                <c:pt idx="253">
                  <c:v>12287</c:v>
                </c:pt>
                <c:pt idx="254">
                  <c:v>18460</c:v>
                </c:pt>
                <c:pt idx="255">
                  <c:v>19533</c:v>
                </c:pt>
                <c:pt idx="256">
                  <c:v>25365</c:v>
                </c:pt>
                <c:pt idx="257">
                  <c:v>24034</c:v>
                </c:pt>
                <c:pt idx="258">
                  <c:v>22451</c:v>
                </c:pt>
                <c:pt idx="259">
                  <c:v>2835</c:v>
                </c:pt>
                <c:pt idx="260">
                  <c:v>18853</c:v>
                </c:pt>
                <c:pt idx="261">
                  <c:v>22034</c:v>
                </c:pt>
                <c:pt idx="262">
                  <c:v>20301</c:v>
                </c:pt>
                <c:pt idx="263">
                  <c:v>20473</c:v>
                </c:pt>
                <c:pt idx="264">
                  <c:v>23206</c:v>
                </c:pt>
                <c:pt idx="265">
                  <c:v>18504</c:v>
                </c:pt>
                <c:pt idx="266">
                  <c:v>19061</c:v>
                </c:pt>
                <c:pt idx="267">
                  <c:v>29791</c:v>
                </c:pt>
                <c:pt idx="268">
                  <c:v>19444</c:v>
                </c:pt>
                <c:pt idx="269">
                  <c:v>12595</c:v>
                </c:pt>
                <c:pt idx="270">
                  <c:v>21574</c:v>
                </c:pt>
                <c:pt idx="271">
                  <c:v>27712</c:v>
                </c:pt>
                <c:pt idx="272">
                  <c:v>26299</c:v>
                </c:pt>
                <c:pt idx="273">
                  <c:v>16577</c:v>
                </c:pt>
                <c:pt idx="274">
                  <c:v>17540</c:v>
                </c:pt>
                <c:pt idx="275">
                  <c:v>22270</c:v>
                </c:pt>
                <c:pt idx="276">
                  <c:v>27371</c:v>
                </c:pt>
                <c:pt idx="277">
                  <c:v>15464</c:v>
                </c:pt>
                <c:pt idx="278">
                  <c:v>21393</c:v>
                </c:pt>
                <c:pt idx="279">
                  <c:v>23626</c:v>
                </c:pt>
                <c:pt idx="280">
                  <c:v>24639</c:v>
                </c:pt>
                <c:pt idx="281">
                  <c:v>30587</c:v>
                </c:pt>
                <c:pt idx="282">
                  <c:v>17674</c:v>
                </c:pt>
                <c:pt idx="283">
                  <c:v>21656</c:v>
                </c:pt>
                <c:pt idx="284">
                  <c:v>24704</c:v>
                </c:pt>
                <c:pt idx="285">
                  <c:v>26672</c:v>
                </c:pt>
                <c:pt idx="286">
                  <c:v>23206</c:v>
                </c:pt>
                <c:pt idx="287">
                  <c:v>22227</c:v>
                </c:pt>
                <c:pt idx="288">
                  <c:v>20311</c:v>
                </c:pt>
                <c:pt idx="289">
                  <c:v>17649</c:v>
                </c:pt>
                <c:pt idx="290">
                  <c:v>22723</c:v>
                </c:pt>
                <c:pt idx="291">
                  <c:v>21293</c:v>
                </c:pt>
                <c:pt idx="292">
                  <c:v>23627</c:v>
                </c:pt>
                <c:pt idx="293">
                  <c:v>20251</c:v>
                </c:pt>
                <c:pt idx="294">
                  <c:v>20958</c:v>
                </c:pt>
                <c:pt idx="295">
                  <c:v>19532</c:v>
                </c:pt>
                <c:pt idx="296">
                  <c:v>20556</c:v>
                </c:pt>
                <c:pt idx="297">
                  <c:v>19481</c:v>
                </c:pt>
                <c:pt idx="298">
                  <c:v>24153</c:v>
                </c:pt>
                <c:pt idx="299">
                  <c:v>20150</c:v>
                </c:pt>
                <c:pt idx="300">
                  <c:v>16442</c:v>
                </c:pt>
                <c:pt idx="301">
                  <c:v>36483</c:v>
                </c:pt>
                <c:pt idx="302">
                  <c:v>21456</c:v>
                </c:pt>
                <c:pt idx="303">
                  <c:v>20194</c:v>
                </c:pt>
                <c:pt idx="304">
                  <c:v>20144</c:v>
                </c:pt>
                <c:pt idx="305">
                  <c:v>19581</c:v>
                </c:pt>
                <c:pt idx="306">
                  <c:v>17879</c:v>
                </c:pt>
                <c:pt idx="307">
                  <c:v>18610</c:v>
                </c:pt>
                <c:pt idx="308">
                  <c:v>25573</c:v>
                </c:pt>
                <c:pt idx="309">
                  <c:v>25021</c:v>
                </c:pt>
                <c:pt idx="310">
                  <c:v>20948</c:v>
                </c:pt>
                <c:pt idx="311">
                  <c:v>28035</c:v>
                </c:pt>
                <c:pt idx="312">
                  <c:v>22601</c:v>
                </c:pt>
                <c:pt idx="313">
                  <c:v>14601</c:v>
                </c:pt>
                <c:pt idx="314">
                  <c:v>22766</c:v>
                </c:pt>
                <c:pt idx="315">
                  <c:v>44089</c:v>
                </c:pt>
                <c:pt idx="316">
                  <c:v>19751</c:v>
                </c:pt>
                <c:pt idx="317">
                  <c:v>20599</c:v>
                </c:pt>
                <c:pt idx="318">
                  <c:v>36861</c:v>
                </c:pt>
                <c:pt idx="319">
                  <c:v>18846</c:v>
                </c:pt>
                <c:pt idx="320">
                  <c:v>21872</c:v>
                </c:pt>
                <c:pt idx="321">
                  <c:v>28354</c:v>
                </c:pt>
                <c:pt idx="322">
                  <c:v>19360</c:v>
                </c:pt>
                <c:pt idx="323">
                  <c:v>11916</c:v>
                </c:pt>
                <c:pt idx="324">
                  <c:v>15635</c:v>
                </c:pt>
                <c:pt idx="325">
                  <c:v>26337</c:v>
                </c:pt>
                <c:pt idx="326">
                  <c:v>16813</c:v>
                </c:pt>
                <c:pt idx="327">
                  <c:v>14598</c:v>
                </c:pt>
                <c:pt idx="328">
                  <c:v>25491</c:v>
                </c:pt>
                <c:pt idx="329">
                  <c:v>30525</c:v>
                </c:pt>
                <c:pt idx="330">
                  <c:v>24860</c:v>
                </c:pt>
                <c:pt idx="331">
                  <c:v>19943</c:v>
                </c:pt>
                <c:pt idx="332">
                  <c:v>22421</c:v>
                </c:pt>
                <c:pt idx="333">
                  <c:v>16626</c:v>
                </c:pt>
                <c:pt idx="334">
                  <c:v>22566</c:v>
                </c:pt>
                <c:pt idx="335">
                  <c:v>35013</c:v>
                </c:pt>
                <c:pt idx="336">
                  <c:v>26649</c:v>
                </c:pt>
                <c:pt idx="337">
                  <c:v>27686</c:v>
                </c:pt>
                <c:pt idx="338">
                  <c:v>29310</c:v>
                </c:pt>
                <c:pt idx="339">
                  <c:v>27511</c:v>
                </c:pt>
                <c:pt idx="340">
                  <c:v>22347</c:v>
                </c:pt>
                <c:pt idx="341">
                  <c:v>18499</c:v>
                </c:pt>
                <c:pt idx="342">
                  <c:v>992</c:v>
                </c:pt>
                <c:pt idx="343">
                  <c:v>25907</c:v>
                </c:pt>
                <c:pt idx="344">
                  <c:v>32917</c:v>
                </c:pt>
                <c:pt idx="345">
                  <c:v>20406</c:v>
                </c:pt>
                <c:pt idx="346">
                  <c:v>22213</c:v>
                </c:pt>
                <c:pt idx="347">
                  <c:v>25890</c:v>
                </c:pt>
                <c:pt idx="348">
                  <c:v>23589</c:v>
                </c:pt>
                <c:pt idx="349">
                  <c:v>19676</c:v>
                </c:pt>
                <c:pt idx="350">
                  <c:v>36708</c:v>
                </c:pt>
                <c:pt idx="351">
                  <c:v>27807</c:v>
                </c:pt>
                <c:pt idx="352">
                  <c:v>23624</c:v>
                </c:pt>
                <c:pt idx="353">
                  <c:v>20359</c:v>
                </c:pt>
                <c:pt idx="354">
                  <c:v>26265</c:v>
                </c:pt>
                <c:pt idx="355">
                  <c:v>26728</c:v>
                </c:pt>
                <c:pt idx="356">
                  <c:v>29500</c:v>
                </c:pt>
                <c:pt idx="357">
                  <c:v>20961</c:v>
                </c:pt>
                <c:pt idx="358">
                  <c:v>12148</c:v>
                </c:pt>
                <c:pt idx="359">
                  <c:v>27705</c:v>
                </c:pt>
                <c:pt idx="360">
                  <c:v>24714</c:v>
                </c:pt>
                <c:pt idx="361">
                  <c:v>27047</c:v>
                </c:pt>
                <c:pt idx="362">
                  <c:v>21807</c:v>
                </c:pt>
                <c:pt idx="363">
                  <c:v>22662</c:v>
                </c:pt>
                <c:pt idx="364">
                  <c:v>20786</c:v>
                </c:pt>
                <c:pt idx="365">
                  <c:v>17133</c:v>
                </c:pt>
                <c:pt idx="366">
                  <c:v>22671</c:v>
                </c:pt>
                <c:pt idx="367">
                  <c:v>19693</c:v>
                </c:pt>
                <c:pt idx="368">
                  <c:v>31152</c:v>
                </c:pt>
                <c:pt idx="369">
                  <c:v>23386</c:v>
                </c:pt>
                <c:pt idx="370">
                  <c:v>21989</c:v>
                </c:pt>
                <c:pt idx="371">
                  <c:v>24452</c:v>
                </c:pt>
                <c:pt idx="372">
                  <c:v>20449</c:v>
                </c:pt>
                <c:pt idx="373">
                  <c:v>18805</c:v>
                </c:pt>
                <c:pt idx="374">
                  <c:v>16530</c:v>
                </c:pt>
                <c:pt idx="375">
                  <c:v>22925</c:v>
                </c:pt>
                <c:pt idx="376">
                  <c:v>22488</c:v>
                </c:pt>
                <c:pt idx="377">
                  <c:v>17545</c:v>
                </c:pt>
                <c:pt idx="378">
                  <c:v>19076</c:v>
                </c:pt>
                <c:pt idx="379">
                  <c:v>45597</c:v>
                </c:pt>
                <c:pt idx="380">
                  <c:v>18083</c:v>
                </c:pt>
                <c:pt idx="381">
                  <c:v>32839</c:v>
                </c:pt>
                <c:pt idx="382">
                  <c:v>17349</c:v>
                </c:pt>
                <c:pt idx="383">
                  <c:v>19372</c:v>
                </c:pt>
                <c:pt idx="384">
                  <c:v>26662</c:v>
                </c:pt>
                <c:pt idx="385">
                  <c:v>22409</c:v>
                </c:pt>
                <c:pt idx="386">
                  <c:v>13113</c:v>
                </c:pt>
                <c:pt idx="387">
                  <c:v>29580</c:v>
                </c:pt>
                <c:pt idx="388">
                  <c:v>25203</c:v>
                </c:pt>
                <c:pt idx="389">
                  <c:v>19353</c:v>
                </c:pt>
                <c:pt idx="390">
                  <c:v>20875</c:v>
                </c:pt>
                <c:pt idx="391">
                  <c:v>20079</c:v>
                </c:pt>
                <c:pt idx="392">
                  <c:v>22204</c:v>
                </c:pt>
                <c:pt idx="393">
                  <c:v>38071</c:v>
                </c:pt>
                <c:pt idx="394">
                  <c:v>20590</c:v>
                </c:pt>
                <c:pt idx="395">
                  <c:v>25243</c:v>
                </c:pt>
                <c:pt idx="396">
                  <c:v>14493</c:v>
                </c:pt>
                <c:pt idx="397">
                  <c:v>17758</c:v>
                </c:pt>
                <c:pt idx="398">
                  <c:v>27970</c:v>
                </c:pt>
                <c:pt idx="399">
                  <c:v>14072</c:v>
                </c:pt>
                <c:pt idx="400">
                  <c:v>16774</c:v>
                </c:pt>
                <c:pt idx="401">
                  <c:v>14095</c:v>
                </c:pt>
                <c:pt idx="402">
                  <c:v>26441</c:v>
                </c:pt>
                <c:pt idx="403">
                  <c:v>27715</c:v>
                </c:pt>
                <c:pt idx="404">
                  <c:v>24883</c:v>
                </c:pt>
                <c:pt idx="405">
                  <c:v>26267</c:v>
                </c:pt>
                <c:pt idx="406">
                  <c:v>17127</c:v>
                </c:pt>
                <c:pt idx="407">
                  <c:v>24865</c:v>
                </c:pt>
                <c:pt idx="408">
                  <c:v>24314</c:v>
                </c:pt>
                <c:pt idx="409">
                  <c:v>21507</c:v>
                </c:pt>
                <c:pt idx="410">
                  <c:v>28082</c:v>
                </c:pt>
                <c:pt idx="411">
                  <c:v>20794</c:v>
                </c:pt>
                <c:pt idx="412">
                  <c:v>28856</c:v>
                </c:pt>
                <c:pt idx="413">
                  <c:v>15376</c:v>
                </c:pt>
                <c:pt idx="414">
                  <c:v>29954</c:v>
                </c:pt>
                <c:pt idx="415">
                  <c:v>23965</c:v>
                </c:pt>
                <c:pt idx="416">
                  <c:v>25807</c:v>
                </c:pt>
                <c:pt idx="417">
                  <c:v>18298</c:v>
                </c:pt>
                <c:pt idx="418">
                  <c:v>20748</c:v>
                </c:pt>
                <c:pt idx="419">
                  <c:v>20942</c:v>
                </c:pt>
                <c:pt idx="420">
                  <c:v>16053</c:v>
                </c:pt>
                <c:pt idx="421">
                  <c:v>23911</c:v>
                </c:pt>
                <c:pt idx="422">
                  <c:v>21774</c:v>
                </c:pt>
                <c:pt idx="423">
                  <c:v>27477</c:v>
                </c:pt>
                <c:pt idx="424">
                  <c:v>22130</c:v>
                </c:pt>
                <c:pt idx="425">
                  <c:v>39013</c:v>
                </c:pt>
                <c:pt idx="426">
                  <c:v>58741</c:v>
                </c:pt>
                <c:pt idx="427">
                  <c:v>23696</c:v>
                </c:pt>
                <c:pt idx="428">
                  <c:v>21988</c:v>
                </c:pt>
                <c:pt idx="429">
                  <c:v>22778</c:v>
                </c:pt>
                <c:pt idx="430">
                  <c:v>22470</c:v>
                </c:pt>
                <c:pt idx="431">
                  <c:v>23125</c:v>
                </c:pt>
                <c:pt idx="432">
                  <c:v>19285</c:v>
                </c:pt>
                <c:pt idx="433">
                  <c:v>23274</c:v>
                </c:pt>
                <c:pt idx="434">
                  <c:v>22540</c:v>
                </c:pt>
                <c:pt idx="435">
                  <c:v>27891</c:v>
                </c:pt>
                <c:pt idx="436">
                  <c:v>12547</c:v>
                </c:pt>
                <c:pt idx="437">
                  <c:v>20729</c:v>
                </c:pt>
                <c:pt idx="438">
                  <c:v>23280</c:v>
                </c:pt>
                <c:pt idx="439">
                  <c:v>21526</c:v>
                </c:pt>
                <c:pt idx="440">
                  <c:v>19638</c:v>
                </c:pt>
                <c:pt idx="441">
                  <c:v>19237</c:v>
                </c:pt>
                <c:pt idx="442">
                  <c:v>26364</c:v>
                </c:pt>
                <c:pt idx="443">
                  <c:v>27154</c:v>
                </c:pt>
                <c:pt idx="444">
                  <c:v>8221</c:v>
                </c:pt>
                <c:pt idx="445">
                  <c:v>15921</c:v>
                </c:pt>
                <c:pt idx="446">
                  <c:v>29627</c:v>
                </c:pt>
                <c:pt idx="447">
                  <c:v>17800</c:v>
                </c:pt>
                <c:pt idx="448">
                  <c:v>16525</c:v>
                </c:pt>
                <c:pt idx="449">
                  <c:v>23634</c:v>
                </c:pt>
                <c:pt idx="450">
                  <c:v>21937</c:v>
                </c:pt>
                <c:pt idx="451">
                  <c:v>18489</c:v>
                </c:pt>
                <c:pt idx="452">
                  <c:v>41437</c:v>
                </c:pt>
                <c:pt idx="453">
                  <c:v>21602</c:v>
                </c:pt>
                <c:pt idx="454">
                  <c:v>20789</c:v>
                </c:pt>
                <c:pt idx="455">
                  <c:v>24345</c:v>
                </c:pt>
                <c:pt idx="456">
                  <c:v>20503</c:v>
                </c:pt>
                <c:pt idx="457">
                  <c:v>19735</c:v>
                </c:pt>
                <c:pt idx="458">
                  <c:v>18499</c:v>
                </c:pt>
                <c:pt idx="459">
                  <c:v>24456</c:v>
                </c:pt>
                <c:pt idx="460">
                  <c:v>22320</c:v>
                </c:pt>
                <c:pt idx="461">
                  <c:v>9302</c:v>
                </c:pt>
                <c:pt idx="462">
                  <c:v>24691</c:v>
                </c:pt>
                <c:pt idx="463">
                  <c:v>15644</c:v>
                </c:pt>
                <c:pt idx="464">
                  <c:v>26034</c:v>
                </c:pt>
                <c:pt idx="465">
                  <c:v>19859</c:v>
                </c:pt>
                <c:pt idx="466">
                  <c:v>24654</c:v>
                </c:pt>
                <c:pt idx="467">
                  <c:v>20397</c:v>
                </c:pt>
                <c:pt idx="468">
                  <c:v>21829</c:v>
                </c:pt>
                <c:pt idx="469">
                  <c:v>27171</c:v>
                </c:pt>
                <c:pt idx="470">
                  <c:v>18924</c:v>
                </c:pt>
                <c:pt idx="471">
                  <c:v>24066</c:v>
                </c:pt>
                <c:pt idx="472">
                  <c:v>20205</c:v>
                </c:pt>
                <c:pt idx="473">
                  <c:v>26502</c:v>
                </c:pt>
                <c:pt idx="474">
                  <c:v>18436</c:v>
                </c:pt>
                <c:pt idx="475">
                  <c:v>27603</c:v>
                </c:pt>
                <c:pt idx="476">
                  <c:v>22576</c:v>
                </c:pt>
                <c:pt idx="477">
                  <c:v>21616</c:v>
                </c:pt>
                <c:pt idx="478">
                  <c:v>26312</c:v>
                </c:pt>
                <c:pt idx="479">
                  <c:v>21058</c:v>
                </c:pt>
                <c:pt idx="480">
                  <c:v>23377</c:v>
                </c:pt>
                <c:pt idx="481">
                  <c:v>16590</c:v>
                </c:pt>
                <c:pt idx="482">
                  <c:v>27817</c:v>
                </c:pt>
                <c:pt idx="483">
                  <c:v>29207</c:v>
                </c:pt>
                <c:pt idx="484">
                  <c:v>20614</c:v>
                </c:pt>
                <c:pt idx="485">
                  <c:v>23907</c:v>
                </c:pt>
                <c:pt idx="486">
                  <c:v>21383</c:v>
                </c:pt>
                <c:pt idx="487">
                  <c:v>22857</c:v>
                </c:pt>
                <c:pt idx="488">
                  <c:v>23245</c:v>
                </c:pt>
                <c:pt idx="489">
                  <c:v>21913</c:v>
                </c:pt>
                <c:pt idx="490">
                  <c:v>20694</c:v>
                </c:pt>
                <c:pt idx="491">
                  <c:v>19555</c:v>
                </c:pt>
                <c:pt idx="492">
                  <c:v>22436</c:v>
                </c:pt>
                <c:pt idx="493">
                  <c:v>24595</c:v>
                </c:pt>
                <c:pt idx="494">
                  <c:v>24588</c:v>
                </c:pt>
                <c:pt idx="495">
                  <c:v>24516</c:v>
                </c:pt>
                <c:pt idx="496">
                  <c:v>25620</c:v>
                </c:pt>
                <c:pt idx="497">
                  <c:v>20216</c:v>
                </c:pt>
                <c:pt idx="498">
                  <c:v>22288</c:v>
                </c:pt>
                <c:pt idx="499">
                  <c:v>35671</c:v>
                </c:pt>
                <c:pt idx="500">
                  <c:v>18649</c:v>
                </c:pt>
                <c:pt idx="501">
                  <c:v>22084</c:v>
                </c:pt>
                <c:pt idx="502">
                  <c:v>18260</c:v>
                </c:pt>
                <c:pt idx="503">
                  <c:v>23130</c:v>
                </c:pt>
                <c:pt idx="504">
                  <c:v>19971</c:v>
                </c:pt>
                <c:pt idx="505">
                  <c:v>23716</c:v>
                </c:pt>
                <c:pt idx="506">
                  <c:v>28138</c:v>
                </c:pt>
                <c:pt idx="507">
                  <c:v>25629</c:v>
                </c:pt>
                <c:pt idx="508">
                  <c:v>19509</c:v>
                </c:pt>
                <c:pt idx="509">
                  <c:v>28551</c:v>
                </c:pt>
                <c:pt idx="510">
                  <c:v>18196</c:v>
                </c:pt>
                <c:pt idx="511">
                  <c:v>22855</c:v>
                </c:pt>
                <c:pt idx="512">
                  <c:v>14271</c:v>
                </c:pt>
                <c:pt idx="513">
                  <c:v>24479</c:v>
                </c:pt>
                <c:pt idx="514">
                  <c:v>24468</c:v>
                </c:pt>
                <c:pt idx="515">
                  <c:v>31320</c:v>
                </c:pt>
                <c:pt idx="516">
                  <c:v>25368</c:v>
                </c:pt>
                <c:pt idx="517">
                  <c:v>24739</c:v>
                </c:pt>
                <c:pt idx="518">
                  <c:v>27963</c:v>
                </c:pt>
                <c:pt idx="519">
                  <c:v>33393</c:v>
                </c:pt>
                <c:pt idx="520">
                  <c:v>26196</c:v>
                </c:pt>
                <c:pt idx="521">
                  <c:v>20897</c:v>
                </c:pt>
                <c:pt idx="522">
                  <c:v>29824</c:v>
                </c:pt>
                <c:pt idx="523">
                  <c:v>21260</c:v>
                </c:pt>
                <c:pt idx="524">
                  <c:v>19125</c:v>
                </c:pt>
                <c:pt idx="525">
                  <c:v>26182</c:v>
                </c:pt>
                <c:pt idx="526">
                  <c:v>22107</c:v>
                </c:pt>
                <c:pt idx="527">
                  <c:v>23401</c:v>
                </c:pt>
                <c:pt idx="528">
                  <c:v>23388</c:v>
                </c:pt>
                <c:pt idx="529">
                  <c:v>28278</c:v>
                </c:pt>
                <c:pt idx="530">
                  <c:v>38107</c:v>
                </c:pt>
                <c:pt idx="531">
                  <c:v>33147</c:v>
                </c:pt>
                <c:pt idx="532">
                  <c:v>20629</c:v>
                </c:pt>
                <c:pt idx="533">
                  <c:v>24212</c:v>
                </c:pt>
                <c:pt idx="534">
                  <c:v>22613</c:v>
                </c:pt>
                <c:pt idx="535">
                  <c:v>32811</c:v>
                </c:pt>
                <c:pt idx="536">
                  <c:v>36201</c:v>
                </c:pt>
                <c:pt idx="537">
                  <c:v>26106</c:v>
                </c:pt>
                <c:pt idx="538">
                  <c:v>17248</c:v>
                </c:pt>
                <c:pt idx="539">
                  <c:v>32908</c:v>
                </c:pt>
                <c:pt idx="540">
                  <c:v>19140</c:v>
                </c:pt>
                <c:pt idx="541">
                  <c:v>28062</c:v>
                </c:pt>
                <c:pt idx="542">
                  <c:v>24754</c:v>
                </c:pt>
                <c:pt idx="543">
                  <c:v>21032</c:v>
                </c:pt>
                <c:pt idx="544">
                  <c:v>18558</c:v>
                </c:pt>
                <c:pt idx="545">
                  <c:v>22235</c:v>
                </c:pt>
                <c:pt idx="546">
                  <c:v>18327</c:v>
                </c:pt>
                <c:pt idx="547">
                  <c:v>29357</c:v>
                </c:pt>
                <c:pt idx="548">
                  <c:v>19567</c:v>
                </c:pt>
                <c:pt idx="549">
                  <c:v>22775</c:v>
                </c:pt>
                <c:pt idx="550">
                  <c:v>31495</c:v>
                </c:pt>
                <c:pt idx="551">
                  <c:v>28516</c:v>
                </c:pt>
                <c:pt idx="552">
                  <c:v>16164</c:v>
                </c:pt>
                <c:pt idx="553">
                  <c:v>29224</c:v>
                </c:pt>
                <c:pt idx="554">
                  <c:v>25121</c:v>
                </c:pt>
                <c:pt idx="555">
                  <c:v>23988</c:v>
                </c:pt>
                <c:pt idx="556">
                  <c:v>34666</c:v>
                </c:pt>
                <c:pt idx="557">
                  <c:v>26565</c:v>
                </c:pt>
                <c:pt idx="558">
                  <c:v>21145</c:v>
                </c:pt>
                <c:pt idx="559">
                  <c:v>27221</c:v>
                </c:pt>
                <c:pt idx="560">
                  <c:v>20873</c:v>
                </c:pt>
                <c:pt idx="561">
                  <c:v>28185</c:v>
                </c:pt>
                <c:pt idx="562">
                  <c:v>32647</c:v>
                </c:pt>
                <c:pt idx="563">
                  <c:v>18745</c:v>
                </c:pt>
                <c:pt idx="564">
                  <c:v>15788</c:v>
                </c:pt>
                <c:pt idx="565">
                  <c:v>25355</c:v>
                </c:pt>
                <c:pt idx="566">
                  <c:v>21083</c:v>
                </c:pt>
                <c:pt idx="567">
                  <c:v>27074</c:v>
                </c:pt>
                <c:pt idx="568">
                  <c:v>15404</c:v>
                </c:pt>
                <c:pt idx="569">
                  <c:v>22829</c:v>
                </c:pt>
                <c:pt idx="570">
                  <c:v>9854</c:v>
                </c:pt>
                <c:pt idx="571">
                  <c:v>17124</c:v>
                </c:pt>
                <c:pt idx="572">
                  <c:v>22386</c:v>
                </c:pt>
                <c:pt idx="573">
                  <c:v>15488</c:v>
                </c:pt>
                <c:pt idx="574">
                  <c:v>40045</c:v>
                </c:pt>
                <c:pt idx="575">
                  <c:v>30857</c:v>
                </c:pt>
                <c:pt idx="576">
                  <c:v>18759</c:v>
                </c:pt>
                <c:pt idx="577">
                  <c:v>12199</c:v>
                </c:pt>
                <c:pt idx="578">
                  <c:v>27804</c:v>
                </c:pt>
                <c:pt idx="579">
                  <c:v>20503</c:v>
                </c:pt>
                <c:pt idx="580">
                  <c:v>15193</c:v>
                </c:pt>
                <c:pt idx="581">
                  <c:v>24503</c:v>
                </c:pt>
                <c:pt idx="582">
                  <c:v>33036</c:v>
                </c:pt>
                <c:pt idx="583">
                  <c:v>18129</c:v>
                </c:pt>
                <c:pt idx="584">
                  <c:v>11704</c:v>
                </c:pt>
                <c:pt idx="585">
                  <c:v>22610</c:v>
                </c:pt>
                <c:pt idx="586">
                  <c:v>20716</c:v>
                </c:pt>
                <c:pt idx="587">
                  <c:v>24338</c:v>
                </c:pt>
                <c:pt idx="588">
                  <c:v>34732</c:v>
                </c:pt>
                <c:pt idx="589">
                  <c:v>22917</c:v>
                </c:pt>
                <c:pt idx="590">
                  <c:v>29466</c:v>
                </c:pt>
                <c:pt idx="591">
                  <c:v>40654</c:v>
                </c:pt>
                <c:pt idx="592">
                  <c:v>38645</c:v>
                </c:pt>
                <c:pt idx="593">
                  <c:v>23847</c:v>
                </c:pt>
                <c:pt idx="594">
                  <c:v>26172</c:v>
                </c:pt>
                <c:pt idx="595">
                  <c:v>22992</c:v>
                </c:pt>
                <c:pt idx="596">
                  <c:v>35860</c:v>
                </c:pt>
                <c:pt idx="597">
                  <c:v>26441</c:v>
                </c:pt>
                <c:pt idx="598">
                  <c:v>27182</c:v>
                </c:pt>
                <c:pt idx="599">
                  <c:v>30298</c:v>
                </c:pt>
                <c:pt idx="600">
                  <c:v>27866</c:v>
                </c:pt>
                <c:pt idx="601">
                  <c:v>32622</c:v>
                </c:pt>
                <c:pt idx="602">
                  <c:v>18235</c:v>
                </c:pt>
                <c:pt idx="603">
                  <c:v>26534</c:v>
                </c:pt>
                <c:pt idx="604">
                  <c:v>24717</c:v>
                </c:pt>
                <c:pt idx="605">
                  <c:v>10970</c:v>
                </c:pt>
                <c:pt idx="606">
                  <c:v>20024</c:v>
                </c:pt>
                <c:pt idx="607">
                  <c:v>18838</c:v>
                </c:pt>
                <c:pt idx="608">
                  <c:v>24018</c:v>
                </c:pt>
                <c:pt idx="609">
                  <c:v>14301</c:v>
                </c:pt>
                <c:pt idx="610">
                  <c:v>25578</c:v>
                </c:pt>
                <c:pt idx="611">
                  <c:v>23873</c:v>
                </c:pt>
                <c:pt idx="612">
                  <c:v>20991</c:v>
                </c:pt>
                <c:pt idx="613">
                  <c:v>22553</c:v>
                </c:pt>
                <c:pt idx="614">
                  <c:v>13630</c:v>
                </c:pt>
                <c:pt idx="615">
                  <c:v>27555</c:v>
                </c:pt>
                <c:pt idx="616">
                  <c:v>17755</c:v>
                </c:pt>
                <c:pt idx="617">
                  <c:v>25319</c:v>
                </c:pt>
                <c:pt idx="618">
                  <c:v>30371</c:v>
                </c:pt>
                <c:pt idx="619">
                  <c:v>23894</c:v>
                </c:pt>
                <c:pt idx="620">
                  <c:v>19359</c:v>
                </c:pt>
                <c:pt idx="621">
                  <c:v>17562</c:v>
                </c:pt>
                <c:pt idx="622">
                  <c:v>21936</c:v>
                </c:pt>
                <c:pt idx="623">
                  <c:v>19764</c:v>
                </c:pt>
                <c:pt idx="624">
                  <c:v>24902</c:v>
                </c:pt>
                <c:pt idx="625">
                  <c:v>25292</c:v>
                </c:pt>
                <c:pt idx="626">
                  <c:v>21835</c:v>
                </c:pt>
                <c:pt idx="627">
                  <c:v>36211</c:v>
                </c:pt>
                <c:pt idx="628">
                  <c:v>18659</c:v>
                </c:pt>
                <c:pt idx="629">
                  <c:v>22519</c:v>
                </c:pt>
                <c:pt idx="630">
                  <c:v>25757</c:v>
                </c:pt>
                <c:pt idx="631">
                  <c:v>23093</c:v>
                </c:pt>
                <c:pt idx="632">
                  <c:v>24691</c:v>
                </c:pt>
                <c:pt idx="633">
                  <c:v>21241</c:v>
                </c:pt>
                <c:pt idx="634">
                  <c:v>16948</c:v>
                </c:pt>
                <c:pt idx="635">
                  <c:v>29657</c:v>
                </c:pt>
                <c:pt idx="636">
                  <c:v>23458</c:v>
                </c:pt>
                <c:pt idx="637">
                  <c:v>26113</c:v>
                </c:pt>
                <c:pt idx="638">
                  <c:v>31679</c:v>
                </c:pt>
                <c:pt idx="639">
                  <c:v>20493</c:v>
                </c:pt>
                <c:pt idx="640">
                  <c:v>22347</c:v>
                </c:pt>
                <c:pt idx="641">
                  <c:v>28358</c:v>
                </c:pt>
                <c:pt idx="642">
                  <c:v>23097</c:v>
                </c:pt>
                <c:pt idx="643">
                  <c:v>18462</c:v>
                </c:pt>
                <c:pt idx="644">
                  <c:v>15554</c:v>
                </c:pt>
                <c:pt idx="645">
                  <c:v>27989</c:v>
                </c:pt>
                <c:pt idx="646">
                  <c:v>33062</c:v>
                </c:pt>
                <c:pt idx="647">
                  <c:v>23510</c:v>
                </c:pt>
                <c:pt idx="648">
                  <c:v>16898</c:v>
                </c:pt>
                <c:pt idx="649">
                  <c:v>22866</c:v>
                </c:pt>
                <c:pt idx="650">
                  <c:v>38967</c:v>
                </c:pt>
                <c:pt idx="651">
                  <c:v>21044</c:v>
                </c:pt>
                <c:pt idx="652">
                  <c:v>34192</c:v>
                </c:pt>
                <c:pt idx="653">
                  <c:v>34028</c:v>
                </c:pt>
                <c:pt idx="654">
                  <c:v>20528</c:v>
                </c:pt>
                <c:pt idx="655">
                  <c:v>11745</c:v>
                </c:pt>
                <c:pt idx="656">
                  <c:v>24149</c:v>
                </c:pt>
                <c:pt idx="657">
                  <c:v>35273</c:v>
                </c:pt>
                <c:pt idx="658">
                  <c:v>12548</c:v>
                </c:pt>
                <c:pt idx="659">
                  <c:v>21916</c:v>
                </c:pt>
                <c:pt idx="660">
                  <c:v>17940</c:v>
                </c:pt>
                <c:pt idx="661">
                  <c:v>20168</c:v>
                </c:pt>
                <c:pt idx="662">
                  <c:v>30282</c:v>
                </c:pt>
                <c:pt idx="663">
                  <c:v>23131</c:v>
                </c:pt>
                <c:pt idx="664">
                  <c:v>17770</c:v>
                </c:pt>
                <c:pt idx="665">
                  <c:v>18556</c:v>
                </c:pt>
                <c:pt idx="666">
                  <c:v>20744</c:v>
                </c:pt>
                <c:pt idx="667">
                  <c:v>31320</c:v>
                </c:pt>
                <c:pt idx="668">
                  <c:v>41832</c:v>
                </c:pt>
                <c:pt idx="669">
                  <c:v>17550</c:v>
                </c:pt>
                <c:pt idx="670">
                  <c:v>31643</c:v>
                </c:pt>
                <c:pt idx="671">
                  <c:v>21107</c:v>
                </c:pt>
                <c:pt idx="672">
                  <c:v>25239</c:v>
                </c:pt>
                <c:pt idx="673">
                  <c:v>38707</c:v>
                </c:pt>
                <c:pt idx="674">
                  <c:v>15000</c:v>
                </c:pt>
                <c:pt idx="675">
                  <c:v>24185</c:v>
                </c:pt>
                <c:pt idx="676">
                  <c:v>26285</c:v>
                </c:pt>
                <c:pt idx="677">
                  <c:v>26939</c:v>
                </c:pt>
                <c:pt idx="678">
                  <c:v>28819</c:v>
                </c:pt>
                <c:pt idx="679">
                  <c:v>23960</c:v>
                </c:pt>
                <c:pt idx="680">
                  <c:v>18693</c:v>
                </c:pt>
                <c:pt idx="681">
                  <c:v>45566</c:v>
                </c:pt>
                <c:pt idx="682">
                  <c:v>28673</c:v>
                </c:pt>
                <c:pt idx="683">
                  <c:v>30670</c:v>
                </c:pt>
                <c:pt idx="684">
                  <c:v>23329</c:v>
                </c:pt>
                <c:pt idx="685">
                  <c:v>21499</c:v>
                </c:pt>
                <c:pt idx="686">
                  <c:v>22940</c:v>
                </c:pt>
                <c:pt idx="687">
                  <c:v>26505</c:v>
                </c:pt>
                <c:pt idx="688">
                  <c:v>28119</c:v>
                </c:pt>
                <c:pt idx="689">
                  <c:v>23526</c:v>
                </c:pt>
                <c:pt idx="690">
                  <c:v>22066</c:v>
                </c:pt>
                <c:pt idx="691">
                  <c:v>23003</c:v>
                </c:pt>
                <c:pt idx="692">
                  <c:v>36013</c:v>
                </c:pt>
                <c:pt idx="693">
                  <c:v>24792</c:v>
                </c:pt>
                <c:pt idx="694">
                  <c:v>13143</c:v>
                </c:pt>
                <c:pt idx="695">
                  <c:v>28714</c:v>
                </c:pt>
                <c:pt idx="696">
                  <c:v>26598</c:v>
                </c:pt>
                <c:pt idx="697">
                  <c:v>26979</c:v>
                </c:pt>
                <c:pt idx="698">
                  <c:v>22277</c:v>
                </c:pt>
                <c:pt idx="699">
                  <c:v>17648</c:v>
                </c:pt>
                <c:pt idx="700">
                  <c:v>49180</c:v>
                </c:pt>
                <c:pt idx="701">
                  <c:v>28746</c:v>
                </c:pt>
                <c:pt idx="702">
                  <c:v>19994</c:v>
                </c:pt>
                <c:pt idx="703">
                  <c:v>33013</c:v>
                </c:pt>
                <c:pt idx="704">
                  <c:v>22736</c:v>
                </c:pt>
                <c:pt idx="705">
                  <c:v>32165</c:v>
                </c:pt>
                <c:pt idx="706">
                  <c:v>50539</c:v>
                </c:pt>
                <c:pt idx="707">
                  <c:v>18578</c:v>
                </c:pt>
                <c:pt idx="708">
                  <c:v>26640</c:v>
                </c:pt>
                <c:pt idx="709">
                  <c:v>39949</c:v>
                </c:pt>
                <c:pt idx="710">
                  <c:v>19108</c:v>
                </c:pt>
                <c:pt idx="711">
                  <c:v>22313</c:v>
                </c:pt>
                <c:pt idx="712">
                  <c:v>27743</c:v>
                </c:pt>
                <c:pt idx="713">
                  <c:v>25265</c:v>
                </c:pt>
                <c:pt idx="714">
                  <c:v>33926</c:v>
                </c:pt>
                <c:pt idx="715">
                  <c:v>24280</c:v>
                </c:pt>
                <c:pt idx="716">
                  <c:v>26975</c:v>
                </c:pt>
                <c:pt idx="717">
                  <c:v>28556</c:v>
                </c:pt>
                <c:pt idx="718">
                  <c:v>25301</c:v>
                </c:pt>
                <c:pt idx="719">
                  <c:v>32149</c:v>
                </c:pt>
                <c:pt idx="720">
                  <c:v>19035</c:v>
                </c:pt>
                <c:pt idx="721">
                  <c:v>13006</c:v>
                </c:pt>
                <c:pt idx="722">
                  <c:v>38729</c:v>
                </c:pt>
                <c:pt idx="723">
                  <c:v>27579</c:v>
                </c:pt>
                <c:pt idx="724">
                  <c:v>22655</c:v>
                </c:pt>
                <c:pt idx="725">
                  <c:v>18526</c:v>
                </c:pt>
                <c:pt idx="726">
                  <c:v>37485</c:v>
                </c:pt>
                <c:pt idx="727">
                  <c:v>24488</c:v>
                </c:pt>
                <c:pt idx="728">
                  <c:v>29053</c:v>
                </c:pt>
                <c:pt idx="729">
                  <c:v>32997</c:v>
                </c:pt>
                <c:pt idx="730">
                  <c:v>27872</c:v>
                </c:pt>
                <c:pt idx="731">
                  <c:v>39986</c:v>
                </c:pt>
                <c:pt idx="732">
                  <c:v>28115</c:v>
                </c:pt>
                <c:pt idx="733">
                  <c:v>33375</c:v>
                </c:pt>
                <c:pt idx="734">
                  <c:v>19169</c:v>
                </c:pt>
                <c:pt idx="735">
                  <c:v>20161</c:v>
                </c:pt>
                <c:pt idx="736">
                  <c:v>27898</c:v>
                </c:pt>
                <c:pt idx="737">
                  <c:v>23874</c:v>
                </c:pt>
                <c:pt idx="738">
                  <c:v>22257</c:v>
                </c:pt>
                <c:pt idx="739">
                  <c:v>19072</c:v>
                </c:pt>
                <c:pt idx="740">
                  <c:v>22900</c:v>
                </c:pt>
                <c:pt idx="741">
                  <c:v>33692</c:v>
                </c:pt>
                <c:pt idx="742">
                  <c:v>21696</c:v>
                </c:pt>
                <c:pt idx="743">
                  <c:v>41104</c:v>
                </c:pt>
                <c:pt idx="744">
                  <c:v>27846</c:v>
                </c:pt>
                <c:pt idx="745">
                  <c:v>17028</c:v>
                </c:pt>
                <c:pt idx="746">
                  <c:v>27094</c:v>
                </c:pt>
                <c:pt idx="747">
                  <c:v>20781</c:v>
                </c:pt>
                <c:pt idx="748">
                  <c:v>28585</c:v>
                </c:pt>
                <c:pt idx="749">
                  <c:v>22212</c:v>
                </c:pt>
                <c:pt idx="750">
                  <c:v>22719</c:v>
                </c:pt>
                <c:pt idx="751">
                  <c:v>20433</c:v>
                </c:pt>
                <c:pt idx="752">
                  <c:v>28945</c:v>
                </c:pt>
                <c:pt idx="753">
                  <c:v>19589</c:v>
                </c:pt>
                <c:pt idx="754">
                  <c:v>25884</c:v>
                </c:pt>
                <c:pt idx="755">
                  <c:v>27483</c:v>
                </c:pt>
                <c:pt idx="756">
                  <c:v>28651</c:v>
                </c:pt>
                <c:pt idx="757">
                  <c:v>19409</c:v>
                </c:pt>
                <c:pt idx="758">
                  <c:v>29618</c:v>
                </c:pt>
                <c:pt idx="759">
                  <c:v>29137</c:v>
                </c:pt>
                <c:pt idx="760">
                  <c:v>22878</c:v>
                </c:pt>
                <c:pt idx="761">
                  <c:v>33313</c:v>
                </c:pt>
                <c:pt idx="762">
                  <c:v>22400</c:v>
                </c:pt>
                <c:pt idx="763">
                  <c:v>25522</c:v>
                </c:pt>
                <c:pt idx="764">
                  <c:v>29822</c:v>
                </c:pt>
                <c:pt idx="765">
                  <c:v>40007</c:v>
                </c:pt>
                <c:pt idx="766">
                  <c:v>25002</c:v>
                </c:pt>
                <c:pt idx="767">
                  <c:v>30988</c:v>
                </c:pt>
                <c:pt idx="768">
                  <c:v>25180</c:v>
                </c:pt>
                <c:pt idx="769">
                  <c:v>50507</c:v>
                </c:pt>
                <c:pt idx="770">
                  <c:v>26706</c:v>
                </c:pt>
                <c:pt idx="771">
                  <c:v>36660</c:v>
                </c:pt>
                <c:pt idx="772">
                  <c:v>30308</c:v>
                </c:pt>
                <c:pt idx="773">
                  <c:v>30109</c:v>
                </c:pt>
                <c:pt idx="774">
                  <c:v>30902</c:v>
                </c:pt>
                <c:pt idx="775">
                  <c:v>31563</c:v>
                </c:pt>
                <c:pt idx="776">
                  <c:v>18732</c:v>
                </c:pt>
                <c:pt idx="777">
                  <c:v>34176</c:v>
                </c:pt>
                <c:pt idx="778">
                  <c:v>28905</c:v>
                </c:pt>
                <c:pt idx="779">
                  <c:v>32918</c:v>
                </c:pt>
                <c:pt idx="780">
                  <c:v>32297</c:v>
                </c:pt>
                <c:pt idx="781">
                  <c:v>29351</c:v>
                </c:pt>
                <c:pt idx="782">
                  <c:v>34191</c:v>
                </c:pt>
                <c:pt idx="783">
                  <c:v>29999</c:v>
                </c:pt>
                <c:pt idx="784">
                  <c:v>38394</c:v>
                </c:pt>
                <c:pt idx="785">
                  <c:v>24336</c:v>
                </c:pt>
                <c:pt idx="786">
                  <c:v>46555</c:v>
                </c:pt>
                <c:pt idx="787">
                  <c:v>22443</c:v>
                </c:pt>
                <c:pt idx="788">
                  <c:v>31446</c:v>
                </c:pt>
                <c:pt idx="789">
                  <c:v>37607</c:v>
                </c:pt>
                <c:pt idx="790">
                  <c:v>37999</c:v>
                </c:pt>
                <c:pt idx="791">
                  <c:v>30892</c:v>
                </c:pt>
                <c:pt idx="792">
                  <c:v>41008</c:v>
                </c:pt>
                <c:pt idx="793">
                  <c:v>22264</c:v>
                </c:pt>
                <c:pt idx="794">
                  <c:v>24398</c:v>
                </c:pt>
                <c:pt idx="795">
                  <c:v>28199</c:v>
                </c:pt>
                <c:pt idx="796">
                  <c:v>25759</c:v>
                </c:pt>
                <c:pt idx="797">
                  <c:v>15232</c:v>
                </c:pt>
                <c:pt idx="798">
                  <c:v>36131</c:v>
                </c:pt>
                <c:pt idx="799">
                  <c:v>49965</c:v>
                </c:pt>
                <c:pt idx="800">
                  <c:v>39343</c:v>
                </c:pt>
                <c:pt idx="801">
                  <c:v>31490</c:v>
                </c:pt>
                <c:pt idx="802">
                  <c:v>36079</c:v>
                </c:pt>
                <c:pt idx="803">
                  <c:v>23464</c:v>
                </c:pt>
                <c:pt idx="804">
                  <c:v>38512</c:v>
                </c:pt>
                <c:pt idx="805">
                  <c:v>29127</c:v>
                </c:pt>
                <c:pt idx="806">
                  <c:v>48661</c:v>
                </c:pt>
                <c:pt idx="807">
                  <c:v>18397</c:v>
                </c:pt>
                <c:pt idx="808">
                  <c:v>21413</c:v>
                </c:pt>
                <c:pt idx="809">
                  <c:v>30031</c:v>
                </c:pt>
                <c:pt idx="810">
                  <c:v>36967</c:v>
                </c:pt>
                <c:pt idx="811">
                  <c:v>27290</c:v>
                </c:pt>
                <c:pt idx="812">
                  <c:v>29561</c:v>
                </c:pt>
                <c:pt idx="813">
                  <c:v>34779</c:v>
                </c:pt>
                <c:pt idx="814">
                  <c:v>29188</c:v>
                </c:pt>
                <c:pt idx="815">
                  <c:v>30536</c:v>
                </c:pt>
                <c:pt idx="816">
                  <c:v>29155</c:v>
                </c:pt>
                <c:pt idx="817">
                  <c:v>30177</c:v>
                </c:pt>
                <c:pt idx="818">
                  <c:v>31568</c:v>
                </c:pt>
                <c:pt idx="819">
                  <c:v>28241</c:v>
                </c:pt>
                <c:pt idx="820">
                  <c:v>41555</c:v>
                </c:pt>
                <c:pt idx="821">
                  <c:v>32568</c:v>
                </c:pt>
                <c:pt idx="822">
                  <c:v>37730</c:v>
                </c:pt>
                <c:pt idx="823">
                  <c:v>29498</c:v>
                </c:pt>
                <c:pt idx="824">
                  <c:v>36175</c:v>
                </c:pt>
                <c:pt idx="825">
                  <c:v>46174</c:v>
                </c:pt>
                <c:pt idx="826">
                  <c:v>31759</c:v>
                </c:pt>
                <c:pt idx="827">
                  <c:v>34662</c:v>
                </c:pt>
                <c:pt idx="828">
                  <c:v>37244</c:v>
                </c:pt>
                <c:pt idx="829">
                  <c:v>30783</c:v>
                </c:pt>
                <c:pt idx="830">
                  <c:v>25407</c:v>
                </c:pt>
                <c:pt idx="831">
                  <c:v>29533</c:v>
                </c:pt>
                <c:pt idx="832">
                  <c:v>37927</c:v>
                </c:pt>
                <c:pt idx="833">
                  <c:v>24258</c:v>
                </c:pt>
                <c:pt idx="834">
                  <c:v>15564</c:v>
                </c:pt>
                <c:pt idx="835">
                  <c:v>38263</c:v>
                </c:pt>
                <c:pt idx="836">
                  <c:v>33733</c:v>
                </c:pt>
                <c:pt idx="837">
                  <c:v>36425</c:v>
                </c:pt>
                <c:pt idx="838">
                  <c:v>31309</c:v>
                </c:pt>
                <c:pt idx="839">
                  <c:v>31483</c:v>
                </c:pt>
                <c:pt idx="840">
                  <c:v>34906</c:v>
                </c:pt>
                <c:pt idx="841">
                  <c:v>25672</c:v>
                </c:pt>
                <c:pt idx="842">
                  <c:v>35736</c:v>
                </c:pt>
                <c:pt idx="843">
                  <c:v>36041</c:v>
                </c:pt>
                <c:pt idx="844">
                  <c:v>41943</c:v>
                </c:pt>
                <c:pt idx="845">
                  <c:v>28928</c:v>
                </c:pt>
                <c:pt idx="846">
                  <c:v>36294</c:v>
                </c:pt>
                <c:pt idx="847">
                  <c:v>23367</c:v>
                </c:pt>
                <c:pt idx="848">
                  <c:v>33016</c:v>
                </c:pt>
                <c:pt idx="849">
                  <c:v>19285</c:v>
                </c:pt>
                <c:pt idx="850">
                  <c:v>24347</c:v>
                </c:pt>
                <c:pt idx="851">
                  <c:v>41544</c:v>
                </c:pt>
                <c:pt idx="852">
                  <c:v>28719</c:v>
                </c:pt>
                <c:pt idx="853">
                  <c:v>31487</c:v>
                </c:pt>
                <c:pt idx="854">
                  <c:v>48381</c:v>
                </c:pt>
                <c:pt idx="855">
                  <c:v>40892</c:v>
                </c:pt>
                <c:pt idx="856">
                  <c:v>28985</c:v>
                </c:pt>
                <c:pt idx="857">
                  <c:v>25447</c:v>
                </c:pt>
                <c:pt idx="858">
                  <c:v>26536</c:v>
                </c:pt>
                <c:pt idx="859">
                  <c:v>30378</c:v>
                </c:pt>
                <c:pt idx="860">
                  <c:v>35119</c:v>
                </c:pt>
                <c:pt idx="861">
                  <c:v>29278</c:v>
                </c:pt>
                <c:pt idx="862">
                  <c:v>38793</c:v>
                </c:pt>
                <c:pt idx="863">
                  <c:v>25314</c:v>
                </c:pt>
                <c:pt idx="864">
                  <c:v>22585</c:v>
                </c:pt>
                <c:pt idx="865">
                  <c:v>23149</c:v>
                </c:pt>
                <c:pt idx="866">
                  <c:v>17180</c:v>
                </c:pt>
                <c:pt idx="867">
                  <c:v>28800</c:v>
                </c:pt>
                <c:pt idx="868">
                  <c:v>24478</c:v>
                </c:pt>
                <c:pt idx="869">
                  <c:v>17379</c:v>
                </c:pt>
                <c:pt idx="870">
                  <c:v>37050</c:v>
                </c:pt>
                <c:pt idx="871">
                  <c:v>18425</c:v>
                </c:pt>
                <c:pt idx="872">
                  <c:v>30574</c:v>
                </c:pt>
                <c:pt idx="873">
                  <c:v>34170</c:v>
                </c:pt>
                <c:pt idx="874">
                  <c:v>14398</c:v>
                </c:pt>
                <c:pt idx="875">
                  <c:v>28210</c:v>
                </c:pt>
                <c:pt idx="876">
                  <c:v>58098</c:v>
                </c:pt>
                <c:pt idx="877">
                  <c:v>39998</c:v>
                </c:pt>
                <c:pt idx="878">
                  <c:v>24402</c:v>
                </c:pt>
                <c:pt idx="879">
                  <c:v>40675</c:v>
                </c:pt>
                <c:pt idx="880">
                  <c:v>13269</c:v>
                </c:pt>
                <c:pt idx="881">
                  <c:v>18725</c:v>
                </c:pt>
                <c:pt idx="882">
                  <c:v>40287</c:v>
                </c:pt>
                <c:pt idx="883">
                  <c:v>41272</c:v>
                </c:pt>
                <c:pt idx="884">
                  <c:v>38509</c:v>
                </c:pt>
                <c:pt idx="885">
                  <c:v>35333</c:v>
                </c:pt>
                <c:pt idx="886">
                  <c:v>25496</c:v>
                </c:pt>
                <c:pt idx="887">
                  <c:v>22102</c:v>
                </c:pt>
                <c:pt idx="888">
                  <c:v>28786</c:v>
                </c:pt>
                <c:pt idx="889">
                  <c:v>44338</c:v>
                </c:pt>
                <c:pt idx="890">
                  <c:v>21786</c:v>
                </c:pt>
                <c:pt idx="891">
                  <c:v>27256</c:v>
                </c:pt>
                <c:pt idx="892">
                  <c:v>30365</c:v>
                </c:pt>
                <c:pt idx="893">
                  <c:v>29689</c:v>
                </c:pt>
                <c:pt idx="894">
                  <c:v>48523</c:v>
                </c:pt>
                <c:pt idx="895">
                  <c:v>18809</c:v>
                </c:pt>
                <c:pt idx="896">
                  <c:v>41190</c:v>
                </c:pt>
                <c:pt idx="897">
                  <c:v>34561</c:v>
                </c:pt>
                <c:pt idx="898">
                  <c:v>17716</c:v>
                </c:pt>
                <c:pt idx="899">
                  <c:v>48095</c:v>
                </c:pt>
                <c:pt idx="900">
                  <c:v>22453</c:v>
                </c:pt>
                <c:pt idx="901">
                  <c:v>29167</c:v>
                </c:pt>
                <c:pt idx="902">
                  <c:v>30305</c:v>
                </c:pt>
                <c:pt idx="903">
                  <c:v>13370</c:v>
                </c:pt>
                <c:pt idx="904">
                  <c:v>41431</c:v>
                </c:pt>
                <c:pt idx="905">
                  <c:v>41219</c:v>
                </c:pt>
                <c:pt idx="906">
                  <c:v>38782</c:v>
                </c:pt>
                <c:pt idx="907">
                  <c:v>34832</c:v>
                </c:pt>
                <c:pt idx="908">
                  <c:v>36586</c:v>
                </c:pt>
                <c:pt idx="909">
                  <c:v>34433</c:v>
                </c:pt>
                <c:pt idx="910">
                  <c:v>15846</c:v>
                </c:pt>
                <c:pt idx="911">
                  <c:v>14860</c:v>
                </c:pt>
                <c:pt idx="912">
                  <c:v>32740</c:v>
                </c:pt>
                <c:pt idx="913">
                  <c:v>25181</c:v>
                </c:pt>
                <c:pt idx="914">
                  <c:v>30915</c:v>
                </c:pt>
                <c:pt idx="915">
                  <c:v>25184</c:v>
                </c:pt>
                <c:pt idx="916">
                  <c:v>40766</c:v>
                </c:pt>
                <c:pt idx="917">
                  <c:v>23781</c:v>
                </c:pt>
                <c:pt idx="918">
                  <c:v>34660</c:v>
                </c:pt>
                <c:pt idx="919">
                  <c:v>29519</c:v>
                </c:pt>
                <c:pt idx="920">
                  <c:v>29612</c:v>
                </c:pt>
                <c:pt idx="921">
                  <c:v>26780</c:v>
                </c:pt>
                <c:pt idx="922">
                  <c:v>43756</c:v>
                </c:pt>
                <c:pt idx="923">
                  <c:v>23777</c:v>
                </c:pt>
                <c:pt idx="924">
                  <c:v>19066</c:v>
                </c:pt>
                <c:pt idx="925">
                  <c:v>36228</c:v>
                </c:pt>
                <c:pt idx="926">
                  <c:v>21590</c:v>
                </c:pt>
                <c:pt idx="927">
                  <c:v>43071</c:v>
                </c:pt>
                <c:pt idx="928">
                  <c:v>40815</c:v>
                </c:pt>
                <c:pt idx="929">
                  <c:v>41704</c:v>
                </c:pt>
                <c:pt idx="930">
                  <c:v>28690</c:v>
                </c:pt>
                <c:pt idx="931">
                  <c:v>28849</c:v>
                </c:pt>
                <c:pt idx="932">
                  <c:v>36931</c:v>
                </c:pt>
                <c:pt idx="933">
                  <c:v>41346</c:v>
                </c:pt>
                <c:pt idx="934">
                  <c:v>50062</c:v>
                </c:pt>
                <c:pt idx="935">
                  <c:v>6128</c:v>
                </c:pt>
                <c:pt idx="936">
                  <c:v>28699</c:v>
                </c:pt>
                <c:pt idx="937">
                  <c:v>31944</c:v>
                </c:pt>
                <c:pt idx="938">
                  <c:v>37930</c:v>
                </c:pt>
                <c:pt idx="939">
                  <c:v>13807</c:v>
                </c:pt>
                <c:pt idx="940">
                  <c:v>16075</c:v>
                </c:pt>
                <c:pt idx="941">
                  <c:v>35924</c:v>
                </c:pt>
                <c:pt idx="942">
                  <c:v>20111</c:v>
                </c:pt>
              </c:numCache>
            </c:numRef>
          </c:xVal>
          <c:yVal>
            <c:numRef>
              <c:f>Sheet1!$B$2:$B$944</c:f>
              <c:numCache>
                <c:formatCode>General</c:formatCode>
                <c:ptCount val="943"/>
                <c:pt idx="0">
                  <c:v>19761</c:v>
                </c:pt>
                <c:pt idx="1">
                  <c:v>20064</c:v>
                </c:pt>
                <c:pt idx="2">
                  <c:v>20902</c:v>
                </c:pt>
                <c:pt idx="3">
                  <c:v>21123</c:v>
                </c:pt>
                <c:pt idx="4">
                  <c:v>21256</c:v>
                </c:pt>
                <c:pt idx="5">
                  <c:v>22842</c:v>
                </c:pt>
                <c:pt idx="6">
                  <c:v>22842</c:v>
                </c:pt>
                <c:pt idx="7">
                  <c:v>22842</c:v>
                </c:pt>
                <c:pt idx="8">
                  <c:v>22842</c:v>
                </c:pt>
                <c:pt idx="9">
                  <c:v>22844</c:v>
                </c:pt>
                <c:pt idx="10">
                  <c:v>23132</c:v>
                </c:pt>
                <c:pt idx="11">
                  <c:v>23204</c:v>
                </c:pt>
                <c:pt idx="12">
                  <c:v>24328</c:v>
                </c:pt>
                <c:pt idx="13">
                  <c:v>24490</c:v>
                </c:pt>
                <c:pt idx="14">
                  <c:v>24539</c:v>
                </c:pt>
                <c:pt idx="15">
                  <c:v>24776</c:v>
                </c:pt>
                <c:pt idx="16">
                  <c:v>24900</c:v>
                </c:pt>
                <c:pt idx="17">
                  <c:v>24908</c:v>
                </c:pt>
                <c:pt idx="18">
                  <c:v>24908</c:v>
                </c:pt>
                <c:pt idx="19">
                  <c:v>24908</c:v>
                </c:pt>
                <c:pt idx="20">
                  <c:v>25021</c:v>
                </c:pt>
                <c:pt idx="21">
                  <c:v>25272</c:v>
                </c:pt>
                <c:pt idx="22">
                  <c:v>25416</c:v>
                </c:pt>
                <c:pt idx="23">
                  <c:v>25827</c:v>
                </c:pt>
                <c:pt idx="24">
                  <c:v>26223</c:v>
                </c:pt>
                <c:pt idx="25">
                  <c:v>26721</c:v>
                </c:pt>
                <c:pt idx="26">
                  <c:v>26946</c:v>
                </c:pt>
                <c:pt idx="27">
                  <c:v>27981</c:v>
                </c:pt>
                <c:pt idx="28">
                  <c:v>28396</c:v>
                </c:pt>
                <c:pt idx="29">
                  <c:v>28418</c:v>
                </c:pt>
                <c:pt idx="30">
                  <c:v>28465</c:v>
                </c:pt>
                <c:pt idx="31">
                  <c:v>28720</c:v>
                </c:pt>
                <c:pt idx="32">
                  <c:v>29288</c:v>
                </c:pt>
                <c:pt idx="33">
                  <c:v>29420</c:v>
                </c:pt>
                <c:pt idx="34">
                  <c:v>29813</c:v>
                </c:pt>
                <c:pt idx="35">
                  <c:v>29936</c:v>
                </c:pt>
                <c:pt idx="36">
                  <c:v>29963</c:v>
                </c:pt>
                <c:pt idx="37">
                  <c:v>30180</c:v>
                </c:pt>
                <c:pt idx="38">
                  <c:v>30497</c:v>
                </c:pt>
                <c:pt idx="39">
                  <c:v>30573</c:v>
                </c:pt>
                <c:pt idx="40">
                  <c:v>30614</c:v>
                </c:pt>
                <c:pt idx="41">
                  <c:v>30821</c:v>
                </c:pt>
                <c:pt idx="42">
                  <c:v>31053</c:v>
                </c:pt>
                <c:pt idx="43">
                  <c:v>31670</c:v>
                </c:pt>
                <c:pt idx="44">
                  <c:v>31754</c:v>
                </c:pt>
                <c:pt idx="45">
                  <c:v>31902</c:v>
                </c:pt>
                <c:pt idx="46">
                  <c:v>32229</c:v>
                </c:pt>
                <c:pt idx="47">
                  <c:v>32275</c:v>
                </c:pt>
                <c:pt idx="48">
                  <c:v>32465</c:v>
                </c:pt>
                <c:pt idx="49">
                  <c:v>32568</c:v>
                </c:pt>
                <c:pt idx="50">
                  <c:v>32568</c:v>
                </c:pt>
                <c:pt idx="51">
                  <c:v>32568</c:v>
                </c:pt>
                <c:pt idx="52">
                  <c:v>32600</c:v>
                </c:pt>
                <c:pt idx="53">
                  <c:v>32627</c:v>
                </c:pt>
                <c:pt idx="54">
                  <c:v>32864</c:v>
                </c:pt>
                <c:pt idx="55">
                  <c:v>32992</c:v>
                </c:pt>
                <c:pt idx="56">
                  <c:v>33022</c:v>
                </c:pt>
                <c:pt idx="57">
                  <c:v>33159</c:v>
                </c:pt>
                <c:pt idx="58">
                  <c:v>33291</c:v>
                </c:pt>
                <c:pt idx="59">
                  <c:v>33338</c:v>
                </c:pt>
                <c:pt idx="60">
                  <c:v>33647</c:v>
                </c:pt>
                <c:pt idx="61">
                  <c:v>33752</c:v>
                </c:pt>
                <c:pt idx="62">
                  <c:v>34409</c:v>
                </c:pt>
                <c:pt idx="63">
                  <c:v>34724</c:v>
                </c:pt>
                <c:pt idx="64">
                  <c:v>34782</c:v>
                </c:pt>
                <c:pt idx="65">
                  <c:v>35339</c:v>
                </c:pt>
                <c:pt idx="66">
                  <c:v>35348</c:v>
                </c:pt>
                <c:pt idx="67">
                  <c:v>35421</c:v>
                </c:pt>
                <c:pt idx="68">
                  <c:v>35422</c:v>
                </c:pt>
                <c:pt idx="69">
                  <c:v>35594</c:v>
                </c:pt>
                <c:pt idx="70">
                  <c:v>35715</c:v>
                </c:pt>
                <c:pt idx="71">
                  <c:v>35730</c:v>
                </c:pt>
                <c:pt idx="72">
                  <c:v>35833</c:v>
                </c:pt>
                <c:pt idx="73">
                  <c:v>35942</c:v>
                </c:pt>
                <c:pt idx="74">
                  <c:v>35983</c:v>
                </c:pt>
                <c:pt idx="75">
                  <c:v>36260</c:v>
                </c:pt>
                <c:pt idx="76">
                  <c:v>36355</c:v>
                </c:pt>
                <c:pt idx="77">
                  <c:v>36624</c:v>
                </c:pt>
                <c:pt idx="78">
                  <c:v>36630</c:v>
                </c:pt>
                <c:pt idx="79">
                  <c:v>36654</c:v>
                </c:pt>
                <c:pt idx="80">
                  <c:v>36909</c:v>
                </c:pt>
                <c:pt idx="81">
                  <c:v>36909</c:v>
                </c:pt>
                <c:pt idx="82">
                  <c:v>36909</c:v>
                </c:pt>
                <c:pt idx="83">
                  <c:v>36909</c:v>
                </c:pt>
                <c:pt idx="84">
                  <c:v>37275</c:v>
                </c:pt>
                <c:pt idx="85">
                  <c:v>37709</c:v>
                </c:pt>
                <c:pt idx="86">
                  <c:v>37722</c:v>
                </c:pt>
                <c:pt idx="87">
                  <c:v>37852</c:v>
                </c:pt>
                <c:pt idx="88">
                  <c:v>38109</c:v>
                </c:pt>
                <c:pt idx="89">
                  <c:v>38208</c:v>
                </c:pt>
                <c:pt idx="90">
                  <c:v>38275</c:v>
                </c:pt>
                <c:pt idx="91">
                  <c:v>38289</c:v>
                </c:pt>
                <c:pt idx="92">
                  <c:v>38298</c:v>
                </c:pt>
                <c:pt idx="93">
                  <c:v>38342</c:v>
                </c:pt>
                <c:pt idx="94">
                  <c:v>38412</c:v>
                </c:pt>
                <c:pt idx="95">
                  <c:v>38427</c:v>
                </c:pt>
                <c:pt idx="96">
                  <c:v>38484</c:v>
                </c:pt>
                <c:pt idx="97">
                  <c:v>38518</c:v>
                </c:pt>
                <c:pt idx="98">
                  <c:v>38740</c:v>
                </c:pt>
                <c:pt idx="99">
                  <c:v>38857</c:v>
                </c:pt>
                <c:pt idx="100">
                  <c:v>38951</c:v>
                </c:pt>
                <c:pt idx="101">
                  <c:v>39016</c:v>
                </c:pt>
                <c:pt idx="102">
                  <c:v>39115</c:v>
                </c:pt>
                <c:pt idx="103">
                  <c:v>39196</c:v>
                </c:pt>
                <c:pt idx="104">
                  <c:v>39248</c:v>
                </c:pt>
                <c:pt idx="105">
                  <c:v>39533</c:v>
                </c:pt>
                <c:pt idx="106">
                  <c:v>39696</c:v>
                </c:pt>
                <c:pt idx="107">
                  <c:v>39813</c:v>
                </c:pt>
                <c:pt idx="108">
                  <c:v>39863</c:v>
                </c:pt>
                <c:pt idx="109">
                  <c:v>40075</c:v>
                </c:pt>
                <c:pt idx="110">
                  <c:v>40117</c:v>
                </c:pt>
                <c:pt idx="111">
                  <c:v>40183</c:v>
                </c:pt>
                <c:pt idx="112">
                  <c:v>40264</c:v>
                </c:pt>
                <c:pt idx="113">
                  <c:v>40304</c:v>
                </c:pt>
                <c:pt idx="114">
                  <c:v>40391</c:v>
                </c:pt>
                <c:pt idx="115">
                  <c:v>40421</c:v>
                </c:pt>
                <c:pt idx="116">
                  <c:v>40457</c:v>
                </c:pt>
                <c:pt idx="117">
                  <c:v>40523</c:v>
                </c:pt>
                <c:pt idx="118">
                  <c:v>40573</c:v>
                </c:pt>
                <c:pt idx="119">
                  <c:v>40596</c:v>
                </c:pt>
                <c:pt idx="120">
                  <c:v>40650</c:v>
                </c:pt>
                <c:pt idx="121">
                  <c:v>40650</c:v>
                </c:pt>
                <c:pt idx="122">
                  <c:v>40694</c:v>
                </c:pt>
                <c:pt idx="123">
                  <c:v>40694</c:v>
                </c:pt>
                <c:pt idx="124">
                  <c:v>40803</c:v>
                </c:pt>
                <c:pt idx="125">
                  <c:v>40867</c:v>
                </c:pt>
                <c:pt idx="126">
                  <c:v>41000</c:v>
                </c:pt>
                <c:pt idx="127">
                  <c:v>41066</c:v>
                </c:pt>
                <c:pt idx="128">
                  <c:v>41129</c:v>
                </c:pt>
                <c:pt idx="129">
                  <c:v>41198</c:v>
                </c:pt>
                <c:pt idx="130">
                  <c:v>41216</c:v>
                </c:pt>
                <c:pt idx="131">
                  <c:v>41338</c:v>
                </c:pt>
                <c:pt idx="132">
                  <c:v>41478</c:v>
                </c:pt>
                <c:pt idx="133">
                  <c:v>41544</c:v>
                </c:pt>
                <c:pt idx="134">
                  <c:v>41583</c:v>
                </c:pt>
                <c:pt idx="135">
                  <c:v>41592</c:v>
                </c:pt>
                <c:pt idx="136">
                  <c:v>41663</c:v>
                </c:pt>
                <c:pt idx="137">
                  <c:v>42002</c:v>
                </c:pt>
                <c:pt idx="138">
                  <c:v>42009</c:v>
                </c:pt>
                <c:pt idx="139">
                  <c:v>42051</c:v>
                </c:pt>
                <c:pt idx="140">
                  <c:v>42091</c:v>
                </c:pt>
                <c:pt idx="141">
                  <c:v>42092</c:v>
                </c:pt>
                <c:pt idx="142">
                  <c:v>42101</c:v>
                </c:pt>
                <c:pt idx="143">
                  <c:v>42186</c:v>
                </c:pt>
                <c:pt idx="144">
                  <c:v>42195</c:v>
                </c:pt>
                <c:pt idx="145">
                  <c:v>42198</c:v>
                </c:pt>
                <c:pt idx="146">
                  <c:v>42359</c:v>
                </c:pt>
                <c:pt idx="147">
                  <c:v>42368</c:v>
                </c:pt>
                <c:pt idx="148">
                  <c:v>42375</c:v>
                </c:pt>
                <c:pt idx="149">
                  <c:v>42401</c:v>
                </c:pt>
                <c:pt idx="150">
                  <c:v>42488</c:v>
                </c:pt>
                <c:pt idx="151">
                  <c:v>42631</c:v>
                </c:pt>
                <c:pt idx="152">
                  <c:v>42643</c:v>
                </c:pt>
                <c:pt idx="153">
                  <c:v>42680</c:v>
                </c:pt>
                <c:pt idx="154">
                  <c:v>42712</c:v>
                </c:pt>
                <c:pt idx="155">
                  <c:v>42836</c:v>
                </c:pt>
                <c:pt idx="156">
                  <c:v>42937</c:v>
                </c:pt>
                <c:pt idx="157">
                  <c:v>43035</c:v>
                </c:pt>
                <c:pt idx="158">
                  <c:v>43071</c:v>
                </c:pt>
                <c:pt idx="159">
                  <c:v>43087</c:v>
                </c:pt>
                <c:pt idx="160">
                  <c:v>43101</c:v>
                </c:pt>
                <c:pt idx="161">
                  <c:v>43112</c:v>
                </c:pt>
                <c:pt idx="162">
                  <c:v>43137</c:v>
                </c:pt>
                <c:pt idx="163">
                  <c:v>43150</c:v>
                </c:pt>
                <c:pt idx="164">
                  <c:v>43185</c:v>
                </c:pt>
                <c:pt idx="165">
                  <c:v>43221</c:v>
                </c:pt>
                <c:pt idx="166">
                  <c:v>43222</c:v>
                </c:pt>
                <c:pt idx="167">
                  <c:v>43283</c:v>
                </c:pt>
                <c:pt idx="168">
                  <c:v>43299</c:v>
                </c:pt>
                <c:pt idx="169">
                  <c:v>43326</c:v>
                </c:pt>
                <c:pt idx="170">
                  <c:v>43411</c:v>
                </c:pt>
                <c:pt idx="171">
                  <c:v>43415</c:v>
                </c:pt>
                <c:pt idx="172">
                  <c:v>43418</c:v>
                </c:pt>
                <c:pt idx="173">
                  <c:v>43418</c:v>
                </c:pt>
                <c:pt idx="174">
                  <c:v>43418</c:v>
                </c:pt>
                <c:pt idx="175">
                  <c:v>43445</c:v>
                </c:pt>
                <c:pt idx="176">
                  <c:v>43457</c:v>
                </c:pt>
                <c:pt idx="177">
                  <c:v>43503</c:v>
                </c:pt>
                <c:pt idx="178">
                  <c:v>43545</c:v>
                </c:pt>
                <c:pt idx="179">
                  <c:v>43596</c:v>
                </c:pt>
                <c:pt idx="180">
                  <c:v>43611</c:v>
                </c:pt>
                <c:pt idx="181">
                  <c:v>43845</c:v>
                </c:pt>
                <c:pt idx="182">
                  <c:v>44096</c:v>
                </c:pt>
                <c:pt idx="183">
                  <c:v>44130</c:v>
                </c:pt>
                <c:pt idx="184">
                  <c:v>44172</c:v>
                </c:pt>
                <c:pt idx="185">
                  <c:v>44232</c:v>
                </c:pt>
                <c:pt idx="186">
                  <c:v>44246</c:v>
                </c:pt>
                <c:pt idx="187">
                  <c:v>44296</c:v>
                </c:pt>
                <c:pt idx="188">
                  <c:v>44317</c:v>
                </c:pt>
                <c:pt idx="189">
                  <c:v>44354</c:v>
                </c:pt>
                <c:pt idx="190">
                  <c:v>44367</c:v>
                </c:pt>
                <c:pt idx="191">
                  <c:v>44384</c:v>
                </c:pt>
                <c:pt idx="192">
                  <c:v>44427</c:v>
                </c:pt>
                <c:pt idx="193">
                  <c:v>44468</c:v>
                </c:pt>
                <c:pt idx="194">
                  <c:v>44498</c:v>
                </c:pt>
                <c:pt idx="195">
                  <c:v>44512</c:v>
                </c:pt>
                <c:pt idx="196">
                  <c:v>44604</c:v>
                </c:pt>
                <c:pt idx="197">
                  <c:v>44640</c:v>
                </c:pt>
                <c:pt idx="198">
                  <c:v>44644</c:v>
                </c:pt>
                <c:pt idx="199">
                  <c:v>44781</c:v>
                </c:pt>
                <c:pt idx="200">
                  <c:v>44813</c:v>
                </c:pt>
                <c:pt idx="201">
                  <c:v>44976</c:v>
                </c:pt>
                <c:pt idx="202">
                  <c:v>44985</c:v>
                </c:pt>
                <c:pt idx="203">
                  <c:v>44991</c:v>
                </c:pt>
                <c:pt idx="204">
                  <c:v>45025</c:v>
                </c:pt>
                <c:pt idx="205">
                  <c:v>45036</c:v>
                </c:pt>
                <c:pt idx="206">
                  <c:v>45064</c:v>
                </c:pt>
                <c:pt idx="207">
                  <c:v>45099</c:v>
                </c:pt>
                <c:pt idx="208">
                  <c:v>45151</c:v>
                </c:pt>
                <c:pt idx="209">
                  <c:v>45354</c:v>
                </c:pt>
                <c:pt idx="210">
                  <c:v>45378</c:v>
                </c:pt>
                <c:pt idx="211">
                  <c:v>45389</c:v>
                </c:pt>
                <c:pt idx="212">
                  <c:v>45411</c:v>
                </c:pt>
                <c:pt idx="213">
                  <c:v>45421</c:v>
                </c:pt>
                <c:pt idx="214">
                  <c:v>45454</c:v>
                </c:pt>
                <c:pt idx="215">
                  <c:v>45500</c:v>
                </c:pt>
                <c:pt idx="216">
                  <c:v>45543</c:v>
                </c:pt>
                <c:pt idx="217">
                  <c:v>45577</c:v>
                </c:pt>
                <c:pt idx="218">
                  <c:v>45593</c:v>
                </c:pt>
                <c:pt idx="219">
                  <c:v>45606</c:v>
                </c:pt>
                <c:pt idx="220">
                  <c:v>45799</c:v>
                </c:pt>
                <c:pt idx="221">
                  <c:v>45846</c:v>
                </c:pt>
                <c:pt idx="222">
                  <c:v>45856</c:v>
                </c:pt>
                <c:pt idx="223">
                  <c:v>45873</c:v>
                </c:pt>
                <c:pt idx="224">
                  <c:v>45898</c:v>
                </c:pt>
                <c:pt idx="225">
                  <c:v>45954</c:v>
                </c:pt>
                <c:pt idx="226">
                  <c:v>45989</c:v>
                </c:pt>
                <c:pt idx="227">
                  <c:v>45998</c:v>
                </c:pt>
                <c:pt idx="228">
                  <c:v>46086</c:v>
                </c:pt>
                <c:pt idx="229">
                  <c:v>46092</c:v>
                </c:pt>
                <c:pt idx="230">
                  <c:v>46110</c:v>
                </c:pt>
                <c:pt idx="231">
                  <c:v>46116</c:v>
                </c:pt>
                <c:pt idx="232">
                  <c:v>46145</c:v>
                </c:pt>
                <c:pt idx="233">
                  <c:v>46165</c:v>
                </c:pt>
                <c:pt idx="234">
                  <c:v>46236</c:v>
                </c:pt>
                <c:pt idx="235">
                  <c:v>46238</c:v>
                </c:pt>
                <c:pt idx="236">
                  <c:v>46264</c:v>
                </c:pt>
                <c:pt idx="237">
                  <c:v>46440</c:v>
                </c:pt>
                <c:pt idx="238">
                  <c:v>46474</c:v>
                </c:pt>
                <c:pt idx="239">
                  <c:v>46541</c:v>
                </c:pt>
                <c:pt idx="240">
                  <c:v>46543</c:v>
                </c:pt>
                <c:pt idx="241">
                  <c:v>46543</c:v>
                </c:pt>
                <c:pt idx="242">
                  <c:v>46566</c:v>
                </c:pt>
                <c:pt idx="243">
                  <c:v>46573</c:v>
                </c:pt>
                <c:pt idx="244">
                  <c:v>46641</c:v>
                </c:pt>
                <c:pt idx="245">
                  <c:v>46643</c:v>
                </c:pt>
                <c:pt idx="246">
                  <c:v>46651</c:v>
                </c:pt>
                <c:pt idx="247">
                  <c:v>46660</c:v>
                </c:pt>
                <c:pt idx="248">
                  <c:v>46672</c:v>
                </c:pt>
                <c:pt idx="249">
                  <c:v>46700</c:v>
                </c:pt>
                <c:pt idx="250">
                  <c:v>46721</c:v>
                </c:pt>
                <c:pt idx="251">
                  <c:v>46744</c:v>
                </c:pt>
                <c:pt idx="252">
                  <c:v>46747</c:v>
                </c:pt>
                <c:pt idx="253">
                  <c:v>46789</c:v>
                </c:pt>
                <c:pt idx="254">
                  <c:v>46802</c:v>
                </c:pt>
                <c:pt idx="255">
                  <c:v>46827</c:v>
                </c:pt>
                <c:pt idx="256">
                  <c:v>46885</c:v>
                </c:pt>
                <c:pt idx="257">
                  <c:v>46938</c:v>
                </c:pt>
                <c:pt idx="258">
                  <c:v>46945</c:v>
                </c:pt>
                <c:pt idx="259">
                  <c:v>46989</c:v>
                </c:pt>
                <c:pt idx="260">
                  <c:v>47139</c:v>
                </c:pt>
                <c:pt idx="261">
                  <c:v>47195</c:v>
                </c:pt>
                <c:pt idx="262">
                  <c:v>47314</c:v>
                </c:pt>
                <c:pt idx="263">
                  <c:v>47327</c:v>
                </c:pt>
                <c:pt idx="264">
                  <c:v>47327</c:v>
                </c:pt>
                <c:pt idx="265">
                  <c:v>47361</c:v>
                </c:pt>
                <c:pt idx="266">
                  <c:v>47385</c:v>
                </c:pt>
                <c:pt idx="267">
                  <c:v>47397</c:v>
                </c:pt>
                <c:pt idx="268">
                  <c:v>47452</c:v>
                </c:pt>
                <c:pt idx="269">
                  <c:v>47482</c:v>
                </c:pt>
                <c:pt idx="270">
                  <c:v>47485</c:v>
                </c:pt>
                <c:pt idx="271">
                  <c:v>47485</c:v>
                </c:pt>
                <c:pt idx="272">
                  <c:v>47495</c:v>
                </c:pt>
                <c:pt idx="273">
                  <c:v>47540</c:v>
                </c:pt>
                <c:pt idx="274">
                  <c:v>47540</c:v>
                </c:pt>
                <c:pt idx="275">
                  <c:v>47590</c:v>
                </c:pt>
                <c:pt idx="276">
                  <c:v>47597</c:v>
                </c:pt>
                <c:pt idx="277">
                  <c:v>47756</c:v>
                </c:pt>
                <c:pt idx="278">
                  <c:v>47907</c:v>
                </c:pt>
                <c:pt idx="279">
                  <c:v>47913</c:v>
                </c:pt>
                <c:pt idx="280">
                  <c:v>47937</c:v>
                </c:pt>
                <c:pt idx="281">
                  <c:v>48036</c:v>
                </c:pt>
                <c:pt idx="282">
                  <c:v>48039</c:v>
                </c:pt>
                <c:pt idx="283">
                  <c:v>48040</c:v>
                </c:pt>
                <c:pt idx="284">
                  <c:v>48050</c:v>
                </c:pt>
                <c:pt idx="285">
                  <c:v>48057</c:v>
                </c:pt>
                <c:pt idx="286">
                  <c:v>48150</c:v>
                </c:pt>
                <c:pt idx="287">
                  <c:v>48179</c:v>
                </c:pt>
                <c:pt idx="288">
                  <c:v>48231</c:v>
                </c:pt>
                <c:pt idx="289">
                  <c:v>48296</c:v>
                </c:pt>
                <c:pt idx="290">
                  <c:v>48309</c:v>
                </c:pt>
                <c:pt idx="291">
                  <c:v>48364</c:v>
                </c:pt>
                <c:pt idx="292">
                  <c:v>48376</c:v>
                </c:pt>
                <c:pt idx="293">
                  <c:v>48382</c:v>
                </c:pt>
                <c:pt idx="294">
                  <c:v>48434</c:v>
                </c:pt>
                <c:pt idx="295">
                  <c:v>48440</c:v>
                </c:pt>
                <c:pt idx="296">
                  <c:v>48466</c:v>
                </c:pt>
                <c:pt idx="297">
                  <c:v>48473</c:v>
                </c:pt>
                <c:pt idx="298">
                  <c:v>48491</c:v>
                </c:pt>
                <c:pt idx="299">
                  <c:v>48555</c:v>
                </c:pt>
                <c:pt idx="300">
                  <c:v>48675</c:v>
                </c:pt>
                <c:pt idx="301">
                  <c:v>48684</c:v>
                </c:pt>
                <c:pt idx="302">
                  <c:v>48707</c:v>
                </c:pt>
                <c:pt idx="303">
                  <c:v>48712</c:v>
                </c:pt>
                <c:pt idx="304">
                  <c:v>48745</c:v>
                </c:pt>
                <c:pt idx="305">
                  <c:v>48779</c:v>
                </c:pt>
                <c:pt idx="306">
                  <c:v>48793</c:v>
                </c:pt>
                <c:pt idx="307">
                  <c:v>48860</c:v>
                </c:pt>
                <c:pt idx="308">
                  <c:v>48896</c:v>
                </c:pt>
                <c:pt idx="309">
                  <c:v>48899</c:v>
                </c:pt>
                <c:pt idx="310">
                  <c:v>48909</c:v>
                </c:pt>
                <c:pt idx="311">
                  <c:v>48917</c:v>
                </c:pt>
                <c:pt idx="312">
                  <c:v>48936</c:v>
                </c:pt>
                <c:pt idx="313">
                  <c:v>48991</c:v>
                </c:pt>
                <c:pt idx="314">
                  <c:v>48991</c:v>
                </c:pt>
                <c:pt idx="315">
                  <c:v>49006</c:v>
                </c:pt>
                <c:pt idx="316">
                  <c:v>49036</c:v>
                </c:pt>
                <c:pt idx="317">
                  <c:v>49130</c:v>
                </c:pt>
                <c:pt idx="318">
                  <c:v>49131</c:v>
                </c:pt>
                <c:pt idx="319">
                  <c:v>49156</c:v>
                </c:pt>
                <c:pt idx="320">
                  <c:v>49203</c:v>
                </c:pt>
                <c:pt idx="321">
                  <c:v>49232</c:v>
                </c:pt>
                <c:pt idx="322">
                  <c:v>49279</c:v>
                </c:pt>
                <c:pt idx="323">
                  <c:v>49295</c:v>
                </c:pt>
                <c:pt idx="324">
                  <c:v>49316</c:v>
                </c:pt>
                <c:pt idx="325">
                  <c:v>49351</c:v>
                </c:pt>
                <c:pt idx="326">
                  <c:v>49378</c:v>
                </c:pt>
                <c:pt idx="327">
                  <c:v>49416</c:v>
                </c:pt>
                <c:pt idx="328">
                  <c:v>49438</c:v>
                </c:pt>
                <c:pt idx="329">
                  <c:v>49483</c:v>
                </c:pt>
                <c:pt idx="330">
                  <c:v>49520</c:v>
                </c:pt>
                <c:pt idx="331">
                  <c:v>49547</c:v>
                </c:pt>
                <c:pt idx="332">
                  <c:v>49555</c:v>
                </c:pt>
                <c:pt idx="333">
                  <c:v>49584</c:v>
                </c:pt>
                <c:pt idx="334">
                  <c:v>49601</c:v>
                </c:pt>
                <c:pt idx="335">
                  <c:v>49641</c:v>
                </c:pt>
                <c:pt idx="336">
                  <c:v>49669</c:v>
                </c:pt>
                <c:pt idx="337">
                  <c:v>49694</c:v>
                </c:pt>
                <c:pt idx="338">
                  <c:v>49697</c:v>
                </c:pt>
                <c:pt idx="339">
                  <c:v>49705</c:v>
                </c:pt>
                <c:pt idx="340">
                  <c:v>49714</c:v>
                </c:pt>
                <c:pt idx="341">
                  <c:v>49716</c:v>
                </c:pt>
                <c:pt idx="342">
                  <c:v>49766</c:v>
                </c:pt>
                <c:pt idx="343">
                  <c:v>49802</c:v>
                </c:pt>
                <c:pt idx="344">
                  <c:v>49898</c:v>
                </c:pt>
                <c:pt idx="345">
                  <c:v>49956</c:v>
                </c:pt>
                <c:pt idx="346">
                  <c:v>50002</c:v>
                </c:pt>
                <c:pt idx="347">
                  <c:v>50004</c:v>
                </c:pt>
                <c:pt idx="348">
                  <c:v>50030</c:v>
                </c:pt>
                <c:pt idx="349">
                  <c:v>50074</c:v>
                </c:pt>
                <c:pt idx="350">
                  <c:v>50318</c:v>
                </c:pt>
                <c:pt idx="351">
                  <c:v>50323</c:v>
                </c:pt>
                <c:pt idx="352">
                  <c:v>50330</c:v>
                </c:pt>
                <c:pt idx="353">
                  <c:v>50369</c:v>
                </c:pt>
                <c:pt idx="354">
                  <c:v>50412</c:v>
                </c:pt>
                <c:pt idx="355">
                  <c:v>50416</c:v>
                </c:pt>
                <c:pt idx="356">
                  <c:v>50416</c:v>
                </c:pt>
                <c:pt idx="357">
                  <c:v>50417</c:v>
                </c:pt>
                <c:pt idx="358">
                  <c:v>50660</c:v>
                </c:pt>
                <c:pt idx="359">
                  <c:v>50755</c:v>
                </c:pt>
                <c:pt idx="360">
                  <c:v>50797</c:v>
                </c:pt>
                <c:pt idx="361">
                  <c:v>50876</c:v>
                </c:pt>
                <c:pt idx="362">
                  <c:v>50968</c:v>
                </c:pt>
                <c:pt idx="363">
                  <c:v>51006</c:v>
                </c:pt>
                <c:pt idx="364">
                  <c:v>51051</c:v>
                </c:pt>
                <c:pt idx="365">
                  <c:v>51110</c:v>
                </c:pt>
                <c:pt idx="366">
                  <c:v>51152</c:v>
                </c:pt>
                <c:pt idx="367">
                  <c:v>51165</c:v>
                </c:pt>
                <c:pt idx="368">
                  <c:v>51173</c:v>
                </c:pt>
                <c:pt idx="369">
                  <c:v>51190</c:v>
                </c:pt>
                <c:pt idx="370">
                  <c:v>51262</c:v>
                </c:pt>
                <c:pt idx="371">
                  <c:v>51303</c:v>
                </c:pt>
                <c:pt idx="372">
                  <c:v>51500</c:v>
                </c:pt>
                <c:pt idx="373">
                  <c:v>51504</c:v>
                </c:pt>
                <c:pt idx="374">
                  <c:v>51509</c:v>
                </c:pt>
                <c:pt idx="375">
                  <c:v>51516</c:v>
                </c:pt>
                <c:pt idx="376">
                  <c:v>51539</c:v>
                </c:pt>
                <c:pt idx="377">
                  <c:v>51540</c:v>
                </c:pt>
                <c:pt idx="378">
                  <c:v>51562</c:v>
                </c:pt>
                <c:pt idx="379">
                  <c:v>51584</c:v>
                </c:pt>
                <c:pt idx="380">
                  <c:v>51593</c:v>
                </c:pt>
                <c:pt idx="381">
                  <c:v>51612</c:v>
                </c:pt>
                <c:pt idx="382">
                  <c:v>51641</c:v>
                </c:pt>
                <c:pt idx="383">
                  <c:v>51642</c:v>
                </c:pt>
                <c:pt idx="384">
                  <c:v>51655</c:v>
                </c:pt>
                <c:pt idx="385">
                  <c:v>51673</c:v>
                </c:pt>
                <c:pt idx="386">
                  <c:v>51700</c:v>
                </c:pt>
                <c:pt idx="387">
                  <c:v>51719</c:v>
                </c:pt>
                <c:pt idx="388">
                  <c:v>51724</c:v>
                </c:pt>
                <c:pt idx="389">
                  <c:v>51732</c:v>
                </c:pt>
                <c:pt idx="390">
                  <c:v>51745</c:v>
                </c:pt>
                <c:pt idx="391">
                  <c:v>51748</c:v>
                </c:pt>
                <c:pt idx="392">
                  <c:v>51748</c:v>
                </c:pt>
                <c:pt idx="393">
                  <c:v>51819</c:v>
                </c:pt>
                <c:pt idx="394">
                  <c:v>51838</c:v>
                </c:pt>
                <c:pt idx="395">
                  <c:v>51892</c:v>
                </c:pt>
                <c:pt idx="396">
                  <c:v>51943</c:v>
                </c:pt>
                <c:pt idx="397">
                  <c:v>51943</c:v>
                </c:pt>
                <c:pt idx="398">
                  <c:v>52015</c:v>
                </c:pt>
                <c:pt idx="399">
                  <c:v>52055</c:v>
                </c:pt>
                <c:pt idx="400">
                  <c:v>52064</c:v>
                </c:pt>
                <c:pt idx="401">
                  <c:v>52074</c:v>
                </c:pt>
                <c:pt idx="402">
                  <c:v>52084</c:v>
                </c:pt>
                <c:pt idx="403">
                  <c:v>52113</c:v>
                </c:pt>
                <c:pt idx="404">
                  <c:v>52119</c:v>
                </c:pt>
                <c:pt idx="405">
                  <c:v>52163</c:v>
                </c:pt>
                <c:pt idx="406">
                  <c:v>52184</c:v>
                </c:pt>
                <c:pt idx="407">
                  <c:v>52198</c:v>
                </c:pt>
                <c:pt idx="408">
                  <c:v>52199</c:v>
                </c:pt>
                <c:pt idx="409">
                  <c:v>52228</c:v>
                </c:pt>
                <c:pt idx="410">
                  <c:v>52248</c:v>
                </c:pt>
                <c:pt idx="411">
                  <c:v>52341</c:v>
                </c:pt>
                <c:pt idx="412">
                  <c:v>52343</c:v>
                </c:pt>
                <c:pt idx="413">
                  <c:v>52374</c:v>
                </c:pt>
                <c:pt idx="414">
                  <c:v>52410</c:v>
                </c:pt>
                <c:pt idx="415">
                  <c:v>52415</c:v>
                </c:pt>
                <c:pt idx="416">
                  <c:v>52559</c:v>
                </c:pt>
                <c:pt idx="417">
                  <c:v>52575</c:v>
                </c:pt>
                <c:pt idx="418">
                  <c:v>52649</c:v>
                </c:pt>
                <c:pt idx="419">
                  <c:v>52766</c:v>
                </c:pt>
                <c:pt idx="420">
                  <c:v>52773</c:v>
                </c:pt>
                <c:pt idx="421">
                  <c:v>52788</c:v>
                </c:pt>
                <c:pt idx="422">
                  <c:v>52824</c:v>
                </c:pt>
                <c:pt idx="423">
                  <c:v>52873</c:v>
                </c:pt>
                <c:pt idx="424">
                  <c:v>52876</c:v>
                </c:pt>
                <c:pt idx="425">
                  <c:v>52889</c:v>
                </c:pt>
                <c:pt idx="426">
                  <c:v>52901</c:v>
                </c:pt>
                <c:pt idx="427">
                  <c:v>52927</c:v>
                </c:pt>
                <c:pt idx="428">
                  <c:v>52928</c:v>
                </c:pt>
                <c:pt idx="429">
                  <c:v>52946</c:v>
                </c:pt>
                <c:pt idx="430">
                  <c:v>53023</c:v>
                </c:pt>
                <c:pt idx="431">
                  <c:v>53038</c:v>
                </c:pt>
                <c:pt idx="432">
                  <c:v>53096</c:v>
                </c:pt>
                <c:pt idx="433">
                  <c:v>53124</c:v>
                </c:pt>
                <c:pt idx="434">
                  <c:v>53145</c:v>
                </c:pt>
                <c:pt idx="435">
                  <c:v>53175</c:v>
                </c:pt>
                <c:pt idx="436">
                  <c:v>53187</c:v>
                </c:pt>
                <c:pt idx="437">
                  <c:v>53213</c:v>
                </c:pt>
                <c:pt idx="438">
                  <c:v>53217</c:v>
                </c:pt>
                <c:pt idx="439">
                  <c:v>53260</c:v>
                </c:pt>
                <c:pt idx="440">
                  <c:v>53278</c:v>
                </c:pt>
                <c:pt idx="441">
                  <c:v>53313</c:v>
                </c:pt>
                <c:pt idx="442">
                  <c:v>53316</c:v>
                </c:pt>
                <c:pt idx="443">
                  <c:v>53353</c:v>
                </c:pt>
                <c:pt idx="444">
                  <c:v>53406</c:v>
                </c:pt>
                <c:pt idx="445">
                  <c:v>53409</c:v>
                </c:pt>
                <c:pt idx="446">
                  <c:v>53419</c:v>
                </c:pt>
                <c:pt idx="447">
                  <c:v>53453</c:v>
                </c:pt>
                <c:pt idx="448">
                  <c:v>53459</c:v>
                </c:pt>
                <c:pt idx="449">
                  <c:v>53460</c:v>
                </c:pt>
                <c:pt idx="450">
                  <c:v>53501</c:v>
                </c:pt>
                <c:pt idx="451">
                  <c:v>53565</c:v>
                </c:pt>
                <c:pt idx="452">
                  <c:v>53603</c:v>
                </c:pt>
                <c:pt idx="453">
                  <c:v>53610</c:v>
                </c:pt>
                <c:pt idx="454">
                  <c:v>53623</c:v>
                </c:pt>
                <c:pt idx="455">
                  <c:v>53723</c:v>
                </c:pt>
                <c:pt idx="456">
                  <c:v>53726</c:v>
                </c:pt>
                <c:pt idx="457">
                  <c:v>53728</c:v>
                </c:pt>
                <c:pt idx="458">
                  <c:v>53770</c:v>
                </c:pt>
                <c:pt idx="459">
                  <c:v>53787</c:v>
                </c:pt>
                <c:pt idx="460">
                  <c:v>53800</c:v>
                </c:pt>
                <c:pt idx="461">
                  <c:v>53804</c:v>
                </c:pt>
                <c:pt idx="462">
                  <c:v>53843</c:v>
                </c:pt>
                <c:pt idx="463">
                  <c:v>53844</c:v>
                </c:pt>
                <c:pt idx="464">
                  <c:v>53848</c:v>
                </c:pt>
                <c:pt idx="465">
                  <c:v>53861</c:v>
                </c:pt>
                <c:pt idx="466">
                  <c:v>53863</c:v>
                </c:pt>
                <c:pt idx="467">
                  <c:v>53907</c:v>
                </c:pt>
                <c:pt idx="468">
                  <c:v>53957</c:v>
                </c:pt>
                <c:pt idx="469">
                  <c:v>53990</c:v>
                </c:pt>
                <c:pt idx="470">
                  <c:v>54003</c:v>
                </c:pt>
                <c:pt idx="471">
                  <c:v>54053</c:v>
                </c:pt>
                <c:pt idx="472">
                  <c:v>54058</c:v>
                </c:pt>
                <c:pt idx="473">
                  <c:v>54064</c:v>
                </c:pt>
                <c:pt idx="474">
                  <c:v>54089</c:v>
                </c:pt>
                <c:pt idx="475">
                  <c:v>54122</c:v>
                </c:pt>
                <c:pt idx="476">
                  <c:v>54143</c:v>
                </c:pt>
                <c:pt idx="477">
                  <c:v>54271</c:v>
                </c:pt>
                <c:pt idx="478">
                  <c:v>54272</c:v>
                </c:pt>
                <c:pt idx="479">
                  <c:v>54311</c:v>
                </c:pt>
                <c:pt idx="480">
                  <c:v>54317</c:v>
                </c:pt>
                <c:pt idx="481">
                  <c:v>54338</c:v>
                </c:pt>
                <c:pt idx="482">
                  <c:v>54340</c:v>
                </c:pt>
                <c:pt idx="483">
                  <c:v>54400</c:v>
                </c:pt>
                <c:pt idx="484">
                  <c:v>54434</c:v>
                </c:pt>
                <c:pt idx="485">
                  <c:v>54475</c:v>
                </c:pt>
                <c:pt idx="486">
                  <c:v>54521</c:v>
                </c:pt>
                <c:pt idx="487">
                  <c:v>54655</c:v>
                </c:pt>
                <c:pt idx="488">
                  <c:v>54664</c:v>
                </c:pt>
                <c:pt idx="489">
                  <c:v>54705</c:v>
                </c:pt>
                <c:pt idx="490">
                  <c:v>54742</c:v>
                </c:pt>
                <c:pt idx="491">
                  <c:v>54771</c:v>
                </c:pt>
                <c:pt idx="492">
                  <c:v>54794</c:v>
                </c:pt>
                <c:pt idx="493">
                  <c:v>54820</c:v>
                </c:pt>
                <c:pt idx="494">
                  <c:v>54869</c:v>
                </c:pt>
                <c:pt idx="495">
                  <c:v>54886</c:v>
                </c:pt>
                <c:pt idx="496">
                  <c:v>54897</c:v>
                </c:pt>
                <c:pt idx="497">
                  <c:v>54902</c:v>
                </c:pt>
                <c:pt idx="498">
                  <c:v>54914</c:v>
                </c:pt>
                <c:pt idx="499">
                  <c:v>54914</c:v>
                </c:pt>
                <c:pt idx="500">
                  <c:v>54947</c:v>
                </c:pt>
                <c:pt idx="501">
                  <c:v>54951</c:v>
                </c:pt>
                <c:pt idx="502">
                  <c:v>55017</c:v>
                </c:pt>
                <c:pt idx="503">
                  <c:v>55031</c:v>
                </c:pt>
                <c:pt idx="504">
                  <c:v>55041</c:v>
                </c:pt>
                <c:pt idx="505">
                  <c:v>55045</c:v>
                </c:pt>
                <c:pt idx="506">
                  <c:v>55055</c:v>
                </c:pt>
                <c:pt idx="507">
                  <c:v>55204</c:v>
                </c:pt>
                <c:pt idx="508">
                  <c:v>55232</c:v>
                </c:pt>
                <c:pt idx="509">
                  <c:v>55294</c:v>
                </c:pt>
                <c:pt idx="510">
                  <c:v>55362</c:v>
                </c:pt>
                <c:pt idx="511">
                  <c:v>55376</c:v>
                </c:pt>
                <c:pt idx="512">
                  <c:v>55383</c:v>
                </c:pt>
                <c:pt idx="513">
                  <c:v>55396</c:v>
                </c:pt>
                <c:pt idx="514">
                  <c:v>55443</c:v>
                </c:pt>
                <c:pt idx="515">
                  <c:v>55494</c:v>
                </c:pt>
                <c:pt idx="516">
                  <c:v>55504</c:v>
                </c:pt>
                <c:pt idx="517">
                  <c:v>55541</c:v>
                </c:pt>
                <c:pt idx="518">
                  <c:v>55552</c:v>
                </c:pt>
                <c:pt idx="519">
                  <c:v>55552</c:v>
                </c:pt>
                <c:pt idx="520">
                  <c:v>55619</c:v>
                </c:pt>
                <c:pt idx="521">
                  <c:v>55624</c:v>
                </c:pt>
                <c:pt idx="522">
                  <c:v>55646</c:v>
                </c:pt>
                <c:pt idx="523">
                  <c:v>55660</c:v>
                </c:pt>
                <c:pt idx="524">
                  <c:v>55700</c:v>
                </c:pt>
                <c:pt idx="525">
                  <c:v>55736</c:v>
                </c:pt>
                <c:pt idx="526">
                  <c:v>55774</c:v>
                </c:pt>
                <c:pt idx="527">
                  <c:v>55789</c:v>
                </c:pt>
                <c:pt idx="528">
                  <c:v>55817</c:v>
                </c:pt>
                <c:pt idx="529">
                  <c:v>55838</c:v>
                </c:pt>
                <c:pt idx="530">
                  <c:v>55921</c:v>
                </c:pt>
                <c:pt idx="531">
                  <c:v>55930</c:v>
                </c:pt>
                <c:pt idx="532">
                  <c:v>55933</c:v>
                </c:pt>
                <c:pt idx="533">
                  <c:v>55961</c:v>
                </c:pt>
                <c:pt idx="534">
                  <c:v>55966</c:v>
                </c:pt>
                <c:pt idx="535">
                  <c:v>56075</c:v>
                </c:pt>
                <c:pt idx="536">
                  <c:v>56075</c:v>
                </c:pt>
                <c:pt idx="537">
                  <c:v>56132</c:v>
                </c:pt>
                <c:pt idx="538">
                  <c:v>56196</c:v>
                </c:pt>
                <c:pt idx="539">
                  <c:v>56201</c:v>
                </c:pt>
                <c:pt idx="540">
                  <c:v>56210</c:v>
                </c:pt>
                <c:pt idx="541">
                  <c:v>56257</c:v>
                </c:pt>
                <c:pt idx="542">
                  <c:v>56274</c:v>
                </c:pt>
                <c:pt idx="543">
                  <c:v>56309</c:v>
                </c:pt>
                <c:pt idx="544">
                  <c:v>56313</c:v>
                </c:pt>
                <c:pt idx="545">
                  <c:v>56380</c:v>
                </c:pt>
                <c:pt idx="546">
                  <c:v>56405</c:v>
                </c:pt>
                <c:pt idx="547">
                  <c:v>56458</c:v>
                </c:pt>
                <c:pt idx="548">
                  <c:v>56621</c:v>
                </c:pt>
                <c:pt idx="549">
                  <c:v>56733</c:v>
                </c:pt>
                <c:pt idx="550">
                  <c:v>56778</c:v>
                </c:pt>
                <c:pt idx="551">
                  <c:v>56807</c:v>
                </c:pt>
                <c:pt idx="552">
                  <c:v>56878</c:v>
                </c:pt>
                <c:pt idx="553">
                  <c:v>56878</c:v>
                </c:pt>
                <c:pt idx="554">
                  <c:v>56911</c:v>
                </c:pt>
                <c:pt idx="555">
                  <c:v>56918</c:v>
                </c:pt>
                <c:pt idx="556">
                  <c:v>56930</c:v>
                </c:pt>
                <c:pt idx="557">
                  <c:v>56950</c:v>
                </c:pt>
                <c:pt idx="558">
                  <c:v>56955</c:v>
                </c:pt>
                <c:pt idx="559">
                  <c:v>56996</c:v>
                </c:pt>
                <c:pt idx="560">
                  <c:v>57089</c:v>
                </c:pt>
                <c:pt idx="561">
                  <c:v>57103</c:v>
                </c:pt>
                <c:pt idx="562">
                  <c:v>57106</c:v>
                </c:pt>
                <c:pt idx="563">
                  <c:v>57125</c:v>
                </c:pt>
                <c:pt idx="564">
                  <c:v>57165</c:v>
                </c:pt>
                <c:pt idx="565">
                  <c:v>57165</c:v>
                </c:pt>
                <c:pt idx="566">
                  <c:v>57180</c:v>
                </c:pt>
                <c:pt idx="567">
                  <c:v>57214</c:v>
                </c:pt>
                <c:pt idx="568">
                  <c:v>57273</c:v>
                </c:pt>
                <c:pt idx="569">
                  <c:v>57273</c:v>
                </c:pt>
                <c:pt idx="570">
                  <c:v>57478</c:v>
                </c:pt>
                <c:pt idx="571">
                  <c:v>57529</c:v>
                </c:pt>
                <c:pt idx="572">
                  <c:v>57550</c:v>
                </c:pt>
                <c:pt idx="573">
                  <c:v>57556</c:v>
                </c:pt>
                <c:pt idx="574">
                  <c:v>57602</c:v>
                </c:pt>
                <c:pt idx="575">
                  <c:v>57673</c:v>
                </c:pt>
                <c:pt idx="576">
                  <c:v>57687</c:v>
                </c:pt>
                <c:pt idx="577">
                  <c:v>57815</c:v>
                </c:pt>
                <c:pt idx="578">
                  <c:v>57817</c:v>
                </c:pt>
                <c:pt idx="579">
                  <c:v>57949</c:v>
                </c:pt>
                <c:pt idx="580">
                  <c:v>58009</c:v>
                </c:pt>
                <c:pt idx="581">
                  <c:v>58047</c:v>
                </c:pt>
                <c:pt idx="582">
                  <c:v>58063</c:v>
                </c:pt>
                <c:pt idx="583">
                  <c:v>58099</c:v>
                </c:pt>
                <c:pt idx="584">
                  <c:v>58170</c:v>
                </c:pt>
                <c:pt idx="585">
                  <c:v>58285</c:v>
                </c:pt>
                <c:pt idx="586">
                  <c:v>58289</c:v>
                </c:pt>
                <c:pt idx="587">
                  <c:v>58289</c:v>
                </c:pt>
                <c:pt idx="588">
                  <c:v>58295</c:v>
                </c:pt>
                <c:pt idx="589">
                  <c:v>58316</c:v>
                </c:pt>
                <c:pt idx="590">
                  <c:v>58336</c:v>
                </c:pt>
                <c:pt idx="591">
                  <c:v>58336</c:v>
                </c:pt>
                <c:pt idx="592">
                  <c:v>58343</c:v>
                </c:pt>
                <c:pt idx="593">
                  <c:v>58354</c:v>
                </c:pt>
                <c:pt idx="594">
                  <c:v>58363</c:v>
                </c:pt>
                <c:pt idx="595">
                  <c:v>58375</c:v>
                </c:pt>
                <c:pt idx="596">
                  <c:v>58386</c:v>
                </c:pt>
                <c:pt idx="597">
                  <c:v>58418</c:v>
                </c:pt>
                <c:pt idx="598">
                  <c:v>58427</c:v>
                </c:pt>
                <c:pt idx="599">
                  <c:v>58433</c:v>
                </c:pt>
                <c:pt idx="600">
                  <c:v>58448</c:v>
                </c:pt>
                <c:pt idx="601">
                  <c:v>58469</c:v>
                </c:pt>
                <c:pt idx="602">
                  <c:v>58537</c:v>
                </c:pt>
                <c:pt idx="603">
                  <c:v>58561</c:v>
                </c:pt>
                <c:pt idx="604">
                  <c:v>58572</c:v>
                </c:pt>
                <c:pt idx="605">
                  <c:v>58656</c:v>
                </c:pt>
                <c:pt idx="606">
                  <c:v>58700</c:v>
                </c:pt>
                <c:pt idx="607">
                  <c:v>58709</c:v>
                </c:pt>
                <c:pt idx="608">
                  <c:v>58759</c:v>
                </c:pt>
                <c:pt idx="609">
                  <c:v>58799</c:v>
                </c:pt>
                <c:pt idx="610">
                  <c:v>58826</c:v>
                </c:pt>
                <c:pt idx="611">
                  <c:v>58829</c:v>
                </c:pt>
                <c:pt idx="612">
                  <c:v>58832</c:v>
                </c:pt>
                <c:pt idx="613">
                  <c:v>58845</c:v>
                </c:pt>
                <c:pt idx="614">
                  <c:v>58896</c:v>
                </c:pt>
                <c:pt idx="615">
                  <c:v>59045</c:v>
                </c:pt>
                <c:pt idx="616">
                  <c:v>59058</c:v>
                </c:pt>
                <c:pt idx="617">
                  <c:v>59159</c:v>
                </c:pt>
                <c:pt idx="618">
                  <c:v>59209</c:v>
                </c:pt>
                <c:pt idx="619">
                  <c:v>59217</c:v>
                </c:pt>
                <c:pt idx="620">
                  <c:v>59224</c:v>
                </c:pt>
                <c:pt idx="621">
                  <c:v>59268</c:v>
                </c:pt>
                <c:pt idx="622">
                  <c:v>59274</c:v>
                </c:pt>
                <c:pt idx="623">
                  <c:v>59282</c:v>
                </c:pt>
                <c:pt idx="624">
                  <c:v>59317</c:v>
                </c:pt>
                <c:pt idx="625">
                  <c:v>59354</c:v>
                </c:pt>
                <c:pt idx="626">
                  <c:v>59384</c:v>
                </c:pt>
                <c:pt idx="627">
                  <c:v>59436</c:v>
                </c:pt>
                <c:pt idx="628">
                  <c:v>59460</c:v>
                </c:pt>
                <c:pt idx="629">
                  <c:v>59483</c:v>
                </c:pt>
                <c:pt idx="630">
                  <c:v>59492</c:v>
                </c:pt>
                <c:pt idx="631">
                  <c:v>59498</c:v>
                </c:pt>
                <c:pt idx="632">
                  <c:v>59531</c:v>
                </c:pt>
                <c:pt idx="633">
                  <c:v>59541</c:v>
                </c:pt>
                <c:pt idx="634">
                  <c:v>59572</c:v>
                </c:pt>
                <c:pt idx="635">
                  <c:v>59593</c:v>
                </c:pt>
                <c:pt idx="636">
                  <c:v>59629</c:v>
                </c:pt>
                <c:pt idx="637">
                  <c:v>59728</c:v>
                </c:pt>
                <c:pt idx="638">
                  <c:v>59761</c:v>
                </c:pt>
                <c:pt idx="639">
                  <c:v>59764</c:v>
                </c:pt>
                <c:pt idx="640">
                  <c:v>59831</c:v>
                </c:pt>
                <c:pt idx="641">
                  <c:v>59841</c:v>
                </c:pt>
                <c:pt idx="642">
                  <c:v>59850</c:v>
                </c:pt>
                <c:pt idx="643">
                  <c:v>59871</c:v>
                </c:pt>
                <c:pt idx="644">
                  <c:v>59892</c:v>
                </c:pt>
                <c:pt idx="645">
                  <c:v>59908</c:v>
                </c:pt>
                <c:pt idx="646">
                  <c:v>59950</c:v>
                </c:pt>
                <c:pt idx="647">
                  <c:v>59982</c:v>
                </c:pt>
                <c:pt idx="648">
                  <c:v>59986</c:v>
                </c:pt>
                <c:pt idx="649">
                  <c:v>59986</c:v>
                </c:pt>
                <c:pt idx="650">
                  <c:v>59993</c:v>
                </c:pt>
                <c:pt idx="651">
                  <c:v>60123</c:v>
                </c:pt>
                <c:pt idx="652">
                  <c:v>60126</c:v>
                </c:pt>
                <c:pt idx="653">
                  <c:v>60144</c:v>
                </c:pt>
                <c:pt idx="654">
                  <c:v>60194</c:v>
                </c:pt>
                <c:pt idx="655">
                  <c:v>60327</c:v>
                </c:pt>
                <c:pt idx="656">
                  <c:v>60376</c:v>
                </c:pt>
                <c:pt idx="657">
                  <c:v>60583</c:v>
                </c:pt>
                <c:pt idx="658">
                  <c:v>60615</c:v>
                </c:pt>
                <c:pt idx="659">
                  <c:v>60663</c:v>
                </c:pt>
                <c:pt idx="660">
                  <c:v>60681</c:v>
                </c:pt>
                <c:pt idx="661">
                  <c:v>60787</c:v>
                </c:pt>
                <c:pt idx="662">
                  <c:v>60823</c:v>
                </c:pt>
                <c:pt idx="663">
                  <c:v>60883</c:v>
                </c:pt>
                <c:pt idx="664">
                  <c:v>60909</c:v>
                </c:pt>
                <c:pt idx="665">
                  <c:v>61012</c:v>
                </c:pt>
                <c:pt idx="666">
                  <c:v>61106</c:v>
                </c:pt>
                <c:pt idx="667">
                  <c:v>61107</c:v>
                </c:pt>
                <c:pt idx="668">
                  <c:v>61171</c:v>
                </c:pt>
                <c:pt idx="669">
                  <c:v>61289</c:v>
                </c:pt>
                <c:pt idx="670">
                  <c:v>61295</c:v>
                </c:pt>
                <c:pt idx="671">
                  <c:v>61296</c:v>
                </c:pt>
                <c:pt idx="672">
                  <c:v>61317</c:v>
                </c:pt>
                <c:pt idx="673">
                  <c:v>61389</c:v>
                </c:pt>
                <c:pt idx="674">
                  <c:v>61408</c:v>
                </c:pt>
                <c:pt idx="675">
                  <c:v>61462</c:v>
                </c:pt>
                <c:pt idx="676">
                  <c:v>61504</c:v>
                </c:pt>
                <c:pt idx="677">
                  <c:v>61511</c:v>
                </c:pt>
                <c:pt idx="678">
                  <c:v>61723</c:v>
                </c:pt>
                <c:pt idx="679">
                  <c:v>61772</c:v>
                </c:pt>
                <c:pt idx="680">
                  <c:v>61808</c:v>
                </c:pt>
                <c:pt idx="681">
                  <c:v>61824</c:v>
                </c:pt>
                <c:pt idx="682">
                  <c:v>61825</c:v>
                </c:pt>
                <c:pt idx="683">
                  <c:v>61860</c:v>
                </c:pt>
                <c:pt idx="684">
                  <c:v>61885</c:v>
                </c:pt>
                <c:pt idx="685">
                  <c:v>62069</c:v>
                </c:pt>
                <c:pt idx="686">
                  <c:v>62069</c:v>
                </c:pt>
                <c:pt idx="687">
                  <c:v>62079</c:v>
                </c:pt>
                <c:pt idx="688">
                  <c:v>62092</c:v>
                </c:pt>
                <c:pt idx="689">
                  <c:v>62101</c:v>
                </c:pt>
                <c:pt idx="690">
                  <c:v>62105</c:v>
                </c:pt>
                <c:pt idx="691">
                  <c:v>62105</c:v>
                </c:pt>
                <c:pt idx="692">
                  <c:v>62205</c:v>
                </c:pt>
                <c:pt idx="693">
                  <c:v>62208</c:v>
                </c:pt>
                <c:pt idx="694">
                  <c:v>62235</c:v>
                </c:pt>
                <c:pt idx="695">
                  <c:v>62381</c:v>
                </c:pt>
                <c:pt idx="696">
                  <c:v>62399</c:v>
                </c:pt>
                <c:pt idx="697">
                  <c:v>62621</c:v>
                </c:pt>
                <c:pt idx="698">
                  <c:v>62731</c:v>
                </c:pt>
                <c:pt idx="699">
                  <c:v>62830</c:v>
                </c:pt>
                <c:pt idx="700">
                  <c:v>62832</c:v>
                </c:pt>
                <c:pt idx="701">
                  <c:v>62860</c:v>
                </c:pt>
                <c:pt idx="702">
                  <c:v>62909</c:v>
                </c:pt>
                <c:pt idx="703">
                  <c:v>62927</c:v>
                </c:pt>
                <c:pt idx="704">
                  <c:v>62971</c:v>
                </c:pt>
                <c:pt idx="705">
                  <c:v>62972</c:v>
                </c:pt>
                <c:pt idx="706">
                  <c:v>63066</c:v>
                </c:pt>
                <c:pt idx="707">
                  <c:v>63191</c:v>
                </c:pt>
                <c:pt idx="708">
                  <c:v>63260</c:v>
                </c:pt>
                <c:pt idx="709">
                  <c:v>63268</c:v>
                </c:pt>
                <c:pt idx="710">
                  <c:v>63277</c:v>
                </c:pt>
                <c:pt idx="711">
                  <c:v>63446</c:v>
                </c:pt>
                <c:pt idx="712">
                  <c:v>63454</c:v>
                </c:pt>
                <c:pt idx="713">
                  <c:v>63494</c:v>
                </c:pt>
                <c:pt idx="714">
                  <c:v>63548</c:v>
                </c:pt>
                <c:pt idx="715">
                  <c:v>63646</c:v>
                </c:pt>
                <c:pt idx="716">
                  <c:v>63756</c:v>
                </c:pt>
                <c:pt idx="717">
                  <c:v>63764</c:v>
                </c:pt>
                <c:pt idx="718">
                  <c:v>63855</c:v>
                </c:pt>
                <c:pt idx="719">
                  <c:v>63878</c:v>
                </c:pt>
                <c:pt idx="720">
                  <c:v>63905</c:v>
                </c:pt>
                <c:pt idx="721">
                  <c:v>63926</c:v>
                </c:pt>
                <c:pt idx="722">
                  <c:v>63998</c:v>
                </c:pt>
                <c:pt idx="723">
                  <c:v>64027</c:v>
                </c:pt>
                <c:pt idx="724">
                  <c:v>64072</c:v>
                </c:pt>
                <c:pt idx="725">
                  <c:v>64249</c:v>
                </c:pt>
                <c:pt idx="726">
                  <c:v>64313</c:v>
                </c:pt>
                <c:pt idx="727">
                  <c:v>64506</c:v>
                </c:pt>
                <c:pt idx="728">
                  <c:v>64778</c:v>
                </c:pt>
                <c:pt idx="729">
                  <c:v>64873</c:v>
                </c:pt>
                <c:pt idx="730">
                  <c:v>64911</c:v>
                </c:pt>
                <c:pt idx="731">
                  <c:v>64973</c:v>
                </c:pt>
                <c:pt idx="732">
                  <c:v>65083</c:v>
                </c:pt>
                <c:pt idx="733">
                  <c:v>65222</c:v>
                </c:pt>
                <c:pt idx="734">
                  <c:v>65344</c:v>
                </c:pt>
                <c:pt idx="735">
                  <c:v>65464</c:v>
                </c:pt>
                <c:pt idx="736">
                  <c:v>65518</c:v>
                </c:pt>
                <c:pt idx="737">
                  <c:v>65543</c:v>
                </c:pt>
                <c:pt idx="738">
                  <c:v>65575</c:v>
                </c:pt>
                <c:pt idx="739">
                  <c:v>65590</c:v>
                </c:pt>
                <c:pt idx="740">
                  <c:v>65607</c:v>
                </c:pt>
                <c:pt idx="741">
                  <c:v>65668</c:v>
                </c:pt>
                <c:pt idx="742">
                  <c:v>65756</c:v>
                </c:pt>
                <c:pt idx="743">
                  <c:v>65793</c:v>
                </c:pt>
                <c:pt idx="744">
                  <c:v>65934</c:v>
                </c:pt>
                <c:pt idx="745">
                  <c:v>66099</c:v>
                </c:pt>
                <c:pt idx="746">
                  <c:v>66215</c:v>
                </c:pt>
                <c:pt idx="747">
                  <c:v>66240</c:v>
                </c:pt>
                <c:pt idx="748">
                  <c:v>66651</c:v>
                </c:pt>
                <c:pt idx="749">
                  <c:v>66677</c:v>
                </c:pt>
                <c:pt idx="750">
                  <c:v>66852</c:v>
                </c:pt>
                <c:pt idx="751">
                  <c:v>66942</c:v>
                </c:pt>
                <c:pt idx="752">
                  <c:v>66944</c:v>
                </c:pt>
                <c:pt idx="753">
                  <c:v>66990</c:v>
                </c:pt>
                <c:pt idx="754">
                  <c:v>67102</c:v>
                </c:pt>
                <c:pt idx="755">
                  <c:v>67145</c:v>
                </c:pt>
                <c:pt idx="756">
                  <c:v>67258</c:v>
                </c:pt>
                <c:pt idx="757">
                  <c:v>67416</c:v>
                </c:pt>
                <c:pt idx="758">
                  <c:v>67506</c:v>
                </c:pt>
                <c:pt idx="759">
                  <c:v>67516</c:v>
                </c:pt>
                <c:pt idx="760">
                  <c:v>67548</c:v>
                </c:pt>
                <c:pt idx="761">
                  <c:v>67589</c:v>
                </c:pt>
                <c:pt idx="762">
                  <c:v>67640</c:v>
                </c:pt>
                <c:pt idx="763">
                  <c:v>67705</c:v>
                </c:pt>
                <c:pt idx="764">
                  <c:v>67725</c:v>
                </c:pt>
                <c:pt idx="765">
                  <c:v>67753</c:v>
                </c:pt>
                <c:pt idx="766">
                  <c:v>67918</c:v>
                </c:pt>
                <c:pt idx="767">
                  <c:v>67991</c:v>
                </c:pt>
                <c:pt idx="768">
                  <c:v>68010</c:v>
                </c:pt>
                <c:pt idx="769">
                  <c:v>68140</c:v>
                </c:pt>
                <c:pt idx="770">
                  <c:v>68245</c:v>
                </c:pt>
                <c:pt idx="771">
                  <c:v>68424</c:v>
                </c:pt>
                <c:pt idx="772">
                  <c:v>68635</c:v>
                </c:pt>
                <c:pt idx="773">
                  <c:v>68712</c:v>
                </c:pt>
                <c:pt idx="774">
                  <c:v>68751</c:v>
                </c:pt>
                <c:pt idx="775">
                  <c:v>68831</c:v>
                </c:pt>
                <c:pt idx="776">
                  <c:v>68964</c:v>
                </c:pt>
                <c:pt idx="777">
                  <c:v>69039</c:v>
                </c:pt>
                <c:pt idx="778">
                  <c:v>69107</c:v>
                </c:pt>
                <c:pt idx="779">
                  <c:v>69151</c:v>
                </c:pt>
                <c:pt idx="780">
                  <c:v>69363</c:v>
                </c:pt>
                <c:pt idx="781">
                  <c:v>69498</c:v>
                </c:pt>
                <c:pt idx="782">
                  <c:v>69512</c:v>
                </c:pt>
                <c:pt idx="783">
                  <c:v>69571</c:v>
                </c:pt>
                <c:pt idx="784">
                  <c:v>69594</c:v>
                </c:pt>
                <c:pt idx="785">
                  <c:v>69952</c:v>
                </c:pt>
                <c:pt idx="786">
                  <c:v>70070</c:v>
                </c:pt>
                <c:pt idx="787">
                  <c:v>70080</c:v>
                </c:pt>
                <c:pt idx="788">
                  <c:v>70196</c:v>
                </c:pt>
                <c:pt idx="789">
                  <c:v>70204</c:v>
                </c:pt>
                <c:pt idx="790">
                  <c:v>70266</c:v>
                </c:pt>
                <c:pt idx="791">
                  <c:v>70378</c:v>
                </c:pt>
                <c:pt idx="792">
                  <c:v>70484</c:v>
                </c:pt>
                <c:pt idx="793">
                  <c:v>70527</c:v>
                </c:pt>
                <c:pt idx="794">
                  <c:v>70783</c:v>
                </c:pt>
                <c:pt idx="795">
                  <c:v>70871</c:v>
                </c:pt>
                <c:pt idx="796">
                  <c:v>70920</c:v>
                </c:pt>
                <c:pt idx="797">
                  <c:v>71030</c:v>
                </c:pt>
                <c:pt idx="798">
                  <c:v>71155</c:v>
                </c:pt>
                <c:pt idx="799">
                  <c:v>71353</c:v>
                </c:pt>
                <c:pt idx="800">
                  <c:v>71366</c:v>
                </c:pt>
                <c:pt idx="801">
                  <c:v>71517</c:v>
                </c:pt>
                <c:pt idx="802">
                  <c:v>71530</c:v>
                </c:pt>
                <c:pt idx="803">
                  <c:v>71668</c:v>
                </c:pt>
                <c:pt idx="804">
                  <c:v>71830</c:v>
                </c:pt>
                <c:pt idx="805">
                  <c:v>71901</c:v>
                </c:pt>
                <c:pt idx="806">
                  <c:v>71958</c:v>
                </c:pt>
                <c:pt idx="807">
                  <c:v>72105</c:v>
                </c:pt>
                <c:pt idx="808">
                  <c:v>72379</c:v>
                </c:pt>
                <c:pt idx="809">
                  <c:v>72690</c:v>
                </c:pt>
                <c:pt idx="810">
                  <c:v>72975</c:v>
                </c:pt>
                <c:pt idx="811">
                  <c:v>73157</c:v>
                </c:pt>
                <c:pt idx="812">
                  <c:v>73250</c:v>
                </c:pt>
                <c:pt idx="813">
                  <c:v>73371</c:v>
                </c:pt>
                <c:pt idx="814">
                  <c:v>73595</c:v>
                </c:pt>
                <c:pt idx="815">
                  <c:v>73721</c:v>
                </c:pt>
                <c:pt idx="816">
                  <c:v>73739</c:v>
                </c:pt>
                <c:pt idx="817">
                  <c:v>73897</c:v>
                </c:pt>
                <c:pt idx="818">
                  <c:v>73911</c:v>
                </c:pt>
                <c:pt idx="819">
                  <c:v>74360</c:v>
                </c:pt>
                <c:pt idx="820">
                  <c:v>74545</c:v>
                </c:pt>
                <c:pt idx="821">
                  <c:v>74652</c:v>
                </c:pt>
                <c:pt idx="822">
                  <c:v>74742</c:v>
                </c:pt>
                <c:pt idx="823">
                  <c:v>74895</c:v>
                </c:pt>
                <c:pt idx="824">
                  <c:v>75001</c:v>
                </c:pt>
                <c:pt idx="825">
                  <c:v>75059</c:v>
                </c:pt>
                <c:pt idx="826">
                  <c:v>75217</c:v>
                </c:pt>
                <c:pt idx="827">
                  <c:v>75272</c:v>
                </c:pt>
                <c:pt idx="828">
                  <c:v>75328</c:v>
                </c:pt>
                <c:pt idx="829">
                  <c:v>75482</c:v>
                </c:pt>
                <c:pt idx="830">
                  <c:v>75525</c:v>
                </c:pt>
                <c:pt idx="831">
                  <c:v>75537</c:v>
                </c:pt>
                <c:pt idx="832">
                  <c:v>75584</c:v>
                </c:pt>
                <c:pt idx="833">
                  <c:v>75701</c:v>
                </c:pt>
                <c:pt idx="834">
                  <c:v>75790</c:v>
                </c:pt>
                <c:pt idx="835">
                  <c:v>75951</c:v>
                </c:pt>
                <c:pt idx="836">
                  <c:v>76079</c:v>
                </c:pt>
                <c:pt idx="837">
                  <c:v>76124</c:v>
                </c:pt>
                <c:pt idx="838">
                  <c:v>76178</c:v>
                </c:pt>
                <c:pt idx="839">
                  <c:v>76310</c:v>
                </c:pt>
                <c:pt idx="840">
                  <c:v>76571</c:v>
                </c:pt>
                <c:pt idx="841">
                  <c:v>76786</c:v>
                </c:pt>
                <c:pt idx="842">
                  <c:v>77231</c:v>
                </c:pt>
                <c:pt idx="843">
                  <c:v>77235</c:v>
                </c:pt>
                <c:pt idx="844">
                  <c:v>77370</c:v>
                </c:pt>
                <c:pt idx="845">
                  <c:v>77449</c:v>
                </c:pt>
                <c:pt idx="846">
                  <c:v>77539</c:v>
                </c:pt>
                <c:pt idx="847">
                  <c:v>77644</c:v>
                </c:pt>
                <c:pt idx="848">
                  <c:v>77745</c:v>
                </c:pt>
                <c:pt idx="849">
                  <c:v>77779</c:v>
                </c:pt>
                <c:pt idx="850">
                  <c:v>77789</c:v>
                </c:pt>
                <c:pt idx="851">
                  <c:v>77819</c:v>
                </c:pt>
                <c:pt idx="852">
                  <c:v>78158</c:v>
                </c:pt>
                <c:pt idx="853">
                  <c:v>78257</c:v>
                </c:pt>
                <c:pt idx="854">
                  <c:v>78349</c:v>
                </c:pt>
                <c:pt idx="855">
                  <c:v>78354</c:v>
                </c:pt>
                <c:pt idx="856">
                  <c:v>78411</c:v>
                </c:pt>
                <c:pt idx="857">
                  <c:v>78445</c:v>
                </c:pt>
                <c:pt idx="858">
                  <c:v>78638</c:v>
                </c:pt>
                <c:pt idx="859">
                  <c:v>78812</c:v>
                </c:pt>
                <c:pt idx="860">
                  <c:v>78892</c:v>
                </c:pt>
                <c:pt idx="861">
                  <c:v>79042</c:v>
                </c:pt>
                <c:pt idx="862">
                  <c:v>79164</c:v>
                </c:pt>
                <c:pt idx="863">
                  <c:v>79966</c:v>
                </c:pt>
                <c:pt idx="864">
                  <c:v>80137</c:v>
                </c:pt>
                <c:pt idx="865">
                  <c:v>80257</c:v>
                </c:pt>
                <c:pt idx="866">
                  <c:v>80490</c:v>
                </c:pt>
                <c:pt idx="867">
                  <c:v>80516</c:v>
                </c:pt>
                <c:pt idx="868">
                  <c:v>80928</c:v>
                </c:pt>
                <c:pt idx="869">
                  <c:v>81400</c:v>
                </c:pt>
                <c:pt idx="870">
                  <c:v>82509</c:v>
                </c:pt>
                <c:pt idx="871">
                  <c:v>82592</c:v>
                </c:pt>
                <c:pt idx="872">
                  <c:v>82652</c:v>
                </c:pt>
                <c:pt idx="873">
                  <c:v>82721</c:v>
                </c:pt>
                <c:pt idx="874">
                  <c:v>82735</c:v>
                </c:pt>
                <c:pt idx="875">
                  <c:v>82804</c:v>
                </c:pt>
                <c:pt idx="876">
                  <c:v>82939</c:v>
                </c:pt>
                <c:pt idx="877">
                  <c:v>83214</c:v>
                </c:pt>
                <c:pt idx="878">
                  <c:v>83238</c:v>
                </c:pt>
                <c:pt idx="879">
                  <c:v>83759</c:v>
                </c:pt>
                <c:pt idx="880">
                  <c:v>83847</c:v>
                </c:pt>
                <c:pt idx="881">
                  <c:v>84131</c:v>
                </c:pt>
                <c:pt idx="882">
                  <c:v>84131</c:v>
                </c:pt>
                <c:pt idx="883">
                  <c:v>84131</c:v>
                </c:pt>
                <c:pt idx="884">
                  <c:v>84648</c:v>
                </c:pt>
                <c:pt idx="885">
                  <c:v>84713</c:v>
                </c:pt>
                <c:pt idx="886">
                  <c:v>84803</c:v>
                </c:pt>
                <c:pt idx="887">
                  <c:v>85035</c:v>
                </c:pt>
                <c:pt idx="888">
                  <c:v>85139</c:v>
                </c:pt>
                <c:pt idx="889">
                  <c:v>85569</c:v>
                </c:pt>
                <c:pt idx="890">
                  <c:v>86182</c:v>
                </c:pt>
                <c:pt idx="891">
                  <c:v>86316</c:v>
                </c:pt>
                <c:pt idx="892">
                  <c:v>86522</c:v>
                </c:pt>
                <c:pt idx="893">
                  <c:v>86881</c:v>
                </c:pt>
                <c:pt idx="894">
                  <c:v>87054</c:v>
                </c:pt>
                <c:pt idx="895">
                  <c:v>87555</c:v>
                </c:pt>
                <c:pt idx="896">
                  <c:v>87989</c:v>
                </c:pt>
                <c:pt idx="897">
                  <c:v>88604</c:v>
                </c:pt>
                <c:pt idx="898">
                  <c:v>88665</c:v>
                </c:pt>
                <c:pt idx="899">
                  <c:v>88794</c:v>
                </c:pt>
                <c:pt idx="900">
                  <c:v>89070</c:v>
                </c:pt>
                <c:pt idx="901">
                  <c:v>89363</c:v>
                </c:pt>
                <c:pt idx="902">
                  <c:v>89696</c:v>
                </c:pt>
                <c:pt idx="903">
                  <c:v>89718</c:v>
                </c:pt>
                <c:pt idx="904">
                  <c:v>89812</c:v>
                </c:pt>
                <c:pt idx="905">
                  <c:v>90008</c:v>
                </c:pt>
                <c:pt idx="906">
                  <c:v>90543</c:v>
                </c:pt>
                <c:pt idx="907">
                  <c:v>90779</c:v>
                </c:pt>
                <c:pt idx="908">
                  <c:v>90873</c:v>
                </c:pt>
                <c:pt idx="909">
                  <c:v>91410</c:v>
                </c:pt>
                <c:pt idx="910">
                  <c:v>91565</c:v>
                </c:pt>
                <c:pt idx="911">
                  <c:v>91885</c:v>
                </c:pt>
                <c:pt idx="912">
                  <c:v>92498</c:v>
                </c:pt>
                <c:pt idx="913">
                  <c:v>92538</c:v>
                </c:pt>
                <c:pt idx="914">
                  <c:v>92538</c:v>
                </c:pt>
                <c:pt idx="915">
                  <c:v>93487</c:v>
                </c:pt>
                <c:pt idx="916">
                  <c:v>93807</c:v>
                </c:pt>
                <c:pt idx="917">
                  <c:v>94810</c:v>
                </c:pt>
                <c:pt idx="918">
                  <c:v>94823</c:v>
                </c:pt>
                <c:pt idx="919">
                  <c:v>97434</c:v>
                </c:pt>
                <c:pt idx="920">
                  <c:v>97800</c:v>
                </c:pt>
                <c:pt idx="921">
                  <c:v>99980</c:v>
                </c:pt>
                <c:pt idx="922">
                  <c:v>100423</c:v>
                </c:pt>
                <c:pt idx="923">
                  <c:v>100533</c:v>
                </c:pt>
                <c:pt idx="924">
                  <c:v>101817</c:v>
                </c:pt>
                <c:pt idx="925">
                  <c:v>102051</c:v>
                </c:pt>
                <c:pt idx="926">
                  <c:v>102491</c:v>
                </c:pt>
                <c:pt idx="927">
                  <c:v>103470</c:v>
                </c:pt>
                <c:pt idx="928">
                  <c:v>103494</c:v>
                </c:pt>
                <c:pt idx="929">
                  <c:v>103937</c:v>
                </c:pt>
                <c:pt idx="930">
                  <c:v>104043</c:v>
                </c:pt>
                <c:pt idx="931">
                  <c:v>104736</c:v>
                </c:pt>
                <c:pt idx="932">
                  <c:v>105584</c:v>
                </c:pt>
                <c:pt idx="933">
                  <c:v>108772</c:v>
                </c:pt>
                <c:pt idx="934">
                  <c:v>109183</c:v>
                </c:pt>
                <c:pt idx="935">
                  <c:v>110066</c:v>
                </c:pt>
                <c:pt idx="936">
                  <c:v>111371</c:v>
                </c:pt>
                <c:pt idx="937">
                  <c:v>114862</c:v>
                </c:pt>
                <c:pt idx="938">
                  <c:v>120959</c:v>
                </c:pt>
                <c:pt idx="939">
                  <c:v>124080</c:v>
                </c:pt>
                <c:pt idx="940">
                  <c:v>128566</c:v>
                </c:pt>
                <c:pt idx="941">
                  <c:v>138687</c:v>
                </c:pt>
                <c:pt idx="942">
                  <c:v>143372</c:v>
                </c:pt>
              </c:numCache>
            </c:numRef>
          </c:yVal>
          <c:smooth val="0"/>
          <c:extLst>
            <c:ext xmlns:c16="http://schemas.microsoft.com/office/drawing/2014/chart" uri="{C3380CC4-5D6E-409C-BE32-E72D297353CC}">
              <c16:uniqueId val="{00000001-A6C2-4C08-9A2C-13704BF64019}"/>
            </c:ext>
          </c:extLst>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c:v>
                </c:pt>
                <c:pt idx="1">
                  <c:v>2789</c:v>
                </c:pt>
                <c:pt idx="2">
                  <c:v>7765</c:v>
                </c:pt>
                <c:pt idx="3">
                  <c:v>12675</c:v>
                </c:pt>
                <c:pt idx="4">
                  <c:v>10680</c:v>
                </c:pt>
                <c:pt idx="5">
                  <c:v>12945</c:v>
                </c:pt>
                <c:pt idx="6">
                  <c:v>10176</c:v>
                </c:pt>
                <c:pt idx="7">
                  <c:v>9922</c:v>
                </c:pt>
                <c:pt idx="8">
                  <c:v>10990</c:v>
                </c:pt>
                <c:pt idx="9">
                  <c:v>9686</c:v>
                </c:pt>
                <c:pt idx="10">
                  <c:v>5258</c:v>
                </c:pt>
                <c:pt idx="11">
                  <c:v>11504</c:v>
                </c:pt>
                <c:pt idx="12">
                  <c:v>13096</c:v>
                </c:pt>
                <c:pt idx="13">
                  <c:v>14810</c:v>
                </c:pt>
                <c:pt idx="14">
                  <c:v>8484</c:v>
                </c:pt>
                <c:pt idx="15">
                  <c:v>20435</c:v>
                </c:pt>
                <c:pt idx="16">
                  <c:v>6842</c:v>
                </c:pt>
                <c:pt idx="17">
                  <c:v>1807</c:v>
                </c:pt>
                <c:pt idx="18">
                  <c:v>12653</c:v>
                </c:pt>
                <c:pt idx="19">
                  <c:v>8767</c:v>
                </c:pt>
                <c:pt idx="20">
                  <c:v>9175</c:v>
                </c:pt>
                <c:pt idx="21">
                  <c:v>8598</c:v>
                </c:pt>
                <c:pt idx="22">
                  <c:v>8040</c:v>
                </c:pt>
                <c:pt idx="23">
                  <c:v>13265</c:v>
                </c:pt>
                <c:pt idx="24">
                  <c:v>7770</c:v>
                </c:pt>
                <c:pt idx="25">
                  <c:v>10338</c:v>
                </c:pt>
                <c:pt idx="26">
                  <c:v>3957</c:v>
                </c:pt>
                <c:pt idx="27">
                  <c:v>14287</c:v>
                </c:pt>
                <c:pt idx="28">
                  <c:v>7177</c:v>
                </c:pt>
                <c:pt idx="29">
                  <c:v>6440</c:v>
                </c:pt>
                <c:pt idx="30">
                  <c:v>1133</c:v>
                </c:pt>
                <c:pt idx="31">
                  <c:v>14265</c:v>
                </c:pt>
                <c:pt idx="32">
                  <c:v>8105</c:v>
                </c:pt>
                <c:pt idx="33">
                  <c:v>5364</c:v>
                </c:pt>
                <c:pt idx="34">
                  <c:v>8172</c:v>
                </c:pt>
                <c:pt idx="35">
                  <c:v>7276</c:v>
                </c:pt>
                <c:pt idx="36">
                  <c:v>12088</c:v>
                </c:pt>
                <c:pt idx="37">
                  <c:v>13684</c:v>
                </c:pt>
                <c:pt idx="38">
                  <c:v>18097</c:v>
                </c:pt>
                <c:pt idx="39">
                  <c:v>3815</c:v>
                </c:pt>
                <c:pt idx="40">
                  <c:v>4904</c:v>
                </c:pt>
                <c:pt idx="41">
                  <c:v>7469</c:v>
                </c:pt>
                <c:pt idx="42">
                  <c:v>12798</c:v>
                </c:pt>
                <c:pt idx="43">
                  <c:v>16590</c:v>
                </c:pt>
                <c:pt idx="44">
                  <c:v>23836</c:v>
                </c:pt>
                <c:pt idx="45">
                  <c:v>8889</c:v>
                </c:pt>
                <c:pt idx="46">
                  <c:v>8522</c:v>
                </c:pt>
                <c:pt idx="47">
                  <c:v>8471</c:v>
                </c:pt>
                <c:pt idx="48">
                  <c:v>14006</c:v>
                </c:pt>
                <c:pt idx="49">
                  <c:v>15261</c:v>
                </c:pt>
                <c:pt idx="50">
                  <c:v>19092</c:v>
                </c:pt>
                <c:pt idx="51">
                  <c:v>14381</c:v>
                </c:pt>
                <c:pt idx="52">
                  <c:v>4571</c:v>
                </c:pt>
                <c:pt idx="53">
                  <c:v>5203</c:v>
                </c:pt>
                <c:pt idx="54">
                  <c:v>3877</c:v>
                </c:pt>
                <c:pt idx="55">
                  <c:v>6364</c:v>
                </c:pt>
                <c:pt idx="56">
                  <c:v>10912</c:v>
                </c:pt>
                <c:pt idx="57">
                  <c:v>7892</c:v>
                </c:pt>
                <c:pt idx="58">
                  <c:v>5012</c:v>
                </c:pt>
                <c:pt idx="59">
                  <c:v>22356</c:v>
                </c:pt>
                <c:pt idx="60">
                  <c:v>10924</c:v>
                </c:pt>
                <c:pt idx="61">
                  <c:v>11139</c:v>
                </c:pt>
                <c:pt idx="62">
                  <c:v>9427</c:v>
                </c:pt>
                <c:pt idx="63">
                  <c:v>17621</c:v>
                </c:pt>
                <c:pt idx="64">
                  <c:v>11898</c:v>
                </c:pt>
                <c:pt idx="65">
                  <c:v>12361</c:v>
                </c:pt>
                <c:pt idx="66">
                  <c:v>7035</c:v>
                </c:pt>
                <c:pt idx="67">
                  <c:v>10574</c:v>
                </c:pt>
                <c:pt idx="68">
                  <c:v>19809</c:v>
                </c:pt>
                <c:pt idx="69">
                  <c:v>11225</c:v>
                </c:pt>
                <c:pt idx="70">
                  <c:v>12767</c:v>
                </c:pt>
                <c:pt idx="71">
                  <c:v>6135</c:v>
                </c:pt>
                <c:pt idx="72">
                  <c:v>8970</c:v>
                </c:pt>
                <c:pt idx="73">
                  <c:v>12970</c:v>
                </c:pt>
                <c:pt idx="74">
                  <c:v>13286</c:v>
                </c:pt>
                <c:pt idx="75">
                  <c:v>6624</c:v>
                </c:pt>
                <c:pt idx="76">
                  <c:v>13540</c:v>
                </c:pt>
                <c:pt idx="77">
                  <c:v>16527</c:v>
                </c:pt>
                <c:pt idx="78">
                  <c:v>7065</c:v>
                </c:pt>
                <c:pt idx="79">
                  <c:v>4128</c:v>
                </c:pt>
                <c:pt idx="80">
                  <c:v>14027</c:v>
                </c:pt>
                <c:pt idx="81">
                  <c:v>15363</c:v>
                </c:pt>
                <c:pt idx="82">
                  <c:v>1471</c:v>
                </c:pt>
                <c:pt idx="83">
                  <c:v>12366</c:v>
                </c:pt>
                <c:pt idx="84">
                  <c:v>12007</c:v>
                </c:pt>
                <c:pt idx="85">
                  <c:v>13251</c:v>
                </c:pt>
                <c:pt idx="86">
                  <c:v>9966</c:v>
                </c:pt>
                <c:pt idx="87">
                  <c:v>15796</c:v>
                </c:pt>
                <c:pt idx="88">
                  <c:v>12335</c:v>
                </c:pt>
                <c:pt idx="89">
                  <c:v>17683</c:v>
                </c:pt>
                <c:pt idx="90">
                  <c:v>15359</c:v>
                </c:pt>
                <c:pt idx="91">
                  <c:v>9862</c:v>
                </c:pt>
                <c:pt idx="92">
                  <c:v>15314</c:v>
                </c:pt>
                <c:pt idx="93">
                  <c:v>14977</c:v>
                </c:pt>
                <c:pt idx="94">
                  <c:v>6928</c:v>
                </c:pt>
                <c:pt idx="95">
                  <c:v>9793</c:v>
                </c:pt>
                <c:pt idx="96">
                  <c:v>16558</c:v>
                </c:pt>
                <c:pt idx="97">
                  <c:v>15939</c:v>
                </c:pt>
                <c:pt idx="98">
                  <c:v>15366</c:v>
                </c:pt>
                <c:pt idx="99">
                  <c:v>5130</c:v>
                </c:pt>
                <c:pt idx="100">
                  <c:v>20077</c:v>
                </c:pt>
                <c:pt idx="101">
                  <c:v>10260</c:v>
                </c:pt>
                <c:pt idx="102">
                  <c:v>7247</c:v>
                </c:pt>
                <c:pt idx="103">
                  <c:v>23405</c:v>
                </c:pt>
                <c:pt idx="104">
                  <c:v>11386</c:v>
                </c:pt>
                <c:pt idx="105">
                  <c:v>10990</c:v>
                </c:pt>
                <c:pt idx="106">
                  <c:v>12250</c:v>
                </c:pt>
                <c:pt idx="107">
                  <c:v>15882</c:v>
                </c:pt>
                <c:pt idx="108">
                  <c:v>7813</c:v>
                </c:pt>
                <c:pt idx="109">
                  <c:v>21708</c:v>
                </c:pt>
                <c:pt idx="110">
                  <c:v>10701</c:v>
                </c:pt>
                <c:pt idx="111">
                  <c:v>12684</c:v>
                </c:pt>
                <c:pt idx="112">
                  <c:v>10648</c:v>
                </c:pt>
                <c:pt idx="113">
                  <c:v>16524</c:v>
                </c:pt>
                <c:pt idx="114">
                  <c:v>9735</c:v>
                </c:pt>
                <c:pt idx="115">
                  <c:v>13739</c:v>
                </c:pt>
                <c:pt idx="116">
                  <c:v>10104</c:v>
                </c:pt>
                <c:pt idx="117">
                  <c:v>12980</c:v>
                </c:pt>
                <c:pt idx="118">
                  <c:v>13224</c:v>
                </c:pt>
                <c:pt idx="119">
                  <c:v>16857</c:v>
                </c:pt>
                <c:pt idx="120">
                  <c:v>10846</c:v>
                </c:pt>
                <c:pt idx="121">
                  <c:v>16784</c:v>
                </c:pt>
                <c:pt idx="122">
                  <c:v>13115</c:v>
                </c:pt>
                <c:pt idx="123">
                  <c:v>16039</c:v>
                </c:pt>
                <c:pt idx="124">
                  <c:v>15282</c:v>
                </c:pt>
                <c:pt idx="125">
                  <c:v>9096</c:v>
                </c:pt>
                <c:pt idx="126">
                  <c:v>15489</c:v>
                </c:pt>
                <c:pt idx="127">
                  <c:v>15983</c:v>
                </c:pt>
                <c:pt idx="128">
                  <c:v>7413</c:v>
                </c:pt>
                <c:pt idx="129">
                  <c:v>8653</c:v>
                </c:pt>
                <c:pt idx="130">
                  <c:v>8683</c:v>
                </c:pt>
                <c:pt idx="131">
                  <c:v>18701</c:v>
                </c:pt>
                <c:pt idx="132">
                  <c:v>8039</c:v>
                </c:pt>
                <c:pt idx="133">
                  <c:v>18913</c:v>
                </c:pt>
                <c:pt idx="134">
                  <c:v>14279</c:v>
                </c:pt>
                <c:pt idx="135">
                  <c:v>17248</c:v>
                </c:pt>
                <c:pt idx="136">
                  <c:v>24319</c:v>
                </c:pt>
                <c:pt idx="137">
                  <c:v>9210</c:v>
                </c:pt>
                <c:pt idx="138">
                  <c:v>13479</c:v>
                </c:pt>
                <c:pt idx="139">
                  <c:v>12710</c:v>
                </c:pt>
                <c:pt idx="140">
                  <c:v>11135</c:v>
                </c:pt>
                <c:pt idx="141">
                  <c:v>12542</c:v>
                </c:pt>
                <c:pt idx="142">
                  <c:v>13799</c:v>
                </c:pt>
                <c:pt idx="143">
                  <c:v>20787</c:v>
                </c:pt>
                <c:pt idx="144">
                  <c:v>13570</c:v>
                </c:pt>
                <c:pt idx="145">
                  <c:v>12170</c:v>
                </c:pt>
                <c:pt idx="146">
                  <c:v>12947</c:v>
                </c:pt>
                <c:pt idx="147">
                  <c:v>12997</c:v>
                </c:pt>
                <c:pt idx="148">
                  <c:v>15840</c:v>
                </c:pt>
                <c:pt idx="149">
                  <c:v>11641</c:v>
                </c:pt>
                <c:pt idx="150">
                  <c:v>12193</c:v>
                </c:pt>
                <c:pt idx="151">
                  <c:v>10999</c:v>
                </c:pt>
                <c:pt idx="152">
                  <c:v>14459</c:v>
                </c:pt>
                <c:pt idx="153">
                  <c:v>11040</c:v>
                </c:pt>
                <c:pt idx="154">
                  <c:v>15103</c:v>
                </c:pt>
                <c:pt idx="155">
                  <c:v>13171</c:v>
                </c:pt>
                <c:pt idx="156">
                  <c:v>14838</c:v>
                </c:pt>
                <c:pt idx="157">
                  <c:v>16511</c:v>
                </c:pt>
                <c:pt idx="158">
                  <c:v>15635</c:v>
                </c:pt>
                <c:pt idx="159">
                  <c:v>12411</c:v>
                </c:pt>
                <c:pt idx="160">
                  <c:v>17296</c:v>
                </c:pt>
                <c:pt idx="161">
                  <c:v>7502</c:v>
                </c:pt>
                <c:pt idx="162">
                  <c:v>12493</c:v>
                </c:pt>
                <c:pt idx="163">
                  <c:v>13154</c:v>
                </c:pt>
                <c:pt idx="164">
                  <c:v>9977</c:v>
                </c:pt>
                <c:pt idx="165">
                  <c:v>5718</c:v>
                </c:pt>
                <c:pt idx="166">
                  <c:v>13946</c:v>
                </c:pt>
                <c:pt idx="167">
                  <c:v>15911</c:v>
                </c:pt>
                <c:pt idx="168">
                  <c:v>8317</c:v>
                </c:pt>
                <c:pt idx="169">
                  <c:v>13466</c:v>
                </c:pt>
                <c:pt idx="170">
                  <c:v>16425</c:v>
                </c:pt>
                <c:pt idx="171">
                  <c:v>9032</c:v>
                </c:pt>
                <c:pt idx="172">
                  <c:v>12549</c:v>
                </c:pt>
                <c:pt idx="173">
                  <c:v>13606</c:v>
                </c:pt>
                <c:pt idx="174">
                  <c:v>11632</c:v>
                </c:pt>
                <c:pt idx="175">
                  <c:v>15360</c:v>
                </c:pt>
                <c:pt idx="176">
                  <c:v>13530</c:v>
                </c:pt>
                <c:pt idx="177">
                  <c:v>14085</c:v>
                </c:pt>
                <c:pt idx="178">
                  <c:v>8134</c:v>
                </c:pt>
                <c:pt idx="179">
                  <c:v>15343</c:v>
                </c:pt>
                <c:pt idx="180">
                  <c:v>13966</c:v>
                </c:pt>
                <c:pt idx="181">
                  <c:v>15931</c:v>
                </c:pt>
                <c:pt idx="182">
                  <c:v>7022</c:v>
                </c:pt>
                <c:pt idx="183">
                  <c:v>7888</c:v>
                </c:pt>
                <c:pt idx="184">
                  <c:v>16261</c:v>
                </c:pt>
                <c:pt idx="185">
                  <c:v>12923</c:v>
                </c:pt>
                <c:pt idx="186">
                  <c:v>15812</c:v>
                </c:pt>
                <c:pt idx="187">
                  <c:v>13171</c:v>
                </c:pt>
                <c:pt idx="188">
                  <c:v>13338</c:v>
                </c:pt>
                <c:pt idx="189">
                  <c:v>10740</c:v>
                </c:pt>
                <c:pt idx="190">
                  <c:v>15844</c:v>
                </c:pt>
                <c:pt idx="191">
                  <c:v>11456</c:v>
                </c:pt>
                <c:pt idx="192">
                  <c:v>11856</c:v>
                </c:pt>
                <c:pt idx="193">
                  <c:v>15268</c:v>
                </c:pt>
                <c:pt idx="194">
                  <c:v>13624</c:v>
                </c:pt>
                <c:pt idx="195">
                  <c:v>12384</c:v>
                </c:pt>
                <c:pt idx="196">
                  <c:v>16244</c:v>
                </c:pt>
                <c:pt idx="197">
                  <c:v>24022</c:v>
                </c:pt>
                <c:pt idx="198">
                  <c:v>7195</c:v>
                </c:pt>
                <c:pt idx="199">
                  <c:v>14656</c:v>
                </c:pt>
                <c:pt idx="200">
                  <c:v>16068</c:v>
                </c:pt>
                <c:pt idx="201">
                  <c:v>10965</c:v>
                </c:pt>
                <c:pt idx="202">
                  <c:v>6079</c:v>
                </c:pt>
                <c:pt idx="203">
                  <c:v>18309</c:v>
                </c:pt>
                <c:pt idx="204">
                  <c:v>3637</c:v>
                </c:pt>
                <c:pt idx="205">
                  <c:v>10873</c:v>
                </c:pt>
                <c:pt idx="206">
                  <c:v>12397</c:v>
                </c:pt>
                <c:pt idx="207">
                  <c:v>13787</c:v>
                </c:pt>
                <c:pt idx="208">
                  <c:v>12357</c:v>
                </c:pt>
                <c:pt idx="209">
                  <c:v>14246</c:v>
                </c:pt>
                <c:pt idx="210">
                  <c:v>13359</c:v>
                </c:pt>
                <c:pt idx="211">
                  <c:v>13557</c:v>
                </c:pt>
                <c:pt idx="212">
                  <c:v>17510</c:v>
                </c:pt>
                <c:pt idx="213">
                  <c:v>12019</c:v>
                </c:pt>
                <c:pt idx="214">
                  <c:v>10892</c:v>
                </c:pt>
                <c:pt idx="215">
                  <c:v>12569</c:v>
                </c:pt>
                <c:pt idx="216">
                  <c:v>17936</c:v>
                </c:pt>
                <c:pt idx="217">
                  <c:v>12822</c:v>
                </c:pt>
                <c:pt idx="218">
                  <c:v>9364</c:v>
                </c:pt>
                <c:pt idx="219">
                  <c:v>16732</c:v>
                </c:pt>
                <c:pt idx="220">
                  <c:v>8365</c:v>
                </c:pt>
                <c:pt idx="221">
                  <c:v>13910</c:v>
                </c:pt>
                <c:pt idx="222">
                  <c:v>11363</c:v>
                </c:pt>
                <c:pt idx="223">
                  <c:v>10945</c:v>
                </c:pt>
                <c:pt idx="224">
                  <c:v>5127</c:v>
                </c:pt>
                <c:pt idx="225">
                  <c:v>17648</c:v>
                </c:pt>
                <c:pt idx="226">
                  <c:v>13315</c:v>
                </c:pt>
                <c:pt idx="227">
                  <c:v>11081</c:v>
                </c:pt>
                <c:pt idx="228">
                  <c:v>15415</c:v>
                </c:pt>
                <c:pt idx="229">
                  <c:v>12664</c:v>
                </c:pt>
                <c:pt idx="230">
                  <c:v>14462</c:v>
                </c:pt>
                <c:pt idx="231">
                  <c:v>12786</c:v>
                </c:pt>
                <c:pt idx="232">
                  <c:v>12220</c:v>
                </c:pt>
                <c:pt idx="233">
                  <c:v>4831</c:v>
                </c:pt>
                <c:pt idx="234">
                  <c:v>14260</c:v>
                </c:pt>
                <c:pt idx="235">
                  <c:v>9366</c:v>
                </c:pt>
                <c:pt idx="236">
                  <c:v>15280</c:v>
                </c:pt>
                <c:pt idx="237">
                  <c:v>17613</c:v>
                </c:pt>
                <c:pt idx="238">
                  <c:v>3968</c:v>
                </c:pt>
                <c:pt idx="239">
                  <c:v>13596</c:v>
                </c:pt>
                <c:pt idx="240">
                  <c:v>16242</c:v>
                </c:pt>
                <c:pt idx="241">
                  <c:v>17148</c:v>
                </c:pt>
                <c:pt idx="242">
                  <c:v>15091</c:v>
                </c:pt>
                <c:pt idx="243">
                  <c:v>9823</c:v>
                </c:pt>
                <c:pt idx="244">
                  <c:v>8191</c:v>
                </c:pt>
                <c:pt idx="245">
                  <c:v>10462</c:v>
                </c:pt>
                <c:pt idx="246">
                  <c:v>11841</c:v>
                </c:pt>
                <c:pt idx="247">
                  <c:v>18212</c:v>
                </c:pt>
                <c:pt idx="248">
                  <c:v>15016</c:v>
                </c:pt>
                <c:pt idx="249">
                  <c:v>17997</c:v>
                </c:pt>
                <c:pt idx="250">
                  <c:v>15784</c:v>
                </c:pt>
                <c:pt idx="251">
                  <c:v>17249</c:v>
                </c:pt>
                <c:pt idx="252">
                  <c:v>6817</c:v>
                </c:pt>
                <c:pt idx="253">
                  <c:v>14985</c:v>
                </c:pt>
                <c:pt idx="254">
                  <c:v>13803</c:v>
                </c:pt>
                <c:pt idx="255">
                  <c:v>14092</c:v>
                </c:pt>
                <c:pt idx="256">
                  <c:v>19487</c:v>
                </c:pt>
                <c:pt idx="257">
                  <c:v>8837</c:v>
                </c:pt>
                <c:pt idx="258">
                  <c:v>9403</c:v>
                </c:pt>
                <c:pt idx="259">
                  <c:v>21057</c:v>
                </c:pt>
                <c:pt idx="260">
                  <c:v>13314</c:v>
                </c:pt>
                <c:pt idx="261">
                  <c:v>16804</c:v>
                </c:pt>
                <c:pt idx="262">
                  <c:v>7482</c:v>
                </c:pt>
                <c:pt idx="263">
                  <c:v>11772</c:v>
                </c:pt>
                <c:pt idx="264">
                  <c:v>14265</c:v>
                </c:pt>
                <c:pt idx="265">
                  <c:v>15291</c:v>
                </c:pt>
                <c:pt idx="266">
                  <c:v>12090</c:v>
                </c:pt>
                <c:pt idx="267">
                  <c:v>17595</c:v>
                </c:pt>
                <c:pt idx="268">
                  <c:v>13194</c:v>
                </c:pt>
                <c:pt idx="269">
                  <c:v>17225</c:v>
                </c:pt>
                <c:pt idx="270">
                  <c:v>21610</c:v>
                </c:pt>
                <c:pt idx="271">
                  <c:v>12703</c:v>
                </c:pt>
                <c:pt idx="272">
                  <c:v>15407</c:v>
                </c:pt>
                <c:pt idx="273">
                  <c:v>17237</c:v>
                </c:pt>
                <c:pt idx="274">
                  <c:v>14940</c:v>
                </c:pt>
                <c:pt idx="275">
                  <c:v>16836</c:v>
                </c:pt>
                <c:pt idx="276">
                  <c:v>15225</c:v>
                </c:pt>
                <c:pt idx="277">
                  <c:v>15301</c:v>
                </c:pt>
                <c:pt idx="278">
                  <c:v>19858</c:v>
                </c:pt>
                <c:pt idx="279">
                  <c:v>10775</c:v>
                </c:pt>
                <c:pt idx="280">
                  <c:v>12786</c:v>
                </c:pt>
                <c:pt idx="281">
                  <c:v>14559</c:v>
                </c:pt>
                <c:pt idx="282">
                  <c:v>10327</c:v>
                </c:pt>
                <c:pt idx="283">
                  <c:v>15327</c:v>
                </c:pt>
                <c:pt idx="284">
                  <c:v>14764</c:v>
                </c:pt>
                <c:pt idx="285">
                  <c:v>17760</c:v>
                </c:pt>
                <c:pt idx="286">
                  <c:v>14109</c:v>
                </c:pt>
                <c:pt idx="287">
                  <c:v>11864</c:v>
                </c:pt>
                <c:pt idx="288">
                  <c:v>11346</c:v>
                </c:pt>
                <c:pt idx="289">
                  <c:v>19066</c:v>
                </c:pt>
                <c:pt idx="290">
                  <c:v>16114</c:v>
                </c:pt>
                <c:pt idx="291">
                  <c:v>13369</c:v>
                </c:pt>
                <c:pt idx="292">
                  <c:v>25110</c:v>
                </c:pt>
                <c:pt idx="293">
                  <c:v>21637</c:v>
                </c:pt>
                <c:pt idx="294">
                  <c:v>11890</c:v>
                </c:pt>
                <c:pt idx="295">
                  <c:v>16053</c:v>
                </c:pt>
                <c:pt idx="296">
                  <c:v>19608</c:v>
                </c:pt>
                <c:pt idx="297">
                  <c:v>15071</c:v>
                </c:pt>
                <c:pt idx="298">
                  <c:v>20783</c:v>
                </c:pt>
                <c:pt idx="299">
                  <c:v>14068</c:v>
                </c:pt>
                <c:pt idx="300">
                  <c:v>7007</c:v>
                </c:pt>
                <c:pt idx="301">
                  <c:v>15267</c:v>
                </c:pt>
                <c:pt idx="302">
                  <c:v>22499</c:v>
                </c:pt>
                <c:pt idx="303">
                  <c:v>13297</c:v>
                </c:pt>
                <c:pt idx="304">
                  <c:v>12766</c:v>
                </c:pt>
                <c:pt idx="305">
                  <c:v>5579</c:v>
                </c:pt>
                <c:pt idx="306">
                  <c:v>10542</c:v>
                </c:pt>
                <c:pt idx="307">
                  <c:v>15273</c:v>
                </c:pt>
                <c:pt idx="308">
                  <c:v>14578</c:v>
                </c:pt>
                <c:pt idx="309">
                  <c:v>15261</c:v>
                </c:pt>
                <c:pt idx="310">
                  <c:v>21331</c:v>
                </c:pt>
                <c:pt idx="311">
                  <c:v>14262</c:v>
                </c:pt>
                <c:pt idx="312">
                  <c:v>17988</c:v>
                </c:pt>
                <c:pt idx="313">
                  <c:v>13441</c:v>
                </c:pt>
                <c:pt idx="314">
                  <c:v>14936</c:v>
                </c:pt>
                <c:pt idx="315">
                  <c:v>11676</c:v>
                </c:pt>
                <c:pt idx="316">
                  <c:v>12937</c:v>
                </c:pt>
                <c:pt idx="317">
                  <c:v>16404</c:v>
                </c:pt>
                <c:pt idx="318">
                  <c:v>15897</c:v>
                </c:pt>
                <c:pt idx="319">
                  <c:v>16481</c:v>
                </c:pt>
                <c:pt idx="320">
                  <c:v>11196</c:v>
                </c:pt>
                <c:pt idx="321">
                  <c:v>17887</c:v>
                </c:pt>
                <c:pt idx="322">
                  <c:v>14158</c:v>
                </c:pt>
                <c:pt idx="323">
                  <c:v>14054</c:v>
                </c:pt>
                <c:pt idx="324">
                  <c:v>8109</c:v>
                </c:pt>
                <c:pt idx="325">
                  <c:v>16353</c:v>
                </c:pt>
                <c:pt idx="326">
                  <c:v>18749</c:v>
                </c:pt>
                <c:pt idx="327">
                  <c:v>19298</c:v>
                </c:pt>
                <c:pt idx="328">
                  <c:v>12568</c:v>
                </c:pt>
                <c:pt idx="329">
                  <c:v>15788</c:v>
                </c:pt>
                <c:pt idx="330">
                  <c:v>14831</c:v>
                </c:pt>
                <c:pt idx="331">
                  <c:v>8624</c:v>
                </c:pt>
                <c:pt idx="332">
                  <c:v>25648</c:v>
                </c:pt>
                <c:pt idx="333">
                  <c:v>14638</c:v>
                </c:pt>
                <c:pt idx="334">
                  <c:v>20109</c:v>
                </c:pt>
                <c:pt idx="335">
                  <c:v>15014</c:v>
                </c:pt>
                <c:pt idx="336">
                  <c:v>10359</c:v>
                </c:pt>
                <c:pt idx="337">
                  <c:v>20857</c:v>
                </c:pt>
                <c:pt idx="338">
                  <c:v>19841</c:v>
                </c:pt>
                <c:pt idx="339">
                  <c:v>10809</c:v>
                </c:pt>
                <c:pt idx="340">
                  <c:v>11286</c:v>
                </c:pt>
                <c:pt idx="341">
                  <c:v>28384</c:v>
                </c:pt>
                <c:pt idx="342">
                  <c:v>15739</c:v>
                </c:pt>
                <c:pt idx="343">
                  <c:v>15901</c:v>
                </c:pt>
                <c:pt idx="344">
                  <c:v>11668</c:v>
                </c:pt>
                <c:pt idx="345">
                  <c:v>20787</c:v>
                </c:pt>
                <c:pt idx="346">
                  <c:v>14158</c:v>
                </c:pt>
                <c:pt idx="347">
                  <c:v>6376</c:v>
                </c:pt>
                <c:pt idx="348">
                  <c:v>16715</c:v>
                </c:pt>
                <c:pt idx="349">
                  <c:v>14305</c:v>
                </c:pt>
                <c:pt idx="350">
                  <c:v>10051</c:v>
                </c:pt>
                <c:pt idx="351">
                  <c:v>11656</c:v>
                </c:pt>
                <c:pt idx="352">
                  <c:v>18952</c:v>
                </c:pt>
                <c:pt idx="353">
                  <c:v>13529</c:v>
                </c:pt>
                <c:pt idx="354">
                  <c:v>17597</c:v>
                </c:pt>
                <c:pt idx="355">
                  <c:v>9197</c:v>
                </c:pt>
                <c:pt idx="356">
                  <c:v>9337</c:v>
                </c:pt>
                <c:pt idx="357">
                  <c:v>15634</c:v>
                </c:pt>
                <c:pt idx="358">
                  <c:v>12723</c:v>
                </c:pt>
                <c:pt idx="359">
                  <c:v>16317</c:v>
                </c:pt>
                <c:pt idx="360">
                  <c:v>18134</c:v>
                </c:pt>
                <c:pt idx="361">
                  <c:v>3203</c:v>
                </c:pt>
                <c:pt idx="362">
                  <c:v>12780</c:v>
                </c:pt>
                <c:pt idx="363">
                  <c:v>10258</c:v>
                </c:pt>
                <c:pt idx="364">
                  <c:v>11430</c:v>
                </c:pt>
                <c:pt idx="365">
                  <c:v>9478</c:v>
                </c:pt>
                <c:pt idx="366">
                  <c:v>10154</c:v>
                </c:pt>
                <c:pt idx="367">
                  <c:v>14889</c:v>
                </c:pt>
                <c:pt idx="368">
                  <c:v>23726</c:v>
                </c:pt>
                <c:pt idx="369">
                  <c:v>17156</c:v>
                </c:pt>
                <c:pt idx="370">
                  <c:v>18960</c:v>
                </c:pt>
                <c:pt idx="371">
                  <c:v>21067</c:v>
                </c:pt>
                <c:pt idx="372">
                  <c:v>11963</c:v>
                </c:pt>
                <c:pt idx="373">
                  <c:v>15996</c:v>
                </c:pt>
                <c:pt idx="374">
                  <c:v>8752</c:v>
                </c:pt>
                <c:pt idx="375">
                  <c:v>13599</c:v>
                </c:pt>
                <c:pt idx="376">
                  <c:v>17747</c:v>
                </c:pt>
                <c:pt idx="377">
                  <c:v>16805</c:v>
                </c:pt>
                <c:pt idx="378">
                  <c:v>19139</c:v>
                </c:pt>
                <c:pt idx="379">
                  <c:v>4456</c:v>
                </c:pt>
                <c:pt idx="380">
                  <c:v>15649</c:v>
                </c:pt>
                <c:pt idx="381">
                  <c:v>13323</c:v>
                </c:pt>
                <c:pt idx="382">
                  <c:v>9833</c:v>
                </c:pt>
                <c:pt idx="383">
                  <c:v>10836</c:v>
                </c:pt>
                <c:pt idx="384">
                  <c:v>8615</c:v>
                </c:pt>
                <c:pt idx="385">
                  <c:v>12447</c:v>
                </c:pt>
                <c:pt idx="386">
                  <c:v>19406</c:v>
                </c:pt>
                <c:pt idx="387">
                  <c:v>15435</c:v>
                </c:pt>
                <c:pt idx="388">
                  <c:v>19216</c:v>
                </c:pt>
                <c:pt idx="389">
                  <c:v>16721</c:v>
                </c:pt>
                <c:pt idx="390">
                  <c:v>17447</c:v>
                </c:pt>
                <c:pt idx="391">
                  <c:v>16383</c:v>
                </c:pt>
                <c:pt idx="392">
                  <c:v>15048</c:v>
                </c:pt>
                <c:pt idx="393">
                  <c:v>16236</c:v>
                </c:pt>
                <c:pt idx="394">
                  <c:v>20670</c:v>
                </c:pt>
                <c:pt idx="395">
                  <c:v>15664</c:v>
                </c:pt>
                <c:pt idx="396">
                  <c:v>9812</c:v>
                </c:pt>
                <c:pt idx="397">
                  <c:v>18745</c:v>
                </c:pt>
                <c:pt idx="398">
                  <c:v>13391</c:v>
                </c:pt>
                <c:pt idx="399">
                  <c:v>13886</c:v>
                </c:pt>
                <c:pt idx="400">
                  <c:v>9552</c:v>
                </c:pt>
                <c:pt idx="401">
                  <c:v>3148</c:v>
                </c:pt>
                <c:pt idx="402">
                  <c:v>12212</c:v>
                </c:pt>
                <c:pt idx="403">
                  <c:v>18809</c:v>
                </c:pt>
                <c:pt idx="404">
                  <c:v>17490</c:v>
                </c:pt>
                <c:pt idx="405">
                  <c:v>23433</c:v>
                </c:pt>
                <c:pt idx="406">
                  <c:v>20686</c:v>
                </c:pt>
                <c:pt idx="407">
                  <c:v>12329</c:v>
                </c:pt>
                <c:pt idx="408">
                  <c:v>18209</c:v>
                </c:pt>
                <c:pt idx="409">
                  <c:v>10411</c:v>
                </c:pt>
                <c:pt idx="410">
                  <c:v>11282</c:v>
                </c:pt>
                <c:pt idx="411">
                  <c:v>17503</c:v>
                </c:pt>
                <c:pt idx="412">
                  <c:v>16550</c:v>
                </c:pt>
                <c:pt idx="413">
                  <c:v>16857</c:v>
                </c:pt>
                <c:pt idx="414">
                  <c:v>9120</c:v>
                </c:pt>
                <c:pt idx="415">
                  <c:v>15563</c:v>
                </c:pt>
                <c:pt idx="416">
                  <c:v>5652</c:v>
                </c:pt>
                <c:pt idx="417">
                  <c:v>18851</c:v>
                </c:pt>
                <c:pt idx="418">
                  <c:v>7021</c:v>
                </c:pt>
                <c:pt idx="419">
                  <c:v>17604</c:v>
                </c:pt>
                <c:pt idx="420">
                  <c:v>3967</c:v>
                </c:pt>
                <c:pt idx="421">
                  <c:v>22420</c:v>
                </c:pt>
                <c:pt idx="422">
                  <c:v>13663</c:v>
                </c:pt>
                <c:pt idx="423">
                  <c:v>13310</c:v>
                </c:pt>
                <c:pt idx="424">
                  <c:v>9492</c:v>
                </c:pt>
                <c:pt idx="425">
                  <c:v>4564</c:v>
                </c:pt>
                <c:pt idx="426">
                  <c:v>16674</c:v>
                </c:pt>
                <c:pt idx="427">
                  <c:v>22408</c:v>
                </c:pt>
                <c:pt idx="428">
                  <c:v>18441</c:v>
                </c:pt>
                <c:pt idx="429">
                  <c:v>22345</c:v>
                </c:pt>
                <c:pt idx="430">
                  <c:v>9288</c:v>
                </c:pt>
                <c:pt idx="431">
                  <c:v>18976</c:v>
                </c:pt>
                <c:pt idx="432">
                  <c:v>16210</c:v>
                </c:pt>
                <c:pt idx="433">
                  <c:v>19158</c:v>
                </c:pt>
                <c:pt idx="434">
                  <c:v>11488</c:v>
                </c:pt>
                <c:pt idx="435">
                  <c:v>12940</c:v>
                </c:pt>
                <c:pt idx="436">
                  <c:v>14767</c:v>
                </c:pt>
                <c:pt idx="437">
                  <c:v>16197</c:v>
                </c:pt>
                <c:pt idx="438">
                  <c:v>17339</c:v>
                </c:pt>
                <c:pt idx="439">
                  <c:v>23015</c:v>
                </c:pt>
                <c:pt idx="440">
                  <c:v>21279</c:v>
                </c:pt>
                <c:pt idx="441">
                  <c:v>20667</c:v>
                </c:pt>
                <c:pt idx="442">
                  <c:v>15927</c:v>
                </c:pt>
                <c:pt idx="443">
                  <c:v>13381</c:v>
                </c:pt>
                <c:pt idx="444">
                  <c:v>3103</c:v>
                </c:pt>
                <c:pt idx="445">
                  <c:v>7000</c:v>
                </c:pt>
                <c:pt idx="446">
                  <c:v>19151</c:v>
                </c:pt>
                <c:pt idx="447">
                  <c:v>23331</c:v>
                </c:pt>
                <c:pt idx="448">
                  <c:v>22182</c:v>
                </c:pt>
                <c:pt idx="449">
                  <c:v>13868</c:v>
                </c:pt>
                <c:pt idx="450">
                  <c:v>15566</c:v>
                </c:pt>
                <c:pt idx="451">
                  <c:v>28014</c:v>
                </c:pt>
                <c:pt idx="452">
                  <c:v>17743</c:v>
                </c:pt>
                <c:pt idx="453">
                  <c:v>18476</c:v>
                </c:pt>
                <c:pt idx="454">
                  <c:v>11297</c:v>
                </c:pt>
                <c:pt idx="455">
                  <c:v>16032</c:v>
                </c:pt>
                <c:pt idx="456">
                  <c:v>18796</c:v>
                </c:pt>
                <c:pt idx="457">
                  <c:v>18059</c:v>
                </c:pt>
                <c:pt idx="458">
                  <c:v>19398</c:v>
                </c:pt>
                <c:pt idx="459">
                  <c:v>9849</c:v>
                </c:pt>
                <c:pt idx="460">
                  <c:v>22811</c:v>
                </c:pt>
                <c:pt idx="461">
                  <c:v>15543</c:v>
                </c:pt>
                <c:pt idx="462">
                  <c:v>14276</c:v>
                </c:pt>
                <c:pt idx="463">
                  <c:v>19070</c:v>
                </c:pt>
                <c:pt idx="464">
                  <c:v>19343</c:v>
                </c:pt>
                <c:pt idx="465">
                  <c:v>21193</c:v>
                </c:pt>
                <c:pt idx="466">
                  <c:v>18743</c:v>
                </c:pt>
                <c:pt idx="467">
                  <c:v>14967</c:v>
                </c:pt>
                <c:pt idx="468">
                  <c:v>19095</c:v>
                </c:pt>
                <c:pt idx="469">
                  <c:v>4195</c:v>
                </c:pt>
                <c:pt idx="470">
                  <c:v>10229</c:v>
                </c:pt>
                <c:pt idx="471">
                  <c:v>6555</c:v>
                </c:pt>
                <c:pt idx="472">
                  <c:v>15300</c:v>
                </c:pt>
                <c:pt idx="473">
                  <c:v>2984</c:v>
                </c:pt>
                <c:pt idx="474">
                  <c:v>6067</c:v>
                </c:pt>
                <c:pt idx="475">
                  <c:v>13951</c:v>
                </c:pt>
                <c:pt idx="476">
                  <c:v>18589</c:v>
                </c:pt>
                <c:pt idx="477">
                  <c:v>20268</c:v>
                </c:pt>
                <c:pt idx="478">
                  <c:v>8370</c:v>
                </c:pt>
                <c:pt idx="479">
                  <c:v>18551</c:v>
                </c:pt>
                <c:pt idx="480">
                  <c:v>28198</c:v>
                </c:pt>
                <c:pt idx="481">
                  <c:v>16264</c:v>
                </c:pt>
                <c:pt idx="482">
                  <c:v>19604</c:v>
                </c:pt>
                <c:pt idx="483">
                  <c:v>14480</c:v>
                </c:pt>
                <c:pt idx="484">
                  <c:v>15815</c:v>
                </c:pt>
                <c:pt idx="485">
                  <c:v>11900</c:v>
                </c:pt>
                <c:pt idx="486">
                  <c:v>14164</c:v>
                </c:pt>
                <c:pt idx="487">
                  <c:v>11983</c:v>
                </c:pt>
                <c:pt idx="488">
                  <c:v>17413</c:v>
                </c:pt>
                <c:pt idx="489">
                  <c:v>10440</c:v>
                </c:pt>
                <c:pt idx="490">
                  <c:v>16863</c:v>
                </c:pt>
                <c:pt idx="491">
                  <c:v>22531</c:v>
                </c:pt>
                <c:pt idx="492">
                  <c:v>17163</c:v>
                </c:pt>
                <c:pt idx="493">
                  <c:v>9338</c:v>
                </c:pt>
                <c:pt idx="494">
                  <c:v>15364</c:v>
                </c:pt>
                <c:pt idx="495">
                  <c:v>22063</c:v>
                </c:pt>
                <c:pt idx="496">
                  <c:v>24323</c:v>
                </c:pt>
                <c:pt idx="497">
                  <c:v>32654</c:v>
                </c:pt>
                <c:pt idx="498">
                  <c:v>17707</c:v>
                </c:pt>
                <c:pt idx="499">
                  <c:v>12885</c:v>
                </c:pt>
                <c:pt idx="500">
                  <c:v>3776</c:v>
                </c:pt>
                <c:pt idx="501">
                  <c:v>15350</c:v>
                </c:pt>
                <c:pt idx="502">
                  <c:v>17945</c:v>
                </c:pt>
                <c:pt idx="503">
                  <c:v>18202</c:v>
                </c:pt>
                <c:pt idx="504">
                  <c:v>30434</c:v>
                </c:pt>
                <c:pt idx="505">
                  <c:v>9992</c:v>
                </c:pt>
                <c:pt idx="506">
                  <c:v>10864</c:v>
                </c:pt>
                <c:pt idx="507">
                  <c:v>23805</c:v>
                </c:pt>
                <c:pt idx="508">
                  <c:v>16200</c:v>
                </c:pt>
                <c:pt idx="509">
                  <c:v>19680</c:v>
                </c:pt>
                <c:pt idx="510">
                  <c:v>18211</c:v>
                </c:pt>
                <c:pt idx="511">
                  <c:v>18173</c:v>
                </c:pt>
                <c:pt idx="512">
                  <c:v>14304</c:v>
                </c:pt>
                <c:pt idx="513">
                  <c:v>17167</c:v>
                </c:pt>
                <c:pt idx="514">
                  <c:v>12278</c:v>
                </c:pt>
                <c:pt idx="515">
                  <c:v>18267</c:v>
                </c:pt>
                <c:pt idx="516">
                  <c:v>17890</c:v>
                </c:pt>
                <c:pt idx="517">
                  <c:v>13936</c:v>
                </c:pt>
                <c:pt idx="518">
                  <c:v>10974</c:v>
                </c:pt>
                <c:pt idx="519">
                  <c:v>17303</c:v>
                </c:pt>
                <c:pt idx="520">
                  <c:v>20927</c:v>
                </c:pt>
                <c:pt idx="521">
                  <c:v>14971</c:v>
                </c:pt>
                <c:pt idx="522">
                  <c:v>16778</c:v>
                </c:pt>
                <c:pt idx="523">
                  <c:v>25346</c:v>
                </c:pt>
                <c:pt idx="524">
                  <c:v>21440</c:v>
                </c:pt>
                <c:pt idx="525">
                  <c:v>10867</c:v>
                </c:pt>
                <c:pt idx="526">
                  <c:v>23322</c:v>
                </c:pt>
                <c:pt idx="527">
                  <c:v>16467</c:v>
                </c:pt>
                <c:pt idx="528">
                  <c:v>20995</c:v>
                </c:pt>
                <c:pt idx="529">
                  <c:v>9320</c:v>
                </c:pt>
                <c:pt idx="530">
                  <c:v>22253</c:v>
                </c:pt>
                <c:pt idx="531">
                  <c:v>4815</c:v>
                </c:pt>
                <c:pt idx="532">
                  <c:v>6541</c:v>
                </c:pt>
                <c:pt idx="533">
                  <c:v>22383</c:v>
                </c:pt>
                <c:pt idx="534">
                  <c:v>11531</c:v>
                </c:pt>
                <c:pt idx="535">
                  <c:v>20723</c:v>
                </c:pt>
                <c:pt idx="536">
                  <c:v>21315</c:v>
                </c:pt>
                <c:pt idx="537">
                  <c:v>11655</c:v>
                </c:pt>
                <c:pt idx="538">
                  <c:v>20183</c:v>
                </c:pt>
                <c:pt idx="539">
                  <c:v>15706</c:v>
                </c:pt>
                <c:pt idx="540">
                  <c:v>14600</c:v>
                </c:pt>
                <c:pt idx="541">
                  <c:v>17799</c:v>
                </c:pt>
                <c:pt idx="542">
                  <c:v>27646</c:v>
                </c:pt>
                <c:pt idx="543">
                  <c:v>19096</c:v>
                </c:pt>
                <c:pt idx="544">
                  <c:v>17354</c:v>
                </c:pt>
                <c:pt idx="545">
                  <c:v>25097</c:v>
                </c:pt>
                <c:pt idx="546">
                  <c:v>18745</c:v>
                </c:pt>
                <c:pt idx="547">
                  <c:v>19703</c:v>
                </c:pt>
                <c:pt idx="548">
                  <c:v>24406</c:v>
                </c:pt>
                <c:pt idx="549">
                  <c:v>18784</c:v>
                </c:pt>
                <c:pt idx="550">
                  <c:v>16109</c:v>
                </c:pt>
                <c:pt idx="551">
                  <c:v>19857</c:v>
                </c:pt>
                <c:pt idx="552">
                  <c:v>3033</c:v>
                </c:pt>
                <c:pt idx="553">
                  <c:v>17915</c:v>
                </c:pt>
                <c:pt idx="554">
                  <c:v>9873</c:v>
                </c:pt>
                <c:pt idx="555">
                  <c:v>16510</c:v>
                </c:pt>
                <c:pt idx="556">
                  <c:v>17113</c:v>
                </c:pt>
                <c:pt idx="557">
                  <c:v>14182</c:v>
                </c:pt>
                <c:pt idx="558">
                  <c:v>10163</c:v>
                </c:pt>
                <c:pt idx="559">
                  <c:v>12319</c:v>
                </c:pt>
                <c:pt idx="560">
                  <c:v>14091</c:v>
                </c:pt>
                <c:pt idx="561">
                  <c:v>13760</c:v>
                </c:pt>
                <c:pt idx="562">
                  <c:v>21620</c:v>
                </c:pt>
                <c:pt idx="563">
                  <c:v>14251</c:v>
                </c:pt>
                <c:pt idx="564">
                  <c:v>14741</c:v>
                </c:pt>
                <c:pt idx="565">
                  <c:v>14355</c:v>
                </c:pt>
                <c:pt idx="566">
                  <c:v>24953</c:v>
                </c:pt>
                <c:pt idx="567">
                  <c:v>21582</c:v>
                </c:pt>
                <c:pt idx="568">
                  <c:v>12548</c:v>
                </c:pt>
                <c:pt idx="569">
                  <c:v>15678</c:v>
                </c:pt>
                <c:pt idx="570">
                  <c:v>16298</c:v>
                </c:pt>
                <c:pt idx="571">
                  <c:v>13138</c:v>
                </c:pt>
                <c:pt idx="572">
                  <c:v>16504</c:v>
                </c:pt>
                <c:pt idx="573">
                  <c:v>12470</c:v>
                </c:pt>
                <c:pt idx="574">
                  <c:v>21565</c:v>
                </c:pt>
                <c:pt idx="575">
                  <c:v>23414</c:v>
                </c:pt>
                <c:pt idx="576">
                  <c:v>6174</c:v>
                </c:pt>
                <c:pt idx="577">
                  <c:v>16665</c:v>
                </c:pt>
                <c:pt idx="578">
                  <c:v>13481</c:v>
                </c:pt>
                <c:pt idx="579">
                  <c:v>20555</c:v>
                </c:pt>
                <c:pt idx="580">
                  <c:v>22367</c:v>
                </c:pt>
                <c:pt idx="581">
                  <c:v>28690</c:v>
                </c:pt>
                <c:pt idx="582">
                  <c:v>12116</c:v>
                </c:pt>
              </c:numCache>
            </c:numRef>
          </c:xVal>
          <c:yVal>
            <c:numRef>
              <c:f>Sheet1!$B$947:$B$1529</c:f>
              <c:numCache>
                <c:formatCode>General</c:formatCode>
                <c:ptCount val="583"/>
                <c:pt idx="0">
                  <c:v>23906</c:v>
                </c:pt>
                <c:pt idx="1">
                  <c:v>27836</c:v>
                </c:pt>
                <c:pt idx="2">
                  <c:v>27997</c:v>
                </c:pt>
                <c:pt idx="3">
                  <c:v>29521</c:v>
                </c:pt>
                <c:pt idx="4">
                  <c:v>30512</c:v>
                </c:pt>
                <c:pt idx="5">
                  <c:v>30626</c:v>
                </c:pt>
                <c:pt idx="6">
                  <c:v>30958</c:v>
                </c:pt>
                <c:pt idx="7">
                  <c:v>31088</c:v>
                </c:pt>
                <c:pt idx="8">
                  <c:v>31394</c:v>
                </c:pt>
                <c:pt idx="9">
                  <c:v>31919</c:v>
                </c:pt>
                <c:pt idx="10">
                  <c:v>33252</c:v>
                </c:pt>
                <c:pt idx="11">
                  <c:v>33261</c:v>
                </c:pt>
                <c:pt idx="12">
                  <c:v>33267</c:v>
                </c:pt>
                <c:pt idx="13">
                  <c:v>34042</c:v>
                </c:pt>
                <c:pt idx="14">
                  <c:v>34409</c:v>
                </c:pt>
                <c:pt idx="15">
                  <c:v>34502</c:v>
                </c:pt>
                <c:pt idx="16">
                  <c:v>34996</c:v>
                </c:pt>
                <c:pt idx="17">
                  <c:v>35171</c:v>
                </c:pt>
                <c:pt idx="18">
                  <c:v>35550</c:v>
                </c:pt>
                <c:pt idx="19">
                  <c:v>35697</c:v>
                </c:pt>
                <c:pt idx="20">
                  <c:v>35723</c:v>
                </c:pt>
                <c:pt idx="21">
                  <c:v>35946</c:v>
                </c:pt>
                <c:pt idx="22">
                  <c:v>36382</c:v>
                </c:pt>
                <c:pt idx="23">
                  <c:v>36421</c:v>
                </c:pt>
                <c:pt idx="24">
                  <c:v>36596</c:v>
                </c:pt>
                <c:pt idx="25">
                  <c:v>36666</c:v>
                </c:pt>
                <c:pt idx="26">
                  <c:v>36739</c:v>
                </c:pt>
                <c:pt idx="27">
                  <c:v>36902</c:v>
                </c:pt>
                <c:pt idx="28">
                  <c:v>37096</c:v>
                </c:pt>
                <c:pt idx="29">
                  <c:v>37195</c:v>
                </c:pt>
                <c:pt idx="30">
                  <c:v>37378</c:v>
                </c:pt>
                <c:pt idx="31">
                  <c:v>37837</c:v>
                </c:pt>
                <c:pt idx="32">
                  <c:v>37871</c:v>
                </c:pt>
                <c:pt idx="33">
                  <c:v>37894</c:v>
                </c:pt>
                <c:pt idx="34">
                  <c:v>37981</c:v>
                </c:pt>
                <c:pt idx="35">
                  <c:v>38112</c:v>
                </c:pt>
                <c:pt idx="36">
                  <c:v>38203</c:v>
                </c:pt>
                <c:pt idx="37">
                  <c:v>38217</c:v>
                </c:pt>
                <c:pt idx="38">
                  <c:v>38262</c:v>
                </c:pt>
                <c:pt idx="39">
                  <c:v>38315</c:v>
                </c:pt>
                <c:pt idx="40">
                  <c:v>38550</c:v>
                </c:pt>
                <c:pt idx="41">
                  <c:v>38681</c:v>
                </c:pt>
                <c:pt idx="42">
                  <c:v>38924</c:v>
                </c:pt>
                <c:pt idx="43">
                  <c:v>38924</c:v>
                </c:pt>
                <c:pt idx="44">
                  <c:v>39060</c:v>
                </c:pt>
                <c:pt idx="45">
                  <c:v>39067</c:v>
                </c:pt>
                <c:pt idx="46">
                  <c:v>39095</c:v>
                </c:pt>
                <c:pt idx="47">
                  <c:v>39289</c:v>
                </c:pt>
                <c:pt idx="48">
                  <c:v>39315</c:v>
                </c:pt>
                <c:pt idx="49">
                  <c:v>39318</c:v>
                </c:pt>
                <c:pt idx="50">
                  <c:v>39463</c:v>
                </c:pt>
                <c:pt idx="51">
                  <c:v>39596</c:v>
                </c:pt>
                <c:pt idx="52">
                  <c:v>39664</c:v>
                </c:pt>
                <c:pt idx="53">
                  <c:v>39903</c:v>
                </c:pt>
                <c:pt idx="54">
                  <c:v>39990</c:v>
                </c:pt>
                <c:pt idx="55">
                  <c:v>40026</c:v>
                </c:pt>
                <c:pt idx="56">
                  <c:v>40118</c:v>
                </c:pt>
                <c:pt idx="57">
                  <c:v>40144</c:v>
                </c:pt>
                <c:pt idx="58">
                  <c:v>40251</c:v>
                </c:pt>
                <c:pt idx="59">
                  <c:v>40318</c:v>
                </c:pt>
                <c:pt idx="60">
                  <c:v>40342</c:v>
                </c:pt>
                <c:pt idx="61">
                  <c:v>40492</c:v>
                </c:pt>
                <c:pt idx="62">
                  <c:v>40624</c:v>
                </c:pt>
                <c:pt idx="63">
                  <c:v>40628</c:v>
                </c:pt>
                <c:pt idx="64">
                  <c:v>40674</c:v>
                </c:pt>
                <c:pt idx="65">
                  <c:v>40863</c:v>
                </c:pt>
                <c:pt idx="66">
                  <c:v>40956</c:v>
                </c:pt>
                <c:pt idx="67">
                  <c:v>41102</c:v>
                </c:pt>
                <c:pt idx="68">
                  <c:v>41109</c:v>
                </c:pt>
                <c:pt idx="69">
                  <c:v>41110</c:v>
                </c:pt>
                <c:pt idx="70">
                  <c:v>41544</c:v>
                </c:pt>
                <c:pt idx="71">
                  <c:v>41728</c:v>
                </c:pt>
                <c:pt idx="72">
                  <c:v>41733</c:v>
                </c:pt>
                <c:pt idx="73">
                  <c:v>41766</c:v>
                </c:pt>
                <c:pt idx="74">
                  <c:v>41871</c:v>
                </c:pt>
                <c:pt idx="75">
                  <c:v>41913</c:v>
                </c:pt>
                <c:pt idx="76">
                  <c:v>41991</c:v>
                </c:pt>
                <c:pt idx="77">
                  <c:v>42062</c:v>
                </c:pt>
                <c:pt idx="78">
                  <c:v>42205</c:v>
                </c:pt>
                <c:pt idx="79">
                  <c:v>42244</c:v>
                </c:pt>
                <c:pt idx="80">
                  <c:v>42386</c:v>
                </c:pt>
                <c:pt idx="81">
                  <c:v>42396</c:v>
                </c:pt>
                <c:pt idx="82">
                  <c:v>42557</c:v>
                </c:pt>
                <c:pt idx="83">
                  <c:v>42617</c:v>
                </c:pt>
                <c:pt idx="84">
                  <c:v>42620</c:v>
                </c:pt>
                <c:pt idx="85">
                  <c:v>42647</c:v>
                </c:pt>
                <c:pt idx="86">
                  <c:v>42703</c:v>
                </c:pt>
                <c:pt idx="87">
                  <c:v>42730</c:v>
                </c:pt>
                <c:pt idx="88">
                  <c:v>42778</c:v>
                </c:pt>
                <c:pt idx="89">
                  <c:v>42957</c:v>
                </c:pt>
                <c:pt idx="90">
                  <c:v>42968</c:v>
                </c:pt>
                <c:pt idx="91">
                  <c:v>43140</c:v>
                </c:pt>
                <c:pt idx="92">
                  <c:v>43166</c:v>
                </c:pt>
                <c:pt idx="93">
                  <c:v>43167</c:v>
                </c:pt>
                <c:pt idx="94">
                  <c:v>43184</c:v>
                </c:pt>
                <c:pt idx="95">
                  <c:v>43197</c:v>
                </c:pt>
                <c:pt idx="96">
                  <c:v>43229</c:v>
                </c:pt>
                <c:pt idx="97">
                  <c:v>43295</c:v>
                </c:pt>
                <c:pt idx="98">
                  <c:v>43296</c:v>
                </c:pt>
                <c:pt idx="99">
                  <c:v>43361</c:v>
                </c:pt>
                <c:pt idx="100">
                  <c:v>43371</c:v>
                </c:pt>
                <c:pt idx="101">
                  <c:v>43407</c:v>
                </c:pt>
                <c:pt idx="102">
                  <c:v>43421</c:v>
                </c:pt>
                <c:pt idx="103">
                  <c:v>43459</c:v>
                </c:pt>
                <c:pt idx="104">
                  <c:v>43888</c:v>
                </c:pt>
                <c:pt idx="105">
                  <c:v>43889</c:v>
                </c:pt>
                <c:pt idx="106">
                  <c:v>44030</c:v>
                </c:pt>
                <c:pt idx="107">
                  <c:v>44030</c:v>
                </c:pt>
                <c:pt idx="108">
                  <c:v>44127</c:v>
                </c:pt>
                <c:pt idx="109">
                  <c:v>44140</c:v>
                </c:pt>
                <c:pt idx="110">
                  <c:v>44213</c:v>
                </c:pt>
                <c:pt idx="111">
                  <c:v>44232</c:v>
                </c:pt>
                <c:pt idx="112">
                  <c:v>44236</c:v>
                </c:pt>
                <c:pt idx="113">
                  <c:v>44296</c:v>
                </c:pt>
                <c:pt idx="114">
                  <c:v>44301</c:v>
                </c:pt>
                <c:pt idx="115">
                  <c:v>44349</c:v>
                </c:pt>
                <c:pt idx="116">
                  <c:v>44358</c:v>
                </c:pt>
                <c:pt idx="117">
                  <c:v>44372</c:v>
                </c:pt>
                <c:pt idx="118">
                  <c:v>44391</c:v>
                </c:pt>
                <c:pt idx="119">
                  <c:v>44433</c:v>
                </c:pt>
                <c:pt idx="120">
                  <c:v>44440</c:v>
                </c:pt>
                <c:pt idx="121">
                  <c:v>44511</c:v>
                </c:pt>
                <c:pt idx="122">
                  <c:v>44544</c:v>
                </c:pt>
                <c:pt idx="123">
                  <c:v>44570</c:v>
                </c:pt>
                <c:pt idx="124">
                  <c:v>44666</c:v>
                </c:pt>
                <c:pt idx="125">
                  <c:v>44737</c:v>
                </c:pt>
                <c:pt idx="126">
                  <c:v>44792</c:v>
                </c:pt>
                <c:pt idx="127">
                  <c:v>44859</c:v>
                </c:pt>
                <c:pt idx="128">
                  <c:v>44933</c:v>
                </c:pt>
                <c:pt idx="129">
                  <c:v>44947</c:v>
                </c:pt>
                <c:pt idx="130">
                  <c:v>44962</c:v>
                </c:pt>
                <c:pt idx="131">
                  <c:v>45030</c:v>
                </c:pt>
                <c:pt idx="132">
                  <c:v>45079</c:v>
                </c:pt>
                <c:pt idx="133">
                  <c:v>45092</c:v>
                </c:pt>
                <c:pt idx="134">
                  <c:v>45235</c:v>
                </c:pt>
                <c:pt idx="135">
                  <c:v>45265</c:v>
                </c:pt>
                <c:pt idx="136">
                  <c:v>45320</c:v>
                </c:pt>
                <c:pt idx="137">
                  <c:v>45325</c:v>
                </c:pt>
                <c:pt idx="138">
                  <c:v>45344</c:v>
                </c:pt>
                <c:pt idx="139">
                  <c:v>45379</c:v>
                </c:pt>
                <c:pt idx="140">
                  <c:v>45388</c:v>
                </c:pt>
                <c:pt idx="141">
                  <c:v>45388</c:v>
                </c:pt>
                <c:pt idx="142">
                  <c:v>45388</c:v>
                </c:pt>
                <c:pt idx="143">
                  <c:v>45388</c:v>
                </c:pt>
                <c:pt idx="144">
                  <c:v>45411</c:v>
                </c:pt>
                <c:pt idx="145">
                  <c:v>45415</c:v>
                </c:pt>
                <c:pt idx="146">
                  <c:v>45454</c:v>
                </c:pt>
                <c:pt idx="147">
                  <c:v>45515</c:v>
                </c:pt>
                <c:pt idx="148">
                  <c:v>45543</c:v>
                </c:pt>
                <c:pt idx="149">
                  <c:v>45603</c:v>
                </c:pt>
                <c:pt idx="150">
                  <c:v>45608</c:v>
                </c:pt>
                <c:pt idx="151">
                  <c:v>45634</c:v>
                </c:pt>
                <c:pt idx="152">
                  <c:v>45744</c:v>
                </c:pt>
                <c:pt idx="153">
                  <c:v>45795</c:v>
                </c:pt>
                <c:pt idx="154">
                  <c:v>45823</c:v>
                </c:pt>
                <c:pt idx="155">
                  <c:v>45872</c:v>
                </c:pt>
                <c:pt idx="156">
                  <c:v>45937</c:v>
                </c:pt>
                <c:pt idx="157">
                  <c:v>45938</c:v>
                </c:pt>
                <c:pt idx="158">
                  <c:v>46001</c:v>
                </c:pt>
                <c:pt idx="159">
                  <c:v>46128</c:v>
                </c:pt>
                <c:pt idx="160">
                  <c:v>46349</c:v>
                </c:pt>
                <c:pt idx="161">
                  <c:v>46354</c:v>
                </c:pt>
                <c:pt idx="162">
                  <c:v>46453</c:v>
                </c:pt>
                <c:pt idx="163">
                  <c:v>46482</c:v>
                </c:pt>
                <c:pt idx="164">
                  <c:v>46490</c:v>
                </c:pt>
                <c:pt idx="165">
                  <c:v>46498</c:v>
                </c:pt>
                <c:pt idx="166">
                  <c:v>46600</c:v>
                </c:pt>
                <c:pt idx="167">
                  <c:v>46674</c:v>
                </c:pt>
                <c:pt idx="168">
                  <c:v>46680</c:v>
                </c:pt>
                <c:pt idx="169">
                  <c:v>46769</c:v>
                </c:pt>
                <c:pt idx="170">
                  <c:v>46833</c:v>
                </c:pt>
                <c:pt idx="171">
                  <c:v>46857</c:v>
                </c:pt>
                <c:pt idx="172">
                  <c:v>47002</c:v>
                </c:pt>
                <c:pt idx="173">
                  <c:v>47021</c:v>
                </c:pt>
                <c:pt idx="174">
                  <c:v>47071</c:v>
                </c:pt>
                <c:pt idx="175">
                  <c:v>47075</c:v>
                </c:pt>
                <c:pt idx="176">
                  <c:v>47089</c:v>
                </c:pt>
                <c:pt idx="177">
                  <c:v>47107</c:v>
                </c:pt>
                <c:pt idx="178">
                  <c:v>47156</c:v>
                </c:pt>
                <c:pt idx="179">
                  <c:v>47185</c:v>
                </c:pt>
                <c:pt idx="180">
                  <c:v>47258</c:v>
                </c:pt>
                <c:pt idx="181">
                  <c:v>47384</c:v>
                </c:pt>
                <c:pt idx="182">
                  <c:v>47477</c:v>
                </c:pt>
                <c:pt idx="183">
                  <c:v>47596</c:v>
                </c:pt>
                <c:pt idx="184">
                  <c:v>47601</c:v>
                </c:pt>
                <c:pt idx="185">
                  <c:v>47605</c:v>
                </c:pt>
                <c:pt idx="186">
                  <c:v>47618</c:v>
                </c:pt>
                <c:pt idx="187">
                  <c:v>47626</c:v>
                </c:pt>
                <c:pt idx="188">
                  <c:v>47697</c:v>
                </c:pt>
                <c:pt idx="189">
                  <c:v>47728</c:v>
                </c:pt>
                <c:pt idx="190">
                  <c:v>47730</c:v>
                </c:pt>
                <c:pt idx="191">
                  <c:v>47828</c:v>
                </c:pt>
                <c:pt idx="192">
                  <c:v>47856</c:v>
                </c:pt>
                <c:pt idx="193">
                  <c:v>47860</c:v>
                </c:pt>
                <c:pt idx="194">
                  <c:v>47866</c:v>
                </c:pt>
                <c:pt idx="195">
                  <c:v>47872</c:v>
                </c:pt>
                <c:pt idx="196">
                  <c:v>47885</c:v>
                </c:pt>
                <c:pt idx="197">
                  <c:v>47896</c:v>
                </c:pt>
                <c:pt idx="198">
                  <c:v>48082</c:v>
                </c:pt>
                <c:pt idx="199">
                  <c:v>48088</c:v>
                </c:pt>
                <c:pt idx="200">
                  <c:v>48102</c:v>
                </c:pt>
                <c:pt idx="201">
                  <c:v>48160</c:v>
                </c:pt>
                <c:pt idx="202">
                  <c:v>48318</c:v>
                </c:pt>
                <c:pt idx="203">
                  <c:v>48351</c:v>
                </c:pt>
                <c:pt idx="204">
                  <c:v>48386</c:v>
                </c:pt>
                <c:pt idx="205">
                  <c:v>48387</c:v>
                </c:pt>
                <c:pt idx="206">
                  <c:v>48458</c:v>
                </c:pt>
                <c:pt idx="207">
                  <c:v>48472</c:v>
                </c:pt>
                <c:pt idx="208">
                  <c:v>48475</c:v>
                </c:pt>
                <c:pt idx="209">
                  <c:v>48501</c:v>
                </c:pt>
                <c:pt idx="210">
                  <c:v>48541</c:v>
                </c:pt>
                <c:pt idx="211">
                  <c:v>48587</c:v>
                </c:pt>
                <c:pt idx="212">
                  <c:v>48653</c:v>
                </c:pt>
                <c:pt idx="213">
                  <c:v>48757</c:v>
                </c:pt>
                <c:pt idx="214">
                  <c:v>48866</c:v>
                </c:pt>
                <c:pt idx="215">
                  <c:v>48928</c:v>
                </c:pt>
                <c:pt idx="216">
                  <c:v>48992</c:v>
                </c:pt>
                <c:pt idx="217">
                  <c:v>49045</c:v>
                </c:pt>
                <c:pt idx="218">
                  <c:v>49137</c:v>
                </c:pt>
                <c:pt idx="219">
                  <c:v>49175</c:v>
                </c:pt>
                <c:pt idx="220">
                  <c:v>49179</c:v>
                </c:pt>
                <c:pt idx="221">
                  <c:v>49307</c:v>
                </c:pt>
                <c:pt idx="222">
                  <c:v>49358</c:v>
                </c:pt>
                <c:pt idx="223">
                  <c:v>49361</c:v>
                </c:pt>
                <c:pt idx="224">
                  <c:v>49365</c:v>
                </c:pt>
                <c:pt idx="225">
                  <c:v>49379</c:v>
                </c:pt>
                <c:pt idx="226">
                  <c:v>49458</c:v>
                </c:pt>
                <c:pt idx="227">
                  <c:v>49500</c:v>
                </c:pt>
                <c:pt idx="228">
                  <c:v>49500</c:v>
                </c:pt>
                <c:pt idx="229">
                  <c:v>49505</c:v>
                </c:pt>
                <c:pt idx="230">
                  <c:v>49560</c:v>
                </c:pt>
                <c:pt idx="231">
                  <c:v>49587</c:v>
                </c:pt>
                <c:pt idx="232">
                  <c:v>49606</c:v>
                </c:pt>
                <c:pt idx="233">
                  <c:v>49620</c:v>
                </c:pt>
                <c:pt idx="234">
                  <c:v>49634</c:v>
                </c:pt>
                <c:pt idx="235">
                  <c:v>49652</c:v>
                </c:pt>
                <c:pt idx="236">
                  <c:v>49774</c:v>
                </c:pt>
                <c:pt idx="237">
                  <c:v>49827</c:v>
                </c:pt>
                <c:pt idx="238">
                  <c:v>49917</c:v>
                </c:pt>
                <c:pt idx="239">
                  <c:v>49958</c:v>
                </c:pt>
                <c:pt idx="240">
                  <c:v>50105</c:v>
                </c:pt>
                <c:pt idx="241">
                  <c:v>50112</c:v>
                </c:pt>
                <c:pt idx="242">
                  <c:v>50116</c:v>
                </c:pt>
                <c:pt idx="243">
                  <c:v>50135</c:v>
                </c:pt>
                <c:pt idx="244">
                  <c:v>50220</c:v>
                </c:pt>
                <c:pt idx="245">
                  <c:v>50296</c:v>
                </c:pt>
                <c:pt idx="246">
                  <c:v>50296</c:v>
                </c:pt>
                <c:pt idx="247">
                  <c:v>50331</c:v>
                </c:pt>
                <c:pt idx="248">
                  <c:v>50445</c:v>
                </c:pt>
                <c:pt idx="249">
                  <c:v>50527</c:v>
                </c:pt>
                <c:pt idx="250">
                  <c:v>50579</c:v>
                </c:pt>
                <c:pt idx="251">
                  <c:v>50632</c:v>
                </c:pt>
                <c:pt idx="252">
                  <c:v>50669</c:v>
                </c:pt>
                <c:pt idx="253">
                  <c:v>50698</c:v>
                </c:pt>
                <c:pt idx="254">
                  <c:v>50712</c:v>
                </c:pt>
                <c:pt idx="255">
                  <c:v>50720</c:v>
                </c:pt>
                <c:pt idx="256">
                  <c:v>50741</c:v>
                </c:pt>
                <c:pt idx="257">
                  <c:v>50919</c:v>
                </c:pt>
                <c:pt idx="258">
                  <c:v>50923</c:v>
                </c:pt>
                <c:pt idx="259">
                  <c:v>50970</c:v>
                </c:pt>
                <c:pt idx="260">
                  <c:v>50994</c:v>
                </c:pt>
                <c:pt idx="261">
                  <c:v>51019</c:v>
                </c:pt>
                <c:pt idx="262">
                  <c:v>51077</c:v>
                </c:pt>
                <c:pt idx="263">
                  <c:v>51129</c:v>
                </c:pt>
                <c:pt idx="264">
                  <c:v>51151</c:v>
                </c:pt>
                <c:pt idx="265">
                  <c:v>51342</c:v>
                </c:pt>
                <c:pt idx="266">
                  <c:v>51450</c:v>
                </c:pt>
                <c:pt idx="267">
                  <c:v>51513</c:v>
                </c:pt>
                <c:pt idx="268">
                  <c:v>51532</c:v>
                </c:pt>
                <c:pt idx="269">
                  <c:v>51629</c:v>
                </c:pt>
                <c:pt idx="270">
                  <c:v>51658</c:v>
                </c:pt>
                <c:pt idx="271">
                  <c:v>51759</c:v>
                </c:pt>
                <c:pt idx="272">
                  <c:v>51793</c:v>
                </c:pt>
                <c:pt idx="273">
                  <c:v>51815</c:v>
                </c:pt>
                <c:pt idx="274">
                  <c:v>51833</c:v>
                </c:pt>
                <c:pt idx="275">
                  <c:v>51836</c:v>
                </c:pt>
                <c:pt idx="276">
                  <c:v>51865</c:v>
                </c:pt>
                <c:pt idx="277">
                  <c:v>51871</c:v>
                </c:pt>
                <c:pt idx="278">
                  <c:v>51926</c:v>
                </c:pt>
                <c:pt idx="279">
                  <c:v>51955</c:v>
                </c:pt>
                <c:pt idx="280">
                  <c:v>51989</c:v>
                </c:pt>
                <c:pt idx="281">
                  <c:v>52021</c:v>
                </c:pt>
                <c:pt idx="282">
                  <c:v>52075</c:v>
                </c:pt>
                <c:pt idx="283">
                  <c:v>52093</c:v>
                </c:pt>
                <c:pt idx="284">
                  <c:v>52131</c:v>
                </c:pt>
                <c:pt idx="285">
                  <c:v>52231</c:v>
                </c:pt>
                <c:pt idx="286">
                  <c:v>52234</c:v>
                </c:pt>
                <c:pt idx="287">
                  <c:v>52279</c:v>
                </c:pt>
                <c:pt idx="288">
                  <c:v>52334</c:v>
                </c:pt>
                <c:pt idx="289">
                  <c:v>52347</c:v>
                </c:pt>
                <c:pt idx="290">
                  <c:v>52349</c:v>
                </c:pt>
                <c:pt idx="291">
                  <c:v>52528</c:v>
                </c:pt>
                <c:pt idx="292">
                  <c:v>52567</c:v>
                </c:pt>
                <c:pt idx="293">
                  <c:v>52581</c:v>
                </c:pt>
                <c:pt idx="294">
                  <c:v>52725</c:v>
                </c:pt>
                <c:pt idx="295">
                  <c:v>52745</c:v>
                </c:pt>
                <c:pt idx="296">
                  <c:v>53032</c:v>
                </c:pt>
                <c:pt idx="297">
                  <c:v>53037</c:v>
                </c:pt>
                <c:pt idx="298">
                  <c:v>53040</c:v>
                </c:pt>
                <c:pt idx="299">
                  <c:v>53166</c:v>
                </c:pt>
                <c:pt idx="300">
                  <c:v>53230</c:v>
                </c:pt>
                <c:pt idx="301">
                  <c:v>53236</c:v>
                </c:pt>
                <c:pt idx="302">
                  <c:v>53263</c:v>
                </c:pt>
                <c:pt idx="303">
                  <c:v>53390</c:v>
                </c:pt>
                <c:pt idx="304">
                  <c:v>53493</c:v>
                </c:pt>
                <c:pt idx="305">
                  <c:v>53501</c:v>
                </c:pt>
                <c:pt idx="306">
                  <c:v>53551</c:v>
                </c:pt>
                <c:pt idx="307">
                  <c:v>53562</c:v>
                </c:pt>
                <c:pt idx="308">
                  <c:v>53739</c:v>
                </c:pt>
                <c:pt idx="309">
                  <c:v>53755</c:v>
                </c:pt>
                <c:pt idx="310">
                  <c:v>53775</c:v>
                </c:pt>
                <c:pt idx="311">
                  <c:v>53874</c:v>
                </c:pt>
                <c:pt idx="312">
                  <c:v>53899</c:v>
                </c:pt>
                <c:pt idx="313">
                  <c:v>53909</c:v>
                </c:pt>
                <c:pt idx="314">
                  <c:v>54022</c:v>
                </c:pt>
                <c:pt idx="315">
                  <c:v>54080</c:v>
                </c:pt>
                <c:pt idx="316">
                  <c:v>54163</c:v>
                </c:pt>
                <c:pt idx="317">
                  <c:v>54211</c:v>
                </c:pt>
                <c:pt idx="318">
                  <c:v>54247</c:v>
                </c:pt>
                <c:pt idx="319">
                  <c:v>54329</c:v>
                </c:pt>
                <c:pt idx="320">
                  <c:v>54338</c:v>
                </c:pt>
                <c:pt idx="321">
                  <c:v>54368</c:v>
                </c:pt>
                <c:pt idx="322">
                  <c:v>54384</c:v>
                </c:pt>
                <c:pt idx="323">
                  <c:v>54458</c:v>
                </c:pt>
                <c:pt idx="324">
                  <c:v>54467</c:v>
                </c:pt>
                <c:pt idx="325">
                  <c:v>54496</c:v>
                </c:pt>
                <c:pt idx="326">
                  <c:v>54501</c:v>
                </c:pt>
                <c:pt idx="327">
                  <c:v>54537</c:v>
                </c:pt>
                <c:pt idx="328">
                  <c:v>54560</c:v>
                </c:pt>
                <c:pt idx="329">
                  <c:v>54659</c:v>
                </c:pt>
                <c:pt idx="330">
                  <c:v>54670</c:v>
                </c:pt>
                <c:pt idx="331">
                  <c:v>54735</c:v>
                </c:pt>
                <c:pt idx="332">
                  <c:v>54810</c:v>
                </c:pt>
                <c:pt idx="333">
                  <c:v>54914</c:v>
                </c:pt>
                <c:pt idx="334">
                  <c:v>54967</c:v>
                </c:pt>
                <c:pt idx="335">
                  <c:v>54990</c:v>
                </c:pt>
                <c:pt idx="336">
                  <c:v>55037</c:v>
                </c:pt>
                <c:pt idx="337">
                  <c:v>55043</c:v>
                </c:pt>
                <c:pt idx="338">
                  <c:v>55070</c:v>
                </c:pt>
                <c:pt idx="339">
                  <c:v>55076</c:v>
                </c:pt>
                <c:pt idx="340">
                  <c:v>55076</c:v>
                </c:pt>
                <c:pt idx="341">
                  <c:v>55076</c:v>
                </c:pt>
                <c:pt idx="342">
                  <c:v>55146</c:v>
                </c:pt>
                <c:pt idx="343">
                  <c:v>55177</c:v>
                </c:pt>
                <c:pt idx="344">
                  <c:v>55198</c:v>
                </c:pt>
                <c:pt idx="345">
                  <c:v>55246</c:v>
                </c:pt>
                <c:pt idx="346">
                  <c:v>55356</c:v>
                </c:pt>
                <c:pt idx="347">
                  <c:v>55486</c:v>
                </c:pt>
                <c:pt idx="348">
                  <c:v>55493</c:v>
                </c:pt>
                <c:pt idx="349">
                  <c:v>55548</c:v>
                </c:pt>
                <c:pt idx="350">
                  <c:v>55563</c:v>
                </c:pt>
                <c:pt idx="351">
                  <c:v>55747</c:v>
                </c:pt>
                <c:pt idx="352">
                  <c:v>55763</c:v>
                </c:pt>
                <c:pt idx="353">
                  <c:v>55813</c:v>
                </c:pt>
                <c:pt idx="354">
                  <c:v>55874</c:v>
                </c:pt>
                <c:pt idx="355">
                  <c:v>55939</c:v>
                </c:pt>
                <c:pt idx="356">
                  <c:v>55939</c:v>
                </c:pt>
                <c:pt idx="357">
                  <c:v>55939</c:v>
                </c:pt>
                <c:pt idx="358">
                  <c:v>56073</c:v>
                </c:pt>
                <c:pt idx="359">
                  <c:v>56118</c:v>
                </c:pt>
                <c:pt idx="360">
                  <c:v>56148</c:v>
                </c:pt>
                <c:pt idx="361">
                  <c:v>56195</c:v>
                </c:pt>
                <c:pt idx="362">
                  <c:v>56280</c:v>
                </c:pt>
                <c:pt idx="363">
                  <c:v>56287</c:v>
                </c:pt>
                <c:pt idx="364">
                  <c:v>56310</c:v>
                </c:pt>
                <c:pt idx="365">
                  <c:v>56318</c:v>
                </c:pt>
                <c:pt idx="366">
                  <c:v>56343</c:v>
                </c:pt>
                <c:pt idx="367">
                  <c:v>56346</c:v>
                </c:pt>
                <c:pt idx="368">
                  <c:v>56351</c:v>
                </c:pt>
                <c:pt idx="369">
                  <c:v>56403</c:v>
                </c:pt>
                <c:pt idx="370">
                  <c:v>56416</c:v>
                </c:pt>
                <c:pt idx="371">
                  <c:v>56469</c:v>
                </c:pt>
                <c:pt idx="372">
                  <c:v>56544</c:v>
                </c:pt>
                <c:pt idx="373">
                  <c:v>56662</c:v>
                </c:pt>
                <c:pt idx="374">
                  <c:v>56746</c:v>
                </c:pt>
                <c:pt idx="375">
                  <c:v>56880</c:v>
                </c:pt>
                <c:pt idx="376">
                  <c:v>56887</c:v>
                </c:pt>
                <c:pt idx="377">
                  <c:v>56906</c:v>
                </c:pt>
                <c:pt idx="378">
                  <c:v>56922</c:v>
                </c:pt>
                <c:pt idx="379">
                  <c:v>56945</c:v>
                </c:pt>
                <c:pt idx="380">
                  <c:v>57010</c:v>
                </c:pt>
                <c:pt idx="381">
                  <c:v>57053</c:v>
                </c:pt>
                <c:pt idx="382">
                  <c:v>57103</c:v>
                </c:pt>
                <c:pt idx="383">
                  <c:v>57131</c:v>
                </c:pt>
                <c:pt idx="384">
                  <c:v>57162</c:v>
                </c:pt>
                <c:pt idx="385">
                  <c:v>57237</c:v>
                </c:pt>
                <c:pt idx="386">
                  <c:v>57262</c:v>
                </c:pt>
                <c:pt idx="387">
                  <c:v>57289</c:v>
                </c:pt>
                <c:pt idx="388">
                  <c:v>57304</c:v>
                </c:pt>
                <c:pt idx="389">
                  <c:v>57346</c:v>
                </c:pt>
                <c:pt idx="390">
                  <c:v>57413</c:v>
                </c:pt>
                <c:pt idx="391">
                  <c:v>57466</c:v>
                </c:pt>
                <c:pt idx="392">
                  <c:v>57552</c:v>
                </c:pt>
                <c:pt idx="393">
                  <c:v>57566</c:v>
                </c:pt>
                <c:pt idx="394">
                  <c:v>57602</c:v>
                </c:pt>
                <c:pt idx="395">
                  <c:v>57624</c:v>
                </c:pt>
                <c:pt idx="396">
                  <c:v>57743</c:v>
                </c:pt>
                <c:pt idx="397">
                  <c:v>57780</c:v>
                </c:pt>
                <c:pt idx="398">
                  <c:v>57808</c:v>
                </c:pt>
                <c:pt idx="399">
                  <c:v>57897</c:v>
                </c:pt>
                <c:pt idx="400">
                  <c:v>57906</c:v>
                </c:pt>
                <c:pt idx="401">
                  <c:v>58013</c:v>
                </c:pt>
                <c:pt idx="402">
                  <c:v>58056</c:v>
                </c:pt>
                <c:pt idx="403">
                  <c:v>58073</c:v>
                </c:pt>
                <c:pt idx="404">
                  <c:v>58084</c:v>
                </c:pt>
                <c:pt idx="405">
                  <c:v>58128</c:v>
                </c:pt>
                <c:pt idx="406">
                  <c:v>58140</c:v>
                </c:pt>
                <c:pt idx="407">
                  <c:v>58169</c:v>
                </c:pt>
                <c:pt idx="408">
                  <c:v>58191</c:v>
                </c:pt>
                <c:pt idx="409">
                  <c:v>58308</c:v>
                </c:pt>
                <c:pt idx="410">
                  <c:v>58526</c:v>
                </c:pt>
                <c:pt idx="411">
                  <c:v>58532</c:v>
                </c:pt>
                <c:pt idx="412">
                  <c:v>58561</c:v>
                </c:pt>
                <c:pt idx="413">
                  <c:v>58562</c:v>
                </c:pt>
                <c:pt idx="414">
                  <c:v>58612</c:v>
                </c:pt>
                <c:pt idx="415">
                  <c:v>59004</c:v>
                </c:pt>
                <c:pt idx="416">
                  <c:v>59009</c:v>
                </c:pt>
                <c:pt idx="417">
                  <c:v>59025</c:v>
                </c:pt>
                <c:pt idx="418">
                  <c:v>59115</c:v>
                </c:pt>
                <c:pt idx="419">
                  <c:v>59115</c:v>
                </c:pt>
                <c:pt idx="420">
                  <c:v>59211</c:v>
                </c:pt>
                <c:pt idx="421">
                  <c:v>59221</c:v>
                </c:pt>
                <c:pt idx="422">
                  <c:v>59247</c:v>
                </c:pt>
                <c:pt idx="423">
                  <c:v>59637</c:v>
                </c:pt>
                <c:pt idx="424">
                  <c:v>59649</c:v>
                </c:pt>
                <c:pt idx="425">
                  <c:v>59977</c:v>
                </c:pt>
                <c:pt idx="426">
                  <c:v>59979</c:v>
                </c:pt>
                <c:pt idx="427">
                  <c:v>59988</c:v>
                </c:pt>
                <c:pt idx="428">
                  <c:v>60110</c:v>
                </c:pt>
                <c:pt idx="429">
                  <c:v>60236</c:v>
                </c:pt>
                <c:pt idx="430">
                  <c:v>60249</c:v>
                </c:pt>
                <c:pt idx="431">
                  <c:v>60249</c:v>
                </c:pt>
                <c:pt idx="432">
                  <c:v>60378</c:v>
                </c:pt>
                <c:pt idx="433">
                  <c:v>60386</c:v>
                </c:pt>
                <c:pt idx="434">
                  <c:v>60409</c:v>
                </c:pt>
                <c:pt idx="435">
                  <c:v>60409</c:v>
                </c:pt>
                <c:pt idx="436">
                  <c:v>60409</c:v>
                </c:pt>
                <c:pt idx="437">
                  <c:v>60409</c:v>
                </c:pt>
                <c:pt idx="438">
                  <c:v>60409</c:v>
                </c:pt>
                <c:pt idx="439">
                  <c:v>60509</c:v>
                </c:pt>
                <c:pt idx="440">
                  <c:v>60543</c:v>
                </c:pt>
                <c:pt idx="441">
                  <c:v>60613</c:v>
                </c:pt>
                <c:pt idx="442">
                  <c:v>60614</c:v>
                </c:pt>
                <c:pt idx="443">
                  <c:v>60624</c:v>
                </c:pt>
                <c:pt idx="444">
                  <c:v>60752</c:v>
                </c:pt>
                <c:pt idx="445">
                  <c:v>61244</c:v>
                </c:pt>
                <c:pt idx="446">
                  <c:v>61251</c:v>
                </c:pt>
                <c:pt idx="447">
                  <c:v>61258</c:v>
                </c:pt>
                <c:pt idx="448">
                  <c:v>61324</c:v>
                </c:pt>
                <c:pt idx="449">
                  <c:v>61335</c:v>
                </c:pt>
                <c:pt idx="450">
                  <c:v>61415</c:v>
                </c:pt>
                <c:pt idx="451">
                  <c:v>61415</c:v>
                </c:pt>
                <c:pt idx="452">
                  <c:v>61515</c:v>
                </c:pt>
                <c:pt idx="453">
                  <c:v>61580</c:v>
                </c:pt>
                <c:pt idx="454">
                  <c:v>61675</c:v>
                </c:pt>
                <c:pt idx="455">
                  <c:v>61760</c:v>
                </c:pt>
                <c:pt idx="456">
                  <c:v>61767</c:v>
                </c:pt>
                <c:pt idx="457">
                  <c:v>61945</c:v>
                </c:pt>
                <c:pt idx="458">
                  <c:v>62117</c:v>
                </c:pt>
                <c:pt idx="459">
                  <c:v>62152</c:v>
                </c:pt>
                <c:pt idx="460">
                  <c:v>62177</c:v>
                </c:pt>
                <c:pt idx="461">
                  <c:v>62203</c:v>
                </c:pt>
                <c:pt idx="462">
                  <c:v>62377</c:v>
                </c:pt>
                <c:pt idx="463">
                  <c:v>62454</c:v>
                </c:pt>
                <c:pt idx="464">
                  <c:v>62472</c:v>
                </c:pt>
                <c:pt idx="465">
                  <c:v>62569</c:v>
                </c:pt>
                <c:pt idx="466">
                  <c:v>62616</c:v>
                </c:pt>
                <c:pt idx="467">
                  <c:v>62668</c:v>
                </c:pt>
                <c:pt idx="468">
                  <c:v>62696</c:v>
                </c:pt>
                <c:pt idx="469">
                  <c:v>62763</c:v>
                </c:pt>
                <c:pt idx="470">
                  <c:v>62908</c:v>
                </c:pt>
                <c:pt idx="471">
                  <c:v>62951</c:v>
                </c:pt>
                <c:pt idx="472">
                  <c:v>63126</c:v>
                </c:pt>
                <c:pt idx="473">
                  <c:v>63163</c:v>
                </c:pt>
                <c:pt idx="474">
                  <c:v>63188</c:v>
                </c:pt>
                <c:pt idx="475">
                  <c:v>63199</c:v>
                </c:pt>
                <c:pt idx="476">
                  <c:v>63386</c:v>
                </c:pt>
                <c:pt idx="477">
                  <c:v>63403</c:v>
                </c:pt>
                <c:pt idx="478">
                  <c:v>63496</c:v>
                </c:pt>
                <c:pt idx="479">
                  <c:v>63552</c:v>
                </c:pt>
                <c:pt idx="480">
                  <c:v>63727</c:v>
                </c:pt>
                <c:pt idx="481">
                  <c:v>63742</c:v>
                </c:pt>
                <c:pt idx="482">
                  <c:v>64010</c:v>
                </c:pt>
                <c:pt idx="483">
                  <c:v>64172</c:v>
                </c:pt>
                <c:pt idx="484">
                  <c:v>64209</c:v>
                </c:pt>
                <c:pt idx="485">
                  <c:v>64270</c:v>
                </c:pt>
                <c:pt idx="486">
                  <c:v>64355</c:v>
                </c:pt>
                <c:pt idx="487">
                  <c:v>64368</c:v>
                </c:pt>
                <c:pt idx="488">
                  <c:v>64390</c:v>
                </c:pt>
                <c:pt idx="489">
                  <c:v>64403</c:v>
                </c:pt>
                <c:pt idx="490">
                  <c:v>64705</c:v>
                </c:pt>
                <c:pt idx="491">
                  <c:v>64762</c:v>
                </c:pt>
                <c:pt idx="492">
                  <c:v>64874</c:v>
                </c:pt>
                <c:pt idx="493">
                  <c:v>64876</c:v>
                </c:pt>
                <c:pt idx="494">
                  <c:v>64909</c:v>
                </c:pt>
                <c:pt idx="495">
                  <c:v>65287</c:v>
                </c:pt>
                <c:pt idx="496">
                  <c:v>65337</c:v>
                </c:pt>
                <c:pt idx="497">
                  <c:v>65703</c:v>
                </c:pt>
                <c:pt idx="498">
                  <c:v>65865</c:v>
                </c:pt>
                <c:pt idx="499">
                  <c:v>65986</c:v>
                </c:pt>
                <c:pt idx="500">
                  <c:v>66039</c:v>
                </c:pt>
                <c:pt idx="501">
                  <c:v>66125</c:v>
                </c:pt>
                <c:pt idx="502">
                  <c:v>66125</c:v>
                </c:pt>
                <c:pt idx="503">
                  <c:v>66125</c:v>
                </c:pt>
                <c:pt idx="504">
                  <c:v>66125</c:v>
                </c:pt>
                <c:pt idx="505">
                  <c:v>66479</c:v>
                </c:pt>
                <c:pt idx="506">
                  <c:v>66479</c:v>
                </c:pt>
                <c:pt idx="507">
                  <c:v>66479</c:v>
                </c:pt>
                <c:pt idx="508">
                  <c:v>67170</c:v>
                </c:pt>
                <c:pt idx="509">
                  <c:v>67253</c:v>
                </c:pt>
                <c:pt idx="510">
                  <c:v>67316</c:v>
                </c:pt>
                <c:pt idx="511">
                  <c:v>67541</c:v>
                </c:pt>
                <c:pt idx="512">
                  <c:v>67699</c:v>
                </c:pt>
                <c:pt idx="513">
                  <c:v>67979</c:v>
                </c:pt>
                <c:pt idx="514">
                  <c:v>68077</c:v>
                </c:pt>
                <c:pt idx="515">
                  <c:v>68227</c:v>
                </c:pt>
                <c:pt idx="516">
                  <c:v>68396</c:v>
                </c:pt>
                <c:pt idx="517">
                  <c:v>68726</c:v>
                </c:pt>
                <c:pt idx="518">
                  <c:v>68740</c:v>
                </c:pt>
                <c:pt idx="519">
                  <c:v>68758</c:v>
                </c:pt>
                <c:pt idx="520">
                  <c:v>68804</c:v>
                </c:pt>
                <c:pt idx="521">
                  <c:v>68905</c:v>
                </c:pt>
                <c:pt idx="522">
                  <c:v>69020</c:v>
                </c:pt>
                <c:pt idx="523">
                  <c:v>69738</c:v>
                </c:pt>
                <c:pt idx="524">
                  <c:v>69743</c:v>
                </c:pt>
                <c:pt idx="525">
                  <c:v>69781</c:v>
                </c:pt>
                <c:pt idx="526">
                  <c:v>69954</c:v>
                </c:pt>
                <c:pt idx="527">
                  <c:v>69960</c:v>
                </c:pt>
                <c:pt idx="528">
                  <c:v>70814</c:v>
                </c:pt>
                <c:pt idx="529">
                  <c:v>71401</c:v>
                </c:pt>
                <c:pt idx="530">
                  <c:v>71513</c:v>
                </c:pt>
                <c:pt idx="531">
                  <c:v>71588</c:v>
                </c:pt>
                <c:pt idx="532">
                  <c:v>71588</c:v>
                </c:pt>
                <c:pt idx="533">
                  <c:v>71631</c:v>
                </c:pt>
                <c:pt idx="534">
                  <c:v>71902</c:v>
                </c:pt>
                <c:pt idx="535">
                  <c:v>72085</c:v>
                </c:pt>
                <c:pt idx="536">
                  <c:v>72097</c:v>
                </c:pt>
                <c:pt idx="537">
                  <c:v>72200</c:v>
                </c:pt>
                <c:pt idx="538">
                  <c:v>72257</c:v>
                </c:pt>
                <c:pt idx="539">
                  <c:v>72273</c:v>
                </c:pt>
                <c:pt idx="540">
                  <c:v>72424</c:v>
                </c:pt>
                <c:pt idx="541">
                  <c:v>72950</c:v>
                </c:pt>
                <c:pt idx="542">
                  <c:v>73323</c:v>
                </c:pt>
                <c:pt idx="543">
                  <c:v>73490</c:v>
                </c:pt>
                <c:pt idx="544">
                  <c:v>73792</c:v>
                </c:pt>
                <c:pt idx="545">
                  <c:v>73997</c:v>
                </c:pt>
                <c:pt idx="546">
                  <c:v>74479</c:v>
                </c:pt>
                <c:pt idx="547">
                  <c:v>74479</c:v>
                </c:pt>
                <c:pt idx="548">
                  <c:v>74479</c:v>
                </c:pt>
                <c:pt idx="549">
                  <c:v>74502</c:v>
                </c:pt>
                <c:pt idx="550">
                  <c:v>74915</c:v>
                </c:pt>
                <c:pt idx="551">
                  <c:v>75121</c:v>
                </c:pt>
                <c:pt idx="552">
                  <c:v>75971</c:v>
                </c:pt>
                <c:pt idx="553">
                  <c:v>76343</c:v>
                </c:pt>
                <c:pt idx="554">
                  <c:v>76489</c:v>
                </c:pt>
                <c:pt idx="555">
                  <c:v>76813</c:v>
                </c:pt>
                <c:pt idx="556">
                  <c:v>77369</c:v>
                </c:pt>
                <c:pt idx="557">
                  <c:v>78198</c:v>
                </c:pt>
                <c:pt idx="558">
                  <c:v>78466</c:v>
                </c:pt>
                <c:pt idx="559">
                  <c:v>78466</c:v>
                </c:pt>
                <c:pt idx="560">
                  <c:v>78466</c:v>
                </c:pt>
                <c:pt idx="561">
                  <c:v>78988</c:v>
                </c:pt>
                <c:pt idx="562">
                  <c:v>80596</c:v>
                </c:pt>
                <c:pt idx="563">
                  <c:v>80735</c:v>
                </c:pt>
                <c:pt idx="564">
                  <c:v>80838</c:v>
                </c:pt>
                <c:pt idx="565">
                  <c:v>81054</c:v>
                </c:pt>
                <c:pt idx="566">
                  <c:v>81698</c:v>
                </c:pt>
                <c:pt idx="567">
                  <c:v>82392</c:v>
                </c:pt>
                <c:pt idx="568">
                  <c:v>82511</c:v>
                </c:pt>
                <c:pt idx="569">
                  <c:v>82860</c:v>
                </c:pt>
                <c:pt idx="570">
                  <c:v>82957</c:v>
                </c:pt>
                <c:pt idx="571">
                  <c:v>83648</c:v>
                </c:pt>
                <c:pt idx="572">
                  <c:v>84276</c:v>
                </c:pt>
                <c:pt idx="573">
                  <c:v>84943</c:v>
                </c:pt>
                <c:pt idx="574">
                  <c:v>86863</c:v>
                </c:pt>
                <c:pt idx="575">
                  <c:v>89964</c:v>
                </c:pt>
                <c:pt idx="576">
                  <c:v>90610</c:v>
                </c:pt>
                <c:pt idx="577">
                  <c:v>90768</c:v>
                </c:pt>
                <c:pt idx="578">
                  <c:v>92446</c:v>
                </c:pt>
                <c:pt idx="579">
                  <c:v>94784</c:v>
                </c:pt>
                <c:pt idx="580">
                  <c:v>95951</c:v>
                </c:pt>
                <c:pt idx="581">
                  <c:v>97335</c:v>
                </c:pt>
                <c:pt idx="582">
                  <c:v>102772</c:v>
                </c:pt>
              </c:numCache>
            </c:numRef>
          </c:yVal>
          <c:smooth val="0"/>
          <c:extLst>
            <c:ext xmlns:c16="http://schemas.microsoft.com/office/drawing/2014/chart" uri="{C3380CC4-5D6E-409C-BE32-E72D297353CC}">
              <c16:uniqueId val="{00000002-A6C2-4C08-9A2C-13704BF64019}"/>
            </c:ext>
          </c:extLst>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c:v>
                </c:pt>
              </c:numCache>
            </c:numRef>
          </c:xVal>
          <c:yVal>
            <c:numRef>
              <c:f>Sheet1!$B$1532:$B$1532</c:f>
              <c:numCache>
                <c:formatCode>General</c:formatCode>
                <c:ptCount val="1"/>
                <c:pt idx="0">
                  <c:v>92538</c:v>
                </c:pt>
              </c:numCache>
            </c:numRef>
          </c:yVal>
          <c:smooth val="0"/>
          <c:extLst>
            <c:ext xmlns:c16="http://schemas.microsoft.com/office/drawing/2014/chart" uri="{C3380CC4-5D6E-409C-BE32-E72D297353CC}">
              <c16:uniqueId val="{00000003-A6C2-4C08-9A2C-13704BF64019}"/>
            </c:ext>
          </c:extLst>
        </c:ser>
        <c:dLbls>
          <c:showLegendKey val="0"/>
          <c:showVal val="0"/>
          <c:showCatName val="0"/>
          <c:showSerName val="0"/>
          <c:showPercent val="0"/>
          <c:showBubbleSize val="0"/>
        </c:dLbls>
        <c:axId val="-2128940872"/>
        <c:axId val="-2129643912"/>
      </c:scatterChart>
      <c:valAx>
        <c:axId val="-2128940872"/>
        <c:scaling>
          <c:orientation val="minMax"/>
          <c:max val="60000"/>
          <c:min val="0"/>
        </c:scaling>
        <c:delete val="0"/>
        <c:axPos val="b"/>
        <c:title>
          <c:tx>
            <c:rich>
              <a:bodyPr/>
              <a:lstStyle/>
              <a:p>
                <a:pPr>
                  <a:defRPr/>
                </a:pPr>
                <a:r>
                  <a:rPr lang="en-US" sz="1000" b="1">
                    <a:solidFill>
                      <a:srgbClr val="000000"/>
                    </a:solidFill>
                    <a:latin typeface="Lato"/>
                  </a:rPr>
                  <a:t>Average annual net cost of attendance (2)</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
      </c:valAx>
      <c:valAx>
        <c:axId val="-2129643912"/>
        <c:scaling>
          <c:orientation val="minMax"/>
          <c:max val="150000"/>
          <c:min val="0"/>
        </c:scaling>
        <c:delete val="0"/>
        <c:axPos val="l"/>
        <c:title>
          <c:tx>
            <c:rich>
              <a:bodyPr rot="-5400000" vert="horz"/>
              <a:lstStyle/>
              <a:p>
                <a:pPr>
                  <a:defRPr/>
                </a:pPr>
                <a:r>
                  <a:rPr lang="en-US" sz="1000" b="1">
                    <a:solidFill>
                      <a:srgbClr val="000000"/>
                    </a:solidFill>
                    <a:latin typeface="Lato"/>
                  </a:rPr>
                  <a:t>Median earnings ten years after entry (1)</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1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5.5335968379446633E-2"/>
          <c:y val="1.1961722488038279E-2"/>
          <c:w val="0.89328063241106725"/>
          <c:h val="0.89234449760765555"/>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r>
                      <a:rPr lang="en-US" sz="1000" b="1" i="1">
                        <a:solidFill>
                          <a:srgbClr val="C8102E"/>
                        </a:solidFill>
                        <a:latin typeface="Lato"/>
                      </a:rPr>
                      <a:t>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470-465C-B23E-C773DA3A9C3F}"/>
                </c:ext>
              </c:extLst>
            </c:dLbl>
            <c:dLbl>
              <c:idx val="1"/>
              <c:tx>
                <c:rich>
                  <a:bodyPr/>
                  <a:lstStyle/>
                  <a:p>
                    <a:r>
                      <a:rPr lang="en-US" sz="1000" b="1" i="1">
                        <a:solidFill>
                          <a:srgbClr val="C8102E"/>
                        </a:solidFill>
                        <a:latin typeface="Lato"/>
                      </a:rPr>
                      <a:t>27%*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470-465C-B23E-C773DA3A9C3F}"/>
                </c:ext>
              </c:extLst>
            </c:dLbl>
            <c:dLbl>
              <c:idx val="2"/>
              <c:tx>
                <c:rich>
                  <a:bodyPr/>
                  <a:lstStyle/>
                  <a:p>
                    <a:r>
                      <a:rPr lang="en-US" sz="1000" b="1" i="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470-465C-B23E-C773DA3A9C3F}"/>
                </c:ext>
              </c:extLst>
            </c:dLbl>
            <c:dLbl>
              <c:idx val="3"/>
              <c:tx>
                <c:rich>
                  <a:bodyPr/>
                  <a:lstStyle/>
                  <a:p>
                    <a:r>
                      <a:rPr lang="en-US" sz="1000" b="1" i="1">
                        <a:solidFill>
                          <a:srgbClr val="C8102E"/>
                        </a:solidFill>
                        <a:latin typeface="Lato"/>
                      </a:rPr>
                      <a:t>44%</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470-465C-B23E-C773DA3A9C3F}"/>
                </c:ext>
              </c:extLst>
            </c:dLbl>
            <c:dLbl>
              <c:idx val="4"/>
              <c:tx>
                <c:rich>
                  <a:bodyPr/>
                  <a:lstStyle/>
                  <a:p>
                    <a:r>
                      <a:rPr lang="en-US" sz="1000" b="1" i="1">
                        <a:solidFill>
                          <a:srgbClr val="C8102E"/>
                        </a:solidFill>
                        <a:latin typeface="Lato"/>
                      </a:rPr>
                      <a:t>32%</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B470-465C-B23E-C773DA3A9C3F}"/>
                </c:ext>
              </c:extLst>
            </c:dLbl>
            <c:dLbl>
              <c:idx val="5"/>
              <c:tx>
                <c:rich>
                  <a:bodyPr/>
                  <a:lstStyle/>
                  <a:p>
                    <a:r>
                      <a:rPr lang="en-US" sz="1000" b="1" i="1">
                        <a:solidFill>
                          <a:srgbClr val="C8102E"/>
                        </a:solidFill>
                        <a:latin typeface="Lato"/>
                      </a:rPr>
                      <a:t>34%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470-465C-B23E-C773DA3A9C3F}"/>
                </c:ext>
              </c:extLst>
            </c:dLbl>
            <c:dLbl>
              <c:idx val="6"/>
              <c:tx>
                <c:rich>
                  <a:bodyPr/>
                  <a:lstStyle/>
                  <a:p>
                    <a:r>
                      <a:rPr lang="en-US" sz="1000" b="1" i="1">
                        <a:solidFill>
                          <a:srgbClr val="C8102E"/>
                        </a:solidFill>
                        <a:latin typeface="Lato"/>
                      </a:rPr>
                      <a:t>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470-465C-B23E-C773DA3A9C3F}"/>
                </c:ext>
              </c:extLst>
            </c:dLbl>
            <c:dLbl>
              <c:idx val="7"/>
              <c:tx>
                <c:rich>
                  <a:bodyPr/>
                  <a:lstStyle/>
                  <a:p>
                    <a:r>
                      <a:rPr lang="en-US" sz="1000" b="1" i="1">
                        <a:solidFill>
                          <a:srgbClr val="C8102E"/>
                        </a:solidFill>
                        <a:latin typeface="Lato"/>
                      </a:rPr>
                      <a:t>53%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470-465C-B23E-C773DA3A9C3F}"/>
                </c:ext>
              </c:extLst>
            </c:dLbl>
            <c:dLbl>
              <c:idx val="8"/>
              <c:tx>
                <c:rich>
                  <a:bodyPr/>
                  <a:lstStyle/>
                  <a:p>
                    <a:r>
                      <a:rPr lang="en-US" sz="1000" b="1" i="1">
                        <a:solidFill>
                          <a:srgbClr val="C8102E"/>
                        </a:solidFill>
                        <a:latin typeface="Lato"/>
                      </a:rPr>
                      <a:t>45%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470-465C-B23E-C773DA3A9C3F}"/>
                </c:ext>
              </c:extLst>
            </c:dLbl>
            <c:dLbl>
              <c:idx val="9"/>
              <c:tx>
                <c:rich>
                  <a:bodyPr/>
                  <a:lstStyle/>
                  <a:p>
                    <a:r>
                      <a:rPr lang="en-US" sz="1000" b="1" i="1">
                        <a:solidFill>
                          <a:srgbClr val="C8102E"/>
                        </a:solidFill>
                        <a:latin typeface="Lato"/>
                      </a:rPr>
                      <a:t>39%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Sheet1!$A$2:$A$11</c:f>
              <c:numCache>
                <c:formatCode>General</c:formatCode>
                <c:ptCount val="10"/>
                <c:pt idx="0">
                  <c:v>32</c:v>
                </c:pt>
                <c:pt idx="1">
                  <c:v>27</c:v>
                </c:pt>
                <c:pt idx="2">
                  <c:v>32</c:v>
                </c:pt>
                <c:pt idx="3">
                  <c:v>44</c:v>
                </c:pt>
                <c:pt idx="4">
                  <c:v>32</c:v>
                </c:pt>
                <c:pt idx="5">
                  <c:v>34</c:v>
                </c:pt>
                <c:pt idx="6">
                  <c:v>50</c:v>
                </c:pt>
                <c:pt idx="7">
                  <c:v>53</c:v>
                </c:pt>
                <c:pt idx="8">
                  <c:v>45</c:v>
                </c:pt>
                <c:pt idx="9">
                  <c:v>39</c:v>
                </c:pt>
              </c:numCache>
            </c:numRef>
          </c:xVal>
          <c:yVal>
            <c:numRef>
              <c:f>Sheet1!$B$2:$B$11</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0A-B470-465C-B23E-C773DA3A9C3F}"/>
            </c:ext>
          </c:extLst>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r>
                      <a:rPr lang="en-US" sz="1000" b="1" i="1">
                        <a:solidFill>
                          <a:srgbClr val="3A3A3F"/>
                        </a:solidFill>
                        <a:latin typeface="Lato"/>
                      </a:rPr>
                      <a:t>79%</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B470-465C-B23E-C773DA3A9C3F}"/>
                </c:ext>
              </c:extLst>
            </c:dLbl>
            <c:dLbl>
              <c:idx val="1"/>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B470-465C-B23E-C773DA3A9C3F}"/>
                </c:ext>
              </c:extLst>
            </c:dLbl>
            <c:dLbl>
              <c:idx val="2"/>
              <c:tx>
                <c:rich>
                  <a:bodyPr/>
                  <a:lstStyle/>
                  <a:p>
                    <a:r>
                      <a:rPr lang="en-US" sz="1000" b="1" i="1">
                        <a:solidFill>
                          <a:srgbClr val="3A3A3F"/>
                        </a:solidFill>
                        <a:latin typeface="Lato"/>
                      </a:rPr>
                      <a:t>77%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B470-465C-B23E-C773DA3A9C3F}"/>
                </c:ext>
              </c:extLst>
            </c:dLbl>
            <c:dLbl>
              <c:idx val="3"/>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B470-465C-B23E-C773DA3A9C3F}"/>
                </c:ext>
              </c:extLst>
            </c:dLbl>
            <c:dLbl>
              <c:idx val="4"/>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B470-465C-B23E-C773DA3A9C3F}"/>
                </c:ext>
              </c:extLst>
            </c:dLbl>
            <c:dLbl>
              <c:idx val="5"/>
              <c:tx>
                <c:rich>
                  <a:bodyPr/>
                  <a:lstStyle/>
                  <a:p>
                    <a:r>
                      <a:rPr lang="en-US" sz="1000" b="1" i="1">
                        <a:solidFill>
                          <a:srgbClr val="3A3A3F"/>
                        </a:solidFill>
                        <a:latin typeface="Lato"/>
                      </a:rPr>
                      <a:t>84%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B470-465C-B23E-C773DA3A9C3F}"/>
                </c:ext>
              </c:extLst>
            </c:dLbl>
            <c:dLbl>
              <c:idx val="6"/>
              <c:tx>
                <c:rich>
                  <a:bodyPr/>
                  <a:lstStyle/>
                  <a:p>
                    <a:r>
                      <a:rPr lang="en-US" sz="1000" b="1" i="1">
                        <a:solidFill>
                          <a:srgbClr val="3A3A3F"/>
                        </a:solidFill>
                        <a:latin typeface="Lato"/>
                      </a:rPr>
                      <a:t>85%</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B470-465C-B23E-C773DA3A9C3F}"/>
                </c:ext>
              </c:extLst>
            </c:dLbl>
            <c:dLbl>
              <c:idx val="7"/>
              <c:tx>
                <c:rich>
                  <a:bodyPr/>
                  <a:lstStyle/>
                  <a:p>
                    <a:r>
                      <a:rPr lang="en-US" sz="1000" b="1" i="1">
                        <a:solidFill>
                          <a:srgbClr val="3A3A3F"/>
                        </a:solidFill>
                        <a:latin typeface="Lato"/>
                      </a:rPr>
                      <a:t>90%</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B470-465C-B23E-C773DA3A9C3F}"/>
                </c:ext>
              </c:extLst>
            </c:dLbl>
            <c:dLbl>
              <c:idx val="8"/>
              <c:tx>
                <c:rich>
                  <a:bodyPr/>
                  <a:lstStyle/>
                  <a:p>
                    <a:r>
                      <a:rPr lang="en-US" sz="1000" b="1" i="1">
                        <a:solidFill>
                          <a:srgbClr val="3A3A3F"/>
                        </a:solidFill>
                        <a:latin typeface="Lato"/>
                      </a:rPr>
                      <a:t>86%</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B470-465C-B23E-C773DA3A9C3F}"/>
                </c:ext>
              </c:extLst>
            </c:dLbl>
            <c:dLbl>
              <c:idx val="9"/>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Sheet1!$A$14:$A$23</c:f>
              <c:numCache>
                <c:formatCode>General</c:formatCode>
                <c:ptCount val="10"/>
                <c:pt idx="0">
                  <c:v>79</c:v>
                </c:pt>
                <c:pt idx="1">
                  <c:v>74</c:v>
                </c:pt>
                <c:pt idx="2">
                  <c:v>77</c:v>
                </c:pt>
                <c:pt idx="3">
                  <c:v>78</c:v>
                </c:pt>
                <c:pt idx="4">
                  <c:v>78</c:v>
                </c:pt>
                <c:pt idx="5">
                  <c:v>84</c:v>
                </c:pt>
                <c:pt idx="6">
                  <c:v>85</c:v>
                </c:pt>
                <c:pt idx="7">
                  <c:v>90</c:v>
                </c:pt>
                <c:pt idx="8">
                  <c:v>86</c:v>
                </c:pt>
                <c:pt idx="9">
                  <c:v>79</c:v>
                </c:pt>
              </c:numCache>
            </c:numRef>
          </c:xVal>
          <c:yVal>
            <c:numRef>
              <c:f>Sheet1!$B$14:$B$23</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15-B470-465C-B23E-C773DA3A9C3F}"/>
            </c:ext>
          </c:extLst>
        </c:ser>
        <c:ser>
          <c:idx val="2"/>
          <c:order val="2"/>
          <c:tx>
            <c:strRef>
              <c:f>Sheet1!$B$25</c:f>
              <c:strCache>
                <c:ptCount val="1"/>
                <c:pt idx="0">
                  <c:v>Sr. Administrators</c:v>
                </c:pt>
              </c:strCache>
            </c:strRef>
          </c:tx>
          <c:spPr>
            <a:ln w="9525">
              <a:solidFill>
                <a:srgbClr val="000000"/>
              </a:solidFill>
              <a:prstDash val="sysDash"/>
            </a:ln>
          </c:spPr>
          <c:marker>
            <c:symbol val="circle"/>
            <c:size val="13"/>
            <c:spPr>
              <a:solidFill>
                <a:srgbClr val="000000"/>
              </a:solidFill>
              <a:ln>
                <a:noFill/>
              </a:ln>
            </c:spPr>
          </c:marker>
          <c:dLbls>
            <c:dLbl>
              <c:idx val="0"/>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B470-465C-B23E-C773DA3A9C3F}"/>
                </c:ext>
              </c:extLst>
            </c:dLbl>
            <c:dLbl>
              <c:idx val="1"/>
              <c:tx>
                <c:rich>
                  <a:bodyPr/>
                  <a:lstStyle/>
                  <a:p>
                    <a:r>
                      <a:rPr lang="en-US" sz="1000" b="1" i="1">
                        <a:solidFill>
                          <a:srgbClr val="000000"/>
                        </a:solidFill>
                        <a:latin typeface="Lato"/>
                      </a:rPr>
                      <a:t>86%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B470-465C-B23E-C773DA3A9C3F}"/>
                </c:ext>
              </c:extLst>
            </c:dLbl>
            <c:dLbl>
              <c:idx val="2"/>
              <c:tx>
                <c:rich>
                  <a:bodyPr/>
                  <a:lstStyle/>
                  <a:p>
                    <a:r>
                      <a:rPr lang="en-US" sz="1000" b="1" i="1">
                        <a:solidFill>
                          <a:srgbClr val="000000"/>
                        </a:solidFill>
                        <a:latin typeface="Lato"/>
                      </a:rPr>
                      <a:t>85%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B470-465C-B23E-C773DA3A9C3F}"/>
                </c:ext>
              </c:extLst>
            </c:dLbl>
            <c:dLbl>
              <c:idx val="3"/>
              <c:tx>
                <c:rich>
                  <a:bodyPr/>
                  <a:lstStyle/>
                  <a:p>
                    <a:r>
                      <a:rPr lang="en-US" sz="1000" b="1" i="1">
                        <a:solidFill>
                          <a:srgbClr val="000000"/>
                        </a:solidFill>
                        <a:latin typeface="Lato"/>
                      </a:rPr>
                      <a:t>80%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B470-465C-B23E-C773DA3A9C3F}"/>
                </c:ext>
              </c:extLst>
            </c:dLbl>
            <c:dLbl>
              <c:idx val="4"/>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B470-465C-B23E-C773DA3A9C3F}"/>
                </c:ext>
              </c:extLst>
            </c:dLbl>
            <c:dLbl>
              <c:idx val="5"/>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B470-465C-B23E-C773DA3A9C3F}"/>
                </c:ext>
              </c:extLst>
            </c:dLbl>
            <c:dLbl>
              <c:idx val="6"/>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B470-465C-B23E-C773DA3A9C3F}"/>
                </c:ext>
              </c:extLst>
            </c:dLbl>
            <c:dLbl>
              <c:idx val="7"/>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B470-465C-B23E-C773DA3A9C3F}"/>
                </c:ext>
              </c:extLst>
            </c:dLbl>
            <c:dLbl>
              <c:idx val="8"/>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B470-465C-B23E-C773DA3A9C3F}"/>
                </c:ext>
              </c:extLst>
            </c:dLbl>
            <c:dLbl>
              <c:idx val="9"/>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Sheet1!$A$26:$A$35</c:f>
              <c:numCache>
                <c:formatCode>General</c:formatCode>
                <c:ptCount val="10"/>
                <c:pt idx="0">
                  <c:v>88</c:v>
                </c:pt>
                <c:pt idx="1">
                  <c:v>86</c:v>
                </c:pt>
                <c:pt idx="2">
                  <c:v>85</c:v>
                </c:pt>
                <c:pt idx="3">
                  <c:v>80</c:v>
                </c:pt>
                <c:pt idx="4">
                  <c:v>90</c:v>
                </c:pt>
                <c:pt idx="5">
                  <c:v>90</c:v>
                </c:pt>
                <c:pt idx="6">
                  <c:v>90</c:v>
                </c:pt>
                <c:pt idx="7">
                  <c:v>91</c:v>
                </c:pt>
                <c:pt idx="8">
                  <c:v>91</c:v>
                </c:pt>
                <c:pt idx="9">
                  <c:v>88</c:v>
                </c:pt>
              </c:numCache>
            </c:numRef>
          </c:xVal>
          <c:yVal>
            <c:numRef>
              <c:f>Sheet1!$B$26:$B$35</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20-B470-465C-B23E-C773DA3A9C3F}"/>
            </c:ext>
          </c:extLst>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B470-465C-B23E-C773DA3A9C3F}"/>
                </c:ext>
              </c:extLst>
            </c:dLbl>
            <c:dLbl>
              <c:idx val="1"/>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Sheet1!$A$38:$A$39</c:f>
              <c:numCache>
                <c:formatCode>General</c:formatCode>
                <c:ptCount val="2"/>
                <c:pt idx="0">
                  <c:v>74</c:v>
                </c:pt>
                <c:pt idx="1">
                  <c:v>79</c:v>
                </c:pt>
              </c:numCache>
            </c:numRef>
          </c:xVal>
          <c:yVal>
            <c:numRef>
              <c:f>Sheet1!$B$38:$B$39</c:f>
              <c:numCache>
                <c:formatCode>General</c:formatCode>
                <c:ptCount val="2"/>
                <c:pt idx="0">
                  <c:v>2025</c:v>
                </c:pt>
                <c:pt idx="1">
                  <c:v>2026</c:v>
                </c:pt>
              </c:numCache>
            </c:numRef>
          </c:yVal>
          <c:smooth val="0"/>
          <c:extLst>
            <c:ext xmlns:c16="http://schemas.microsoft.com/office/drawing/2014/chart" uri="{C3380CC4-5D6E-409C-BE32-E72D297353CC}">
              <c16:uniqueId val="{00000023-B470-465C-B23E-C773DA3A9C3F}"/>
            </c:ext>
          </c:extLst>
        </c:ser>
        <c:dLbls>
          <c:showLegendKey val="0"/>
          <c:showVal val="0"/>
          <c:showCatName val="0"/>
          <c:showSerName val="0"/>
          <c:showPercent val="0"/>
          <c:showBubbleSize val="0"/>
        </c:dLbls>
        <c:axId val="-2128940872"/>
        <c:axId val="-2129643912"/>
      </c:scatterChart>
      <c:valAx>
        <c:axId val="-2128940872"/>
        <c:scaling>
          <c:orientation val="minMax"/>
          <c:max val="100"/>
          <c:min val="0"/>
        </c:scaling>
        <c:delete val="0"/>
        <c:axPos val="b"/>
        <c:numFmt formatCode="0&quot;%&quot;" sourceLinked="0"/>
        <c:majorTickMark val="out"/>
        <c:minorTickMark val="none"/>
        <c:tickLblPos val="nextTo"/>
        <c:spPr>
          <a:ln w="9525">
            <a:solidFill>
              <a:srgbClr val="000000"/>
            </a:solidFill>
          </a:ln>
        </c:spPr>
        <c:txPr>
          <a:bodyPr/>
          <a:lstStyle/>
          <a:p>
            <a:pPr>
              <a:defRPr sz="1000">
                <a:solidFill>
                  <a:srgbClr val="000000"/>
                </a:solidFill>
                <a:latin typeface="Lato"/>
              </a:defRPr>
            </a:pPr>
            <a:endParaRPr lang="en-US"/>
          </a:p>
        </c:txPr>
        <c:crossAx val="-2129643912"/>
        <c:crosses val="max"/>
        <c:crossBetween val="midCat"/>
        <c:majorUnit val="25"/>
      </c:valAx>
      <c:valAx>
        <c:axId val="-2129643912"/>
        <c:scaling>
          <c:orientation val="maxMin"/>
          <c:max val="2027"/>
          <c:min val="2014"/>
        </c:scaling>
        <c:delete val="0"/>
        <c:axPos val="l"/>
        <c:numFmt formatCode="[&lt;2015]&quot;&quot;;[&gt;2026]&quot;&quot;;0" sourceLinked="0"/>
        <c:majorTickMark val="out"/>
        <c:minorTickMark val="none"/>
        <c:tickLblPos val="nextTo"/>
        <c:spPr>
          <a:ln w="9525">
            <a:solidFill>
              <a:srgbClr val="FFFFFF"/>
            </a:solidFill>
          </a:ln>
        </c:spPr>
        <c:txPr>
          <a:bodyPr/>
          <a:lstStyle/>
          <a:p>
            <a:pPr>
              <a:defRPr sz="1100" b="1">
                <a:solidFill>
                  <a:srgbClr val="000000"/>
                </a:solidFill>
                <a:latin typeface="Lato"/>
              </a:defRPr>
            </a:pPr>
            <a:endParaRPr lang="en-US"/>
          </a:p>
        </c:txPr>
        <c:crossAx val="-2128940872"/>
        <c:crosses val="autoZero"/>
        <c:crossBetween val="midCat"/>
        <c:majorUnit val="1"/>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this edition: pet care $158B (APPA, 2025); gambling (AGA commercial gaming revenue) $78.7B (2025); lottery $109.4B (NASPL, FY2025 total including gaming machines, table games and sports betting); NIH $47.5B and NSF $8.75B (FY2026 enacted); baggage fees $7.27B (BTS, 2024 record; 2025 not yet published); Valentine's Day flowers $3.1B (NRF, 2026). All other items are 2024 figures from: Bureau of Transportation Statistics, Fortune Business Insights, IBIS World, Mordor Intelligence, Responsible Lending, Statista, Yahoo Finance, Yum! Brands, and industry sources; not updated because no same-basis 2025 figure was found (wine and spirits, beer, soft drinks, tobacco, bottled water, beauty, coffee, video games, child care, lawn care, sporting events, pizza, legal marijuana, chocolate, movies, Taco Bell, credit card late fees, concerts, overdraft fees, potato chips, cosmetic surgery, perfume, tattoos, Twinkies).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Moody's “A” (single-A, blue) and “Aa” (double-A, green)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 green).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each institution’s audited FY2025 consolidated financial statements, without-donor-restrictions operating column; EBIDA = operating result + depreciation (and amortization) + interest, over total operating revenues and other support. FYE varies: Aug 31 for NYU, Emory, Northwestern; May 31 for Boston College, Miami, Villanova; June 30 for the rest. Health-system consolidators (†) blend academic and clinical margins and are not like-for-like. Syracuse discloses depreciation and interest only combined. USC is shown before its $55.5M insurance recovery; with it, 3.7%. Medians: Moody’s 24 June 2026 private-university medians, FY2025 — comprehensive n=61, broad A n=70.</a:t>
            </a:r>
          </a:p>
        </p:txBody>
      </p:sp>
      <p:sp>
        <p:nvSpPr>
          <p:cNvPr id="4" name="Slide Number Placeholder 3"/>
          <p:cNvSpPr>
            <a:spLocks noGrp="1"/>
          </p:cNvSpPr>
          <p:nvPr>
            <p:ph type="sldNum" idx="5" sz="quarter"/>
          </p:nvPr>
        </p:nvSpPr>
        <p:spPr/>
      </p:sp>
    </p:spTree>
  </p:cSld>
  <p:clrMapOvr>
    <a:masterClrMapping/>
  </p:clrMapOvr>
</p:note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slideLayout16.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6510528"/>
            <a:ext cx="2331720" cy="256032"/>
          </a:xfrm>
          <a:prstGeom prst="rect">
            <a:avLst/>
          </a:prstGeom>
          <a:noFill/>
        </p:spPr>
        <p:txBody>
          <a:bodyPr wrap="none" lIns="0" rIns="0" tIns="0" bIns="0" anchor="ctr">
            <a:spAutoFit/>
          </a:bodyPr>
          <a:lstStyle/>
          <a:p>
            <a:pPr algn="r"/>
            <a:r>
              <a:rPr sz="900" b="1">
                <a:solidFill>
                  <a:srgbClr val="000000"/>
                </a:solidFill>
                <a:latin typeface="Lato"/>
              </a:rPr>
              <a:t>Northeastern University</a:t>
            </a:r>
          </a:p>
        </p:txBody>
      </p:sp>
      <p:sp>
        <p:nvSpPr>
          <p:cNvPr id="4" name="TextBox 3"/>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a:t>
            </a:fld>
          </a:p>
        </p:txBody>
      </p:sp>
      <p:pic>
        <p:nvPicPr>
          <p:cNvPr id="5" name="Picture 4" descr="monogram-red.png"/>
          <p:cNvPicPr>
            <a:picLocks noChangeAspect="1"/>
          </p:cNvPicPr>
          <p:nvPr/>
        </p:nvPicPr>
        <p:blipFill>
          <a:blip r:embed="rId2"/>
          <a:srcRect l="12000" r="12000" t="20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6"/>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2.png"/><Relationship Id="rId3" Type="http://schemas.openxmlformats.org/officeDocument/2006/relationships/image" Target="../media/image22.gif"/><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7.gif"/><Relationship Id="rId8" Type="http://schemas.openxmlformats.org/officeDocument/2006/relationships/image" Target="../media/image36.png"/><Relationship Id="rId9" Type="http://schemas.openxmlformats.org/officeDocument/2006/relationships/image" Target="../media/image37.gif"/><Relationship Id="rId10" Type="http://schemas.openxmlformats.org/officeDocument/2006/relationships/image" Target="../media/image38.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39.png"/><Relationship Id="rId14" Type="http://schemas.openxmlformats.org/officeDocument/2006/relationships/image" Target="../media/image40.png"/><Relationship Id="rId15" Type="http://schemas.openxmlformats.org/officeDocument/2006/relationships/image" Target="../media/image30.png"/><Relationship Id="rId16" Type="http://schemas.openxmlformats.org/officeDocument/2006/relationships/image" Target="../media/image41.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31.png"/><Relationship Id="rId20" Type="http://schemas.openxmlformats.org/officeDocument/2006/relationships/image" Target="../media/image44.png"/><Relationship Id="rId21" Type="http://schemas.openxmlformats.org/officeDocument/2006/relationships/image" Target="../media/image45.png"/><Relationship Id="rId22" Type="http://schemas.openxmlformats.org/officeDocument/2006/relationships/image" Target="../media/image46.png"/><Relationship Id="rId23" Type="http://schemas.openxmlformats.org/officeDocument/2006/relationships/image" Target="../media/image47.png"/><Relationship Id="rId24" Type="http://schemas.openxmlformats.org/officeDocument/2006/relationships/image" Target="../media/image48.png"/><Relationship Id="rId25" Type="http://schemas.openxmlformats.org/officeDocument/2006/relationships/image" Target="../media/image49.jpeg"/><Relationship Id="rId26"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image" Target="../media/image52.png"/><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52.png"/><Relationship Id="rId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52.png"/><Relationship Id="rId4"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52.png"/><Relationship Id="rId4"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2.png"/><Relationship Id="rId4" Type="http://schemas.openxmlformats.org/officeDocument/2006/relationships/chart" Target="../charts/chart8.xml"/><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7.png"/><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2.xml"/><Relationship Id="rId3" Type="http://schemas.openxmlformats.org/officeDocument/2006/relationships/image" Target="../media/image57.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chart" Target="../charts/chart13.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8.png"/><Relationship Id="rId3" Type="http://schemas.openxmlformats.org/officeDocument/2006/relationships/chart" Target="../charts/chart14.xml"/><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chart" Target="../charts/chart18.xml"/><Relationship Id="rId5" Type="http://schemas.openxmlformats.org/officeDocument/2006/relationships/chart" Target="../charts/chart19.xml"/><Relationship Id="rId6" Type="http://schemas.openxmlformats.org/officeDocument/2006/relationships/chart" Target="../charts/chart20.xml"/><Relationship Id="rId7" Type="http://schemas.openxmlformats.org/officeDocument/2006/relationships/chart" Target="../charts/chart21.xml"/><Relationship Id="rId8" Type="http://schemas.openxmlformats.org/officeDocument/2006/relationships/chart" Target="../charts/chart22.xml"/><Relationship Id="rId9" Type="http://schemas.openxmlformats.org/officeDocument/2006/relationships/chart" Target="../charts/chart23.xml"/><Relationship Id="rId10" Type="http://schemas.openxmlformats.org/officeDocument/2006/relationships/chart" Target="../charts/chart24.xml"/><Relationship Id="rId11" Type="http://schemas.openxmlformats.org/officeDocument/2006/relationships/chart" Target="../charts/chart25.xml"/><Relationship Id="rId12" Type="http://schemas.openxmlformats.org/officeDocument/2006/relationships/chart" Target="../charts/chart26.xml"/><Relationship Id="rId13" Type="http://schemas.openxmlformats.org/officeDocument/2006/relationships/chart" Target="../charts/chart27.xml"/><Relationship Id="rId1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image" Target="../media/image61.png"/><Relationship Id="rId5"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7.xml"/><Relationship Id="rId3" Type="http://schemas.openxmlformats.org/officeDocument/2006/relationships/image" Target="../media/image61.png"/><Relationship Id="rId4"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chart" Target="../charts/chart38.xml"/><Relationship Id="rId4"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9.xml"/><Relationship Id="rId3" Type="http://schemas.openxmlformats.org/officeDocument/2006/relationships/image" Target="../media/image6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0.xml"/><Relationship Id="rId3" Type="http://schemas.openxmlformats.org/officeDocument/2006/relationships/image" Target="../media/image62.png"/><Relationship Id="rId4"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2.xml"/><Relationship Id="rId3" Type="http://schemas.openxmlformats.org/officeDocument/2006/relationships/image" Target="../media/image6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6.xml"/><Relationship Id="rId3" Type="http://schemas.openxmlformats.org/officeDocument/2006/relationships/image" Target="../media/image74.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2.xml"/><Relationship Id="rId3" Type="http://schemas.openxmlformats.org/officeDocument/2006/relationships/chart" Target="../charts/chart6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4.xml"/><Relationship Id="rId3"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5.xml"/><Relationship Id="rId3" Type="http://schemas.openxmlformats.org/officeDocument/2006/relationships/notesSlide" Target="../notesSlides/notesSlide1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6.xml"/><Relationship Id="rId3" Type="http://schemas.openxmlformats.org/officeDocument/2006/relationships/notesSlide" Target="../notesSlides/notesSlide1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7.xml"/><Relationship Id="rId3" Type="http://schemas.openxmlformats.org/officeDocument/2006/relationships/notesSlide" Target="../notesSlides/notesSlide14.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926080" y="1097280"/>
            <a:ext cx="7772400" cy="502920"/>
          </a:xfrm>
          <a:prstGeom prst="rect">
            <a:avLst/>
          </a:prstGeom>
          <a:noFill/>
        </p:spPr>
        <p:txBody>
          <a:bodyPr wrap="square" rtlCol="0">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Four-year c</a:t>
            </a:r>
            <a:r>
              <a:rPr kumimoji="0" lang="en-US" sz="1400" b="0" i="0" u="none" strike="noStrike" kern="1200" cap="none" spc="0" normalizeH="0" baseline="0" noProof="0" dirty="0" err="1">
                <a:ln>
                  <a:noFill/>
                </a:ln>
                <a:solidFill>
                  <a:srgbClr val="595959"/>
                </a:solidFill>
                <a:effectLst/>
                <a:uLnTx/>
                <a:uFillTx/>
                <a:latin typeface="Lato" panose="020B0604020202020204" pitchFamily="34" charset="0"/>
                <a:ea typeface="+mn-ea"/>
                <a:cs typeface="Arial" panose="020B0604020202020204" pitchFamily="34" charset="0"/>
              </a:rPr>
              <a:t>olleges</a:t>
            </a: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World Bank; HIPI university list</a:t>
            </a:r>
          </a:p>
        </p:txBody>
      </p:sp>
    </p:spTree>
    <p:extLst>
      <p:ext uri="{BB962C8B-B14F-4D97-AF65-F5344CB8AC3E}">
        <p14:creationId xmlns:p14="http://schemas.microsoft.com/office/powerpoint/2010/main" val="2518138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76 college closures since 2015 – and the pace is ramping up</a:t>
            </a:r>
          </a:p>
        </p:txBody>
      </p:sp>
      <p:graphicFrame>
        <p:nvGraphicFramePr>
          <p:cNvPr id="7" name="Chart 6">
            <a:extLst>
              <a:ext uri="{FF2B5EF4-FFF2-40B4-BE49-F238E27FC236}">
                <a16:creationId xmlns:a16="http://schemas.microsoft.com/office/drawing/2014/main" id="{9679DFC2-0AA5-0A25-79F3-4CC65DD850F7}"/>
              </a:ext>
            </a:extLst>
          </p:cNvPr>
          <p:cNvGraphicFramePr/>
          <p:nvPr/>
        </p:nvGraphicFramePr>
        <p:xfrm>
          <a:off x="9179096" y="5297557"/>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838886" y="4989780"/>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Tree>
    <p:extLst>
      <p:ext uri="{BB962C8B-B14F-4D97-AF65-F5344CB8AC3E}">
        <p14:creationId xmlns:p14="http://schemas.microsoft.com/office/powerpoint/2010/main" val="1732461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DBE0AF-FD87-2B8B-C07E-9B52E478739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8A061832-7CCF-EF2C-040E-5FE9CD565679}"/>
              </a:ext>
            </a:extLst>
          </p:cNvPr>
          <p:cNvCxnSpPr>
            <a:cxnSpLocks/>
          </p:cNvCxnSpPr>
          <p:nvPr/>
        </p:nvCxnSpPr>
        <p:spPr>
          <a:xfrm flipH="1">
            <a:off x="10364095"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F80C400-AD03-42AF-E6F2-8E1A1C1ED62E}"/>
              </a:ext>
            </a:extLst>
          </p:cNvPr>
          <p:cNvCxnSpPr>
            <a:cxnSpLocks/>
          </p:cNvCxnSpPr>
          <p:nvPr/>
        </p:nvCxnSpPr>
        <p:spPr>
          <a:xfrm flipH="1">
            <a:off x="637507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6DEEA0-B242-41C7-E22E-C14C92843220}"/>
              </a:ext>
            </a:extLst>
          </p:cNvPr>
          <p:cNvCxnSpPr>
            <a:cxnSpLocks/>
          </p:cNvCxnSpPr>
          <p:nvPr/>
        </p:nvCxnSpPr>
        <p:spPr>
          <a:xfrm flipH="1">
            <a:off x="8775287"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E87235C-BD67-CDA5-A0BC-98913928D313}"/>
              </a:ext>
            </a:extLst>
          </p:cNvPr>
          <p:cNvCxnSpPr>
            <a:cxnSpLocks/>
          </p:cNvCxnSpPr>
          <p:nvPr/>
        </p:nvCxnSpPr>
        <p:spPr>
          <a:xfrm flipH="1">
            <a:off x="153770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BE330B98-251B-F745-57F1-4D9E8C9AC202}"/>
              </a:ext>
            </a:extLst>
          </p:cNvPr>
          <p:cNvCxnSpPr>
            <a:cxnSpLocks/>
          </p:cNvCxnSpPr>
          <p:nvPr/>
        </p:nvCxnSpPr>
        <p:spPr>
          <a:xfrm flipH="1">
            <a:off x="996540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F8C7F67-4F21-06F9-9BC2-72E2BEAB165B}"/>
              </a:ext>
            </a:extLst>
          </p:cNvPr>
          <p:cNvCxnSpPr>
            <a:cxnSpLocks/>
          </p:cNvCxnSpPr>
          <p:nvPr/>
        </p:nvCxnSpPr>
        <p:spPr>
          <a:xfrm flipH="1">
            <a:off x="677519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5D9939-EA82-5A2A-6631-B34567E7166F}"/>
              </a:ext>
            </a:extLst>
          </p:cNvPr>
          <p:cNvCxnSpPr>
            <a:cxnSpLocks/>
          </p:cNvCxnSpPr>
          <p:nvPr/>
        </p:nvCxnSpPr>
        <p:spPr>
          <a:xfrm flipH="1">
            <a:off x="5932778"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7B8D8F5-EAF8-9099-AC5B-9597ED8A85A9}"/>
              </a:ext>
            </a:extLst>
          </p:cNvPr>
          <p:cNvCxnSpPr>
            <a:cxnSpLocks/>
          </p:cNvCxnSpPr>
          <p:nvPr/>
        </p:nvCxnSpPr>
        <p:spPr>
          <a:xfrm flipH="1">
            <a:off x="5548133"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9FB0238A-DD5C-6BBE-6DE9-94C5BFD7042A}"/>
              </a:ext>
            </a:extLst>
          </p:cNvPr>
          <p:cNvCxnSpPr>
            <a:cxnSpLocks/>
          </p:cNvCxnSpPr>
          <p:nvPr/>
        </p:nvCxnSpPr>
        <p:spPr>
          <a:xfrm>
            <a:off x="1925635" y="2702710"/>
            <a:ext cx="20034"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3" name="Oval 352">
            <a:extLst>
              <a:ext uri="{FF2B5EF4-FFF2-40B4-BE49-F238E27FC236}">
                <a16:creationId xmlns:a16="http://schemas.microsoft.com/office/drawing/2014/main" id="{D1CAE7F5-319F-F92F-E424-04FD42DBA192}"/>
              </a:ext>
            </a:extLst>
          </p:cNvPr>
          <p:cNvSpPr/>
          <p:nvPr/>
        </p:nvSpPr>
        <p:spPr>
          <a:xfrm>
            <a:off x="1807644"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2" name="Oval 351">
            <a:extLst>
              <a:ext uri="{FF2B5EF4-FFF2-40B4-BE49-F238E27FC236}">
                <a16:creationId xmlns:a16="http://schemas.microsoft.com/office/drawing/2014/main" id="{000EFC07-D71D-03C7-A011-F156FCD187BF}"/>
              </a:ext>
            </a:extLst>
          </p:cNvPr>
          <p:cNvSpPr/>
          <p:nvPr/>
        </p:nvSpPr>
        <p:spPr>
          <a:xfrm>
            <a:off x="9832531" y="360236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 name="Straight Connector 13">
            <a:extLst>
              <a:ext uri="{FF2B5EF4-FFF2-40B4-BE49-F238E27FC236}">
                <a16:creationId xmlns:a16="http://schemas.microsoft.com/office/drawing/2014/main" id="{7C26A69B-5997-BF94-7CAF-6D6E35547C7E}"/>
              </a:ext>
            </a:extLst>
          </p:cNvPr>
          <p:cNvCxnSpPr>
            <a:cxnSpLocks/>
          </p:cNvCxnSpPr>
          <p:nvPr/>
        </p:nvCxnSpPr>
        <p:spPr>
          <a:xfrm flipH="1">
            <a:off x="393716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12B6284-1735-7195-67F5-CC271C7F5337}"/>
              </a:ext>
            </a:extLst>
          </p:cNvPr>
          <p:cNvCxnSpPr>
            <a:cxnSpLocks/>
          </p:cNvCxnSpPr>
          <p:nvPr/>
        </p:nvCxnSpPr>
        <p:spPr>
          <a:xfrm flipH="1">
            <a:off x="272015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1">
            <a:extLst>
              <a:ext uri="{FF2B5EF4-FFF2-40B4-BE49-F238E27FC236}">
                <a16:creationId xmlns:a16="http://schemas.microsoft.com/office/drawing/2014/main" id="{D0D425B4-EB65-8EE6-DD86-ABA688DA68E1}"/>
              </a:ext>
            </a:extLst>
          </p:cNvPr>
          <p:cNvSpPr txBox="1">
            <a:spLocks/>
          </p:cNvSpPr>
          <p:nvPr/>
        </p:nvSpPr>
        <p:spPr>
          <a:xfrm>
            <a:off x="457200" y="224945"/>
            <a:ext cx="10149840" cy="825050"/>
          </a:xfrm>
          <a:prstGeom prst="rect">
            <a:avLst/>
          </a:prstGeom>
        </p:spPr>
        <p:txBody>
          <a:bodyPr vert="horz" lIns="91440" tIns="45720" rIns="91440" bIns="45720" rtlCol="0" anchor="ctr" wrap="square">
            <a:noAutofit/>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l" defTabSz="914172" rtl="0" eaLnBrk="1" fontAlgn="auto" latinLnBrk="0" hangingPunct="1">
              <a:lnSpc>
                <a:spcPct val="90000"/>
              </a:lnSpc>
              <a:spcBef>
                <a:spcPct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itchFamily="2" charset="77"/>
                <a:ea typeface="+mj-ea"/>
                <a:cs typeface="+mj-cs"/>
              </a:rPr>
              <a:t>Varying peer responses to federal actions</a:t>
            </a:r>
            <a:br>
              <a:rPr kumimoji="0" lang="en-US" sz="2400" b="1" i="0"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600" b="0" i="1" u="none" strike="noStrike" kern="1200" cap="none" spc="0" normalizeH="0" baseline="0" noProof="0" dirty="0">
                <a:ln>
                  <a:noFill/>
                </a:ln>
                <a:solidFill>
                  <a:srgbClr val="000000"/>
                </a:solidFill>
                <a:effectLst/>
                <a:uLnTx/>
                <a:uFillTx/>
                <a:latin typeface="Lato" pitchFamily="2" charset="77"/>
                <a:ea typeface="+mj-ea"/>
                <a:cs typeface="+mj-cs"/>
              </a:rPr>
              <a:t>Peer institutions have taken multiple steps to mitigate funding cuts, EOs, and endowment taxation</a:t>
            </a:r>
          </a:p>
        </p:txBody>
      </p:sp>
      <p:pic>
        <p:nvPicPr>
          <p:cNvPr id="58" name="Picture 22">
            <a:extLst>
              <a:ext uri="{FF2B5EF4-FFF2-40B4-BE49-F238E27FC236}">
                <a16:creationId xmlns:a16="http://schemas.microsoft.com/office/drawing/2014/main" id="{277AC3D8-5E74-32BF-E13B-A2F09B63F10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426919" y="1276771"/>
            <a:ext cx="396490" cy="205060"/>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78" descr="http://content.sportslogos.net/logos/33/800/full/2580.gif">
            <a:extLst>
              <a:ext uri="{FF2B5EF4-FFF2-40B4-BE49-F238E27FC236}">
                <a16:creationId xmlns:a16="http://schemas.microsoft.com/office/drawing/2014/main" id="{510E0992-5E70-6466-0F13-2D40C212577F}"/>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3351846" y="1245908"/>
            <a:ext cx="365760" cy="32743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7" name="Table 66">
            <a:extLst>
              <a:ext uri="{FF2B5EF4-FFF2-40B4-BE49-F238E27FC236}">
                <a16:creationId xmlns:a16="http://schemas.microsoft.com/office/drawing/2014/main" id="{C7ACC221-DD79-742E-72E3-4C7C6675338A}"/>
              </a:ext>
            </a:extLst>
          </p:cNvPr>
          <p:cNvGraphicFramePr>
            <a:graphicFrameLocks noGrp="1"/>
          </p:cNvGraphicFramePr>
          <p:nvPr/>
        </p:nvGraphicFramePr>
        <p:xfrm>
          <a:off x="1316954" y="2031888"/>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1217471073"/>
                    </a:ext>
                  </a:extLst>
                </a:gridCol>
                <a:gridCol w="402336">
                  <a:extLst>
                    <a:ext uri="{9D8B030D-6E8A-4147-A177-3AD203B41FA5}">
                      <a16:colId xmlns:a16="http://schemas.microsoft.com/office/drawing/2014/main" val="3721799941"/>
                    </a:ext>
                  </a:extLst>
                </a:gridCol>
                <a:gridCol w="402336">
                  <a:extLst>
                    <a:ext uri="{9D8B030D-6E8A-4147-A177-3AD203B41FA5}">
                      <a16:colId xmlns:a16="http://schemas.microsoft.com/office/drawing/2014/main" val="3963487280"/>
                    </a:ext>
                  </a:extLst>
                </a:gridCol>
                <a:gridCol w="402336">
                  <a:extLst>
                    <a:ext uri="{9D8B030D-6E8A-4147-A177-3AD203B41FA5}">
                      <a16:colId xmlns:a16="http://schemas.microsoft.com/office/drawing/2014/main" val="3273303342"/>
                    </a:ext>
                  </a:extLst>
                </a:gridCol>
                <a:gridCol w="402336">
                  <a:extLst>
                    <a:ext uri="{9D8B030D-6E8A-4147-A177-3AD203B41FA5}">
                      <a16:colId xmlns:a16="http://schemas.microsoft.com/office/drawing/2014/main" val="655990254"/>
                    </a:ext>
                  </a:extLst>
                </a:gridCol>
                <a:gridCol w="402336">
                  <a:extLst>
                    <a:ext uri="{9D8B030D-6E8A-4147-A177-3AD203B41FA5}">
                      <a16:colId xmlns:a16="http://schemas.microsoft.com/office/drawing/2014/main" val="1126211103"/>
                    </a:ext>
                  </a:extLst>
                </a:gridCol>
                <a:gridCol w="402336">
                  <a:extLst>
                    <a:ext uri="{9D8B030D-6E8A-4147-A177-3AD203B41FA5}">
                      <a16:colId xmlns:a16="http://schemas.microsoft.com/office/drawing/2014/main" val="3106119493"/>
                    </a:ext>
                  </a:extLst>
                </a:gridCol>
                <a:gridCol w="402336">
                  <a:extLst>
                    <a:ext uri="{9D8B030D-6E8A-4147-A177-3AD203B41FA5}">
                      <a16:colId xmlns:a16="http://schemas.microsoft.com/office/drawing/2014/main" val="3191713148"/>
                    </a:ext>
                  </a:extLst>
                </a:gridCol>
                <a:gridCol w="402336">
                  <a:extLst>
                    <a:ext uri="{9D8B030D-6E8A-4147-A177-3AD203B41FA5}">
                      <a16:colId xmlns:a16="http://schemas.microsoft.com/office/drawing/2014/main" val="2418067580"/>
                    </a:ext>
                  </a:extLst>
                </a:gridCol>
                <a:gridCol w="402336">
                  <a:extLst>
                    <a:ext uri="{9D8B030D-6E8A-4147-A177-3AD203B41FA5}">
                      <a16:colId xmlns:a16="http://schemas.microsoft.com/office/drawing/2014/main" val="3137580327"/>
                    </a:ext>
                  </a:extLst>
                </a:gridCol>
                <a:gridCol w="402336">
                  <a:extLst>
                    <a:ext uri="{9D8B030D-6E8A-4147-A177-3AD203B41FA5}">
                      <a16:colId xmlns:a16="http://schemas.microsoft.com/office/drawing/2014/main" val="73105574"/>
                    </a:ext>
                  </a:extLst>
                </a:gridCol>
                <a:gridCol w="402336">
                  <a:extLst>
                    <a:ext uri="{9D8B030D-6E8A-4147-A177-3AD203B41FA5}">
                      <a16:colId xmlns:a16="http://schemas.microsoft.com/office/drawing/2014/main" val="1504946575"/>
                    </a:ext>
                  </a:extLst>
                </a:gridCol>
                <a:gridCol w="402336">
                  <a:extLst>
                    <a:ext uri="{9D8B030D-6E8A-4147-A177-3AD203B41FA5}">
                      <a16:colId xmlns:a16="http://schemas.microsoft.com/office/drawing/2014/main" val="3371090021"/>
                    </a:ext>
                  </a:extLst>
                </a:gridCol>
                <a:gridCol w="402336">
                  <a:extLst>
                    <a:ext uri="{9D8B030D-6E8A-4147-A177-3AD203B41FA5}">
                      <a16:colId xmlns:a16="http://schemas.microsoft.com/office/drawing/2014/main" val="2641895684"/>
                    </a:ext>
                  </a:extLst>
                </a:gridCol>
                <a:gridCol w="402336">
                  <a:extLst>
                    <a:ext uri="{9D8B030D-6E8A-4147-A177-3AD203B41FA5}">
                      <a16:colId xmlns:a16="http://schemas.microsoft.com/office/drawing/2014/main" val="3354512810"/>
                    </a:ext>
                  </a:extLst>
                </a:gridCol>
                <a:gridCol w="402336">
                  <a:extLst>
                    <a:ext uri="{9D8B030D-6E8A-4147-A177-3AD203B41FA5}">
                      <a16:colId xmlns:a16="http://schemas.microsoft.com/office/drawing/2014/main" val="2093702538"/>
                    </a:ext>
                  </a:extLst>
                </a:gridCol>
                <a:gridCol w="402336">
                  <a:extLst>
                    <a:ext uri="{9D8B030D-6E8A-4147-A177-3AD203B41FA5}">
                      <a16:colId xmlns:a16="http://schemas.microsoft.com/office/drawing/2014/main" val="2656000854"/>
                    </a:ext>
                  </a:extLst>
                </a:gridCol>
                <a:gridCol w="402336">
                  <a:extLst>
                    <a:ext uri="{9D8B030D-6E8A-4147-A177-3AD203B41FA5}">
                      <a16:colId xmlns:a16="http://schemas.microsoft.com/office/drawing/2014/main" val="995811764"/>
                    </a:ext>
                  </a:extLst>
                </a:gridCol>
                <a:gridCol w="402336">
                  <a:extLst>
                    <a:ext uri="{9D8B030D-6E8A-4147-A177-3AD203B41FA5}">
                      <a16:colId xmlns:a16="http://schemas.microsoft.com/office/drawing/2014/main" val="2382333075"/>
                    </a:ext>
                  </a:extLst>
                </a:gridCol>
                <a:gridCol w="402336">
                  <a:extLst>
                    <a:ext uri="{9D8B030D-6E8A-4147-A177-3AD203B41FA5}">
                      <a16:colId xmlns:a16="http://schemas.microsoft.com/office/drawing/2014/main" val="3188520021"/>
                    </a:ext>
                  </a:extLst>
                </a:gridCol>
                <a:gridCol w="402336">
                  <a:extLst>
                    <a:ext uri="{9D8B030D-6E8A-4147-A177-3AD203B41FA5}">
                      <a16:colId xmlns:a16="http://schemas.microsoft.com/office/drawing/2014/main" val="1816065508"/>
                    </a:ext>
                  </a:extLst>
                </a:gridCol>
                <a:gridCol w="402336">
                  <a:extLst>
                    <a:ext uri="{9D8B030D-6E8A-4147-A177-3AD203B41FA5}">
                      <a16:colId xmlns:a16="http://schemas.microsoft.com/office/drawing/2014/main" val="2858969405"/>
                    </a:ext>
                  </a:extLst>
                </a:gridCol>
                <a:gridCol w="402336">
                  <a:extLst>
                    <a:ext uri="{9D8B030D-6E8A-4147-A177-3AD203B41FA5}">
                      <a16:colId xmlns:a16="http://schemas.microsoft.com/office/drawing/2014/main" val="795978337"/>
                    </a:ext>
                  </a:extLst>
                </a:gridCol>
                <a:gridCol w="402336">
                  <a:extLst>
                    <a:ext uri="{9D8B030D-6E8A-4147-A177-3AD203B41FA5}">
                      <a16:colId xmlns:a16="http://schemas.microsoft.com/office/drawing/2014/main" val="3466575170"/>
                    </a:ext>
                  </a:extLst>
                </a:gridCol>
                <a:gridCol w="402336">
                  <a:extLst>
                    <a:ext uri="{9D8B030D-6E8A-4147-A177-3AD203B41FA5}">
                      <a16:colId xmlns:a16="http://schemas.microsoft.com/office/drawing/2014/main" val="546262350"/>
                    </a:ext>
                  </a:extLst>
                </a:gridCol>
              </a:tblGrid>
              <a:tr h="274320">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$53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$22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889487310"/>
                  </a:ext>
                </a:extLst>
              </a:tr>
            </a:tbl>
          </a:graphicData>
        </a:graphic>
      </p:graphicFrame>
      <p:graphicFrame>
        <p:nvGraphicFramePr>
          <p:cNvPr id="68" name="Table 67">
            <a:extLst>
              <a:ext uri="{FF2B5EF4-FFF2-40B4-BE49-F238E27FC236}">
                <a16:creationId xmlns:a16="http://schemas.microsoft.com/office/drawing/2014/main" id="{162F1CFA-B7FC-A6E8-C0EC-3172B38BE85F}"/>
              </a:ext>
            </a:extLst>
          </p:cNvPr>
          <p:cNvGraphicFramePr>
            <a:graphicFrameLocks noGrp="1"/>
          </p:cNvGraphicFramePr>
          <p:nvPr/>
        </p:nvGraphicFramePr>
        <p:xfrm>
          <a:off x="440100" y="3009375"/>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Hiring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69" name="Table 68">
            <a:extLst>
              <a:ext uri="{FF2B5EF4-FFF2-40B4-BE49-F238E27FC236}">
                <a16:creationId xmlns:a16="http://schemas.microsoft.com/office/drawing/2014/main" id="{F49B9D2F-86D0-36BB-BA82-29E198F15B3C}"/>
              </a:ext>
            </a:extLst>
          </p:cNvPr>
          <p:cNvGraphicFramePr>
            <a:graphicFrameLocks noGrp="1"/>
          </p:cNvGraphicFramePr>
          <p:nvPr/>
        </p:nvGraphicFramePr>
        <p:xfrm>
          <a:off x="440100" y="355280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Salary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0" name="Table 69">
            <a:extLst>
              <a:ext uri="{FF2B5EF4-FFF2-40B4-BE49-F238E27FC236}">
                <a16:creationId xmlns:a16="http://schemas.microsoft.com/office/drawing/2014/main" id="{F6A63DB6-944C-6C59-6DC7-45A2F0434C86}"/>
              </a:ext>
            </a:extLst>
          </p:cNvPr>
          <p:cNvGraphicFramePr>
            <a:graphicFrameLocks noGrp="1"/>
          </p:cNvGraphicFramePr>
          <p:nvPr/>
        </p:nvGraphicFramePr>
        <p:xfrm>
          <a:off x="444683" y="4133092"/>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Budget Reductions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1" name="Table 70">
            <a:extLst>
              <a:ext uri="{FF2B5EF4-FFF2-40B4-BE49-F238E27FC236}">
                <a16:creationId xmlns:a16="http://schemas.microsoft.com/office/drawing/2014/main" id="{9FE9AE9D-35D0-6391-CA25-0BEA4F9BB833}"/>
              </a:ext>
            </a:extLst>
          </p:cNvPr>
          <p:cNvGraphicFramePr>
            <a:graphicFrameLocks noGrp="1"/>
          </p:cNvGraphicFramePr>
          <p:nvPr/>
        </p:nvGraphicFramePr>
        <p:xfrm>
          <a:off x="444683" y="470032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err="1">
                          <a:solidFill>
                            <a:schemeClr val="bg1"/>
                          </a:solidFill>
                          <a:latin typeface="Lato" panose="020B0604020202020204" pitchFamily="34" charset="0"/>
                          <a:cs typeface="Arial" panose="020B0604020202020204" pitchFamily="34" charset="0"/>
                        </a:rPr>
                        <a:t>CapEx</a:t>
                      </a:r>
                      <a:r>
                        <a:rPr lang="en-US" sz="1050" b="1" dirty="0">
                          <a:solidFill>
                            <a:schemeClr val="bg1"/>
                          </a:solidFill>
                          <a:latin typeface="Lato" panose="020B0604020202020204" pitchFamily="34" charset="0"/>
                          <a:cs typeface="Arial" panose="020B0604020202020204" pitchFamily="34" charset="0"/>
                        </a:rPr>
                        <a:t>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2" name="Table 71">
            <a:extLst>
              <a:ext uri="{FF2B5EF4-FFF2-40B4-BE49-F238E27FC236}">
                <a16:creationId xmlns:a16="http://schemas.microsoft.com/office/drawing/2014/main" id="{61D8FB36-A093-054E-25D4-1E730A9E9850}"/>
              </a:ext>
            </a:extLst>
          </p:cNvPr>
          <p:cNvGraphicFramePr>
            <a:graphicFrameLocks noGrp="1"/>
          </p:cNvGraphicFramePr>
          <p:nvPr/>
        </p:nvGraphicFramePr>
        <p:xfrm>
          <a:off x="435083" y="5252455"/>
          <a:ext cx="914400" cy="51435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Graduate Program Impacts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3" name="Table 72">
            <a:extLst>
              <a:ext uri="{FF2B5EF4-FFF2-40B4-BE49-F238E27FC236}">
                <a16:creationId xmlns:a16="http://schemas.microsoft.com/office/drawing/2014/main" id="{B16AB196-D41C-72E2-0332-FB1457568AF4}"/>
              </a:ext>
            </a:extLst>
          </p:cNvPr>
          <p:cNvGraphicFramePr>
            <a:graphicFrameLocks noGrp="1"/>
          </p:cNvGraphicFramePr>
          <p:nvPr/>
        </p:nvGraphicFramePr>
        <p:xfrm>
          <a:off x="1316954" y="1694725"/>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3366727930"/>
                    </a:ext>
                  </a:extLst>
                </a:gridCol>
                <a:gridCol w="402336">
                  <a:extLst>
                    <a:ext uri="{9D8B030D-6E8A-4147-A177-3AD203B41FA5}">
                      <a16:colId xmlns:a16="http://schemas.microsoft.com/office/drawing/2014/main" val="2098882434"/>
                    </a:ext>
                  </a:extLst>
                </a:gridCol>
                <a:gridCol w="402336">
                  <a:extLst>
                    <a:ext uri="{9D8B030D-6E8A-4147-A177-3AD203B41FA5}">
                      <a16:colId xmlns:a16="http://schemas.microsoft.com/office/drawing/2014/main" val="2577283830"/>
                    </a:ext>
                  </a:extLst>
                </a:gridCol>
                <a:gridCol w="402336">
                  <a:extLst>
                    <a:ext uri="{9D8B030D-6E8A-4147-A177-3AD203B41FA5}">
                      <a16:colId xmlns:a16="http://schemas.microsoft.com/office/drawing/2014/main" val="1698402314"/>
                    </a:ext>
                  </a:extLst>
                </a:gridCol>
                <a:gridCol w="402336">
                  <a:extLst>
                    <a:ext uri="{9D8B030D-6E8A-4147-A177-3AD203B41FA5}">
                      <a16:colId xmlns:a16="http://schemas.microsoft.com/office/drawing/2014/main" val="1150464436"/>
                    </a:ext>
                  </a:extLst>
                </a:gridCol>
                <a:gridCol w="402336">
                  <a:extLst>
                    <a:ext uri="{9D8B030D-6E8A-4147-A177-3AD203B41FA5}">
                      <a16:colId xmlns:a16="http://schemas.microsoft.com/office/drawing/2014/main" val="357585251"/>
                    </a:ext>
                  </a:extLst>
                </a:gridCol>
                <a:gridCol w="402336">
                  <a:extLst>
                    <a:ext uri="{9D8B030D-6E8A-4147-A177-3AD203B41FA5}">
                      <a16:colId xmlns:a16="http://schemas.microsoft.com/office/drawing/2014/main" val="3436109549"/>
                    </a:ext>
                  </a:extLst>
                </a:gridCol>
                <a:gridCol w="402336">
                  <a:extLst>
                    <a:ext uri="{9D8B030D-6E8A-4147-A177-3AD203B41FA5}">
                      <a16:colId xmlns:a16="http://schemas.microsoft.com/office/drawing/2014/main" val="3059888493"/>
                    </a:ext>
                  </a:extLst>
                </a:gridCol>
                <a:gridCol w="402336">
                  <a:extLst>
                    <a:ext uri="{9D8B030D-6E8A-4147-A177-3AD203B41FA5}">
                      <a16:colId xmlns:a16="http://schemas.microsoft.com/office/drawing/2014/main" val="231828248"/>
                    </a:ext>
                  </a:extLst>
                </a:gridCol>
                <a:gridCol w="402336">
                  <a:extLst>
                    <a:ext uri="{9D8B030D-6E8A-4147-A177-3AD203B41FA5}">
                      <a16:colId xmlns:a16="http://schemas.microsoft.com/office/drawing/2014/main" val="1442598195"/>
                    </a:ext>
                  </a:extLst>
                </a:gridCol>
                <a:gridCol w="402336">
                  <a:extLst>
                    <a:ext uri="{9D8B030D-6E8A-4147-A177-3AD203B41FA5}">
                      <a16:colId xmlns:a16="http://schemas.microsoft.com/office/drawing/2014/main" val="2218046626"/>
                    </a:ext>
                  </a:extLst>
                </a:gridCol>
                <a:gridCol w="402336">
                  <a:extLst>
                    <a:ext uri="{9D8B030D-6E8A-4147-A177-3AD203B41FA5}">
                      <a16:colId xmlns:a16="http://schemas.microsoft.com/office/drawing/2014/main" val="3942148956"/>
                    </a:ext>
                  </a:extLst>
                </a:gridCol>
                <a:gridCol w="402336">
                  <a:extLst>
                    <a:ext uri="{9D8B030D-6E8A-4147-A177-3AD203B41FA5}">
                      <a16:colId xmlns:a16="http://schemas.microsoft.com/office/drawing/2014/main" val="2368816920"/>
                    </a:ext>
                  </a:extLst>
                </a:gridCol>
                <a:gridCol w="402336">
                  <a:extLst>
                    <a:ext uri="{9D8B030D-6E8A-4147-A177-3AD203B41FA5}">
                      <a16:colId xmlns:a16="http://schemas.microsoft.com/office/drawing/2014/main" val="1195966348"/>
                    </a:ext>
                  </a:extLst>
                </a:gridCol>
                <a:gridCol w="402336">
                  <a:extLst>
                    <a:ext uri="{9D8B030D-6E8A-4147-A177-3AD203B41FA5}">
                      <a16:colId xmlns:a16="http://schemas.microsoft.com/office/drawing/2014/main" val="1404368841"/>
                    </a:ext>
                  </a:extLst>
                </a:gridCol>
                <a:gridCol w="402336">
                  <a:extLst>
                    <a:ext uri="{9D8B030D-6E8A-4147-A177-3AD203B41FA5}">
                      <a16:colId xmlns:a16="http://schemas.microsoft.com/office/drawing/2014/main" val="27775497"/>
                    </a:ext>
                  </a:extLst>
                </a:gridCol>
                <a:gridCol w="402336">
                  <a:extLst>
                    <a:ext uri="{9D8B030D-6E8A-4147-A177-3AD203B41FA5}">
                      <a16:colId xmlns:a16="http://schemas.microsoft.com/office/drawing/2014/main" val="1604726318"/>
                    </a:ext>
                  </a:extLst>
                </a:gridCol>
                <a:gridCol w="402336">
                  <a:extLst>
                    <a:ext uri="{9D8B030D-6E8A-4147-A177-3AD203B41FA5}">
                      <a16:colId xmlns:a16="http://schemas.microsoft.com/office/drawing/2014/main" val="4124560193"/>
                    </a:ext>
                  </a:extLst>
                </a:gridCol>
                <a:gridCol w="402336">
                  <a:extLst>
                    <a:ext uri="{9D8B030D-6E8A-4147-A177-3AD203B41FA5}">
                      <a16:colId xmlns:a16="http://schemas.microsoft.com/office/drawing/2014/main" val="697317155"/>
                    </a:ext>
                  </a:extLst>
                </a:gridCol>
                <a:gridCol w="402336">
                  <a:extLst>
                    <a:ext uri="{9D8B030D-6E8A-4147-A177-3AD203B41FA5}">
                      <a16:colId xmlns:a16="http://schemas.microsoft.com/office/drawing/2014/main" val="2448743457"/>
                    </a:ext>
                  </a:extLst>
                </a:gridCol>
                <a:gridCol w="402336">
                  <a:extLst>
                    <a:ext uri="{9D8B030D-6E8A-4147-A177-3AD203B41FA5}">
                      <a16:colId xmlns:a16="http://schemas.microsoft.com/office/drawing/2014/main" val="2052985718"/>
                    </a:ext>
                  </a:extLst>
                </a:gridCol>
                <a:gridCol w="402336">
                  <a:extLst>
                    <a:ext uri="{9D8B030D-6E8A-4147-A177-3AD203B41FA5}">
                      <a16:colId xmlns:a16="http://schemas.microsoft.com/office/drawing/2014/main" val="3462503137"/>
                    </a:ext>
                  </a:extLst>
                </a:gridCol>
                <a:gridCol w="402336">
                  <a:extLst>
                    <a:ext uri="{9D8B030D-6E8A-4147-A177-3AD203B41FA5}">
                      <a16:colId xmlns:a16="http://schemas.microsoft.com/office/drawing/2014/main" val="2622585511"/>
                    </a:ext>
                  </a:extLst>
                </a:gridCol>
                <a:gridCol w="402336">
                  <a:extLst>
                    <a:ext uri="{9D8B030D-6E8A-4147-A177-3AD203B41FA5}">
                      <a16:colId xmlns:a16="http://schemas.microsoft.com/office/drawing/2014/main" val="4077840197"/>
                    </a:ext>
                  </a:extLst>
                </a:gridCol>
                <a:gridCol w="402336">
                  <a:extLst>
                    <a:ext uri="{9D8B030D-6E8A-4147-A177-3AD203B41FA5}">
                      <a16:colId xmlns:a16="http://schemas.microsoft.com/office/drawing/2014/main" val="979228763"/>
                    </a:ext>
                  </a:extLst>
                </a:gridCol>
              </a:tblGrid>
              <a:tr h="274320">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$404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$139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$470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$103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$858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$488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$356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$646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$567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$732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$269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$127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263575597"/>
                  </a:ext>
                </a:extLst>
              </a:tr>
            </a:tbl>
          </a:graphicData>
        </a:graphic>
      </p:graphicFrame>
      <p:graphicFrame>
        <p:nvGraphicFramePr>
          <p:cNvPr id="74" name="Table 73">
            <a:extLst>
              <a:ext uri="{FF2B5EF4-FFF2-40B4-BE49-F238E27FC236}">
                <a16:creationId xmlns:a16="http://schemas.microsoft.com/office/drawing/2014/main" id="{4ABA5ACF-AA1C-8FC6-E877-C05DF27AC4C9}"/>
              </a:ext>
            </a:extLst>
          </p:cNvPr>
          <p:cNvGraphicFramePr>
            <a:graphicFrameLocks noGrp="1"/>
          </p:cNvGraphicFramePr>
          <p:nvPr/>
        </p:nvGraphicFramePr>
        <p:xfrm>
          <a:off x="440100" y="1693554"/>
          <a:ext cx="876854" cy="250600"/>
        </p:xfrm>
        <a:graphic>
          <a:graphicData uri="http://schemas.openxmlformats.org/drawingml/2006/table">
            <a:tbl>
              <a:tblPr firstRow="1" bandRow="1">
                <a:tableStyleId>{5C22544A-7EE6-4342-B048-85BDC9FD1C3A}</a:tableStyleId>
              </a:tblPr>
              <a:tblGrid>
                <a:gridCol w="876854">
                  <a:extLst>
                    <a:ext uri="{9D8B030D-6E8A-4147-A177-3AD203B41FA5}">
                      <a16:colId xmlns:a16="http://schemas.microsoft.com/office/drawing/2014/main" val="2886319902"/>
                    </a:ext>
                  </a:extLst>
                </a:gridCol>
              </a:tblGrid>
              <a:tr h="278445">
                <a:tc>
                  <a:txBody>
                    <a:bodyPr/>
                    <a:lstStyle/>
                    <a:p>
                      <a:pPr algn="ctr"/>
                      <a:r>
                        <a:rPr lang="en-US" sz="700" b="1" i="1" kern="1200" dirty="0">
                          <a:solidFill>
                            <a:schemeClr val="bg1"/>
                          </a:solidFill>
                          <a:latin typeface="Lato" panose="020B0604020202020204" pitchFamily="34" charset="0"/>
                          <a:ea typeface="+mn-ea"/>
                          <a:cs typeface="Arial" panose="020B0604020202020204" pitchFamily="34" charset="0"/>
                        </a:rPr>
                        <a:t>NIH Funding (‘24)</a:t>
                      </a:r>
                    </a:p>
                  </a:txBody>
                  <a:tcPr marL="45720" marR="4572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graphicFrame>
        <p:nvGraphicFramePr>
          <p:cNvPr id="75" name="Table 74">
            <a:extLst>
              <a:ext uri="{FF2B5EF4-FFF2-40B4-BE49-F238E27FC236}">
                <a16:creationId xmlns:a16="http://schemas.microsoft.com/office/drawing/2014/main" id="{F0FA1C2C-18AA-6C5C-8D51-622FDEEE2FA7}"/>
              </a:ext>
            </a:extLst>
          </p:cNvPr>
          <p:cNvGraphicFramePr>
            <a:graphicFrameLocks noGrp="1"/>
          </p:cNvGraphicFramePr>
          <p:nvPr/>
        </p:nvGraphicFramePr>
        <p:xfrm>
          <a:off x="435082" y="2031855"/>
          <a:ext cx="914399" cy="246888"/>
        </p:xfrm>
        <a:graphic>
          <a:graphicData uri="http://schemas.openxmlformats.org/drawingml/2006/table">
            <a:tbl>
              <a:tblPr firstRow="1" bandRow="1">
                <a:tableStyleId>{5C22544A-7EE6-4342-B048-85BDC9FD1C3A}</a:tableStyleId>
              </a:tblPr>
              <a:tblGrid>
                <a:gridCol w="914399">
                  <a:extLst>
                    <a:ext uri="{9D8B030D-6E8A-4147-A177-3AD203B41FA5}">
                      <a16:colId xmlns:a16="http://schemas.microsoft.com/office/drawing/2014/main" val="2886319902"/>
                    </a:ext>
                  </a:extLst>
                </a:gridCol>
              </a:tblGrid>
              <a:tr h="274320">
                <a:tc>
                  <a:txBody>
                    <a:bodyPr/>
                    <a:lstStyle/>
                    <a:p>
                      <a:pPr algn="ctr"/>
                      <a:r>
                        <a:rPr lang="en-US" sz="1000" b="1" i="1" kern="1200" dirty="0">
                          <a:solidFill>
                            <a:srgbClr val="FFFFFF"/>
                          </a:solidFill>
                          <a:latin typeface="Lato" panose="020B0604020202020204" pitchFamily="34" charset="0"/>
                          <a:ea typeface="+mn-ea"/>
                          <a:cs typeface="Arial" panose="020B0604020202020204" pitchFamily="34" charset="0"/>
                        </a:rPr>
                        <a:t>Endowment</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sp>
        <p:nvSpPr>
          <p:cNvPr id="77" name="TextBox 76">
            <a:extLst>
              <a:ext uri="{FF2B5EF4-FFF2-40B4-BE49-F238E27FC236}">
                <a16:creationId xmlns:a16="http://schemas.microsoft.com/office/drawing/2014/main" id="{5A06EFFF-BE2E-A4EB-62AC-6D8186EE9D09}"/>
              </a:ext>
            </a:extLst>
          </p:cNvPr>
          <p:cNvSpPr txBox="1"/>
          <p:nvPr/>
        </p:nvSpPr>
        <p:spPr>
          <a:xfrm>
            <a:off x="386005" y="1901298"/>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million</a:t>
            </a:r>
          </a:p>
        </p:txBody>
      </p:sp>
      <p:sp>
        <p:nvSpPr>
          <p:cNvPr id="78" name="TextBox 77">
            <a:extLst>
              <a:ext uri="{FF2B5EF4-FFF2-40B4-BE49-F238E27FC236}">
                <a16:creationId xmlns:a16="http://schemas.microsoft.com/office/drawing/2014/main" id="{8D7E73F0-5C63-2EF1-A943-25C094A89151}"/>
              </a:ext>
            </a:extLst>
          </p:cNvPr>
          <p:cNvSpPr txBox="1"/>
          <p:nvPr/>
        </p:nvSpPr>
        <p:spPr>
          <a:xfrm>
            <a:off x="386004" y="2252652"/>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billion</a:t>
            </a:r>
          </a:p>
        </p:txBody>
      </p:sp>
      <p:sp>
        <p:nvSpPr>
          <p:cNvPr id="261" name="Oval 260">
            <a:extLst>
              <a:ext uri="{FF2B5EF4-FFF2-40B4-BE49-F238E27FC236}">
                <a16:creationId xmlns:a16="http://schemas.microsoft.com/office/drawing/2014/main" id="{806436F4-E73D-7988-37B5-0F57DD209C1B}"/>
              </a:ext>
            </a:extLst>
          </p:cNvPr>
          <p:cNvSpPr/>
          <p:nvPr/>
        </p:nvSpPr>
        <p:spPr>
          <a:xfrm>
            <a:off x="1023567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2" name="Oval 261">
            <a:extLst>
              <a:ext uri="{FF2B5EF4-FFF2-40B4-BE49-F238E27FC236}">
                <a16:creationId xmlns:a16="http://schemas.microsoft.com/office/drawing/2014/main" id="{DCC56065-655F-F172-FC09-7E5997DC30B4}"/>
              </a:ext>
            </a:extLst>
          </p:cNvPr>
          <p:cNvSpPr/>
          <p:nvPr/>
        </p:nvSpPr>
        <p:spPr>
          <a:xfrm>
            <a:off x="1023567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3" name="Oval 262">
            <a:extLst>
              <a:ext uri="{FF2B5EF4-FFF2-40B4-BE49-F238E27FC236}">
                <a16:creationId xmlns:a16="http://schemas.microsoft.com/office/drawing/2014/main" id="{D2BCDCF3-71B6-E96A-6922-4B60749C1702}"/>
              </a:ext>
            </a:extLst>
          </p:cNvPr>
          <p:cNvSpPr/>
          <p:nvPr/>
        </p:nvSpPr>
        <p:spPr>
          <a:xfrm>
            <a:off x="102356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4" name="Oval 263">
            <a:extLst>
              <a:ext uri="{FF2B5EF4-FFF2-40B4-BE49-F238E27FC236}">
                <a16:creationId xmlns:a16="http://schemas.microsoft.com/office/drawing/2014/main" id="{46951409-63E2-008B-0B97-87F59D9C8F20}"/>
              </a:ext>
            </a:extLst>
          </p:cNvPr>
          <p:cNvSpPr/>
          <p:nvPr/>
        </p:nvSpPr>
        <p:spPr>
          <a:xfrm>
            <a:off x="10235677"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5" name="Oval 264">
            <a:extLst>
              <a:ext uri="{FF2B5EF4-FFF2-40B4-BE49-F238E27FC236}">
                <a16:creationId xmlns:a16="http://schemas.microsoft.com/office/drawing/2014/main" id="{438B68B4-7C64-C675-4A73-6CCD2E91CEB8}"/>
              </a:ext>
            </a:extLst>
          </p:cNvPr>
          <p:cNvSpPr/>
          <p:nvPr/>
        </p:nvSpPr>
        <p:spPr>
          <a:xfrm>
            <a:off x="10235677"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48" name="Straight Connector 247">
            <a:extLst>
              <a:ext uri="{FF2B5EF4-FFF2-40B4-BE49-F238E27FC236}">
                <a16:creationId xmlns:a16="http://schemas.microsoft.com/office/drawing/2014/main" id="{DBE7CB18-6DAB-D978-4A8B-6A526AE4039F}"/>
              </a:ext>
            </a:extLst>
          </p:cNvPr>
          <p:cNvCxnSpPr>
            <a:cxnSpLocks/>
          </p:cNvCxnSpPr>
          <p:nvPr/>
        </p:nvCxnSpPr>
        <p:spPr>
          <a:xfrm flipH="1">
            <a:off x="10767457"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49" name="Oval 248">
            <a:extLst>
              <a:ext uri="{FF2B5EF4-FFF2-40B4-BE49-F238E27FC236}">
                <a16:creationId xmlns:a16="http://schemas.microsoft.com/office/drawing/2014/main" id="{7A61D202-6AEE-EA41-D47F-9F005FD432B4}"/>
              </a:ext>
            </a:extLst>
          </p:cNvPr>
          <p:cNvSpPr/>
          <p:nvPr/>
        </p:nvSpPr>
        <p:spPr>
          <a:xfrm>
            <a:off x="1063903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0" name="Oval 249">
            <a:extLst>
              <a:ext uri="{FF2B5EF4-FFF2-40B4-BE49-F238E27FC236}">
                <a16:creationId xmlns:a16="http://schemas.microsoft.com/office/drawing/2014/main" id="{3F928196-0B7C-3DD1-D1B7-22829294FF5A}"/>
              </a:ext>
            </a:extLst>
          </p:cNvPr>
          <p:cNvSpPr/>
          <p:nvPr/>
        </p:nvSpPr>
        <p:spPr>
          <a:xfrm>
            <a:off x="106390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1" name="Oval 250">
            <a:extLst>
              <a:ext uri="{FF2B5EF4-FFF2-40B4-BE49-F238E27FC236}">
                <a16:creationId xmlns:a16="http://schemas.microsoft.com/office/drawing/2014/main" id="{3EA91CAF-BE87-BD03-FD2A-336BB74B6559}"/>
              </a:ext>
            </a:extLst>
          </p:cNvPr>
          <p:cNvSpPr/>
          <p:nvPr/>
        </p:nvSpPr>
        <p:spPr>
          <a:xfrm>
            <a:off x="10639039"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2" name="Oval 251">
            <a:extLst>
              <a:ext uri="{FF2B5EF4-FFF2-40B4-BE49-F238E27FC236}">
                <a16:creationId xmlns:a16="http://schemas.microsoft.com/office/drawing/2014/main" id="{45B7BC11-E955-3F05-DF7C-4180B233FEA5}"/>
              </a:ext>
            </a:extLst>
          </p:cNvPr>
          <p:cNvSpPr/>
          <p:nvPr/>
        </p:nvSpPr>
        <p:spPr>
          <a:xfrm>
            <a:off x="10235677" y="258226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3" name="Oval 252">
            <a:extLst>
              <a:ext uri="{FF2B5EF4-FFF2-40B4-BE49-F238E27FC236}">
                <a16:creationId xmlns:a16="http://schemas.microsoft.com/office/drawing/2014/main" id="{46A4064E-1219-26AB-79FA-33D613738961}"/>
              </a:ext>
            </a:extLst>
          </p:cNvPr>
          <p:cNvSpPr/>
          <p:nvPr/>
        </p:nvSpPr>
        <p:spPr>
          <a:xfrm>
            <a:off x="1063903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4" name="Oval 243">
            <a:extLst>
              <a:ext uri="{FF2B5EF4-FFF2-40B4-BE49-F238E27FC236}">
                <a16:creationId xmlns:a16="http://schemas.microsoft.com/office/drawing/2014/main" id="{1DE07E14-5FBC-9DB0-B114-5F85305461FF}"/>
              </a:ext>
            </a:extLst>
          </p:cNvPr>
          <p:cNvSpPr/>
          <p:nvPr/>
        </p:nvSpPr>
        <p:spPr>
          <a:xfrm>
            <a:off x="9832531"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5" name="Oval 244">
            <a:extLst>
              <a:ext uri="{FF2B5EF4-FFF2-40B4-BE49-F238E27FC236}">
                <a16:creationId xmlns:a16="http://schemas.microsoft.com/office/drawing/2014/main" id="{927F8A39-C25D-0114-B9A3-C8468E31183C}"/>
              </a:ext>
            </a:extLst>
          </p:cNvPr>
          <p:cNvSpPr/>
          <p:nvPr/>
        </p:nvSpPr>
        <p:spPr>
          <a:xfrm>
            <a:off x="983253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6" name="Oval 245">
            <a:extLst>
              <a:ext uri="{FF2B5EF4-FFF2-40B4-BE49-F238E27FC236}">
                <a16:creationId xmlns:a16="http://schemas.microsoft.com/office/drawing/2014/main" id="{CDCA74F0-1DC3-DFED-6FC2-EBAED541E349}"/>
              </a:ext>
            </a:extLst>
          </p:cNvPr>
          <p:cNvSpPr/>
          <p:nvPr/>
        </p:nvSpPr>
        <p:spPr>
          <a:xfrm>
            <a:off x="9832531"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7" name="Oval 246">
            <a:extLst>
              <a:ext uri="{FF2B5EF4-FFF2-40B4-BE49-F238E27FC236}">
                <a16:creationId xmlns:a16="http://schemas.microsoft.com/office/drawing/2014/main" id="{6ECBC468-8313-D6EB-FC1A-067C5E184DF7}"/>
              </a:ext>
            </a:extLst>
          </p:cNvPr>
          <p:cNvSpPr/>
          <p:nvPr/>
        </p:nvSpPr>
        <p:spPr>
          <a:xfrm>
            <a:off x="983253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30" name="Straight Connector 229">
            <a:extLst>
              <a:ext uri="{FF2B5EF4-FFF2-40B4-BE49-F238E27FC236}">
                <a16:creationId xmlns:a16="http://schemas.microsoft.com/office/drawing/2014/main" id="{13F116ED-38AA-35C0-85A8-BE73C7BC7DBD}"/>
              </a:ext>
            </a:extLst>
          </p:cNvPr>
          <p:cNvCxnSpPr>
            <a:cxnSpLocks/>
          </p:cNvCxnSpPr>
          <p:nvPr/>
        </p:nvCxnSpPr>
        <p:spPr>
          <a:xfrm>
            <a:off x="3144932" y="2823152"/>
            <a:ext cx="17935"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31" name="Oval 230">
            <a:extLst>
              <a:ext uri="{FF2B5EF4-FFF2-40B4-BE49-F238E27FC236}">
                <a16:creationId xmlns:a16="http://schemas.microsoft.com/office/drawing/2014/main" id="{3DCA81F3-1290-9EC8-2061-1929A0A68DE6}"/>
              </a:ext>
            </a:extLst>
          </p:cNvPr>
          <p:cNvSpPr/>
          <p:nvPr/>
        </p:nvSpPr>
        <p:spPr>
          <a:xfrm>
            <a:off x="30226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2" name="Oval 231">
            <a:extLst>
              <a:ext uri="{FF2B5EF4-FFF2-40B4-BE49-F238E27FC236}">
                <a16:creationId xmlns:a16="http://schemas.microsoft.com/office/drawing/2014/main" id="{EA6A0883-DB94-8B2C-5213-1263855D9AF6}"/>
              </a:ext>
            </a:extLst>
          </p:cNvPr>
          <p:cNvSpPr/>
          <p:nvPr/>
        </p:nvSpPr>
        <p:spPr>
          <a:xfrm>
            <a:off x="3023796"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3" name="Oval 232">
            <a:extLst>
              <a:ext uri="{FF2B5EF4-FFF2-40B4-BE49-F238E27FC236}">
                <a16:creationId xmlns:a16="http://schemas.microsoft.com/office/drawing/2014/main" id="{4A8D2929-E27A-BD35-1721-2C4999D2A179}"/>
              </a:ext>
            </a:extLst>
          </p:cNvPr>
          <p:cNvSpPr/>
          <p:nvPr/>
        </p:nvSpPr>
        <p:spPr>
          <a:xfrm>
            <a:off x="301617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4" name="Oval 233">
            <a:extLst>
              <a:ext uri="{FF2B5EF4-FFF2-40B4-BE49-F238E27FC236}">
                <a16:creationId xmlns:a16="http://schemas.microsoft.com/office/drawing/2014/main" id="{D5721286-554E-1EA7-688B-4A4634494BA5}"/>
              </a:ext>
            </a:extLst>
          </p:cNvPr>
          <p:cNvSpPr/>
          <p:nvPr/>
        </p:nvSpPr>
        <p:spPr>
          <a:xfrm>
            <a:off x="3016172" y="3050401"/>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5" name="Oval 234">
            <a:extLst>
              <a:ext uri="{FF2B5EF4-FFF2-40B4-BE49-F238E27FC236}">
                <a16:creationId xmlns:a16="http://schemas.microsoft.com/office/drawing/2014/main" id="{C4BA16FE-6384-07F2-6C9B-3FB8496658E8}"/>
              </a:ext>
            </a:extLst>
          </p:cNvPr>
          <p:cNvSpPr/>
          <p:nvPr/>
        </p:nvSpPr>
        <p:spPr>
          <a:xfrm>
            <a:off x="3022665"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94" name="Group 93">
            <a:extLst>
              <a:ext uri="{FF2B5EF4-FFF2-40B4-BE49-F238E27FC236}">
                <a16:creationId xmlns:a16="http://schemas.microsoft.com/office/drawing/2014/main" id="{EAF6A3F0-BF93-2370-4B58-D9BB2CBBFAA7}"/>
              </a:ext>
            </a:extLst>
          </p:cNvPr>
          <p:cNvGrpSpPr/>
          <p:nvPr/>
        </p:nvGrpSpPr>
        <p:grpSpPr>
          <a:xfrm>
            <a:off x="4599893" y="2702710"/>
            <a:ext cx="276029" cy="2941290"/>
            <a:chOff x="3950753" y="2986542"/>
            <a:chExt cx="276029" cy="3268101"/>
          </a:xfrm>
        </p:grpSpPr>
        <p:cxnSp>
          <p:nvCxnSpPr>
            <p:cNvPr id="218" name="Straight Connector 217">
              <a:extLst>
                <a:ext uri="{FF2B5EF4-FFF2-40B4-BE49-F238E27FC236}">
                  <a16:creationId xmlns:a16="http://schemas.microsoft.com/office/drawing/2014/main" id="{755ED8D4-3850-E559-B152-2937C59C2112}"/>
                </a:ext>
              </a:extLst>
            </p:cNvPr>
            <p:cNvCxnSpPr>
              <a:cxnSpLocks/>
            </p:cNvCxnSpPr>
            <p:nvPr/>
          </p:nvCxnSpPr>
          <p:spPr>
            <a:xfrm>
              <a:off x="4084040" y="2986542"/>
              <a:ext cx="11477"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6" name="Oval 355">
              <a:extLst>
                <a:ext uri="{FF2B5EF4-FFF2-40B4-BE49-F238E27FC236}">
                  <a16:creationId xmlns:a16="http://schemas.microsoft.com/office/drawing/2014/main" id="{98776BBB-B240-C518-1BC7-21FA4E96659A}"/>
                </a:ext>
              </a:extLst>
            </p:cNvPr>
            <p:cNvSpPr/>
            <p:nvPr/>
          </p:nvSpPr>
          <p:spPr>
            <a:xfrm>
              <a:off x="3950753"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0" name="Oval 219">
              <a:extLst>
                <a:ext uri="{FF2B5EF4-FFF2-40B4-BE49-F238E27FC236}">
                  <a16:creationId xmlns:a16="http://schemas.microsoft.com/office/drawing/2014/main" id="{25CEA483-862C-7600-77FE-4EAF2CBE9C11}"/>
                </a:ext>
              </a:extLst>
            </p:cNvPr>
            <p:cNvSpPr/>
            <p:nvPr/>
          </p:nvSpPr>
          <p:spPr>
            <a:xfrm>
              <a:off x="3959135"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2" name="Oval 221">
              <a:extLst>
                <a:ext uri="{FF2B5EF4-FFF2-40B4-BE49-F238E27FC236}">
                  <a16:creationId xmlns:a16="http://schemas.microsoft.com/office/drawing/2014/main" id="{8771B4D8-33E4-4A52-AE00-83B84F0AD1C0}"/>
                </a:ext>
              </a:extLst>
            </p:cNvPr>
            <p:cNvSpPr/>
            <p:nvPr/>
          </p:nvSpPr>
          <p:spPr>
            <a:xfrm>
              <a:off x="3951511"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3" name="Oval 222">
              <a:extLst>
                <a:ext uri="{FF2B5EF4-FFF2-40B4-BE49-F238E27FC236}">
                  <a16:creationId xmlns:a16="http://schemas.microsoft.com/office/drawing/2014/main" id="{02B03122-1C64-F937-C196-544C712DBDCA}"/>
                </a:ext>
              </a:extLst>
            </p:cNvPr>
            <p:cNvSpPr/>
            <p:nvPr/>
          </p:nvSpPr>
          <p:spPr>
            <a:xfrm>
              <a:off x="3958004" y="4645707"/>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7" name="Oval 356">
              <a:extLst>
                <a:ext uri="{FF2B5EF4-FFF2-40B4-BE49-F238E27FC236}">
                  <a16:creationId xmlns:a16="http://schemas.microsoft.com/office/drawing/2014/main" id="{26947FBF-B50E-BBF8-14AA-35B46C2D4C2D}"/>
                </a:ext>
              </a:extLst>
            </p:cNvPr>
            <p:cNvSpPr/>
            <p:nvPr/>
          </p:nvSpPr>
          <p:spPr>
            <a:xfrm>
              <a:off x="3956369" y="5986996"/>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5" name="Group 94">
            <a:extLst>
              <a:ext uri="{FF2B5EF4-FFF2-40B4-BE49-F238E27FC236}">
                <a16:creationId xmlns:a16="http://schemas.microsoft.com/office/drawing/2014/main" id="{90A01761-DB99-CBAB-12E0-E4AEC9CE86E6}"/>
              </a:ext>
            </a:extLst>
          </p:cNvPr>
          <p:cNvGrpSpPr/>
          <p:nvPr/>
        </p:nvGrpSpPr>
        <p:grpSpPr>
          <a:xfrm>
            <a:off x="5002469" y="2702710"/>
            <a:ext cx="276031" cy="2945066"/>
            <a:chOff x="4350965" y="2986542"/>
            <a:chExt cx="276031" cy="3272296"/>
          </a:xfrm>
        </p:grpSpPr>
        <p:cxnSp>
          <p:nvCxnSpPr>
            <p:cNvPr id="212" name="Straight Connector 211">
              <a:extLst>
                <a:ext uri="{FF2B5EF4-FFF2-40B4-BE49-F238E27FC236}">
                  <a16:creationId xmlns:a16="http://schemas.microsoft.com/office/drawing/2014/main" id="{78854B8B-1D74-C732-CF02-43769684AA4E}"/>
                </a:ext>
              </a:extLst>
            </p:cNvPr>
            <p:cNvCxnSpPr>
              <a:cxnSpLocks/>
            </p:cNvCxnSpPr>
            <p:nvPr/>
          </p:nvCxnSpPr>
          <p:spPr>
            <a:xfrm>
              <a:off x="4478147" y="2986542"/>
              <a:ext cx="17584"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8" name="Oval 357">
              <a:extLst>
                <a:ext uri="{FF2B5EF4-FFF2-40B4-BE49-F238E27FC236}">
                  <a16:creationId xmlns:a16="http://schemas.microsoft.com/office/drawing/2014/main" id="{D870C0A4-9DA0-DFEA-2BED-46646104AE35}"/>
                </a:ext>
              </a:extLst>
            </p:cNvPr>
            <p:cNvSpPr/>
            <p:nvPr/>
          </p:nvSpPr>
          <p:spPr>
            <a:xfrm>
              <a:off x="4350967"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9" name="Oval 358">
              <a:extLst>
                <a:ext uri="{FF2B5EF4-FFF2-40B4-BE49-F238E27FC236}">
                  <a16:creationId xmlns:a16="http://schemas.microsoft.com/office/drawing/2014/main" id="{D0D312D3-0675-87DA-A20C-B65B7D0AE37A}"/>
                </a:ext>
              </a:extLst>
            </p:cNvPr>
            <p:cNvSpPr/>
            <p:nvPr/>
          </p:nvSpPr>
          <p:spPr>
            <a:xfrm>
              <a:off x="4350965"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4" name="Oval 213">
              <a:extLst>
                <a:ext uri="{FF2B5EF4-FFF2-40B4-BE49-F238E27FC236}">
                  <a16:creationId xmlns:a16="http://schemas.microsoft.com/office/drawing/2014/main" id="{0EFC3F60-F59B-37AF-593C-7ED29F8DC9BC}"/>
                </a:ext>
              </a:extLst>
            </p:cNvPr>
            <p:cNvSpPr/>
            <p:nvPr/>
          </p:nvSpPr>
          <p:spPr>
            <a:xfrm>
              <a:off x="4359349"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5" name="Oval 214">
              <a:extLst>
                <a:ext uri="{FF2B5EF4-FFF2-40B4-BE49-F238E27FC236}">
                  <a16:creationId xmlns:a16="http://schemas.microsoft.com/office/drawing/2014/main" id="{706E6FE2-622A-8772-4AF2-E5A309CC8EB6}"/>
                </a:ext>
              </a:extLst>
            </p:cNvPr>
            <p:cNvSpPr/>
            <p:nvPr/>
          </p:nvSpPr>
          <p:spPr>
            <a:xfrm>
              <a:off x="4351724"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6" name="Oval 215">
              <a:extLst>
                <a:ext uri="{FF2B5EF4-FFF2-40B4-BE49-F238E27FC236}">
                  <a16:creationId xmlns:a16="http://schemas.microsoft.com/office/drawing/2014/main" id="{1C0DADCD-8679-FA30-BEDB-7F84A7A1E0C1}"/>
                </a:ext>
              </a:extLst>
            </p:cNvPr>
            <p:cNvSpPr/>
            <p:nvPr/>
          </p:nvSpPr>
          <p:spPr>
            <a:xfrm>
              <a:off x="435172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6" name="Group 95">
            <a:extLst>
              <a:ext uri="{FF2B5EF4-FFF2-40B4-BE49-F238E27FC236}">
                <a16:creationId xmlns:a16="http://schemas.microsoft.com/office/drawing/2014/main" id="{875DC5EB-564F-7DE3-49EF-AE29AAF42769}"/>
              </a:ext>
            </a:extLst>
          </p:cNvPr>
          <p:cNvGrpSpPr/>
          <p:nvPr/>
        </p:nvGrpSpPr>
        <p:grpSpPr>
          <a:xfrm>
            <a:off x="7820641" y="2823152"/>
            <a:ext cx="276031" cy="2824624"/>
            <a:chOff x="4751179" y="3120366"/>
            <a:chExt cx="276031" cy="3138472"/>
          </a:xfrm>
        </p:grpSpPr>
        <p:cxnSp>
          <p:nvCxnSpPr>
            <p:cNvPr id="206" name="Straight Connector 205">
              <a:extLst>
                <a:ext uri="{FF2B5EF4-FFF2-40B4-BE49-F238E27FC236}">
                  <a16:creationId xmlns:a16="http://schemas.microsoft.com/office/drawing/2014/main" id="{44BF1F38-A207-4A2C-7A7F-58D72AD40832}"/>
                </a:ext>
              </a:extLst>
            </p:cNvPr>
            <p:cNvCxnSpPr>
              <a:cxnSpLocks/>
            </p:cNvCxnSpPr>
            <p:nvPr/>
          </p:nvCxnSpPr>
          <p:spPr>
            <a:xfrm flipH="1">
              <a:off x="4885059" y="3120366"/>
              <a:ext cx="1990"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60" name="Oval 359">
              <a:extLst>
                <a:ext uri="{FF2B5EF4-FFF2-40B4-BE49-F238E27FC236}">
                  <a16:creationId xmlns:a16="http://schemas.microsoft.com/office/drawing/2014/main" id="{0971E5F1-E609-283F-EBCE-B79F96EA9C1E}"/>
                </a:ext>
              </a:extLst>
            </p:cNvPr>
            <p:cNvSpPr/>
            <p:nvPr/>
          </p:nvSpPr>
          <p:spPr>
            <a:xfrm>
              <a:off x="4751179"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7" name="Oval 206">
              <a:extLst>
                <a:ext uri="{FF2B5EF4-FFF2-40B4-BE49-F238E27FC236}">
                  <a16:creationId xmlns:a16="http://schemas.microsoft.com/office/drawing/2014/main" id="{B009C981-1247-28E9-BF9C-6A08542ECC9D}"/>
                </a:ext>
              </a:extLst>
            </p:cNvPr>
            <p:cNvSpPr/>
            <p:nvPr/>
          </p:nvSpPr>
          <p:spPr>
            <a:xfrm>
              <a:off x="4758434"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8" name="Oval 207">
              <a:extLst>
                <a:ext uri="{FF2B5EF4-FFF2-40B4-BE49-F238E27FC236}">
                  <a16:creationId xmlns:a16="http://schemas.microsoft.com/office/drawing/2014/main" id="{B9C4CB1C-34FD-925D-059F-55DF83E26FD5}"/>
                </a:ext>
              </a:extLst>
            </p:cNvPr>
            <p:cNvSpPr/>
            <p:nvPr/>
          </p:nvSpPr>
          <p:spPr>
            <a:xfrm>
              <a:off x="4759563"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9" name="Oval 208">
              <a:extLst>
                <a:ext uri="{FF2B5EF4-FFF2-40B4-BE49-F238E27FC236}">
                  <a16:creationId xmlns:a16="http://schemas.microsoft.com/office/drawing/2014/main" id="{5BB6019C-15DF-3008-B18D-0C84D45316EC}"/>
                </a:ext>
              </a:extLst>
            </p:cNvPr>
            <p:cNvSpPr/>
            <p:nvPr/>
          </p:nvSpPr>
          <p:spPr>
            <a:xfrm>
              <a:off x="4757381"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0" name="Oval 209">
              <a:extLst>
                <a:ext uri="{FF2B5EF4-FFF2-40B4-BE49-F238E27FC236}">
                  <a16:creationId xmlns:a16="http://schemas.microsoft.com/office/drawing/2014/main" id="{57ABEBFA-853F-80EF-9280-66E254361F81}"/>
                </a:ext>
              </a:extLst>
            </p:cNvPr>
            <p:cNvSpPr/>
            <p:nvPr/>
          </p:nvSpPr>
          <p:spPr>
            <a:xfrm>
              <a:off x="4751939" y="3372865"/>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cxnSp>
        <p:nvCxnSpPr>
          <p:cNvPr id="194" name="Straight Connector 193">
            <a:extLst>
              <a:ext uri="{FF2B5EF4-FFF2-40B4-BE49-F238E27FC236}">
                <a16:creationId xmlns:a16="http://schemas.microsoft.com/office/drawing/2014/main" id="{A2F58F54-F2D3-F111-B847-5C304E9EFA24}"/>
              </a:ext>
            </a:extLst>
          </p:cNvPr>
          <p:cNvCxnSpPr>
            <a:cxnSpLocks/>
          </p:cNvCxnSpPr>
          <p:nvPr/>
        </p:nvCxnSpPr>
        <p:spPr>
          <a:xfrm>
            <a:off x="4328288"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95" name="Oval 194">
            <a:extLst>
              <a:ext uri="{FF2B5EF4-FFF2-40B4-BE49-F238E27FC236}">
                <a16:creationId xmlns:a16="http://schemas.microsoft.com/office/drawing/2014/main" id="{3B91B974-6BF4-1AB6-EA36-C85F406EC8C1}"/>
              </a:ext>
            </a:extLst>
          </p:cNvPr>
          <p:cNvSpPr/>
          <p:nvPr/>
        </p:nvSpPr>
        <p:spPr>
          <a:xfrm>
            <a:off x="4195744"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6" name="Oval 195">
            <a:extLst>
              <a:ext uri="{FF2B5EF4-FFF2-40B4-BE49-F238E27FC236}">
                <a16:creationId xmlns:a16="http://schemas.microsoft.com/office/drawing/2014/main" id="{DF5D73E3-7F3E-984A-6327-89494D5D681B}"/>
              </a:ext>
            </a:extLst>
          </p:cNvPr>
          <p:cNvSpPr/>
          <p:nvPr/>
        </p:nvSpPr>
        <p:spPr>
          <a:xfrm>
            <a:off x="4195744"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7" name="Oval 196">
            <a:extLst>
              <a:ext uri="{FF2B5EF4-FFF2-40B4-BE49-F238E27FC236}">
                <a16:creationId xmlns:a16="http://schemas.microsoft.com/office/drawing/2014/main" id="{C9953085-4EBC-A37E-AFEE-F84E92EB293C}"/>
              </a:ext>
            </a:extLst>
          </p:cNvPr>
          <p:cNvSpPr/>
          <p:nvPr/>
        </p:nvSpPr>
        <p:spPr>
          <a:xfrm>
            <a:off x="419574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8" name="Oval 197">
            <a:extLst>
              <a:ext uri="{FF2B5EF4-FFF2-40B4-BE49-F238E27FC236}">
                <a16:creationId xmlns:a16="http://schemas.microsoft.com/office/drawing/2014/main" id="{C0303A26-6B6A-0B03-8D43-EA933E7F257A}"/>
              </a:ext>
            </a:extLst>
          </p:cNvPr>
          <p:cNvSpPr/>
          <p:nvPr/>
        </p:nvSpPr>
        <p:spPr>
          <a:xfrm>
            <a:off x="419574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9" name="Oval 198">
            <a:extLst>
              <a:ext uri="{FF2B5EF4-FFF2-40B4-BE49-F238E27FC236}">
                <a16:creationId xmlns:a16="http://schemas.microsoft.com/office/drawing/2014/main" id="{57105D1D-53EF-3BDB-5F22-522358C35E05}"/>
              </a:ext>
            </a:extLst>
          </p:cNvPr>
          <p:cNvSpPr/>
          <p:nvPr/>
        </p:nvSpPr>
        <p:spPr>
          <a:xfrm>
            <a:off x="419574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3" name="Oval 362">
            <a:extLst>
              <a:ext uri="{FF2B5EF4-FFF2-40B4-BE49-F238E27FC236}">
                <a16:creationId xmlns:a16="http://schemas.microsoft.com/office/drawing/2014/main" id="{9D2113B9-3AE7-B80A-2190-ECFFE6C6DA45}"/>
              </a:ext>
            </a:extLst>
          </p:cNvPr>
          <p:cNvSpPr/>
          <p:nvPr/>
        </p:nvSpPr>
        <p:spPr>
          <a:xfrm>
            <a:off x="419574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88" name="Straight Connector 187">
            <a:extLst>
              <a:ext uri="{FF2B5EF4-FFF2-40B4-BE49-F238E27FC236}">
                <a16:creationId xmlns:a16="http://schemas.microsoft.com/office/drawing/2014/main" id="{13AC8604-CA81-B2BB-EFE5-23FAC3BB2557}"/>
              </a:ext>
            </a:extLst>
          </p:cNvPr>
          <p:cNvCxnSpPr>
            <a:cxnSpLocks/>
          </p:cNvCxnSpPr>
          <p:nvPr/>
        </p:nvCxnSpPr>
        <p:spPr>
          <a:xfrm flipH="1">
            <a:off x="7574572" y="2823152"/>
            <a:ext cx="1579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89" name="Oval 188">
            <a:extLst>
              <a:ext uri="{FF2B5EF4-FFF2-40B4-BE49-F238E27FC236}">
                <a16:creationId xmlns:a16="http://schemas.microsoft.com/office/drawing/2014/main" id="{4F064854-3C10-CCD5-E443-8B9982DFDD3F}"/>
              </a:ext>
            </a:extLst>
          </p:cNvPr>
          <p:cNvSpPr/>
          <p:nvPr/>
        </p:nvSpPr>
        <p:spPr>
          <a:xfrm>
            <a:off x="744794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0" name="Oval 189">
            <a:extLst>
              <a:ext uri="{FF2B5EF4-FFF2-40B4-BE49-F238E27FC236}">
                <a16:creationId xmlns:a16="http://schemas.microsoft.com/office/drawing/2014/main" id="{3443D3BA-01AF-0607-AF9B-931FA43FABBF}"/>
              </a:ext>
            </a:extLst>
          </p:cNvPr>
          <p:cNvSpPr/>
          <p:nvPr/>
        </p:nvSpPr>
        <p:spPr>
          <a:xfrm>
            <a:off x="744907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1" name="Oval 190">
            <a:extLst>
              <a:ext uri="{FF2B5EF4-FFF2-40B4-BE49-F238E27FC236}">
                <a16:creationId xmlns:a16="http://schemas.microsoft.com/office/drawing/2014/main" id="{AA340C87-7C28-5004-9683-5B54AD7CC1FA}"/>
              </a:ext>
            </a:extLst>
          </p:cNvPr>
          <p:cNvSpPr/>
          <p:nvPr/>
        </p:nvSpPr>
        <p:spPr>
          <a:xfrm>
            <a:off x="744145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2" name="Oval 191">
            <a:extLst>
              <a:ext uri="{FF2B5EF4-FFF2-40B4-BE49-F238E27FC236}">
                <a16:creationId xmlns:a16="http://schemas.microsoft.com/office/drawing/2014/main" id="{5AA605C2-C5C3-8501-F77F-175413D23400}"/>
              </a:ext>
            </a:extLst>
          </p:cNvPr>
          <p:cNvSpPr/>
          <p:nvPr/>
        </p:nvSpPr>
        <p:spPr>
          <a:xfrm>
            <a:off x="7441452"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3" name="Oval 192">
            <a:extLst>
              <a:ext uri="{FF2B5EF4-FFF2-40B4-BE49-F238E27FC236}">
                <a16:creationId xmlns:a16="http://schemas.microsoft.com/office/drawing/2014/main" id="{73A3BA45-CA1F-F6E0-8CF1-40B101941F88}"/>
              </a:ext>
            </a:extLst>
          </p:cNvPr>
          <p:cNvSpPr/>
          <p:nvPr/>
        </p:nvSpPr>
        <p:spPr>
          <a:xfrm>
            <a:off x="744794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4" name="Oval 363">
            <a:extLst>
              <a:ext uri="{FF2B5EF4-FFF2-40B4-BE49-F238E27FC236}">
                <a16:creationId xmlns:a16="http://schemas.microsoft.com/office/drawing/2014/main" id="{79FD145C-6E61-7F0C-2EBE-B415AFD0721C}"/>
              </a:ext>
            </a:extLst>
          </p:cNvPr>
          <p:cNvSpPr/>
          <p:nvPr/>
        </p:nvSpPr>
        <p:spPr>
          <a:xfrm>
            <a:off x="6642073"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3" name="Oval 182">
            <a:extLst>
              <a:ext uri="{FF2B5EF4-FFF2-40B4-BE49-F238E27FC236}">
                <a16:creationId xmlns:a16="http://schemas.microsoft.com/office/drawing/2014/main" id="{13226D1C-9123-DC15-5243-176D74B25EC6}"/>
              </a:ext>
            </a:extLst>
          </p:cNvPr>
          <p:cNvSpPr/>
          <p:nvPr/>
        </p:nvSpPr>
        <p:spPr>
          <a:xfrm>
            <a:off x="6643710"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4" name="Oval 183">
            <a:extLst>
              <a:ext uri="{FF2B5EF4-FFF2-40B4-BE49-F238E27FC236}">
                <a16:creationId xmlns:a16="http://schemas.microsoft.com/office/drawing/2014/main" id="{88B13397-9A34-1F87-2F5F-D6DF414F0DDC}"/>
              </a:ext>
            </a:extLst>
          </p:cNvPr>
          <p:cNvSpPr/>
          <p:nvPr/>
        </p:nvSpPr>
        <p:spPr>
          <a:xfrm>
            <a:off x="66448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6" name="Oval 185">
            <a:extLst>
              <a:ext uri="{FF2B5EF4-FFF2-40B4-BE49-F238E27FC236}">
                <a16:creationId xmlns:a16="http://schemas.microsoft.com/office/drawing/2014/main" id="{9B680FD7-70C4-183E-6622-038B6F98B09F}"/>
              </a:ext>
            </a:extLst>
          </p:cNvPr>
          <p:cNvSpPr/>
          <p:nvPr/>
        </p:nvSpPr>
        <p:spPr>
          <a:xfrm>
            <a:off x="6637215"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7" name="Oval 186">
            <a:extLst>
              <a:ext uri="{FF2B5EF4-FFF2-40B4-BE49-F238E27FC236}">
                <a16:creationId xmlns:a16="http://schemas.microsoft.com/office/drawing/2014/main" id="{94B10E27-43D0-B26B-5E6E-DE190CDFBBF1}"/>
              </a:ext>
            </a:extLst>
          </p:cNvPr>
          <p:cNvSpPr/>
          <p:nvPr/>
        </p:nvSpPr>
        <p:spPr>
          <a:xfrm>
            <a:off x="6643708"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7" name="Oval 176">
            <a:extLst>
              <a:ext uri="{FF2B5EF4-FFF2-40B4-BE49-F238E27FC236}">
                <a16:creationId xmlns:a16="http://schemas.microsoft.com/office/drawing/2014/main" id="{4E6E90DF-22F1-77CB-FC84-CF33E30AB043}"/>
              </a:ext>
            </a:extLst>
          </p:cNvPr>
          <p:cNvSpPr/>
          <p:nvPr/>
        </p:nvSpPr>
        <p:spPr>
          <a:xfrm>
            <a:off x="2590328"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8" name="Oval 177">
            <a:extLst>
              <a:ext uri="{FF2B5EF4-FFF2-40B4-BE49-F238E27FC236}">
                <a16:creationId xmlns:a16="http://schemas.microsoft.com/office/drawing/2014/main" id="{55A945B1-7FA7-0570-949A-2EA8E6682A54}"/>
              </a:ext>
            </a:extLst>
          </p:cNvPr>
          <p:cNvSpPr/>
          <p:nvPr/>
        </p:nvSpPr>
        <p:spPr>
          <a:xfrm>
            <a:off x="259145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9" name="Oval 178">
            <a:extLst>
              <a:ext uri="{FF2B5EF4-FFF2-40B4-BE49-F238E27FC236}">
                <a16:creationId xmlns:a16="http://schemas.microsoft.com/office/drawing/2014/main" id="{C3228C05-E5C4-B65C-0379-9D9ED54634B9}"/>
              </a:ext>
            </a:extLst>
          </p:cNvPr>
          <p:cNvSpPr/>
          <p:nvPr/>
        </p:nvSpPr>
        <p:spPr>
          <a:xfrm>
            <a:off x="258383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0" name="Oval 179">
            <a:extLst>
              <a:ext uri="{FF2B5EF4-FFF2-40B4-BE49-F238E27FC236}">
                <a16:creationId xmlns:a16="http://schemas.microsoft.com/office/drawing/2014/main" id="{F2065D84-AD92-0434-D70D-E85CA2F13D6E}"/>
              </a:ext>
            </a:extLst>
          </p:cNvPr>
          <p:cNvSpPr/>
          <p:nvPr/>
        </p:nvSpPr>
        <p:spPr>
          <a:xfrm>
            <a:off x="2583833"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1" name="Oval 180">
            <a:extLst>
              <a:ext uri="{FF2B5EF4-FFF2-40B4-BE49-F238E27FC236}">
                <a16:creationId xmlns:a16="http://schemas.microsoft.com/office/drawing/2014/main" id="{11348BBB-BF4A-FD77-819E-EAE11FDB9952}"/>
              </a:ext>
            </a:extLst>
          </p:cNvPr>
          <p:cNvSpPr/>
          <p:nvPr/>
        </p:nvSpPr>
        <p:spPr>
          <a:xfrm>
            <a:off x="259032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70" name="Straight Connector 169">
            <a:extLst>
              <a:ext uri="{FF2B5EF4-FFF2-40B4-BE49-F238E27FC236}">
                <a16:creationId xmlns:a16="http://schemas.microsoft.com/office/drawing/2014/main" id="{3B2499C5-452C-4CBE-44D5-51F4DEF43440}"/>
              </a:ext>
            </a:extLst>
          </p:cNvPr>
          <p:cNvCxnSpPr>
            <a:cxnSpLocks/>
          </p:cNvCxnSpPr>
          <p:nvPr/>
        </p:nvCxnSpPr>
        <p:spPr>
          <a:xfrm>
            <a:off x="4503003" y="2303050"/>
            <a:ext cx="13883" cy="343105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37861D98-0972-A982-456D-F87F6D35EA44}"/>
              </a:ext>
            </a:extLst>
          </p:cNvPr>
          <p:cNvSpPr/>
          <p:nvPr/>
        </p:nvSpPr>
        <p:spPr>
          <a:xfrm>
            <a:off x="380428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2" name="Oval 171">
            <a:extLst>
              <a:ext uri="{FF2B5EF4-FFF2-40B4-BE49-F238E27FC236}">
                <a16:creationId xmlns:a16="http://schemas.microsoft.com/office/drawing/2014/main" id="{63EE6941-AE53-ADE6-FCD3-0D33CF606A6F}"/>
              </a:ext>
            </a:extLst>
          </p:cNvPr>
          <p:cNvSpPr/>
          <p:nvPr/>
        </p:nvSpPr>
        <p:spPr>
          <a:xfrm>
            <a:off x="380428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3" name="Oval 172">
            <a:extLst>
              <a:ext uri="{FF2B5EF4-FFF2-40B4-BE49-F238E27FC236}">
                <a16:creationId xmlns:a16="http://schemas.microsoft.com/office/drawing/2014/main" id="{FA2F4E0F-B667-CC4E-4416-20F960ED68BC}"/>
              </a:ext>
            </a:extLst>
          </p:cNvPr>
          <p:cNvSpPr/>
          <p:nvPr/>
        </p:nvSpPr>
        <p:spPr>
          <a:xfrm>
            <a:off x="380428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4" name="Oval 173">
            <a:extLst>
              <a:ext uri="{FF2B5EF4-FFF2-40B4-BE49-F238E27FC236}">
                <a16:creationId xmlns:a16="http://schemas.microsoft.com/office/drawing/2014/main" id="{A32A8EC4-91B5-D7DB-819A-29785F587406}"/>
              </a:ext>
            </a:extLst>
          </p:cNvPr>
          <p:cNvSpPr/>
          <p:nvPr/>
        </p:nvSpPr>
        <p:spPr>
          <a:xfrm>
            <a:off x="3804286"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5" name="Oval 174">
            <a:extLst>
              <a:ext uri="{FF2B5EF4-FFF2-40B4-BE49-F238E27FC236}">
                <a16:creationId xmlns:a16="http://schemas.microsoft.com/office/drawing/2014/main" id="{0C8633F0-37AA-5F8E-33D9-91260FFE3C86}"/>
              </a:ext>
            </a:extLst>
          </p:cNvPr>
          <p:cNvSpPr/>
          <p:nvPr/>
        </p:nvSpPr>
        <p:spPr>
          <a:xfrm>
            <a:off x="380428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5" name="Oval 364">
            <a:extLst>
              <a:ext uri="{FF2B5EF4-FFF2-40B4-BE49-F238E27FC236}">
                <a16:creationId xmlns:a16="http://schemas.microsoft.com/office/drawing/2014/main" id="{7FA2C10C-8A86-1DAA-413D-0FAA38DACD8F}"/>
              </a:ext>
            </a:extLst>
          </p:cNvPr>
          <p:cNvSpPr/>
          <p:nvPr/>
        </p:nvSpPr>
        <p:spPr>
          <a:xfrm>
            <a:off x="3804286"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5" name="Oval 164">
            <a:extLst>
              <a:ext uri="{FF2B5EF4-FFF2-40B4-BE49-F238E27FC236}">
                <a16:creationId xmlns:a16="http://schemas.microsoft.com/office/drawing/2014/main" id="{615AD3A2-583E-A5A3-C0B3-DB7B5AD175F2}"/>
              </a:ext>
            </a:extLst>
          </p:cNvPr>
          <p:cNvSpPr/>
          <p:nvPr/>
        </p:nvSpPr>
        <p:spPr>
          <a:xfrm>
            <a:off x="8642413"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6" name="Oval 165">
            <a:extLst>
              <a:ext uri="{FF2B5EF4-FFF2-40B4-BE49-F238E27FC236}">
                <a16:creationId xmlns:a16="http://schemas.microsoft.com/office/drawing/2014/main" id="{82C9B682-527C-BCBE-C835-F7507D8358C1}"/>
              </a:ext>
            </a:extLst>
          </p:cNvPr>
          <p:cNvSpPr/>
          <p:nvPr/>
        </p:nvSpPr>
        <p:spPr>
          <a:xfrm>
            <a:off x="8642413"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7" name="Oval 166">
            <a:extLst>
              <a:ext uri="{FF2B5EF4-FFF2-40B4-BE49-F238E27FC236}">
                <a16:creationId xmlns:a16="http://schemas.microsoft.com/office/drawing/2014/main" id="{F7F109ED-730B-E279-2108-908F5DF78B03}"/>
              </a:ext>
            </a:extLst>
          </p:cNvPr>
          <p:cNvSpPr/>
          <p:nvPr/>
        </p:nvSpPr>
        <p:spPr>
          <a:xfrm>
            <a:off x="8642413"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8" name="Oval 167">
            <a:extLst>
              <a:ext uri="{FF2B5EF4-FFF2-40B4-BE49-F238E27FC236}">
                <a16:creationId xmlns:a16="http://schemas.microsoft.com/office/drawing/2014/main" id="{134EB7F7-8834-1B90-EA10-747A8AAE6B23}"/>
              </a:ext>
            </a:extLst>
          </p:cNvPr>
          <p:cNvSpPr/>
          <p:nvPr/>
        </p:nvSpPr>
        <p:spPr>
          <a:xfrm>
            <a:off x="8642413"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9" name="Oval 168">
            <a:extLst>
              <a:ext uri="{FF2B5EF4-FFF2-40B4-BE49-F238E27FC236}">
                <a16:creationId xmlns:a16="http://schemas.microsoft.com/office/drawing/2014/main" id="{B5A78787-DB17-147C-3B28-80116C041156}"/>
              </a:ext>
            </a:extLst>
          </p:cNvPr>
          <p:cNvSpPr/>
          <p:nvPr/>
        </p:nvSpPr>
        <p:spPr>
          <a:xfrm>
            <a:off x="8642413"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58" name="Straight Connector 157">
            <a:extLst>
              <a:ext uri="{FF2B5EF4-FFF2-40B4-BE49-F238E27FC236}">
                <a16:creationId xmlns:a16="http://schemas.microsoft.com/office/drawing/2014/main" id="{A5D255BD-166C-3174-C090-9CD1A631B3E7}"/>
              </a:ext>
            </a:extLst>
          </p:cNvPr>
          <p:cNvCxnSpPr>
            <a:cxnSpLocks/>
          </p:cNvCxnSpPr>
          <p:nvPr/>
        </p:nvCxnSpPr>
        <p:spPr>
          <a:xfrm>
            <a:off x="7170684" y="2823152"/>
            <a:ext cx="263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9" name="Oval 158">
            <a:extLst>
              <a:ext uri="{FF2B5EF4-FFF2-40B4-BE49-F238E27FC236}">
                <a16:creationId xmlns:a16="http://schemas.microsoft.com/office/drawing/2014/main" id="{AA9710E7-017A-61D9-876C-A6AC0B08A532}"/>
              </a:ext>
            </a:extLst>
          </p:cNvPr>
          <p:cNvSpPr/>
          <p:nvPr/>
        </p:nvSpPr>
        <p:spPr>
          <a:xfrm>
            <a:off x="7050034"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0" name="Oval 159">
            <a:extLst>
              <a:ext uri="{FF2B5EF4-FFF2-40B4-BE49-F238E27FC236}">
                <a16:creationId xmlns:a16="http://schemas.microsoft.com/office/drawing/2014/main" id="{6C3709D3-EECC-B942-6A41-EB76D3F2F3D8}"/>
              </a:ext>
            </a:extLst>
          </p:cNvPr>
          <p:cNvSpPr/>
          <p:nvPr/>
        </p:nvSpPr>
        <p:spPr>
          <a:xfrm>
            <a:off x="7050034"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1" name="Oval 160">
            <a:extLst>
              <a:ext uri="{FF2B5EF4-FFF2-40B4-BE49-F238E27FC236}">
                <a16:creationId xmlns:a16="http://schemas.microsoft.com/office/drawing/2014/main" id="{D32E27E9-F142-ED94-BEE1-2022DFC2661F}"/>
              </a:ext>
            </a:extLst>
          </p:cNvPr>
          <p:cNvSpPr/>
          <p:nvPr/>
        </p:nvSpPr>
        <p:spPr>
          <a:xfrm>
            <a:off x="705003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2" name="Oval 161">
            <a:extLst>
              <a:ext uri="{FF2B5EF4-FFF2-40B4-BE49-F238E27FC236}">
                <a16:creationId xmlns:a16="http://schemas.microsoft.com/office/drawing/2014/main" id="{FC4A9212-4DA1-C21F-F9C7-236C08656328}"/>
              </a:ext>
            </a:extLst>
          </p:cNvPr>
          <p:cNvSpPr/>
          <p:nvPr/>
        </p:nvSpPr>
        <p:spPr>
          <a:xfrm>
            <a:off x="705003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3" name="Oval 162">
            <a:extLst>
              <a:ext uri="{FF2B5EF4-FFF2-40B4-BE49-F238E27FC236}">
                <a16:creationId xmlns:a16="http://schemas.microsoft.com/office/drawing/2014/main" id="{78BE8AAD-8227-EA25-9FB3-ADBD3CF79127}"/>
              </a:ext>
            </a:extLst>
          </p:cNvPr>
          <p:cNvSpPr/>
          <p:nvPr/>
        </p:nvSpPr>
        <p:spPr>
          <a:xfrm>
            <a:off x="705003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6" name="Oval 365">
            <a:extLst>
              <a:ext uri="{FF2B5EF4-FFF2-40B4-BE49-F238E27FC236}">
                <a16:creationId xmlns:a16="http://schemas.microsoft.com/office/drawing/2014/main" id="{9DD21BFB-0AF7-81BE-96C4-5F3D257A360D}"/>
              </a:ext>
            </a:extLst>
          </p:cNvPr>
          <p:cNvSpPr/>
          <p:nvPr/>
        </p:nvSpPr>
        <p:spPr>
          <a:xfrm>
            <a:off x="705003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105" name="Group 104">
            <a:extLst>
              <a:ext uri="{FF2B5EF4-FFF2-40B4-BE49-F238E27FC236}">
                <a16:creationId xmlns:a16="http://schemas.microsoft.com/office/drawing/2014/main" id="{C1D896C1-EED6-417D-AD6C-386CC72B131D}"/>
              </a:ext>
            </a:extLst>
          </p:cNvPr>
          <p:cNvGrpSpPr/>
          <p:nvPr/>
        </p:nvGrpSpPr>
        <p:grpSpPr>
          <a:xfrm>
            <a:off x="9036460" y="2801617"/>
            <a:ext cx="275272" cy="2846160"/>
            <a:chOff x="8353864" y="3096438"/>
            <a:chExt cx="275272" cy="3162400"/>
          </a:xfrm>
        </p:grpSpPr>
        <p:cxnSp>
          <p:nvCxnSpPr>
            <p:cNvPr id="152" name="Straight Connector 151">
              <a:extLst>
                <a:ext uri="{FF2B5EF4-FFF2-40B4-BE49-F238E27FC236}">
                  <a16:creationId xmlns:a16="http://schemas.microsoft.com/office/drawing/2014/main" id="{ED33D3D0-90A4-441B-382F-A8CCF60553BD}"/>
                </a:ext>
              </a:extLst>
            </p:cNvPr>
            <p:cNvCxnSpPr>
              <a:cxnSpLocks/>
            </p:cNvCxnSpPr>
            <p:nvPr/>
          </p:nvCxnSpPr>
          <p:spPr>
            <a:xfrm>
              <a:off x="8481937" y="3096438"/>
              <a:ext cx="13864"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3" name="Oval 152">
              <a:extLst>
                <a:ext uri="{FF2B5EF4-FFF2-40B4-BE49-F238E27FC236}">
                  <a16:creationId xmlns:a16="http://schemas.microsoft.com/office/drawing/2014/main" id="{194996D3-65AE-56E0-B3BE-0F13393D6B41}"/>
                </a:ext>
              </a:extLst>
            </p:cNvPr>
            <p:cNvSpPr/>
            <p:nvPr/>
          </p:nvSpPr>
          <p:spPr>
            <a:xfrm>
              <a:off x="8360360"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4" name="Oval 153">
              <a:extLst>
                <a:ext uri="{FF2B5EF4-FFF2-40B4-BE49-F238E27FC236}">
                  <a16:creationId xmlns:a16="http://schemas.microsoft.com/office/drawing/2014/main" id="{11AF7398-4839-4778-B4A0-38DFCCDCE7A4}"/>
                </a:ext>
              </a:extLst>
            </p:cNvPr>
            <p:cNvSpPr/>
            <p:nvPr/>
          </p:nvSpPr>
          <p:spPr>
            <a:xfrm>
              <a:off x="8361489"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5" name="Oval 154">
              <a:extLst>
                <a:ext uri="{FF2B5EF4-FFF2-40B4-BE49-F238E27FC236}">
                  <a16:creationId xmlns:a16="http://schemas.microsoft.com/office/drawing/2014/main" id="{93C90815-0F77-84D3-2505-C179CBD6212C}"/>
                </a:ext>
              </a:extLst>
            </p:cNvPr>
            <p:cNvSpPr/>
            <p:nvPr/>
          </p:nvSpPr>
          <p:spPr>
            <a:xfrm>
              <a:off x="8353864" y="599119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6" name="Oval 155">
              <a:extLst>
                <a:ext uri="{FF2B5EF4-FFF2-40B4-BE49-F238E27FC236}">
                  <a16:creationId xmlns:a16="http://schemas.microsoft.com/office/drawing/2014/main" id="{18124BAE-20B3-9CB9-C65A-BB888CDBDC11}"/>
                </a:ext>
              </a:extLst>
            </p:cNvPr>
            <p:cNvSpPr/>
            <p:nvPr/>
          </p:nvSpPr>
          <p:spPr>
            <a:xfrm>
              <a:off x="835386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7" name="Oval 156">
              <a:extLst>
                <a:ext uri="{FF2B5EF4-FFF2-40B4-BE49-F238E27FC236}">
                  <a16:creationId xmlns:a16="http://schemas.microsoft.com/office/drawing/2014/main" id="{7696FB2E-8CAA-55F3-3821-DB5D33E062B7}"/>
                </a:ext>
              </a:extLst>
            </p:cNvPr>
            <p:cNvSpPr/>
            <p:nvPr/>
          </p:nvSpPr>
          <p:spPr>
            <a:xfrm>
              <a:off x="8360358" y="4645707"/>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sp>
        <p:nvSpPr>
          <p:cNvPr id="367" name="Oval 366">
            <a:extLst>
              <a:ext uri="{FF2B5EF4-FFF2-40B4-BE49-F238E27FC236}">
                <a16:creationId xmlns:a16="http://schemas.microsoft.com/office/drawing/2014/main" id="{413E54BB-5A9F-8C37-41F7-9C6FEE45D9C2}"/>
              </a:ext>
            </a:extLst>
          </p:cNvPr>
          <p:cNvSpPr/>
          <p:nvPr/>
        </p:nvSpPr>
        <p:spPr>
          <a:xfrm>
            <a:off x="5803767"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8" name="Oval 367">
            <a:extLst>
              <a:ext uri="{FF2B5EF4-FFF2-40B4-BE49-F238E27FC236}">
                <a16:creationId xmlns:a16="http://schemas.microsoft.com/office/drawing/2014/main" id="{A205B6C8-1CB0-D1FC-D642-E46F0868565C}"/>
              </a:ext>
            </a:extLst>
          </p:cNvPr>
          <p:cNvSpPr/>
          <p:nvPr/>
        </p:nvSpPr>
        <p:spPr>
          <a:xfrm>
            <a:off x="5803767"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7" name="Oval 146">
            <a:extLst>
              <a:ext uri="{FF2B5EF4-FFF2-40B4-BE49-F238E27FC236}">
                <a16:creationId xmlns:a16="http://schemas.microsoft.com/office/drawing/2014/main" id="{77AF2AF8-6392-9833-CE36-46D2657846A6}"/>
              </a:ext>
            </a:extLst>
          </p:cNvPr>
          <p:cNvSpPr/>
          <p:nvPr/>
        </p:nvSpPr>
        <p:spPr>
          <a:xfrm>
            <a:off x="58037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9" name="Oval 148">
            <a:extLst>
              <a:ext uri="{FF2B5EF4-FFF2-40B4-BE49-F238E27FC236}">
                <a16:creationId xmlns:a16="http://schemas.microsoft.com/office/drawing/2014/main" id="{ADE5C13F-95B7-45F2-FCAB-DD6D06768EB5}"/>
              </a:ext>
            </a:extLst>
          </p:cNvPr>
          <p:cNvSpPr/>
          <p:nvPr/>
        </p:nvSpPr>
        <p:spPr>
          <a:xfrm>
            <a:off x="580376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0" name="Oval 149">
            <a:extLst>
              <a:ext uri="{FF2B5EF4-FFF2-40B4-BE49-F238E27FC236}">
                <a16:creationId xmlns:a16="http://schemas.microsoft.com/office/drawing/2014/main" id="{60CA9834-DC50-B64B-D342-E54983DFFBA3}"/>
              </a:ext>
            </a:extLst>
          </p:cNvPr>
          <p:cNvSpPr/>
          <p:nvPr/>
        </p:nvSpPr>
        <p:spPr>
          <a:xfrm>
            <a:off x="5803767"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0" name="Straight Connector 139">
            <a:extLst>
              <a:ext uri="{FF2B5EF4-FFF2-40B4-BE49-F238E27FC236}">
                <a16:creationId xmlns:a16="http://schemas.microsoft.com/office/drawing/2014/main" id="{58AADD3C-A1F9-8D6E-F35E-48B0378EBCAC}"/>
              </a:ext>
            </a:extLst>
          </p:cNvPr>
          <p:cNvCxnSpPr>
            <a:cxnSpLocks/>
          </p:cNvCxnSpPr>
          <p:nvPr/>
        </p:nvCxnSpPr>
        <p:spPr>
          <a:xfrm>
            <a:off x="3524436" y="2823152"/>
            <a:ext cx="317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26BE7F0B-5BB1-3DFA-7F14-92A94AA2ECC9}"/>
              </a:ext>
            </a:extLst>
          </p:cNvPr>
          <p:cNvSpPr/>
          <p:nvPr/>
        </p:nvSpPr>
        <p:spPr>
          <a:xfrm>
            <a:off x="3403260"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2" name="Oval 141">
            <a:extLst>
              <a:ext uri="{FF2B5EF4-FFF2-40B4-BE49-F238E27FC236}">
                <a16:creationId xmlns:a16="http://schemas.microsoft.com/office/drawing/2014/main" id="{472C00F6-DB0B-E4C8-D99A-FDEFA5894DD7}"/>
              </a:ext>
            </a:extLst>
          </p:cNvPr>
          <p:cNvSpPr/>
          <p:nvPr/>
        </p:nvSpPr>
        <p:spPr>
          <a:xfrm>
            <a:off x="3415022"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4" name="Oval 143">
            <a:extLst>
              <a:ext uri="{FF2B5EF4-FFF2-40B4-BE49-F238E27FC236}">
                <a16:creationId xmlns:a16="http://schemas.microsoft.com/office/drawing/2014/main" id="{508DC767-0436-9973-23E8-F7EA88EAF2B1}"/>
              </a:ext>
            </a:extLst>
          </p:cNvPr>
          <p:cNvSpPr/>
          <p:nvPr/>
        </p:nvSpPr>
        <p:spPr>
          <a:xfrm>
            <a:off x="340739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5" name="Oval 144">
            <a:extLst>
              <a:ext uri="{FF2B5EF4-FFF2-40B4-BE49-F238E27FC236}">
                <a16:creationId xmlns:a16="http://schemas.microsoft.com/office/drawing/2014/main" id="{3DAEE947-CE33-A2FD-065E-BAD6A7740A74}"/>
              </a:ext>
            </a:extLst>
          </p:cNvPr>
          <p:cNvSpPr/>
          <p:nvPr/>
        </p:nvSpPr>
        <p:spPr>
          <a:xfrm>
            <a:off x="341389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9" name="Oval 368">
            <a:extLst>
              <a:ext uri="{FF2B5EF4-FFF2-40B4-BE49-F238E27FC236}">
                <a16:creationId xmlns:a16="http://schemas.microsoft.com/office/drawing/2014/main" id="{D871B817-E526-7A8B-4C36-BBA6F0846E7A}"/>
              </a:ext>
            </a:extLst>
          </p:cNvPr>
          <p:cNvSpPr/>
          <p:nvPr/>
        </p:nvSpPr>
        <p:spPr>
          <a:xfrm>
            <a:off x="342272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5" name="Oval 134">
            <a:extLst>
              <a:ext uri="{FF2B5EF4-FFF2-40B4-BE49-F238E27FC236}">
                <a16:creationId xmlns:a16="http://schemas.microsoft.com/office/drawing/2014/main" id="{01F78938-C9F7-285F-B0BE-3542D14E54A2}"/>
              </a:ext>
            </a:extLst>
          </p:cNvPr>
          <p:cNvSpPr/>
          <p:nvPr/>
        </p:nvSpPr>
        <p:spPr>
          <a:xfrm>
            <a:off x="5417787"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6" name="Oval 135">
            <a:extLst>
              <a:ext uri="{FF2B5EF4-FFF2-40B4-BE49-F238E27FC236}">
                <a16:creationId xmlns:a16="http://schemas.microsoft.com/office/drawing/2014/main" id="{B0FBE8C0-6F35-DA78-6589-F37C2B916D9C}"/>
              </a:ext>
            </a:extLst>
          </p:cNvPr>
          <p:cNvSpPr/>
          <p:nvPr/>
        </p:nvSpPr>
        <p:spPr>
          <a:xfrm>
            <a:off x="541891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7" name="Oval 136">
            <a:extLst>
              <a:ext uri="{FF2B5EF4-FFF2-40B4-BE49-F238E27FC236}">
                <a16:creationId xmlns:a16="http://schemas.microsoft.com/office/drawing/2014/main" id="{59F03C49-D457-103C-9B69-4EB783448C76}"/>
              </a:ext>
            </a:extLst>
          </p:cNvPr>
          <p:cNvSpPr/>
          <p:nvPr/>
        </p:nvSpPr>
        <p:spPr>
          <a:xfrm>
            <a:off x="54221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8" name="Oval 137">
            <a:extLst>
              <a:ext uri="{FF2B5EF4-FFF2-40B4-BE49-F238E27FC236}">
                <a16:creationId xmlns:a16="http://schemas.microsoft.com/office/drawing/2014/main" id="{0CC16BAE-42CD-7CF6-4C36-194C78D829D8}"/>
              </a:ext>
            </a:extLst>
          </p:cNvPr>
          <p:cNvSpPr/>
          <p:nvPr/>
        </p:nvSpPr>
        <p:spPr>
          <a:xfrm>
            <a:off x="542217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9" name="Oval 138">
            <a:extLst>
              <a:ext uri="{FF2B5EF4-FFF2-40B4-BE49-F238E27FC236}">
                <a16:creationId xmlns:a16="http://schemas.microsoft.com/office/drawing/2014/main" id="{F44B56F9-76C8-FF76-EAB4-7EEDA28EF472}"/>
              </a:ext>
            </a:extLst>
          </p:cNvPr>
          <p:cNvSpPr/>
          <p:nvPr/>
        </p:nvSpPr>
        <p:spPr>
          <a:xfrm>
            <a:off x="541778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8" name="Straight Connector 127">
            <a:extLst>
              <a:ext uri="{FF2B5EF4-FFF2-40B4-BE49-F238E27FC236}">
                <a16:creationId xmlns:a16="http://schemas.microsoft.com/office/drawing/2014/main" id="{0872768F-B742-7883-EC46-6290798B4906}"/>
              </a:ext>
            </a:extLst>
          </p:cNvPr>
          <p:cNvCxnSpPr>
            <a:cxnSpLocks/>
          </p:cNvCxnSpPr>
          <p:nvPr/>
        </p:nvCxnSpPr>
        <p:spPr>
          <a:xfrm>
            <a:off x="11195706" y="2823152"/>
            <a:ext cx="1063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9107B9EE-D9C0-9E00-D4B7-9D31AA04F9E3}"/>
              </a:ext>
            </a:extLst>
          </p:cNvPr>
          <p:cNvSpPr/>
          <p:nvPr/>
        </p:nvSpPr>
        <p:spPr>
          <a:xfrm>
            <a:off x="11067202"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0" name="Oval 129">
            <a:extLst>
              <a:ext uri="{FF2B5EF4-FFF2-40B4-BE49-F238E27FC236}">
                <a16:creationId xmlns:a16="http://schemas.microsoft.com/office/drawing/2014/main" id="{E71C8B76-BFD0-E51F-1DAB-5EA79BDAD815}"/>
              </a:ext>
            </a:extLst>
          </p:cNvPr>
          <p:cNvSpPr/>
          <p:nvPr/>
        </p:nvSpPr>
        <p:spPr>
          <a:xfrm>
            <a:off x="11067202"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1" name="Oval 130">
            <a:extLst>
              <a:ext uri="{FF2B5EF4-FFF2-40B4-BE49-F238E27FC236}">
                <a16:creationId xmlns:a16="http://schemas.microsoft.com/office/drawing/2014/main" id="{6C3B429C-BCC2-E0D7-30DC-4220E8A99461}"/>
              </a:ext>
            </a:extLst>
          </p:cNvPr>
          <p:cNvSpPr/>
          <p:nvPr/>
        </p:nvSpPr>
        <p:spPr>
          <a:xfrm>
            <a:off x="1106720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2" name="Oval 131">
            <a:extLst>
              <a:ext uri="{FF2B5EF4-FFF2-40B4-BE49-F238E27FC236}">
                <a16:creationId xmlns:a16="http://schemas.microsoft.com/office/drawing/2014/main" id="{53C567E2-B58A-91E6-E180-069D3DA93BE6}"/>
              </a:ext>
            </a:extLst>
          </p:cNvPr>
          <p:cNvSpPr/>
          <p:nvPr/>
        </p:nvSpPr>
        <p:spPr>
          <a:xfrm>
            <a:off x="11067202"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3" name="Oval 132">
            <a:extLst>
              <a:ext uri="{FF2B5EF4-FFF2-40B4-BE49-F238E27FC236}">
                <a16:creationId xmlns:a16="http://schemas.microsoft.com/office/drawing/2014/main" id="{BF0AF3A3-5A35-151E-6BAC-AE2F2FB79866}"/>
              </a:ext>
            </a:extLst>
          </p:cNvPr>
          <p:cNvSpPr/>
          <p:nvPr/>
        </p:nvSpPr>
        <p:spPr>
          <a:xfrm>
            <a:off x="11067202"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2" name="Straight Connector 121">
            <a:extLst>
              <a:ext uri="{FF2B5EF4-FFF2-40B4-BE49-F238E27FC236}">
                <a16:creationId xmlns:a16="http://schemas.microsoft.com/office/drawing/2014/main" id="{6B275D0B-CC96-BECF-1186-FF85AA673419}"/>
              </a:ext>
            </a:extLst>
          </p:cNvPr>
          <p:cNvCxnSpPr>
            <a:cxnSpLocks/>
          </p:cNvCxnSpPr>
          <p:nvPr/>
        </p:nvCxnSpPr>
        <p:spPr>
          <a:xfrm>
            <a:off x="8361175"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3" name="Oval 122">
            <a:extLst>
              <a:ext uri="{FF2B5EF4-FFF2-40B4-BE49-F238E27FC236}">
                <a16:creationId xmlns:a16="http://schemas.microsoft.com/office/drawing/2014/main" id="{631A6E04-AAF7-7D0D-D36B-273C2DA3F0AF}"/>
              </a:ext>
            </a:extLst>
          </p:cNvPr>
          <p:cNvSpPr/>
          <p:nvPr/>
        </p:nvSpPr>
        <p:spPr>
          <a:xfrm>
            <a:off x="8228629"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4" name="Oval 123">
            <a:extLst>
              <a:ext uri="{FF2B5EF4-FFF2-40B4-BE49-F238E27FC236}">
                <a16:creationId xmlns:a16="http://schemas.microsoft.com/office/drawing/2014/main" id="{6C6769A0-2C3B-C1CF-DC4B-35DE9CFB5C36}"/>
              </a:ext>
            </a:extLst>
          </p:cNvPr>
          <p:cNvSpPr/>
          <p:nvPr/>
        </p:nvSpPr>
        <p:spPr>
          <a:xfrm>
            <a:off x="8228629"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5" name="Oval 124">
            <a:extLst>
              <a:ext uri="{FF2B5EF4-FFF2-40B4-BE49-F238E27FC236}">
                <a16:creationId xmlns:a16="http://schemas.microsoft.com/office/drawing/2014/main" id="{7C244ED5-C1AE-BC81-9840-A212D0165C07}"/>
              </a:ext>
            </a:extLst>
          </p:cNvPr>
          <p:cNvSpPr/>
          <p:nvPr/>
        </p:nvSpPr>
        <p:spPr>
          <a:xfrm>
            <a:off x="82286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6" name="Oval 125">
            <a:extLst>
              <a:ext uri="{FF2B5EF4-FFF2-40B4-BE49-F238E27FC236}">
                <a16:creationId xmlns:a16="http://schemas.microsoft.com/office/drawing/2014/main" id="{5B1070AF-C590-1479-04E4-F68C2BFD86AF}"/>
              </a:ext>
            </a:extLst>
          </p:cNvPr>
          <p:cNvSpPr/>
          <p:nvPr/>
        </p:nvSpPr>
        <p:spPr>
          <a:xfrm>
            <a:off x="822862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7" name="Oval 126">
            <a:extLst>
              <a:ext uri="{FF2B5EF4-FFF2-40B4-BE49-F238E27FC236}">
                <a16:creationId xmlns:a16="http://schemas.microsoft.com/office/drawing/2014/main" id="{56B739C6-6C49-D224-0D39-AD6FD2B2C605}"/>
              </a:ext>
            </a:extLst>
          </p:cNvPr>
          <p:cNvSpPr/>
          <p:nvPr/>
        </p:nvSpPr>
        <p:spPr>
          <a:xfrm>
            <a:off x="822862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7" name="Oval 116">
            <a:extLst>
              <a:ext uri="{FF2B5EF4-FFF2-40B4-BE49-F238E27FC236}">
                <a16:creationId xmlns:a16="http://schemas.microsoft.com/office/drawing/2014/main" id="{DBF92076-B71C-3022-6995-5A0A3A24EB41}"/>
              </a:ext>
            </a:extLst>
          </p:cNvPr>
          <p:cNvSpPr/>
          <p:nvPr/>
        </p:nvSpPr>
        <p:spPr>
          <a:xfrm>
            <a:off x="624665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8" name="Oval 117">
            <a:extLst>
              <a:ext uri="{FF2B5EF4-FFF2-40B4-BE49-F238E27FC236}">
                <a16:creationId xmlns:a16="http://schemas.microsoft.com/office/drawing/2014/main" id="{547200C2-E3CA-5F19-1EB9-AB1C2F4956DC}"/>
              </a:ext>
            </a:extLst>
          </p:cNvPr>
          <p:cNvSpPr/>
          <p:nvPr/>
        </p:nvSpPr>
        <p:spPr>
          <a:xfrm>
            <a:off x="6246656"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9" name="Oval 118">
            <a:extLst>
              <a:ext uri="{FF2B5EF4-FFF2-40B4-BE49-F238E27FC236}">
                <a16:creationId xmlns:a16="http://schemas.microsoft.com/office/drawing/2014/main" id="{7982CE77-6FA2-1DA1-D10B-BD78908E56ED}"/>
              </a:ext>
            </a:extLst>
          </p:cNvPr>
          <p:cNvSpPr/>
          <p:nvPr/>
        </p:nvSpPr>
        <p:spPr>
          <a:xfrm>
            <a:off x="624665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0" name="Oval 119">
            <a:extLst>
              <a:ext uri="{FF2B5EF4-FFF2-40B4-BE49-F238E27FC236}">
                <a16:creationId xmlns:a16="http://schemas.microsoft.com/office/drawing/2014/main" id="{1F9162B2-FD89-9AD5-D8A3-BACE8DDC1D0A}"/>
              </a:ext>
            </a:extLst>
          </p:cNvPr>
          <p:cNvSpPr/>
          <p:nvPr/>
        </p:nvSpPr>
        <p:spPr>
          <a:xfrm>
            <a:off x="6246656"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1" name="Oval 120">
            <a:extLst>
              <a:ext uri="{FF2B5EF4-FFF2-40B4-BE49-F238E27FC236}">
                <a16:creationId xmlns:a16="http://schemas.microsoft.com/office/drawing/2014/main" id="{D964E8FD-DF1F-030A-4508-C4A77C2D7060}"/>
              </a:ext>
            </a:extLst>
          </p:cNvPr>
          <p:cNvSpPr/>
          <p:nvPr/>
        </p:nvSpPr>
        <p:spPr>
          <a:xfrm>
            <a:off x="624665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3" name="TextBox 112">
            <a:extLst>
              <a:ext uri="{FF2B5EF4-FFF2-40B4-BE49-F238E27FC236}">
                <a16:creationId xmlns:a16="http://schemas.microsoft.com/office/drawing/2014/main" id="{5B580AE1-CBA1-E83D-BCEA-618A7BF354A2}"/>
              </a:ext>
            </a:extLst>
          </p:cNvPr>
          <p:cNvSpPr txBox="1"/>
          <p:nvPr/>
        </p:nvSpPr>
        <p:spPr>
          <a:xfrm>
            <a:off x="3472371" y="3847410"/>
            <a:ext cx="532681" cy="36009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 + 4% (Feb 26)</a:t>
            </a:r>
          </a:p>
        </p:txBody>
      </p:sp>
      <p:sp>
        <p:nvSpPr>
          <p:cNvPr id="114" name="TextBox 113">
            <a:extLst>
              <a:ext uri="{FF2B5EF4-FFF2-40B4-BE49-F238E27FC236}">
                <a16:creationId xmlns:a16="http://schemas.microsoft.com/office/drawing/2014/main" id="{FC1D417B-F88F-FFDC-647F-479B5F6B4EED}"/>
              </a:ext>
            </a:extLst>
          </p:cNvPr>
          <p:cNvSpPr txBox="1"/>
          <p:nvPr/>
        </p:nvSpPr>
        <p:spPr>
          <a:xfrm>
            <a:off x="5869976"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pic>
        <p:nvPicPr>
          <p:cNvPr id="268" name="Notre Dame" descr="Notre Dame Fighting Irish - Wikipedia">
            <a:extLst>
              <a:ext uri="{FF2B5EF4-FFF2-40B4-BE49-F238E27FC236}">
                <a16:creationId xmlns:a16="http://schemas.microsoft.com/office/drawing/2014/main" id="{971D08EA-3631-B1FF-8151-E97A0F35DE5C}"/>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800132" y="1239667"/>
            <a:ext cx="319460" cy="287514"/>
          </a:xfrm>
          <a:prstGeom prst="rect">
            <a:avLst/>
          </a:prstGeom>
          <a:noFill/>
          <a:extLst>
            <a:ext uri="{909E8E84-426E-40DD-AFC4-6F175D3DCCD1}">
              <a14:hiddenFill xmlns:a14="http://schemas.microsoft.com/office/drawing/2010/main">
                <a:solidFill>
                  <a:srgbClr val="FFFFFF"/>
                </a:solidFill>
              </a14:hiddenFill>
            </a:ext>
          </a:extLst>
        </p:spPr>
      </p:pic>
      <p:pic>
        <p:nvPicPr>
          <p:cNvPr id="269" name="Rice" descr="Image result for rice crest">
            <a:extLst>
              <a:ext uri="{FF2B5EF4-FFF2-40B4-BE49-F238E27FC236}">
                <a16:creationId xmlns:a16="http://schemas.microsoft.com/office/drawing/2014/main" id="{83E4516B-9805-46C3-80C2-70CB631B2F0C}"/>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8564392" y="1204456"/>
            <a:ext cx="457175" cy="365760"/>
          </a:xfrm>
          <a:prstGeom prst="rect">
            <a:avLst/>
          </a:prstGeom>
          <a:noFill/>
          <a:extLst>
            <a:ext uri="{909E8E84-426E-40DD-AFC4-6F175D3DCCD1}">
              <a14:hiddenFill xmlns:a14="http://schemas.microsoft.com/office/drawing/2010/main">
                <a:solidFill>
                  <a:srgbClr val="FFFFFF"/>
                </a:solidFill>
              </a14:hiddenFill>
            </a:ext>
          </a:extLst>
        </p:spPr>
      </p:pic>
      <p:grpSp>
        <p:nvGrpSpPr>
          <p:cNvPr id="281" name="Group 280">
            <a:extLst>
              <a:ext uri="{FF2B5EF4-FFF2-40B4-BE49-F238E27FC236}">
                <a16:creationId xmlns:a16="http://schemas.microsoft.com/office/drawing/2014/main" id="{90B6600A-0EC7-C79F-2927-6333BF032553}"/>
              </a:ext>
            </a:extLst>
          </p:cNvPr>
          <p:cNvGrpSpPr/>
          <p:nvPr/>
        </p:nvGrpSpPr>
        <p:grpSpPr>
          <a:xfrm>
            <a:off x="208656" y="5913850"/>
            <a:ext cx="5111088" cy="228524"/>
            <a:chOff x="246049" y="6540021"/>
            <a:chExt cx="5111088" cy="253916"/>
          </a:xfrm>
        </p:grpSpPr>
        <p:sp>
          <p:nvSpPr>
            <p:cNvPr id="282" name="Oval 281">
              <a:extLst>
                <a:ext uri="{FF2B5EF4-FFF2-40B4-BE49-F238E27FC236}">
                  <a16:creationId xmlns:a16="http://schemas.microsoft.com/office/drawing/2014/main" id="{B42548AB-1A50-1E13-F5BA-7F7DB40E715B}"/>
                </a:ext>
              </a:extLst>
            </p:cNvPr>
            <p:cNvSpPr/>
            <p:nvPr/>
          </p:nvSpPr>
          <p:spPr>
            <a:xfrm>
              <a:off x="246049" y="6570815"/>
              <a:ext cx="214840" cy="215413"/>
            </a:xfrm>
            <a:prstGeom prst="ellipse">
              <a:avLst/>
            </a:prstGeom>
            <a:solidFill>
              <a:schemeClr val="accent2">
                <a:lumMod val="60000"/>
                <a:lumOff val="4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3" name="TextBox 282">
              <a:extLst>
                <a:ext uri="{FF2B5EF4-FFF2-40B4-BE49-F238E27FC236}">
                  <a16:creationId xmlns:a16="http://schemas.microsoft.com/office/drawing/2014/main" id="{BDCAC290-9582-AFD5-FBD5-DA800600C19C}"/>
                </a:ext>
              </a:extLst>
            </p:cNvPr>
            <p:cNvSpPr txBox="1"/>
            <p:nvPr/>
          </p:nvSpPr>
          <p:spPr>
            <a:xfrm>
              <a:off x="491703" y="6540021"/>
              <a:ext cx="4865434"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“frost” / staff, layoffs expected, and/or expense reductions under review</a:t>
              </a:r>
            </a:p>
          </p:txBody>
        </p:sp>
      </p:grpSp>
      <p:grpSp>
        <p:nvGrpSpPr>
          <p:cNvPr id="284" name="Group 283">
            <a:extLst>
              <a:ext uri="{FF2B5EF4-FFF2-40B4-BE49-F238E27FC236}">
                <a16:creationId xmlns:a16="http://schemas.microsoft.com/office/drawing/2014/main" id="{7FA10906-AD22-AD6F-7F39-0FD90BFEBD30}"/>
              </a:ext>
            </a:extLst>
          </p:cNvPr>
          <p:cNvGrpSpPr/>
          <p:nvPr/>
        </p:nvGrpSpPr>
        <p:grpSpPr>
          <a:xfrm>
            <a:off x="5613132" y="5898614"/>
            <a:ext cx="4958560" cy="228524"/>
            <a:chOff x="5879459" y="6509229"/>
            <a:chExt cx="4958560" cy="253916"/>
          </a:xfrm>
        </p:grpSpPr>
        <p:sp>
          <p:nvSpPr>
            <p:cNvPr id="285" name="Oval 284">
              <a:extLst>
                <a:ext uri="{FF2B5EF4-FFF2-40B4-BE49-F238E27FC236}">
                  <a16:creationId xmlns:a16="http://schemas.microsoft.com/office/drawing/2014/main" id="{325BFC6F-3E0D-94F8-D160-EDA8A5E83627}"/>
                </a:ext>
              </a:extLst>
            </p:cNvPr>
            <p:cNvSpPr/>
            <p:nvPr/>
          </p:nvSpPr>
          <p:spPr>
            <a:xfrm>
              <a:off x="5879459" y="6540024"/>
              <a:ext cx="214840" cy="215413"/>
            </a:xfrm>
            <a:prstGeom prst="ellipse">
              <a:avLst/>
            </a:prstGeom>
            <a:solidFill>
              <a:srgbClr val="FFFFFF"/>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6" name="TextBox 285">
              <a:extLst>
                <a:ext uri="{FF2B5EF4-FFF2-40B4-BE49-F238E27FC236}">
                  <a16:creationId xmlns:a16="http://schemas.microsoft.com/office/drawing/2014/main" id="{862B3777-77AF-620C-4686-9D56FD258EDE}"/>
                </a:ext>
              </a:extLst>
            </p:cNvPr>
            <p:cNvSpPr txBox="1"/>
            <p:nvPr/>
          </p:nvSpPr>
          <p:spPr>
            <a:xfrm>
              <a:off x="6134487" y="6509229"/>
              <a:ext cx="4703532"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“freeze”, layoffs and/or expense reductions communicated/confirmed</a:t>
              </a:r>
            </a:p>
          </p:txBody>
        </p:sp>
      </p:grpSp>
      <p:sp>
        <p:nvSpPr>
          <p:cNvPr id="289" name="TextBox 288">
            <a:extLst>
              <a:ext uri="{FF2B5EF4-FFF2-40B4-BE49-F238E27FC236}">
                <a16:creationId xmlns:a16="http://schemas.microsoft.com/office/drawing/2014/main" id="{EEEA67B6-9EDF-1F4D-B1BA-4A04CF688971}"/>
              </a:ext>
            </a:extLst>
          </p:cNvPr>
          <p:cNvSpPr txBox="1"/>
          <p:nvPr/>
        </p:nvSpPr>
        <p:spPr>
          <a:xfrm>
            <a:off x="7053826"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0" name="TextBox 289">
            <a:extLst>
              <a:ext uri="{FF2B5EF4-FFF2-40B4-BE49-F238E27FC236}">
                <a16:creationId xmlns:a16="http://schemas.microsoft.com/office/drawing/2014/main" id="{46A885C6-5377-C14D-8521-3F2C0C65AEFE}"/>
              </a:ext>
            </a:extLst>
          </p:cNvPr>
          <p:cNvSpPr txBox="1"/>
          <p:nvPr/>
        </p:nvSpPr>
        <p:spPr>
          <a:xfrm>
            <a:off x="7454358" y="3078366"/>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1" name="TextBox 290">
            <a:extLst>
              <a:ext uri="{FF2B5EF4-FFF2-40B4-BE49-F238E27FC236}">
                <a16:creationId xmlns:a16="http://schemas.microsoft.com/office/drawing/2014/main" id="{ED2CEAE6-DB1C-FC4D-0004-5CE5D756D2D9}"/>
              </a:ext>
            </a:extLst>
          </p:cNvPr>
          <p:cNvSpPr txBox="1"/>
          <p:nvPr/>
        </p:nvSpPr>
        <p:spPr>
          <a:xfrm>
            <a:off x="10176072"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294" name="TextBox 293">
            <a:extLst>
              <a:ext uri="{FF2B5EF4-FFF2-40B4-BE49-F238E27FC236}">
                <a16:creationId xmlns:a16="http://schemas.microsoft.com/office/drawing/2014/main" id="{735A9A4A-3E63-D7EE-2DBB-A20F379546B6}"/>
              </a:ext>
            </a:extLst>
          </p:cNvPr>
          <p:cNvSpPr txBox="1"/>
          <p:nvPr/>
        </p:nvSpPr>
        <p:spPr>
          <a:xfrm>
            <a:off x="2969921"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5" name="TextBox 294">
            <a:extLst>
              <a:ext uri="{FF2B5EF4-FFF2-40B4-BE49-F238E27FC236}">
                <a16:creationId xmlns:a16="http://schemas.microsoft.com/office/drawing/2014/main" id="{38C751B3-D817-F4C7-5B47-1CB1749FD112}"/>
              </a:ext>
            </a:extLst>
          </p:cNvPr>
          <p:cNvSpPr txBox="1"/>
          <p:nvPr/>
        </p:nvSpPr>
        <p:spPr>
          <a:xfrm>
            <a:off x="4955298"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7" name="TextBox 296">
            <a:extLst>
              <a:ext uri="{FF2B5EF4-FFF2-40B4-BE49-F238E27FC236}">
                <a16:creationId xmlns:a16="http://schemas.microsoft.com/office/drawing/2014/main" id="{FCD0F29C-43CA-1180-6EB3-85580859FED9}"/>
              </a:ext>
            </a:extLst>
          </p:cNvPr>
          <p:cNvSpPr txBox="1"/>
          <p:nvPr/>
        </p:nvSpPr>
        <p:spPr>
          <a:xfrm>
            <a:off x="2541238" y="308294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8" name="TextBox 297">
            <a:extLst>
              <a:ext uri="{FF2B5EF4-FFF2-40B4-BE49-F238E27FC236}">
                <a16:creationId xmlns:a16="http://schemas.microsoft.com/office/drawing/2014/main" id="{40954602-7B06-9A3E-1C8D-32FF57BB307C}"/>
              </a:ext>
            </a:extLst>
          </p:cNvPr>
          <p:cNvSpPr txBox="1"/>
          <p:nvPr/>
        </p:nvSpPr>
        <p:spPr>
          <a:xfrm>
            <a:off x="5807559" y="3078365"/>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9" name="TextBox 298">
            <a:extLst>
              <a:ext uri="{FF2B5EF4-FFF2-40B4-BE49-F238E27FC236}">
                <a16:creationId xmlns:a16="http://schemas.microsoft.com/office/drawing/2014/main" id="{42CEF99D-67E6-E983-1240-6528458B4CB5}"/>
              </a:ext>
            </a:extLst>
          </p:cNvPr>
          <p:cNvSpPr txBox="1"/>
          <p:nvPr/>
        </p:nvSpPr>
        <p:spPr>
          <a:xfrm>
            <a:off x="6193107" y="3082703"/>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300" name="TextBox 299">
            <a:extLst>
              <a:ext uri="{FF2B5EF4-FFF2-40B4-BE49-F238E27FC236}">
                <a16:creationId xmlns:a16="http://schemas.microsoft.com/office/drawing/2014/main" id="{2EB41FAD-B5B7-CDEA-A540-91485DA21B87}"/>
              </a:ext>
            </a:extLst>
          </p:cNvPr>
          <p:cNvSpPr txBox="1"/>
          <p:nvPr/>
        </p:nvSpPr>
        <p:spPr>
          <a:xfrm>
            <a:off x="8237864"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01" name="TextBox 300">
            <a:extLst>
              <a:ext uri="{FF2B5EF4-FFF2-40B4-BE49-F238E27FC236}">
                <a16:creationId xmlns:a16="http://schemas.microsoft.com/office/drawing/2014/main" id="{C5ECF79A-01BB-2609-F786-AEA775124B10}"/>
              </a:ext>
            </a:extLst>
          </p:cNvPr>
          <p:cNvSpPr txBox="1"/>
          <p:nvPr/>
        </p:nvSpPr>
        <p:spPr>
          <a:xfrm>
            <a:off x="4546043"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pic>
        <p:nvPicPr>
          <p:cNvPr id="307" name="Picture 306" descr="Branded Merchandise - USC Brand and Identity Guidelines">
            <a:extLst>
              <a:ext uri="{FF2B5EF4-FFF2-40B4-BE49-F238E27FC236}">
                <a16:creationId xmlns:a16="http://schemas.microsoft.com/office/drawing/2014/main" id="{4FA9F787-B325-0CCD-48C6-7357EFA15E28}"/>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5396694" y="1276175"/>
            <a:ext cx="332499" cy="206385"/>
          </a:xfrm>
          <a:prstGeom prst="rect">
            <a:avLst/>
          </a:prstGeom>
          <a:noFill/>
          <a:extLst>
            <a:ext uri="{909E8E84-426E-40DD-AFC4-6F175D3DCCD1}">
              <a14:hiddenFill xmlns:a14="http://schemas.microsoft.com/office/drawing/2010/main">
                <a:solidFill>
                  <a:srgbClr val="FFFFFF"/>
                </a:solidFill>
              </a14:hiddenFill>
            </a:ext>
          </a:extLst>
        </p:spPr>
      </p:pic>
      <p:sp>
        <p:nvSpPr>
          <p:cNvPr id="308" name="TextBox 307">
            <a:extLst>
              <a:ext uri="{FF2B5EF4-FFF2-40B4-BE49-F238E27FC236}">
                <a16:creationId xmlns:a16="http://schemas.microsoft.com/office/drawing/2014/main" id="{B4FAE366-7268-9FB6-A556-A0634835468A}"/>
              </a:ext>
            </a:extLst>
          </p:cNvPr>
          <p:cNvSpPr txBox="1"/>
          <p:nvPr/>
        </p:nvSpPr>
        <p:spPr>
          <a:xfrm>
            <a:off x="3748285"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09" name="TextBox 308">
            <a:extLst>
              <a:ext uri="{FF2B5EF4-FFF2-40B4-BE49-F238E27FC236}">
                <a16:creationId xmlns:a16="http://schemas.microsoft.com/office/drawing/2014/main" id="{70FE8976-AF23-8ADE-D644-B59819833387}"/>
              </a:ext>
            </a:extLst>
          </p:cNvPr>
          <p:cNvSpPr txBox="1"/>
          <p:nvPr/>
        </p:nvSpPr>
        <p:spPr>
          <a:xfrm>
            <a:off x="5376407"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graphicFrame>
        <p:nvGraphicFramePr>
          <p:cNvPr id="310" name="Table 309">
            <a:extLst>
              <a:ext uri="{FF2B5EF4-FFF2-40B4-BE49-F238E27FC236}">
                <a16:creationId xmlns:a16="http://schemas.microsoft.com/office/drawing/2014/main" id="{ED46F291-746B-BD2B-960D-DC807A318F71}"/>
              </a:ext>
            </a:extLst>
          </p:cNvPr>
          <p:cNvGraphicFramePr>
            <a:graphicFrameLocks noGrp="1"/>
          </p:cNvGraphicFramePr>
          <p:nvPr/>
        </p:nvGraphicFramePr>
        <p:xfrm>
          <a:off x="437052" y="2523095"/>
          <a:ext cx="914400" cy="368377"/>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Layoffs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cxnSp>
        <p:nvCxnSpPr>
          <p:cNvPr id="254" name="Straight Connector 253">
            <a:extLst>
              <a:ext uri="{FF2B5EF4-FFF2-40B4-BE49-F238E27FC236}">
                <a16:creationId xmlns:a16="http://schemas.microsoft.com/office/drawing/2014/main" id="{77AD756A-88EF-C83F-F14C-ABA0F8BF2656}"/>
              </a:ext>
            </a:extLst>
          </p:cNvPr>
          <p:cNvCxnSpPr>
            <a:cxnSpLocks/>
          </p:cNvCxnSpPr>
          <p:nvPr/>
        </p:nvCxnSpPr>
        <p:spPr>
          <a:xfrm>
            <a:off x="2325821" y="2702710"/>
            <a:ext cx="10183"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55" name="Oval 254">
            <a:extLst>
              <a:ext uri="{FF2B5EF4-FFF2-40B4-BE49-F238E27FC236}">
                <a16:creationId xmlns:a16="http://schemas.microsoft.com/office/drawing/2014/main" id="{F1B2B677-287E-1D1E-ED55-764F9F7E2DB4}"/>
              </a:ext>
            </a:extLst>
          </p:cNvPr>
          <p:cNvSpPr/>
          <p:nvPr/>
        </p:nvSpPr>
        <p:spPr>
          <a:xfrm>
            <a:off x="219708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6" name="Oval 255">
            <a:extLst>
              <a:ext uri="{FF2B5EF4-FFF2-40B4-BE49-F238E27FC236}">
                <a16:creationId xmlns:a16="http://schemas.microsoft.com/office/drawing/2014/main" id="{06A7DC7E-2308-2885-3161-24420CD0511F}"/>
              </a:ext>
            </a:extLst>
          </p:cNvPr>
          <p:cNvSpPr/>
          <p:nvPr/>
        </p:nvSpPr>
        <p:spPr>
          <a:xfrm>
            <a:off x="219708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7" name="Oval 256">
            <a:extLst>
              <a:ext uri="{FF2B5EF4-FFF2-40B4-BE49-F238E27FC236}">
                <a16:creationId xmlns:a16="http://schemas.microsoft.com/office/drawing/2014/main" id="{A67D25D7-583E-5EAE-958B-54DAFAB58B97}"/>
              </a:ext>
            </a:extLst>
          </p:cNvPr>
          <p:cNvSpPr/>
          <p:nvPr/>
        </p:nvSpPr>
        <p:spPr>
          <a:xfrm>
            <a:off x="219708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8" name="Oval 257">
            <a:extLst>
              <a:ext uri="{FF2B5EF4-FFF2-40B4-BE49-F238E27FC236}">
                <a16:creationId xmlns:a16="http://schemas.microsoft.com/office/drawing/2014/main" id="{2717B00B-B362-547D-744B-93E0F1ECC013}"/>
              </a:ext>
            </a:extLst>
          </p:cNvPr>
          <p:cNvSpPr/>
          <p:nvPr/>
        </p:nvSpPr>
        <p:spPr>
          <a:xfrm>
            <a:off x="219708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9" name="Oval 258">
            <a:extLst>
              <a:ext uri="{FF2B5EF4-FFF2-40B4-BE49-F238E27FC236}">
                <a16:creationId xmlns:a16="http://schemas.microsoft.com/office/drawing/2014/main" id="{CE5341F1-44E9-6E3A-3F9A-AA2A532B8DE0}"/>
              </a:ext>
            </a:extLst>
          </p:cNvPr>
          <p:cNvSpPr/>
          <p:nvPr/>
        </p:nvSpPr>
        <p:spPr>
          <a:xfrm>
            <a:off x="219708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0" name="Oval 349">
            <a:extLst>
              <a:ext uri="{FF2B5EF4-FFF2-40B4-BE49-F238E27FC236}">
                <a16:creationId xmlns:a16="http://schemas.microsoft.com/office/drawing/2014/main" id="{62758392-0B8E-8D21-83BF-DCEB66E991FD}"/>
              </a:ext>
            </a:extLst>
          </p:cNvPr>
          <p:cNvSpPr/>
          <p:nvPr/>
        </p:nvSpPr>
        <p:spPr>
          <a:xfrm>
            <a:off x="219708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1" name="Oval 350">
            <a:extLst>
              <a:ext uri="{FF2B5EF4-FFF2-40B4-BE49-F238E27FC236}">
                <a16:creationId xmlns:a16="http://schemas.microsoft.com/office/drawing/2014/main" id="{F12FE961-42B5-40C1-979B-DD58C808D0EA}"/>
              </a:ext>
            </a:extLst>
          </p:cNvPr>
          <p:cNvSpPr/>
          <p:nvPr/>
        </p:nvSpPr>
        <p:spPr>
          <a:xfrm>
            <a:off x="219708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pic>
        <p:nvPicPr>
          <p:cNvPr id="275" name="Picture 12" descr="From the Editors: What Does the Brown University Seal Mean Anyway? – The  Bruin Club">
            <a:extLst>
              <a:ext uri="{FF2B5EF4-FFF2-40B4-BE49-F238E27FC236}">
                <a16:creationId xmlns:a16="http://schemas.microsoft.com/office/drawing/2014/main" id="{466D6A16-ACC9-E4FF-83A9-CE35FF44131D}"/>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2198343" y="1213794"/>
            <a:ext cx="265138" cy="365760"/>
          </a:xfrm>
          <a:prstGeom prst="rect">
            <a:avLst/>
          </a:prstGeom>
          <a:solidFill>
            <a:srgbClr val="C8102E"/>
          </a:solidFill>
          <a:ln>
            <a:solidFill>
              <a:schemeClr val="tx1"/>
            </a:solidFill>
          </a:ln>
        </p:spPr>
      </p:pic>
      <p:sp>
        <p:nvSpPr>
          <p:cNvPr id="292" name="TextBox 291">
            <a:extLst>
              <a:ext uri="{FF2B5EF4-FFF2-40B4-BE49-F238E27FC236}">
                <a16:creationId xmlns:a16="http://schemas.microsoft.com/office/drawing/2014/main" id="{788D656D-6648-FE07-2A6C-01479C76FDE9}"/>
              </a:ext>
            </a:extLst>
          </p:cNvPr>
          <p:cNvSpPr txBox="1"/>
          <p:nvPr/>
        </p:nvSpPr>
        <p:spPr>
          <a:xfrm>
            <a:off x="2143169"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1" name="Oval 310">
            <a:extLst>
              <a:ext uri="{FF2B5EF4-FFF2-40B4-BE49-F238E27FC236}">
                <a16:creationId xmlns:a16="http://schemas.microsoft.com/office/drawing/2014/main" id="{04F45A45-F76B-F283-F346-74ACDC580CDF}"/>
              </a:ext>
            </a:extLst>
          </p:cNvPr>
          <p:cNvSpPr/>
          <p:nvPr/>
        </p:nvSpPr>
        <p:spPr>
          <a:xfrm>
            <a:off x="219708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2" name="Oval 311">
            <a:extLst>
              <a:ext uri="{FF2B5EF4-FFF2-40B4-BE49-F238E27FC236}">
                <a16:creationId xmlns:a16="http://schemas.microsoft.com/office/drawing/2014/main" id="{262F5DF0-AFC1-232D-2AC4-90FBE52D0201}"/>
              </a:ext>
            </a:extLst>
          </p:cNvPr>
          <p:cNvSpPr/>
          <p:nvPr/>
        </p:nvSpPr>
        <p:spPr>
          <a:xfrm>
            <a:off x="10639039" y="3037223"/>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3" name="Oval 312">
            <a:extLst>
              <a:ext uri="{FF2B5EF4-FFF2-40B4-BE49-F238E27FC236}">
                <a16:creationId xmlns:a16="http://schemas.microsoft.com/office/drawing/2014/main" id="{C41E56A8-0FE8-7D45-F80A-85BACF3E01D1}"/>
              </a:ext>
            </a:extLst>
          </p:cNvPr>
          <p:cNvSpPr/>
          <p:nvPr/>
        </p:nvSpPr>
        <p:spPr>
          <a:xfrm>
            <a:off x="10639039"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4" name="Oval 313">
            <a:extLst>
              <a:ext uri="{FF2B5EF4-FFF2-40B4-BE49-F238E27FC236}">
                <a16:creationId xmlns:a16="http://schemas.microsoft.com/office/drawing/2014/main" id="{A32F1966-E5A6-BFDD-35CD-20BF1A453844}"/>
              </a:ext>
            </a:extLst>
          </p:cNvPr>
          <p:cNvSpPr/>
          <p:nvPr/>
        </p:nvSpPr>
        <p:spPr>
          <a:xfrm>
            <a:off x="9832531"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16" name="Oval 315">
            <a:extLst>
              <a:ext uri="{FF2B5EF4-FFF2-40B4-BE49-F238E27FC236}">
                <a16:creationId xmlns:a16="http://schemas.microsoft.com/office/drawing/2014/main" id="{877A33C4-68DE-D3C8-EBB8-D91143918852}"/>
              </a:ext>
            </a:extLst>
          </p:cNvPr>
          <p:cNvSpPr/>
          <p:nvPr/>
        </p:nvSpPr>
        <p:spPr>
          <a:xfrm>
            <a:off x="300841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7" name="Oval 316">
            <a:extLst>
              <a:ext uri="{FF2B5EF4-FFF2-40B4-BE49-F238E27FC236}">
                <a16:creationId xmlns:a16="http://schemas.microsoft.com/office/drawing/2014/main" id="{7197AFC4-4C53-BDB3-3C8A-9F37EA85446F}"/>
              </a:ext>
            </a:extLst>
          </p:cNvPr>
          <p:cNvSpPr/>
          <p:nvPr/>
        </p:nvSpPr>
        <p:spPr>
          <a:xfrm>
            <a:off x="4599357"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9" name="Oval 318">
            <a:extLst>
              <a:ext uri="{FF2B5EF4-FFF2-40B4-BE49-F238E27FC236}">
                <a16:creationId xmlns:a16="http://schemas.microsoft.com/office/drawing/2014/main" id="{3F552D0C-7FE6-F158-64B2-616D916B4480}"/>
              </a:ext>
            </a:extLst>
          </p:cNvPr>
          <p:cNvSpPr/>
          <p:nvPr/>
        </p:nvSpPr>
        <p:spPr>
          <a:xfrm>
            <a:off x="4998560"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0" name="Oval 319">
            <a:extLst>
              <a:ext uri="{FF2B5EF4-FFF2-40B4-BE49-F238E27FC236}">
                <a16:creationId xmlns:a16="http://schemas.microsoft.com/office/drawing/2014/main" id="{AF4AA077-C13C-DD40-03FE-F77E400538C7}"/>
              </a:ext>
            </a:extLst>
          </p:cNvPr>
          <p:cNvSpPr/>
          <p:nvPr/>
        </p:nvSpPr>
        <p:spPr>
          <a:xfrm>
            <a:off x="7833573"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1" name="Oval 320">
            <a:extLst>
              <a:ext uri="{FF2B5EF4-FFF2-40B4-BE49-F238E27FC236}">
                <a16:creationId xmlns:a16="http://schemas.microsoft.com/office/drawing/2014/main" id="{FB1025DE-422F-9799-1338-7190D6F88B49}"/>
              </a:ext>
            </a:extLst>
          </p:cNvPr>
          <p:cNvSpPr/>
          <p:nvPr/>
        </p:nvSpPr>
        <p:spPr>
          <a:xfrm>
            <a:off x="419574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3" name="Oval 322">
            <a:extLst>
              <a:ext uri="{FF2B5EF4-FFF2-40B4-BE49-F238E27FC236}">
                <a16:creationId xmlns:a16="http://schemas.microsoft.com/office/drawing/2014/main" id="{6147B0E1-4DA2-2738-E37B-123483A17015}"/>
              </a:ext>
            </a:extLst>
          </p:cNvPr>
          <p:cNvSpPr/>
          <p:nvPr/>
        </p:nvSpPr>
        <p:spPr>
          <a:xfrm>
            <a:off x="7454851"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4" name="Oval 323">
            <a:extLst>
              <a:ext uri="{FF2B5EF4-FFF2-40B4-BE49-F238E27FC236}">
                <a16:creationId xmlns:a16="http://schemas.microsoft.com/office/drawing/2014/main" id="{86DD435B-72B6-49B6-0116-A3A73E0E1849}"/>
              </a:ext>
            </a:extLst>
          </p:cNvPr>
          <p:cNvSpPr/>
          <p:nvPr/>
        </p:nvSpPr>
        <p:spPr>
          <a:xfrm>
            <a:off x="6649915"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5" name="Oval 324">
            <a:extLst>
              <a:ext uri="{FF2B5EF4-FFF2-40B4-BE49-F238E27FC236}">
                <a16:creationId xmlns:a16="http://schemas.microsoft.com/office/drawing/2014/main" id="{FE7D5CBF-E5F8-9C47-AACB-36EF274FB029}"/>
              </a:ext>
            </a:extLst>
          </p:cNvPr>
          <p:cNvSpPr/>
          <p:nvPr/>
        </p:nvSpPr>
        <p:spPr>
          <a:xfrm>
            <a:off x="380428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6" name="Oval 325">
            <a:extLst>
              <a:ext uri="{FF2B5EF4-FFF2-40B4-BE49-F238E27FC236}">
                <a16:creationId xmlns:a16="http://schemas.microsoft.com/office/drawing/2014/main" id="{193EB666-B5C8-FBE4-BC93-3322BD4B7E2B}"/>
              </a:ext>
            </a:extLst>
          </p:cNvPr>
          <p:cNvSpPr/>
          <p:nvPr/>
        </p:nvSpPr>
        <p:spPr>
          <a:xfrm>
            <a:off x="2595913"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7" name="Oval 326">
            <a:extLst>
              <a:ext uri="{FF2B5EF4-FFF2-40B4-BE49-F238E27FC236}">
                <a16:creationId xmlns:a16="http://schemas.microsoft.com/office/drawing/2014/main" id="{EF4D5BA0-3E6E-B0C2-E8F1-A14E48DF423E}"/>
              </a:ext>
            </a:extLst>
          </p:cNvPr>
          <p:cNvSpPr/>
          <p:nvPr/>
        </p:nvSpPr>
        <p:spPr>
          <a:xfrm>
            <a:off x="8642413"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8" name="Oval 327">
            <a:extLst>
              <a:ext uri="{FF2B5EF4-FFF2-40B4-BE49-F238E27FC236}">
                <a16:creationId xmlns:a16="http://schemas.microsoft.com/office/drawing/2014/main" id="{86022D0C-0DFD-A4BB-83BD-D9D7C000F448}"/>
              </a:ext>
            </a:extLst>
          </p:cNvPr>
          <p:cNvSpPr/>
          <p:nvPr/>
        </p:nvSpPr>
        <p:spPr>
          <a:xfrm>
            <a:off x="705003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9" name="Oval 328">
            <a:extLst>
              <a:ext uri="{FF2B5EF4-FFF2-40B4-BE49-F238E27FC236}">
                <a16:creationId xmlns:a16="http://schemas.microsoft.com/office/drawing/2014/main" id="{C9C5899F-BD2F-48BB-BB48-D753D6502E73}"/>
              </a:ext>
            </a:extLst>
          </p:cNvPr>
          <p:cNvSpPr/>
          <p:nvPr/>
        </p:nvSpPr>
        <p:spPr>
          <a:xfrm>
            <a:off x="580376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0" name="Oval 329">
            <a:extLst>
              <a:ext uri="{FF2B5EF4-FFF2-40B4-BE49-F238E27FC236}">
                <a16:creationId xmlns:a16="http://schemas.microsoft.com/office/drawing/2014/main" id="{A097C1AC-D9CD-95DB-E7C5-0F8E788174ED}"/>
              </a:ext>
            </a:extLst>
          </p:cNvPr>
          <p:cNvSpPr/>
          <p:nvPr/>
        </p:nvSpPr>
        <p:spPr>
          <a:xfrm>
            <a:off x="3385834"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1" name="Oval 330">
            <a:extLst>
              <a:ext uri="{FF2B5EF4-FFF2-40B4-BE49-F238E27FC236}">
                <a16:creationId xmlns:a16="http://schemas.microsoft.com/office/drawing/2014/main" id="{BC8FC4FD-32A9-6814-D42F-FE7122E9D392}"/>
              </a:ext>
            </a:extLst>
          </p:cNvPr>
          <p:cNvSpPr/>
          <p:nvPr/>
        </p:nvSpPr>
        <p:spPr>
          <a:xfrm>
            <a:off x="5413125"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2" name="Oval 331">
            <a:extLst>
              <a:ext uri="{FF2B5EF4-FFF2-40B4-BE49-F238E27FC236}">
                <a16:creationId xmlns:a16="http://schemas.microsoft.com/office/drawing/2014/main" id="{12AA6F62-9E96-8C2D-1A1D-330D03265D73}"/>
              </a:ext>
            </a:extLst>
          </p:cNvPr>
          <p:cNvSpPr/>
          <p:nvPr/>
        </p:nvSpPr>
        <p:spPr>
          <a:xfrm>
            <a:off x="11067202"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3" name="Oval 332">
            <a:extLst>
              <a:ext uri="{FF2B5EF4-FFF2-40B4-BE49-F238E27FC236}">
                <a16:creationId xmlns:a16="http://schemas.microsoft.com/office/drawing/2014/main" id="{847157D2-34FF-D592-D711-8839D7487917}"/>
              </a:ext>
            </a:extLst>
          </p:cNvPr>
          <p:cNvSpPr/>
          <p:nvPr/>
        </p:nvSpPr>
        <p:spPr>
          <a:xfrm>
            <a:off x="8228629"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34" name="Oval 333">
            <a:extLst>
              <a:ext uri="{FF2B5EF4-FFF2-40B4-BE49-F238E27FC236}">
                <a16:creationId xmlns:a16="http://schemas.microsoft.com/office/drawing/2014/main" id="{866EF242-510E-DA87-9DE5-B898B141F84A}"/>
              </a:ext>
            </a:extLst>
          </p:cNvPr>
          <p:cNvSpPr/>
          <p:nvPr/>
        </p:nvSpPr>
        <p:spPr>
          <a:xfrm>
            <a:off x="624665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6" name="Oval 335">
            <a:extLst>
              <a:ext uri="{FF2B5EF4-FFF2-40B4-BE49-F238E27FC236}">
                <a16:creationId xmlns:a16="http://schemas.microsoft.com/office/drawing/2014/main" id="{70A03304-3375-350A-2DD5-68C81B6BDA74}"/>
              </a:ext>
            </a:extLst>
          </p:cNvPr>
          <p:cNvSpPr/>
          <p:nvPr/>
        </p:nvSpPr>
        <p:spPr>
          <a:xfrm>
            <a:off x="9032779"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7" name="TextBox 336">
            <a:extLst>
              <a:ext uri="{FF2B5EF4-FFF2-40B4-BE49-F238E27FC236}">
                <a16:creationId xmlns:a16="http://schemas.microsoft.com/office/drawing/2014/main" id="{F1142A2F-9FD2-2A28-7489-735AEEF756A7}"/>
              </a:ext>
            </a:extLst>
          </p:cNvPr>
          <p:cNvSpPr txBox="1"/>
          <p:nvPr/>
        </p:nvSpPr>
        <p:spPr>
          <a:xfrm>
            <a:off x="4444313" y="2259206"/>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599 staff buyouts; layoffs August 2025</a:t>
            </a:r>
          </a:p>
        </p:txBody>
      </p:sp>
      <p:sp>
        <p:nvSpPr>
          <p:cNvPr id="338" name="TextBox 337">
            <a:extLst>
              <a:ext uri="{FF2B5EF4-FFF2-40B4-BE49-F238E27FC236}">
                <a16:creationId xmlns:a16="http://schemas.microsoft.com/office/drawing/2014/main" id="{C9468ED4-D4FA-0F71-6030-60CD6E726A1E}"/>
              </a:ext>
            </a:extLst>
          </p:cNvPr>
          <p:cNvSpPr txBox="1"/>
          <p:nvPr/>
        </p:nvSpPr>
        <p:spPr>
          <a:xfrm>
            <a:off x="4555570" y="2615665"/>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39" name="TextBox 338">
            <a:extLst>
              <a:ext uri="{FF2B5EF4-FFF2-40B4-BE49-F238E27FC236}">
                <a16:creationId xmlns:a16="http://schemas.microsoft.com/office/drawing/2014/main" id="{35506473-01B1-E1AA-8C05-0470FF0A924E}"/>
              </a:ext>
            </a:extLst>
          </p:cNvPr>
          <p:cNvSpPr txBox="1"/>
          <p:nvPr/>
        </p:nvSpPr>
        <p:spPr>
          <a:xfrm>
            <a:off x="2457954" y="2259206"/>
            <a:ext cx="544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425 staff positions eliminated</a:t>
            </a:r>
          </a:p>
        </p:txBody>
      </p:sp>
      <p:sp>
        <p:nvSpPr>
          <p:cNvPr id="340" name="TextBox 339">
            <a:extLst>
              <a:ext uri="{FF2B5EF4-FFF2-40B4-BE49-F238E27FC236}">
                <a16:creationId xmlns:a16="http://schemas.microsoft.com/office/drawing/2014/main" id="{8577B6D1-F537-6425-93AA-D19E9F71E950}"/>
              </a:ext>
            </a:extLst>
          </p:cNvPr>
          <p:cNvSpPr txBox="1"/>
          <p:nvPr/>
        </p:nvSpPr>
        <p:spPr>
          <a:xfrm>
            <a:off x="1019758" y="2266400"/>
            <a:ext cx="1137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of SEAS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 laid off</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October 2025</a:t>
            </a:r>
          </a:p>
        </p:txBody>
      </p:sp>
      <p:sp>
        <p:nvSpPr>
          <p:cNvPr id="201" name="Oval 200">
            <a:extLst>
              <a:ext uri="{FF2B5EF4-FFF2-40B4-BE49-F238E27FC236}">
                <a16:creationId xmlns:a16="http://schemas.microsoft.com/office/drawing/2014/main" id="{A7275E54-BAFD-4BEF-63F7-71A92765A238}"/>
              </a:ext>
            </a:extLst>
          </p:cNvPr>
          <p:cNvSpPr/>
          <p:nvPr/>
        </p:nvSpPr>
        <p:spPr>
          <a:xfrm>
            <a:off x="1413299"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02" name="Oval 201">
            <a:extLst>
              <a:ext uri="{FF2B5EF4-FFF2-40B4-BE49-F238E27FC236}">
                <a16:creationId xmlns:a16="http://schemas.microsoft.com/office/drawing/2014/main" id="{78814ED5-F066-4271-9D81-7800B8B016E5}"/>
              </a:ext>
            </a:extLst>
          </p:cNvPr>
          <p:cNvSpPr/>
          <p:nvPr/>
        </p:nvSpPr>
        <p:spPr>
          <a:xfrm>
            <a:off x="1413299"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3" name="Oval 202">
            <a:extLst>
              <a:ext uri="{FF2B5EF4-FFF2-40B4-BE49-F238E27FC236}">
                <a16:creationId xmlns:a16="http://schemas.microsoft.com/office/drawing/2014/main" id="{68D0287F-B77E-003D-19CF-10530802A611}"/>
              </a:ext>
            </a:extLst>
          </p:cNvPr>
          <p:cNvSpPr/>
          <p:nvPr/>
        </p:nvSpPr>
        <p:spPr>
          <a:xfrm>
            <a:off x="141329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4" name="Oval 203">
            <a:extLst>
              <a:ext uri="{FF2B5EF4-FFF2-40B4-BE49-F238E27FC236}">
                <a16:creationId xmlns:a16="http://schemas.microsoft.com/office/drawing/2014/main" id="{0D40D32D-D5D6-1C57-482D-FF9D0C16B5E2}"/>
              </a:ext>
            </a:extLst>
          </p:cNvPr>
          <p:cNvSpPr/>
          <p:nvPr/>
        </p:nvSpPr>
        <p:spPr>
          <a:xfrm>
            <a:off x="141329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5" name="Oval 204">
            <a:extLst>
              <a:ext uri="{FF2B5EF4-FFF2-40B4-BE49-F238E27FC236}">
                <a16:creationId xmlns:a16="http://schemas.microsoft.com/office/drawing/2014/main" id="{0DC04E17-3255-067A-B729-FFA5BF233333}"/>
              </a:ext>
            </a:extLst>
          </p:cNvPr>
          <p:cNvSpPr/>
          <p:nvPr/>
        </p:nvSpPr>
        <p:spPr>
          <a:xfrm>
            <a:off x="141329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1" name="Oval 360">
            <a:extLst>
              <a:ext uri="{FF2B5EF4-FFF2-40B4-BE49-F238E27FC236}">
                <a16:creationId xmlns:a16="http://schemas.microsoft.com/office/drawing/2014/main" id="{FC3E6F94-DF7C-5A6C-F41F-8566B11255F6}"/>
              </a:ext>
            </a:extLst>
          </p:cNvPr>
          <p:cNvSpPr/>
          <p:nvPr/>
        </p:nvSpPr>
        <p:spPr>
          <a:xfrm>
            <a:off x="141329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2" name="Oval 361">
            <a:extLst>
              <a:ext uri="{FF2B5EF4-FFF2-40B4-BE49-F238E27FC236}">
                <a16:creationId xmlns:a16="http://schemas.microsoft.com/office/drawing/2014/main" id="{1FF92304-30FA-8260-0132-2B19A1D13D31}"/>
              </a:ext>
            </a:extLst>
          </p:cNvPr>
          <p:cNvSpPr/>
          <p:nvPr/>
        </p:nvSpPr>
        <p:spPr>
          <a:xfrm>
            <a:off x="141329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6" name="TextBox 295">
            <a:extLst>
              <a:ext uri="{FF2B5EF4-FFF2-40B4-BE49-F238E27FC236}">
                <a16:creationId xmlns:a16="http://schemas.microsoft.com/office/drawing/2014/main" id="{5CCD07D1-34B3-A061-302D-6046E0AE7F35}"/>
              </a:ext>
            </a:extLst>
          </p:cNvPr>
          <p:cNvSpPr txBox="1"/>
          <p:nvPr/>
        </p:nvSpPr>
        <p:spPr>
          <a:xfrm>
            <a:off x="1360926" y="307897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22" name="Oval 321">
            <a:extLst>
              <a:ext uri="{FF2B5EF4-FFF2-40B4-BE49-F238E27FC236}">
                <a16:creationId xmlns:a16="http://schemas.microsoft.com/office/drawing/2014/main" id="{DAC6BAE3-777F-4A28-E2A5-307A670F55B1}"/>
              </a:ext>
            </a:extLst>
          </p:cNvPr>
          <p:cNvSpPr/>
          <p:nvPr/>
        </p:nvSpPr>
        <p:spPr>
          <a:xfrm>
            <a:off x="141329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41" name="TextBox 340">
            <a:extLst>
              <a:ext uri="{FF2B5EF4-FFF2-40B4-BE49-F238E27FC236}">
                <a16:creationId xmlns:a16="http://schemas.microsoft.com/office/drawing/2014/main" id="{2B3261E9-643D-CF1B-9CCC-74951D199F14}"/>
              </a:ext>
            </a:extLst>
          </p:cNvPr>
          <p:cNvSpPr txBox="1"/>
          <p:nvPr/>
        </p:nvSpPr>
        <p:spPr>
          <a:xfrm>
            <a:off x="1418906" y="2614797"/>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42" name="TextBox 341">
            <a:extLst>
              <a:ext uri="{FF2B5EF4-FFF2-40B4-BE49-F238E27FC236}">
                <a16:creationId xmlns:a16="http://schemas.microsoft.com/office/drawing/2014/main" id="{218EBA24-B1C9-7EF7-7CB9-6267C78A9D6D}"/>
              </a:ext>
            </a:extLst>
          </p:cNvPr>
          <p:cNvSpPr txBox="1"/>
          <p:nvPr/>
        </p:nvSpPr>
        <p:spPr>
          <a:xfrm>
            <a:off x="2761712"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June 2025</a:t>
            </a:r>
          </a:p>
        </p:txBody>
      </p:sp>
      <p:sp>
        <p:nvSpPr>
          <p:cNvPr id="343" name="TextBox 342">
            <a:extLst>
              <a:ext uri="{FF2B5EF4-FFF2-40B4-BE49-F238E27FC236}">
                <a16:creationId xmlns:a16="http://schemas.microsoft.com/office/drawing/2014/main" id="{5878E700-D80F-3A90-4ABB-0AA43524EFE1}"/>
              </a:ext>
            </a:extLst>
          </p:cNvPr>
          <p:cNvSpPr txBox="1"/>
          <p:nvPr/>
        </p:nvSpPr>
        <p:spPr>
          <a:xfrm>
            <a:off x="7119872" y="3928078"/>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$140M</a:t>
            </a:r>
          </a:p>
        </p:txBody>
      </p:sp>
      <p:sp>
        <p:nvSpPr>
          <p:cNvPr id="344" name="TextBox 343">
            <a:extLst>
              <a:ext uri="{FF2B5EF4-FFF2-40B4-BE49-F238E27FC236}">
                <a16:creationId xmlns:a16="http://schemas.microsoft.com/office/drawing/2014/main" id="{7B1F0E14-FCFB-69FA-D623-855ED5508EA7}"/>
              </a:ext>
            </a:extLst>
          </p:cNvPr>
          <p:cNvSpPr txBox="1"/>
          <p:nvPr/>
        </p:nvSpPr>
        <p:spPr>
          <a:xfrm>
            <a:off x="679724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360+ layoffs announced August 2025</a:t>
            </a:r>
          </a:p>
        </p:txBody>
      </p:sp>
      <p:sp>
        <p:nvSpPr>
          <p:cNvPr id="345" name="TextBox 344">
            <a:extLst>
              <a:ext uri="{FF2B5EF4-FFF2-40B4-BE49-F238E27FC236}">
                <a16:creationId xmlns:a16="http://schemas.microsoft.com/office/drawing/2014/main" id="{7611F646-3322-8985-C396-094FD6EB704F}"/>
              </a:ext>
            </a:extLst>
          </p:cNvPr>
          <p:cNvSpPr txBox="1"/>
          <p:nvPr/>
        </p:nvSpPr>
        <p:spPr>
          <a:xfrm>
            <a:off x="6322828" y="3417315"/>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Merit reduction</a:t>
            </a:r>
          </a:p>
        </p:txBody>
      </p:sp>
      <p:sp>
        <p:nvSpPr>
          <p:cNvPr id="346" name="TextBox 345">
            <a:extLst>
              <a:ext uri="{FF2B5EF4-FFF2-40B4-BE49-F238E27FC236}">
                <a16:creationId xmlns:a16="http://schemas.microsoft.com/office/drawing/2014/main" id="{75E6582F-EF21-3CE7-E445-76F23D18306A}"/>
              </a:ext>
            </a:extLst>
          </p:cNvPr>
          <p:cNvSpPr txBox="1"/>
          <p:nvPr/>
        </p:nvSpPr>
        <p:spPr>
          <a:xfrm>
            <a:off x="8800522" y="2259206"/>
            <a:ext cx="756925"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Reorganization announced, layoffs</a:t>
            </a:r>
          </a:p>
        </p:txBody>
      </p:sp>
      <p:sp>
        <p:nvSpPr>
          <p:cNvPr id="347" name="TextBox 346">
            <a:extLst>
              <a:ext uri="{FF2B5EF4-FFF2-40B4-BE49-F238E27FC236}">
                <a16:creationId xmlns:a16="http://schemas.microsoft.com/office/drawing/2014/main" id="{5FDA9C18-0FF8-B5A8-A884-F38CA5BA71F3}"/>
              </a:ext>
            </a:extLst>
          </p:cNvPr>
          <p:cNvSpPr txBox="1"/>
          <p:nvPr/>
        </p:nvSpPr>
        <p:spPr>
          <a:xfrm>
            <a:off x="5892916" y="4496560"/>
            <a:ext cx="579342"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 new campus buildings</a:t>
            </a:r>
          </a:p>
        </p:txBody>
      </p:sp>
      <p:sp>
        <p:nvSpPr>
          <p:cNvPr id="348" name="TextBox 347">
            <a:extLst>
              <a:ext uri="{FF2B5EF4-FFF2-40B4-BE49-F238E27FC236}">
                <a16:creationId xmlns:a16="http://schemas.microsoft.com/office/drawing/2014/main" id="{3936D18C-041E-F804-6414-1FAA703E056E}"/>
              </a:ext>
            </a:extLst>
          </p:cNvPr>
          <p:cNvSpPr txBox="1"/>
          <p:nvPr/>
        </p:nvSpPr>
        <p:spPr>
          <a:xfrm>
            <a:off x="8354555"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Voluntary Separation announced</a:t>
            </a:r>
          </a:p>
        </p:txBody>
      </p:sp>
      <p:sp>
        <p:nvSpPr>
          <p:cNvPr id="349" name="TextBox 348">
            <a:extLst>
              <a:ext uri="{FF2B5EF4-FFF2-40B4-BE49-F238E27FC236}">
                <a16:creationId xmlns:a16="http://schemas.microsoft.com/office/drawing/2014/main" id="{D7655BBD-FE76-DA56-C33D-13D51B5E8876}"/>
              </a:ext>
            </a:extLst>
          </p:cNvPr>
          <p:cNvSpPr txBox="1"/>
          <p:nvPr/>
        </p:nvSpPr>
        <p:spPr>
          <a:xfrm>
            <a:off x="4209476" y="3084300"/>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pic>
        <p:nvPicPr>
          <p:cNvPr id="12" name="Picture 11">
            <a:extLst>
              <a:ext uri="{FF2B5EF4-FFF2-40B4-BE49-F238E27FC236}">
                <a16:creationId xmlns:a16="http://schemas.microsoft.com/office/drawing/2014/main" id="{6AC5B9CD-75A4-DC63-8B1E-2E394E304F17}"/>
              </a:ext>
            </a:extLst>
          </p:cNvPr>
          <p:cNvPicPr>
            <a:picLocks noChangeAspect="1"/>
          </p:cNvPicPr>
          <p:nvPr/>
        </p:nvPicPr>
        <p:blipFill>
          <a:blip r:embed="rId8" cstate="email">
            <a:extLst>
              <a:ext uri="{28A0092B-C50C-407E-A947-70E740481C1C}">
                <a14:useLocalDpi xmlns:a14="http://schemas.microsoft.com/office/drawing/2010/main"/>
              </a:ext>
            </a:extLst>
          </a:blip>
          <a:srcRect/>
          <a:stretch>
            <a:fillRect/>
          </a:stretch>
        </p:blipFill>
        <p:spPr>
          <a:xfrm>
            <a:off x="6629791" y="1173117"/>
            <a:ext cx="310087" cy="435402"/>
          </a:xfrm>
          <a:prstGeom prst="rect">
            <a:avLst/>
          </a:prstGeom>
        </p:spPr>
      </p:pic>
      <p:pic>
        <p:nvPicPr>
          <p:cNvPr id="22" name="Picture 2" descr="http://www.ranklogos.com/wp-content/uploads/2012/06/stanford-university-500x500.gif">
            <a:extLst>
              <a:ext uri="{FF2B5EF4-FFF2-40B4-BE49-F238E27FC236}">
                <a16:creationId xmlns:a16="http://schemas.microsoft.com/office/drawing/2014/main" id="{B1AA631D-2760-6C24-EB10-F9A2FEEC9C0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7001473" y="1205559"/>
            <a:ext cx="363311" cy="363311"/>
          </a:xfrm>
          <a:prstGeom prst="ellipse">
            <a:avLst/>
          </a:prstGeom>
          <a:noFill/>
          <a:extLst>
            <a:ext uri="{909E8E84-426E-40DD-AFC4-6F175D3DCCD1}">
              <a14:hiddenFill xmlns:a14="http://schemas.microsoft.com/office/drawing/2010/main">
                <a:solidFill>
                  <a:srgbClr val="FFFFFF"/>
                </a:solidFill>
              </a14:hiddenFill>
            </a:ext>
          </a:extLst>
        </p:spPr>
      </p:pic>
      <p:sp>
        <p:nvSpPr>
          <p:cNvPr id="237" name="Oval 236">
            <a:extLst>
              <a:ext uri="{FF2B5EF4-FFF2-40B4-BE49-F238E27FC236}">
                <a16:creationId xmlns:a16="http://schemas.microsoft.com/office/drawing/2014/main" id="{E755AC14-EF9D-4A70-7605-FFD8D4356FB8}"/>
              </a:ext>
            </a:extLst>
          </p:cNvPr>
          <p:cNvSpPr/>
          <p:nvPr/>
        </p:nvSpPr>
        <p:spPr>
          <a:xfrm>
            <a:off x="1808325"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9" name="Oval 238">
            <a:extLst>
              <a:ext uri="{FF2B5EF4-FFF2-40B4-BE49-F238E27FC236}">
                <a16:creationId xmlns:a16="http://schemas.microsoft.com/office/drawing/2014/main" id="{817805EB-B9BA-208A-08B2-1DFF7E098934}"/>
              </a:ext>
            </a:extLst>
          </p:cNvPr>
          <p:cNvSpPr/>
          <p:nvPr/>
        </p:nvSpPr>
        <p:spPr>
          <a:xfrm>
            <a:off x="18018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0" name="Oval 239">
            <a:extLst>
              <a:ext uri="{FF2B5EF4-FFF2-40B4-BE49-F238E27FC236}">
                <a16:creationId xmlns:a16="http://schemas.microsoft.com/office/drawing/2014/main" id="{051B0604-EA9A-F4A8-F128-7602E9CEC1D4}"/>
              </a:ext>
            </a:extLst>
          </p:cNvPr>
          <p:cNvSpPr/>
          <p:nvPr/>
        </p:nvSpPr>
        <p:spPr>
          <a:xfrm>
            <a:off x="1801830"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1" name="Oval 240">
            <a:extLst>
              <a:ext uri="{FF2B5EF4-FFF2-40B4-BE49-F238E27FC236}">
                <a16:creationId xmlns:a16="http://schemas.microsoft.com/office/drawing/2014/main" id="{E3800FCC-D38E-CA7D-BD3D-0061F8058458}"/>
              </a:ext>
            </a:extLst>
          </p:cNvPr>
          <p:cNvSpPr/>
          <p:nvPr/>
        </p:nvSpPr>
        <p:spPr>
          <a:xfrm>
            <a:off x="1808323"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4" name="Oval 353">
            <a:extLst>
              <a:ext uri="{FF2B5EF4-FFF2-40B4-BE49-F238E27FC236}">
                <a16:creationId xmlns:a16="http://schemas.microsoft.com/office/drawing/2014/main" id="{152641E0-00FB-452E-695A-84EA23BF60EE}"/>
              </a:ext>
            </a:extLst>
          </p:cNvPr>
          <p:cNvSpPr/>
          <p:nvPr/>
        </p:nvSpPr>
        <p:spPr>
          <a:xfrm>
            <a:off x="1801070"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3" name="TextBox 292">
            <a:extLst>
              <a:ext uri="{FF2B5EF4-FFF2-40B4-BE49-F238E27FC236}">
                <a16:creationId xmlns:a16="http://schemas.microsoft.com/office/drawing/2014/main" id="{F7337068-037F-D661-D543-20F938644DCF}"/>
              </a:ext>
            </a:extLst>
          </p:cNvPr>
          <p:cNvSpPr txBox="1"/>
          <p:nvPr/>
        </p:nvSpPr>
        <p:spPr>
          <a:xfrm>
            <a:off x="1751342"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5" name="Oval 314">
            <a:extLst>
              <a:ext uri="{FF2B5EF4-FFF2-40B4-BE49-F238E27FC236}">
                <a16:creationId xmlns:a16="http://schemas.microsoft.com/office/drawing/2014/main" id="{390E13A0-0431-7287-C589-837639D6A263}"/>
              </a:ext>
            </a:extLst>
          </p:cNvPr>
          <p:cNvSpPr/>
          <p:nvPr/>
        </p:nvSpPr>
        <p:spPr>
          <a:xfrm>
            <a:off x="1805262"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cxnSp>
        <p:nvCxnSpPr>
          <p:cNvPr id="29" name="Straight Connector 28">
            <a:extLst>
              <a:ext uri="{FF2B5EF4-FFF2-40B4-BE49-F238E27FC236}">
                <a16:creationId xmlns:a16="http://schemas.microsoft.com/office/drawing/2014/main" id="{52C28E39-7083-A265-EEE9-ADE8B0CBF565}"/>
              </a:ext>
            </a:extLst>
          </p:cNvPr>
          <p:cNvCxnSpPr>
            <a:cxnSpLocks/>
          </p:cNvCxnSpPr>
          <p:nvPr/>
        </p:nvCxnSpPr>
        <p:spPr>
          <a:xfrm flipH="1">
            <a:off x="9554905" y="2746846"/>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A621FFEC-6386-3280-30F2-3A2AA46B8C5C}"/>
              </a:ext>
            </a:extLst>
          </p:cNvPr>
          <p:cNvSpPr/>
          <p:nvPr/>
        </p:nvSpPr>
        <p:spPr>
          <a:xfrm>
            <a:off x="9426487" y="360254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4" name="Oval 33">
            <a:extLst>
              <a:ext uri="{FF2B5EF4-FFF2-40B4-BE49-F238E27FC236}">
                <a16:creationId xmlns:a16="http://schemas.microsoft.com/office/drawing/2014/main" id="{530F00A8-498F-23B2-57E8-D52F254F6373}"/>
              </a:ext>
            </a:extLst>
          </p:cNvPr>
          <p:cNvSpPr/>
          <p:nvPr/>
        </p:nvSpPr>
        <p:spPr>
          <a:xfrm>
            <a:off x="9426487" y="47565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 name="Oval 34">
            <a:extLst>
              <a:ext uri="{FF2B5EF4-FFF2-40B4-BE49-F238E27FC236}">
                <a16:creationId xmlns:a16="http://schemas.microsoft.com/office/drawing/2014/main" id="{C9C3B8B2-9271-A666-9560-5818985999D8}"/>
              </a:ext>
            </a:extLst>
          </p:cNvPr>
          <p:cNvSpPr/>
          <p:nvPr/>
        </p:nvSpPr>
        <p:spPr>
          <a:xfrm>
            <a:off x="9426487" y="5406628"/>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 name="Oval 35">
            <a:extLst>
              <a:ext uri="{FF2B5EF4-FFF2-40B4-BE49-F238E27FC236}">
                <a16:creationId xmlns:a16="http://schemas.microsoft.com/office/drawing/2014/main" id="{EEE63959-10F3-3DCE-B4B6-573E1055E52F}"/>
              </a:ext>
            </a:extLst>
          </p:cNvPr>
          <p:cNvSpPr/>
          <p:nvPr/>
        </p:nvSpPr>
        <p:spPr>
          <a:xfrm>
            <a:off x="9426487" y="303923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8" name="Oval 37">
            <a:extLst>
              <a:ext uri="{FF2B5EF4-FFF2-40B4-BE49-F238E27FC236}">
                <a16:creationId xmlns:a16="http://schemas.microsoft.com/office/drawing/2014/main" id="{26A55160-B0E3-C5AD-A01D-8393FB88710C}"/>
              </a:ext>
            </a:extLst>
          </p:cNvPr>
          <p:cNvSpPr/>
          <p:nvPr/>
        </p:nvSpPr>
        <p:spPr>
          <a:xfrm>
            <a:off x="9426487" y="41885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9" name="TextBox 38">
            <a:extLst>
              <a:ext uri="{FF2B5EF4-FFF2-40B4-BE49-F238E27FC236}">
                <a16:creationId xmlns:a16="http://schemas.microsoft.com/office/drawing/2014/main" id="{9834F6CB-7AC0-2673-28A2-1E69923F069A}"/>
              </a:ext>
            </a:extLst>
          </p:cNvPr>
          <p:cNvSpPr txBox="1"/>
          <p:nvPr/>
        </p:nvSpPr>
        <p:spPr>
          <a:xfrm>
            <a:off x="9521022" y="3990601"/>
            <a:ext cx="509468" cy="2215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Potential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0" name="TextBox 39">
            <a:extLst>
              <a:ext uri="{FF2B5EF4-FFF2-40B4-BE49-F238E27FC236}">
                <a16:creationId xmlns:a16="http://schemas.microsoft.com/office/drawing/2014/main" id="{78DFD4B6-3AFC-9FF9-D2C8-611B18EAA034}"/>
              </a:ext>
            </a:extLst>
          </p:cNvPr>
          <p:cNvSpPr txBox="1"/>
          <p:nvPr/>
        </p:nvSpPr>
        <p:spPr>
          <a:xfrm>
            <a:off x="9433270" y="306609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1" name="Oval 40">
            <a:extLst>
              <a:ext uri="{FF2B5EF4-FFF2-40B4-BE49-F238E27FC236}">
                <a16:creationId xmlns:a16="http://schemas.microsoft.com/office/drawing/2014/main" id="{71DF76D5-177E-26A3-FC0A-B6B0325603A6}"/>
              </a:ext>
            </a:extLst>
          </p:cNvPr>
          <p:cNvSpPr/>
          <p:nvPr/>
        </p:nvSpPr>
        <p:spPr>
          <a:xfrm>
            <a:off x="942648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56" name="Rectangle 55">
            <a:extLst>
              <a:ext uri="{FF2B5EF4-FFF2-40B4-BE49-F238E27FC236}">
                <a16:creationId xmlns:a16="http://schemas.microsoft.com/office/drawing/2014/main" id="{C03A6AF0-812F-8FD6-25D0-4395459D7308}"/>
              </a:ext>
            </a:extLst>
          </p:cNvPr>
          <p:cNvSpPr/>
          <p:nvPr/>
        </p:nvSpPr>
        <p:spPr>
          <a:xfrm>
            <a:off x="11008572" y="1105820"/>
            <a:ext cx="386588" cy="4660985"/>
          </a:xfrm>
          <a:prstGeom prst="rect">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49" name="Rectangle 48">
            <a:extLst>
              <a:ext uri="{FF2B5EF4-FFF2-40B4-BE49-F238E27FC236}">
                <a16:creationId xmlns:a16="http://schemas.microsoft.com/office/drawing/2014/main" id="{414A7421-8B7C-8F53-BDAD-6C58541C1B33}"/>
              </a:ext>
            </a:extLst>
          </p:cNvPr>
          <p:cNvSpPr/>
          <p:nvPr/>
        </p:nvSpPr>
        <p:spPr>
          <a:xfrm>
            <a:off x="1316953" y="1138730"/>
            <a:ext cx="3256919" cy="527332"/>
          </a:xfrm>
          <a:prstGeom prst="rect">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Lato"/>
              <a:ea typeface="+mn-ea"/>
              <a:cs typeface="+mn-cs"/>
            </a:endParaRPr>
          </a:p>
        </p:txBody>
      </p:sp>
      <p:sp>
        <p:nvSpPr>
          <p:cNvPr id="53" name="Title 1">
            <a:extLst>
              <a:ext uri="{FF2B5EF4-FFF2-40B4-BE49-F238E27FC236}">
                <a16:creationId xmlns:a16="http://schemas.microsoft.com/office/drawing/2014/main" id="{125D4B3D-C4E0-CD10-80AE-619C3ED183D3}"/>
              </a:ext>
            </a:extLst>
          </p:cNvPr>
          <p:cNvSpPr txBox="1">
            <a:spLocks/>
          </p:cNvSpPr>
          <p:nvPr/>
        </p:nvSpPr>
        <p:spPr>
          <a:xfrm>
            <a:off x="1291720" y="914895"/>
            <a:ext cx="3233185" cy="310882"/>
          </a:xfrm>
          <a:prstGeom prst="rect">
            <a:avLst/>
          </a:prstGeom>
        </p:spPr>
        <p:txBody>
          <a:bodyPr vert="horz" lIns="91440" tIns="45720" rIns="91440" bIns="45720" rtlCol="0" anchor="ctr">
            <a:normAutofit fontScale="92500" lnSpcReduction="10000"/>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ctr" defTabSz="914172" rtl="0" eaLnBrk="1" fontAlgn="auto" latinLnBrk="0" hangingPunct="1">
              <a:lnSpc>
                <a:spcPct val="90000"/>
              </a:lnSpc>
              <a:spcBef>
                <a:spcPct val="0"/>
              </a:spcBef>
              <a:spcAft>
                <a:spcPts val="0"/>
              </a:spcAft>
              <a:buClrTx/>
              <a:buSzTx/>
              <a:buFontTx/>
              <a:buNone/>
              <a:tabLst/>
              <a:defRPr/>
            </a:pPr>
            <a:br>
              <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100" b="0" i="1" u="none" strike="noStrike" kern="1200" cap="none" spc="0" normalizeH="0" baseline="0" noProof="0" dirty="0">
                <a:ln>
                  <a:noFill/>
                </a:ln>
                <a:solidFill>
                  <a:srgbClr val="000000"/>
                </a:solidFill>
                <a:effectLst/>
                <a:uLnTx/>
                <a:uFillTx/>
                <a:latin typeface="Lato" pitchFamily="2" charset="77"/>
                <a:ea typeface="+mj-ea"/>
                <a:cs typeface="+mj-cs"/>
              </a:rPr>
              <a:t>Universities targeted by POTUS</a:t>
            </a:r>
          </a:p>
          <a:p>
            <a:pPr marL="0" marR="0" lvl="0" indent="0" algn="ctr" defTabSz="914172" rtl="0" eaLnBrk="1" fontAlgn="auto" latinLnBrk="0" hangingPunct="1">
              <a:lnSpc>
                <a:spcPct val="90000"/>
              </a:lnSpc>
              <a:spcBef>
                <a:spcPct val="0"/>
              </a:spcBef>
              <a:spcAft>
                <a:spcPts val="0"/>
              </a:spcAft>
              <a:buClrTx/>
              <a:buSzTx/>
              <a:buFontTx/>
              <a:buNone/>
              <a:tabLst/>
              <a:defRPr/>
            </a:pPr>
            <a:endPar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endParaRPr>
          </a:p>
        </p:txBody>
      </p:sp>
      <p:sp>
        <p:nvSpPr>
          <p:cNvPr id="6" name="TextBox 5">
            <a:extLst>
              <a:ext uri="{FF2B5EF4-FFF2-40B4-BE49-F238E27FC236}">
                <a16:creationId xmlns:a16="http://schemas.microsoft.com/office/drawing/2014/main" id="{9D8932F6-85E0-8573-F8D3-E6F6DB414900}"/>
              </a:ext>
            </a:extLst>
          </p:cNvPr>
          <p:cNvSpPr txBox="1"/>
          <p:nvPr/>
        </p:nvSpPr>
        <p:spPr>
          <a:xfrm>
            <a:off x="10238730"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7" name="TextBox 6">
            <a:extLst>
              <a:ext uri="{FF2B5EF4-FFF2-40B4-BE49-F238E27FC236}">
                <a16:creationId xmlns:a16="http://schemas.microsoft.com/office/drawing/2014/main" id="{9FC92E06-2F74-A797-119E-25EC66B950FD}"/>
              </a:ext>
            </a:extLst>
          </p:cNvPr>
          <p:cNvSpPr txBox="1"/>
          <p:nvPr/>
        </p:nvSpPr>
        <p:spPr>
          <a:xfrm>
            <a:off x="7523009" y="3968335"/>
            <a:ext cx="509468"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cuts</a:t>
            </a:r>
          </a:p>
        </p:txBody>
      </p:sp>
      <p:sp>
        <p:nvSpPr>
          <p:cNvPr id="15" name="TextBox 14">
            <a:extLst>
              <a:ext uri="{FF2B5EF4-FFF2-40B4-BE49-F238E27FC236}">
                <a16:creationId xmlns:a16="http://schemas.microsoft.com/office/drawing/2014/main" id="{AE14CE85-2A2A-58A0-3780-5253AB73CDCC}"/>
              </a:ext>
            </a:extLst>
          </p:cNvPr>
          <p:cNvSpPr txBox="1"/>
          <p:nvPr/>
        </p:nvSpPr>
        <p:spPr>
          <a:xfrm>
            <a:off x="7519676" y="4554709"/>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a:t>
            </a:r>
          </a:p>
        </p:txBody>
      </p:sp>
      <p:sp>
        <p:nvSpPr>
          <p:cNvPr id="27" name="TextBox 26">
            <a:extLst>
              <a:ext uri="{FF2B5EF4-FFF2-40B4-BE49-F238E27FC236}">
                <a16:creationId xmlns:a16="http://schemas.microsoft.com/office/drawing/2014/main" id="{BE155939-0FD3-1DB6-BE53-B7F91785BA0A}"/>
              </a:ext>
            </a:extLst>
          </p:cNvPr>
          <p:cNvSpPr txBox="1"/>
          <p:nvPr/>
        </p:nvSpPr>
        <p:spPr>
          <a:xfrm>
            <a:off x="6732155"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 cut</a:t>
            </a:r>
          </a:p>
        </p:txBody>
      </p:sp>
      <p:sp>
        <p:nvSpPr>
          <p:cNvPr id="28" name="TextBox 27">
            <a:extLst>
              <a:ext uri="{FF2B5EF4-FFF2-40B4-BE49-F238E27FC236}">
                <a16:creationId xmlns:a16="http://schemas.microsoft.com/office/drawing/2014/main" id="{466DB0CF-C829-0113-D080-90B35087EC5D}"/>
              </a:ext>
            </a:extLst>
          </p:cNvPr>
          <p:cNvSpPr txBox="1"/>
          <p:nvPr/>
        </p:nvSpPr>
        <p:spPr>
          <a:xfrm>
            <a:off x="6582642"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7" name="TextBox 36">
            <a:extLst>
              <a:ext uri="{FF2B5EF4-FFF2-40B4-BE49-F238E27FC236}">
                <a16:creationId xmlns:a16="http://schemas.microsoft.com/office/drawing/2014/main" id="{5DB04805-2EE4-3AD9-E5FF-A16BDFA0475C}"/>
              </a:ext>
            </a:extLst>
          </p:cNvPr>
          <p:cNvSpPr txBox="1"/>
          <p:nvPr/>
        </p:nvSpPr>
        <p:spPr>
          <a:xfrm>
            <a:off x="2660665" y="3930404"/>
            <a:ext cx="486544" cy="29084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 cut</a:t>
            </a:r>
          </a:p>
        </p:txBody>
      </p:sp>
      <p:sp>
        <p:nvSpPr>
          <p:cNvPr id="2" name="TextBox 1">
            <a:extLst>
              <a:ext uri="{FF2B5EF4-FFF2-40B4-BE49-F238E27FC236}">
                <a16:creationId xmlns:a16="http://schemas.microsoft.com/office/drawing/2014/main" id="{EDFBB0E7-47FB-BC8B-700B-96C2CCAF8E8F}"/>
              </a:ext>
            </a:extLst>
          </p:cNvPr>
          <p:cNvSpPr txBox="1"/>
          <p:nvPr/>
        </p:nvSpPr>
        <p:spPr>
          <a:xfrm>
            <a:off x="5183731" y="2278743"/>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1,000 layoffs  November 2025</a:t>
            </a:r>
          </a:p>
        </p:txBody>
      </p:sp>
      <p:sp>
        <p:nvSpPr>
          <p:cNvPr id="4" name="TextBox 3">
            <a:extLst>
              <a:ext uri="{FF2B5EF4-FFF2-40B4-BE49-F238E27FC236}">
                <a16:creationId xmlns:a16="http://schemas.microsoft.com/office/drawing/2014/main" id="{1CA8600B-B97C-D7AF-9E4A-B3889DBBF66A}"/>
              </a:ext>
            </a:extLst>
          </p:cNvPr>
          <p:cNvSpPr txBox="1"/>
          <p:nvPr/>
        </p:nvSpPr>
        <p:spPr>
          <a:xfrm>
            <a:off x="5483091" y="3896343"/>
            <a:ext cx="551968" cy="3323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Schools: 5% cut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Support units: 10% cut</a:t>
            </a:r>
          </a:p>
        </p:txBody>
      </p:sp>
      <p:sp>
        <p:nvSpPr>
          <p:cNvPr id="19" name="TextBox 18">
            <a:extLst>
              <a:ext uri="{FF2B5EF4-FFF2-40B4-BE49-F238E27FC236}">
                <a16:creationId xmlns:a16="http://schemas.microsoft.com/office/drawing/2014/main" id="{E1985CD5-6067-FFAD-0B0E-D0C01116C820}"/>
              </a:ext>
            </a:extLst>
          </p:cNvPr>
          <p:cNvSpPr txBox="1"/>
          <p:nvPr/>
        </p:nvSpPr>
        <p:spPr>
          <a:xfrm>
            <a:off x="10000845" y="2297481"/>
            <a:ext cx="746869"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240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July 2025</a:t>
            </a:r>
          </a:p>
        </p:txBody>
      </p:sp>
      <p:sp>
        <p:nvSpPr>
          <p:cNvPr id="50" name="TextBox 49">
            <a:extLst>
              <a:ext uri="{FF2B5EF4-FFF2-40B4-BE49-F238E27FC236}">
                <a16:creationId xmlns:a16="http://schemas.microsoft.com/office/drawing/2014/main" id="{5B8485B5-43DD-210E-8CE2-00F7BE24E997}"/>
              </a:ext>
            </a:extLst>
          </p:cNvPr>
          <p:cNvSpPr txBox="1"/>
          <p:nvPr/>
        </p:nvSpPr>
        <p:spPr>
          <a:xfrm>
            <a:off x="3883482" y="3998112"/>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p:txBody>
      </p:sp>
      <p:sp>
        <p:nvSpPr>
          <p:cNvPr id="55" name="TextBox 54">
            <a:extLst>
              <a:ext uri="{FF2B5EF4-FFF2-40B4-BE49-F238E27FC236}">
                <a16:creationId xmlns:a16="http://schemas.microsoft.com/office/drawing/2014/main" id="{272E4E3E-DC40-2CFF-BEA8-089D7953690D}"/>
              </a:ext>
            </a:extLst>
          </p:cNvPr>
          <p:cNvSpPr txBox="1"/>
          <p:nvPr/>
        </p:nvSpPr>
        <p:spPr>
          <a:xfrm>
            <a:off x="2267132" y="4024533"/>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sp>
        <p:nvSpPr>
          <p:cNvPr id="57" name="TextBox 56">
            <a:extLst>
              <a:ext uri="{FF2B5EF4-FFF2-40B4-BE49-F238E27FC236}">
                <a16:creationId xmlns:a16="http://schemas.microsoft.com/office/drawing/2014/main" id="{14DC9A8D-F0FF-B3F0-03C9-12A3E440F442}"/>
              </a:ext>
            </a:extLst>
          </p:cNvPr>
          <p:cNvSpPr txBox="1"/>
          <p:nvPr/>
        </p:nvSpPr>
        <p:spPr>
          <a:xfrm>
            <a:off x="2058627" y="2262545"/>
            <a:ext cx="541468" cy="332398"/>
          </a:xfrm>
          <a:prstGeom prst="rect">
            <a:avLst/>
          </a:prstGeom>
          <a:noFill/>
          <a:ln>
            <a:no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Sep 2025</a:t>
            </a:r>
          </a:p>
        </p:txBody>
      </p:sp>
      <p:sp>
        <p:nvSpPr>
          <p:cNvPr id="59" name="TextBox 58">
            <a:extLst>
              <a:ext uri="{FF2B5EF4-FFF2-40B4-BE49-F238E27FC236}">
                <a16:creationId xmlns:a16="http://schemas.microsoft.com/office/drawing/2014/main" id="{5F9B5CB6-B95A-5D06-04F7-11807AD700D0}"/>
              </a:ext>
            </a:extLst>
          </p:cNvPr>
          <p:cNvSpPr txBox="1"/>
          <p:nvPr/>
        </p:nvSpPr>
        <p:spPr>
          <a:xfrm>
            <a:off x="9786267" y="3073601"/>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1" name="TextBox 60">
            <a:extLst>
              <a:ext uri="{FF2B5EF4-FFF2-40B4-BE49-F238E27FC236}">
                <a16:creationId xmlns:a16="http://schemas.microsoft.com/office/drawing/2014/main" id="{6FB4B467-C4FC-6E79-3124-206B63AFC0AD}"/>
              </a:ext>
            </a:extLst>
          </p:cNvPr>
          <p:cNvSpPr txBox="1"/>
          <p:nvPr/>
        </p:nvSpPr>
        <p:spPr>
          <a:xfrm>
            <a:off x="9564671" y="2295501"/>
            <a:ext cx="756925"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75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 2025</a:t>
            </a:r>
          </a:p>
        </p:txBody>
      </p:sp>
      <p:sp>
        <p:nvSpPr>
          <p:cNvPr id="62" name="TextBox 61">
            <a:extLst>
              <a:ext uri="{FF2B5EF4-FFF2-40B4-BE49-F238E27FC236}">
                <a16:creationId xmlns:a16="http://schemas.microsoft.com/office/drawing/2014/main" id="{AA8D141C-1C72-62D2-AFFD-7D0F901C4208}"/>
              </a:ext>
            </a:extLst>
          </p:cNvPr>
          <p:cNvSpPr txBox="1"/>
          <p:nvPr/>
        </p:nvSpPr>
        <p:spPr>
          <a:xfrm>
            <a:off x="9924391"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$33M</a:t>
            </a:r>
          </a:p>
        </p:txBody>
      </p:sp>
      <p:sp>
        <p:nvSpPr>
          <p:cNvPr id="51" name="TextBox 50">
            <a:extLst>
              <a:ext uri="{FF2B5EF4-FFF2-40B4-BE49-F238E27FC236}">
                <a16:creationId xmlns:a16="http://schemas.microsoft.com/office/drawing/2014/main" id="{4B52AFA5-F54E-C1A4-DE6C-3660D7224873}"/>
              </a:ext>
            </a:extLst>
          </p:cNvPr>
          <p:cNvSpPr txBox="1"/>
          <p:nvPr/>
        </p:nvSpPr>
        <p:spPr>
          <a:xfrm>
            <a:off x="7950052" y="2231273"/>
            <a:ext cx="728803" cy="4154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316 layoffs + eliminated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 vacant positions</a:t>
            </a:r>
          </a:p>
        </p:txBody>
      </p:sp>
      <p:sp>
        <p:nvSpPr>
          <p:cNvPr id="52" name="TextBox 51">
            <a:extLst>
              <a:ext uri="{FF2B5EF4-FFF2-40B4-BE49-F238E27FC236}">
                <a16:creationId xmlns:a16="http://schemas.microsoft.com/office/drawing/2014/main" id="{62543348-BDE7-DFE4-8D03-14E724D81603}"/>
              </a:ext>
            </a:extLst>
          </p:cNvPr>
          <p:cNvSpPr txBox="1"/>
          <p:nvPr/>
        </p:nvSpPr>
        <p:spPr>
          <a:xfrm>
            <a:off x="9100814" y="3921735"/>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Reduce $100M in spending</a:t>
            </a:r>
          </a:p>
        </p:txBody>
      </p:sp>
      <p:sp>
        <p:nvSpPr>
          <p:cNvPr id="42" name="TextBox 41">
            <a:extLst>
              <a:ext uri="{FF2B5EF4-FFF2-40B4-BE49-F238E27FC236}">
                <a16:creationId xmlns:a16="http://schemas.microsoft.com/office/drawing/2014/main" id="{2391F7CD-1E91-F372-4CD5-E9921D4759A3}"/>
              </a:ext>
            </a:extLst>
          </p:cNvPr>
          <p:cNvSpPr txBox="1"/>
          <p:nvPr/>
        </p:nvSpPr>
        <p:spPr>
          <a:xfrm>
            <a:off x="6331468"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3" name="TextBox 42">
            <a:extLst>
              <a:ext uri="{FF2B5EF4-FFF2-40B4-BE49-F238E27FC236}">
                <a16:creationId xmlns:a16="http://schemas.microsoft.com/office/drawing/2014/main" id="{E2F92C61-6711-19EC-195B-0DEC693969A9}"/>
              </a:ext>
            </a:extLst>
          </p:cNvPr>
          <p:cNvSpPr txBox="1"/>
          <p:nvPr/>
        </p:nvSpPr>
        <p:spPr>
          <a:xfrm>
            <a:off x="3490160" y="5284018"/>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a:t>
            </a:r>
          </a:p>
        </p:txBody>
      </p:sp>
      <p:sp>
        <p:nvSpPr>
          <p:cNvPr id="44" name="TextBox 43">
            <a:extLst>
              <a:ext uri="{FF2B5EF4-FFF2-40B4-BE49-F238E27FC236}">
                <a16:creationId xmlns:a16="http://schemas.microsoft.com/office/drawing/2014/main" id="{AFA71DCE-3181-0587-9B02-FA779CD6D1D0}"/>
              </a:ext>
            </a:extLst>
          </p:cNvPr>
          <p:cNvSpPr txBox="1"/>
          <p:nvPr/>
        </p:nvSpPr>
        <p:spPr>
          <a:xfrm>
            <a:off x="9841664"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5" name="TextBox 44">
            <a:extLst>
              <a:ext uri="{FF2B5EF4-FFF2-40B4-BE49-F238E27FC236}">
                <a16:creationId xmlns:a16="http://schemas.microsoft.com/office/drawing/2014/main" id="{42353673-3F19-8390-D213-1660BB0968B0}"/>
              </a:ext>
            </a:extLst>
          </p:cNvPr>
          <p:cNvSpPr txBox="1"/>
          <p:nvPr/>
        </p:nvSpPr>
        <p:spPr>
          <a:xfrm>
            <a:off x="10302195"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$30M</a:t>
            </a:r>
          </a:p>
        </p:txBody>
      </p:sp>
      <p:sp>
        <p:nvSpPr>
          <p:cNvPr id="46" name="TextBox 45">
            <a:extLst>
              <a:ext uri="{FF2B5EF4-FFF2-40B4-BE49-F238E27FC236}">
                <a16:creationId xmlns:a16="http://schemas.microsoft.com/office/drawing/2014/main" id="{624E36B1-D047-CDF4-12C9-17D81C804B2B}"/>
              </a:ext>
            </a:extLst>
          </p:cNvPr>
          <p:cNvSpPr txBox="1"/>
          <p:nvPr/>
        </p:nvSpPr>
        <p:spPr>
          <a:xfrm>
            <a:off x="602416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 potential announced December 2025</a:t>
            </a:r>
          </a:p>
        </p:txBody>
      </p:sp>
      <p:sp>
        <p:nvSpPr>
          <p:cNvPr id="54" name="TextBox 53">
            <a:extLst>
              <a:ext uri="{FF2B5EF4-FFF2-40B4-BE49-F238E27FC236}">
                <a16:creationId xmlns:a16="http://schemas.microsoft.com/office/drawing/2014/main" id="{B6447103-6839-D0E2-E6B5-8FEC98B2B59B}"/>
              </a:ext>
            </a:extLst>
          </p:cNvPr>
          <p:cNvSpPr txBox="1"/>
          <p:nvPr/>
        </p:nvSpPr>
        <p:spPr>
          <a:xfrm>
            <a:off x="3359967"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3" name="TextBox 62">
            <a:extLst>
              <a:ext uri="{FF2B5EF4-FFF2-40B4-BE49-F238E27FC236}">
                <a16:creationId xmlns:a16="http://schemas.microsoft.com/office/drawing/2014/main" id="{23C69328-C277-1318-1F25-CE9EEEFA0F97}"/>
              </a:ext>
            </a:extLst>
          </p:cNvPr>
          <p:cNvSpPr txBox="1"/>
          <p:nvPr/>
        </p:nvSpPr>
        <p:spPr>
          <a:xfrm>
            <a:off x="1679680" y="2324176"/>
            <a:ext cx="544956"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180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a:t>
            </a:r>
          </a:p>
        </p:txBody>
      </p:sp>
      <p:sp>
        <p:nvSpPr>
          <p:cNvPr id="64" name="TextBox 63">
            <a:extLst>
              <a:ext uri="{FF2B5EF4-FFF2-40B4-BE49-F238E27FC236}">
                <a16:creationId xmlns:a16="http://schemas.microsoft.com/office/drawing/2014/main" id="{B8168C10-1698-CF3E-70BB-35292C1D43B7}"/>
              </a:ext>
            </a:extLst>
          </p:cNvPr>
          <p:cNvSpPr txBox="1"/>
          <p:nvPr/>
        </p:nvSpPr>
        <p:spPr>
          <a:xfrm>
            <a:off x="3188498"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Dec 2025</a:t>
            </a:r>
          </a:p>
        </p:txBody>
      </p:sp>
      <p:sp>
        <p:nvSpPr>
          <p:cNvPr id="65" name="TextBox 64">
            <a:extLst>
              <a:ext uri="{FF2B5EF4-FFF2-40B4-BE49-F238E27FC236}">
                <a16:creationId xmlns:a16="http://schemas.microsoft.com/office/drawing/2014/main" id="{784E3E1C-22EE-6569-012B-E8D9BB4666B6}"/>
              </a:ext>
            </a:extLst>
          </p:cNvPr>
          <p:cNvSpPr txBox="1"/>
          <p:nvPr/>
        </p:nvSpPr>
        <p:spPr>
          <a:xfrm>
            <a:off x="3894743"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Mar 2025</a:t>
            </a:r>
          </a:p>
        </p:txBody>
      </p:sp>
      <p:pic>
        <p:nvPicPr>
          <p:cNvPr id="66" name="Picture 2">
            <a:extLst>
              <a:ext uri="{FF2B5EF4-FFF2-40B4-BE49-F238E27FC236}">
                <a16:creationId xmlns:a16="http://schemas.microsoft.com/office/drawing/2014/main" id="{461D9C70-8725-DF64-DF6C-F69C0782752A}"/>
              </a:ext>
            </a:extLst>
          </p:cNvPr>
          <p:cNvPicPr>
            <a:picLocks noChangeAspect="1" noChangeArrowheads="1"/>
          </p:cNvPicPr>
          <p:nvPr/>
        </p:nvPicPr>
        <p:blipFill>
          <a:blip r:embed="rId10" cstate="email">
            <a:extLst>
              <a:ext uri="{28A0092B-C50C-407E-A947-70E740481C1C}">
                <a14:useLocalDpi xmlns:a14="http://schemas.microsoft.com/office/drawing/2010/main" val="0"/>
              </a:ext>
            </a:extLst>
          </a:blip>
          <a:srcRect/>
          <a:stretch>
            <a:fillRect/>
          </a:stretch>
        </p:blipFill>
        <p:spPr bwMode="auto">
          <a:xfrm>
            <a:off x="2947706" y="1240803"/>
            <a:ext cx="351303" cy="351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orthwestern University Logo, symbol, meaning, history, PNG, brand">
            <a:extLst>
              <a:ext uri="{FF2B5EF4-FFF2-40B4-BE49-F238E27FC236}">
                <a16:creationId xmlns:a16="http://schemas.microsoft.com/office/drawing/2014/main" id="{FF87622C-B0A2-4FB6-D5C6-C923E89C4F84}"/>
              </a:ext>
            </a:extLst>
          </p:cNvPr>
          <p:cNvPicPr>
            <a:picLocks noChangeAspect="1" noChangeArrowheads="1"/>
          </p:cNvPicPr>
          <p:nvPr/>
        </p:nvPicPr>
        <p:blipFill>
          <a:blip r:embed="rId11" cstate="email">
            <a:extLst>
              <a:ext uri="{28A0092B-C50C-407E-A947-70E740481C1C}">
                <a14:useLocalDpi xmlns:a14="http://schemas.microsoft.com/office/drawing/2010/main" val="0"/>
              </a:ext>
            </a:extLst>
          </a:blip>
          <a:srcRect/>
          <a:stretch>
            <a:fillRect/>
          </a:stretch>
        </p:blipFill>
        <p:spPr bwMode="auto">
          <a:xfrm>
            <a:off x="2396591" y="1232443"/>
            <a:ext cx="642127" cy="361196"/>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8" descr="The Harvard Veritas shield next to the adorned shield (with wreath).">
            <a:extLst>
              <a:ext uri="{FF2B5EF4-FFF2-40B4-BE49-F238E27FC236}">
                <a16:creationId xmlns:a16="http://schemas.microsoft.com/office/drawing/2014/main" id="{FB8D9A65-7D62-A8AA-958B-63CB4FE486D4}"/>
              </a:ext>
            </a:extLst>
          </p:cNvPr>
          <p:cNvPicPr>
            <a:picLocks noChangeAspect="1" noChangeArrowheads="1"/>
          </p:cNvPicPr>
          <p:nvPr/>
        </p:nvPicPr>
        <p:blipFill rotWithShape="1">
          <a:blip r:embed="rId12" cstate="email">
            <a:extLst>
              <a:ext uri="{28A0092B-C50C-407E-A947-70E740481C1C}">
                <a14:useLocalDpi xmlns:a14="http://schemas.microsoft.com/office/drawing/2010/main" val="0"/>
              </a:ext>
            </a:extLst>
          </a:blip>
          <a:srcRect r="58594"/>
          <a:stretch>
            <a:fillRect/>
          </a:stretch>
        </p:blipFill>
        <p:spPr bwMode="auto">
          <a:xfrm>
            <a:off x="1314259" y="1076654"/>
            <a:ext cx="382927" cy="6168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uke University Logo and symbol, meaning, history, PNG, brand">
            <a:extLst>
              <a:ext uri="{FF2B5EF4-FFF2-40B4-BE49-F238E27FC236}">
                <a16:creationId xmlns:a16="http://schemas.microsoft.com/office/drawing/2014/main" id="{D68510D6-93DC-DD09-1246-4486A6DE65AB}"/>
              </a:ext>
            </a:extLst>
          </p:cNvPr>
          <p:cNvPicPr>
            <a:picLocks noChangeAspect="1" noChangeArrowheads="1"/>
          </p:cNvPicPr>
          <p:nvPr/>
        </p:nvPicPr>
        <p:blipFill rotWithShape="1">
          <a:blip r:embed="rId13" cstate="email">
            <a:extLst>
              <a:ext uri="{28A0092B-C50C-407E-A947-70E740481C1C}">
                <a14:useLocalDpi xmlns:a14="http://schemas.microsoft.com/office/drawing/2010/main" val="0"/>
              </a:ext>
            </a:extLst>
          </a:blip>
          <a:srcRect r="54199"/>
          <a:stretch>
            <a:fillRect/>
          </a:stretch>
        </p:blipFill>
        <p:spPr bwMode="auto">
          <a:xfrm>
            <a:off x="4603717" y="1222713"/>
            <a:ext cx="322729" cy="396359"/>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18">
            <a:extLst>
              <a:ext uri="{FF2B5EF4-FFF2-40B4-BE49-F238E27FC236}">
                <a16:creationId xmlns:a16="http://schemas.microsoft.com/office/drawing/2014/main" id="{32BBD04A-E793-4815-7FA8-9DB7AF4677F5}"/>
              </a:ext>
            </a:extLst>
          </p:cNvPr>
          <p:cNvPicPr>
            <a:picLocks noChangeAspect="1" noChangeArrowheads="1"/>
          </p:cNvPicPr>
          <p:nvPr/>
        </p:nvPicPr>
        <p:blipFill>
          <a:blip r:embed="rId14" cstate="email">
            <a:extLst>
              <a:ext uri="{28A0092B-C50C-407E-A947-70E740481C1C}">
                <a14:useLocalDpi xmlns:a14="http://schemas.microsoft.com/office/drawing/2010/main" val="0"/>
              </a:ext>
            </a:extLst>
          </a:blip>
          <a:srcRect/>
          <a:stretch>
            <a:fillRect/>
          </a:stretch>
        </p:blipFill>
        <p:spPr bwMode="auto">
          <a:xfrm>
            <a:off x="1722391" y="1231489"/>
            <a:ext cx="411350" cy="327434"/>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hield of Princeton University">
            <a:extLst>
              <a:ext uri="{FF2B5EF4-FFF2-40B4-BE49-F238E27FC236}">
                <a16:creationId xmlns:a16="http://schemas.microsoft.com/office/drawing/2014/main" id="{33F71AF2-02A0-CF02-477C-A4261F655CA2}"/>
              </a:ext>
            </a:extLst>
          </p:cNvPr>
          <p:cNvPicPr>
            <a:picLocks noChangeAspect="1" noChangeArrowheads="1"/>
          </p:cNvPicPr>
          <p:nvPr/>
        </p:nvPicPr>
        <p:blipFill>
          <a:blip r:embed="rId15" cstate="email">
            <a:extLst>
              <a:ext uri="{28A0092B-C50C-407E-A947-70E740481C1C}">
                <a14:useLocalDpi xmlns:a14="http://schemas.microsoft.com/office/drawing/2010/main" val="0"/>
              </a:ext>
            </a:extLst>
          </a:blip>
          <a:srcRect/>
          <a:stretch>
            <a:fillRect/>
          </a:stretch>
        </p:blipFill>
        <p:spPr bwMode="auto">
          <a:xfrm>
            <a:off x="3765266" y="1195568"/>
            <a:ext cx="307927" cy="394147"/>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732DDF7A-463A-9F76-6EF7-9EB409956B47}"/>
              </a:ext>
            </a:extLst>
          </p:cNvPr>
          <p:cNvPicPr>
            <a:picLocks noChangeAspect="1" noChangeArrowheads="1"/>
          </p:cNvPicPr>
          <p:nvPr/>
        </p:nvPicPr>
        <p:blipFill>
          <a:blip r:embed="rId16" cstate="email">
            <a:extLst>
              <a:ext uri="{28A0092B-C50C-407E-A947-70E740481C1C}">
                <a14:useLocalDpi xmlns:a14="http://schemas.microsoft.com/office/drawing/2010/main" val="0"/>
              </a:ext>
            </a:extLst>
          </a:blip>
          <a:srcRect/>
          <a:stretch>
            <a:fillRect/>
          </a:stretch>
        </p:blipFill>
        <p:spPr bwMode="auto">
          <a:xfrm>
            <a:off x="8204387" y="1192905"/>
            <a:ext cx="391428" cy="391428"/>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The coat of arms of the University of Chicago">
            <a:extLst>
              <a:ext uri="{FF2B5EF4-FFF2-40B4-BE49-F238E27FC236}">
                <a16:creationId xmlns:a16="http://schemas.microsoft.com/office/drawing/2014/main" id="{E7811294-1AB8-BF57-A88C-C3A7F4577E0F}"/>
              </a:ext>
            </a:extLst>
          </p:cNvPr>
          <p:cNvPicPr>
            <a:picLocks noChangeAspect="1" noChangeArrowheads="1"/>
          </p:cNvPicPr>
          <p:nvPr/>
        </p:nvPicPr>
        <p:blipFill>
          <a:blip r:embed="rId17" cstate="email">
            <a:extLst>
              <a:ext uri="{28A0092B-C50C-407E-A947-70E740481C1C}">
                <a14:useLocalDpi xmlns:a14="http://schemas.microsoft.com/office/drawing/2010/main" val="0"/>
              </a:ext>
            </a:extLst>
          </a:blip>
          <a:srcRect/>
          <a:stretch>
            <a:fillRect/>
          </a:stretch>
        </p:blipFill>
        <p:spPr bwMode="auto">
          <a:xfrm>
            <a:off x="9047069" y="1199285"/>
            <a:ext cx="297517" cy="377251"/>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B268D083-735A-8696-A017-0B5D4F0CC2B6}"/>
              </a:ext>
            </a:extLst>
          </p:cNvPr>
          <p:cNvPicPr>
            <a:picLocks noChangeAspect="1" noChangeArrowheads="1"/>
          </p:cNvPicPr>
          <p:nvPr/>
        </p:nvPicPr>
        <p:blipFill>
          <a:blip r:embed="rId18" cstate="email">
            <a:extLst>
              <a:ext uri="{28A0092B-C50C-407E-A947-70E740481C1C}">
                <a14:useLocalDpi xmlns:a14="http://schemas.microsoft.com/office/drawing/2010/main" val="0"/>
              </a:ext>
            </a:extLst>
          </a:blip>
          <a:srcRect/>
          <a:stretch>
            <a:fillRect/>
          </a:stretch>
        </p:blipFill>
        <p:spPr bwMode="auto">
          <a:xfrm>
            <a:off x="9737467" y="1169851"/>
            <a:ext cx="442366" cy="442366"/>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0">
            <a:extLst>
              <a:ext uri="{FF2B5EF4-FFF2-40B4-BE49-F238E27FC236}">
                <a16:creationId xmlns:a16="http://schemas.microsoft.com/office/drawing/2014/main" id="{F49281B9-90FA-8A95-0042-35212EBB4845}"/>
              </a:ext>
            </a:extLst>
          </p:cNvPr>
          <p:cNvPicPr>
            <a:picLocks noChangeAspect="1" noChangeArrowheads="1"/>
          </p:cNvPicPr>
          <p:nvPr/>
        </p:nvPicPr>
        <p:blipFill>
          <a:blip r:embed="rId19" cstate="email">
            <a:extLst>
              <a:ext uri="{28A0092B-C50C-407E-A947-70E740481C1C}">
                <a14:useLocalDpi xmlns:a14="http://schemas.microsoft.com/office/drawing/2010/main" val="0"/>
              </a:ext>
            </a:extLst>
          </a:blip>
          <a:srcRect/>
          <a:stretch>
            <a:fillRect/>
          </a:stretch>
        </p:blipFill>
        <p:spPr bwMode="auto">
          <a:xfrm>
            <a:off x="4147060" y="1189593"/>
            <a:ext cx="344526" cy="461665"/>
          </a:xfrm>
          <a:prstGeom prst="rect">
            <a:avLst/>
          </a:prstGeom>
          <a:noFill/>
          <a:extLst>
            <a:ext uri="{909E8E84-426E-40DD-AFC4-6F175D3DCCD1}">
              <a14:hiddenFill xmlns:a14="http://schemas.microsoft.com/office/drawing/2010/main">
                <a:solidFill>
                  <a:srgbClr val="FFFFFF"/>
                </a:solidFill>
              </a14:hiddenFill>
            </a:ext>
          </a:extLst>
        </p:spPr>
      </p:pic>
      <p:pic>
        <p:nvPicPr>
          <p:cNvPr id="2072" name="Picture 24">
            <a:extLst>
              <a:ext uri="{FF2B5EF4-FFF2-40B4-BE49-F238E27FC236}">
                <a16:creationId xmlns:a16="http://schemas.microsoft.com/office/drawing/2014/main" id="{B8179F76-8C98-0198-1923-2B80D96E8EAB}"/>
              </a:ext>
            </a:extLst>
          </p:cNvPr>
          <p:cNvPicPr>
            <a:picLocks noChangeAspect="1" noChangeArrowheads="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10190852" y="1192615"/>
            <a:ext cx="396490" cy="396490"/>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a:extLst>
              <a:ext uri="{FF2B5EF4-FFF2-40B4-BE49-F238E27FC236}">
                <a16:creationId xmlns:a16="http://schemas.microsoft.com/office/drawing/2014/main" id="{90D56BDF-EB30-C783-6A88-B5DE0942B4F7}"/>
              </a:ext>
            </a:extLst>
          </p:cNvPr>
          <p:cNvPicPr>
            <a:picLocks noChangeAspect="1" noChangeArrowheads="1"/>
          </p:cNvPicPr>
          <p:nvPr/>
        </p:nvPicPr>
        <p:blipFill>
          <a:blip r:embed="rId21" cstate="email">
            <a:extLst>
              <a:ext uri="{28A0092B-C50C-407E-A947-70E740481C1C}">
                <a14:useLocalDpi xmlns:a14="http://schemas.microsoft.com/office/drawing/2010/main" val="0"/>
              </a:ext>
            </a:extLst>
          </a:blip>
          <a:srcRect/>
          <a:stretch>
            <a:fillRect/>
          </a:stretch>
        </p:blipFill>
        <p:spPr bwMode="auto">
          <a:xfrm>
            <a:off x="10639039" y="1202011"/>
            <a:ext cx="357105" cy="357105"/>
          </a:xfrm>
          <a:prstGeom prst="rect">
            <a:avLst/>
          </a:prstGeom>
          <a:noFill/>
          <a:extLst>
            <a:ext uri="{909E8E84-426E-40DD-AFC4-6F175D3DCCD1}">
              <a14:hiddenFill xmlns:a14="http://schemas.microsoft.com/office/drawing/2010/main">
                <a:solidFill>
                  <a:srgbClr val="FFFFFF"/>
                </a:solidFill>
              </a14:hiddenFill>
            </a:ext>
          </a:extLst>
        </p:spPr>
      </p:pic>
      <p:pic>
        <p:nvPicPr>
          <p:cNvPr id="2076" name="Picture 28">
            <a:extLst>
              <a:ext uri="{FF2B5EF4-FFF2-40B4-BE49-F238E27FC236}">
                <a16:creationId xmlns:a16="http://schemas.microsoft.com/office/drawing/2014/main" id="{0F5E4B34-1904-B4B8-12B5-5558E5272C83}"/>
              </a:ext>
            </a:extLst>
          </p:cNvPr>
          <p:cNvPicPr>
            <a:picLocks noChangeAspect="1" noChangeArrowheads="1"/>
          </p:cNvPicPr>
          <p:nvPr/>
        </p:nvPicPr>
        <p:blipFill>
          <a:blip r:embed="rId22" cstate="email">
            <a:extLst>
              <a:ext uri="{28A0092B-C50C-407E-A947-70E740481C1C}">
                <a14:useLocalDpi xmlns:a14="http://schemas.microsoft.com/office/drawing/2010/main" val="0"/>
              </a:ext>
            </a:extLst>
          </a:blip>
          <a:srcRect/>
          <a:stretch>
            <a:fillRect/>
          </a:stretch>
        </p:blipFill>
        <p:spPr bwMode="auto">
          <a:xfrm>
            <a:off x="6201183" y="1184657"/>
            <a:ext cx="351474" cy="369751"/>
          </a:xfrm>
          <a:prstGeom prst="rect">
            <a:avLst/>
          </a:prstGeom>
          <a:noFill/>
          <a:extLst>
            <a:ext uri="{909E8E84-426E-40DD-AFC4-6F175D3DCCD1}">
              <a14:hiddenFill xmlns:a14="http://schemas.microsoft.com/office/drawing/2010/main">
                <a:solidFill>
                  <a:srgbClr val="FFFFFF"/>
                </a:solidFill>
              </a14:hiddenFill>
            </a:ext>
          </a:extLst>
        </p:spPr>
      </p:pic>
      <p:pic>
        <p:nvPicPr>
          <p:cNvPr id="2082" name="Picture 34" descr="Emory University Office of Admission | Atlanta GA">
            <a:extLst>
              <a:ext uri="{FF2B5EF4-FFF2-40B4-BE49-F238E27FC236}">
                <a16:creationId xmlns:a16="http://schemas.microsoft.com/office/drawing/2014/main" id="{A48641CB-7A84-DD6A-3BB2-0D7F4064EDE0}"/>
              </a:ext>
            </a:extLst>
          </p:cNvPr>
          <p:cNvPicPr>
            <a:picLocks noChangeAspect="1" noChangeArrowheads="1"/>
          </p:cNvPicPr>
          <p:nvPr/>
        </p:nvPicPr>
        <p:blipFill>
          <a:blip r:embed="rId23"/>
          <a:srcRect/>
          <a:stretch/>
        </p:blipFill>
        <p:spPr bwMode="auto">
          <a:xfrm>
            <a:off x="4981705" y="1024102"/>
            <a:ext cx="429535" cy="767026"/>
          </a:xfrm>
          <a:prstGeom prst="rect">
            <a:avLst/>
          </a:prstGeom>
          <a:noFill/>
          <a:extLst>
            <a:ext uri="{909E8E84-426E-40DD-AFC4-6F175D3DCCD1}">
              <a14:hiddenFill xmlns:a14="http://schemas.microsoft.com/office/drawing/2010/main">
                <a:solidFill>
                  <a:srgbClr val="FFFFFF"/>
                </a:solidFill>
              </a14:hiddenFill>
            </a:ext>
          </a:extLst>
        </p:spPr>
      </p:pic>
      <p:pic>
        <p:nvPicPr>
          <p:cNvPr id="2088" name="Picture 40">
            <a:extLst>
              <a:ext uri="{FF2B5EF4-FFF2-40B4-BE49-F238E27FC236}">
                <a16:creationId xmlns:a16="http://schemas.microsoft.com/office/drawing/2014/main" id="{0D9F527B-1820-3C94-5A4B-C3561F197ED2}"/>
              </a:ext>
            </a:extLst>
          </p:cNvPr>
          <p:cNvPicPr>
            <a:picLocks noChangeAspect="1" noChangeArrowheads="1"/>
          </p:cNvPicPr>
          <p:nvPr/>
        </p:nvPicPr>
        <p:blipFill>
          <a:blip r:embed="rId24" cstate="email">
            <a:extLst>
              <a:ext uri="{28A0092B-C50C-407E-A947-70E740481C1C}">
                <a14:useLocalDpi xmlns:a14="http://schemas.microsoft.com/office/drawing/2010/main" val="0"/>
              </a:ext>
            </a:extLst>
          </a:blip>
          <a:srcRect/>
          <a:stretch>
            <a:fillRect/>
          </a:stretch>
        </p:blipFill>
        <p:spPr bwMode="auto">
          <a:xfrm>
            <a:off x="11003580" y="1243793"/>
            <a:ext cx="398669" cy="287329"/>
          </a:xfrm>
          <a:prstGeom prst="rect">
            <a:avLst/>
          </a:prstGeom>
          <a:noFill/>
          <a:extLst>
            <a:ext uri="{909E8E84-426E-40DD-AFC4-6F175D3DCCD1}">
              <a14:hiddenFill xmlns:a14="http://schemas.microsoft.com/office/drawing/2010/main">
                <a:solidFill>
                  <a:srgbClr val="FFFFFF"/>
                </a:solidFill>
              </a14:hiddenFill>
            </a:ext>
          </a:extLst>
        </p:spPr>
      </p:pic>
      <p:pic>
        <p:nvPicPr>
          <p:cNvPr id="2092" name="Picture 44" descr="Visual Identity - Georgetown University">
            <a:extLst>
              <a:ext uri="{FF2B5EF4-FFF2-40B4-BE49-F238E27FC236}">
                <a16:creationId xmlns:a16="http://schemas.microsoft.com/office/drawing/2014/main" id="{BE24DB14-4EF0-E7CB-0D23-5A9C6A745197}"/>
              </a:ext>
            </a:extLst>
          </p:cNvPr>
          <p:cNvPicPr>
            <a:picLocks noChangeAspect="1" noChangeArrowheads="1"/>
          </p:cNvPicPr>
          <p:nvPr/>
        </p:nvPicPr>
        <p:blipFill>
          <a:blip r:embed="rId25" cstate="email">
            <a:extLst>
              <a:ext uri="{28A0092B-C50C-407E-A947-70E740481C1C}">
                <a14:useLocalDpi xmlns:a14="http://schemas.microsoft.com/office/drawing/2010/main" val="0"/>
              </a:ext>
            </a:extLst>
          </a:blip>
          <a:srcRect/>
          <a:stretch>
            <a:fillRect/>
          </a:stretch>
        </p:blipFill>
        <p:spPr bwMode="auto">
          <a:xfrm>
            <a:off x="7859269" y="1218156"/>
            <a:ext cx="289648" cy="340762"/>
          </a:xfrm>
          <a:prstGeom prst="rect">
            <a:avLst/>
          </a:prstGeom>
          <a:noFill/>
          <a:extLst>
            <a:ext uri="{909E8E84-426E-40DD-AFC4-6F175D3DCCD1}">
              <a14:hiddenFill xmlns:a14="http://schemas.microsoft.com/office/drawing/2010/main">
                <a:solidFill>
                  <a:srgbClr val="FFFFFF"/>
                </a:solidFill>
              </a14:hiddenFill>
            </a:ext>
          </a:extLst>
        </p:spPr>
      </p:pic>
      <p:pic>
        <p:nvPicPr>
          <p:cNvPr id="2096" name="Picture 48" descr="Dartmouth College shield transparent PNG - StickPNG">
            <a:extLst>
              <a:ext uri="{FF2B5EF4-FFF2-40B4-BE49-F238E27FC236}">
                <a16:creationId xmlns:a16="http://schemas.microsoft.com/office/drawing/2014/main" id="{E6D7E769-0483-CA34-BD84-70293E495D31}"/>
              </a:ext>
            </a:extLst>
          </p:cNvPr>
          <p:cNvPicPr>
            <a:picLocks noChangeAspect="1" noChangeArrowheads="1"/>
          </p:cNvPicPr>
          <p:nvPr/>
        </p:nvPicPr>
        <p:blipFill>
          <a:blip r:embed="rId26" cstate="email">
            <a:extLst>
              <a:ext uri="{28A0092B-C50C-407E-A947-70E740481C1C}">
                <a14:useLocalDpi xmlns:a14="http://schemas.microsoft.com/office/drawing/2010/main" val="0"/>
              </a:ext>
            </a:extLst>
          </a:blip>
          <a:srcRect/>
          <a:stretch>
            <a:fillRect/>
          </a:stretch>
        </p:blipFill>
        <p:spPr bwMode="auto">
          <a:xfrm>
            <a:off x="9383529" y="1205565"/>
            <a:ext cx="345160" cy="3690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3871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4"/>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4"/>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75529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$100M</a:t>
            </a:r>
          </a:p>
        </p:txBody>
      </p:sp>
      <p:cxnSp>
        <p:nvCxnSpPr>
          <p:cNvPr id="11" name="Connector 10"/>
          <p:cNvCxnSpPr/>
          <p:nvPr/>
        </p:nvCxnSpPr>
        <p:spPr>
          <a:xfrm>
            <a:off x="3016066"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58866"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$200M</a:t>
            </a:r>
          </a:p>
        </p:txBody>
      </p:sp>
      <p:cxnSp>
        <p:nvCxnSpPr>
          <p:cNvPr id="13" name="Connector 12"/>
          <p:cNvCxnSpPr/>
          <p:nvPr/>
        </p:nvCxnSpPr>
        <p:spPr>
          <a:xfrm>
            <a:off x="5400258"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943058"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$500M</a:t>
            </a:r>
          </a:p>
        </p:txBody>
      </p:sp>
      <p:cxnSp>
        <p:nvCxnSpPr>
          <p:cNvPr id="15" name="Connector 14"/>
          <p:cNvCxnSpPr/>
          <p:nvPr/>
        </p:nvCxnSpPr>
        <p:spPr>
          <a:xfrm>
            <a:off x="7203830"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6630"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$1B</a:t>
            </a:r>
          </a:p>
        </p:txBody>
      </p:sp>
      <p:cxnSp>
        <p:nvCxnSpPr>
          <p:cNvPr id="17" name="Connector 16"/>
          <p:cNvCxnSpPr/>
          <p:nvPr/>
        </p:nvCxnSpPr>
        <p:spPr>
          <a:xfrm>
            <a:off x="9007402"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50202"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$2B</a:t>
            </a:r>
          </a:p>
        </p:txBody>
      </p:sp>
      <p:cxnSp>
        <p:nvCxnSpPr>
          <p:cNvPr id="19" name="Connector 18"/>
          <p:cNvCxnSpPr/>
          <p:nvPr/>
        </p:nvCxnSpPr>
        <p:spPr>
          <a:xfrm>
            <a:off x="10810974"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35377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$4B</a:t>
            </a:r>
          </a:p>
        </p:txBody>
      </p:sp>
      <p:sp>
        <p:nvSpPr>
          <p:cNvPr id="21" name="TextBox 20"/>
          <p:cNvSpPr txBox="1"/>
          <p:nvPr/>
        </p:nvSpPr>
        <p:spPr>
          <a:xfrm>
            <a:off x="1212494" y="5704027"/>
            <a:ext cx="10179100" cy="201168"/>
          </a:xfrm>
          <a:prstGeom prst="rect">
            <a:avLst/>
          </a:prstGeom>
          <a:noFill/>
        </p:spPr>
        <p:txBody>
          <a:bodyPr wrap="square" lIns="0" tIns="0" rIns="0" bIns="0" anchor="t">
            <a:spAutoFit/>
          </a:bodyPr>
          <a:lstStyle/>
          <a:p>
            <a:pPr algn="ctr"/>
            <a:r>
              <a:rPr sz="1100" b="0" i="0">
                <a:solidFill>
                  <a:srgbClr val="6B6B70"/>
                </a:solidFill>
                <a:latin typeface="Lato"/>
              </a:rPr>
              <a:t>FY 2024 total R&amp;D expenditures (log scale)</a:t>
            </a:r>
          </a:p>
        </p:txBody>
      </p:sp>
      <p:cxnSp>
        <p:nvCxnSpPr>
          <p:cNvPr id="22" name="Connector 21"/>
          <p:cNvCxnSpPr/>
          <p:nvPr/>
        </p:nvCxnSpPr>
        <p:spPr>
          <a:xfrm>
            <a:off x="5360256" y="1419148"/>
            <a:ext cx="0" cy="4010559"/>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5"/>
          <a:stretch>
            <a:fillRect/>
          </a:stretch>
        </p:blipFill>
        <p:spPr>
          <a:xfrm>
            <a:off x="3269894" y="1876348"/>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6"/>
          <a:stretch>
            <a:fillRect/>
          </a:stretch>
        </p:blipFill>
        <p:spPr>
          <a:xfrm>
            <a:off x="10084003" y="1876348"/>
            <a:ext cx="1234440" cy="823989"/>
          </a:xfrm>
          <a:prstGeom prst="rect">
            <a:avLst/>
          </a:prstGeom>
        </p:spPr>
      </p:pic>
      <p:pic>
        <p:nvPicPr>
          <p:cNvPr id="28" name="Picture 27" descr="whale_Picture_28.png"/>
          <p:cNvPicPr>
            <a:picLocks noChangeAspect="1"/>
          </p:cNvPicPr>
          <p:nvPr/>
        </p:nvPicPr>
        <p:blipFill>
          <a:blip r:embed="rId7"/>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8"/>
          <a:stretch>
            <a:fillRect/>
          </a:stretch>
        </p:blipFill>
        <p:spPr>
          <a:xfrm>
            <a:off x="10084003" y="447873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82880"/>
          </a:xfrm>
          <a:prstGeom prst="rect">
            <a:avLst/>
          </a:prstGeom>
          <a:noFill/>
        </p:spPr>
        <p:txBody>
          <a:bodyPr wrap="square" lIns="0" tIns="0" rIns="0" bIns="0" anchor="t">
            <a:spAutoFit/>
          </a:bodyPr>
          <a:lstStyle/>
          <a:p>
            <a:pPr algn="l"/>
            <a:r>
              <a:rPr sz="1000" b="0" i="1">
                <a:solidFill>
                  <a:srgbClr val="6B6B70"/>
                </a:solidFill>
                <a:latin typeface="Lato"/>
              </a:rPr>
              <a:t>Median $492M</a:t>
            </a:r>
          </a:p>
        </p:txBody>
      </p:sp>
      <p:sp>
        <p:nvSpPr>
          <p:cNvPr id="33" name="TextBox 32"/>
          <p:cNvSpPr txBox="1"/>
          <p:nvPr/>
        </p:nvSpPr>
        <p:spPr>
          <a:xfrm>
            <a:off x="9517075" y="3627629"/>
            <a:ext cx="1828800" cy="182880"/>
          </a:xfrm>
          <a:prstGeom prst="rect">
            <a:avLst/>
          </a:prstGeom>
          <a:noFill/>
        </p:spPr>
        <p:txBody>
          <a:bodyPr wrap="square" lIns="0" tIns="0" rIns="0" bIns="0" anchor="t">
            <a:spAutoFit/>
          </a:bodyPr>
          <a:lstStyle/>
          <a:p>
            <a:pPr algn="r"/>
            <a:r>
              <a:rPr sz="1000" b="0" i="1">
                <a:solidFill>
                  <a:srgbClr val="6B6B7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5"/>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Tree>
    <p:extLst>
      <p:ext uri="{BB962C8B-B14F-4D97-AF65-F5344CB8AC3E}">
        <p14:creationId xmlns:p14="http://schemas.microsoft.com/office/powerpoint/2010/main" val="3672233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Tree>
    <p:extLst>
      <p:ext uri="{BB962C8B-B14F-4D97-AF65-F5344CB8AC3E}">
        <p14:creationId xmlns:p14="http://schemas.microsoft.com/office/powerpoint/2010/main" val="3897025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rgbClr val="000000"/>
                </a:solidFill>
                <a:latin typeface="Lato"/>
              </a:rPr>
              <a:t>Externally funded  </a:t>
            </a:r>
            <a:r>
              <a:rPr sz="850" b="0">
                <a:solidFill>
                  <a:srgbClr val="000000"/>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rgbClr val="000000"/>
                </a:solidFill>
                <a:latin typeface="Lato"/>
              </a:rPr>
              <a:t>London  </a:t>
            </a:r>
            <a:r>
              <a:rPr sz="850" b="0" dirty="0">
                <a:solidFill>
                  <a:srgbClr val="000000"/>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rgbClr val="000000"/>
                </a:solidFill>
                <a:latin typeface="Lato"/>
              </a:rPr>
              <a:t>Internally funded, all other  </a:t>
            </a:r>
            <a:r>
              <a:rPr sz="850" b="0">
                <a:solidFill>
                  <a:srgbClr val="000000"/>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10252900" y="3547872"/>
            <a:ext cx="386143" cy="1088136"/>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10424160" y="4700016"/>
            <a:ext cx="1417320" cy="646331"/>
          </a:xfrm>
          <a:prstGeom prst="rect">
            <a:avLst/>
          </a:prstGeom>
          <a:noFill/>
        </p:spPr>
        <p:txBody>
          <a:bodyPr wrap="square" rtlCol="0">
            <a:spAutoFit/>
          </a:bodyPr>
          <a:lstStyle/>
          <a:p>
            <a:pPr algn="ctr"/>
            <a:r>
              <a:rPr lang="en-US" sz="1200" b="1" dirty="0">
                <a:solidFill>
                  <a:srgbClr val="000000"/>
                </a:solidFill>
              </a:rPr>
              <a:t>44%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533888" y="4727448"/>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rgbClr val="000000"/>
                </a:solidFill>
                <a:latin typeface="Lato"/>
              </a:rPr>
              <a:t>Oakland campus  </a:t>
            </a:r>
            <a:r>
              <a:rPr sz="850" b="0" dirty="0">
                <a:solidFill>
                  <a:srgbClr val="000000"/>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staff headcount files, September 2026; full methodology in speaker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CONSOLIDATED OVERVIEW</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Financial Dashboard</a:t>
            </a:r>
          </a:p>
        </p:txBody>
      </p:sp>
      <p:sp>
        <p:nvSpPr>
          <p:cNvPr id="4" name="Rectangle 3"/>
          <p:cNvSpPr/>
          <p:nvPr/>
        </p:nvSpPr>
        <p:spPr>
          <a:xfrm>
            <a:off x="502920" y="1207008"/>
            <a:ext cx="548640" cy="36576"/>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8961120" y="457200"/>
            <a:ext cx="2743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a:ln>
                  <a:noFill/>
                </a:ln>
                <a:solidFill>
                  <a:srgbClr val="6B6B70"/>
                </a:solidFill>
                <a:effectLst/>
                <a:uLnTx/>
                <a:uFillTx/>
                <a:latin typeface="Lato"/>
                <a:ea typeface="+mn-ea"/>
                <a:cs typeface="+mn-cs"/>
              </a:rPr>
              <a:t>$ in millions</a:t>
            </a:r>
          </a:p>
        </p:txBody>
      </p:sp>
      <p:sp>
        <p:nvSpPr>
          <p:cNvPr id="6" name="Rectangle 5"/>
          <p:cNvSpPr/>
          <p:nvPr/>
        </p:nvSpPr>
        <p:spPr>
          <a:xfrm>
            <a:off x="502920" y="1353312"/>
            <a:ext cx="11183112" cy="228600"/>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 name="TextBox 6"/>
          <p:cNvSpPr txBox="1"/>
          <p:nvPr/>
        </p:nvSpPr>
        <p:spPr>
          <a:xfrm>
            <a:off x="457200" y="1353312"/>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OPERATING RESULTS  ·  FY23–FY25 ACTUALS, FY26 BUDGET AND UNAUDITED</a:t>
            </a:r>
          </a:p>
        </p:txBody>
      </p:sp>
      <p:sp>
        <p:nvSpPr>
          <p:cNvPr id="8" name="TextBox 7"/>
          <p:cNvSpPr txBox="1"/>
          <p:nvPr/>
        </p:nvSpPr>
        <p:spPr>
          <a:xfrm>
            <a:off x="576072" y="1581912"/>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9" name="TextBox 8"/>
          <p:cNvSpPr txBox="1"/>
          <p:nvPr/>
        </p:nvSpPr>
        <p:spPr>
          <a:xfrm>
            <a:off x="2679192" y="1581912"/>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 name="TextBox 9"/>
          <p:cNvSpPr txBox="1"/>
          <p:nvPr/>
        </p:nvSpPr>
        <p:spPr>
          <a:xfrm>
            <a:off x="363931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1" name="TextBox 10"/>
          <p:cNvSpPr txBox="1"/>
          <p:nvPr/>
        </p:nvSpPr>
        <p:spPr>
          <a:xfrm>
            <a:off x="437083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2" name="TextBox 11"/>
          <p:cNvSpPr txBox="1"/>
          <p:nvPr/>
        </p:nvSpPr>
        <p:spPr>
          <a:xfrm>
            <a:off x="510235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3" name="TextBox 12"/>
          <p:cNvSpPr txBox="1"/>
          <p:nvPr/>
        </p:nvSpPr>
        <p:spPr>
          <a:xfrm>
            <a:off x="5833872" y="1581912"/>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4" name="TextBox 13"/>
          <p:cNvSpPr txBox="1"/>
          <p:nvPr/>
        </p:nvSpPr>
        <p:spPr>
          <a:xfrm>
            <a:off x="6702552" y="1581912"/>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5" name="TextBox 14"/>
          <p:cNvSpPr txBox="1"/>
          <p:nvPr/>
        </p:nvSpPr>
        <p:spPr>
          <a:xfrm>
            <a:off x="7754112" y="1581912"/>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FY26 BUDGET</a:t>
            </a:r>
          </a:p>
        </p:txBody>
      </p:sp>
      <p:sp>
        <p:nvSpPr>
          <p:cNvPr id="16" name="TextBox 15"/>
          <p:cNvSpPr txBox="1"/>
          <p:nvPr/>
        </p:nvSpPr>
        <p:spPr>
          <a:xfrm>
            <a:off x="9445752" y="1581912"/>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7" name="Connector 16"/>
          <p:cNvCxnSpPr/>
          <p:nvPr/>
        </p:nvCxnSpPr>
        <p:spPr>
          <a:xfrm>
            <a:off x="502920" y="1783080"/>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8" name="Rectangle 17"/>
          <p:cNvSpPr/>
          <p:nvPr/>
        </p:nvSpPr>
        <p:spPr>
          <a:xfrm>
            <a:off x="502920" y="1801368"/>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576072" y="180136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20" name="Chart 19"/>
          <p:cNvGraphicFramePr>
            <a:graphicFrameLocks noGrp="1"/>
          </p:cNvGraphicFramePr>
          <p:nvPr/>
        </p:nvGraphicFramePr>
        <p:xfrm>
          <a:off x="2651760" y="1819656"/>
          <a:ext cx="868680" cy="246888"/>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p:cNvSpPr txBox="1"/>
          <p:nvPr/>
        </p:nvSpPr>
        <p:spPr>
          <a:xfrm>
            <a:off x="363931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1,474</a:t>
            </a:r>
          </a:p>
        </p:txBody>
      </p:sp>
      <p:sp>
        <p:nvSpPr>
          <p:cNvPr id="22" name="TextBox 21"/>
          <p:cNvSpPr txBox="1"/>
          <p:nvPr/>
        </p:nvSpPr>
        <p:spPr>
          <a:xfrm>
            <a:off x="437083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1,638</a:t>
            </a:r>
          </a:p>
        </p:txBody>
      </p:sp>
      <p:sp>
        <p:nvSpPr>
          <p:cNvPr id="23" name="TextBox 22"/>
          <p:cNvSpPr txBox="1"/>
          <p:nvPr/>
        </p:nvSpPr>
        <p:spPr>
          <a:xfrm>
            <a:off x="510235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1,772</a:t>
            </a:r>
          </a:p>
        </p:txBody>
      </p:sp>
      <p:sp>
        <p:nvSpPr>
          <p:cNvPr id="24" name="TextBox 23"/>
          <p:cNvSpPr txBox="1"/>
          <p:nvPr/>
        </p:nvSpPr>
        <p:spPr>
          <a:xfrm>
            <a:off x="5833872" y="180136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1,858</a:t>
            </a:r>
          </a:p>
        </p:txBody>
      </p:sp>
      <p:sp>
        <p:nvSpPr>
          <p:cNvPr id="25" name="Rectangle 24"/>
          <p:cNvSpPr/>
          <p:nvPr/>
        </p:nvSpPr>
        <p:spPr>
          <a:xfrm>
            <a:off x="6684264" y="183337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6702552" y="180136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1,782</a:t>
            </a:r>
          </a:p>
        </p:txBody>
      </p:sp>
      <p:sp>
        <p:nvSpPr>
          <p:cNvPr id="27" name="Rounded Rectangle 26"/>
          <p:cNvSpPr/>
          <p:nvPr/>
        </p:nvSpPr>
        <p:spPr>
          <a:xfrm>
            <a:off x="7772400" y="1856232"/>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−76 (−4.1%)</a:t>
            </a:r>
          </a:p>
        </p:txBody>
      </p:sp>
      <p:sp>
        <p:nvSpPr>
          <p:cNvPr id="28" name="TextBox 27"/>
          <p:cNvSpPr txBox="1"/>
          <p:nvPr/>
        </p:nvSpPr>
        <p:spPr>
          <a:xfrm>
            <a:off x="9445752" y="1881544"/>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FY26 includes </a:t>
            </a:r>
            <a:r>
              <a:rPr kumimoji="0" sz="800" b="0" i="1" u="none" strike="noStrike" kern="1200" cap="none" spc="0" normalizeH="0" baseline="0" noProof="0">
                <a:ln>
                  <a:noFill/>
                </a:ln>
                <a:solidFill>
                  <a:srgbClr val="6B6B70"/>
                </a:solidFill>
                <a:effectLst/>
                <a:uLnTx/>
                <a:uFillTx/>
                <a:latin typeface="Lato"/>
                <a:ea typeface="+mn-ea"/>
                <a:cs typeface="+mn-cs"/>
              </a:rPr>
              <a:t>~</a:t>
            </a:r>
            <a:r>
              <a:rPr kumimoji="0" lang="en-US" sz="800" b="0" i="1" u="none" strike="noStrike" kern="1200" cap="none" spc="0" normalizeH="0" baseline="0" noProof="0">
                <a:ln>
                  <a:noFill/>
                </a:ln>
                <a:solidFill>
                  <a:srgbClr val="6B6B70"/>
                </a:solidFill>
                <a:effectLst/>
                <a:uLnTx/>
                <a:uFillTx/>
                <a:latin typeface="Lato"/>
                <a:ea typeface="+mn-ea"/>
                <a:cs typeface="+mn-cs"/>
              </a:rPr>
              <a:t>1,450</a:t>
            </a:r>
            <a:r>
              <a:rPr kumimoji="0" sz="800" b="0" i="1" u="none" strike="noStrike" kern="1200" cap="none" spc="0" normalizeH="0" baseline="0" noProof="0">
                <a:ln>
                  <a:noFill/>
                </a:ln>
                <a:solidFill>
                  <a:srgbClr val="6B6B70"/>
                </a:solidFill>
                <a:effectLst/>
                <a:uLnTx/>
                <a:uFillTx/>
                <a:latin typeface="Lato"/>
                <a:ea typeface="+mn-ea"/>
                <a:cs typeface="+mn-cs"/>
              </a:rPr>
              <a:t> </a:t>
            </a:r>
            <a:r>
              <a:rPr kumimoji="0" sz="800" b="0" i="1" u="none" strike="noStrike" kern="1200" cap="none" spc="0" normalizeH="0" baseline="0" noProof="0" dirty="0">
                <a:ln>
                  <a:noFill/>
                </a:ln>
                <a:solidFill>
                  <a:srgbClr val="6B6B70"/>
                </a:solidFill>
                <a:effectLst/>
                <a:uLnTx/>
                <a:uFillTx/>
                <a:latin typeface="Lato"/>
                <a:ea typeface="+mn-ea"/>
                <a:cs typeface="+mn-cs"/>
              </a:rPr>
              <a:t>MMC students</a:t>
            </a:r>
          </a:p>
        </p:txBody>
      </p:sp>
      <p:sp>
        <p:nvSpPr>
          <p:cNvPr id="29" name="TextBox 28"/>
          <p:cNvSpPr txBox="1"/>
          <p:nvPr/>
        </p:nvSpPr>
        <p:spPr>
          <a:xfrm>
            <a:off x="576072" y="208483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30" name="Chart 29"/>
          <p:cNvGraphicFramePr>
            <a:graphicFrameLocks noGrp="1"/>
          </p:cNvGraphicFramePr>
          <p:nvPr/>
        </p:nvGraphicFramePr>
        <p:xfrm>
          <a:off x="2651760" y="2103120"/>
          <a:ext cx="868680" cy="246888"/>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Box 30"/>
          <p:cNvSpPr txBox="1"/>
          <p:nvPr/>
        </p:nvSpPr>
        <p:spPr>
          <a:xfrm>
            <a:off x="363931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2,063</a:t>
            </a:r>
          </a:p>
        </p:txBody>
      </p:sp>
      <p:sp>
        <p:nvSpPr>
          <p:cNvPr id="32" name="TextBox 31"/>
          <p:cNvSpPr txBox="1"/>
          <p:nvPr/>
        </p:nvSpPr>
        <p:spPr>
          <a:xfrm>
            <a:off x="437083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2,297</a:t>
            </a:r>
          </a:p>
        </p:txBody>
      </p:sp>
      <p:sp>
        <p:nvSpPr>
          <p:cNvPr id="33" name="TextBox 32"/>
          <p:cNvSpPr txBox="1"/>
          <p:nvPr/>
        </p:nvSpPr>
        <p:spPr>
          <a:xfrm>
            <a:off x="510235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2,442</a:t>
            </a:r>
          </a:p>
        </p:txBody>
      </p:sp>
      <p:sp>
        <p:nvSpPr>
          <p:cNvPr id="34" name="TextBox 33"/>
          <p:cNvSpPr txBox="1"/>
          <p:nvPr/>
        </p:nvSpPr>
        <p:spPr>
          <a:xfrm>
            <a:off x="5833872" y="208483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2,582</a:t>
            </a:r>
          </a:p>
        </p:txBody>
      </p:sp>
      <p:sp>
        <p:nvSpPr>
          <p:cNvPr id="35" name="Rectangle 34"/>
          <p:cNvSpPr/>
          <p:nvPr/>
        </p:nvSpPr>
        <p:spPr>
          <a:xfrm>
            <a:off x="6684264" y="211683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6" name="TextBox 35"/>
          <p:cNvSpPr txBox="1"/>
          <p:nvPr/>
        </p:nvSpPr>
        <p:spPr>
          <a:xfrm>
            <a:off x="6702552" y="208483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2,473</a:t>
            </a:r>
          </a:p>
        </p:txBody>
      </p:sp>
      <p:sp>
        <p:nvSpPr>
          <p:cNvPr id="37" name="Rounded Rectangle 36"/>
          <p:cNvSpPr/>
          <p:nvPr/>
        </p:nvSpPr>
        <p:spPr>
          <a:xfrm>
            <a:off x="7772400" y="2139696"/>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−109 (−4.2%)</a:t>
            </a:r>
          </a:p>
        </p:txBody>
      </p:sp>
      <p:sp>
        <p:nvSpPr>
          <p:cNvPr id="38" name="TextBox 37"/>
          <p:cNvSpPr txBox="1"/>
          <p:nvPr/>
        </p:nvSpPr>
        <p:spPr>
          <a:xfrm>
            <a:off x="9445752" y="2084832"/>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39" name="Rectangle 38"/>
          <p:cNvSpPr/>
          <p:nvPr/>
        </p:nvSpPr>
        <p:spPr>
          <a:xfrm>
            <a:off x="502920" y="236829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0" name="TextBox 39"/>
          <p:cNvSpPr txBox="1"/>
          <p:nvPr/>
        </p:nvSpPr>
        <p:spPr>
          <a:xfrm>
            <a:off x="576072" y="236829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41" name="Chart 40"/>
          <p:cNvGraphicFramePr>
            <a:graphicFrameLocks noGrp="1"/>
          </p:cNvGraphicFramePr>
          <p:nvPr/>
        </p:nvGraphicFramePr>
        <p:xfrm>
          <a:off x="2651760" y="2386584"/>
          <a:ext cx="868680" cy="246888"/>
        </p:xfrm>
        <a:graphic>
          <a:graphicData uri="http://schemas.openxmlformats.org/drawingml/2006/chart">
            <c:chart xmlns:c="http://schemas.openxmlformats.org/drawingml/2006/chart" xmlns:r="http://schemas.openxmlformats.org/officeDocument/2006/relationships" r:id="rId4"/>
          </a:graphicData>
        </a:graphic>
      </p:graphicFrame>
      <p:sp>
        <p:nvSpPr>
          <p:cNvPr id="42" name="TextBox 41"/>
          <p:cNvSpPr txBox="1"/>
          <p:nvPr/>
        </p:nvSpPr>
        <p:spPr>
          <a:xfrm>
            <a:off x="363931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1,908</a:t>
            </a:r>
          </a:p>
        </p:txBody>
      </p:sp>
      <p:sp>
        <p:nvSpPr>
          <p:cNvPr id="43" name="TextBox 42"/>
          <p:cNvSpPr txBox="1"/>
          <p:nvPr/>
        </p:nvSpPr>
        <p:spPr>
          <a:xfrm>
            <a:off x="437083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2,162</a:t>
            </a:r>
          </a:p>
        </p:txBody>
      </p:sp>
      <p:sp>
        <p:nvSpPr>
          <p:cNvPr id="44" name="TextBox 43"/>
          <p:cNvSpPr txBox="1"/>
          <p:nvPr/>
        </p:nvSpPr>
        <p:spPr>
          <a:xfrm>
            <a:off x="510235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2,321</a:t>
            </a:r>
          </a:p>
        </p:txBody>
      </p:sp>
      <p:sp>
        <p:nvSpPr>
          <p:cNvPr id="45" name="TextBox 44"/>
          <p:cNvSpPr txBox="1"/>
          <p:nvPr/>
        </p:nvSpPr>
        <p:spPr>
          <a:xfrm>
            <a:off x="5833872" y="236829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2,469</a:t>
            </a:r>
          </a:p>
        </p:txBody>
      </p:sp>
      <p:sp>
        <p:nvSpPr>
          <p:cNvPr id="46" name="Rectangle 45"/>
          <p:cNvSpPr/>
          <p:nvPr/>
        </p:nvSpPr>
        <p:spPr>
          <a:xfrm>
            <a:off x="6684264" y="240030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7" name="TextBox 46"/>
          <p:cNvSpPr txBox="1"/>
          <p:nvPr/>
        </p:nvSpPr>
        <p:spPr>
          <a:xfrm>
            <a:off x="6702552" y="236829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2,353</a:t>
            </a:r>
          </a:p>
        </p:txBody>
      </p:sp>
      <p:sp>
        <p:nvSpPr>
          <p:cNvPr id="48" name="Rounded Rectangle 47"/>
          <p:cNvSpPr/>
          <p:nvPr/>
        </p:nvSpPr>
        <p:spPr>
          <a:xfrm>
            <a:off x="7772400" y="242316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−116 (−4.7%)</a:t>
            </a:r>
          </a:p>
        </p:txBody>
      </p:sp>
      <p:sp>
        <p:nvSpPr>
          <p:cNvPr id="49" name="TextBox 48"/>
          <p:cNvSpPr txBox="1"/>
          <p:nvPr/>
        </p:nvSpPr>
        <p:spPr>
          <a:xfrm>
            <a:off x="9445752" y="236829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50" name="TextBox 49"/>
          <p:cNvSpPr txBox="1"/>
          <p:nvPr/>
        </p:nvSpPr>
        <p:spPr>
          <a:xfrm>
            <a:off x="576072" y="265176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51" name="Chart 50"/>
          <p:cNvGraphicFramePr>
            <a:graphicFrameLocks noGrp="1"/>
          </p:cNvGraphicFramePr>
          <p:nvPr/>
        </p:nvGraphicFramePr>
        <p:xfrm>
          <a:off x="2651760" y="2670048"/>
          <a:ext cx="868680" cy="246888"/>
        </p:xfrm>
        <a:graphic>
          <a:graphicData uri="http://schemas.openxmlformats.org/drawingml/2006/chart">
            <c:chart xmlns:c="http://schemas.openxmlformats.org/drawingml/2006/chart" xmlns:r="http://schemas.openxmlformats.org/officeDocument/2006/relationships" r:id="rId5"/>
          </a:graphicData>
        </a:graphic>
      </p:graphicFrame>
      <p:sp>
        <p:nvSpPr>
          <p:cNvPr id="52" name="TextBox 51"/>
          <p:cNvSpPr txBox="1"/>
          <p:nvPr/>
        </p:nvSpPr>
        <p:spPr>
          <a:xfrm>
            <a:off x="363931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156</a:t>
            </a:r>
          </a:p>
        </p:txBody>
      </p:sp>
      <p:sp>
        <p:nvSpPr>
          <p:cNvPr id="53" name="TextBox 52"/>
          <p:cNvSpPr txBox="1"/>
          <p:nvPr/>
        </p:nvSpPr>
        <p:spPr>
          <a:xfrm>
            <a:off x="437083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135</a:t>
            </a:r>
          </a:p>
        </p:txBody>
      </p:sp>
      <p:sp>
        <p:nvSpPr>
          <p:cNvPr id="54" name="TextBox 53"/>
          <p:cNvSpPr txBox="1"/>
          <p:nvPr/>
        </p:nvSpPr>
        <p:spPr>
          <a:xfrm>
            <a:off x="510235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121</a:t>
            </a:r>
          </a:p>
        </p:txBody>
      </p:sp>
      <p:sp>
        <p:nvSpPr>
          <p:cNvPr id="55" name="TextBox 54"/>
          <p:cNvSpPr txBox="1"/>
          <p:nvPr/>
        </p:nvSpPr>
        <p:spPr>
          <a:xfrm>
            <a:off x="5833872" y="265176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112</a:t>
            </a:r>
          </a:p>
        </p:txBody>
      </p:sp>
      <p:sp>
        <p:nvSpPr>
          <p:cNvPr id="56" name="Rectangle 55"/>
          <p:cNvSpPr/>
          <p:nvPr/>
        </p:nvSpPr>
        <p:spPr>
          <a:xfrm>
            <a:off x="6684264" y="268376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7" name="TextBox 56"/>
          <p:cNvSpPr txBox="1"/>
          <p:nvPr/>
        </p:nvSpPr>
        <p:spPr>
          <a:xfrm>
            <a:off x="6702552" y="265176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120</a:t>
            </a:r>
          </a:p>
        </p:txBody>
      </p:sp>
      <p:sp>
        <p:nvSpPr>
          <p:cNvPr id="58" name="Rounded Rectangle 57"/>
          <p:cNvSpPr/>
          <p:nvPr/>
        </p:nvSpPr>
        <p:spPr>
          <a:xfrm>
            <a:off x="7772400" y="2706624"/>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+8 (+7.1%)</a:t>
            </a:r>
          </a:p>
        </p:txBody>
      </p:sp>
      <p:sp>
        <p:nvSpPr>
          <p:cNvPr id="59" name="TextBox 58"/>
          <p:cNvSpPr txBox="1"/>
          <p:nvPr/>
        </p:nvSpPr>
        <p:spPr>
          <a:xfrm>
            <a:off x="9445752" y="265176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60" name="Rectangle 59"/>
          <p:cNvSpPr/>
          <p:nvPr/>
        </p:nvSpPr>
        <p:spPr>
          <a:xfrm>
            <a:off x="502920" y="293522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576072" y="293522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62" name="Chart 61"/>
          <p:cNvGraphicFramePr>
            <a:graphicFrameLocks noGrp="1"/>
          </p:cNvGraphicFramePr>
          <p:nvPr/>
        </p:nvGraphicFramePr>
        <p:xfrm>
          <a:off x="2651760" y="2953512"/>
          <a:ext cx="868680" cy="246888"/>
        </p:xfrm>
        <a:graphic>
          <a:graphicData uri="http://schemas.openxmlformats.org/drawingml/2006/chart">
            <c:chart xmlns:c="http://schemas.openxmlformats.org/drawingml/2006/chart" xmlns:r="http://schemas.openxmlformats.org/officeDocument/2006/relationships" r:id="rId6"/>
          </a:graphicData>
        </a:graphic>
      </p:graphicFrame>
      <p:sp>
        <p:nvSpPr>
          <p:cNvPr id="63" name="TextBox 62"/>
          <p:cNvSpPr txBox="1"/>
          <p:nvPr/>
        </p:nvSpPr>
        <p:spPr>
          <a:xfrm>
            <a:off x="363931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7.5%</a:t>
            </a:r>
          </a:p>
        </p:txBody>
      </p:sp>
      <p:sp>
        <p:nvSpPr>
          <p:cNvPr id="64" name="TextBox 63"/>
          <p:cNvSpPr txBox="1"/>
          <p:nvPr/>
        </p:nvSpPr>
        <p:spPr>
          <a:xfrm>
            <a:off x="437083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5.9%</a:t>
            </a:r>
          </a:p>
        </p:txBody>
      </p:sp>
      <p:sp>
        <p:nvSpPr>
          <p:cNvPr id="65" name="TextBox 64"/>
          <p:cNvSpPr txBox="1"/>
          <p:nvPr/>
        </p:nvSpPr>
        <p:spPr>
          <a:xfrm>
            <a:off x="510235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4.9%</a:t>
            </a:r>
          </a:p>
        </p:txBody>
      </p:sp>
      <p:sp>
        <p:nvSpPr>
          <p:cNvPr id="66" name="TextBox 65"/>
          <p:cNvSpPr txBox="1"/>
          <p:nvPr/>
        </p:nvSpPr>
        <p:spPr>
          <a:xfrm>
            <a:off x="5833872" y="293522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4.4%</a:t>
            </a:r>
          </a:p>
        </p:txBody>
      </p:sp>
      <p:sp>
        <p:nvSpPr>
          <p:cNvPr id="67" name="Rectangle 66"/>
          <p:cNvSpPr/>
          <p:nvPr/>
        </p:nvSpPr>
        <p:spPr>
          <a:xfrm>
            <a:off x="6684264" y="296722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6702552" y="293522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4.9%</a:t>
            </a:r>
          </a:p>
        </p:txBody>
      </p:sp>
      <p:sp>
        <p:nvSpPr>
          <p:cNvPr id="69" name="Rounded Rectangle 68"/>
          <p:cNvSpPr/>
          <p:nvPr/>
        </p:nvSpPr>
        <p:spPr>
          <a:xfrm>
            <a:off x="7772400" y="2990088"/>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+0.5 pt</a:t>
            </a:r>
          </a:p>
        </p:txBody>
      </p:sp>
      <p:sp>
        <p:nvSpPr>
          <p:cNvPr id="70" name="TextBox 69"/>
          <p:cNvSpPr txBox="1"/>
          <p:nvPr/>
        </p:nvSpPr>
        <p:spPr>
          <a:xfrm>
            <a:off x="9445752" y="293522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0" name="TextBox 79"/>
          <p:cNvSpPr txBox="1"/>
          <p:nvPr/>
        </p:nvSpPr>
        <p:spPr>
          <a:xfrm>
            <a:off x="9445752" y="3228213"/>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1" name="Rectangle 80"/>
          <p:cNvSpPr/>
          <p:nvPr/>
        </p:nvSpPr>
        <p:spPr>
          <a:xfrm>
            <a:off x="502920" y="321640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2" name="TextBox 81"/>
          <p:cNvSpPr txBox="1"/>
          <p:nvPr/>
        </p:nvSpPr>
        <p:spPr>
          <a:xfrm>
            <a:off x="576072" y="321640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83" name="Chart 82"/>
          <p:cNvGraphicFramePr>
            <a:graphicFrameLocks noGrp="1"/>
          </p:cNvGraphicFramePr>
          <p:nvPr/>
        </p:nvGraphicFramePr>
        <p:xfrm>
          <a:off x="2651760" y="3234690"/>
          <a:ext cx="868680" cy="246888"/>
        </p:xfrm>
        <a:graphic>
          <a:graphicData uri="http://schemas.openxmlformats.org/drawingml/2006/chart">
            <c:chart xmlns:c="http://schemas.openxmlformats.org/drawingml/2006/chart" xmlns:r="http://schemas.openxmlformats.org/officeDocument/2006/relationships" r:id="rId7"/>
          </a:graphicData>
        </a:graphic>
      </p:graphicFrame>
      <p:sp>
        <p:nvSpPr>
          <p:cNvPr id="84" name="TextBox 83"/>
          <p:cNvSpPr txBox="1"/>
          <p:nvPr/>
        </p:nvSpPr>
        <p:spPr>
          <a:xfrm>
            <a:off x="363931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282</a:t>
            </a:r>
          </a:p>
        </p:txBody>
      </p:sp>
      <p:sp>
        <p:nvSpPr>
          <p:cNvPr id="85" name="TextBox 84"/>
          <p:cNvSpPr txBox="1"/>
          <p:nvPr/>
        </p:nvSpPr>
        <p:spPr>
          <a:xfrm>
            <a:off x="437083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296</a:t>
            </a:r>
          </a:p>
        </p:txBody>
      </p:sp>
      <p:sp>
        <p:nvSpPr>
          <p:cNvPr id="86" name="TextBox 85"/>
          <p:cNvSpPr txBox="1"/>
          <p:nvPr/>
        </p:nvSpPr>
        <p:spPr>
          <a:xfrm>
            <a:off x="510235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267</a:t>
            </a:r>
          </a:p>
        </p:txBody>
      </p:sp>
      <p:sp>
        <p:nvSpPr>
          <p:cNvPr id="87" name="TextBox 86"/>
          <p:cNvSpPr txBox="1"/>
          <p:nvPr/>
        </p:nvSpPr>
        <p:spPr>
          <a:xfrm>
            <a:off x="5833872" y="321640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250</a:t>
            </a:r>
          </a:p>
        </p:txBody>
      </p:sp>
      <p:sp>
        <p:nvSpPr>
          <p:cNvPr id="88" name="Rectangle 87"/>
          <p:cNvSpPr/>
          <p:nvPr/>
        </p:nvSpPr>
        <p:spPr>
          <a:xfrm>
            <a:off x="6684264" y="324840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9" name="TextBox 88"/>
          <p:cNvSpPr txBox="1"/>
          <p:nvPr/>
        </p:nvSpPr>
        <p:spPr>
          <a:xfrm>
            <a:off x="6702552" y="321640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291</a:t>
            </a:r>
          </a:p>
        </p:txBody>
      </p:sp>
      <p:sp>
        <p:nvSpPr>
          <p:cNvPr id="90" name="Rounded Rectangle 89"/>
          <p:cNvSpPr/>
          <p:nvPr/>
        </p:nvSpPr>
        <p:spPr>
          <a:xfrm>
            <a:off x="7772400" y="327126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+41 (+16.4%)</a:t>
            </a:r>
          </a:p>
        </p:txBody>
      </p:sp>
      <p:sp>
        <p:nvSpPr>
          <p:cNvPr id="92" name="TextBox 91"/>
          <p:cNvSpPr txBox="1"/>
          <p:nvPr/>
        </p:nvSpPr>
        <p:spPr>
          <a:xfrm>
            <a:off x="576072" y="349986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dirty="0">
                <a:ln>
                  <a:noFill/>
                </a:ln>
                <a:solidFill>
                  <a:srgbClr val="1A1A1A"/>
                </a:solidFill>
                <a:effectLst/>
                <a:uLnTx/>
                <a:uFillTx/>
                <a:latin typeface="Lato"/>
                <a:ea typeface="+mn-ea"/>
                <a:cs typeface="+mn-cs"/>
              </a:rPr>
              <a:t>Gifts &amp; Commitments</a:t>
            </a:r>
          </a:p>
        </p:txBody>
      </p:sp>
      <p:graphicFrame>
        <p:nvGraphicFramePr>
          <p:cNvPr id="93" name="Chart 92"/>
          <p:cNvGraphicFramePr>
            <a:graphicFrameLocks noGrp="1"/>
          </p:cNvGraphicFramePr>
          <p:nvPr/>
        </p:nvGraphicFramePr>
        <p:xfrm>
          <a:off x="2651760" y="3518154"/>
          <a:ext cx="868680" cy="246888"/>
        </p:xfrm>
        <a:graphic>
          <a:graphicData uri="http://schemas.openxmlformats.org/drawingml/2006/chart">
            <c:chart xmlns:c="http://schemas.openxmlformats.org/drawingml/2006/chart" xmlns:r="http://schemas.openxmlformats.org/officeDocument/2006/relationships" r:id="rId8"/>
          </a:graphicData>
        </a:graphic>
      </p:graphicFrame>
      <p:sp>
        <p:nvSpPr>
          <p:cNvPr id="94" name="TextBox 93"/>
          <p:cNvSpPr txBox="1"/>
          <p:nvPr/>
        </p:nvSpPr>
        <p:spPr>
          <a:xfrm>
            <a:off x="363931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5" name="TextBox 94"/>
          <p:cNvSpPr txBox="1"/>
          <p:nvPr/>
        </p:nvSpPr>
        <p:spPr>
          <a:xfrm>
            <a:off x="437083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370</a:t>
            </a:r>
          </a:p>
        </p:txBody>
      </p:sp>
      <p:sp>
        <p:nvSpPr>
          <p:cNvPr id="96" name="TextBox 95"/>
          <p:cNvSpPr txBox="1"/>
          <p:nvPr/>
        </p:nvSpPr>
        <p:spPr>
          <a:xfrm>
            <a:off x="510235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130</a:t>
            </a:r>
          </a:p>
        </p:txBody>
      </p:sp>
      <p:sp>
        <p:nvSpPr>
          <p:cNvPr id="97" name="TextBox 96"/>
          <p:cNvSpPr txBox="1"/>
          <p:nvPr/>
        </p:nvSpPr>
        <p:spPr>
          <a:xfrm>
            <a:off x="5833872" y="349986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8" name="Rectangle 97"/>
          <p:cNvSpPr/>
          <p:nvPr/>
        </p:nvSpPr>
        <p:spPr>
          <a:xfrm>
            <a:off x="6684264" y="353187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99" name="TextBox 98"/>
          <p:cNvSpPr txBox="1"/>
          <p:nvPr/>
        </p:nvSpPr>
        <p:spPr>
          <a:xfrm>
            <a:off x="6702552" y="349986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125</a:t>
            </a:r>
          </a:p>
        </p:txBody>
      </p:sp>
      <p:sp>
        <p:nvSpPr>
          <p:cNvPr id="100" name="Rounded Rectangle 99"/>
          <p:cNvSpPr/>
          <p:nvPr/>
        </p:nvSpPr>
        <p:spPr>
          <a:xfrm>
            <a:off x="7772400" y="355473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+5 (+4.2%)</a:t>
            </a:r>
          </a:p>
        </p:txBody>
      </p:sp>
      <p:sp>
        <p:nvSpPr>
          <p:cNvPr id="101" name="TextBox 100"/>
          <p:cNvSpPr txBox="1"/>
          <p:nvPr/>
        </p:nvSpPr>
        <p:spPr>
          <a:xfrm>
            <a:off x="9445752" y="349986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02" name="Rectangle 101"/>
          <p:cNvSpPr/>
          <p:nvPr/>
        </p:nvSpPr>
        <p:spPr>
          <a:xfrm>
            <a:off x="502920" y="3874770"/>
            <a:ext cx="11183112" cy="228600"/>
          </a:xfrm>
          <a:prstGeom prst="rect">
            <a:avLst/>
          </a:prstGeom>
          <a:solidFill>
            <a:srgbClr val="3A3A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3" name="TextBox 102"/>
          <p:cNvSpPr txBox="1"/>
          <p:nvPr/>
        </p:nvSpPr>
        <p:spPr>
          <a:xfrm>
            <a:off x="612648" y="3874770"/>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BALANCE SHEET &amp; LIQUIDITY  ·  AT FISCAL YEAR END</a:t>
            </a:r>
          </a:p>
        </p:txBody>
      </p:sp>
      <p:sp>
        <p:nvSpPr>
          <p:cNvPr id="104" name="TextBox 103"/>
          <p:cNvSpPr txBox="1"/>
          <p:nvPr/>
        </p:nvSpPr>
        <p:spPr>
          <a:xfrm>
            <a:off x="576072" y="4103370"/>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105" name="TextBox 104"/>
          <p:cNvSpPr txBox="1"/>
          <p:nvPr/>
        </p:nvSpPr>
        <p:spPr>
          <a:xfrm>
            <a:off x="2679192" y="4103370"/>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6" name="TextBox 105"/>
          <p:cNvSpPr txBox="1"/>
          <p:nvPr/>
        </p:nvSpPr>
        <p:spPr>
          <a:xfrm>
            <a:off x="363931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07" name="TextBox 106"/>
          <p:cNvSpPr txBox="1"/>
          <p:nvPr/>
        </p:nvSpPr>
        <p:spPr>
          <a:xfrm>
            <a:off x="437083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08" name="TextBox 107"/>
          <p:cNvSpPr txBox="1"/>
          <p:nvPr/>
        </p:nvSpPr>
        <p:spPr>
          <a:xfrm>
            <a:off x="510235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09" name="TextBox 108"/>
          <p:cNvSpPr txBox="1"/>
          <p:nvPr/>
        </p:nvSpPr>
        <p:spPr>
          <a:xfrm>
            <a:off x="5833872" y="4103370"/>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10" name="TextBox 109"/>
          <p:cNvSpPr txBox="1"/>
          <p:nvPr/>
        </p:nvSpPr>
        <p:spPr>
          <a:xfrm>
            <a:off x="6702552" y="4103370"/>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11" name="TextBox 110"/>
          <p:cNvSpPr txBox="1"/>
          <p:nvPr/>
        </p:nvSpPr>
        <p:spPr>
          <a:xfrm>
            <a:off x="7754112" y="4103370"/>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FY25</a:t>
            </a:r>
          </a:p>
        </p:txBody>
      </p:sp>
      <p:sp>
        <p:nvSpPr>
          <p:cNvPr id="112" name="TextBox 111"/>
          <p:cNvSpPr txBox="1"/>
          <p:nvPr/>
        </p:nvSpPr>
        <p:spPr>
          <a:xfrm>
            <a:off x="9445752" y="4103370"/>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13" name="Connector 112"/>
          <p:cNvCxnSpPr/>
          <p:nvPr/>
        </p:nvCxnSpPr>
        <p:spPr>
          <a:xfrm>
            <a:off x="502920" y="4304538"/>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14" name="Rectangle 113"/>
          <p:cNvSpPr/>
          <p:nvPr/>
        </p:nvSpPr>
        <p:spPr>
          <a:xfrm>
            <a:off x="502920" y="432282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15" name="TextBox 114"/>
          <p:cNvSpPr txBox="1"/>
          <p:nvPr/>
        </p:nvSpPr>
        <p:spPr>
          <a:xfrm>
            <a:off x="576072" y="432282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Assets</a:t>
            </a:r>
          </a:p>
        </p:txBody>
      </p:sp>
      <p:graphicFrame>
        <p:nvGraphicFramePr>
          <p:cNvPr id="116" name="Chart 115"/>
          <p:cNvGraphicFramePr>
            <a:graphicFrameLocks noGrp="1"/>
          </p:cNvGraphicFramePr>
          <p:nvPr/>
        </p:nvGraphicFramePr>
        <p:xfrm>
          <a:off x="2651760" y="4341114"/>
          <a:ext cx="868680" cy="246888"/>
        </p:xfrm>
        <a:graphic>
          <a:graphicData uri="http://schemas.openxmlformats.org/drawingml/2006/chart">
            <c:chart xmlns:c="http://schemas.openxmlformats.org/drawingml/2006/chart" xmlns:r="http://schemas.openxmlformats.org/officeDocument/2006/relationships" r:id="rId9"/>
          </a:graphicData>
        </a:graphic>
      </p:graphicFrame>
      <p:sp>
        <p:nvSpPr>
          <p:cNvPr id="117" name="TextBox 116"/>
          <p:cNvSpPr txBox="1"/>
          <p:nvPr/>
        </p:nvSpPr>
        <p:spPr>
          <a:xfrm>
            <a:off x="363931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3,741</a:t>
            </a:r>
          </a:p>
        </p:txBody>
      </p:sp>
      <p:sp>
        <p:nvSpPr>
          <p:cNvPr id="118" name="TextBox 117"/>
          <p:cNvSpPr txBox="1"/>
          <p:nvPr/>
        </p:nvSpPr>
        <p:spPr>
          <a:xfrm>
            <a:off x="437083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4,110</a:t>
            </a:r>
          </a:p>
        </p:txBody>
      </p:sp>
      <p:sp>
        <p:nvSpPr>
          <p:cNvPr id="119" name="TextBox 118"/>
          <p:cNvSpPr txBox="1"/>
          <p:nvPr/>
        </p:nvSpPr>
        <p:spPr>
          <a:xfrm>
            <a:off x="510235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4,363</a:t>
            </a:r>
          </a:p>
        </p:txBody>
      </p:sp>
      <p:sp>
        <p:nvSpPr>
          <p:cNvPr id="120" name="TextBox 119"/>
          <p:cNvSpPr txBox="1"/>
          <p:nvPr/>
        </p:nvSpPr>
        <p:spPr>
          <a:xfrm>
            <a:off x="5833872" y="432282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21" name="Rectangle 120"/>
          <p:cNvSpPr/>
          <p:nvPr/>
        </p:nvSpPr>
        <p:spPr>
          <a:xfrm>
            <a:off x="6684264" y="435483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22" name="TextBox 121"/>
          <p:cNvSpPr txBox="1"/>
          <p:nvPr/>
        </p:nvSpPr>
        <p:spPr>
          <a:xfrm>
            <a:off x="6702552" y="432282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5,050</a:t>
            </a:r>
          </a:p>
        </p:txBody>
      </p:sp>
      <p:sp>
        <p:nvSpPr>
          <p:cNvPr id="123" name="Rounded Rectangle 122"/>
          <p:cNvSpPr/>
          <p:nvPr/>
        </p:nvSpPr>
        <p:spPr>
          <a:xfrm>
            <a:off x="7772400" y="437769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+687 (+15.7%)</a:t>
            </a:r>
          </a:p>
        </p:txBody>
      </p:sp>
      <p:sp>
        <p:nvSpPr>
          <p:cNvPr id="124" name="TextBox 123"/>
          <p:cNvSpPr txBox="1"/>
          <p:nvPr/>
        </p:nvSpPr>
        <p:spPr>
          <a:xfrm>
            <a:off x="9445752" y="432282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includes $203M MMC</a:t>
            </a:r>
          </a:p>
        </p:txBody>
      </p:sp>
      <p:sp>
        <p:nvSpPr>
          <p:cNvPr id="125" name="TextBox 124"/>
          <p:cNvSpPr txBox="1"/>
          <p:nvPr/>
        </p:nvSpPr>
        <p:spPr>
          <a:xfrm>
            <a:off x="576072" y="460629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Debt Service Coverage</a:t>
            </a:r>
          </a:p>
        </p:txBody>
      </p:sp>
      <p:graphicFrame>
        <p:nvGraphicFramePr>
          <p:cNvPr id="126" name="Chart 125"/>
          <p:cNvGraphicFramePr>
            <a:graphicFrameLocks noGrp="1"/>
          </p:cNvGraphicFramePr>
          <p:nvPr/>
        </p:nvGraphicFramePr>
        <p:xfrm>
          <a:off x="2651760" y="4624578"/>
          <a:ext cx="868680" cy="246888"/>
        </p:xfrm>
        <a:graphic>
          <a:graphicData uri="http://schemas.openxmlformats.org/drawingml/2006/chart">
            <c:chart xmlns:c="http://schemas.openxmlformats.org/drawingml/2006/chart" xmlns:r="http://schemas.openxmlformats.org/officeDocument/2006/relationships" r:id="rId10"/>
          </a:graphicData>
        </a:graphic>
      </p:graphicFrame>
      <p:sp>
        <p:nvSpPr>
          <p:cNvPr id="127" name="TextBox 126"/>
          <p:cNvSpPr txBox="1"/>
          <p:nvPr/>
        </p:nvSpPr>
        <p:spPr>
          <a:xfrm>
            <a:off x="363931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3.4x</a:t>
            </a:r>
          </a:p>
        </p:txBody>
      </p:sp>
      <p:sp>
        <p:nvSpPr>
          <p:cNvPr id="128" name="TextBox 127"/>
          <p:cNvSpPr txBox="1"/>
          <p:nvPr/>
        </p:nvSpPr>
        <p:spPr>
          <a:xfrm>
            <a:off x="437083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3.3x</a:t>
            </a:r>
          </a:p>
        </p:txBody>
      </p:sp>
      <p:sp>
        <p:nvSpPr>
          <p:cNvPr id="129" name="TextBox 128"/>
          <p:cNvSpPr txBox="1"/>
          <p:nvPr/>
        </p:nvSpPr>
        <p:spPr>
          <a:xfrm>
            <a:off x="510235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3.5x</a:t>
            </a:r>
          </a:p>
        </p:txBody>
      </p:sp>
      <p:sp>
        <p:nvSpPr>
          <p:cNvPr id="130" name="TextBox 129"/>
          <p:cNvSpPr txBox="1"/>
          <p:nvPr/>
        </p:nvSpPr>
        <p:spPr>
          <a:xfrm>
            <a:off x="5833872" y="460629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31" name="Rectangle 130"/>
          <p:cNvSpPr/>
          <p:nvPr/>
        </p:nvSpPr>
        <p:spPr>
          <a:xfrm>
            <a:off x="6684264" y="463829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2" name="TextBox 131"/>
          <p:cNvSpPr txBox="1"/>
          <p:nvPr/>
        </p:nvSpPr>
        <p:spPr>
          <a:xfrm>
            <a:off x="6702552" y="460629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3.4x</a:t>
            </a:r>
          </a:p>
        </p:txBody>
      </p:sp>
      <p:sp>
        <p:nvSpPr>
          <p:cNvPr id="133" name="Rounded Rectangle 132"/>
          <p:cNvSpPr/>
          <p:nvPr/>
        </p:nvSpPr>
        <p:spPr>
          <a:xfrm>
            <a:off x="7772400" y="4661154"/>
            <a:ext cx="1508760" cy="173736"/>
          </a:xfrm>
          <a:prstGeom prst="roundRect">
            <a:avLst>
              <a:gd name="adj" fmla="val 50000"/>
            </a:avLst>
          </a:prstGeom>
          <a:solidFill>
            <a:srgbClr val="A4804A"/>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595959"/>
                </a:solidFill>
                <a:effectLst/>
                <a:uLnTx/>
                <a:uFillTx/>
                <a:latin typeface="Lato"/>
                <a:ea typeface="+mn-ea"/>
                <a:cs typeface="+mn-cs"/>
              </a:rPr>
              <a:t>▼ −0.1x (−2.9%)</a:t>
            </a:r>
          </a:p>
        </p:txBody>
      </p:sp>
      <p:sp>
        <p:nvSpPr>
          <p:cNvPr id="134" name="TextBox 133"/>
          <p:cNvSpPr txBox="1"/>
          <p:nvPr/>
        </p:nvSpPr>
        <p:spPr>
          <a:xfrm>
            <a:off x="9445752" y="460629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35" name="Rectangle 134"/>
          <p:cNvSpPr/>
          <p:nvPr/>
        </p:nvSpPr>
        <p:spPr>
          <a:xfrm>
            <a:off x="502920" y="488975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6" name="TextBox 135"/>
          <p:cNvSpPr txBox="1"/>
          <p:nvPr/>
        </p:nvSpPr>
        <p:spPr>
          <a:xfrm>
            <a:off x="576072" y="488975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Long-Term Debt</a:t>
            </a:r>
          </a:p>
        </p:txBody>
      </p:sp>
      <p:graphicFrame>
        <p:nvGraphicFramePr>
          <p:cNvPr id="137" name="Chart 136"/>
          <p:cNvGraphicFramePr>
            <a:graphicFrameLocks noGrp="1"/>
          </p:cNvGraphicFramePr>
          <p:nvPr/>
        </p:nvGraphicFramePr>
        <p:xfrm>
          <a:off x="2651760" y="4908042"/>
          <a:ext cx="868680" cy="246888"/>
        </p:xfrm>
        <a:graphic>
          <a:graphicData uri="http://schemas.openxmlformats.org/drawingml/2006/chart">
            <c:chart xmlns:c="http://schemas.openxmlformats.org/drawingml/2006/chart" xmlns:r="http://schemas.openxmlformats.org/officeDocument/2006/relationships" r:id="rId11"/>
          </a:graphicData>
        </a:graphic>
      </p:graphicFrame>
      <p:sp>
        <p:nvSpPr>
          <p:cNvPr id="138" name="TextBox 137"/>
          <p:cNvSpPr txBox="1"/>
          <p:nvPr/>
        </p:nvSpPr>
        <p:spPr>
          <a:xfrm>
            <a:off x="363931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1,292</a:t>
            </a:r>
          </a:p>
        </p:txBody>
      </p:sp>
      <p:sp>
        <p:nvSpPr>
          <p:cNvPr id="139" name="TextBox 138"/>
          <p:cNvSpPr txBox="1"/>
          <p:nvPr/>
        </p:nvSpPr>
        <p:spPr>
          <a:xfrm>
            <a:off x="437083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1,257</a:t>
            </a:r>
          </a:p>
        </p:txBody>
      </p:sp>
      <p:sp>
        <p:nvSpPr>
          <p:cNvPr id="140" name="TextBox 139"/>
          <p:cNvSpPr txBox="1"/>
          <p:nvPr/>
        </p:nvSpPr>
        <p:spPr>
          <a:xfrm>
            <a:off x="510235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1,432</a:t>
            </a:r>
          </a:p>
        </p:txBody>
      </p:sp>
      <p:sp>
        <p:nvSpPr>
          <p:cNvPr id="141" name="TextBox 140"/>
          <p:cNvSpPr txBox="1"/>
          <p:nvPr/>
        </p:nvSpPr>
        <p:spPr>
          <a:xfrm>
            <a:off x="5833872" y="488975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42" name="Rectangle 141"/>
          <p:cNvSpPr/>
          <p:nvPr/>
        </p:nvSpPr>
        <p:spPr>
          <a:xfrm>
            <a:off x="6684264" y="492175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43" name="TextBox 142"/>
          <p:cNvSpPr txBox="1"/>
          <p:nvPr/>
        </p:nvSpPr>
        <p:spPr>
          <a:xfrm>
            <a:off x="6702552" y="488975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1,954</a:t>
            </a:r>
          </a:p>
        </p:txBody>
      </p:sp>
      <p:sp>
        <p:nvSpPr>
          <p:cNvPr id="144" name="Rounded Rectangle 143"/>
          <p:cNvSpPr/>
          <p:nvPr/>
        </p:nvSpPr>
        <p:spPr>
          <a:xfrm>
            <a:off x="7772400" y="4944618"/>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+522 (+36.5%)</a:t>
            </a:r>
          </a:p>
        </p:txBody>
      </p:sp>
      <p:sp>
        <p:nvSpPr>
          <p:cNvPr id="145" name="TextBox 144"/>
          <p:cNvSpPr txBox="1"/>
          <p:nvPr/>
        </p:nvSpPr>
        <p:spPr>
          <a:xfrm>
            <a:off x="9445752" y="488975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 $39M MMC + $485M Series 2026 issuance</a:t>
            </a:r>
          </a:p>
        </p:txBody>
      </p:sp>
      <p:sp>
        <p:nvSpPr>
          <p:cNvPr id="146" name="TextBox 145"/>
          <p:cNvSpPr txBox="1"/>
          <p:nvPr/>
        </p:nvSpPr>
        <p:spPr>
          <a:xfrm>
            <a:off x="576072" y="517321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Cash &amp; Short-Term Inv.</a:t>
            </a:r>
          </a:p>
        </p:txBody>
      </p:sp>
      <p:graphicFrame>
        <p:nvGraphicFramePr>
          <p:cNvPr id="147" name="Chart 146"/>
          <p:cNvGraphicFramePr>
            <a:graphicFrameLocks noGrp="1"/>
          </p:cNvGraphicFramePr>
          <p:nvPr/>
        </p:nvGraphicFramePr>
        <p:xfrm>
          <a:off x="2651760" y="5191506"/>
          <a:ext cx="868680" cy="246888"/>
        </p:xfrm>
        <a:graphic>
          <a:graphicData uri="http://schemas.openxmlformats.org/drawingml/2006/chart">
            <c:chart xmlns:c="http://schemas.openxmlformats.org/drawingml/2006/chart" xmlns:r="http://schemas.openxmlformats.org/officeDocument/2006/relationships" r:id="rId12"/>
          </a:graphicData>
        </a:graphic>
      </p:graphicFrame>
      <p:sp>
        <p:nvSpPr>
          <p:cNvPr id="148" name="TextBox 147"/>
          <p:cNvSpPr txBox="1"/>
          <p:nvPr/>
        </p:nvSpPr>
        <p:spPr>
          <a:xfrm>
            <a:off x="363931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563</a:t>
            </a:r>
          </a:p>
        </p:txBody>
      </p:sp>
      <p:sp>
        <p:nvSpPr>
          <p:cNvPr id="149" name="TextBox 148"/>
          <p:cNvSpPr txBox="1"/>
          <p:nvPr/>
        </p:nvSpPr>
        <p:spPr>
          <a:xfrm>
            <a:off x="437083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546</a:t>
            </a:r>
          </a:p>
        </p:txBody>
      </p:sp>
      <p:sp>
        <p:nvSpPr>
          <p:cNvPr id="150" name="TextBox 149"/>
          <p:cNvSpPr txBox="1"/>
          <p:nvPr/>
        </p:nvSpPr>
        <p:spPr>
          <a:xfrm>
            <a:off x="510235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412</a:t>
            </a:r>
          </a:p>
        </p:txBody>
      </p:sp>
      <p:sp>
        <p:nvSpPr>
          <p:cNvPr id="151" name="TextBox 150"/>
          <p:cNvSpPr txBox="1"/>
          <p:nvPr/>
        </p:nvSpPr>
        <p:spPr>
          <a:xfrm>
            <a:off x="5833872" y="517321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52" name="Rectangle 151"/>
          <p:cNvSpPr/>
          <p:nvPr/>
        </p:nvSpPr>
        <p:spPr>
          <a:xfrm>
            <a:off x="6684264" y="520522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3" name="TextBox 152"/>
          <p:cNvSpPr txBox="1"/>
          <p:nvPr/>
        </p:nvSpPr>
        <p:spPr>
          <a:xfrm>
            <a:off x="6702552" y="517321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572</a:t>
            </a:r>
          </a:p>
        </p:txBody>
      </p:sp>
      <p:sp>
        <p:nvSpPr>
          <p:cNvPr id="154" name="Rounded Rectangle 153"/>
          <p:cNvSpPr/>
          <p:nvPr/>
        </p:nvSpPr>
        <p:spPr>
          <a:xfrm>
            <a:off x="7772400" y="5228082"/>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+160 (+38.8%)</a:t>
            </a:r>
          </a:p>
        </p:txBody>
      </p:sp>
      <p:sp>
        <p:nvSpPr>
          <p:cNvPr id="155" name="TextBox 154"/>
          <p:cNvSpPr txBox="1"/>
          <p:nvPr/>
        </p:nvSpPr>
        <p:spPr>
          <a:xfrm>
            <a:off x="9445752" y="5173218"/>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56" name="Rectangle 155"/>
          <p:cNvSpPr/>
          <p:nvPr/>
        </p:nvSpPr>
        <p:spPr>
          <a:xfrm>
            <a:off x="502920" y="545668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7" name="TextBox 156"/>
          <p:cNvSpPr txBox="1"/>
          <p:nvPr/>
        </p:nvSpPr>
        <p:spPr>
          <a:xfrm>
            <a:off x="576072" y="545668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Endowment</a:t>
            </a:r>
          </a:p>
        </p:txBody>
      </p:sp>
      <p:graphicFrame>
        <p:nvGraphicFramePr>
          <p:cNvPr id="158" name="Chart 157"/>
          <p:cNvGraphicFramePr>
            <a:graphicFrameLocks noGrp="1"/>
          </p:cNvGraphicFramePr>
          <p:nvPr/>
        </p:nvGraphicFramePr>
        <p:xfrm>
          <a:off x="2651760" y="5474970"/>
          <a:ext cx="868680" cy="246888"/>
        </p:xfrm>
        <a:graphic>
          <a:graphicData uri="http://schemas.openxmlformats.org/drawingml/2006/chart">
            <c:chart xmlns:c="http://schemas.openxmlformats.org/drawingml/2006/chart" xmlns:r="http://schemas.openxmlformats.org/officeDocument/2006/relationships" r:id="rId13"/>
          </a:graphicData>
        </a:graphic>
      </p:graphicFrame>
      <p:sp>
        <p:nvSpPr>
          <p:cNvPr id="159" name="TextBox 158"/>
          <p:cNvSpPr txBox="1"/>
          <p:nvPr/>
        </p:nvSpPr>
        <p:spPr>
          <a:xfrm>
            <a:off x="363931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1,714</a:t>
            </a:r>
          </a:p>
        </p:txBody>
      </p:sp>
      <p:sp>
        <p:nvSpPr>
          <p:cNvPr id="160" name="TextBox 159"/>
          <p:cNvSpPr txBox="1"/>
          <p:nvPr/>
        </p:nvSpPr>
        <p:spPr>
          <a:xfrm>
            <a:off x="437083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1,906</a:t>
            </a:r>
          </a:p>
        </p:txBody>
      </p:sp>
      <p:sp>
        <p:nvSpPr>
          <p:cNvPr id="161" name="TextBox 160"/>
          <p:cNvSpPr txBox="1"/>
          <p:nvPr/>
        </p:nvSpPr>
        <p:spPr>
          <a:xfrm>
            <a:off x="510235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2,110</a:t>
            </a:r>
          </a:p>
        </p:txBody>
      </p:sp>
      <p:sp>
        <p:nvSpPr>
          <p:cNvPr id="162" name="TextBox 161"/>
          <p:cNvSpPr txBox="1"/>
          <p:nvPr/>
        </p:nvSpPr>
        <p:spPr>
          <a:xfrm>
            <a:off x="5833872" y="545668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63" name="Rectangle 162"/>
          <p:cNvSpPr/>
          <p:nvPr/>
        </p:nvSpPr>
        <p:spPr>
          <a:xfrm>
            <a:off x="6684264" y="548868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64" name="TextBox 163"/>
          <p:cNvSpPr txBox="1"/>
          <p:nvPr/>
        </p:nvSpPr>
        <p:spPr>
          <a:xfrm>
            <a:off x="6702552" y="5517622"/>
            <a:ext cx="905256" cy="161583"/>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Lato"/>
                <a:ea typeface="+mn-ea"/>
                <a:cs typeface="+mn-cs"/>
              </a:rPr>
              <a:t>2,3</a:t>
            </a:r>
            <a:r>
              <a:rPr kumimoji="0" lang="en-US" sz="1050" b="1" i="0" u="none" strike="noStrike" kern="1200" cap="none" spc="0" normalizeH="0" baseline="0" noProof="0" dirty="0">
                <a:ln>
                  <a:noFill/>
                </a:ln>
                <a:solidFill>
                  <a:srgbClr val="000000"/>
                </a:solidFill>
                <a:effectLst/>
                <a:uLnTx/>
                <a:uFillTx/>
                <a:latin typeface="Lato"/>
                <a:ea typeface="+mn-ea"/>
                <a:cs typeface="+mn-cs"/>
              </a:rPr>
              <a:t>61</a:t>
            </a:r>
            <a:endParaRPr kumimoji="0" sz="1050" b="1" i="0" u="none" strike="noStrike" kern="1200" cap="none" spc="0" normalizeH="0" baseline="0" noProof="0" dirty="0">
              <a:ln>
                <a:noFill/>
              </a:ln>
              <a:solidFill>
                <a:srgbClr val="000000"/>
              </a:solidFill>
              <a:effectLst/>
              <a:uLnTx/>
              <a:uFillTx/>
              <a:latin typeface="Lato"/>
              <a:ea typeface="+mn-ea"/>
              <a:cs typeface="+mn-cs"/>
            </a:endParaRPr>
          </a:p>
        </p:txBody>
      </p:sp>
      <p:sp>
        <p:nvSpPr>
          <p:cNvPr id="165" name="Rounded Rectangle 164"/>
          <p:cNvSpPr/>
          <p:nvPr/>
        </p:nvSpPr>
        <p:spPr>
          <a:xfrm>
            <a:off x="7772400" y="551154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dirty="0">
                <a:ln>
                  <a:noFill/>
                </a:ln>
                <a:solidFill>
                  <a:srgbClr val="7F7F7F"/>
                </a:solidFill>
                <a:effectLst/>
                <a:uLnTx/>
                <a:uFillTx/>
                <a:latin typeface="Lato"/>
                <a:ea typeface="+mn-ea"/>
                <a:cs typeface="+mn-cs"/>
              </a:rPr>
              <a:t>▲ +2</a:t>
            </a:r>
            <a:r>
              <a:rPr kumimoji="0" lang="en-US" sz="850" b="1" i="0" u="none" strike="noStrike" kern="1200" cap="none" spc="0" normalizeH="0" baseline="0" noProof="0" dirty="0">
                <a:ln>
                  <a:noFill/>
                </a:ln>
                <a:solidFill>
                  <a:srgbClr val="7F7F7F"/>
                </a:solidFill>
                <a:effectLst/>
                <a:uLnTx/>
                <a:uFillTx/>
                <a:latin typeface="Lato"/>
                <a:ea typeface="+mn-ea"/>
                <a:cs typeface="+mn-cs"/>
              </a:rPr>
              <a:t>51</a:t>
            </a:r>
            <a:r>
              <a:rPr kumimoji="0" sz="850" b="1" i="0" u="none" strike="noStrike" kern="1200" cap="none" spc="0" normalizeH="0" baseline="0" noProof="0" dirty="0">
                <a:ln>
                  <a:noFill/>
                </a:ln>
                <a:solidFill>
                  <a:srgbClr val="7F7F7F"/>
                </a:solidFill>
                <a:effectLst/>
                <a:uLnTx/>
                <a:uFillTx/>
                <a:latin typeface="Lato"/>
                <a:ea typeface="+mn-ea"/>
                <a:cs typeface="+mn-cs"/>
              </a:rPr>
              <a:t> (+1</a:t>
            </a:r>
            <a:r>
              <a:rPr kumimoji="0" lang="en-US" sz="850" b="1" i="0" u="none" strike="noStrike" kern="1200" cap="none" spc="0" normalizeH="0" baseline="0" noProof="0" dirty="0">
                <a:ln>
                  <a:noFill/>
                </a:ln>
                <a:solidFill>
                  <a:srgbClr val="7F7F7F"/>
                </a:solidFill>
                <a:effectLst/>
                <a:uLnTx/>
                <a:uFillTx/>
                <a:latin typeface="Lato"/>
                <a:ea typeface="+mn-ea"/>
                <a:cs typeface="+mn-cs"/>
              </a:rPr>
              <a:t>1</a:t>
            </a:r>
            <a:r>
              <a:rPr kumimoji="0" sz="850" b="1" i="0" u="none" strike="noStrike" kern="1200" cap="none" spc="0" normalizeH="0" baseline="0" noProof="0" dirty="0">
                <a:ln>
                  <a:noFill/>
                </a:ln>
                <a:solidFill>
                  <a:srgbClr val="7F7F7F"/>
                </a:solidFill>
                <a:effectLst/>
                <a:uLnTx/>
                <a:uFillTx/>
                <a:latin typeface="Lato"/>
                <a:ea typeface="+mn-ea"/>
                <a:cs typeface="+mn-cs"/>
              </a:rPr>
              <a:t>.</a:t>
            </a:r>
            <a:r>
              <a:rPr kumimoji="0" lang="en-US" sz="850" b="1" i="0" u="none" strike="noStrike" kern="1200" cap="none" spc="0" normalizeH="0" baseline="0" noProof="0" dirty="0">
                <a:ln>
                  <a:noFill/>
                </a:ln>
                <a:solidFill>
                  <a:srgbClr val="7F7F7F"/>
                </a:solidFill>
                <a:effectLst/>
                <a:uLnTx/>
                <a:uFillTx/>
                <a:latin typeface="Lato"/>
                <a:ea typeface="+mn-ea"/>
                <a:cs typeface="+mn-cs"/>
              </a:rPr>
              <a:t>9</a:t>
            </a:r>
            <a:r>
              <a:rPr kumimoji="0" sz="850" b="1" i="0" u="none" strike="noStrike" kern="1200" cap="none" spc="0" normalizeH="0" baseline="0" noProof="0" dirty="0">
                <a:ln>
                  <a:noFill/>
                </a:ln>
                <a:solidFill>
                  <a:srgbClr val="7F7F7F"/>
                </a:solidFill>
                <a:effectLst/>
                <a:uLnTx/>
                <a:uFillTx/>
                <a:latin typeface="Lato"/>
                <a:ea typeface="+mn-ea"/>
                <a:cs typeface="+mn-cs"/>
              </a:rPr>
              <a:t>%)</a:t>
            </a:r>
          </a:p>
        </p:txBody>
      </p:sp>
      <p:sp>
        <p:nvSpPr>
          <p:cNvPr id="166" name="TextBox 165"/>
          <p:cNvSpPr txBox="1"/>
          <p:nvPr/>
        </p:nvSpPr>
        <p:spPr>
          <a:xfrm>
            <a:off x="9445752" y="5536858"/>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Based on preliminary 1</a:t>
            </a:r>
            <a:r>
              <a:rPr kumimoji="0" lang="en-US" sz="800" b="0" i="1" u="none" strike="noStrike" kern="1200" cap="none" spc="0" normalizeH="0" baseline="0" noProof="0" dirty="0">
                <a:ln>
                  <a:noFill/>
                </a:ln>
                <a:solidFill>
                  <a:srgbClr val="6B6B70"/>
                </a:solidFill>
                <a:effectLst/>
                <a:uLnTx/>
                <a:uFillTx/>
                <a:latin typeface="Lato"/>
                <a:ea typeface="+mn-ea"/>
                <a:cs typeface="+mn-cs"/>
              </a:rPr>
              <a:t>6</a:t>
            </a:r>
            <a:r>
              <a:rPr kumimoji="0" sz="800" b="0" i="1" u="none" strike="noStrike" kern="1200" cap="none" spc="0" normalizeH="0" baseline="0" noProof="0" dirty="0">
                <a:ln>
                  <a:noFill/>
                </a:ln>
                <a:solidFill>
                  <a:srgbClr val="6B6B70"/>
                </a:solidFill>
                <a:effectLst/>
                <a:uLnTx/>
                <a:uFillTx/>
                <a:latin typeface="Lato"/>
                <a:ea typeface="+mn-ea"/>
                <a:cs typeface="+mn-cs"/>
              </a:rPr>
              <a:t>% FY26 endowment return</a:t>
            </a:r>
          </a:p>
        </p:txBody>
      </p:sp>
      <p:cxnSp>
        <p:nvCxnSpPr>
          <p:cNvPr id="168" name="FY26 focus divider"/>
          <p:cNvCxnSpPr/>
          <p:nvPr/>
        </p:nvCxnSpPr>
        <p:spPr>
          <a:xfrm>
            <a:off x="5760720" y="1353312"/>
            <a:ext cx="0" cy="4672584"/>
          </a:xfrm>
          <a:prstGeom prst="line">
            <a:avLst/>
          </a:prstGeom>
          <a:ln w="15875">
            <a:solidFill>
              <a:srgbClr val="3A3A3F"/>
            </a:solidFill>
          </a:ln>
        </p:spPr>
        <p:style>
          <a:lnRef idx="2">
            <a:schemeClr val="accent1"/>
          </a:lnRef>
          <a:fillRef idx="0">
            <a:schemeClr val="accent1"/>
          </a:fillRef>
          <a:effectRef idx="0">
            <a:schemeClr val="accent1"/>
          </a:effectRef>
          <a:fontRef idx="minor">
            <a:schemeClr val="tx1"/>
          </a:fontRef>
        </p:style>
      </p:cxnSp>
      <p:cxnSp>
        <p:nvCxnSpPr>
          <p:cNvPr id="171" name="Margin rule (top)"/>
          <p:cNvCxnSpPr/>
          <p:nvPr/>
        </p:nvCxnSpPr>
        <p:spPr>
          <a:xfrm>
            <a:off x="530352" y="2651760"/>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cxnSp>
        <p:nvCxnSpPr>
          <p:cNvPr id="91" name="Margin rule (top)">
            <a:extLst>
              <a:ext uri="{FF2B5EF4-FFF2-40B4-BE49-F238E27FC236}">
                <a16:creationId xmlns:a16="http://schemas.microsoft.com/office/drawing/2014/main" id="{2F212761-1260-3FBE-9DD6-EDB42F875091}"/>
              </a:ext>
            </a:extLst>
          </p:cNvPr>
          <p:cNvCxnSpPr/>
          <p:nvPr/>
        </p:nvCxnSpPr>
        <p:spPr>
          <a:xfrm>
            <a:off x="530352" y="3209925"/>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sp>
        <p:nvSpPr>
          <p:cNvPr id="172" name="TextBox 17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
        <p:nvSpPr>
          <p:cNvPr id="173" name="TextBox 172"/>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Sparklines show FY23–FY25 actuals and FY26 unaudited (navy point). Chips: green = favorable, red = unfavorable, amber = essentially unchanged; operating rows vs. FY26 budget (expenses below budget = favorable), balance-sheet rows vs. FY25 (higher debt = unfavorable). Percent change in parentheses.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SEPTEMBER 2026 · $ IN MILLIONS UNLESS NOTED</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5-Year Financial Trend</a:t>
            </a: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 name="TextBox 9"/>
          <p:cNvSpPr txBox="1"/>
          <p:nvPr/>
        </p:nvSpPr>
        <p:spPr>
          <a:xfrm>
            <a:off x="50292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11" name="TextBox 10"/>
          <p:cNvSpPr txBox="1"/>
          <p:nvPr/>
        </p:nvSpPr>
        <p:spPr>
          <a:xfrm>
            <a:off x="414223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2" name="TextBox 11"/>
          <p:cNvSpPr txBox="1"/>
          <p:nvPr/>
        </p:nvSpPr>
        <p:spPr>
          <a:xfrm>
            <a:off x="499262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13" name="Connector 12"/>
          <p:cNvCxnSpPr/>
          <p:nvPr/>
        </p:nvCxnSpPr>
        <p:spPr>
          <a:xfrm>
            <a:off x="50292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2920" y="300837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292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16" name="Chart 15"/>
          <p:cNvGraphicFramePr>
            <a:graphicFrameLocks noGrp="1"/>
          </p:cNvGraphicFramePr>
          <p:nvPr/>
        </p:nvGraphicFramePr>
        <p:xfrm>
          <a:off x="502920" y="1865376"/>
          <a:ext cx="3520440" cy="822960"/>
        </p:xfrm>
        <a:graphic>
          <a:graphicData uri="http://schemas.openxmlformats.org/drawingml/2006/chart">
            <c:chart xmlns:c="http://schemas.openxmlformats.org/drawingml/2006/chart" xmlns:r="http://schemas.openxmlformats.org/officeDocument/2006/relationships" r:id="rId2"/>
          </a:graphicData>
        </a:graphic>
      </p:graphicFrame>
      <p:sp>
        <p:nvSpPr>
          <p:cNvPr id="17" name="TextBox 16"/>
          <p:cNvSpPr txBox="1"/>
          <p:nvPr/>
        </p:nvSpPr>
        <p:spPr>
          <a:xfrm>
            <a:off x="94183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18" name="Rectangle 17"/>
          <p:cNvSpPr/>
          <p:nvPr/>
        </p:nvSpPr>
        <p:spPr>
          <a:xfrm>
            <a:off x="414223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414223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1,858</a:t>
            </a:r>
          </a:p>
        </p:txBody>
      </p:sp>
      <p:sp>
        <p:nvSpPr>
          <p:cNvPr id="20" name="Rectangle 19"/>
          <p:cNvSpPr/>
          <p:nvPr/>
        </p:nvSpPr>
        <p:spPr>
          <a:xfrm>
            <a:off x="512978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1" name="TextBox 20"/>
          <p:cNvSpPr txBox="1"/>
          <p:nvPr/>
        </p:nvSpPr>
        <p:spPr>
          <a:xfrm>
            <a:off x="512978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1,782</a:t>
            </a:r>
          </a:p>
        </p:txBody>
      </p:sp>
      <p:sp>
        <p:nvSpPr>
          <p:cNvPr id="22" name="TextBox 21"/>
          <p:cNvSpPr txBox="1"/>
          <p:nvPr/>
        </p:nvSpPr>
        <p:spPr>
          <a:xfrm>
            <a:off x="512978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−76 vs. budget</a:t>
            </a:r>
          </a:p>
        </p:txBody>
      </p:sp>
      <p:cxnSp>
        <p:nvCxnSpPr>
          <p:cNvPr id="32" name="Connector 31"/>
          <p:cNvCxnSpPr/>
          <p:nvPr/>
        </p:nvCxnSpPr>
        <p:spPr>
          <a:xfrm>
            <a:off x="502920" y="444398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9067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34" name="Chart 33"/>
          <p:cNvGraphicFramePr>
            <a:graphicFrameLocks noGrp="1"/>
          </p:cNvGraphicFramePr>
          <p:nvPr/>
        </p:nvGraphicFramePr>
        <p:xfrm>
          <a:off x="502920" y="3273552"/>
          <a:ext cx="3520440" cy="822960"/>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941832" y="3310128"/>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36" name="Rectangle 35"/>
          <p:cNvSpPr/>
          <p:nvPr/>
        </p:nvSpPr>
        <p:spPr>
          <a:xfrm>
            <a:off x="4142232" y="334670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7" name="TextBox 36"/>
          <p:cNvSpPr txBox="1"/>
          <p:nvPr/>
        </p:nvSpPr>
        <p:spPr>
          <a:xfrm>
            <a:off x="4142232" y="334670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250</a:t>
            </a:r>
          </a:p>
        </p:txBody>
      </p:sp>
      <p:sp>
        <p:nvSpPr>
          <p:cNvPr id="38" name="Rectangle 37"/>
          <p:cNvSpPr/>
          <p:nvPr/>
        </p:nvSpPr>
        <p:spPr>
          <a:xfrm>
            <a:off x="5129784" y="334670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9" name="TextBox 38"/>
          <p:cNvSpPr txBox="1"/>
          <p:nvPr/>
        </p:nvSpPr>
        <p:spPr>
          <a:xfrm>
            <a:off x="5129784" y="339242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291</a:t>
            </a:r>
          </a:p>
        </p:txBody>
      </p:sp>
      <p:sp>
        <p:nvSpPr>
          <p:cNvPr id="40" name="TextBox 39"/>
          <p:cNvSpPr txBox="1"/>
          <p:nvPr/>
        </p:nvSpPr>
        <p:spPr>
          <a:xfrm>
            <a:off x="5129784" y="369417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+41 vs. budget</a:t>
            </a:r>
          </a:p>
        </p:txBody>
      </p:sp>
      <p:cxnSp>
        <p:nvCxnSpPr>
          <p:cNvPr id="41" name="Connector 40"/>
          <p:cNvCxnSpPr/>
          <p:nvPr/>
        </p:nvCxnSpPr>
        <p:spPr>
          <a:xfrm>
            <a:off x="50292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2920" y="452628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Gifts &amp; Commitments</a:t>
            </a:r>
          </a:p>
        </p:txBody>
      </p:sp>
      <p:graphicFrame>
        <p:nvGraphicFramePr>
          <p:cNvPr id="43" name="Chart 42"/>
          <p:cNvGraphicFramePr>
            <a:graphicFrameLocks noGrp="1"/>
          </p:cNvGraphicFramePr>
          <p:nvPr/>
        </p:nvGraphicFramePr>
        <p:xfrm>
          <a:off x="502920" y="4709160"/>
          <a:ext cx="3520440" cy="822960"/>
        </p:xfrm>
        <a:graphic>
          <a:graphicData uri="http://schemas.openxmlformats.org/drawingml/2006/chart">
            <c:chart xmlns:c="http://schemas.openxmlformats.org/drawingml/2006/chart" xmlns:r="http://schemas.openxmlformats.org/officeDocument/2006/relationships" r:id="rId4"/>
          </a:graphicData>
        </a:graphic>
      </p:graphicFrame>
      <p:sp>
        <p:nvSpPr>
          <p:cNvPr id="44" name="TextBox 43"/>
          <p:cNvSpPr txBox="1"/>
          <p:nvPr/>
        </p:nvSpPr>
        <p:spPr>
          <a:xfrm>
            <a:off x="941832" y="4745736"/>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45" name="Rectangle 44"/>
          <p:cNvSpPr/>
          <p:nvPr/>
        </p:nvSpPr>
        <p:spPr>
          <a:xfrm>
            <a:off x="4142232" y="478231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6" name="TextBox 45"/>
          <p:cNvSpPr txBox="1"/>
          <p:nvPr/>
        </p:nvSpPr>
        <p:spPr>
          <a:xfrm>
            <a:off x="4142232" y="478231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120</a:t>
            </a:r>
          </a:p>
        </p:txBody>
      </p:sp>
      <p:sp>
        <p:nvSpPr>
          <p:cNvPr id="47" name="Rectangle 46"/>
          <p:cNvSpPr/>
          <p:nvPr/>
        </p:nvSpPr>
        <p:spPr>
          <a:xfrm>
            <a:off x="5129784" y="478231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8" name="TextBox 47"/>
          <p:cNvSpPr txBox="1"/>
          <p:nvPr/>
        </p:nvSpPr>
        <p:spPr>
          <a:xfrm>
            <a:off x="5129784" y="482803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125</a:t>
            </a:r>
          </a:p>
        </p:txBody>
      </p:sp>
      <p:sp>
        <p:nvSpPr>
          <p:cNvPr id="49" name="TextBox 48"/>
          <p:cNvSpPr txBox="1"/>
          <p:nvPr/>
        </p:nvSpPr>
        <p:spPr>
          <a:xfrm>
            <a:off x="5129784" y="512978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+5 vs. budget</a:t>
            </a:r>
          </a:p>
        </p:txBody>
      </p:sp>
      <p:sp>
        <p:nvSpPr>
          <p:cNvPr id="50" name="TextBox 49"/>
          <p:cNvSpPr txBox="1"/>
          <p:nvPr/>
        </p:nvSpPr>
        <p:spPr>
          <a:xfrm>
            <a:off x="626364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51" name="TextBox 50"/>
          <p:cNvSpPr txBox="1"/>
          <p:nvPr/>
        </p:nvSpPr>
        <p:spPr>
          <a:xfrm>
            <a:off x="990295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52" name="TextBox 51"/>
          <p:cNvSpPr txBox="1"/>
          <p:nvPr/>
        </p:nvSpPr>
        <p:spPr>
          <a:xfrm>
            <a:off x="1075334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53" name="Connector 52"/>
          <p:cNvCxnSpPr/>
          <p:nvPr/>
        </p:nvCxnSpPr>
        <p:spPr>
          <a:xfrm>
            <a:off x="626364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263640" y="2670048"/>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6364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56" name="Chart 55"/>
          <p:cNvGraphicFramePr>
            <a:graphicFrameLocks noGrp="1"/>
          </p:cNvGraphicFramePr>
          <p:nvPr/>
        </p:nvGraphicFramePr>
        <p:xfrm>
          <a:off x="6263640" y="1865376"/>
          <a:ext cx="3520440" cy="822960"/>
        </p:xfrm>
        <a:graphic>
          <a:graphicData uri="http://schemas.openxmlformats.org/drawingml/2006/chart">
            <c:chart xmlns:c="http://schemas.openxmlformats.org/drawingml/2006/chart" xmlns:r="http://schemas.openxmlformats.org/officeDocument/2006/relationships" r:id="rId5"/>
          </a:graphicData>
        </a:graphic>
      </p:graphicFrame>
      <p:sp>
        <p:nvSpPr>
          <p:cNvPr id="57" name="TextBox 56"/>
          <p:cNvSpPr txBox="1"/>
          <p:nvPr/>
        </p:nvSpPr>
        <p:spPr>
          <a:xfrm>
            <a:off x="670255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58" name="Rectangle 57"/>
          <p:cNvSpPr/>
          <p:nvPr/>
        </p:nvSpPr>
        <p:spPr>
          <a:xfrm>
            <a:off x="990295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9" name="TextBox 58"/>
          <p:cNvSpPr txBox="1"/>
          <p:nvPr/>
        </p:nvSpPr>
        <p:spPr>
          <a:xfrm>
            <a:off x="990295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2,582</a:t>
            </a:r>
          </a:p>
        </p:txBody>
      </p:sp>
      <p:sp>
        <p:nvSpPr>
          <p:cNvPr id="60" name="Rectangle 59"/>
          <p:cNvSpPr/>
          <p:nvPr/>
        </p:nvSpPr>
        <p:spPr>
          <a:xfrm>
            <a:off x="1089050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1089050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2,473</a:t>
            </a:r>
          </a:p>
        </p:txBody>
      </p:sp>
      <p:sp>
        <p:nvSpPr>
          <p:cNvPr id="62" name="TextBox 61"/>
          <p:cNvSpPr txBox="1"/>
          <p:nvPr/>
        </p:nvSpPr>
        <p:spPr>
          <a:xfrm>
            <a:off x="1089050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−109 vs. budget</a:t>
            </a:r>
          </a:p>
        </p:txBody>
      </p:sp>
      <p:cxnSp>
        <p:nvCxnSpPr>
          <p:cNvPr id="63" name="Connector 62"/>
          <p:cNvCxnSpPr/>
          <p:nvPr/>
        </p:nvCxnSpPr>
        <p:spPr>
          <a:xfrm>
            <a:off x="6263640" y="373989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263640" y="2752344"/>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65" name="Chart 64"/>
          <p:cNvGraphicFramePr>
            <a:graphicFrameLocks noGrp="1"/>
          </p:cNvGraphicFramePr>
          <p:nvPr/>
        </p:nvGraphicFramePr>
        <p:xfrm>
          <a:off x="6263640" y="2935224"/>
          <a:ext cx="3520440" cy="822960"/>
        </p:xfrm>
        <a:graphic>
          <a:graphicData uri="http://schemas.openxmlformats.org/drawingml/2006/chart">
            <c:chart xmlns:c="http://schemas.openxmlformats.org/drawingml/2006/chart" xmlns:r="http://schemas.openxmlformats.org/officeDocument/2006/relationships" r:id="rId6"/>
          </a:graphicData>
        </a:graphic>
      </p:graphicFrame>
      <p:sp>
        <p:nvSpPr>
          <p:cNvPr id="66" name="TextBox 65"/>
          <p:cNvSpPr txBox="1"/>
          <p:nvPr/>
        </p:nvSpPr>
        <p:spPr>
          <a:xfrm>
            <a:off x="6702552" y="2971800"/>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+10% CAGR FY22–26</a:t>
            </a:r>
          </a:p>
        </p:txBody>
      </p:sp>
      <p:sp>
        <p:nvSpPr>
          <p:cNvPr id="67" name="Rectangle 66"/>
          <p:cNvSpPr/>
          <p:nvPr/>
        </p:nvSpPr>
        <p:spPr>
          <a:xfrm>
            <a:off x="9902952" y="3008376"/>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9902952" y="3008376"/>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2,469</a:t>
            </a:r>
          </a:p>
        </p:txBody>
      </p:sp>
      <p:sp>
        <p:nvSpPr>
          <p:cNvPr id="69" name="Rectangle 68"/>
          <p:cNvSpPr/>
          <p:nvPr/>
        </p:nvSpPr>
        <p:spPr>
          <a:xfrm>
            <a:off x="10890504" y="3008376"/>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0" name="TextBox 69"/>
          <p:cNvSpPr txBox="1"/>
          <p:nvPr/>
        </p:nvSpPr>
        <p:spPr>
          <a:xfrm>
            <a:off x="10890504" y="3054096"/>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2,353</a:t>
            </a:r>
          </a:p>
        </p:txBody>
      </p:sp>
      <p:sp>
        <p:nvSpPr>
          <p:cNvPr id="71" name="TextBox 70"/>
          <p:cNvSpPr txBox="1"/>
          <p:nvPr/>
        </p:nvSpPr>
        <p:spPr>
          <a:xfrm>
            <a:off x="10890504" y="3355848"/>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−116 vs. budget</a:t>
            </a:r>
          </a:p>
        </p:txBody>
      </p:sp>
      <p:cxnSp>
        <p:nvCxnSpPr>
          <p:cNvPr id="72" name="Connector 71"/>
          <p:cNvCxnSpPr/>
          <p:nvPr/>
        </p:nvCxnSpPr>
        <p:spPr>
          <a:xfrm>
            <a:off x="6263640" y="480974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263640" y="382219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74" name="Chart 73"/>
          <p:cNvGraphicFramePr>
            <a:graphicFrameLocks noGrp="1"/>
          </p:cNvGraphicFramePr>
          <p:nvPr/>
        </p:nvGraphicFramePr>
        <p:xfrm>
          <a:off x="6263640" y="4005072"/>
          <a:ext cx="3520440" cy="822960"/>
        </p:xfrm>
        <a:graphic>
          <a:graphicData uri="http://schemas.openxmlformats.org/drawingml/2006/chart">
            <c:chart xmlns:c="http://schemas.openxmlformats.org/drawingml/2006/chart" xmlns:r="http://schemas.openxmlformats.org/officeDocument/2006/relationships" r:id="rId7"/>
          </a:graphicData>
        </a:graphic>
      </p:graphicFrame>
      <p:sp>
        <p:nvSpPr>
          <p:cNvPr id="75" name="Rectangle 74"/>
          <p:cNvSpPr/>
          <p:nvPr/>
        </p:nvSpPr>
        <p:spPr>
          <a:xfrm>
            <a:off x="9902952" y="407822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6" name="TextBox 75"/>
          <p:cNvSpPr txBox="1"/>
          <p:nvPr/>
        </p:nvSpPr>
        <p:spPr>
          <a:xfrm>
            <a:off x="9902952" y="407822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112</a:t>
            </a:r>
          </a:p>
        </p:txBody>
      </p:sp>
      <p:sp>
        <p:nvSpPr>
          <p:cNvPr id="77" name="Rectangle 76"/>
          <p:cNvSpPr/>
          <p:nvPr/>
        </p:nvSpPr>
        <p:spPr>
          <a:xfrm>
            <a:off x="10890504" y="407822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8" name="TextBox 77"/>
          <p:cNvSpPr txBox="1"/>
          <p:nvPr/>
        </p:nvSpPr>
        <p:spPr>
          <a:xfrm>
            <a:off x="10890504" y="412394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120</a:t>
            </a:r>
          </a:p>
        </p:txBody>
      </p:sp>
      <p:sp>
        <p:nvSpPr>
          <p:cNvPr id="79" name="TextBox 78"/>
          <p:cNvSpPr txBox="1"/>
          <p:nvPr/>
        </p:nvSpPr>
        <p:spPr>
          <a:xfrm>
            <a:off x="10890504" y="442569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+8 vs. budget</a:t>
            </a:r>
          </a:p>
        </p:txBody>
      </p:sp>
      <p:cxnSp>
        <p:nvCxnSpPr>
          <p:cNvPr id="80" name="Connector 79"/>
          <p:cNvCxnSpPr/>
          <p:nvPr/>
        </p:nvCxnSpPr>
        <p:spPr>
          <a:xfrm>
            <a:off x="626364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263640" y="489204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82" name="Chart 81"/>
          <p:cNvGraphicFramePr>
            <a:graphicFrameLocks noGrp="1"/>
          </p:cNvGraphicFramePr>
          <p:nvPr/>
        </p:nvGraphicFramePr>
        <p:xfrm>
          <a:off x="6263640" y="5074920"/>
          <a:ext cx="3520440" cy="822960"/>
        </p:xfrm>
        <a:graphic>
          <a:graphicData uri="http://schemas.openxmlformats.org/drawingml/2006/chart">
            <c:chart xmlns:c="http://schemas.openxmlformats.org/drawingml/2006/chart" xmlns:r="http://schemas.openxmlformats.org/officeDocument/2006/relationships" r:id="rId8"/>
          </a:graphicData>
        </a:graphic>
      </p:graphicFrame>
      <p:sp>
        <p:nvSpPr>
          <p:cNvPr id="83" name="Rectangle 82"/>
          <p:cNvSpPr/>
          <p:nvPr/>
        </p:nvSpPr>
        <p:spPr>
          <a:xfrm>
            <a:off x="9902952" y="514807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4" name="TextBox 83"/>
          <p:cNvSpPr txBox="1"/>
          <p:nvPr/>
        </p:nvSpPr>
        <p:spPr>
          <a:xfrm>
            <a:off x="9902952" y="514807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4.4%</a:t>
            </a:r>
          </a:p>
        </p:txBody>
      </p:sp>
      <p:sp>
        <p:nvSpPr>
          <p:cNvPr id="85" name="Rectangle 84"/>
          <p:cNvSpPr/>
          <p:nvPr/>
        </p:nvSpPr>
        <p:spPr>
          <a:xfrm>
            <a:off x="10890504" y="514807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6" name="TextBox 85"/>
          <p:cNvSpPr txBox="1"/>
          <p:nvPr/>
        </p:nvSpPr>
        <p:spPr>
          <a:xfrm>
            <a:off x="10890504" y="519379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4.9%</a:t>
            </a:r>
          </a:p>
        </p:txBody>
      </p:sp>
      <p:sp>
        <p:nvSpPr>
          <p:cNvPr id="87" name="TextBox 86"/>
          <p:cNvSpPr txBox="1"/>
          <p:nvPr/>
        </p:nvSpPr>
        <p:spPr>
          <a:xfrm>
            <a:off x="10890504" y="549554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+0.5 pt vs. budget</a:t>
            </a:r>
          </a:p>
        </p:txBody>
      </p:sp>
      <p:sp>
        <p:nvSpPr>
          <p:cNvPr id="88" name="TextBox 87"/>
          <p:cNvSpPr txBox="1"/>
          <p:nvPr/>
        </p:nvSpPr>
        <p:spPr>
          <a:xfrm>
            <a:off x="502920" y="5961888"/>
            <a:ext cx="11155680" cy="38404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reflects unaudited results. Sparklines show FY22–FY26 with FY26 unaudited as the final point; CAGR is compounded from FY22 to FY26. Tiles: green = favorable vs. FY26 budget, red = unfavorable. † Research Awards FY26 is a preliminary estimate. Same metric definitions and sources as the 20-year view.</a:t>
            </a:r>
          </a:p>
        </p:txBody>
      </p:sp>
      <p:sp>
        <p:nvSpPr>
          <p:cNvPr id="89" name="TextBox 8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Moody’s Ratings (June 24, 2026); Northeastern Financial Affairs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11.5%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2"/>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since FY21</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Moody’s Ratings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7744"/>
            <a:ext cx="10149840" cy="307777"/>
          </a:xfrm>
          <a:prstGeom prst="rect">
            <a:avLst/>
          </a:prstGeom>
          <a:noFill/>
        </p:spPr>
        <p:txBody>
          <a:bodyPr wrap="square" lIns="0" tIns="0" rIns="0" bIns="0">
            <a:noAutofit/>
          </a:bodyPr>
          <a:lstStyle/>
          <a:p>
            <a:pPr algn="l"/>
            <a:r>
              <a:rPr sz="2000" b="1" dirty="0">
                <a:solidFill>
                  <a:srgbClr val="000000"/>
                </a:solidFill>
                <a:latin typeface="Lato"/>
              </a:rPr>
              <a:t>On the same basis, </a:t>
            </a:r>
            <a:r>
              <a:rPr sz="2000" b="1" dirty="0" err="1">
                <a:solidFill>
                  <a:srgbClr val="000000"/>
                </a:solidFill>
                <a:latin typeface="Lato"/>
              </a:rPr>
              <a:t>Northeastern’s</a:t>
            </a:r>
            <a:r>
              <a:rPr sz="2000" b="1" dirty="0">
                <a:solidFill>
                  <a:srgbClr val="000000"/>
                </a:solidFill>
                <a:latin typeface="Lato"/>
              </a:rPr>
              <a:t> FY25 EBIDA margin ranks 13th of 22 </a:t>
            </a:r>
            <a:r>
              <a:rPr lang="en-US" sz="2000" b="1" dirty="0">
                <a:solidFill>
                  <a:srgbClr val="000000"/>
                </a:solidFill>
                <a:latin typeface="Lato"/>
              </a:rPr>
              <a:t>academic peers</a:t>
            </a:r>
            <a:endParaRPr sz="2000" b="1" dirty="0">
              <a:solidFill>
                <a:srgbClr val="000000"/>
              </a:solidFill>
              <a:latin typeface="Lato"/>
            </a:endParaRPr>
          </a:p>
        </p:txBody>
      </p:sp>
      <p:sp>
        <p:nvSpPr>
          <p:cNvPr id="3" name="TextBox 2"/>
          <p:cNvSpPr txBox="1"/>
          <p:nvPr/>
        </p:nvSpPr>
        <p:spPr>
          <a:xfrm>
            <a:off x="3099816" y="829425"/>
            <a:ext cx="5573911" cy="276999"/>
          </a:xfrm>
          <a:prstGeom prst="rect">
            <a:avLst/>
          </a:prstGeom>
          <a:noFill/>
        </p:spPr>
        <p:txBody>
          <a:bodyPr wrap="square" lIns="0" tIns="0" rIns="0" bIns="0">
            <a:spAutoFit/>
          </a:bodyPr>
          <a:lstStyle/>
          <a:p>
            <a:pPr algn="ctr"/>
            <a:r>
              <a:rPr lang="en-US" dirty="0">
                <a:solidFill>
                  <a:schemeClr val="bg1"/>
                </a:solidFill>
                <a:latin typeface="Lato"/>
              </a:rPr>
              <a:t>Peer FY25 EBIDA Margins</a:t>
            </a:r>
            <a:endParaRPr dirty="0">
              <a:solidFill>
                <a:schemeClr val="bg1"/>
              </a:solidFill>
              <a:latin typeface="Lato"/>
            </a:endParaRPr>
          </a:p>
        </p:txBody>
      </p:sp>
      <p:graphicFrame>
        <p:nvGraphicFramePr>
          <p:cNvPr id="4" name="Chart 3"/>
          <p:cNvGraphicFramePr>
            <a:graphicFrameLocks noGrp="1"/>
          </p:cNvGraphicFramePr>
          <p:nvPr/>
        </p:nvGraphicFramePr>
        <p:xfrm>
          <a:off x="502920" y="1203568"/>
          <a:ext cx="11186160" cy="4374272"/>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694008" y="5432880"/>
            <a:ext cx="10800000" cy="492443"/>
          </a:xfrm>
          <a:prstGeom prst="rect">
            <a:avLst/>
          </a:prstGeom>
          <a:solidFill>
            <a:srgbClr val="C8102E"/>
          </a:solidFill>
          <a:ln>
            <a:solidFill>
              <a:schemeClr val="bg1"/>
            </a:solidFill>
          </a:ln>
        </p:spPr>
        <p:txBody>
          <a:bodyPr wrap="square" lIns="0" tIns="0" rIns="0" bIns="0">
            <a:spAutoFit/>
          </a:bodyPr>
          <a:lstStyle/>
          <a:p>
            <a:pPr algn="ctr"/>
            <a:r>
              <a:rPr sz="1600" b="1" dirty="0">
                <a:solidFill>
                  <a:srgbClr val="FFFFFF"/>
                </a:solidFill>
                <a:latin typeface="Lato"/>
              </a:rPr>
              <a:t>Northeastern sits at 9.5% against a peer median of 9.8%, Moody’s comprehensive median of 10.3% and the broad A median of 11.5% — the A cohort being the one that matches </a:t>
            </a:r>
            <a:r>
              <a:rPr sz="1600" b="1" dirty="0" err="1">
                <a:solidFill>
                  <a:srgbClr val="FFFFFF"/>
                </a:solidFill>
                <a:latin typeface="Lato"/>
              </a:rPr>
              <a:t>Northeastern’s</a:t>
            </a:r>
            <a:r>
              <a:rPr sz="1600" b="1" dirty="0">
                <a:solidFill>
                  <a:srgbClr val="FFFFFF"/>
                </a:solidFill>
                <a:latin typeface="Lato"/>
              </a:rPr>
              <a:t> own A1 rating.</a:t>
            </a:r>
          </a:p>
        </p:txBody>
      </p:sp>
      <p:sp>
        <p:nvSpPr>
          <p:cNvPr id="9"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1" name="TextBox 10">
            <a:extLst>
              <a:ext uri="{FF2B5EF4-FFF2-40B4-BE49-F238E27FC236}">
                <a16:creationId xmlns:a16="http://schemas.microsoft.com/office/drawing/2014/main" id="{517BF540-0C1D-A854-6092-59C2EE39836E}"/>
              </a:ext>
            </a:extLst>
          </p:cNvPr>
          <p:cNvSpPr txBox="1"/>
          <p:nvPr/>
        </p:nvSpPr>
        <p:spPr>
          <a:xfrm>
            <a:off x="11298870" y="2971710"/>
            <a:ext cx="614271" cy="276999"/>
          </a:xfrm>
          <a:prstGeom prst="rect">
            <a:avLst/>
          </a:prstGeom>
          <a:noFill/>
        </p:spPr>
        <p:txBody>
          <a:bodyPr wrap="none" rtlCol="0">
            <a:spAutoFit/>
          </a:bodyPr>
          <a:lstStyle/>
          <a:p>
            <a:r>
              <a:rPr lang="en-US" sz="1200" dirty="0">
                <a:solidFill>
                  <a:srgbClr val="000000"/>
                </a:solidFill>
              </a:rPr>
              <a:t>11.5%</a:t>
            </a:r>
          </a:p>
        </p:txBody>
      </p:sp>
      <p:cxnSp>
        <p:nvCxnSpPr>
          <p:cNvPr id="12" name="Straight Connector 11">
            <a:extLst>
              <a:ext uri="{FF2B5EF4-FFF2-40B4-BE49-F238E27FC236}">
                <a16:creationId xmlns:a16="http://schemas.microsoft.com/office/drawing/2014/main" id="{04DAB528-F698-53BD-3CFB-B62C3CE9BB82}"/>
              </a:ext>
            </a:extLst>
          </p:cNvPr>
          <p:cNvCxnSpPr>
            <a:cxnSpLocks/>
          </p:cNvCxnSpPr>
          <p:nvPr/>
        </p:nvCxnSpPr>
        <p:spPr>
          <a:xfrm flipV="1">
            <a:off x="152908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676DD6F-58D9-DF50-33E7-7DF7536F30BE}"/>
              </a:ext>
            </a:extLst>
          </p:cNvPr>
          <p:cNvCxnSpPr>
            <a:cxnSpLocks/>
          </p:cNvCxnSpPr>
          <p:nvPr/>
        </p:nvCxnSpPr>
        <p:spPr>
          <a:xfrm flipV="1">
            <a:off x="4400296"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62A56A9-E79F-E1E9-C726-0C7333D71C4A}"/>
              </a:ext>
            </a:extLst>
          </p:cNvPr>
          <p:cNvCxnSpPr>
            <a:cxnSpLocks/>
          </p:cNvCxnSpPr>
          <p:nvPr/>
        </p:nvCxnSpPr>
        <p:spPr>
          <a:xfrm flipV="1">
            <a:off x="582676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D9AEEC-7651-4F5B-C848-733BF8A80DAD}"/>
              </a:ext>
            </a:extLst>
          </p:cNvPr>
          <p:cNvCxnSpPr>
            <a:cxnSpLocks/>
          </p:cNvCxnSpPr>
          <p:nvPr/>
        </p:nvCxnSpPr>
        <p:spPr>
          <a:xfrm flipV="1">
            <a:off x="867372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9DF7EE3-5C8F-D2C9-FA7C-D8B3B3A66179}"/>
              </a:ext>
            </a:extLst>
          </p:cNvPr>
          <p:cNvCxnSpPr>
            <a:cxnSpLocks/>
          </p:cNvCxnSpPr>
          <p:nvPr/>
        </p:nvCxnSpPr>
        <p:spPr>
          <a:xfrm flipV="1">
            <a:off x="963384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6272E02-90D5-4E60-D966-2460B9A608E6}"/>
              </a:ext>
            </a:extLst>
          </p:cNvPr>
          <p:cNvCxnSpPr>
            <a:cxnSpLocks/>
          </p:cNvCxnSpPr>
          <p:nvPr/>
        </p:nvCxnSpPr>
        <p:spPr>
          <a:xfrm flipV="1">
            <a:off x="10584823"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C749822-E163-8347-F3CC-BC6BC8D411A2}"/>
              </a:ext>
            </a:extLst>
          </p:cNvPr>
          <p:cNvSpPr txBox="1"/>
          <p:nvPr/>
        </p:nvSpPr>
        <p:spPr>
          <a:xfrm>
            <a:off x="1041446" y="1567064"/>
            <a:ext cx="487634" cy="307777"/>
          </a:xfrm>
          <a:prstGeom prst="rect">
            <a:avLst/>
          </a:prstGeom>
          <a:noFill/>
        </p:spPr>
        <p:txBody>
          <a:bodyPr wrap="none" rtlCol="0">
            <a:spAutoFit/>
          </a:bodyPr>
          <a:lstStyle/>
          <a:p>
            <a:r>
              <a:rPr lang="en-US" sz="1400" b="1" i="1" dirty="0" err="1">
                <a:solidFill>
                  <a:srgbClr val="000000"/>
                </a:solidFill>
              </a:rPr>
              <a:t>Aaa</a:t>
            </a:r>
            <a:endParaRPr lang="en-US" sz="1400" b="1" i="1" dirty="0">
              <a:solidFill>
                <a:srgbClr val="000000"/>
              </a:solidFill>
            </a:endParaRPr>
          </a:p>
        </p:txBody>
      </p:sp>
      <p:sp>
        <p:nvSpPr>
          <p:cNvPr id="27" name="TextBox 26">
            <a:extLst>
              <a:ext uri="{FF2B5EF4-FFF2-40B4-BE49-F238E27FC236}">
                <a16:creationId xmlns:a16="http://schemas.microsoft.com/office/drawing/2014/main" id="{CE0C9F17-FABE-0D85-F7A1-0523BB082CBD}"/>
              </a:ext>
            </a:extLst>
          </p:cNvPr>
          <p:cNvSpPr txBox="1"/>
          <p:nvPr/>
        </p:nvSpPr>
        <p:spPr>
          <a:xfrm>
            <a:off x="2727034" y="1567064"/>
            <a:ext cx="498855" cy="307777"/>
          </a:xfrm>
          <a:prstGeom prst="rect">
            <a:avLst/>
          </a:prstGeom>
          <a:noFill/>
        </p:spPr>
        <p:txBody>
          <a:bodyPr wrap="none" rtlCol="0">
            <a:spAutoFit/>
          </a:bodyPr>
          <a:lstStyle/>
          <a:p>
            <a:r>
              <a:rPr lang="en-US" sz="1400" b="1" i="1" dirty="0">
                <a:solidFill>
                  <a:srgbClr val="000000"/>
                </a:solidFill>
              </a:rPr>
              <a:t>Aa1</a:t>
            </a:r>
          </a:p>
        </p:txBody>
      </p:sp>
      <p:sp>
        <p:nvSpPr>
          <p:cNvPr id="28" name="TextBox 27">
            <a:extLst>
              <a:ext uri="{FF2B5EF4-FFF2-40B4-BE49-F238E27FC236}">
                <a16:creationId xmlns:a16="http://schemas.microsoft.com/office/drawing/2014/main" id="{03CD8BB1-645A-3842-C5BA-D01BE4279C90}"/>
              </a:ext>
            </a:extLst>
          </p:cNvPr>
          <p:cNvSpPr txBox="1"/>
          <p:nvPr/>
        </p:nvSpPr>
        <p:spPr>
          <a:xfrm>
            <a:off x="4891532" y="1567064"/>
            <a:ext cx="498855" cy="307777"/>
          </a:xfrm>
          <a:prstGeom prst="rect">
            <a:avLst/>
          </a:prstGeom>
          <a:noFill/>
        </p:spPr>
        <p:txBody>
          <a:bodyPr wrap="none" rtlCol="0">
            <a:spAutoFit/>
          </a:bodyPr>
          <a:lstStyle/>
          <a:p>
            <a:r>
              <a:rPr lang="en-US" sz="1400" b="1" i="1" dirty="0">
                <a:solidFill>
                  <a:srgbClr val="000000"/>
                </a:solidFill>
              </a:rPr>
              <a:t>Aa2</a:t>
            </a:r>
          </a:p>
        </p:txBody>
      </p:sp>
      <p:sp>
        <p:nvSpPr>
          <p:cNvPr id="29" name="TextBox 28">
            <a:extLst>
              <a:ext uri="{FF2B5EF4-FFF2-40B4-BE49-F238E27FC236}">
                <a16:creationId xmlns:a16="http://schemas.microsoft.com/office/drawing/2014/main" id="{0F31C291-DBA3-9997-AA98-B1D81AAF82CE}"/>
              </a:ext>
            </a:extLst>
          </p:cNvPr>
          <p:cNvSpPr txBox="1"/>
          <p:nvPr/>
        </p:nvSpPr>
        <p:spPr>
          <a:xfrm>
            <a:off x="7039773" y="1567064"/>
            <a:ext cx="498855" cy="307777"/>
          </a:xfrm>
          <a:prstGeom prst="rect">
            <a:avLst/>
          </a:prstGeom>
          <a:noFill/>
        </p:spPr>
        <p:txBody>
          <a:bodyPr wrap="none" rtlCol="0">
            <a:spAutoFit/>
          </a:bodyPr>
          <a:lstStyle/>
          <a:p>
            <a:r>
              <a:rPr lang="en-US" sz="1400" b="1" i="1" dirty="0">
                <a:solidFill>
                  <a:srgbClr val="000000"/>
                </a:solidFill>
              </a:rPr>
              <a:t>Aa3</a:t>
            </a:r>
          </a:p>
        </p:txBody>
      </p:sp>
      <p:sp>
        <p:nvSpPr>
          <p:cNvPr id="30" name="TextBox 29">
            <a:extLst>
              <a:ext uri="{FF2B5EF4-FFF2-40B4-BE49-F238E27FC236}">
                <a16:creationId xmlns:a16="http://schemas.microsoft.com/office/drawing/2014/main" id="{47C4FC26-7DC5-0161-C111-70D6673FF1E6}"/>
              </a:ext>
            </a:extLst>
          </p:cNvPr>
          <p:cNvSpPr txBox="1"/>
          <p:nvPr/>
        </p:nvSpPr>
        <p:spPr>
          <a:xfrm>
            <a:off x="8929579" y="1567064"/>
            <a:ext cx="405880" cy="307777"/>
          </a:xfrm>
          <a:prstGeom prst="rect">
            <a:avLst/>
          </a:prstGeom>
          <a:noFill/>
        </p:spPr>
        <p:txBody>
          <a:bodyPr wrap="none" rtlCol="0">
            <a:spAutoFit/>
          </a:bodyPr>
          <a:lstStyle/>
          <a:p>
            <a:r>
              <a:rPr lang="en-US" sz="1400" b="1" i="1" dirty="0">
                <a:solidFill>
                  <a:srgbClr val="000000"/>
                </a:solidFill>
              </a:rPr>
              <a:t>A1</a:t>
            </a:r>
          </a:p>
        </p:txBody>
      </p:sp>
      <p:sp>
        <p:nvSpPr>
          <p:cNvPr id="31" name="TextBox 30">
            <a:extLst>
              <a:ext uri="{FF2B5EF4-FFF2-40B4-BE49-F238E27FC236}">
                <a16:creationId xmlns:a16="http://schemas.microsoft.com/office/drawing/2014/main" id="{CD92FD62-EBD1-F19C-0B58-B130F3C0A3CD}"/>
              </a:ext>
            </a:extLst>
          </p:cNvPr>
          <p:cNvSpPr txBox="1"/>
          <p:nvPr/>
        </p:nvSpPr>
        <p:spPr>
          <a:xfrm>
            <a:off x="9922513" y="1567064"/>
            <a:ext cx="405880" cy="307777"/>
          </a:xfrm>
          <a:prstGeom prst="rect">
            <a:avLst/>
          </a:prstGeom>
          <a:noFill/>
        </p:spPr>
        <p:txBody>
          <a:bodyPr wrap="none" rtlCol="0">
            <a:spAutoFit/>
          </a:bodyPr>
          <a:lstStyle/>
          <a:p>
            <a:r>
              <a:rPr lang="en-US" sz="1400" b="1" i="1" dirty="0">
                <a:solidFill>
                  <a:srgbClr val="000000"/>
                </a:solidFill>
              </a:rPr>
              <a:t>A2</a:t>
            </a:r>
          </a:p>
        </p:txBody>
      </p:sp>
      <p:sp>
        <p:nvSpPr>
          <p:cNvPr id="32" name="TextBox 31">
            <a:extLst>
              <a:ext uri="{FF2B5EF4-FFF2-40B4-BE49-F238E27FC236}">
                <a16:creationId xmlns:a16="http://schemas.microsoft.com/office/drawing/2014/main" id="{B21C8DCD-A94A-82E6-B1BA-D01841C95B89}"/>
              </a:ext>
            </a:extLst>
          </p:cNvPr>
          <p:cNvSpPr txBox="1"/>
          <p:nvPr/>
        </p:nvSpPr>
        <p:spPr>
          <a:xfrm>
            <a:off x="10946031" y="1567064"/>
            <a:ext cx="405880" cy="307777"/>
          </a:xfrm>
          <a:prstGeom prst="rect">
            <a:avLst/>
          </a:prstGeom>
          <a:noFill/>
        </p:spPr>
        <p:txBody>
          <a:bodyPr wrap="none" rtlCol="0">
            <a:spAutoFit/>
          </a:bodyPr>
          <a:lstStyle/>
          <a:p>
            <a:r>
              <a:rPr lang="en-US" sz="1400" b="1" i="1" dirty="0">
                <a:solidFill>
                  <a:srgbClr val="000000"/>
                </a:solidFill>
              </a:rPr>
              <a:t>Baa1</a:t>
            </a:r>
          </a:p>
        </p:txBody>
      </p:sp>
      <p:sp>
        <p:nvSpPr>
          <p:cNvPr id="33" name="TextBox 3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rIns="0" t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rIns="0" t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rIns="0" t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rIns="0" tIns="0" bIns="0" anchor="t">
            <a:spAutoFit/>
          </a:bodyPr>
          <a:lstStyle/>
          <a:p>
            <a:pPr algn="l"/>
            <a:r>
              <a:rPr sz="1600" b="0" i="0">
                <a:solidFill>
                  <a:srgbClr val="595959"/>
                </a:solidFill>
                <a:latin typeface="Lato"/>
              </a:rPr>
              <a:t>September 30,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−7.2%</a:t>
            </a:r>
          </a:p>
        </p:txBody>
      </p:sp>
      <p:sp>
        <p:nvSpPr>
          <p:cNvPr id="21" name="TextBox 20"/>
          <p:cNvSpPr txBox="1"/>
          <p:nvPr/>
        </p:nvSpPr>
        <p:spPr>
          <a:xfrm>
            <a:off x="9079077"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Degree-seeking enrollment</a:t>
            </a:r>
          </a:p>
        </p:txBody>
      </p:sp>
      <p:sp>
        <p:nvSpPr>
          <p:cNvPr id="22" name="TextBox 21"/>
          <p:cNvSpPr txBox="1"/>
          <p:nvPr/>
        </p:nvSpPr>
        <p:spPr>
          <a:xfrm>
            <a:off x="9079077"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FY25 to FY27 in the low scenario; professional graduate falls 22.8% while net tuition holds at +0.4%.</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93792"/>
            <a:ext cx="10881360" cy="685800"/>
          </a:xfrm>
          <a:prstGeom prst="rect">
            <a:avLst/>
          </a:prstGeom>
          <a:noFill/>
        </p:spPr>
        <p:txBody>
          <a:bodyPr wrap="square" lIns="0" rIns="0" t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Boston Globe (May 12, 2026); NSF HERD Survey FY24; Northeastern Financial Affairs (FY26 unaudited)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rIns="0" t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rIns="0" t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rIns="0" t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rIns="0" t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rIns="0" t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rIns="0" t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rIns="0" t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rIns="0" t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rIns="0" t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1</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The environment</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Pressures on higher education, and the forces behind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2</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Research momentum, enrollment, staffing and financial performance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3</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What to watch, and where Legal is likely to be engaged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Sector detail, value of a degree, economic mobility, peer responses and R&amp;D detail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1416"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2752"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1416"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rIns="0" t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r:id="rId2"/>
          </a:graphicData>
        </a:graphic>
      </p:graphicFrame>
      <p:sp>
        <p:nvSpPr>
          <p:cNvPr id="6" name="TextBox 5"/>
          <p:cNvSpPr txBox="1"/>
          <p:nvPr/>
        </p:nvSpPr>
        <p:spPr>
          <a:xfrm>
            <a:off x="7132320" y="1600200"/>
            <a:ext cx="4572000" cy="274320"/>
          </a:xfrm>
          <a:prstGeom prst="rect">
            <a:avLst/>
          </a:prstGeom>
          <a:noFill/>
        </p:spPr>
        <p:txBody>
          <a:bodyPr wrap="square" lIns="0" rIns="0" t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rIns="0" t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8872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10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rIns="0" t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8872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Demand for elite institutions is projected to drop by much less during 2025 to 2029.</a:t>
            </a:r>
          </a:p>
          <a:p>
            <a:pPr marL="171450" indent="-171450">
              <a:spcAft>
                <a:spcPts val="400"/>
              </a:spcAft>
              <a:buChar char="•"/>
            </a:pPr>
            <a:r>
              <a:rPr sz="11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rIns="0" t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Senator Lamar Alexander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rIns="0" t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rIns="0" t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rIns="0" t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810512"/>
            <a:ext cx="2103120" cy="731520"/>
          </a:xfrm>
          <a:prstGeom prst="rect">
            <a:avLst/>
          </a:prstGeom>
          <a:noFill/>
        </p:spPr>
        <p:txBody>
          <a:bodyPr wrap="square" lIns="0" rIns="0" t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rIns="0" tIns="0" bIns="0" anchor="t">
            <a:spAutoFit/>
          </a:bodyPr>
          <a:lstStyle/>
          <a:p>
            <a:pPr algn="l"/>
            <a:r>
              <a:rPr sz="1200" b="0" i="0">
                <a:solidFill>
                  <a:srgbClr val="000000"/>
                </a:solidFill>
                <a:latin typeface="Lato"/>
              </a:rPr>
              <a:t>Operating margin recovered to 4.0% in FY26 from 1.1% in FY25, still 320 bp below FY18. FY25 EBIDA margin of 9.5% sits below the 11.5% A-category median.</a:t>
            </a:r>
          </a:p>
        </p:txBody>
      </p:sp>
      <p:sp>
        <p:nvSpPr>
          <p:cNvPr id="9" name="TextBox 8"/>
          <p:cNvSpPr txBox="1"/>
          <p:nvPr/>
        </p:nvSpPr>
        <p:spPr>
          <a:xfrm>
            <a:off x="7406640" y="1810512"/>
            <a:ext cx="4297680" cy="777240"/>
          </a:xfrm>
          <a:prstGeom prst="rect">
            <a:avLst/>
          </a:prstGeom>
          <a:noFill/>
        </p:spPr>
        <p:txBody>
          <a:bodyPr wrap="square" lIns="0" rIns="0" tIns="0" bIns="0" anchor="t">
            <a:spAutoFit/>
          </a:bodyPr>
          <a:lstStyle/>
          <a:p>
            <a:pPr algn="l"/>
            <a:r>
              <a:rPr sz="1200" b="0" i="0">
                <a:solidFill>
                  <a:srgbClr val="000000"/>
                </a:solidFill>
                <a:latin typeface="Lato"/>
              </a:rPr>
              <a:t>Cost-reduction actions: workforce, vendor and lease commitments; consistency of external disclosures.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06624"/>
            <a:ext cx="2103120" cy="731520"/>
          </a:xfrm>
          <a:prstGeom prst="rect">
            <a:avLst/>
          </a:prstGeom>
          <a:noFill/>
        </p:spPr>
        <p:txBody>
          <a:bodyPr wrap="square" lIns="0" rIns="0" t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rIns="0" tIns="0" bIns="0" anchor="t">
            <a:spAutoFit/>
          </a:bodyPr>
          <a:lstStyle/>
          <a:p>
            <a:pPr algn="l"/>
            <a:r>
              <a:rPr sz="1200" b="0" i="0">
                <a:solidFill>
                  <a:srgbClr val="000000"/>
                </a:solidFill>
                <a:latin typeface="Lato"/>
              </a:rPr>
              <a:t>Degree-seeking enrollment down 7.2% FY25–FY27 (low scenario); professional graduate down 22.8%.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rIns="0" tIns="0" bIns="0" anchor="t">
            <a:spAutoFit/>
          </a:bodyPr>
          <a:lstStyle/>
          <a:p>
            <a:pPr algn="l"/>
            <a:r>
              <a:rPr sz="1200" b="0" i="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02736"/>
            <a:ext cx="2103120" cy="731520"/>
          </a:xfrm>
          <a:prstGeom prst="rect">
            <a:avLst/>
          </a:prstGeom>
          <a:noFill/>
        </p:spPr>
        <p:txBody>
          <a:bodyPr wrap="square" lIns="0" rIns="0" t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rIns="0" tIns="0" bIns="0" anchor="t">
            <a:spAutoFit/>
          </a:bodyPr>
          <a:lstStyle/>
          <a:p>
            <a:pPr algn="l"/>
            <a:r>
              <a:rPr sz="1200" b="0" i="0">
                <a:solidFill>
                  <a:srgbClr val="000000"/>
                </a:solidFill>
                <a:latin typeface="Lato"/>
              </a:rPr>
              <a:t>Research awards of $291M in FY26. Peers face funding cuts, executive orders and endowment taxation. Federal regulation is 20 times its 1950 page count.</a:t>
            </a:r>
          </a:p>
        </p:txBody>
      </p:sp>
      <p:sp>
        <p:nvSpPr>
          <p:cNvPr id="17" name="TextBox 16"/>
          <p:cNvSpPr txBox="1"/>
          <p:nvPr/>
        </p:nvSpPr>
        <p:spPr>
          <a:xfrm>
            <a:off x="7406640" y="3602736"/>
            <a:ext cx="4297680" cy="777240"/>
          </a:xfrm>
          <a:prstGeom prst="rect">
            <a:avLst/>
          </a:prstGeom>
          <a:noFill/>
        </p:spPr>
        <p:txBody>
          <a:bodyPr wrap="square" lIns="0" rIns="0" tIns="0" bIns="0" anchor="t">
            <a:spAutoFit/>
          </a:bodyPr>
          <a:lstStyle/>
          <a:p>
            <a:pPr algn="l"/>
            <a:r>
              <a:rPr sz="1200" b="0" i="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2103120" cy="731520"/>
          </a:xfrm>
          <a:prstGeom prst="rect">
            <a:avLst/>
          </a:prstGeom>
          <a:noFill/>
        </p:spPr>
        <p:txBody>
          <a:bodyPr wrap="square" lIns="0" rIns="0" t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rIns="0" tIns="0" bIns="0" anchor="t">
            <a:spAutoFit/>
          </a:bodyPr>
          <a:lstStyle/>
          <a:p>
            <a:pPr algn="l"/>
            <a:r>
              <a:rPr sz="1200" b="0" i="0">
                <a:solidFill>
                  <a:srgbClr val="000000"/>
                </a:solidFill>
                <a:latin typeface="Lato"/>
              </a:rPr>
              <a:t>Full-time staff up 46% since FY20 to 4,179, down 312 in the past year; 92% of growth was internally funded. S&amp;W per student is $25K, the lowest in the peer set.</a:t>
            </a:r>
          </a:p>
        </p:txBody>
      </p:sp>
      <p:sp>
        <p:nvSpPr>
          <p:cNvPr id="21" name="TextBox 20"/>
          <p:cNvSpPr txBox="1"/>
          <p:nvPr/>
        </p:nvSpPr>
        <p:spPr>
          <a:xfrm>
            <a:off x="7406640" y="4498848"/>
            <a:ext cx="4297680" cy="777240"/>
          </a:xfrm>
          <a:prstGeom prst="rect">
            <a:avLst/>
          </a:prstGeom>
          <a:noFill/>
        </p:spPr>
        <p:txBody>
          <a:bodyPr wrap="square" lIns="0" rIns="0" t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94960"/>
            <a:ext cx="2103120" cy="731520"/>
          </a:xfrm>
          <a:prstGeom prst="rect">
            <a:avLst/>
          </a:prstGeom>
          <a:noFill/>
        </p:spPr>
        <p:txBody>
          <a:bodyPr wrap="square" lIns="0" rIns="0" t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rIns="0" tIns="0" bIns="0" anchor="t">
            <a:spAutoFit/>
          </a:bodyPr>
          <a:lstStyle/>
          <a:p>
            <a:pPr algn="l"/>
            <a:r>
              <a:rPr sz="1200" b="0" i="0">
                <a:solidFill>
                  <a:srgbClr val="000000"/>
                </a:solidFill>
                <a:latin typeface="Lato"/>
              </a:rPr>
              <a:t>Long-term debt of $1,954M (from $1,432M in FY25, incl. $485M Series 2026). Debt service coverage 3.4x. Endowment $2,361M.</a:t>
            </a:r>
          </a:p>
        </p:txBody>
      </p:sp>
      <p:sp>
        <p:nvSpPr>
          <p:cNvPr id="25" name="TextBox 24"/>
          <p:cNvSpPr txBox="1"/>
          <p:nvPr/>
        </p:nvSpPr>
        <p:spPr>
          <a:xfrm>
            <a:off x="7406640" y="5394960"/>
            <a:ext cx="4297680" cy="777240"/>
          </a:xfrm>
          <a:prstGeom prst="rect">
            <a:avLst/>
          </a:prstGeom>
          <a:noFill/>
        </p:spPr>
        <p:txBody>
          <a:bodyPr wrap="square" lIns="0" rIns="0" t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417320"/>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rot="21480000">
            <a:off x="629378" y="1504549"/>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lobe.png"/>
            <p:cNvPicPr>
              <a:picLocks noChangeAspect="1"/>
            </p:cNvPicPr>
            <p:nvPr/>
          </p:nvPicPr>
          <p:blipFill>
            <a:blip r:embed="rId2"/>
            <a:stretch>
              <a:fillRect/>
            </a:stretch>
          </p:blipFill>
          <p:spPr>
            <a:xfrm>
              <a:off x="886968" y="1670065"/>
              <a:ext cx="2148840" cy="335756"/>
            </a:xfrm>
            <a:prstGeom prst="rect">
              <a:avLst/>
            </a:prstGeom>
          </p:spPr>
        </p:pic>
        <p:cxnSp>
          <p:nvCxnSpPr>
            <p:cNvPr id="7" name="Connector 6"/>
            <p:cNvCxnSpPr/>
            <p:nvPr/>
          </p:nvCxnSpPr>
          <p:spPr>
            <a:xfrm>
              <a:off x="786384" y="2103120"/>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57984"/>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31136"/>
              <a:ext cx="2350008" cy="201168"/>
            </a:xfrm>
            <a:prstGeom prst="rect">
              <a:avLst/>
            </a:prstGeom>
            <a:noFill/>
          </p:spPr>
          <p:txBody>
            <a:bodyPr wrap="square" lIns="0" rIns="0" t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23744"/>
              <a:ext cx="2313432" cy="1042415"/>
            </a:xfrm>
            <a:prstGeom prst="rect">
              <a:avLst/>
            </a:prstGeom>
            <a:noFill/>
          </p:spPr>
          <p:txBody>
            <a:bodyPr wrap="square" lIns="0" rIns="0" t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559469"/>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lobe.png"/>
            <p:cNvPicPr>
              <a:picLocks noChangeAspect="1"/>
            </p:cNvPicPr>
            <p:nvPr/>
          </p:nvPicPr>
          <p:blipFill>
            <a:blip r:embed="rId2"/>
            <a:stretch>
              <a:fillRect/>
            </a:stretch>
          </p:blipFill>
          <p:spPr>
            <a:xfrm>
              <a:off x="3639312" y="1732073"/>
              <a:ext cx="2057400" cy="321468"/>
            </a:xfrm>
            <a:prstGeom prst="rect">
              <a:avLst/>
            </a:prstGeom>
          </p:spPr>
        </p:pic>
        <p:cxnSp>
          <p:nvCxnSpPr>
            <p:cNvPr id="14" name="Connector 13"/>
            <p:cNvCxnSpPr/>
            <p:nvPr/>
          </p:nvCxnSpPr>
          <p:spPr>
            <a:xfrm>
              <a:off x="3538728" y="2157984"/>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212848"/>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86000"/>
              <a:ext cx="2258568" cy="201168"/>
            </a:xfrm>
            <a:prstGeom prst="rect">
              <a:avLst/>
            </a:prstGeom>
            <a:noFill/>
          </p:spPr>
          <p:txBody>
            <a:bodyPr wrap="square" lIns="0" rIns="0" t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78608"/>
              <a:ext cx="2221992" cy="1042415"/>
            </a:xfrm>
            <a:prstGeom prst="rect">
              <a:avLst/>
            </a:prstGeom>
            <a:noFill/>
          </p:spPr>
          <p:txBody>
            <a:bodyPr wrap="square" lIns="0" rIns="0" t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506954"/>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fc.png"/>
            <p:cNvPicPr>
              <a:picLocks noChangeAspect="1"/>
            </p:cNvPicPr>
            <p:nvPr/>
          </p:nvPicPr>
          <p:blipFill>
            <a:blip r:embed="rId3"/>
            <a:stretch>
              <a:fillRect/>
            </a:stretch>
          </p:blipFill>
          <p:spPr>
            <a:xfrm>
              <a:off x="6336792" y="1724787"/>
              <a:ext cx="2194560" cy="226314"/>
            </a:xfrm>
            <a:prstGeom prst="rect">
              <a:avLst/>
            </a:prstGeom>
          </p:spPr>
        </p:pic>
        <p:cxnSp>
          <p:nvCxnSpPr>
            <p:cNvPr id="21" name="Connector 20"/>
            <p:cNvCxnSpPr/>
            <p:nvPr/>
          </p:nvCxnSpPr>
          <p:spPr>
            <a:xfrm>
              <a:off x="6236207" y="2103120"/>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57984"/>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31136"/>
              <a:ext cx="2395728" cy="201168"/>
            </a:xfrm>
            <a:prstGeom prst="rect">
              <a:avLst/>
            </a:prstGeom>
            <a:noFill/>
          </p:spPr>
          <p:txBody>
            <a:bodyPr wrap="square" lIns="0" rIns="0" t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23744"/>
              <a:ext cx="2359152" cy="1042415"/>
            </a:xfrm>
            <a:prstGeom prst="rect">
              <a:avLst/>
            </a:prstGeom>
            <a:noFill/>
          </p:spPr>
          <p:txBody>
            <a:bodyPr wrap="square" lIns="0" rIns="0" t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564315"/>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he.png"/>
            <p:cNvPicPr>
              <a:picLocks noChangeAspect="1"/>
            </p:cNvPicPr>
            <p:nvPr/>
          </p:nvPicPr>
          <p:blipFill>
            <a:blip r:embed="rId4"/>
            <a:stretch>
              <a:fillRect/>
            </a:stretch>
          </p:blipFill>
          <p:spPr>
            <a:xfrm>
              <a:off x="9805064" y="1682496"/>
              <a:ext cx="835855" cy="420624"/>
            </a:xfrm>
            <a:prstGeom prst="rect">
              <a:avLst/>
            </a:prstGeom>
          </p:spPr>
        </p:pic>
        <p:cxnSp>
          <p:nvCxnSpPr>
            <p:cNvPr id="28" name="Connector 27"/>
            <p:cNvCxnSpPr/>
            <p:nvPr/>
          </p:nvCxnSpPr>
          <p:spPr>
            <a:xfrm>
              <a:off x="9070848" y="2157984"/>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212848"/>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86000"/>
              <a:ext cx="2304287" cy="201168"/>
            </a:xfrm>
            <a:prstGeom prst="rect">
              <a:avLst/>
            </a:prstGeom>
            <a:noFill/>
          </p:spPr>
          <p:txBody>
            <a:bodyPr wrap="square" lIns="0" rIns="0" t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78608"/>
              <a:ext cx="2267712" cy="1042415"/>
            </a:xfrm>
            <a:prstGeom prst="rect">
              <a:avLst/>
            </a:prstGeom>
            <a:noFill/>
          </p:spPr>
          <p:txBody>
            <a:bodyPr wrap="square" lIns="0" rIns="0" t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705166"/>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he.png"/>
            <p:cNvPicPr>
              <a:picLocks noChangeAspect="1"/>
            </p:cNvPicPr>
            <p:nvPr/>
          </p:nvPicPr>
          <p:blipFill>
            <a:blip r:embed="rId4"/>
            <a:stretch>
              <a:fillRect/>
            </a:stretch>
          </p:blipFill>
          <p:spPr>
            <a:xfrm>
              <a:off x="1502312" y="3822191"/>
              <a:ext cx="835855" cy="420624"/>
            </a:xfrm>
            <a:prstGeom prst="rect">
              <a:avLst/>
            </a:prstGeom>
          </p:spPr>
        </p:pic>
        <p:cxnSp>
          <p:nvCxnSpPr>
            <p:cNvPr id="35" name="Connector 34"/>
            <p:cNvCxnSpPr/>
            <p:nvPr/>
          </p:nvCxnSpPr>
          <p:spPr>
            <a:xfrm>
              <a:off x="768096" y="4297680"/>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52544"/>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25696"/>
              <a:ext cx="2304287" cy="201168"/>
            </a:xfrm>
            <a:prstGeom prst="rect">
              <a:avLst/>
            </a:prstGeom>
            <a:noFill/>
          </p:spPr>
          <p:txBody>
            <a:bodyPr wrap="square" lIns="0" rIns="0" t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18304"/>
              <a:ext cx="2267712" cy="1042415"/>
            </a:xfrm>
            <a:prstGeom prst="rect">
              <a:avLst/>
            </a:prstGeom>
            <a:noFill/>
          </p:spPr>
          <p:txBody>
            <a:bodyPr wrap="square" lIns="0" rIns="0" t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763057"/>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wapo.png"/>
            <p:cNvPicPr>
              <a:picLocks noChangeAspect="1"/>
            </p:cNvPicPr>
            <p:nvPr/>
          </p:nvPicPr>
          <p:blipFill>
            <a:blip r:embed="rId5"/>
            <a:stretch>
              <a:fillRect/>
            </a:stretch>
          </p:blipFill>
          <p:spPr>
            <a:xfrm>
              <a:off x="3769156" y="3931920"/>
              <a:ext cx="1989734" cy="310896"/>
            </a:xfrm>
            <a:prstGeom prst="rect">
              <a:avLst/>
            </a:prstGeom>
          </p:spPr>
        </p:pic>
        <p:cxnSp>
          <p:nvCxnSpPr>
            <p:cNvPr id="42" name="Connector 41"/>
            <p:cNvCxnSpPr/>
            <p:nvPr/>
          </p:nvCxnSpPr>
          <p:spPr>
            <a:xfrm>
              <a:off x="3566160" y="4352544"/>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407407"/>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80559"/>
              <a:ext cx="2395728" cy="201168"/>
            </a:xfrm>
            <a:prstGeom prst="rect">
              <a:avLst/>
            </a:prstGeom>
            <a:noFill/>
          </p:spPr>
          <p:txBody>
            <a:bodyPr wrap="square" lIns="0" rIns="0" t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73168"/>
              <a:ext cx="2359152" cy="1042415"/>
            </a:xfrm>
            <a:prstGeom prst="rect">
              <a:avLst/>
            </a:prstGeom>
            <a:noFill/>
          </p:spPr>
          <p:txBody>
            <a:bodyPr wrap="square" lIns="0" rIns="0" t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060080" y="3699821"/>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nbc.png"/>
            <p:cNvPicPr>
              <a:picLocks noChangeAspect="1"/>
            </p:cNvPicPr>
            <p:nvPr/>
          </p:nvPicPr>
          <p:blipFill>
            <a:blip r:embed="rId6"/>
            <a:stretch>
              <a:fillRect/>
            </a:stretch>
          </p:blipFill>
          <p:spPr>
            <a:xfrm>
              <a:off x="6689550" y="3822191"/>
              <a:ext cx="1315306" cy="420624"/>
            </a:xfrm>
            <a:prstGeom prst="rect">
              <a:avLst/>
            </a:prstGeom>
          </p:spPr>
        </p:pic>
        <p:cxnSp>
          <p:nvCxnSpPr>
            <p:cNvPr id="49" name="Connector 48"/>
            <p:cNvCxnSpPr/>
            <p:nvPr/>
          </p:nvCxnSpPr>
          <p:spPr>
            <a:xfrm>
              <a:off x="6217920" y="4297680"/>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52544"/>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25696"/>
              <a:ext cx="2258568" cy="201168"/>
            </a:xfrm>
            <a:prstGeom prst="rect">
              <a:avLst/>
            </a:prstGeom>
            <a:noFill/>
          </p:spPr>
          <p:txBody>
            <a:bodyPr wrap="square" lIns="0" rIns="0" t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18304"/>
              <a:ext cx="2221992" cy="1042415"/>
            </a:xfrm>
            <a:prstGeom prst="rect">
              <a:avLst/>
            </a:prstGeom>
            <a:noFill/>
          </p:spPr>
          <p:txBody>
            <a:bodyPr wrap="square" lIns="0" rIns="0" t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762433"/>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csm.png"/>
            <p:cNvPicPr>
              <a:picLocks noChangeAspect="1"/>
            </p:cNvPicPr>
            <p:nvPr/>
          </p:nvPicPr>
          <p:blipFill>
            <a:blip r:embed="rId7"/>
            <a:stretch>
              <a:fillRect/>
            </a:stretch>
          </p:blipFill>
          <p:spPr>
            <a:xfrm>
              <a:off x="9428117" y="3886200"/>
              <a:ext cx="1672045" cy="402336"/>
            </a:xfrm>
            <a:prstGeom prst="rect">
              <a:avLst/>
            </a:prstGeom>
          </p:spPr>
        </p:pic>
        <p:cxnSp>
          <p:nvCxnSpPr>
            <p:cNvPr id="56" name="Connector 55"/>
            <p:cNvCxnSpPr/>
            <p:nvPr/>
          </p:nvCxnSpPr>
          <p:spPr>
            <a:xfrm>
              <a:off x="9089136" y="4352544"/>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407407"/>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80559"/>
              <a:ext cx="2350008" cy="201168"/>
            </a:xfrm>
            <a:prstGeom prst="rect">
              <a:avLst/>
            </a:prstGeom>
            <a:noFill/>
          </p:spPr>
          <p:txBody>
            <a:bodyPr wrap="square" lIns="0" rIns="0" t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73168"/>
              <a:ext cx="2313432" cy="1042415"/>
            </a:xfrm>
            <a:prstGeom prst="rect">
              <a:avLst/>
            </a:prstGeom>
            <a:noFill/>
          </p:spPr>
          <p:txBody>
            <a:bodyPr wrap="square" lIns="0" rIns="0" t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457200" y="6053328"/>
            <a:ext cx="11247120" cy="274320"/>
          </a:xfrm>
          <a:prstGeom prst="rect">
            <a:avLst/>
          </a:prstGeom>
          <a:noFill/>
        </p:spPr>
        <p:txBody>
          <a:bodyPr wrap="square" lIns="0" rIns="0" t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headlines as published by each outlet; logos are the publications’ trademarks; NAFSA/JB International analysis via Inside Higher Ed, August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Updated through 2025–2026 where sources publish; regulatory and compliance burden compounds each</a:t>
            </a:r>
          </a:p>
        </p:txBody>
      </p:sp>
      <p:sp>
        <p:nvSpPr>
          <p:cNvPr id="4" name="TextBox 3"/>
          <p:cNvSpPr txBox="1"/>
          <p:nvPr/>
        </p:nvSpPr>
        <p:spPr>
          <a:xfrm>
            <a:off x="457200"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2212848"/>
            <a:ext cx="3611880" cy="4023360"/>
          </a:xfrm>
          <a:prstGeom prst="rect">
            <a:avLst/>
          </a:prstGeom>
          <a:noFill/>
        </p:spPr>
        <p:txBody>
          <a:bodyPr wrap="square" lIns="0" rIns="0" tIns="0" bIns="0">
            <a:spAutoFit/>
          </a:bodyPr>
          <a:lstStyle/>
          <a:p>
            <a:pPr marL="171450" indent="-171450">
              <a:spcAft>
                <a:spcPts val="1000"/>
              </a:spcAft>
              <a:buChar char="•"/>
            </a:pPr>
            <a:r>
              <a:rPr sz="1600">
                <a:solidFill>
                  <a:srgbClr val="000000"/>
                </a:solidFill>
                <a:latin typeface="Lato"/>
              </a:rPr>
              <a:t>Federal R&amp;D funding was 0.63% of GDP in 2024, versus 1.86% at its 1964 peak. The federal share of U.S. R&amp;D funding fell from 45% in 2010 to 34% in 2022.</a:t>
            </a:r>
          </a:p>
          <a:p>
            <a:pPr marL="171450" indent="-171450">
              <a:spcAft>
                <a:spcPts val="1000"/>
              </a:spcAft>
              <a:buChar char="•"/>
            </a:pPr>
            <a:r>
              <a:rPr sz="1600">
                <a:solidFill>
                  <a:srgbClr val="000000"/>
                </a:solidFill>
                <a:latin typeface="Lato"/>
              </a:rPr>
              <a:t>Congress held NIH at $47.5 billion for FY2026 (+1.0%), $19.6 billion above the President’s request. NSF received $8.75 billion, down 3%.</a:t>
            </a:r>
          </a:p>
          <a:p>
            <a:pPr marL="171450" indent="-171450">
              <a:spcAft>
                <a:spcPts val="1000"/>
              </a:spcAft>
              <a:buChar char="•"/>
            </a:pPr>
            <a:r>
              <a:rPr sz="1600">
                <a:solidFill>
                  <a:srgbClr val="000000"/>
                </a:solidFill>
                <a:latin typeface="Lato"/>
              </a:rPr>
              <a:t>U.S. R&amp;D totaled $937 billion in 2023, with an estimated $993 billion in 2024, driven by business funding.</a:t>
            </a:r>
          </a:p>
        </p:txBody>
      </p:sp>
      <p:sp>
        <p:nvSpPr>
          <p:cNvPr id="7" name="TextBox 6"/>
          <p:cNvSpPr txBox="1"/>
          <p:nvPr/>
        </p:nvSpPr>
        <p:spPr>
          <a:xfrm>
            <a:off x="4288536"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2212848"/>
            <a:ext cx="3611880" cy="4023360"/>
          </a:xfrm>
          <a:prstGeom prst="rect">
            <a:avLst/>
          </a:prstGeom>
          <a:noFill/>
        </p:spPr>
        <p:txBody>
          <a:bodyPr wrap="square" lIns="0" rIns="0" tIns="0" bIns="0">
            <a:spAutoFit/>
          </a:bodyPr>
          <a:lstStyle/>
          <a:p>
            <a:pPr marL="171450" indent="-171450">
              <a:spcAft>
                <a:spcPts val="1000"/>
              </a:spcAft>
              <a:buChar char="•"/>
            </a:pPr>
            <a:r>
              <a:rPr sz="1600">
                <a:solidFill>
                  <a:srgbClr val="000000"/>
                </a:solidFill>
                <a:latin typeface="Lato"/>
              </a:rPr>
              <a:t>Federal student loan debt reached a record $1.696 trillion in December 2025, more than triple its 2007 level of $516 billion.</a:t>
            </a:r>
          </a:p>
          <a:p>
            <a:pPr marL="171450" indent="-171450">
              <a:spcAft>
                <a:spcPts val="1000"/>
              </a:spcAft>
              <a:buChar char="•"/>
            </a:pPr>
            <a:r>
              <a:rPr sz="1600">
                <a:solidFill>
                  <a:srgbClr val="000000"/>
                </a:solidFill>
                <a:latin typeface="Lato"/>
              </a:rPr>
              <a:t>College closures averaged ten a year from 2014 to 2025, versus three a year from 1996 to 2013. More than 80 private nonprofit colleges closed or merged from 2020 to 2025.</a:t>
            </a:r>
          </a:p>
          <a:p>
            <a:pPr marL="171450" indent="-171450">
              <a:spcAft>
                <a:spcPts val="1000"/>
              </a:spcAft>
              <a:buChar char="•"/>
            </a:pPr>
            <a:r>
              <a:rPr sz="1600">
                <a:solidFill>
                  <a:srgbClr val="000000"/>
                </a:solidFill>
                <a:latin typeface="Lato"/>
              </a:rPr>
              <a:t>Recent-graduate unemployment was about 5.6% with 42% underemployment in Q2 2026 as AI automates entry-level work. 61.1% of the fall 2019 cohort finished a credential within six years.</a:t>
            </a:r>
          </a:p>
        </p:txBody>
      </p:sp>
      <p:sp>
        <p:nvSpPr>
          <p:cNvPr id="10" name="TextBox 9"/>
          <p:cNvSpPr txBox="1"/>
          <p:nvPr/>
        </p:nvSpPr>
        <p:spPr>
          <a:xfrm>
            <a:off x="8119872"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2212848"/>
            <a:ext cx="3611880" cy="4023360"/>
          </a:xfrm>
          <a:prstGeom prst="rect">
            <a:avLst/>
          </a:prstGeom>
          <a:noFill/>
        </p:spPr>
        <p:txBody>
          <a:bodyPr wrap="square" lIns="0" rIns="0" tIns="0" bIns="0">
            <a:spAutoFit/>
          </a:bodyPr>
          <a:lstStyle/>
          <a:p>
            <a:pPr marL="171450" indent="-171450">
              <a:spcAft>
                <a:spcPts val="1000"/>
              </a:spcAft>
              <a:buChar char="•"/>
            </a:pPr>
            <a:r>
              <a:rPr sz="1600">
                <a:solidFill>
                  <a:srgbClr val="000000"/>
                </a:solidFill>
                <a:latin typeface="Lato"/>
              </a:rPr>
              <a:t>Health spending reached 18.0% of GDP in 2024, up 8.2% on the year, and is projected to reach 20.3% by 2033.</a:t>
            </a:r>
          </a:p>
          <a:p>
            <a:pPr marL="171450" indent="-171450">
              <a:spcAft>
                <a:spcPts val="1000"/>
              </a:spcAft>
              <a:buChar char="•"/>
            </a:pPr>
            <a:r>
              <a:rPr sz="1600">
                <a:solidFill>
                  <a:srgbClr val="000000"/>
                </a:solidFill>
                <a:latin typeface="Lato"/>
              </a:rPr>
              <a:t>CMS projects private health insurance enrollment to fall 2.2% in 2026 when enhanced subsidies expire under current law.</a:t>
            </a:r>
          </a:p>
          <a:p>
            <a:pPr marL="171450" indent="-171450">
              <a:spcAft>
                <a:spcPts val="1000"/>
              </a:spcAft>
              <a:buChar char="•"/>
            </a:pPr>
            <a:r>
              <a:rPr sz="160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sector grew eightfold from 1870 to 2010, peaked at 4,726 in 2012–13, and has shrunk 18% since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degree-granting institutions, including branch campuses: start of each decade, the 2012–13 peak, and 2018 and 2022–23</a:t>
            </a:r>
          </a:p>
        </p:txBody>
      </p:sp>
      <p:graphicFrame>
        <p:nvGraphicFramePr>
          <p:cNvPr id="4" name="Chart 3"/>
          <p:cNvGraphicFramePr>
            <a:graphicFrameLocks noGrp="1"/>
          </p:cNvGraphicFramePr>
          <p:nvPr/>
        </p:nvGraphicFramePr>
        <p:xfrm>
          <a:off x="457200" y="1691640"/>
          <a:ext cx="11274552" cy="4343400"/>
        </p:xfrm>
        <a:graphic>
          <a:graphicData uri="http://schemas.openxmlformats.org/drawingml/2006/chart">
            <c:chart xmlns:c="http://schemas.openxmlformats.org/drawingml/2006/chart" r:id="rId2"/>
          </a:graphicData>
        </a:graphic>
      </p:graphicFrame>
      <p:sp>
        <p:nvSpPr>
          <p:cNvPr id="5" name="Rectangle 4"/>
          <p:cNvSpPr/>
          <p:nvPr/>
        </p:nvSpPr>
        <p:spPr>
          <a:xfrm>
            <a:off x="1234440" y="1920240"/>
            <a:ext cx="484632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993392"/>
            <a:ext cx="4572000" cy="822960"/>
          </a:xfrm>
          <a:prstGeom prst="rect">
            <a:avLst/>
          </a:prstGeom>
          <a:noFill/>
        </p:spPr>
        <p:txBody>
          <a:bodyPr wrap="square" lIns="0" rIns="0" tIns="0" bIns="0" anchor="t">
            <a:spAutoFit/>
          </a:bodyPr>
          <a:lstStyle/>
          <a:p>
            <a:pPr algn="l"/>
            <a:r>
              <a:rPr sz="1100" b="1" i="0">
                <a:solidFill>
                  <a:srgbClr val="C8102E"/>
                </a:solidFill>
                <a:latin typeface="Lato"/>
              </a:rPr>
              <a:t>2023–24 update</a:t>
            </a:r>
          </a:p>
          <a:p>
            <a:pPr algn="l"/>
            <a:r>
              <a:rPr sz="1100" b="0" i="0">
                <a:solidFill>
                  <a:srgbClr val="000000"/>
                </a:solidFill>
                <a:latin typeface="Lato"/>
              </a:rPr>
              <a:t>All Title IV institutions fell 2%, from 5,918 to 5,819: 161 closed, merged or lost eligibility and 62 were added.</a:t>
            </a:r>
          </a:p>
        </p:txBody>
      </p:sp>
      <p:sp>
        <p:nvSpPr>
          <p:cNvPr id="7" name="TextBox 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NCES Digest of Education Statistics 2023, Table 317.10; NCES press release, August 21, 2024 (Title IV institutions)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R&amp;D funding by source as a percent of GDP, 1953–2024</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cxnSp>
        <p:nvCxnSpPr>
          <p:cNvPr id="5" name="Connector 4"/>
          <p:cNvCxnSpPr/>
          <p:nvPr/>
        </p:nvCxnSpPr>
        <p:spPr>
          <a:xfrm>
            <a:off x="2887883" y="2212848"/>
            <a:ext cx="0" cy="3112617"/>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pic>
        <p:nvPicPr>
          <p:cNvPr id="6" name="Picture 5" descr="medicare.jpg"/>
          <p:cNvPicPr>
            <a:picLocks noChangeAspect="1"/>
          </p:cNvPicPr>
          <p:nvPr/>
        </p:nvPicPr>
        <p:blipFill>
          <a:blip r:embed="rId3"/>
          <a:stretch>
            <a:fillRect/>
          </a:stretch>
        </p:blipFill>
        <p:spPr>
          <a:xfrm>
            <a:off x="2979323" y="2212848"/>
            <a:ext cx="1188720" cy="794956"/>
          </a:xfrm>
          <a:prstGeom prst="rect">
            <a:avLst/>
          </a:prstGeom>
        </p:spPr>
      </p:pic>
      <p:sp>
        <p:nvSpPr>
          <p:cNvPr id="7" name="TextBox 6"/>
          <p:cNvSpPr txBox="1"/>
          <p:nvPr/>
        </p:nvSpPr>
        <p:spPr>
          <a:xfrm>
            <a:off x="4259483" y="2212848"/>
            <a:ext cx="2194560" cy="822960"/>
          </a:xfrm>
          <a:prstGeom prst="rect">
            <a:avLst/>
          </a:prstGeom>
          <a:noFill/>
        </p:spPr>
        <p:txBody>
          <a:bodyPr wrap="square" lIns="0" rIns="0" tIns="0" bIns="0" anchor="t">
            <a:spAutoFit/>
          </a:bodyPr>
          <a:lstStyle/>
          <a:p>
            <a:pPr algn="l"/>
            <a:r>
              <a:rPr sz="1000" b="1" i="0">
                <a:solidFill>
                  <a:srgbClr val="C8102E"/>
                </a:solidFill>
                <a:latin typeface="Lato"/>
              </a:rPr>
              <a:t>1965: Medicare enacted</a:t>
            </a:r>
          </a:p>
          <a:p>
            <a:pPr algn="l"/>
            <a:r>
              <a:rPr sz="1000" b="0" i="0">
                <a:solidFill>
                  <a:srgbClr val="000000"/>
                </a:solidFill>
                <a:latin typeface="Lato"/>
              </a:rPr>
              <a:t>President Johnson signs the bill with former President Truman (LBJ Library)</a:t>
            </a:r>
          </a:p>
        </p:txBody>
      </p:sp>
      <p:sp>
        <p:nvSpPr>
          <p:cNvPr id="8" name="Oval 7"/>
          <p:cNvSpPr/>
          <p:nvPr/>
        </p:nvSpPr>
        <p:spPr>
          <a:xfrm>
            <a:off x="2823875" y="3485304"/>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5060583" y="4410722"/>
            <a:ext cx="0" cy="435598"/>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6575" y="4213726"/>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52023" y="4846320"/>
            <a:ext cx="2377440" cy="548640"/>
          </a:xfrm>
          <a:prstGeom prst="rect">
            <a:avLst/>
          </a:prstGeom>
          <a:noFill/>
        </p:spPr>
        <p:txBody>
          <a:bodyPr wrap="square" lIns="0" rIns="0" tIns="0" bIns="0" anchor="t">
            <a:spAutoFit/>
          </a:bodyPr>
          <a:lstStyle/>
          <a:p>
            <a:pPr algn="l"/>
            <a:r>
              <a:rPr sz="1000" b="1" i="0">
                <a:solidFill>
                  <a:srgbClr val="C8102E"/>
                </a:solidFill>
                <a:latin typeface="Lato"/>
              </a:rPr>
              <a:t>1980: Bayh-Dole Act</a:t>
            </a:r>
          </a:p>
          <a:p>
            <a:pPr algn="l"/>
            <a:r>
              <a:rPr sz="1000" b="0" i="0">
                <a:solidFill>
                  <a:srgbClr val="000000"/>
                </a:solidFill>
                <a:latin typeface="Lato"/>
              </a:rPr>
              <a:t>Universities may patent federally funded research</a:t>
            </a:r>
          </a:p>
        </p:txBody>
      </p:sp>
      <p:cxnSp>
        <p:nvCxnSpPr>
          <p:cNvPr id="12" name="Connector 11"/>
          <p:cNvCxnSpPr/>
          <p:nvPr/>
        </p:nvCxnSpPr>
        <p:spPr>
          <a:xfrm>
            <a:off x="9261137" y="4610290"/>
            <a:ext cx="0" cy="236030"/>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197129" y="4393337"/>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92257" y="4846320"/>
            <a:ext cx="2377440" cy="548640"/>
          </a:xfrm>
          <a:prstGeom prst="rect">
            <a:avLst/>
          </a:prstGeom>
          <a:noFill/>
        </p:spPr>
        <p:txBody>
          <a:bodyPr wrap="square" lIns="0" rIns="0" tIns="0" bIns="0" anchor="t">
            <a:spAutoFit/>
          </a:bodyPr>
          <a:lstStyle/>
          <a:p>
            <a:pPr algn="r"/>
            <a:r>
              <a:rPr sz="1000" b="1" i="0">
                <a:solidFill>
                  <a:srgbClr val="C8102E"/>
                </a:solidFill>
                <a:latin typeface="Lato"/>
              </a:rPr>
              <a:t>2009: Recovery Act (ARRA)</a:t>
            </a:r>
          </a:p>
          <a:p>
            <a:pPr algn="r"/>
            <a:r>
              <a:rPr sz="1000" b="0" i="0">
                <a:solidFill>
                  <a:srgbClr val="000000"/>
                </a:solidFill>
                <a:latin typeface="Lato"/>
              </a:rPr>
              <a:t>Temporary federal R&amp;D bump</a:t>
            </a:r>
          </a:p>
        </p:txBody>
      </p:sp>
      <p:sp>
        <p:nvSpPr>
          <p:cNvPr id="15" name="Rectangle 14"/>
          <p:cNvSpPr/>
          <p:nvPr/>
        </p:nvSpPr>
        <p:spPr>
          <a:xfrm>
            <a:off x="7040880" y="2194560"/>
            <a:ext cx="265176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2249424"/>
            <a:ext cx="2468880" cy="822960"/>
          </a:xfrm>
          <a:prstGeom prst="rect">
            <a:avLst/>
          </a:prstGeom>
          <a:noFill/>
        </p:spPr>
        <p:txBody>
          <a:bodyPr wrap="square" lIns="0" rIns="0" tIns="0" bIns="0" anchor="t">
            <a:spAutoFit/>
          </a:bodyPr>
          <a:lstStyle/>
          <a:p>
            <a:pPr algn="l"/>
            <a:r>
              <a:rPr sz="1000" b="1" i="0">
                <a:solidFill>
                  <a:srgbClr val="C8102E"/>
                </a:solidFill>
                <a:latin typeface="Lato"/>
              </a:rPr>
              <a:t>2024</a:t>
            </a:r>
          </a:p>
          <a:p>
            <a:pPr algn="l"/>
            <a:r>
              <a:rPr sz="1000" b="0" i="0">
                <a:solidFill>
                  <a:srgbClr val="000000"/>
                </a:solidFill>
                <a:latin typeface="Lato"/>
              </a:rPr>
              <a:t>Total U.S. R&amp;D was 3.39% of GDP: business 2.54%, federal 0.63%, other nonfederal 0.22%.</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National Patterns of R&amp;D Resources (NSF 26-314, figure 3), 2024 estimate; photo: LBJ Library, public domain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regulation has grown from 9,745 pages in 1950 to 194,395 in 2024, twentyfold</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Total pages in the Code of Federal Regulations, 1950–2024. At one page a day, the full Code would take 533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George Washington University Regulatory Studies Center, Reg-Stats (Federal Register statistics; GovInfo for 2024)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r:id="rId2"/>
          </a:graphicData>
        </a:graphic>
      </p:graphicFrame>
      <p:sp>
        <p:nvSpPr>
          <p:cNvPr id="5" name="TextBox 4"/>
          <p:cNvSpPr txBox="1"/>
          <p:nvPr/>
        </p:nvSpPr>
        <p:spPr>
          <a:xfrm>
            <a:off x="457200" y="1938528"/>
            <a:ext cx="1280160" cy="228600"/>
          </a:xfrm>
          <a:prstGeom prst="rect">
            <a:avLst/>
          </a:prstGeom>
          <a:noFill/>
        </p:spPr>
        <p:txBody>
          <a:bodyPr wrap="square" lIns="0" rIns="0" t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783080"/>
            <a:ext cx="2971800" cy="274320"/>
          </a:xfrm>
          <a:prstGeom prst="rect">
            <a:avLst/>
          </a:prstGeom>
          <a:noFill/>
        </p:spPr>
        <p:txBody>
          <a:bodyPr wrap="square" lIns="0" rIns="0" t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rIns="0" t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rIns="0" t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rIns="0" t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rIns="0" t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Post-secondary institutions by level and control, 2021–22;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rIns="0" t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rIns="0" t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rIns="0" t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rIns="0" t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rIns="0" tIns="0" bIns="0" anchor="t">
            <a:spAutoFit/>
          </a:bodyPr>
          <a:lstStyle/>
          <a:p>
            <a:pPr algn="l"/>
            <a:r>
              <a:rPr sz="3600" b="1" i="0">
                <a:solidFill>
                  <a:srgbClr val="C8102E"/>
                </a:solidFill>
                <a:latin typeface="Lato"/>
              </a:rPr>
              <a:t>3,896</a:t>
            </a:r>
          </a:p>
        </p:txBody>
      </p:sp>
      <p:sp>
        <p:nvSpPr>
          <p:cNvPr id="13" name="TextBox 12"/>
          <p:cNvSpPr txBox="1"/>
          <p:nvPr/>
        </p:nvSpPr>
        <p:spPr>
          <a:xfrm>
            <a:off x="8686800" y="5330952"/>
            <a:ext cx="3044952" cy="731520"/>
          </a:xfrm>
          <a:prstGeom prst="rect">
            <a:avLst/>
          </a:prstGeom>
          <a:noFill/>
        </p:spPr>
        <p:txBody>
          <a:bodyPr wrap="square" lIns="0" rIns="0" tIns="0" bIns="0" anchor="t">
            <a:spAutoFit/>
          </a:bodyPr>
          <a:lstStyle/>
          <a:p>
            <a:pPr algn="l"/>
            <a:r>
              <a:rPr sz="1100" b="0" i="0">
                <a:solidFill>
                  <a:srgbClr val="000000"/>
                </a:solidFill>
                <a:latin typeface="Lato"/>
              </a:rPr>
              <a:t>degree-granting institutions in 2022–23 (2,628 four-year, 1,268 two-year), down 18% from the 2012–13 peak. All Title IV institutions fell 2% to 5,819 in 2023–24.</a:t>
            </a:r>
          </a:p>
        </p:txBody>
      </p:sp>
      <p:sp>
        <p:nvSpPr>
          <p:cNvPr id="14" name="TextBox 13"/>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NCES Digest of Education Statistics 2023 (Tables 317.10 and 317.20) and IPEDS; 2021–22 academic year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U.S. has 6.9 colleges per million people, four times the average of large countries</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Colleges and universities per 1 million population, countries with 50 million or more people (n=29); excludes India and China</a:t>
            </a:r>
          </a:p>
        </p:txBody>
      </p:sp>
      <p:graphicFrame>
        <p:nvGraphicFramePr>
          <p:cNvPr id="4" name="Chart 3"/>
          <p:cNvGraphicFramePr>
            <a:graphicFrameLocks noGrp="1"/>
          </p:cNvGraphicFramePr>
          <p:nvPr/>
        </p:nvGraphicFramePr>
        <p:xfrm>
          <a:off x="457200" y="1600200"/>
          <a:ext cx="11274552" cy="4206240"/>
        </p:xfrm>
        <a:graphic>
          <a:graphicData uri="http://schemas.openxmlformats.org/drawingml/2006/chart">
            <c:chart xmlns:c="http://schemas.openxmlformats.org/drawingml/2006/chart" r:id="rId2"/>
          </a:graphicData>
        </a:graphic>
      </p:graphicFrame>
      <p:sp>
        <p:nvSpPr>
          <p:cNvPr id="5" name="TextBox 4"/>
          <p:cNvSpPr txBox="1"/>
          <p:nvPr/>
        </p:nvSpPr>
        <p:spPr>
          <a:xfrm>
            <a:off x="5120640" y="2011680"/>
            <a:ext cx="6217920" cy="914400"/>
          </a:xfrm>
          <a:prstGeom prst="rect">
            <a:avLst/>
          </a:prstGeom>
          <a:noFill/>
        </p:spPr>
        <p:txBody>
          <a:bodyPr wrap="square" lIns="0" rIns="0" tIns="0" bIns="0" anchor="t">
            <a:spAutoFit/>
          </a:bodyPr>
          <a:lstStyle/>
          <a:p>
            <a:pPr algn="l"/>
            <a:r>
              <a:rPr sz="1200" b="0" i="0">
                <a:solidFill>
                  <a:srgbClr val="000000"/>
                </a:solidFill>
                <a:latin typeface="Lato"/>
              </a:rPr>
              <a:t>Korea (4.71), Japan (4.61) and France (4.33) come closest, at 63% to 68% of the U.S. rate. 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World Bank; HIPI university list. Excludes India (0.33 per million; 474 colleges) and China (0.28; 398 colleges).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r:id="rId2"/>
          </a:graphicData>
        </a:graphic>
      </p:graphicFrame>
      <p:sp>
        <p:nvSpPr>
          <p:cNvPr id="5" name="TextBox 4"/>
          <p:cNvSpPr txBox="1"/>
          <p:nvPr/>
        </p:nvSpPr>
        <p:spPr>
          <a:xfrm>
            <a:off x="457200" y="5852160"/>
            <a:ext cx="11247120" cy="365760"/>
          </a:xfrm>
          <a:prstGeom prst="rect">
            <a:avLst/>
          </a:prstGeom>
          <a:noFill/>
        </p:spPr>
        <p:txBody>
          <a:bodyPr wrap="square" lIns="0" rIns="0" tIns="0" bIns="0" anchor="t">
            <a:spAutoFit/>
          </a:bodyPr>
          <a:lstStyle/>
          <a:p>
            <a:pPr algn="l"/>
            <a:r>
              <a:rPr sz="1100" b="0" i="1">
                <a:solidFill>
                  <a:srgbClr val="595959"/>
                </a:solidFill>
                <a:latin typeface="Lato"/>
              </a:rPr>
              <a:t>The 1984 birth cohort is the latest in Opportunity Insights’ published data (Chetty et al., Science 2017); the data table has not been extended.</a:t>
            </a:r>
          </a:p>
        </p:txBody>
      </p:sp>
      <p:sp>
        <p:nvSpPr>
          <p:cNvPr id="6" name="TextBox 5"/>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Opportunity Insights (formerly The Equality of Opportunity Project), Chetty et 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usual weekly earnings and unemployment rate by educational attainment, full-time wage and salary workers age 25 and over, 2025</a:t>
            </a:r>
          </a:p>
        </p:txBody>
      </p:sp>
      <p:sp>
        <p:nvSpPr>
          <p:cNvPr id="4" name="TextBox 3"/>
          <p:cNvSpPr txBox="1"/>
          <p:nvPr/>
        </p:nvSpPr>
        <p:spPr>
          <a:xfrm>
            <a:off x="457200" y="1691640"/>
            <a:ext cx="6675120" cy="274320"/>
          </a:xfrm>
          <a:prstGeom prst="rect">
            <a:avLst/>
          </a:prstGeom>
          <a:noFill/>
        </p:spPr>
        <p:txBody>
          <a:bodyPr wrap="square" lIns="0" rIns="0" tIns="0" bIns="0" anchor="t">
            <a:spAutoFit/>
          </a:bodyPr>
          <a:lstStyle/>
          <a:p>
            <a:pPr algn="l"/>
            <a:r>
              <a:rPr sz="1300" b="1" i="0">
                <a:solidFill>
                  <a:srgbClr val="000000"/>
                </a:solidFill>
                <a:latin typeface="Lato"/>
              </a:rPr>
              <a:t>Median usual weekly earnings ($)</a:t>
            </a:r>
          </a:p>
        </p:txBody>
      </p:sp>
      <p:graphicFrame>
        <p:nvGraphicFramePr>
          <p:cNvPr id="5" name="Chart 4"/>
          <p:cNvGraphicFramePr>
            <a:graphicFrameLocks noGrp="1"/>
          </p:cNvGraphicFramePr>
          <p:nvPr/>
        </p:nvGraphicFramePr>
        <p:xfrm>
          <a:off x="457200" y="1965960"/>
          <a:ext cx="6949440" cy="4023360"/>
        </p:xfrm>
        <a:graphic>
          <a:graphicData uri="http://schemas.openxmlformats.org/drawingml/2006/chart">
            <c:chart xmlns:c="http://schemas.openxmlformats.org/drawingml/2006/chart" r:id="rId2"/>
          </a:graphicData>
        </a:graphic>
      </p:graphicFrame>
      <p:sp>
        <p:nvSpPr>
          <p:cNvPr id="6" name="TextBox 5"/>
          <p:cNvSpPr txBox="1"/>
          <p:nvPr/>
        </p:nvSpPr>
        <p:spPr>
          <a:xfrm>
            <a:off x="7772400" y="1691640"/>
            <a:ext cx="3931920" cy="274320"/>
          </a:xfrm>
          <a:prstGeom prst="rect">
            <a:avLst/>
          </a:prstGeom>
          <a:noFill/>
        </p:spPr>
        <p:txBody>
          <a:bodyPr wrap="square" lIns="0" rIns="0" t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772400" y="1965960"/>
          <a:ext cx="3959352" cy="4023360"/>
        </p:xfrm>
        <a:graphic>
          <a:graphicData uri="http://schemas.openxmlformats.org/drawingml/2006/chart">
            <c:chart xmlns:c="http://schemas.openxmlformats.org/drawingml/2006/chart" r:id="rId3"/>
          </a:graphicData>
        </a:graphic>
      </p:graphicFrame>
      <p:sp>
        <p:nvSpPr>
          <p:cNvPr id="8" name="TextBox 7"/>
          <p:cNvSpPr txBox="1"/>
          <p:nvPr/>
        </p:nvSpPr>
        <p:spPr>
          <a:xfrm>
            <a:off x="457200" y="5989320"/>
            <a:ext cx="11247120" cy="320040"/>
          </a:xfrm>
          <a:prstGeom prst="rect">
            <a:avLst/>
          </a:prstGeom>
          <a:noFill/>
        </p:spPr>
        <p:txBody>
          <a:bodyPr wrap="square" lIns="0" rIns="0" tIns="0" bIns="0" anchor="t">
            <a:spAutoFit/>
          </a:bodyPr>
          <a:lstStyle/>
          <a:p>
            <a:pPr algn="l"/>
            <a:r>
              <a:rPr sz="1000" b="0" i="1">
                <a:solidFill>
                  <a:srgbClr val="595959"/>
                </a:solidFill>
                <a:latin typeface="Lato"/>
              </a:rPr>
              <a:t>A master’s degree earns 19% more than a bachelor’s. 2025 annual estimates are 11-month averages that exclude October (federal shutdown) and are not strictly comparable with earlier years.</a:t>
            </a:r>
          </a:p>
        </p:txBody>
      </p:sp>
      <p:sp>
        <p:nvSpPr>
          <p:cNvPr id="9" name="TextBox 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Bureau of Labor Statistics, Current Population Survey (Education Pays, 2025)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spending ($ billion), latest available; items updated in this edition are labeled with their year;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APPA, AGA, NASPL, BTS, NRF, CRS/Congress.gov (NIH, NSF FY2026); other items 2024 from sources in speaker notes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7" name="Scorecard scatter [PEER_KEEP]"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2"/>
          </a:graphicData>
        </a:graphic>
      </p:graphicFrame>
      <p:cxnSp>
        <p:nvCxnSpPr>
          <p:cNvPr id="8" name="Leader Yale University [PEER_KEEP]"/>
          <p:cNvCxnSpPr/>
          <p:nvPr/>
        </p:nvCxnSpPr>
        <p:spPr>
          <a:xfrm>
            <a:off x="5421464" y="2627416"/>
            <a:ext cx="475488" cy="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9" name="Leader Georgetown University [PEER_KEEP]"/>
          <p:cNvCxnSpPr/>
          <p:nvPr/>
        </p:nvCxnSpPr>
        <p:spPr>
          <a:xfrm flipV="1">
            <a:off x="8369649" y="2425491"/>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0" name="Leader Stevens Institute of Technology [PEER_KEEP]"/>
          <p:cNvCxnSpPr/>
          <p:nvPr/>
        </p:nvCxnSpPr>
        <p:spPr>
          <a:xfrm flipV="1">
            <a:off x="8442384" y="2247550"/>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1" name="Leader University of Pennsylvania [PEER_KEEP]"/>
          <p:cNvCxnSpPr/>
          <p:nvPr/>
        </p:nvCxnSpPr>
        <p:spPr>
          <a:xfrm flipV="1">
            <a:off x="6267433" y="1881057"/>
            <a:ext cx="479865" cy="479865"/>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2" name="Leader California Polytechnic State University-San Luis Obispo [PEER_KEEP]"/>
          <p:cNvCxnSpPr/>
          <p:nvPr/>
        </p:nvCxnSpPr>
        <p:spPr>
          <a:xfrm>
            <a:off x="4160047" y="2877480"/>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3" name="Leader Colorado School of Mines [PEER_KEEP]"/>
          <p:cNvCxnSpPr/>
          <p:nvPr/>
        </p:nvCxnSpPr>
        <p:spPr>
          <a:xfrm flipV="1">
            <a:off x="6246474" y="1987095"/>
            <a:ext cx="0" cy="68580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4" name="Leader Columbia University in the City of New York [PEER_KEEP]"/>
          <p:cNvCxnSpPr/>
          <p:nvPr/>
        </p:nvCxnSpPr>
        <p:spPr>
          <a:xfrm flipH="1" flipV="1">
            <a:off x="4662527" y="2230731"/>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5" name="Leader SUNY Maritime College [PEER_KEEP]"/>
          <p:cNvCxnSpPr/>
          <p:nvPr/>
        </p:nvCxnSpPr>
        <p:spPr>
          <a:xfrm flipV="1">
            <a:off x="5149387" y="2228961"/>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6" name="Leader University of Southern California [PEER_KEEP]"/>
          <p:cNvCxnSpPr/>
          <p:nvPr/>
        </p:nvCxnSpPr>
        <p:spPr>
          <a:xfrm>
            <a:off x="6968576" y="2830003"/>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7" name="Leader Missouri University of Science and Technology [PEER_KEEP]"/>
          <p:cNvCxnSpPr/>
          <p:nvPr/>
        </p:nvCxnSpPr>
        <p:spPr>
          <a:xfrm flipH="1">
            <a:off x="3859541" y="3047529"/>
            <a:ext cx="217432" cy="217432"/>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8" name="Leader Johns Hopkins University [PEER_KEEP]"/>
          <p:cNvCxnSpPr/>
          <p:nvPr/>
        </p:nvCxnSpPr>
        <p:spPr>
          <a:xfrm>
            <a:off x="4532047" y="2950734"/>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9" name="Leader Dartmouth College [PEER_KEEP]"/>
          <p:cNvCxnSpPr/>
          <p:nvPr/>
        </p:nvCxnSpPr>
        <p:spPr>
          <a:xfrm>
            <a:off x="6390312" y="2725502"/>
            <a:ext cx="0" cy="68580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0" name="Leader Cornell University [PEER_KEEP]"/>
          <p:cNvCxnSpPr/>
          <p:nvPr/>
        </p:nvCxnSpPr>
        <p:spPr>
          <a:xfrm flipH="1" flipV="1">
            <a:off x="6112057" y="2412974"/>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1" name="Leader Boston College [PEER_KEEP]"/>
          <p:cNvCxnSpPr/>
          <p:nvPr/>
        </p:nvCxnSpPr>
        <p:spPr>
          <a:xfrm flipH="1" flipV="1">
            <a:off x="8370082" y="2415391"/>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2" name="Leader Claremont McKenna College [PEER_KEEP]"/>
          <p:cNvCxnSpPr/>
          <p:nvPr/>
        </p:nvCxnSpPr>
        <p:spPr>
          <a:xfrm flipV="1">
            <a:off x="6293459" y="2179547"/>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3" name="Leader Yeshiva University [PEER_KEEP]"/>
          <p:cNvCxnSpPr/>
          <p:nvPr/>
        </p:nvCxnSpPr>
        <p:spPr>
          <a:xfrm flipH="1" flipV="1">
            <a:off x="9803427" y="3158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4" name="Leader Massachusetts Maritime Academy [PEER_KEEP]"/>
          <p:cNvCxnSpPr/>
          <p:nvPr/>
        </p:nvCxnSpPr>
        <p:spPr>
          <a:xfrm>
            <a:off x="5032581" y="3060410"/>
            <a:ext cx="217432" cy="217433"/>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25" name="Leader Illinois Institute of Technology [PEER_KEEP]"/>
          <p:cNvCxnSpPr/>
          <p:nvPr/>
        </p:nvCxnSpPr>
        <p:spPr>
          <a:xfrm flipV="1">
            <a:off x="4465420" y="2533533"/>
            <a:ext cx="0" cy="475488"/>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6" name="Leader Fairfield University [PEER_KEEP]"/>
          <p:cNvCxnSpPr/>
          <p:nvPr/>
        </p:nvCxnSpPr>
        <p:spPr>
          <a:xfrm flipV="1">
            <a:off x="9632782" y="2658224"/>
            <a:ext cx="217433" cy="21743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7" name="Leader Washington University in St Louis [PEER_KEEP]"/>
          <p:cNvCxnSpPr/>
          <p:nvPr/>
        </p:nvCxnSpPr>
        <p:spPr>
          <a:xfrm flipH="1" flipV="1">
            <a:off x="4914162" y="2820188"/>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8" name="Leader Vanderbilt University [PEER_KEEP]"/>
          <p:cNvCxnSpPr/>
          <p:nvPr/>
        </p:nvCxnSpPr>
        <p:spPr>
          <a:xfrm flipH="1">
            <a:off x="3883528" y="2851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9" name="Leader Cal Poly Maritime Academy [PEER_KEEP]"/>
          <p:cNvCxnSpPr/>
          <p:nvPr/>
        </p:nvCxnSpPr>
        <p:spPr>
          <a:xfrm>
            <a:off x="4862423" y="2758487"/>
            <a:ext cx="475488" cy="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sp>
        <p:nvSpPr>
          <p:cNvPr id="30" name="Label Harvard University [PEER_KEEP]"/>
          <p:cNvSpPr txBox="1"/>
          <p:nvPr/>
        </p:nvSpPr>
        <p:spPr>
          <a:xfrm>
            <a:off x="4649791" y="2529562"/>
            <a:ext cx="4248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Harvard</a:t>
            </a:r>
          </a:p>
        </p:txBody>
      </p:sp>
      <p:sp>
        <p:nvSpPr>
          <p:cNvPr id="31" name="Label Massachusetts Institute of Technology [PEER_KEEP]"/>
          <p:cNvSpPr txBox="1"/>
          <p:nvPr/>
        </p:nvSpPr>
        <p:spPr>
          <a:xfrm>
            <a:off x="4831106" y="1582148"/>
            <a:ext cx="25247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MIT</a:t>
            </a:r>
          </a:p>
        </p:txBody>
      </p:sp>
      <p:sp>
        <p:nvSpPr>
          <p:cNvPr id="32" name="Label Stanford University [PEER_KEEP]"/>
          <p:cNvSpPr txBox="1"/>
          <p:nvPr/>
        </p:nvSpPr>
        <p:spPr>
          <a:xfrm>
            <a:off x="3148893" y="2021987"/>
            <a:ext cx="44211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Stanford</a:t>
            </a:r>
          </a:p>
        </p:txBody>
      </p:sp>
      <p:sp>
        <p:nvSpPr>
          <p:cNvPr id="33" name="Label Princeton University [PEER_KEEP]"/>
          <p:cNvSpPr txBox="1"/>
          <p:nvPr/>
        </p:nvSpPr>
        <p:spPr>
          <a:xfrm>
            <a:off x="2404952" y="2341492"/>
            <a:ext cx="4855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Princeton</a:t>
            </a:r>
          </a:p>
        </p:txBody>
      </p:sp>
      <p:sp>
        <p:nvSpPr>
          <p:cNvPr id="34" name="Label United States Merchant Marine Academy [PEER_KEEP]"/>
          <p:cNvSpPr txBox="1"/>
          <p:nvPr/>
        </p:nvSpPr>
        <p:spPr>
          <a:xfrm>
            <a:off x="2412933" y="2785070"/>
            <a:ext cx="5116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U.S. MMA</a:t>
            </a:r>
          </a:p>
        </p:txBody>
      </p:sp>
      <p:sp>
        <p:nvSpPr>
          <p:cNvPr id="35" name="Label Georgia Institute of Technology-Main Campus [PEER_KEEP]"/>
          <p:cNvSpPr txBox="1"/>
          <p:nvPr/>
        </p:nvSpPr>
        <p:spPr>
          <a:xfrm>
            <a:off x="3421969" y="2388002"/>
            <a:ext cx="4253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GA Tech</a:t>
            </a:r>
          </a:p>
        </p:txBody>
      </p:sp>
      <p:sp>
        <p:nvSpPr>
          <p:cNvPr id="36" name="Label Yale University [PEER_KEEP]"/>
          <p:cNvSpPr txBox="1"/>
          <p:nvPr/>
        </p:nvSpPr>
        <p:spPr>
          <a:xfrm>
            <a:off x="5896952" y="2558836"/>
            <a:ext cx="25365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Yale</a:t>
            </a:r>
          </a:p>
        </p:txBody>
      </p:sp>
      <p:sp>
        <p:nvSpPr>
          <p:cNvPr id="37" name="Label Georgetown University [PEER_KEEP]"/>
          <p:cNvSpPr txBox="1"/>
          <p:nvPr/>
        </p:nvSpPr>
        <p:spPr>
          <a:xfrm>
            <a:off x="8484668" y="2288331"/>
            <a:ext cx="59648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Georgetown</a:t>
            </a:r>
          </a:p>
        </p:txBody>
      </p:sp>
      <p:sp>
        <p:nvSpPr>
          <p:cNvPr id="38" name="Label Stevens Institute of Technology [PEER_KEEP]"/>
          <p:cNvSpPr txBox="1"/>
          <p:nvPr/>
        </p:nvSpPr>
        <p:spPr>
          <a:xfrm>
            <a:off x="7989299" y="2110390"/>
            <a:ext cx="90616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Stevens Inst of Tech</a:t>
            </a:r>
          </a:p>
        </p:txBody>
      </p:sp>
      <p:sp>
        <p:nvSpPr>
          <p:cNvPr id="39" name="Label Worcester Polytechnic Institute [PEER_KEEP]"/>
          <p:cNvSpPr txBox="1"/>
          <p:nvPr/>
        </p:nvSpPr>
        <p:spPr>
          <a:xfrm>
            <a:off x="7977285" y="2611661"/>
            <a:ext cx="71319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Worcester Poly</a:t>
            </a:r>
          </a:p>
        </p:txBody>
      </p:sp>
      <p:sp>
        <p:nvSpPr>
          <p:cNvPr id="40" name="Label University of Pennsylvania [PEER_KEEP]"/>
          <p:cNvSpPr txBox="1"/>
          <p:nvPr/>
        </p:nvSpPr>
        <p:spPr>
          <a:xfrm>
            <a:off x="6747298" y="1743897"/>
            <a:ext cx="38658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 Penn</a:t>
            </a:r>
          </a:p>
        </p:txBody>
      </p:sp>
      <p:sp>
        <p:nvSpPr>
          <p:cNvPr id="41" name="Label Berea College [PEER_KEEP]"/>
          <p:cNvSpPr txBox="1"/>
          <p:nvPr/>
        </p:nvSpPr>
        <p:spPr>
          <a:xfrm>
            <a:off x="1930060" y="3867113"/>
            <a:ext cx="3247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Berea</a:t>
            </a:r>
          </a:p>
        </p:txBody>
      </p:sp>
      <p:sp>
        <p:nvSpPr>
          <p:cNvPr id="42" name="Label CUNY Bernard M Baruch College [PEER_KEEP]"/>
          <p:cNvSpPr txBox="1"/>
          <p:nvPr/>
        </p:nvSpPr>
        <p:spPr>
          <a:xfrm>
            <a:off x="1867947" y="3118826"/>
            <a:ext cx="11392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CUNY Bernard M Baruch</a:t>
            </a:r>
          </a:p>
        </p:txBody>
      </p:sp>
      <p:sp>
        <p:nvSpPr>
          <p:cNvPr id="43" name="Label California Polytechnic State University-San Luis Obispo [PEER_KEEP]"/>
          <p:cNvSpPr txBox="1"/>
          <p:nvPr/>
        </p:nvSpPr>
        <p:spPr>
          <a:xfrm>
            <a:off x="3948795" y="3352968"/>
            <a:ext cx="42250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Poly</a:t>
            </a:r>
          </a:p>
        </p:txBody>
      </p:sp>
      <p:sp>
        <p:nvSpPr>
          <p:cNvPr id="44" name="Label University of Virginia-Main Campus [PEER_KEEP]"/>
          <p:cNvSpPr txBox="1"/>
          <p:nvPr/>
        </p:nvSpPr>
        <p:spPr>
          <a:xfrm>
            <a:off x="4662405" y="2870498"/>
            <a:ext cx="2746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UVA</a:t>
            </a:r>
          </a:p>
        </p:txBody>
      </p:sp>
      <p:sp>
        <p:nvSpPr>
          <p:cNvPr id="45" name="Label Bryant University [PEER_KEEP]"/>
          <p:cNvSpPr txBox="1"/>
          <p:nvPr/>
        </p:nvSpPr>
        <p:spPr>
          <a:xfrm>
            <a:off x="8493500" y="2798796"/>
            <a:ext cx="45863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Bryant U</a:t>
            </a:r>
          </a:p>
        </p:txBody>
      </p:sp>
      <p:sp>
        <p:nvSpPr>
          <p:cNvPr id="46" name="Label California Institute of Technology [PEER_KEEP]"/>
          <p:cNvSpPr txBox="1"/>
          <p:nvPr/>
        </p:nvSpPr>
        <p:spPr>
          <a:xfrm>
            <a:off x="4130830" y="1919710"/>
            <a:ext cx="43342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 Tech</a:t>
            </a:r>
          </a:p>
        </p:txBody>
      </p:sp>
      <p:sp>
        <p:nvSpPr>
          <p:cNvPr id="47" name="Label Duke University [PEER_KEEP]"/>
          <p:cNvSpPr txBox="1"/>
          <p:nvPr/>
        </p:nvSpPr>
        <p:spPr>
          <a:xfrm>
            <a:off x="6053688" y="2740932"/>
            <a:ext cx="3015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Duke</a:t>
            </a:r>
          </a:p>
        </p:txBody>
      </p:sp>
      <p:sp>
        <p:nvSpPr>
          <p:cNvPr id="48" name="Label Rice University [PEER_KEEP]"/>
          <p:cNvSpPr txBox="1"/>
          <p:nvPr/>
        </p:nvSpPr>
        <p:spPr>
          <a:xfrm>
            <a:off x="3257172" y="2805407"/>
            <a:ext cx="2580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Rice</a:t>
            </a:r>
          </a:p>
        </p:txBody>
      </p:sp>
      <p:sp>
        <p:nvSpPr>
          <p:cNvPr id="49" name="Label Colorado School of Mines [PEER_KEEP]"/>
          <p:cNvSpPr txBox="1"/>
          <p:nvPr/>
        </p:nvSpPr>
        <p:spPr>
          <a:xfrm>
            <a:off x="5856989" y="1849935"/>
            <a:ext cx="7789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Col Sch of Mines</a:t>
            </a:r>
          </a:p>
        </p:txBody>
      </p:sp>
      <p:sp>
        <p:nvSpPr>
          <p:cNvPr id="50" name="Label Naropa University [PEER_KEEP]"/>
          <p:cNvSpPr txBox="1"/>
          <p:nvPr/>
        </p:nvSpPr>
        <p:spPr>
          <a:xfrm>
            <a:off x="6404471" y="4196103"/>
            <a:ext cx="48930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Naropa U</a:t>
            </a:r>
          </a:p>
        </p:txBody>
      </p:sp>
      <p:sp>
        <p:nvSpPr>
          <p:cNvPr id="51" name="Label Sacred Heart University [PEER_KEEP]"/>
          <p:cNvSpPr txBox="1"/>
          <p:nvPr/>
        </p:nvSpPr>
        <p:spPr>
          <a:xfrm>
            <a:off x="8596197" y="3259405"/>
            <a:ext cx="632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Sacred Heart</a:t>
            </a:r>
          </a:p>
        </p:txBody>
      </p:sp>
      <p:sp>
        <p:nvSpPr>
          <p:cNvPr id="52" name="Label Bentley University [PEER_KEEP]"/>
          <p:cNvSpPr txBox="1"/>
          <p:nvPr/>
        </p:nvSpPr>
        <p:spPr>
          <a:xfrm>
            <a:off x="7604267" y="1951410"/>
            <a:ext cx="4908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Bentley U</a:t>
            </a:r>
          </a:p>
        </p:txBody>
      </p:sp>
      <p:sp>
        <p:nvSpPr>
          <p:cNvPr id="53" name="Label Carnegie Mellon University [PEER_KEEP]"/>
          <p:cNvSpPr txBox="1"/>
          <p:nvPr/>
        </p:nvSpPr>
        <p:spPr>
          <a:xfrm>
            <a:off x="6884219" y="2232148"/>
            <a:ext cx="76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Carnegie Mellon</a:t>
            </a:r>
          </a:p>
        </p:txBody>
      </p:sp>
      <p:sp>
        <p:nvSpPr>
          <p:cNvPr id="54" name="Label Columbia University in the City of New York [PEER_KEEP]"/>
          <p:cNvSpPr txBox="1"/>
          <p:nvPr/>
        </p:nvSpPr>
        <p:spPr>
          <a:xfrm>
            <a:off x="4180015" y="2093571"/>
            <a:ext cx="48251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Columbia</a:t>
            </a:r>
          </a:p>
        </p:txBody>
      </p:sp>
      <p:sp>
        <p:nvSpPr>
          <p:cNvPr id="55" name="Label SUNY Maritime College [PEER_KEEP]"/>
          <p:cNvSpPr txBox="1"/>
          <p:nvPr/>
        </p:nvSpPr>
        <p:spPr>
          <a:xfrm>
            <a:off x="4780400" y="2091801"/>
            <a:ext cx="73797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SUNY Maritime</a:t>
            </a:r>
          </a:p>
        </p:txBody>
      </p:sp>
      <p:sp>
        <p:nvSpPr>
          <p:cNvPr id="56" name="Label University of Southern California [PEER_KEEP]"/>
          <p:cNvSpPr txBox="1"/>
          <p:nvPr/>
        </p:nvSpPr>
        <p:spPr>
          <a:xfrm>
            <a:off x="7083596" y="2945023"/>
            <a:ext cx="26695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USC</a:t>
            </a:r>
          </a:p>
        </p:txBody>
      </p:sp>
      <p:sp>
        <p:nvSpPr>
          <p:cNvPr id="57" name="Label Villanova University [PEER_KEEP]"/>
          <p:cNvSpPr txBox="1"/>
          <p:nvPr/>
        </p:nvSpPr>
        <p:spPr>
          <a:xfrm>
            <a:off x="8933688" y="2561344"/>
            <a:ext cx="4711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Villanova</a:t>
            </a:r>
          </a:p>
        </p:txBody>
      </p:sp>
      <p:sp>
        <p:nvSpPr>
          <p:cNvPr id="58" name="Label Emerson College [PEER_KEEP]"/>
          <p:cNvSpPr txBox="1"/>
          <p:nvPr/>
        </p:nvSpPr>
        <p:spPr>
          <a:xfrm>
            <a:off x="9282814" y="3418382"/>
            <a:ext cx="445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Emerson</a:t>
            </a:r>
          </a:p>
        </p:txBody>
      </p:sp>
      <p:sp>
        <p:nvSpPr>
          <p:cNvPr id="59" name="Label University of Chicago [PEER_KEEP]"/>
          <p:cNvSpPr txBox="1"/>
          <p:nvPr/>
        </p:nvSpPr>
        <p:spPr>
          <a:xfrm>
            <a:off x="3898073" y="2636215"/>
            <a:ext cx="4905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UChicago</a:t>
            </a:r>
          </a:p>
        </p:txBody>
      </p:sp>
      <p:sp>
        <p:nvSpPr>
          <p:cNvPr id="60" name="Label Missouri University of Science and Technology [PEER_KEEP]"/>
          <p:cNvSpPr txBox="1"/>
          <p:nvPr/>
        </p:nvSpPr>
        <p:spPr>
          <a:xfrm>
            <a:off x="3227787" y="3264961"/>
            <a:ext cx="6317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Missouri S&amp;T</a:t>
            </a:r>
          </a:p>
        </p:txBody>
      </p:sp>
      <p:sp>
        <p:nvSpPr>
          <p:cNvPr id="61" name="Label Harvey Mudd College [PEER_KEEP]"/>
          <p:cNvSpPr txBox="1"/>
          <p:nvPr/>
        </p:nvSpPr>
        <p:spPr>
          <a:xfrm>
            <a:off x="7574778" y="1688961"/>
            <a:ext cx="65283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Harvey Mudd</a:t>
            </a:r>
          </a:p>
        </p:txBody>
      </p:sp>
      <p:sp>
        <p:nvSpPr>
          <p:cNvPr id="62" name="Label University of Notre Dame [PEER_KEEP]"/>
          <p:cNvSpPr txBox="1"/>
          <p:nvPr/>
        </p:nvSpPr>
        <p:spPr>
          <a:xfrm>
            <a:off x="5266198" y="2451657"/>
            <a:ext cx="5976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Notre Dame</a:t>
            </a:r>
          </a:p>
        </p:txBody>
      </p:sp>
      <p:sp>
        <p:nvSpPr>
          <p:cNvPr id="63" name="Label Johns Hopkins University [PEER_KEEP]"/>
          <p:cNvSpPr txBox="1"/>
          <p:nvPr/>
        </p:nvSpPr>
        <p:spPr>
          <a:xfrm>
            <a:off x="4187472" y="3115326"/>
            <a:ext cx="68914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Johns Hopkins</a:t>
            </a:r>
          </a:p>
        </p:txBody>
      </p:sp>
      <p:sp>
        <p:nvSpPr>
          <p:cNvPr id="64" name="Label Dartmouth College [PEER_KEEP]"/>
          <p:cNvSpPr txBox="1"/>
          <p:nvPr/>
        </p:nvSpPr>
        <p:spPr>
          <a:xfrm>
            <a:off x="6114079" y="3411302"/>
            <a:ext cx="5524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Dartmouth</a:t>
            </a:r>
          </a:p>
        </p:txBody>
      </p:sp>
      <p:sp>
        <p:nvSpPr>
          <p:cNvPr id="65" name="Label Landmark College [PEER_KEEP]"/>
          <p:cNvSpPr txBox="1"/>
          <p:nvPr/>
        </p:nvSpPr>
        <p:spPr>
          <a:xfrm>
            <a:off x="10666692" y="4029452"/>
            <a:ext cx="96758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Landmark College (3)</a:t>
            </a:r>
          </a:p>
        </p:txBody>
      </p:sp>
      <p:sp>
        <p:nvSpPr>
          <p:cNvPr id="66" name="Label Bucknell University [PEER_KEEP]"/>
          <p:cNvSpPr txBox="1"/>
          <p:nvPr/>
        </p:nvSpPr>
        <p:spPr>
          <a:xfrm>
            <a:off x="7851726" y="2831968"/>
            <a:ext cx="4388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Bucknell</a:t>
            </a:r>
          </a:p>
        </p:txBody>
      </p:sp>
      <p:sp>
        <p:nvSpPr>
          <p:cNvPr id="67" name="Label Cornell University [PEER_KEEP]"/>
          <p:cNvSpPr txBox="1"/>
          <p:nvPr/>
        </p:nvSpPr>
        <p:spPr>
          <a:xfrm>
            <a:off x="5732216" y="2275814"/>
            <a:ext cx="379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Cornell</a:t>
            </a:r>
          </a:p>
        </p:txBody>
      </p:sp>
      <p:sp>
        <p:nvSpPr>
          <p:cNvPr id="68" name="Label Beacon College [PEER_KEEP]"/>
          <p:cNvSpPr txBox="1"/>
          <p:nvPr/>
        </p:nvSpPr>
        <p:spPr>
          <a:xfrm>
            <a:off x="10191962" y="4321876"/>
            <a:ext cx="7243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Beacon College</a:t>
            </a:r>
          </a:p>
        </p:txBody>
      </p:sp>
      <p:sp>
        <p:nvSpPr>
          <p:cNvPr id="69" name="Label Berklee College of Music [PEER_KEEP]"/>
          <p:cNvSpPr txBox="1"/>
          <p:nvPr/>
        </p:nvSpPr>
        <p:spPr>
          <a:xfrm>
            <a:off x="8672983" y="4083772"/>
            <a:ext cx="110495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Berklee College of Music</a:t>
            </a:r>
          </a:p>
        </p:txBody>
      </p:sp>
      <p:sp>
        <p:nvSpPr>
          <p:cNvPr id="70" name="Label California Institute of the Arts [PEER_KEEP]"/>
          <p:cNvSpPr txBox="1"/>
          <p:nvPr/>
        </p:nvSpPr>
        <p:spPr>
          <a:xfrm>
            <a:off x="7880720" y="3791830"/>
            <a:ext cx="1331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California Institute of the Arts</a:t>
            </a:r>
          </a:p>
        </p:txBody>
      </p:sp>
      <p:sp>
        <p:nvSpPr>
          <p:cNvPr id="71" name="Label Savannah College of Art and Design [PEER_KEEP]"/>
          <p:cNvSpPr txBox="1"/>
          <p:nvPr/>
        </p:nvSpPr>
        <p:spPr>
          <a:xfrm>
            <a:off x="9918169" y="3803184"/>
            <a:ext cx="3333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SCAD</a:t>
            </a:r>
          </a:p>
        </p:txBody>
      </p:sp>
      <p:sp>
        <p:nvSpPr>
          <p:cNvPr id="72" name="Label Howard University [PEER_KEEP]"/>
          <p:cNvSpPr txBox="1"/>
          <p:nvPr/>
        </p:nvSpPr>
        <p:spPr>
          <a:xfrm>
            <a:off x="10110589" y="3413047"/>
            <a:ext cx="8643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Howard University</a:t>
            </a:r>
          </a:p>
        </p:txBody>
      </p:sp>
      <p:sp>
        <p:nvSpPr>
          <p:cNvPr id="73" name="Label Boston College [PEER_KEEP]"/>
          <p:cNvSpPr txBox="1"/>
          <p:nvPr/>
        </p:nvSpPr>
        <p:spPr>
          <a:xfrm>
            <a:off x="7663200" y="2278231"/>
            <a:ext cx="70688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College</a:t>
            </a:r>
          </a:p>
        </p:txBody>
      </p:sp>
      <p:sp>
        <p:nvSpPr>
          <p:cNvPr id="74" name="Label Northwestern University [PEER_KEEP]"/>
          <p:cNvSpPr txBox="1"/>
          <p:nvPr/>
        </p:nvSpPr>
        <p:spPr>
          <a:xfrm>
            <a:off x="6380443" y="2933287"/>
            <a:ext cx="6637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Northwestern</a:t>
            </a:r>
          </a:p>
        </p:txBody>
      </p:sp>
      <p:sp>
        <p:nvSpPr>
          <p:cNvPr id="75" name="Label Claremont McKenna College [PEER_KEEP]"/>
          <p:cNvSpPr txBox="1"/>
          <p:nvPr/>
        </p:nvSpPr>
        <p:spPr>
          <a:xfrm>
            <a:off x="6626106" y="2042387"/>
            <a:ext cx="94595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Claremont McKenna</a:t>
            </a:r>
          </a:p>
        </p:txBody>
      </p:sp>
      <p:sp>
        <p:nvSpPr>
          <p:cNvPr id="76" name="Label Yeshiva University [PEER_KEEP]"/>
          <p:cNvSpPr txBox="1"/>
          <p:nvPr/>
        </p:nvSpPr>
        <p:spPr>
          <a:xfrm>
            <a:off x="8958298" y="3021115"/>
            <a:ext cx="84512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Yeshiva University</a:t>
            </a:r>
          </a:p>
        </p:txBody>
      </p:sp>
      <p:sp>
        <p:nvSpPr>
          <p:cNvPr id="77" name="Label Keiser University-Ft Lauderdale [PEER_KEEP]"/>
          <p:cNvSpPr txBox="1"/>
          <p:nvPr/>
        </p:nvSpPr>
        <p:spPr>
          <a:xfrm>
            <a:off x="6633327" y="3945861"/>
            <a:ext cx="13811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Keiser University Ft Lauderdale</a:t>
            </a:r>
          </a:p>
        </p:txBody>
      </p:sp>
      <p:sp>
        <p:nvSpPr>
          <p:cNvPr id="78" name="Label University of Rio Grande [PEER_KEEP]"/>
          <p:cNvSpPr txBox="1"/>
          <p:nvPr/>
        </p:nvSpPr>
        <p:spPr>
          <a:xfrm>
            <a:off x="4827114" y="4046965"/>
            <a:ext cx="110225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University of Rio Grande</a:t>
            </a:r>
          </a:p>
        </p:txBody>
      </p:sp>
      <p:sp>
        <p:nvSpPr>
          <p:cNvPr id="79" name="Label Massachusetts Maritime Academy [PEER_KEEP]"/>
          <p:cNvSpPr txBox="1"/>
          <p:nvPr/>
        </p:nvSpPr>
        <p:spPr>
          <a:xfrm>
            <a:off x="5250013" y="3277843"/>
            <a:ext cx="70810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Mass Maritime</a:t>
            </a:r>
          </a:p>
        </p:txBody>
      </p:sp>
      <p:sp>
        <p:nvSpPr>
          <p:cNvPr id="80" name="Label University of California-Berkeley [PEER_KEEP]"/>
          <p:cNvSpPr txBox="1"/>
          <p:nvPr/>
        </p:nvSpPr>
        <p:spPr>
          <a:xfrm>
            <a:off x="2960398" y="2623425"/>
            <a:ext cx="59599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 Berkeley</a:t>
            </a:r>
          </a:p>
        </p:txBody>
      </p:sp>
      <p:sp>
        <p:nvSpPr>
          <p:cNvPr id="81" name="Label University of California-Los Angeles [PEER_KEEP]"/>
          <p:cNvSpPr txBox="1"/>
          <p:nvPr/>
        </p:nvSpPr>
        <p:spPr>
          <a:xfrm>
            <a:off x="3281836" y="3111452"/>
            <a:ext cx="32776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UCLA</a:t>
            </a:r>
          </a:p>
        </p:txBody>
      </p:sp>
      <p:sp>
        <p:nvSpPr>
          <p:cNvPr id="82" name="Label Florida Gateway College [PEER_KEEP]"/>
          <p:cNvSpPr txBox="1"/>
          <p:nvPr/>
        </p:nvSpPr>
        <p:spPr>
          <a:xfrm>
            <a:off x="1811708" y="4128677"/>
            <a:ext cx="7750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Florida Gateway</a:t>
            </a:r>
          </a:p>
        </p:txBody>
      </p:sp>
      <p:sp>
        <p:nvSpPr>
          <p:cNvPr id="83" name="Label Dewey University-Carolina [PEER_KEEP]"/>
          <p:cNvSpPr txBox="1"/>
          <p:nvPr/>
        </p:nvSpPr>
        <p:spPr>
          <a:xfrm>
            <a:off x="2042842" y="4400360"/>
            <a:ext cx="81773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Dewey University</a:t>
            </a:r>
          </a:p>
        </p:txBody>
      </p:sp>
      <p:sp>
        <p:nvSpPr>
          <p:cNvPr id="84" name="Label Southern Methodist University [PEER_KEEP]"/>
          <p:cNvSpPr txBox="1"/>
          <p:nvPr/>
        </p:nvSpPr>
        <p:spPr>
          <a:xfrm>
            <a:off x="8436763" y="3064496"/>
            <a:ext cx="2911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SMU</a:t>
            </a:r>
          </a:p>
        </p:txBody>
      </p:sp>
      <p:sp>
        <p:nvSpPr>
          <p:cNvPr id="85" name="Label Illinois Institute of Technology [PEER_KEEP]"/>
          <p:cNvSpPr txBox="1"/>
          <p:nvPr/>
        </p:nvSpPr>
        <p:spPr>
          <a:xfrm>
            <a:off x="4184421" y="2396373"/>
            <a:ext cx="56199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Illinois Tech</a:t>
            </a:r>
          </a:p>
        </p:txBody>
      </p:sp>
      <p:sp>
        <p:nvSpPr>
          <p:cNvPr id="86" name="Label Fairfield University [PEER_KEEP]"/>
          <p:cNvSpPr txBox="1"/>
          <p:nvPr/>
        </p:nvSpPr>
        <p:spPr>
          <a:xfrm>
            <a:off x="9850215" y="2521064"/>
            <a:ext cx="86839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Fairfield University</a:t>
            </a:r>
          </a:p>
        </p:txBody>
      </p:sp>
      <p:sp>
        <p:nvSpPr>
          <p:cNvPr id="87" name="Label Washington University in St Louis [PEER_KEEP]"/>
          <p:cNvSpPr txBox="1"/>
          <p:nvPr/>
        </p:nvSpPr>
        <p:spPr>
          <a:xfrm>
            <a:off x="4525899" y="2683028"/>
            <a:ext cx="38826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WashU</a:t>
            </a:r>
          </a:p>
        </p:txBody>
      </p:sp>
      <p:sp>
        <p:nvSpPr>
          <p:cNvPr id="88" name="Label Maine Maritime Academy [PEER_KEEP]"/>
          <p:cNvSpPr txBox="1"/>
          <p:nvPr/>
        </p:nvSpPr>
        <p:spPr>
          <a:xfrm>
            <a:off x="5382255" y="2919585"/>
            <a:ext cx="75265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Maine Maritime</a:t>
            </a:r>
          </a:p>
        </p:txBody>
      </p:sp>
      <p:sp>
        <p:nvSpPr>
          <p:cNvPr id="89" name="Label Vanderbilt University [PEER_KEEP]"/>
          <p:cNvSpPr txBox="1"/>
          <p:nvPr/>
        </p:nvSpPr>
        <p:spPr>
          <a:xfrm>
            <a:off x="3365511" y="2966294"/>
            <a:ext cx="5180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Vanderbilt</a:t>
            </a:r>
          </a:p>
        </p:txBody>
      </p:sp>
      <p:sp>
        <p:nvSpPr>
          <p:cNvPr id="90" name="Label Cal Poly Maritime Academy [PEER_KEEP]"/>
          <p:cNvSpPr txBox="1"/>
          <p:nvPr/>
        </p:nvSpPr>
        <p:spPr>
          <a:xfrm>
            <a:off x="5337911" y="2689907"/>
            <a:ext cx="6264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Maritime</a:t>
            </a:r>
          </a:p>
        </p:txBody>
      </p:sp>
      <p:sp>
        <p:nvSpPr>
          <p:cNvPr id="91" name="Label St. John's College (Santa Fe, NM) [PEER_KEEP]"/>
          <p:cNvSpPr txBox="1"/>
          <p:nvPr/>
        </p:nvSpPr>
        <p:spPr>
          <a:xfrm>
            <a:off x="5947889" y="3705490"/>
            <a:ext cx="79802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 John’s College</a:t>
            </a:r>
          </a:p>
        </p:txBody>
      </p:sp>
      <p:sp>
        <p:nvSpPr>
          <p:cNvPr id="92" name="Label Boston University [PEER_KEEP]"/>
          <p:cNvSpPr txBox="1"/>
          <p:nvPr/>
        </p:nvSpPr>
        <p:spPr>
          <a:xfrm>
            <a:off x="5553681" y="3072931"/>
            <a:ext cx="82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University</a:t>
            </a:r>
          </a:p>
        </p:txBody>
      </p:sp>
      <p:sp>
        <p:nvSpPr>
          <p:cNvPr id="93" name="Label __focus__ [PEER_KEEP]"/>
          <p:cNvSpPr txBox="1"/>
          <p:nvPr/>
        </p:nvSpPr>
        <p:spPr>
          <a:xfrm>
            <a:off x="6496023" y="2554420"/>
            <a:ext cx="999517" cy="210312"/>
          </a:xfrm>
          <a:prstGeom prst="rect">
            <a:avLst/>
          </a:prstGeom>
          <a:solidFill>
            <a:srgbClr val="FFFFFF">
              <a:alpha val="82000"/>
            </a:srgbClr>
          </a:solidFill>
        </p:spPr>
        <p:txBody>
          <a:bodyPr wrap="none" lIns="27432" tIns="0" rIns="27432" bIns="0" anchor="ctr">
            <a:spAutoFit/>
          </a:bodyPr>
          <a:lstStyle/>
          <a:p>
            <a:pPr algn="ctr"/>
            <a:r>
              <a:rPr sz="1200" b="1" i="0" dirty="0">
                <a:solidFill>
                  <a:srgbClr val="C8102E"/>
                </a:solidFill>
                <a:latin typeface="Lato"/>
              </a:rPr>
              <a:t>Northeastern</a:t>
            </a:r>
          </a:p>
        </p:txBody>
      </p:sp>
      <p:sp>
        <p:nvSpPr>
          <p:cNvPr id="94" name="Better deal [PEER_KEEP]"/>
          <p:cNvSpPr txBox="1"/>
          <p:nvPr/>
        </p:nvSpPr>
        <p:spPr>
          <a:xfrm rot="21184654">
            <a:off x="10652882" y="2609539"/>
            <a:ext cx="914400" cy="215444"/>
          </a:xfrm>
          <a:prstGeom prst="rect">
            <a:avLst/>
          </a:prstGeom>
          <a:noFill/>
        </p:spPr>
        <p:txBody>
          <a:bodyPr wrap="square" lIns="0" tIns="0" rIns="0" bIns="0" anchor="ctr">
            <a:spAutoFit/>
          </a:bodyPr>
          <a:lstStyle/>
          <a:p>
            <a:pPr algn="ctr"/>
            <a:r>
              <a:rPr sz="1400" b="1" i="1" dirty="0">
                <a:solidFill>
                  <a:srgbClr val="00B050"/>
                </a:solidFill>
                <a:latin typeface="Lato"/>
              </a:rPr>
              <a:t>Better deal</a:t>
            </a:r>
          </a:p>
        </p:txBody>
      </p:sp>
      <p:sp>
        <p:nvSpPr>
          <p:cNvPr id="95" name="Worse deal [PEER_KEEP]"/>
          <p:cNvSpPr txBox="1"/>
          <p:nvPr/>
        </p:nvSpPr>
        <p:spPr>
          <a:xfrm rot="21184654">
            <a:off x="10676047" y="3067570"/>
            <a:ext cx="914400" cy="215444"/>
          </a:xfrm>
          <a:prstGeom prst="rect">
            <a:avLst/>
          </a:prstGeom>
          <a:noFill/>
        </p:spPr>
        <p:txBody>
          <a:bodyPr wrap="square" lIns="0" tIns="0" rIns="0" bIns="0" anchor="ctr">
            <a:spAutoFit/>
          </a:bodyPr>
          <a:lstStyle/>
          <a:p>
            <a:pPr algn="ctr"/>
            <a:r>
              <a:rPr sz="1400" b="1" i="1" dirty="0">
                <a:solidFill>
                  <a:srgbClr val="FF0000"/>
                </a:solidFill>
                <a:latin typeface="Lato"/>
              </a:rPr>
              <a:t>Worse deal</a:t>
            </a:r>
          </a:p>
        </p:txBody>
      </p:sp>
      <p:sp>
        <p:nvSpPr>
          <p:cNvPr id="96" name="Legend [PEER_KEEP]"/>
          <p:cNvSpPr/>
          <p:nvPr/>
        </p:nvSpPr>
        <p:spPr>
          <a:xfrm>
            <a:off x="6135583" y="1277874"/>
            <a:ext cx="77724" cy="77724"/>
          </a:xfrm>
          <a:prstGeom prst="ellipse">
            <a:avLst/>
          </a:prstGeom>
          <a:solidFill>
            <a:srgbClr val="8A8D8F"/>
          </a:solidFill>
          <a:ln w="3175">
            <a:solidFill>
              <a:srgbClr val="000000"/>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7" name="Legend [PEER_KEEP]"/>
          <p:cNvSpPr txBox="1"/>
          <p:nvPr/>
        </p:nvSpPr>
        <p:spPr>
          <a:xfrm>
            <a:off x="6302461" y="1225296"/>
            <a:ext cx="934965" cy="182880"/>
          </a:xfrm>
          <a:prstGeom prst="rect">
            <a:avLst/>
          </a:prstGeom>
          <a:noFill/>
        </p:spPr>
        <p:txBody>
          <a:bodyPr wrap="none" lIns="0" tIns="0" rIns="0" bIns="0" anchor="ctr">
            <a:spAutoFit/>
          </a:bodyPr>
          <a:lstStyle/>
          <a:p>
            <a:pPr algn="l"/>
            <a:r>
              <a:rPr sz="900" b="0" i="0">
                <a:solidFill>
                  <a:srgbClr val="000000"/>
                </a:solidFill>
                <a:latin typeface="Lato"/>
              </a:rPr>
              <a:t>Public institutions</a:t>
            </a:r>
          </a:p>
        </p:txBody>
      </p:sp>
      <p:sp>
        <p:nvSpPr>
          <p:cNvPr id="98" name="Legend [PEER_KEEP]"/>
          <p:cNvSpPr/>
          <p:nvPr/>
        </p:nvSpPr>
        <p:spPr>
          <a:xfrm>
            <a:off x="7511747" y="1271016"/>
            <a:ext cx="91440" cy="91440"/>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9" name="Legend [PEER_KEEP]"/>
          <p:cNvSpPr txBox="1"/>
          <p:nvPr/>
        </p:nvSpPr>
        <p:spPr>
          <a:xfrm>
            <a:off x="7685483" y="1225296"/>
            <a:ext cx="981542" cy="182880"/>
          </a:xfrm>
          <a:prstGeom prst="rect">
            <a:avLst/>
          </a:prstGeom>
          <a:noFill/>
        </p:spPr>
        <p:txBody>
          <a:bodyPr wrap="none" lIns="0" tIns="0" rIns="0" bIns="0" anchor="ctr">
            <a:spAutoFit/>
          </a:bodyPr>
          <a:lstStyle/>
          <a:p>
            <a:pPr algn="l"/>
            <a:r>
              <a:rPr sz="900" b="0" i="0">
                <a:solidFill>
                  <a:srgbClr val="000000"/>
                </a:solidFill>
                <a:latin typeface="Lato"/>
              </a:rPr>
              <a:t>Private institutions</a:t>
            </a:r>
          </a:p>
        </p:txBody>
      </p:sp>
      <p:cxnSp>
        <p:nvCxnSpPr>
          <p:cNvPr id="100" name="Legend [PEER_KEEP]"/>
          <p:cNvCxnSpPr/>
          <p:nvPr/>
        </p:nvCxnSpPr>
        <p:spPr>
          <a:xfrm>
            <a:off x="8923057" y="1316736"/>
            <a:ext cx="292608" cy="0"/>
          </a:xfrm>
          <a:prstGeom prst="line">
            <a:avLst/>
          </a:prstGeom>
          <a:ln w="19050">
            <a:solidFill>
              <a:srgbClr val="000000"/>
            </a:solidFill>
          </a:ln>
        </p:spPr>
        <p:style>
          <a:lnRef idx="2">
            <a:srgbClr val="C8102E"/>
          </a:lnRef>
          <a:fillRef idx="0">
            <a:srgbClr val="C8102E"/>
          </a:fillRef>
          <a:effectRef idx="1">
            <a:srgbClr val="C8102E"/>
          </a:effectRef>
          <a:fontRef idx="minor">
            <a:srgbClr val="000000"/>
          </a:fontRef>
        </p:style>
      </p:cxnSp>
      <p:sp>
        <p:nvSpPr>
          <p:cNvPr id="101" name="Legend [PEER_KEEP]"/>
          <p:cNvSpPr txBox="1"/>
          <p:nvPr/>
        </p:nvSpPr>
        <p:spPr>
          <a:xfrm>
            <a:off x="9279673" y="1225296"/>
            <a:ext cx="1244950" cy="182880"/>
          </a:xfrm>
          <a:prstGeom prst="rect">
            <a:avLst/>
          </a:prstGeom>
          <a:noFill/>
        </p:spPr>
        <p:txBody>
          <a:bodyPr wrap="none" lIns="0" tIns="0" rIns="0" bIns="0" anchor="ctr">
            <a:spAutoFit/>
          </a:bodyPr>
          <a:lstStyle/>
          <a:p>
            <a:pPr algn="l"/>
            <a:r>
              <a:rPr sz="900" b="0" i="0">
                <a:solidFill>
                  <a:srgbClr val="000000"/>
                </a:solidFill>
                <a:latin typeface="Lato"/>
              </a:rPr>
              <a:t>Private college trendline</a:t>
            </a:r>
          </a:p>
        </p:txBody>
      </p:sp>
      <p:sp>
        <p:nvSpPr>
          <p:cNvPr id="102" name="Legend [PEER_KEEP]"/>
          <p:cNvSpPr/>
          <p:nvPr/>
        </p:nvSpPr>
        <p:spPr>
          <a:xfrm>
            <a:off x="10785227" y="1257300"/>
            <a:ext cx="118872" cy="118872"/>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3" name="Legend [PEER_KEEP]"/>
          <p:cNvSpPr txBox="1"/>
          <p:nvPr/>
        </p:nvSpPr>
        <p:spPr>
          <a:xfrm>
            <a:off x="10972679" y="1225296"/>
            <a:ext cx="706311" cy="182880"/>
          </a:xfrm>
          <a:prstGeom prst="rect">
            <a:avLst/>
          </a:prstGeom>
          <a:noFill/>
        </p:spPr>
        <p:txBody>
          <a:bodyPr wrap="none" lIns="0" tIns="0" rIns="0" bIns="0" anchor="ctr">
            <a:spAutoFit/>
          </a:bodyPr>
          <a:lstStyle/>
          <a:p>
            <a:pPr algn="l"/>
            <a:r>
              <a:rPr sz="900" b="0" i="0">
                <a:solidFill>
                  <a:srgbClr val="000000"/>
                </a:solidFill>
                <a:latin typeface="Lato"/>
              </a:rPr>
              <a:t>Northeastern</a:t>
            </a:r>
          </a:p>
        </p:txBody>
      </p:sp>
      <p:sp>
        <p:nvSpPr>
          <p:cNvPr id="104" name="TextBox 103"/>
          <p:cNvSpPr txBox="1"/>
          <p:nvPr/>
        </p:nvSpPr>
        <p:spPr>
          <a:xfrm>
            <a:off x="457200" y="320040"/>
            <a:ext cx="11274552" cy="777240"/>
          </a:xfrm>
          <a:prstGeom prst="rect">
            <a:avLst/>
          </a:prstGeom>
          <a:noFill/>
        </p:spPr>
        <p:txBody>
          <a:bodyPr wrap="square" lIns="0" rIns="0" tIns="0" bIns="0" anchor="t">
            <a:spAutoFit/>
          </a:bodyPr>
          <a:lstStyle/>
          <a:p>
            <a:pPr algn="l"/>
            <a:r>
              <a:rPr sz="2400" b="1" i="0">
                <a:solidFill>
                  <a:srgbClr val="000000"/>
                </a:solidFill>
                <a:latin typeface="Lato"/>
              </a:rPr>
              <a:t>Wide variation in ‘return’ on college investment</a:t>
            </a:r>
          </a:p>
        </p:txBody>
      </p:sp>
      <p:sp>
        <p:nvSpPr>
          <p:cNvPr id="105" name="TextBox 104"/>
          <p:cNvSpPr txBox="1"/>
          <p:nvPr/>
        </p:nvSpPr>
        <p:spPr>
          <a:xfrm>
            <a:off x="457200" y="777240"/>
            <a:ext cx="11274552" cy="274320"/>
          </a:xfrm>
          <a:prstGeom prst="rect">
            <a:avLst/>
          </a:prstGeom>
          <a:noFill/>
        </p:spPr>
        <p:txBody>
          <a:bodyPr wrap="square" lIns="0" rIns="0" tIns="0" bIns="0" anchor="t">
            <a:spAutoFit/>
          </a:bodyPr>
          <a:lstStyle/>
          <a:p>
            <a:pPr algn="l"/>
            <a:r>
              <a:rPr sz="1400" b="0" i="0">
                <a:solidFill>
                  <a:srgbClr val="595959"/>
                </a:solidFill>
                <a:latin typeface="Lato"/>
              </a:rPr>
              <a:t>Northeastern ranks 33rd (of 1,527) in median earnings 10 years after entry: $93K at a $31K average net price</a:t>
            </a:r>
          </a:p>
        </p:txBody>
      </p:sp>
      <p:sp>
        <p:nvSpPr>
          <p:cNvPr id="106" name="TextBox 105"/>
          <p:cNvSpPr txBox="1"/>
          <p:nvPr/>
        </p:nvSpPr>
        <p:spPr>
          <a:xfrm>
            <a:off x="457200" y="5797296"/>
            <a:ext cx="11274552" cy="603504"/>
          </a:xfrm>
          <a:prstGeom prst="rect">
            <a:avLst/>
          </a:prstGeom>
          <a:noFill/>
        </p:spPr>
        <p:txBody>
          <a:bodyPr wrap="square" lIns="0" rIns="0" tIns="0" bIns="0" anchor="b">
            <a:spAutoFit/>
          </a:bodyPr>
          <a:lstStyle/>
          <a:p>
            <a:pPr algn="l"/>
            <a:r>
              <a:rPr sz="700" b="0" i="0">
                <a:solidFill>
                  <a:srgbClr val="595959"/>
                </a:solidFill>
                <a:latin typeface="Lato"/>
              </a:rPr>
              <a:t>(1) Median earnings of federally aided (Title IV) students who entered in 2009–10 or 2010–11, are working and not enrolled, measured in 2020 and 2021 (10th year after entry); 2022 dollars.</a:t>
            </a:r>
          </a:p>
          <a:p>
            <a:pPr algn="l"/>
            <a:r>
              <a:rPr sz="700" b="0" i="0">
                <a:solidFill>
                  <a:srgbClr val="595959"/>
                </a:solidFill>
                <a:latin typeface="Lato"/>
              </a:rPr>
              <a:t>(2) Average net price, academic year 2023–24, for undergraduate Title IV-receiving students: full cost of attendance (tuition and fees, books and supplies, living expenses) minus federal, state and institutional aid.</a:t>
            </a:r>
          </a:p>
          <a:p>
            <a:pPr algn="l"/>
            <a:r>
              <a:rPr sz="700" b="0" i="0">
                <a:solidFill>
                  <a:srgbClr val="595959"/>
                </a:solidFill>
                <a:latin typeface="Lato"/>
              </a:rPr>
              <a:t>(3) Landmark College is located in Putney, Vermont and is dedicated to students with learning disabilities (ADHD, dyslexia and autism).</a:t>
            </a:r>
          </a:p>
          <a:p>
            <a:pPr algn="l"/>
            <a:r>
              <a:rPr sz="700" b="0" i="0">
                <a:solidFill>
                  <a:srgbClr val="595959"/>
                </a:solidFill>
                <a:latin typeface="Lato"/>
              </a:rP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107" name="Source [PEER_KEEP]"/>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Department of Education, College Scorecard institution-level data (collegescorecard.ed.gov/data), release of June 10, 2026; Northeastern analysis.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Statement [PEER_KEEP]"/>
          <p:cNvSpPr txBox="1"/>
          <p:nvPr/>
        </p:nvSpPr>
        <p:spPr>
          <a:xfrm>
            <a:off x="768096" y="1207008"/>
            <a:ext cx="10972800" cy="274320"/>
          </a:xfrm>
          <a:prstGeom prst="rect">
            <a:avLst/>
          </a:prstGeom>
          <a:noFill/>
        </p:spPr>
        <p:txBody>
          <a:bodyPr wrap="square" lIns="0" tIns="0" rIns="0" bIns="0" anchor="t">
            <a:spAutoFit/>
          </a:bodyPr>
          <a:lstStyle/>
          <a:p>
            <a:pPr algn="l"/>
            <a:r>
              <a:rPr sz="1600" b="1" i="1">
                <a:solidFill>
                  <a:srgbClr val="000000"/>
                </a:solidFill>
                <a:latin typeface="Lato"/>
              </a:rPr>
              <a:t>_____ are aware of and understand the financial challenges confronting my institution</a:t>
            </a:r>
          </a:p>
        </p:txBody>
      </p:sp>
      <p:sp>
        <p:nvSpPr>
          <p:cNvPr id="8" name="Scale note [PEER_KEEP]"/>
          <p:cNvSpPr txBox="1"/>
          <p:nvPr/>
        </p:nvSpPr>
        <p:spPr>
          <a:xfrm>
            <a:off x="768096" y="1499616"/>
            <a:ext cx="10972800" cy="201168"/>
          </a:xfrm>
          <a:prstGeom prst="rect">
            <a:avLst/>
          </a:prstGeom>
          <a:noFill/>
        </p:spPr>
        <p:txBody>
          <a:bodyPr wrap="square" lIns="0" tIns="0" r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EER_KEEP]"/>
          <p:cNvSpPr/>
          <p:nvPr/>
        </p:nvSpPr>
        <p:spPr>
          <a:xfrm>
            <a:off x="768096" y="1801368"/>
            <a:ext cx="128016" cy="128016"/>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 name="Legend text Faculty [PEER_KEEP]"/>
          <p:cNvSpPr txBox="1"/>
          <p:nvPr/>
        </p:nvSpPr>
        <p:spPr>
          <a:xfrm>
            <a:off x="969264" y="1773936"/>
            <a:ext cx="509690" cy="182880"/>
          </a:xfrm>
          <a:prstGeom prst="rect">
            <a:avLst/>
          </a:prstGeom>
          <a:noFill/>
        </p:spPr>
        <p:txBody>
          <a:bodyPr wrap="none" lIns="0" tIns="0" rIns="0" bIns="0" anchor="ctr">
            <a:spAutoFit/>
          </a:bodyPr>
          <a:lstStyle/>
          <a:p>
            <a:pPr algn="l"/>
            <a:r>
              <a:rPr sz="1050" b="0" i="0">
                <a:solidFill>
                  <a:srgbClr val="000000"/>
                </a:solidFill>
                <a:latin typeface="Lato"/>
              </a:rPr>
              <a:t>Faculty</a:t>
            </a:r>
          </a:p>
        </p:txBody>
      </p:sp>
      <p:sp>
        <p:nvSpPr>
          <p:cNvPr id="11" name="Legend Trustees [PEER_KEEP]"/>
          <p:cNvSpPr/>
          <p:nvPr/>
        </p:nvSpPr>
        <p:spPr>
          <a:xfrm>
            <a:off x="1789850" y="1792224"/>
            <a:ext cx="146304" cy="146304"/>
          </a:xfrm>
          <a:prstGeom prst="ellipse">
            <a:avLst/>
          </a:prstGeom>
          <a:solidFill>
            <a:srgbClr val="8A8D8F"/>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2" name="Legend text Trustees [PEER_KEEP]"/>
          <p:cNvSpPr txBox="1"/>
          <p:nvPr/>
        </p:nvSpPr>
        <p:spPr>
          <a:xfrm>
            <a:off x="2000162" y="1773936"/>
            <a:ext cx="582147" cy="182880"/>
          </a:xfrm>
          <a:prstGeom prst="rect">
            <a:avLst/>
          </a:prstGeom>
          <a:noFill/>
        </p:spPr>
        <p:txBody>
          <a:bodyPr wrap="none" lIns="0" tIns="0" rIns="0" bIns="0" anchor="ctr">
            <a:spAutoFit/>
          </a:bodyPr>
          <a:lstStyle/>
          <a:p>
            <a:pPr algn="l"/>
            <a:r>
              <a:rPr sz="1050" b="0" i="0">
                <a:solidFill>
                  <a:srgbClr val="000000"/>
                </a:solidFill>
                <a:latin typeface="Lato"/>
              </a:rPr>
              <a:t>Trustees</a:t>
            </a:r>
          </a:p>
        </p:txBody>
      </p:sp>
      <p:sp>
        <p:nvSpPr>
          <p:cNvPr id="14" name="Legend text Sr. Administrators [PEER_KEEP]"/>
          <p:cNvSpPr txBox="1"/>
          <p:nvPr/>
        </p:nvSpPr>
        <p:spPr>
          <a:xfrm>
            <a:off x="3103517" y="1773936"/>
            <a:ext cx="1125704" cy="182880"/>
          </a:xfrm>
          <a:prstGeom prst="rect">
            <a:avLst/>
          </a:prstGeom>
          <a:noFill/>
        </p:spPr>
        <p:txBody>
          <a:bodyPr wrap="none" lIns="0" tIns="0" rIns="0" bIns="0" anchor="ctr">
            <a:spAutoFit/>
          </a:bodyPr>
          <a:lstStyle/>
          <a:p>
            <a:pPr algn="l"/>
            <a:r>
              <a:rPr sz="1050" b="0" i="0">
                <a:solidFill>
                  <a:srgbClr val="000000"/>
                </a:solidFill>
                <a:latin typeface="Lato"/>
              </a:rPr>
              <a:t>Sr. Administrators</a:t>
            </a:r>
          </a:p>
        </p:txBody>
      </p:sp>
      <p:sp>
        <p:nvSpPr>
          <p:cNvPr id="15" name="Legend Trustees only (2025–26 item) [PEER_KEEP]"/>
          <p:cNvSpPr/>
          <p:nvPr/>
        </p:nvSpPr>
        <p:spPr>
          <a:xfrm>
            <a:off x="4558406" y="1810512"/>
            <a:ext cx="109728" cy="109728"/>
          </a:xfrm>
          <a:prstGeom prst="ellipse">
            <a:avLst/>
          </a:prstGeom>
          <a:solidFill>
            <a:srgbClr val="C9C9CC"/>
          </a:solidFill>
          <a:ln w="22225">
            <a:solidFill>
              <a:srgbClr val="8A8D8F"/>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6" name="Legend text Trustees only (2025–26 item) [PEER_KEEP]"/>
          <p:cNvSpPr txBox="1"/>
          <p:nvPr/>
        </p:nvSpPr>
        <p:spPr>
          <a:xfrm>
            <a:off x="4750430" y="1773936"/>
            <a:ext cx="1801372" cy="182880"/>
          </a:xfrm>
          <a:prstGeom prst="rect">
            <a:avLst/>
          </a:prstGeom>
          <a:noFill/>
        </p:spPr>
        <p:txBody>
          <a:bodyPr wrap="none" lIns="0" tIns="0" rIns="0" bIns="0" anchor="ctr">
            <a:spAutoFit/>
          </a:bodyPr>
          <a:lstStyle/>
          <a:p>
            <a:pPr algn="l"/>
            <a:r>
              <a:rPr sz="1050" b="0" i="0">
                <a:solidFill>
                  <a:srgbClr val="000000"/>
                </a:solidFill>
                <a:latin typeface="Lato"/>
              </a:rPr>
              <a:t>Trustees only (2025–26 item)</a:t>
            </a:r>
          </a:p>
        </p:txBody>
      </p:sp>
      <p:graphicFrame>
        <p:nvGraphicFramePr>
          <p:cNvPr id="17" name="Perception dot plot [PEER_KEEP]"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extLst>
              <p:ext uri="{D42A27DB-BD31-4B8C-83A1-F6EECF244321}">
                <p14:modId xmlns:p14="http://schemas.microsoft.com/office/powerpoint/2010/main" val="1731262970"/>
              </p:ext>
            </p:extLst>
          </p:nvPr>
        </p:nvGraphicFramePr>
        <p:xfrm>
          <a:off x="320040" y="2048255"/>
          <a:ext cx="11567160" cy="3822191"/>
        </p:xfrm>
        <a:graphic>
          <a:graphicData uri="http://schemas.openxmlformats.org/drawingml/2006/chart">
            <c:chart xmlns:c="http://schemas.openxmlformats.org/drawingml/2006/chart" r:id="rId2"/>
          </a:graphicData>
        </a:graphic>
      </p:graphicFrame>
      <p:sp>
        <p:nvSpPr>
          <p:cNvPr id="18" name="Legend Trustees [PEER_KEEP]">
            <a:extLst>
              <a:ext uri="{FF2B5EF4-FFF2-40B4-BE49-F238E27FC236}">
                <a16:creationId xmlns:a16="http://schemas.microsoft.com/office/drawing/2014/main" id="{5888E14E-6735-14E2-AB18-A33BA3C84016}"/>
              </a:ext>
            </a:extLst>
          </p:cNvPr>
          <p:cNvSpPr/>
          <p:nvPr/>
        </p:nvSpPr>
        <p:spPr>
          <a:xfrm>
            <a:off x="2865773" y="1792224"/>
            <a:ext cx="146304" cy="146304"/>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9" name="TextBox 18"/>
          <p:cNvSpPr txBox="1"/>
          <p:nvPr/>
        </p:nvSpPr>
        <p:spPr>
          <a:xfrm>
            <a:off x="457200" y="320040"/>
            <a:ext cx="11274552" cy="777240"/>
          </a:xfrm>
          <a:prstGeom prst="rect">
            <a:avLst/>
          </a:prstGeom>
          <a:noFill/>
        </p:spPr>
        <p:txBody>
          <a:bodyPr wrap="square" lIns="0" rIns="0" tIns="0" bIns="0" anchor="t">
            <a:spAutoFit/>
          </a:bodyPr>
          <a:lstStyle/>
          <a:p>
            <a:pPr algn="l"/>
            <a:r>
              <a:rPr sz="2400" b="1" i="0">
                <a:solidFill>
                  <a:srgbClr val="000000"/>
                </a:solidFill>
                <a:latin typeface="Lato"/>
              </a:rPr>
              <a:t>Is there a dangerous disconnect in perception at our institutions?</a:t>
            </a:r>
          </a:p>
        </p:txBody>
      </p:sp>
      <p:sp>
        <p:nvSpPr>
          <p:cNvPr id="20" name="TextBox 19"/>
          <p:cNvSpPr txBox="1"/>
          <p:nvPr/>
        </p:nvSpPr>
        <p:spPr>
          <a:xfrm>
            <a:off x="457200" y="777240"/>
            <a:ext cx="11274552" cy="274320"/>
          </a:xfrm>
          <a:prstGeom prst="rect">
            <a:avLst/>
          </a:prstGeom>
          <a:noFill/>
        </p:spPr>
        <p:txBody>
          <a:bodyPr wrap="square" lIns="0" rIns="0" tIns="0" bIns="0" anchor="t">
            <a:spAutoFit/>
          </a:bodyPr>
          <a:lstStyle/>
          <a:p>
            <a:pPr algn="l"/>
            <a:r>
              <a:rPr sz="1400" b="0" i="0">
                <a:solidFill>
                  <a:srgbClr val="595959"/>
                </a:solidFill>
                <a:latin typeface="Lato"/>
              </a:rPr>
              <a:t>From Inside Higher Ed’s annual survey of college and university business officers</a:t>
            </a:r>
          </a:p>
        </p:txBody>
      </p:sp>
      <p:sp>
        <p:nvSpPr>
          <p:cNvPr id="21" name="TextBox 20"/>
          <p:cNvSpPr txBox="1"/>
          <p:nvPr/>
        </p:nvSpPr>
        <p:spPr>
          <a:xfrm>
            <a:off x="457200" y="6044184"/>
            <a:ext cx="11274552" cy="356616"/>
          </a:xfrm>
          <a:prstGeom prst="rect">
            <a:avLst/>
          </a:prstGeom>
          <a:noFill/>
        </p:spPr>
        <p:txBody>
          <a:bodyPr wrap="square" lIns="0" rIns="0" tIns="0" bIns="0" anchor="b">
            <a:spAutoFit/>
          </a:bodyPr>
          <a:lstStyle/>
          <a:p>
            <a:pPr algn="l"/>
            <a:r>
              <a:rPr sz="700" b="0" i="0">
                <a:solidFill>
                  <a:srgbClr val="595959"/>
                </a:solidFill>
                <a:latin typeface="Lato"/>
              </a:rPr>
              <a:t>* 2016 and 2017 faculty item asked whether faculty understand the challenges when they take part in budget discussions. Open markers, 2025–2026: a trustees-only statement (“Trustees understand…”); faculty and senior administrators were not asked.</a:t>
            </a:r>
          </a:p>
          <a:p>
            <a:pPr algn="l"/>
            <a:r>
              <a:rPr sz="700" b="0" i="0">
                <a:solidFill>
                  <a:srgbClr val="595959"/>
                </a:solidFill>
                <a:latin typeface="Lato"/>
              </a:rPr>
              <a:t>Note: All institutions. Wording 2015–2024: “aware of and understand” (the 2014 survey asked about “realistic”). Ratings are business officers’ perceptions of each group, not self-reports by faculty or trustees.</a:t>
            </a:r>
          </a:p>
        </p:txBody>
      </p:sp>
      <p:sp>
        <p:nvSpPr>
          <p:cNvPr id="22" name="Source [PEER_KEEP]"/>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Inside Higher Ed, Survey of College and University (Chief) Business Officers, 2015–2026 (n = 133 to 416 per year).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2"/>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p:nvPr/>
        </p:nvCxnSpPr>
        <p:spPr>
          <a:xfrm>
            <a:off x="2428786" y="3156343"/>
            <a:ext cx="0" cy="77724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p:nvPr/>
        </p:nvCxnSpPr>
        <p:spPr>
          <a:xfrm>
            <a:off x="2659986" y="3271719"/>
            <a:ext cx="593459" cy="66206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p:nvPr/>
        </p:nvCxnSpPr>
        <p:spPr>
          <a:xfrm>
            <a:off x="3852448" y="2942317"/>
            <a:ext cx="145261"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p:nvPr/>
        </p:nvCxnSpPr>
        <p:spPr>
          <a:xfrm>
            <a:off x="3762615" y="3447269"/>
            <a:ext cx="159790" cy="16091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0457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936091" y="310380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p:nvPr/>
        </p:nvCxnSpPr>
        <p:spPr>
          <a:xfrm flipV="1">
            <a:off x="1836358" y="2537673"/>
            <a:ext cx="0" cy="39090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49727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723757" y="3397717"/>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265521"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61288" y="3621745"/>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rIns="0" t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rIns="0" t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rIns="0" t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2.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3.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17218</TotalTime>
  <Words>5044</Words>
  <Application>Microsoft Office PowerPoint</Application>
  <PresentationFormat>Widescreen</PresentationFormat>
  <Paragraphs>819</Paragraphs>
  <Slides>28</Slides>
  <Notes>9</Notes>
  <HiddenSlides>0</HiddenSlides>
  <MMClips>0</MMClips>
  <ScaleCrop>false</ScaleCrop>
  <HeadingPairs>
    <vt:vector size="6" baseType="variant">
      <vt:variant>
        <vt:lpstr>Fonts Used</vt:lpstr>
      </vt:variant>
      <vt:variant>
        <vt:i4>18</vt:i4>
      </vt:variant>
      <vt:variant>
        <vt:lpstr>Theme</vt:lpstr>
      </vt:variant>
      <vt:variant>
        <vt:i4>3</vt:i4>
      </vt:variant>
      <vt:variant>
        <vt:lpstr>Slide Titles</vt:lpstr>
      </vt:variant>
      <vt:variant>
        <vt:i4>28</vt:i4>
      </vt:variant>
    </vt:vector>
  </HeadingPairs>
  <TitlesOfParts>
    <vt:vector size="49" baseType="lpstr">
      <vt:lpstr>Abadi Extra Light</vt:lpstr>
      <vt:lpstr>Aptos</vt:lpstr>
      <vt:lpstr>Aptos Display</vt:lpstr>
      <vt:lpstr>Aptos ExtraBold</vt:lpstr>
      <vt:lpstr>Arial</vt:lpstr>
      <vt:lpstr>Calibri</vt:lpstr>
      <vt:lpstr>EB Garamond</vt:lpstr>
      <vt:lpstr>Georgia</vt:lpstr>
      <vt:lpstr>Georgia Pro Semibold</vt:lpstr>
      <vt:lpstr>Lato</vt:lpstr>
      <vt:lpstr>Lato Light</vt:lpstr>
      <vt:lpstr>Montserrat</vt:lpstr>
      <vt:lpstr>Montserrat Light</vt:lpstr>
      <vt:lpstr>Montserrat SemiBold</vt:lpstr>
      <vt:lpstr>Neue Haas Grotesk Text Pro</vt:lpstr>
      <vt:lpstr>Times New Roman</vt:lpstr>
      <vt:lpstr>Verdana</vt:lpstr>
      <vt:lpstr>Wingdings</vt:lpstr>
      <vt:lpstr>Light Theme</vt:lpstr>
      <vt:lpstr>1_Office Theme</vt:lpstr>
      <vt:lpstr>Office Theme</vt:lpstr>
      <vt:lpstr>Provost Team Financial Update</vt:lpstr>
      <vt:lpstr>A guide for our discussion today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63</cp:revision>
  <cp:lastPrinted>2025-09-25T21:12:48Z</cp:lastPrinted>
  <dcterms:created xsi:type="dcterms:W3CDTF">2020-09-24T23:08:57Z</dcterms:created>
  <dcterms:modified xsi:type="dcterms:W3CDTF">2026-09-29T20:31:53Z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