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47"/>
  </p:notesMasterIdLst>
  <p:sldIdLst>
    <p:sldId id="2147481610" r:id="rId5"/>
    <p:sldId id="2147481611" r:id="rId6"/>
    <p:sldId id="2147481612" r:id="rId7"/>
    <p:sldId id="2147481613" r:id="rId8"/>
    <p:sldId id="2147481617" r:id="rId9"/>
    <p:sldId id="2147481632" r:id="rId10"/>
    <p:sldId id="2147481633" r:id="rId11"/>
    <p:sldId id="2147481627" r:id="rId12"/>
    <p:sldId id="2147481634" r:id="rId13"/>
    <p:sldId id="256" r:id="rId14"/>
    <p:sldId id="2147481639" r:id="rId15"/>
    <p:sldId id="2147481581" r:id="rId16"/>
    <p:sldId id="2147481635" r:id="rId17"/>
    <p:sldId id="2147481636" r:id="rId18"/>
    <p:sldId id="2147481628" r:id="rId19"/>
    <p:sldId id="2147481644" r:id="rId21"/>
    <p:sldId id="2147481614" r:id="rId22"/>
    <p:sldId id="2147481604" r:id="rId23"/>
    <p:sldId id="2147481605" r:id="rId24"/>
    <p:sldId id="261" r:id="rId25"/>
    <p:sldId id="335" r:id="rId26"/>
    <p:sldId id="334" r:id="rId27"/>
    <p:sldId id="2147473812" r:id="rId28"/>
    <p:sldId id="2147481607" r:id="rId29"/>
    <p:sldId id="275" r:id="rId31"/>
    <p:sldId id="2147481606" r:id="rId32"/>
    <p:sldId id="260" r:id="rId33"/>
    <p:sldId id="268" r:id="rId34"/>
    <p:sldId id="269" r:id="rId35"/>
    <p:sldId id="2147481646" r:id="rId36"/>
    <p:sldId id="2147481615" r:id="rId37"/>
    <p:sldId id="2147481645" r:id="rId38"/>
    <p:sldId id="2147481631" r:id="rId39"/>
    <p:sldId id="2147481616" r:id="rId40"/>
    <p:sldId id="2147481638" r:id="rId41"/>
    <p:sldId id="2147481640" r:id="rId42"/>
    <p:sldId id="2147481641" r:id="rId43"/>
    <p:sldId id="2147481637" r:id="rId20"/>
    <p:sldId id="2147481642" r:id="rId44"/>
    <p:sldId id="262" r:id="rId45"/>
    <p:sldId id="263" r:id="rId46"/>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610"/>
            <p14:sldId id="2147481611"/>
            <p14:sldId id="2147481612"/>
            <p14:sldId id="2147481613"/>
            <p14:sldId id="2147481617"/>
            <p14:sldId id="2147481632"/>
            <p14:sldId id="2147481633"/>
            <p14:sldId id="2147481627"/>
            <p14:sldId id="2147481634"/>
            <p14:sldId id="256"/>
            <p14:sldId id="2147481639"/>
            <p14:sldId id="2147481581"/>
            <p14:sldId id="2147481635"/>
            <p14:sldId id="2147481636"/>
            <p14:sldId id="2147481628"/>
            <p14:sldId id="2147481637"/>
            <p14:sldId id="2147481644"/>
            <p14:sldId id="2147481614"/>
            <p14:sldId id="2147481604"/>
            <p14:sldId id="2147481605"/>
            <p14:sldId id="261"/>
            <p14:sldId id="335"/>
            <p14:sldId id="334"/>
            <p14:sldId id="2147473812"/>
            <p14:sldId id="2147481607"/>
            <p14:sldId id="274"/>
            <p14:sldId id="275"/>
            <p14:sldId id="2147481606"/>
            <p14:sldId id="260"/>
            <p14:sldId id="268"/>
            <p14:sldId id="269"/>
            <p14:sldId id="2147481646"/>
            <p14:sldId id="2147481615"/>
            <p14:sldId id="2147481645"/>
            <p14:sldId id="2147481631"/>
            <p14:sldId id="2147481616"/>
            <p14:sldId id="2147481638"/>
            <p14:sldId id="2147481640"/>
            <p14:sldId id="2147481641"/>
            <p14:sldId id="2147481642"/>
            <p14:sldId id="262"/>
            <p14:sldId id="263"/>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71" d="100"/>
          <a:sy n="71" d="100"/>
        </p:scale>
        <p:origin x="552" y="44"/>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38.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notesMaster" Target="notesMasters/notesMaster1.xml"/><Relationship Id="rId48" Type="http://schemas.openxmlformats.org/officeDocument/2006/relationships/commentAuthors" Target="commentAuthors.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5/10/relationships/revisionInfo" Target="revisionInfo.xml"/><Relationship Id="rId54"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7.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5.xlsx"/><Relationship Id="rId4" Type="http://schemas.openxmlformats.org/officeDocument/2006/relationships/chartUserShapes" Target="../drawings/drawing1.xml"/></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lang="en-US" sz="1100" b="1">
                        <a:solidFill>
                          <a:srgbClr val="000000"/>
                        </a:solidFill>
                        <a:latin typeface="Lato"/>
                      </a:rPr>
                      <a:t>100 (2025)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23-49A2-A0AF-E9DBAE05A12C}"/>
                </c:ext>
              </c:extLst>
            </c:dLbl>
            <c:dLbl>
              <c:idx val="17"/>
              <c:tx>
                <c:rich>
                  <a:bodyPr/>
                  <a:lstStyle/>
                  <a:p>
                    <a:r>
                      <a:rPr lang="en-US" sz="1100" b="1">
                        <a:solidFill>
                          <a:srgbClr val="C8102E"/>
                        </a:solidFill>
                        <a:latin typeface="Lato"/>
                      </a:rPr>
                      <a:t>85 (2029)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23-49A2-A0AF-E9DBAE05A12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c:v>
                </c:pt>
                <c:pt idx="1">
                  <c:v>93.6</c:v>
                </c:pt>
                <c:pt idx="2">
                  <c:v>94.5</c:v>
                </c:pt>
                <c:pt idx="3">
                  <c:v>93.7</c:v>
                </c:pt>
                <c:pt idx="4">
                  <c:v>92.7</c:v>
                </c:pt>
                <c:pt idx="5">
                  <c:v>93.7</c:v>
                </c:pt>
                <c:pt idx="6">
                  <c:v>95.7</c:v>
                </c:pt>
                <c:pt idx="7">
                  <c:v>96</c:v>
                </c:pt>
                <c:pt idx="8">
                  <c:v>93.9</c:v>
                </c:pt>
                <c:pt idx="9">
                  <c:v>93.4</c:v>
                </c:pt>
                <c:pt idx="10">
                  <c:v>96</c:v>
                </c:pt>
                <c:pt idx="11">
                  <c:v>95.9</c:v>
                </c:pt>
                <c:pt idx="12">
                  <c:v>96.7</c:v>
                </c:pt>
                <c:pt idx="13">
                  <c:v>100</c:v>
                </c:pt>
                <c:pt idx="14">
                  <c:v>98.2</c:v>
                </c:pt>
                <c:pt idx="15">
                  <c:v>95.3</c:v>
                </c:pt>
                <c:pt idx="16">
                  <c:v>91.3</c:v>
                </c:pt>
                <c:pt idx="17">
                  <c:v>85.2</c:v>
                </c:pt>
              </c:numCache>
            </c:numRef>
          </c:val>
          <c:smooth val="0"/>
          <c:extLst>
            <c:ext xmlns:c16="http://schemas.microsoft.com/office/drawing/2014/chart" uri="{C3380CC4-5D6E-409C-BE32-E72D297353CC}">
              <c16:uniqueId val="{00000002-1D23-49A2-A0AF-E9DBAE05A12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orientation val="minMax"/>
          <c:max val="105"/>
          <c:min val="8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5"/>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Institutions</c:v>
                </c:pt>
              </c:strCache>
            </c:strRef>
          </c:tx>
          <c:spPr>
            <a:solidFill>
              <a:srgbClr val="000000"/>
            </a:solidFill>
          </c:spPr>
          <c:invertIfNegative val="1"/>
          <c:dPt>
            <c:idx val="15"/>
            <c:invertIfNegative val="1"/>
            <c:bubble3D val="0"/>
            <c:spPr>
              <a:solidFill>
                <a:srgbClr val="C8102E"/>
              </a:solidFill>
            </c:spPr>
            <c:extLst>
              <c:ext xmlns:c16="http://schemas.microsoft.com/office/drawing/2014/chart" uri="{C3380CC4-5D6E-409C-BE32-E72D297353CC}">
                <c16:uniqueId val="{00000001-CE86-4CE7-A028-D14DCFCDE972}"/>
              </c:ext>
            </c:extLst>
          </c:dPt>
          <c:dPt>
            <c:idx val="17"/>
            <c:invertIfNegative val="1"/>
            <c:bubble3D val="0"/>
            <c:spPr>
              <a:solidFill>
                <a:srgbClr val="C8102E"/>
              </a:solidFill>
            </c:spPr>
            <c:extLst>
              <c:ext xmlns:c16="http://schemas.microsoft.com/office/drawing/2014/chart" uri="{C3380CC4-5D6E-409C-BE32-E72D297353CC}">
                <c16:uniqueId val="{00000003-CE86-4CE7-A028-D14DCFCDE972}"/>
              </c:ext>
            </c:extLst>
          </c:dPt>
          <c:dLbls>
            <c:dLbl>
              <c:idx val="15"/>
              <c:tx>
                <c:rich>
                  <a:bodyPr/>
                  <a:lstStyle/>
                  <a:p>
                    <a:r>
                      <a:rPr lang="en-US" sz="1100" b="1">
                        <a:solidFill>
                          <a:srgbClr val="C8102E"/>
                        </a:solidFill>
                        <a:latin typeface="Lato"/>
                      </a:rPr>
                      <a:t>4,726 peak</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E86-4CE7-A028-D14DCFCDE972}"/>
                </c:ext>
              </c:extLst>
            </c:dLbl>
            <c:dLbl>
              <c:idx val="17"/>
              <c:tx>
                <c:rich>
                  <a:bodyPr/>
                  <a:lstStyle/>
                  <a:p>
                    <a:r>
                      <a:rPr lang="en-US" sz="1100" b="1">
                        <a:solidFill>
                          <a:srgbClr val="C8102E"/>
                        </a:solidFill>
                        <a:latin typeface="Lato"/>
                      </a:rPr>
                      <a:t>3,896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E86-4CE7-A028-D14DCFCDE97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2012–13</c:v>
                </c:pt>
                <c:pt idx="16">
                  <c:v>2018</c:v>
                </c:pt>
                <c:pt idx="17">
                  <c:v>2022–23</c:v>
                </c:pt>
              </c:strCache>
            </c:strRef>
          </c:cat>
          <c:val>
            <c:numRef>
              <c:f>Sheet1!$B$2:$B$19</c:f>
              <c:numCache>
                <c:formatCode>General</c:formatCode>
                <c:ptCount val="18"/>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4084</c:v>
                </c:pt>
                <c:pt idx="14">
                  <c:v>4495</c:v>
                </c:pt>
                <c:pt idx="15">
                  <c:v>4726</c:v>
                </c:pt>
                <c:pt idx="16">
                  <c:v>4313</c:v>
                </c:pt>
                <c:pt idx="17">
                  <c:v>3896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CE86-4CE7-A028-D14DCFCDE97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5000"/>
          <c:min val="0"/>
        </c:scaling>
        <c:delete val="0"/>
        <c:axPos val="l"/>
        <c:numFmt formatCode="#,##0" sourceLinked="0"/>
        <c:majorTickMark val="out"/>
        <c:minorTickMark val="none"/>
        <c:tickLblPos val="nextTo"/>
        <c:spPr>
          <a:ln>
            <a:solidFill>
              <a:schemeClr val="tx1"/>
            </a:solidFill>
          </a:ln>
        </c:spPr>
        <c:crossAx val="-2068027336"/>
        <c:crosses val="autoZero"/>
        <c:crossBetween val="between"/>
        <c:majorUnit val="1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Colleges per million</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0772-4292-B8E6-65AA4AF9D77B}"/>
              </c:ext>
            </c:extLst>
          </c:dPt>
          <c:dPt>
            <c:idx val="7"/>
            <c:invertIfNegative val="1"/>
            <c:bubble3D val="0"/>
            <c:spPr>
              <a:solidFill>
                <a:srgbClr val="8C8C8C"/>
              </a:solidFill>
            </c:spPr>
          </c:dPt>
          <c:dPt>
            <c:idx val="17"/>
            <c:invertIfNegative val="1"/>
            <c:bubble3D val="0"/>
            <c:spPr>
              <a:solidFill>
                <a:srgbClr val="8C8C8C"/>
              </a:solidFill>
            </c:spPr>
          </c:dPt>
          <c:dPt>
            <c:idx val="31"/>
            <c:invertIfNegative val="1"/>
            <c:bubble3D val="0"/>
            <c:spPr>
              <a:solidFill>
                <a:srgbClr val="0070C0"/>
              </a:solidFill>
            </c:spPr>
            <c:extLst>
              <c:ext xmlns:c16="http://schemas.microsoft.com/office/drawing/2014/chart" uri="{C3380CC4-5D6E-409C-BE32-E72D297353CC}">
                <c16:uniqueId val="{00000003-0772-4292-B8E6-65AA4AF9D77B}"/>
              </c:ext>
            </c:extLst>
          </c:dPt>
          <c:dLbls>
            <c:dLbl>
              <c:idx val="0"/>
              <c:tx>
                <c:rich>
                  <a:bodyPr/>
                  <a:lstStyle/>
                  <a:p>
                    <a:r>
                      <a:rPr lang="en-US" sz="1100" b="1">
                        <a:solidFill>
                          <a:srgbClr val="C8102E"/>
                        </a:solidFill>
                        <a:latin typeface="Lato"/>
                      </a:rPr>
                      <a:t>6.91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772-4292-B8E6-65AA4AF9D77B}"/>
                </c:ext>
              </c:extLst>
            </c:dLbl>
            <c:dLbl>
              <c:idx val="1"/>
              <c:tx>
                <c:rich>
                  <a:bodyPr/>
                  <a:lstStyle/>
                  <a:p>
                    <a:r>
                      <a:rPr lang="en-US" sz="1100" b="1">
                        <a:solidFill>
                          <a:srgbClr val="000000"/>
                        </a:solidFill>
                        <a:latin typeface="Lato"/>
                      </a:rPr>
                      <a:t>4.71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772-4292-B8E6-65AA4AF9D77B}"/>
                </c:ext>
              </c:extLst>
            </c:dLbl>
            <c:dLbl>
              <c:idx val="2"/>
              <c:tx>
                <c:rich>
                  <a:bodyPr/>
                  <a:lstStyle/>
                  <a:p>
                    <a:r>
                      <a:rPr lang="en-US" sz="1100" b="1">
                        <a:solidFill>
                          <a:srgbClr val="000000"/>
                        </a:solidFill>
                        <a:latin typeface="Lato"/>
                      </a:rPr>
                      <a:t>4.61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772-4292-B8E6-65AA4AF9D77B}"/>
                </c:ext>
              </c:extLst>
            </c:dLbl>
            <c:dLbl>
              <c:idx val="3"/>
              <c:tx>
                <c:rich>
                  <a:bodyPr/>
                  <a:lstStyle/>
                  <a:p>
                    <a:r>
                      <a:rPr lang="en-US" sz="1100" b="1">
                        <a:solidFill>
                          <a:srgbClr val="000000"/>
                        </a:solidFill>
                        <a:latin typeface="Lato"/>
                      </a:rPr>
                      <a:t>4.33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772-4292-B8E6-65AA4AF9D77B}"/>
                </c:ext>
              </c:extLst>
            </c:dLbl>
            <c:dLbl>
              <c:idx val="4"/>
              <c:tx>
                <c:rich>
                  <a:bodyPr/>
                  <a:lstStyle/>
                  <a:p>
                    <a:r>
                      <a:rPr lang="en-US" sz="1100" b="1">
                        <a:solidFill>
                          <a:srgbClr val="000000"/>
                        </a:solidFill>
                        <a:latin typeface="Lato"/>
                      </a:rPr>
                      <a:t>3.82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772-4292-B8E6-65AA4AF9D77B}"/>
                </c:ext>
              </c:extLst>
            </c:dLbl>
            <c:dLbl>
              <c:idx val="7"/>
              <c:tx>
                <c:rich>
                  <a:bodyPr/>
                  <a:lstStyle/>
                  <a:p>
                    <a:r>
                      <a:rPr lang="en-US" sz="1100" b="1">
                        <a:solidFill>
                          <a:srgbClr val="595959"/>
                        </a:solidFill>
                        <a:latin typeface="Lato"/>
                      </a:rPr>
                      <a:t>2.21*</a:t>
                    </a:r>
                  </a:p>
                </c:rich>
              </c:tx>
              <c:dLblPos val="outEnd"/>
              <c:showLegendKey val="0"/>
              <c:showVal val="1"/>
              <c:showCatName val="0"/>
              <c:showSerName val="0"/>
              <c:showPercent val="0"/>
              <c:showBubbleSize val="0"/>
            </c:dLbl>
            <c:dLbl>
              <c:idx val="17"/>
              <c:tx>
                <c:rich>
                  <a:bodyPr/>
                  <a:lstStyle/>
                  <a:p>
                    <a:r>
                      <a:rPr lang="en-US" sz="1100" b="1">
                        <a:solidFill>
                          <a:srgbClr val="595959"/>
                        </a:solidFill>
                        <a:latin typeface="Lato"/>
                      </a:rPr>
                      <a:t>0.80*</a:t>
                    </a:r>
                  </a:p>
                </c:rich>
              </c:tx>
              <c:dLblPos val="outEnd"/>
              <c:showLegendKey val="0"/>
              <c:showVal val="1"/>
              <c:showCatName val="0"/>
              <c:showSerName val="0"/>
              <c:showPercent val="0"/>
              <c:showBubbleSize val="0"/>
            </c:dLbl>
            <c:dLbl>
              <c:idx val="31"/>
              <c:tx>
                <c:rich>
                  <a:bodyPr/>
                  <a:lstStyle/>
                  <a:p>
                    <a:r>
                      <a:rPr lang="en-US" sz="1100" b="1">
                        <a:solidFill>
                          <a:srgbClr val="000000"/>
                        </a:solidFill>
                        <a:latin typeface="Lato"/>
                      </a:rPr>
                      <a:t>1.63 avg</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772-4292-B8E6-65AA4AF9D77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Sheet1!$A$2:$A$33</c:f>
              <c:strCache>
                <c:ptCount val="32"/>
                <c:pt idx="0">
                  <c:v>USA</c:v>
                </c:pt>
                <c:pt idx="1">
                  <c:v>KOR</c:v>
                </c:pt>
                <c:pt idx="2">
                  <c:v>JPN</c:v>
                </c:pt>
                <c:pt idx="3">
                  <c:v>FRA</c:v>
                </c:pt>
                <c:pt idx="4">
                  <c:v>DEU</c:v>
                </c:pt>
                <c:pt idx="5">
                  <c:v>GBR</c:v>
                </c:pt>
                <c:pt idx="6">
                  <c:v>TUR</c:v>
                </c:pt>
                <c:pt idx="7">
                  <c:v>CHN*</c:v>
                </c:pt>
                <c:pt idx="8">
                  <c:v>RUS</c:v>
                </c:pt>
                <c:pt idx="9">
                  <c:v>IRN</c:v>
                </c:pt>
                <c:pt idx="10">
                  <c:v>COL</c:v>
                </c:pt>
                <c:pt idx="11">
                  <c:v>ITA</c:v>
                </c:pt>
                <c:pt idx="12">
                  <c:v>MEX</c:v>
                </c:pt>
                <c:pt idx="13">
                  <c:v>PHL</c:v>
                </c:pt>
                <c:pt idx="14">
                  <c:v>THA</c:v>
                </c:pt>
                <c:pt idx="15">
                  <c:v>BRA</c:v>
                </c:pt>
                <c:pt idx="16">
                  <c:v>KEN</c:v>
                </c:pt>
                <c:pt idx="17">
                  <c:v>IND*</c:v>
                </c:pt>
                <c:pt idx="18">
                  <c:v>SDN</c:v>
                </c:pt>
                <c:pt idx="19">
                  <c:v>IDN</c:v>
                </c:pt>
                <c:pt idx="20">
                  <c:v>PAK</c:v>
                </c:pt>
                <c:pt idx="21">
                  <c:v>VNM</c:v>
                </c:pt>
                <c:pt idx="22">
                  <c:v>NGA</c:v>
                </c:pt>
                <c:pt idx="23">
                  <c:v>ZAF</c:v>
                </c:pt>
                <c:pt idx="24">
                  <c:v>BGD</c:v>
                </c:pt>
                <c:pt idx="25">
                  <c:v>EGY</c:v>
                </c:pt>
                <c:pt idx="26">
                  <c:v>UGA</c:v>
                </c:pt>
                <c:pt idx="27">
                  <c:v>TZA</c:v>
                </c:pt>
                <c:pt idx="28">
                  <c:v>ETH</c:v>
                </c:pt>
                <c:pt idx="29">
                  <c:v>COD</c:v>
                </c:pt>
                <c:pt idx="30">
                  <c:v>MMR</c:v>
                </c:pt>
                <c:pt idx="31">
                  <c:v>Avg</c:v>
                </c:pt>
              </c:strCache>
            </c:strRef>
          </c:cat>
          <c:val>
            <c:numRef>
              <c:f>Sheet1!$B$2:$B$33</c:f>
              <c:numCache>
                <c:formatCode>General</c:formatCode>
                <c:ptCount val="32"/>
                <c:pt idx="0">
                  <c:v>6.91</c:v>
                </c:pt>
                <c:pt idx="1">
                  <c:v>4.71</c:v>
                </c:pt>
                <c:pt idx="2">
                  <c:v>4.61</c:v>
                </c:pt>
                <c:pt idx="3">
                  <c:v>4.33</c:v>
                </c:pt>
                <c:pt idx="4">
                  <c:v>3.82</c:v>
                </c:pt>
                <c:pt idx="5">
                  <c:v>2.82</c:v>
                </c:pt>
                <c:pt idx="6">
                  <c:v>2.25</c:v>
                </c:pt>
                <c:pt idx="7">
                  <c:v>2.21</c:v>
                </c:pt>
                <c:pt idx="8">
                  <c:v>2.15</c:v>
                </c:pt>
                <c:pt idx="9">
                  <c:v>2.11</c:v>
                </c:pt>
                <c:pt idx="10">
                  <c:v>1.95</c:v>
                </c:pt>
                <c:pt idx="11">
                  <c:v>1.58</c:v>
                </c:pt>
                <c:pt idx="12">
                  <c:v>1.27</c:v>
                </c:pt>
                <c:pt idx="13">
                  <c:v>1.02</c:v>
                </c:pt>
                <c:pt idx="14">
                  <c:v>0.93</c:v>
                </c:pt>
                <c:pt idx="15">
                  <c:v>0.9</c:v>
                </c:pt>
                <c:pt idx="16">
                  <c:v>0.87</c:v>
                </c:pt>
                <c:pt idx="17">
                  <c:v>0.8</c:v>
                </c:pt>
                <c:pt idx="18">
                  <c:v>0.69</c:v>
                </c:pt>
                <c:pt idx="19">
                  <c:v>0.68</c:v>
                </c:pt>
                <c:pt idx="20">
                  <c:v>0.54</c:v>
                </c:pt>
                <c:pt idx="21">
                  <c:v>0.51</c:v>
                </c:pt>
                <c:pt idx="22">
                  <c:v>0.49</c:v>
                </c:pt>
                <c:pt idx="23">
                  <c:v>0.45</c:v>
                </c:pt>
                <c:pt idx="24">
                  <c:v>0.43</c:v>
                </c:pt>
                <c:pt idx="25">
                  <c:v>0.38</c:v>
                </c:pt>
                <c:pt idx="26">
                  <c:v>0.36</c:v>
                </c:pt>
                <c:pt idx="27">
                  <c:v>0.29</c:v>
                </c:pt>
                <c:pt idx="28">
                  <c:v>0.23</c:v>
                </c:pt>
                <c:pt idx="29">
                  <c:v>0.09</c:v>
                </c:pt>
                <c:pt idx="30">
                  <c:v>0.09</c:v>
                </c:pt>
                <c:pt idx="31">
                  <c:v>1.63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0772-4292-B8E6-65AA4AF9D77B}"/>
            </c:ext>
          </c:extLst>
        </c:ser>
        <c:dLbls>
          <c:showLegendKey val="0"/>
          <c:showVal val="0"/>
          <c:showCatName val="0"/>
          <c:showSerName val="0"/>
          <c:showPercent val="0"/>
          <c:showBubbleSize val="0"/>
        </c:dLbls>
        <c:gapWidth val="3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50"/>
            </a:pPr>
            <a:endParaRPr lang="en-US"/>
          </a:p>
        </c:txPr>
        <c:crossAx val="-2113994440"/>
        <c:crosses val="autoZero"/>
        <c:auto val="1"/>
        <c:lblAlgn val="ctr"/>
        <c:lblOffset val="100"/>
        <c:tickLblSkip val="1"/>
        <c:tickMarkSkip val="1"/>
        <c:noMultiLvlLbl val="0"/>
      </c:catAx>
      <c:valAx>
        <c:axId val="-2113994440"/>
        <c:scaling>
          <c:orientation val="minMax"/>
          <c:max val="8"/>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068027336"/>
        <c:crosses val="autoZero"/>
        <c:crossBetween val="between"/>
        <c:majorUnit val="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Pt>
            <c:idx val="11"/>
            <c:invertIfNegative val="0"/>
            <c:bubble3D val="0"/>
            <c:spPr>
              <a:solidFill>
                <a:srgbClr val="C8102E"/>
              </a:solidFill>
            </c:spPr>
          </c:dPt>
          <c:dLbls>
            <c:dLbl>
              <c:idx val="11"/>
              <c:tx>
                <c:rich>
                  <a:bodyPr/>
                  <a:lstStyle/>
                  <a:p>
                    <a:r>
                      <a:rPr lang="en-US" sz="900" b="1" i="1">
                        <a:solidFill>
                          <a:srgbClr val="C8102E"/>
                        </a:solidFill>
                        <a:latin typeface="Lato"/>
                      </a:rPr>
                      <a:t>6*</a:t>
                    </a:r>
                  </a:p>
                </c:rich>
              </c:tx>
              <c:dLblPos val="outEnd"/>
              <c:showLegendKey val="0"/>
              <c:showVal val="1"/>
              <c:showCatName val="0"/>
              <c:showSerName val="0"/>
              <c:showPercent val="0"/>
              <c:showBubbleSize val="0"/>
            </c:dLbl>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strCache>
            </c:strRef>
          </c:cat>
          <c:val>
            <c:numRef>
              <c:f>Sheet1!$B$2:$B$13</c:f>
              <c:numCache>
                <c:formatCode>General</c:formatCode>
                <c:ptCount val="12"/>
                <c:pt idx="0">
                  <c:v>3.0</c:v>
                </c:pt>
                <c:pt idx="1">
                  <c:v>4.0</c:v>
                </c:pt>
                <c:pt idx="2">
                  <c:v>4.0</c:v>
                </c:pt>
                <c:pt idx="3">
                  <c:v>6.0</c:v>
                </c:pt>
                <c:pt idx="4">
                  <c:v>5.0</c:v>
                </c:pt>
                <c:pt idx="5">
                  <c:v>2.0</c:v>
                </c:pt>
                <c:pt idx="6">
                  <c:v>2.0</c:v>
                </c:pt>
                <c:pt idx="7">
                  <c:v>3.0</c:v>
                </c:pt>
                <c:pt idx="8">
                  <c:v>15.0</c:v>
                </c:pt>
                <c:pt idx="9">
                  <c:v>16.0</c:v>
                </c:pt>
                <c:pt idx="10">
                  <c:v>16.0</c:v>
                </c:pt>
                <c:pt idx="11">
                  <c:v>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12"/>
          <c:w val="0.92500000000000004"/>
          <c:h val="0.72"/>
        </c:manualLayout>
      </c:layout>
      <c:lineChart>
        <c:grouping val="standard"/>
        <c:varyColors val="0"/>
        <c:ser>
          <c:idx val="0"/>
          <c:order val="0"/>
          <c:tx>
            <c:strRef>
              <c:f>Sheet1!$B$1</c:f>
              <c:strCache>
                <c:ptCount val="1"/>
                <c:pt idx="0">
                  <c:v>Federal government</c:v>
                </c:pt>
              </c:strCache>
            </c:strRef>
          </c:tx>
          <c:spPr>
            <a:ln w="38100">
              <a:solidFill>
                <a:srgbClr val="C8102E"/>
              </a:solidFill>
            </a:ln>
          </c:spPr>
          <c:marker>
            <c:symbol val="none"/>
          </c:marker>
          <c:dLbls>
            <c:dLbl>
              <c:idx val="11"/>
              <c:tx>
                <c:rich>
                  <a:bodyPr/>
                  <a:lstStyle/>
                  <a:p>
                    <a:r>
                      <a:rPr lang="en-US" sz="1100" b="1">
                        <a:solidFill>
                          <a:srgbClr val="C8102E"/>
                        </a:solidFill>
                        <a:latin typeface="Lato"/>
                      </a:rPr>
                      <a:t>1.9% (1964)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696-46FE-AB54-D33376F9A0A5}"/>
                </c:ext>
              </c:extLst>
            </c:dLbl>
            <c:dLbl>
              <c:idx val="71"/>
              <c:tx>
                <c:rich>
                  <a:bodyPr/>
                  <a:lstStyle/>
                  <a:p>
                    <a:r>
                      <a:rPr lang="en-US" sz="1100" b="1">
                        <a:solidFill>
                          <a:srgbClr val="C8102E"/>
                        </a:solidFill>
                        <a:latin typeface="Lato"/>
                      </a:rPr>
                      <a:t>0.6%</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Sheet1!$B$2:$B$73</c:f>
              <c:numCache>
                <c:formatCode>General</c:formatCode>
                <c:ptCount val="72"/>
                <c:pt idx="0">
                  <c:v>7.0999999999999995E-3</c:v>
                </c:pt>
                <c:pt idx="1">
                  <c:v>7.9000000000000008E-3</c:v>
                </c:pt>
                <c:pt idx="2">
                  <c:v>8.199999999999999E-3</c:v>
                </c:pt>
                <c:pt idx="3">
                  <c:v>1.11E-2</c:v>
                </c:pt>
                <c:pt idx="4">
                  <c:v>1.3100000000000001E-2</c:v>
                </c:pt>
                <c:pt idx="5">
                  <c:v>1.4499999999999999E-2</c:v>
                </c:pt>
                <c:pt idx="6">
                  <c:v>1.5700000000000002E-2</c:v>
                </c:pt>
                <c:pt idx="7">
                  <c:v>1.6399999999999998E-2</c:v>
                </c:pt>
                <c:pt idx="8">
                  <c:v>1.6899999999999998E-2</c:v>
                </c:pt>
                <c:pt idx="9">
                  <c:v>1.6799999999999999E-2</c:v>
                </c:pt>
                <c:pt idx="10">
                  <c:v>1.83E-2</c:v>
                </c:pt>
                <c:pt idx="11">
                  <c:v>1.8600000000000002E-2</c:v>
                </c:pt>
                <c:pt idx="12">
                  <c:v>1.78E-2</c:v>
                </c:pt>
                <c:pt idx="13">
                  <c:v>1.7399999999999999E-2</c:v>
                </c:pt>
                <c:pt idx="14">
                  <c:v>1.6899999999999998E-2</c:v>
                </c:pt>
                <c:pt idx="15">
                  <c:v>1.5900000000000001E-2</c:v>
                </c:pt>
                <c:pt idx="16">
                  <c:v>1.4999999999999999E-2</c:v>
                </c:pt>
                <c:pt idx="17">
                  <c:v>1.3999999999999999E-2</c:v>
                </c:pt>
                <c:pt idx="18">
                  <c:v>1.3100000000000001E-2</c:v>
                </c:pt>
                <c:pt idx="19">
                  <c:v>1.2500000000000001E-2</c:v>
                </c:pt>
                <c:pt idx="20">
                  <c:v>1.1599999999999999E-2</c:v>
                </c:pt>
                <c:pt idx="21">
                  <c:v>1.1200000000000002E-2</c:v>
                </c:pt>
                <c:pt idx="22">
                  <c:v>1.1000000000000001E-2</c:v>
                </c:pt>
                <c:pt idx="23">
                  <c:v>1.0800000000000001E-2</c:v>
                </c:pt>
                <c:pt idx="24">
                  <c:v>1.06E-2</c:v>
                </c:pt>
                <c:pt idx="25">
                  <c:v>1.04E-2</c:v>
                </c:pt>
                <c:pt idx="26">
                  <c:v>1.04E-2</c:v>
                </c:pt>
                <c:pt idx="27">
                  <c:v>1.0500000000000001E-2</c:v>
                </c:pt>
                <c:pt idx="28">
                  <c:v>1.0500000000000001E-2</c:v>
                </c:pt>
                <c:pt idx="29">
                  <c:v>1.11E-2</c:v>
                </c:pt>
                <c:pt idx="30">
                  <c:v>1.1399999999999999E-2</c:v>
                </c:pt>
                <c:pt idx="31">
                  <c:v>1.15E-2</c:v>
                </c:pt>
                <c:pt idx="32">
                  <c:v>1.21E-2</c:v>
                </c:pt>
                <c:pt idx="33">
                  <c:v>1.1899999999999999E-2</c:v>
                </c:pt>
                <c:pt idx="34">
                  <c:v>1.21E-2</c:v>
                </c:pt>
                <c:pt idx="35">
                  <c:v>1.15E-2</c:v>
                </c:pt>
                <c:pt idx="36">
                  <c:v>1.0700000000000001E-2</c:v>
                </c:pt>
                <c:pt idx="37">
                  <c:v>1.03E-2</c:v>
                </c:pt>
                <c:pt idx="38">
                  <c:v>9.8999999999999991E-3</c:v>
                </c:pt>
                <c:pt idx="39">
                  <c:v>9.300000000000001E-3</c:v>
                </c:pt>
                <c:pt idx="40">
                  <c:v>8.8000000000000005E-3</c:v>
                </c:pt>
                <c:pt idx="41">
                  <c:v>8.3000000000000001E-3</c:v>
                </c:pt>
                <c:pt idx="42">
                  <c:v>8.199999999999999E-3</c:v>
                </c:pt>
                <c:pt idx="43">
                  <c:v>7.9000000000000008E-3</c:v>
                </c:pt>
                <c:pt idx="44">
                  <c:v>7.4999999999999997E-3</c:v>
                </c:pt>
                <c:pt idx="45">
                  <c:v>7.3000000000000001E-3</c:v>
                </c:pt>
                <c:pt idx="46">
                  <c:v>6.8999999999999999E-3</c:v>
                </c:pt>
                <c:pt idx="47">
                  <c:v>6.6E-3</c:v>
                </c:pt>
                <c:pt idx="48">
                  <c:v>6.9999999999999993E-3</c:v>
                </c:pt>
                <c:pt idx="49">
                  <c:v>7.1999999999999998E-3</c:v>
                </c:pt>
                <c:pt idx="50">
                  <c:v>7.4000000000000003E-3</c:v>
                </c:pt>
                <c:pt idx="51">
                  <c:v>7.4000000000000003E-3</c:v>
                </c:pt>
                <c:pt idx="52">
                  <c:v>7.3000000000000001E-3</c:v>
                </c:pt>
                <c:pt idx="53">
                  <c:v>7.1999999999999998E-3</c:v>
                </c:pt>
                <c:pt idx="54">
                  <c:v>7.3000000000000001E-3</c:v>
                </c:pt>
                <c:pt idx="55">
                  <c:v>8.0000000000000002E-3</c:v>
                </c:pt>
                <c:pt idx="56">
                  <c:v>8.6999999999999994E-3</c:v>
                </c:pt>
                <c:pt idx="57">
                  <c:v>8.3999999999999995E-3</c:v>
                </c:pt>
                <c:pt idx="58">
                  <c:v>8.1000000000000013E-3</c:v>
                </c:pt>
                <c:pt idx="59">
                  <c:v>7.6E-3</c:v>
                </c:pt>
                <c:pt idx="60">
                  <c:v>7.0999999999999995E-3</c:v>
                </c:pt>
                <c:pt idx="61">
                  <c:v>6.7000000000000002E-3</c:v>
                </c:pt>
                <c:pt idx="62">
                  <c:v>6.5000000000000006E-3</c:v>
                </c:pt>
                <c:pt idx="63">
                  <c:v>6.3E-3</c:v>
                </c:pt>
                <c:pt idx="64">
                  <c:v>6.1999999999999998E-3</c:v>
                </c:pt>
                <c:pt idx="65">
                  <c:v>6.3E-3</c:v>
                </c:pt>
                <c:pt idx="66">
                  <c:v>6.3E-3</c:v>
                </c:pt>
                <c:pt idx="67">
                  <c:v>6.8999999999999999E-3</c:v>
                </c:pt>
                <c:pt idx="68">
                  <c:v>6.1999999999999998E-3</c:v>
                </c:pt>
                <c:pt idx="69">
                  <c:v>6.3E-3</c:v>
                </c:pt>
                <c:pt idx="70">
                  <c:v>6.1999999999999998E-3</c:v>
                </c:pt>
                <c:pt idx="71">
                  <c:v>6.3E-3</c:v>
                </c:pt>
              </c:numCache>
            </c:numRef>
          </c:val>
          <c:smooth val="0"/>
          <c:extLst>
            <c:ext xmlns:c16="http://schemas.microsoft.com/office/drawing/2014/chart" uri="{C3380CC4-5D6E-409C-BE32-E72D297353CC}">
              <c16:uniqueId val="{00000002-B696-46FE-AB54-D33376F9A0A5}"/>
            </c:ext>
          </c:extLst>
        </c:ser>
        <c:ser>
          <c:idx val="1"/>
          <c:order val="1"/>
          <c:tx>
            <c:strRef>
              <c:f>Sheet1!$C$1</c:f>
              <c:strCache>
                <c:ptCount val="1"/>
                <c:pt idx="0">
                  <c:v>Business, universities and other nonfederal</c:v>
                </c:pt>
              </c:strCache>
            </c:strRef>
          </c:tx>
          <c:spPr>
            <a:ln w="38100">
              <a:solidFill>
                <a:srgbClr val="000000"/>
              </a:solidFill>
            </a:ln>
          </c:spPr>
          <c:marker>
            <c:symbol val="none"/>
          </c:marker>
          <c:dLbls>
            <c:dLbl>
              <c:idx val="71"/>
              <c:tx>
                <c:rich>
                  <a:bodyPr/>
                  <a:lstStyle/>
                  <a:p>
                    <a:r>
                      <a:rPr lang="en-US" sz="1100" b="1">
                        <a:solidFill>
                          <a:srgbClr val="000000"/>
                        </a:solidFill>
                        <a:latin typeface="Lato"/>
                      </a:rPr>
                      <a:t>2.8%</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Sheet1!$C$2:$C$73</c:f>
              <c:numCache>
                <c:formatCode>General</c:formatCode>
                <c:ptCount val="72"/>
                <c:pt idx="0">
                  <c:v>6.0999999999999995E-3</c:v>
                </c:pt>
                <c:pt idx="1">
                  <c:v>6.5000000000000006E-3</c:v>
                </c:pt>
                <c:pt idx="2">
                  <c:v>6.3E-3</c:v>
                </c:pt>
                <c:pt idx="3">
                  <c:v>7.8000000000000005E-3</c:v>
                </c:pt>
                <c:pt idx="4">
                  <c:v>7.7000000000000002E-3</c:v>
                </c:pt>
                <c:pt idx="5">
                  <c:v>8.2000000000000007E-3</c:v>
                </c:pt>
                <c:pt idx="6">
                  <c:v>8.3000000000000001E-3</c:v>
                </c:pt>
                <c:pt idx="7">
                  <c:v>8.8000000000000005E-3</c:v>
                </c:pt>
                <c:pt idx="8">
                  <c:v>9.0999999999999987E-3</c:v>
                </c:pt>
                <c:pt idx="9">
                  <c:v>9.0999999999999987E-3</c:v>
                </c:pt>
                <c:pt idx="10">
                  <c:v>9.2999999999999992E-3</c:v>
                </c:pt>
                <c:pt idx="11">
                  <c:v>9.2999999999999992E-3</c:v>
                </c:pt>
                <c:pt idx="12">
                  <c:v>9.4999999999999998E-3</c:v>
                </c:pt>
                <c:pt idx="13">
                  <c:v>9.7000000000000003E-3</c:v>
                </c:pt>
                <c:pt idx="14">
                  <c:v>1.0200000000000001E-2</c:v>
                </c:pt>
                <c:pt idx="15">
                  <c:v>1.03E-2</c:v>
                </c:pt>
                <c:pt idx="16">
                  <c:v>1.0500000000000001E-2</c:v>
                </c:pt>
                <c:pt idx="17">
                  <c:v>1.0500000000000001E-2</c:v>
                </c:pt>
                <c:pt idx="18">
                  <c:v>1.01E-2</c:v>
                </c:pt>
                <c:pt idx="19">
                  <c:v>0.01</c:v>
                </c:pt>
                <c:pt idx="20">
                  <c:v>0.01</c:v>
                </c:pt>
                <c:pt idx="21">
                  <c:v>1.04E-2</c:v>
                </c:pt>
                <c:pt idx="22">
                  <c:v>1.0200000000000001E-2</c:v>
                </c:pt>
                <c:pt idx="23">
                  <c:v>1.0200000000000001E-2</c:v>
                </c:pt>
                <c:pt idx="24">
                  <c:v>1.0200000000000001E-2</c:v>
                </c:pt>
                <c:pt idx="25">
                  <c:v>1.03E-2</c:v>
                </c:pt>
                <c:pt idx="26">
                  <c:v>1.0700000000000001E-2</c:v>
                </c:pt>
                <c:pt idx="27">
                  <c:v>1.1600000000000001E-2</c:v>
                </c:pt>
                <c:pt idx="28">
                  <c:v>1.2000000000000002E-2</c:v>
                </c:pt>
                <c:pt idx="29">
                  <c:v>1.3100000000000001E-2</c:v>
                </c:pt>
                <c:pt idx="30">
                  <c:v>1.34E-2</c:v>
                </c:pt>
                <c:pt idx="31">
                  <c:v>1.3800000000000002E-2</c:v>
                </c:pt>
                <c:pt idx="32">
                  <c:v>1.4300000000000002E-2</c:v>
                </c:pt>
                <c:pt idx="33">
                  <c:v>1.4300000000000002E-2</c:v>
                </c:pt>
                <c:pt idx="34">
                  <c:v>1.4000000000000002E-2</c:v>
                </c:pt>
                <c:pt idx="35">
                  <c:v>1.4100000000000001E-2</c:v>
                </c:pt>
                <c:pt idx="36">
                  <c:v>1.4400000000000001E-2</c:v>
                </c:pt>
                <c:pt idx="37">
                  <c:v>1.52E-2</c:v>
                </c:pt>
                <c:pt idx="38">
                  <c:v>1.6299999999999999E-2</c:v>
                </c:pt>
                <c:pt idx="39">
                  <c:v>1.61E-2</c:v>
                </c:pt>
                <c:pt idx="40">
                  <c:v>1.54E-2</c:v>
                </c:pt>
                <c:pt idx="41">
                  <c:v>1.4900000000000002E-2</c:v>
                </c:pt>
                <c:pt idx="42">
                  <c:v>1.5800000000000002E-2</c:v>
                </c:pt>
                <c:pt idx="43">
                  <c:v>1.66E-2</c:v>
                </c:pt>
                <c:pt idx="44">
                  <c:v>1.7200000000000003E-2</c:v>
                </c:pt>
                <c:pt idx="45">
                  <c:v>1.7599999999999998E-2</c:v>
                </c:pt>
                <c:pt idx="46">
                  <c:v>1.8500000000000003E-2</c:v>
                </c:pt>
                <c:pt idx="47">
                  <c:v>1.9500000000000003E-2</c:v>
                </c:pt>
                <c:pt idx="48">
                  <c:v>1.9299999999999998E-2</c:v>
                </c:pt>
                <c:pt idx="49">
                  <c:v>1.8199999999999997E-2</c:v>
                </c:pt>
                <c:pt idx="50">
                  <c:v>1.8099999999999998E-2</c:v>
                </c:pt>
                <c:pt idx="51">
                  <c:v>1.7399999999999999E-2</c:v>
                </c:pt>
                <c:pt idx="52">
                  <c:v>1.7600000000000001E-2</c:v>
                </c:pt>
                <c:pt idx="53">
                  <c:v>1.8099999999999998E-2</c:v>
                </c:pt>
                <c:pt idx="54">
                  <c:v>1.89E-2</c:v>
                </c:pt>
                <c:pt idx="55">
                  <c:v>1.95E-2</c:v>
                </c:pt>
                <c:pt idx="56">
                  <c:v>1.9099999999999999E-2</c:v>
                </c:pt>
                <c:pt idx="57">
                  <c:v>1.8599999999999998E-2</c:v>
                </c:pt>
                <c:pt idx="58">
                  <c:v>1.9199999999999998E-2</c:v>
                </c:pt>
                <c:pt idx="59">
                  <c:v>1.9099999999999999E-2</c:v>
                </c:pt>
                <c:pt idx="60">
                  <c:v>1.9799999999999998E-2</c:v>
                </c:pt>
                <c:pt idx="61">
                  <c:v>2.0300000000000002E-2</c:v>
                </c:pt>
                <c:pt idx="62">
                  <c:v>2.0400000000000001E-2</c:v>
                </c:pt>
                <c:pt idx="63">
                  <c:v>2.1499999999999998E-2</c:v>
                </c:pt>
                <c:pt idx="64">
                  <c:v>2.2000000000000002E-2</c:v>
                </c:pt>
                <c:pt idx="65">
                  <c:v>2.2800000000000001E-2</c:v>
                </c:pt>
                <c:pt idx="66">
                  <c:v>2.4600000000000004E-2</c:v>
                </c:pt>
                <c:pt idx="67">
                  <c:v>2.6500000000000003E-2</c:v>
                </c:pt>
                <c:pt idx="68">
                  <c:v>2.7000000000000003E-2</c:v>
                </c:pt>
                <c:pt idx="69">
                  <c:v>2.7900000000000001E-2</c:v>
                </c:pt>
                <c:pt idx="70">
                  <c:v>2.75E-2</c:v>
                </c:pt>
                <c:pt idx="71">
                  <c:v>2.7600000000000003E-2</c:v>
                </c:pt>
              </c:numCache>
            </c:numRef>
          </c:val>
          <c:smooth val="0"/>
          <c:extLst>
            <c:ext xmlns:c16="http://schemas.microsoft.com/office/drawing/2014/chart" uri="{C3380CC4-5D6E-409C-BE32-E72D297353CC}">
              <c16:uniqueId val="{00000004-B696-46FE-AB54-D33376F9A0A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3.2000000000000001E-2"/>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crossBetween val="between"/>
        <c:majorUnit val="4.0000000000000001E-3"/>
      </c:valAx>
    </c:plotArea>
    <c:legend>
      <c:legendPos val="t"/>
      <c:overlay val="0"/>
      <c:txPr>
        <a:bodyPr/>
        <a:lstStyle/>
        <a:p>
          <a:pPr>
            <a:defRPr sz="1200"/>
          </a:pPr>
          <a:endParaRPr lang="en-US"/>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Pages</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B6A0-4619-99C5-9C70894ACA7E}"/>
              </c:ext>
            </c:extLst>
          </c:dPt>
          <c:dPt>
            <c:idx val="74"/>
            <c:invertIfNegative val="1"/>
            <c:bubble3D val="0"/>
            <c:spPr>
              <a:solidFill>
                <a:srgbClr val="C8102E"/>
              </a:solidFill>
            </c:spPr>
            <c:extLst>
              <c:ext xmlns:c16="http://schemas.microsoft.com/office/drawing/2014/chart" uri="{C3380CC4-5D6E-409C-BE32-E72D297353CC}">
                <c16:uniqueId val="{00000003-B6A0-4619-99C5-9C70894ACA7E}"/>
              </c:ext>
            </c:extLst>
          </c:dPt>
          <c:dLbls>
            <c:dLbl>
              <c:idx val="0"/>
              <c:tx>
                <c:rich>
                  <a:bodyPr/>
                  <a:lstStyle/>
                  <a:p>
                    <a:r>
                      <a:rPr lang="en-US" sz="1100" b="1">
                        <a:solidFill>
                          <a:srgbClr val="C8102E"/>
                        </a:solidFill>
                        <a:latin typeface="Lato"/>
                      </a:rPr>
                      <a:t>9,745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A0-4619-99C5-9C70894ACA7E}"/>
                </c:ext>
              </c:extLst>
            </c:dLbl>
            <c:dLbl>
              <c:idx val="74"/>
              <c:tx>
                <c:rich>
                  <a:bodyPr/>
                  <a:lstStyle/>
                  <a:p>
                    <a:r>
                      <a:rPr lang="en-US" sz="1100" b="1">
                        <a:solidFill>
                          <a:srgbClr val="C8102E"/>
                        </a:solidFill>
                        <a:latin typeface="Lato"/>
                      </a:rPr>
                      <a:t>194,395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A0-4619-99C5-9C70894ACA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Sheet1!$A$2:$A$76</c:f>
              <c:strCache>
                <c:ptCount val="75"/>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pt idx="74">
                  <c:v>2024</c:v>
                </c:pt>
              </c:strCache>
            </c:strRef>
          </c:cat>
          <c:val>
            <c:numRef>
              <c:f>Sheet1!$B$2:$B$76</c:f>
              <c:numCache>
                <c:formatCode>General</c:formatCode>
                <c:ptCount val="75"/>
                <c:pt idx="0">
                  <c:v>9745</c:v>
                </c:pt>
                <c:pt idx="1">
                  <c:v>15932</c:v>
                </c:pt>
                <c:pt idx="2">
                  <c:v>19232</c:v>
                </c:pt>
                <c:pt idx="3">
                  <c:v>18464</c:v>
                </c:pt>
                <c:pt idx="4">
                  <c:v>16502</c:v>
                </c:pt>
                <c:pt idx="5">
                  <c:v>17989</c:v>
                </c:pt>
                <c:pt idx="6">
                  <c:v>21651</c:v>
                </c:pt>
                <c:pt idx="7">
                  <c:v>19589</c:v>
                </c:pt>
                <c:pt idx="8">
                  <c:v>20643</c:v>
                </c:pt>
                <c:pt idx="9">
                  <c:v>21760</c:v>
                </c:pt>
                <c:pt idx="10">
                  <c:v>22877</c:v>
                </c:pt>
                <c:pt idx="11">
                  <c:v>25242</c:v>
                </c:pt>
                <c:pt idx="12">
                  <c:v>22863</c:v>
                </c:pt>
                <c:pt idx="13">
                  <c:v>25828</c:v>
                </c:pt>
                <c:pt idx="14">
                  <c:v>31584</c:v>
                </c:pt>
                <c:pt idx="15">
                  <c:v>34783</c:v>
                </c:pt>
                <c:pt idx="16">
                  <c:v>43118</c:v>
                </c:pt>
                <c:pt idx="17">
                  <c:v>50375</c:v>
                </c:pt>
                <c:pt idx="18">
                  <c:v>53513</c:v>
                </c:pt>
                <c:pt idx="19">
                  <c:v>52863</c:v>
                </c:pt>
                <c:pt idx="20">
                  <c:v>54834</c:v>
                </c:pt>
                <c:pt idx="21">
                  <c:v>56720</c:v>
                </c:pt>
                <c:pt idx="22">
                  <c:v>60632</c:v>
                </c:pt>
                <c:pt idx="23">
                  <c:v>64872</c:v>
                </c:pt>
                <c:pt idx="24">
                  <c:v>67860</c:v>
                </c:pt>
                <c:pt idx="25">
                  <c:v>71224</c:v>
                </c:pt>
                <c:pt idx="26">
                  <c:v>72740</c:v>
                </c:pt>
                <c:pt idx="27">
                  <c:v>84729</c:v>
                </c:pt>
                <c:pt idx="28">
                  <c:v>94151</c:v>
                </c:pt>
                <c:pt idx="29">
                  <c:v>98032</c:v>
                </c:pt>
                <c:pt idx="30">
                  <c:v>102195</c:v>
                </c:pt>
                <c:pt idx="31">
                  <c:v>107109</c:v>
                </c:pt>
                <c:pt idx="32">
                  <c:v>104938</c:v>
                </c:pt>
                <c:pt idx="33">
                  <c:v>105654</c:v>
                </c:pt>
                <c:pt idx="34">
                  <c:v>111830</c:v>
                </c:pt>
                <c:pt idx="35">
                  <c:v>105935</c:v>
                </c:pt>
                <c:pt idx="36">
                  <c:v>109509</c:v>
                </c:pt>
                <c:pt idx="37">
                  <c:v>114337</c:v>
                </c:pt>
                <c:pt idx="38">
                  <c:v>117480</c:v>
                </c:pt>
                <c:pt idx="39">
                  <c:v>122090</c:v>
                </c:pt>
                <c:pt idx="40">
                  <c:v>126893</c:v>
                </c:pt>
                <c:pt idx="41">
                  <c:v>125331</c:v>
                </c:pt>
                <c:pt idx="42">
                  <c:v>128344</c:v>
                </c:pt>
                <c:pt idx="43">
                  <c:v>132228</c:v>
                </c:pt>
                <c:pt idx="44">
                  <c:v>134196</c:v>
                </c:pt>
                <c:pt idx="45">
                  <c:v>138186</c:v>
                </c:pt>
                <c:pt idx="46">
                  <c:v>132112</c:v>
                </c:pt>
                <c:pt idx="47">
                  <c:v>131060</c:v>
                </c:pt>
                <c:pt idx="48">
                  <c:v>135127</c:v>
                </c:pt>
                <c:pt idx="49">
                  <c:v>134932</c:v>
                </c:pt>
                <c:pt idx="50">
                  <c:v>138049</c:v>
                </c:pt>
                <c:pt idx="51">
                  <c:v>141281</c:v>
                </c:pt>
                <c:pt idx="52">
                  <c:v>145099</c:v>
                </c:pt>
                <c:pt idx="53">
                  <c:v>144187</c:v>
                </c:pt>
                <c:pt idx="54">
                  <c:v>147639</c:v>
                </c:pt>
                <c:pt idx="55">
                  <c:v>151973</c:v>
                </c:pt>
                <c:pt idx="56">
                  <c:v>154107</c:v>
                </c:pt>
                <c:pt idx="57">
                  <c:v>156010</c:v>
                </c:pt>
                <c:pt idx="58">
                  <c:v>157974</c:v>
                </c:pt>
                <c:pt idx="59">
                  <c:v>163333</c:v>
                </c:pt>
                <c:pt idx="60">
                  <c:v>165494</c:v>
                </c:pt>
                <c:pt idx="61">
                  <c:v>169301</c:v>
                </c:pt>
                <c:pt idx="62">
                  <c:v>174545</c:v>
                </c:pt>
                <c:pt idx="63">
                  <c:v>175496</c:v>
                </c:pt>
                <c:pt idx="64">
                  <c:v>175274</c:v>
                </c:pt>
                <c:pt idx="65">
                  <c:v>178351</c:v>
                </c:pt>
                <c:pt idx="66">
                  <c:v>185131</c:v>
                </c:pt>
                <c:pt idx="67">
                  <c:v>186468</c:v>
                </c:pt>
                <c:pt idx="68">
                  <c:v>185544</c:v>
                </c:pt>
                <c:pt idx="69">
                  <c:v>186067</c:v>
                </c:pt>
                <c:pt idx="70">
                  <c:v>186644</c:v>
                </c:pt>
                <c:pt idx="71">
                  <c:v>188343</c:v>
                </c:pt>
                <c:pt idx="72">
                  <c:v>188148</c:v>
                </c:pt>
                <c:pt idx="73">
                  <c:v>190627</c:v>
                </c:pt>
                <c:pt idx="74">
                  <c:v>194395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6A0-4619-99C5-9C70894ACA7E}"/>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orientation val="minMax"/>
          <c:max val="2000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crossBetween val="between"/>
        <c:majorUnit val="50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High school degree / no four-year degree</c:v>
                </c:pt>
              </c:strCache>
            </c:strRef>
          </c:tx>
          <c:spPr>
            <a:solidFill>
              <a:srgbClr val="8C8C8C"/>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109-4C0F-A3A9-6B5A20038A89}"/>
            </c:ext>
          </c:extLst>
        </c:ser>
        <c:ser>
          <c:idx val="1"/>
          <c:order val="1"/>
          <c:tx>
            <c:strRef>
              <c:f>Sheet1!$C$1</c:f>
              <c:strCache>
                <c:ptCount val="1"/>
                <c:pt idx="0">
                  <c:v>Four-year college degree</c:v>
                </c:pt>
              </c:strCache>
            </c:strRef>
          </c:tx>
          <c:spPr>
            <a:solidFill>
              <a:srgbClr val="C8102E"/>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109-4C0F-A3A9-6B5A20038A89}"/>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orientation val="minMax"/>
          <c:max val="1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20"/>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8.2000000000000003E-2"/>
          <c:y val="6.8376068376068397E-2"/>
          <c:w val="0.89999999999999991"/>
          <c:h val="0.79914529914529919"/>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c:v>
                </c:pt>
                <c:pt idx="1">
                  <c:v>2508</c:v>
                </c:pt>
                <c:pt idx="2">
                  <c:v>9334</c:v>
                </c:pt>
                <c:pt idx="3">
                  <c:v>6353</c:v>
                </c:pt>
                <c:pt idx="4">
                  <c:v>9337</c:v>
                </c:pt>
                <c:pt idx="5">
                  <c:v>4665</c:v>
                </c:pt>
                <c:pt idx="6">
                  <c:v>4964</c:v>
                </c:pt>
                <c:pt idx="7">
                  <c:v>5235</c:v>
                </c:pt>
                <c:pt idx="8">
                  <c:v>5791</c:v>
                </c:pt>
                <c:pt idx="9">
                  <c:v>8387</c:v>
                </c:pt>
                <c:pt idx="10">
                  <c:v>9230</c:v>
                </c:pt>
                <c:pt idx="11">
                  <c:v>8726</c:v>
                </c:pt>
                <c:pt idx="12">
                  <c:v>7761</c:v>
                </c:pt>
                <c:pt idx="13">
                  <c:v>7646</c:v>
                </c:pt>
                <c:pt idx="14">
                  <c:v>9217</c:v>
                </c:pt>
                <c:pt idx="15">
                  <c:v>8742</c:v>
                </c:pt>
                <c:pt idx="16">
                  <c:v>25751</c:v>
                </c:pt>
                <c:pt idx="17">
                  <c:v>11117</c:v>
                </c:pt>
                <c:pt idx="18">
                  <c:v>11502</c:v>
                </c:pt>
                <c:pt idx="19">
                  <c:v>13192</c:v>
                </c:pt>
                <c:pt idx="20">
                  <c:v>4827</c:v>
                </c:pt>
                <c:pt idx="21">
                  <c:v>6425</c:v>
                </c:pt>
                <c:pt idx="22">
                  <c:v>9148</c:v>
                </c:pt>
                <c:pt idx="23">
                  <c:v>9316</c:v>
                </c:pt>
                <c:pt idx="24">
                  <c:v>7051</c:v>
                </c:pt>
                <c:pt idx="25">
                  <c:v>9026</c:v>
                </c:pt>
                <c:pt idx="26">
                  <c:v>8138</c:v>
                </c:pt>
                <c:pt idx="27">
                  <c:v>14956</c:v>
                </c:pt>
                <c:pt idx="28">
                  <c:v>21253</c:v>
                </c:pt>
                <c:pt idx="29">
                  <c:v>10627</c:v>
                </c:pt>
                <c:pt idx="30">
                  <c:v>9919</c:v>
                </c:pt>
                <c:pt idx="31">
                  <c:v>29179</c:v>
                </c:pt>
                <c:pt idx="32">
                  <c:v>12709</c:v>
                </c:pt>
                <c:pt idx="33">
                  <c:v>53517</c:v>
                </c:pt>
                <c:pt idx="34">
                  <c:v>56954</c:v>
                </c:pt>
                <c:pt idx="35">
                  <c:v>9284</c:v>
                </c:pt>
                <c:pt idx="36">
                  <c:v>21697</c:v>
                </c:pt>
                <c:pt idx="37">
                  <c:v>11458</c:v>
                </c:pt>
                <c:pt idx="38">
                  <c:v>10972</c:v>
                </c:pt>
                <c:pt idx="39">
                  <c:v>21854</c:v>
                </c:pt>
                <c:pt idx="40">
                  <c:v>20555</c:v>
                </c:pt>
                <c:pt idx="41">
                  <c:v>9788</c:v>
                </c:pt>
                <c:pt idx="42">
                  <c:v>15524</c:v>
                </c:pt>
                <c:pt idx="43">
                  <c:v>10904</c:v>
                </c:pt>
                <c:pt idx="44">
                  <c:v>12924</c:v>
                </c:pt>
                <c:pt idx="45">
                  <c:v>18250</c:v>
                </c:pt>
                <c:pt idx="46">
                  <c:v>15560</c:v>
                </c:pt>
                <c:pt idx="47">
                  <c:v>12587</c:v>
                </c:pt>
                <c:pt idx="48">
                  <c:v>20297</c:v>
                </c:pt>
                <c:pt idx="49">
                  <c:v>14135</c:v>
                </c:pt>
                <c:pt idx="50">
                  <c:v>14858</c:v>
                </c:pt>
                <c:pt idx="51">
                  <c:v>15187</c:v>
                </c:pt>
                <c:pt idx="52">
                  <c:v>13479</c:v>
                </c:pt>
                <c:pt idx="53">
                  <c:v>14271</c:v>
                </c:pt>
                <c:pt idx="54">
                  <c:v>20828</c:v>
                </c:pt>
                <c:pt idx="55">
                  <c:v>9825</c:v>
                </c:pt>
                <c:pt idx="56">
                  <c:v>33216</c:v>
                </c:pt>
                <c:pt idx="57">
                  <c:v>7092</c:v>
                </c:pt>
                <c:pt idx="58">
                  <c:v>26861</c:v>
                </c:pt>
                <c:pt idx="59">
                  <c:v>16670</c:v>
                </c:pt>
                <c:pt idx="60">
                  <c:v>49465</c:v>
                </c:pt>
                <c:pt idx="61">
                  <c:v>10958</c:v>
                </c:pt>
                <c:pt idx="62">
                  <c:v>16512</c:v>
                </c:pt>
                <c:pt idx="63">
                  <c:v>17043</c:v>
                </c:pt>
                <c:pt idx="64">
                  <c:v>13649</c:v>
                </c:pt>
                <c:pt idx="65">
                  <c:v>13335</c:v>
                </c:pt>
                <c:pt idx="66">
                  <c:v>15245</c:v>
                </c:pt>
                <c:pt idx="67">
                  <c:v>15258</c:v>
                </c:pt>
                <c:pt idx="68">
                  <c:v>13805</c:v>
                </c:pt>
                <c:pt idx="69">
                  <c:v>7099</c:v>
                </c:pt>
                <c:pt idx="70">
                  <c:v>11476</c:v>
                </c:pt>
                <c:pt idx="71">
                  <c:v>24313</c:v>
                </c:pt>
                <c:pt idx="72">
                  <c:v>13157</c:v>
                </c:pt>
                <c:pt idx="73">
                  <c:v>26500</c:v>
                </c:pt>
                <c:pt idx="74">
                  <c:v>20227</c:v>
                </c:pt>
                <c:pt idx="75">
                  <c:v>21249</c:v>
                </c:pt>
                <c:pt idx="76">
                  <c:v>29290</c:v>
                </c:pt>
                <c:pt idx="77">
                  <c:v>23238</c:v>
                </c:pt>
                <c:pt idx="78">
                  <c:v>21642</c:v>
                </c:pt>
                <c:pt idx="79">
                  <c:v>28299</c:v>
                </c:pt>
                <c:pt idx="80">
                  <c:v>18934</c:v>
                </c:pt>
                <c:pt idx="81">
                  <c:v>21269</c:v>
                </c:pt>
                <c:pt idx="82">
                  <c:v>21679</c:v>
                </c:pt>
                <c:pt idx="83">
                  <c:v>22327</c:v>
                </c:pt>
                <c:pt idx="84">
                  <c:v>20011</c:v>
                </c:pt>
                <c:pt idx="85">
                  <c:v>10964</c:v>
                </c:pt>
                <c:pt idx="86">
                  <c:v>9329</c:v>
                </c:pt>
                <c:pt idx="87">
                  <c:v>19104</c:v>
                </c:pt>
                <c:pt idx="88">
                  <c:v>30684</c:v>
                </c:pt>
                <c:pt idx="89">
                  <c:v>20925</c:v>
                </c:pt>
                <c:pt idx="90">
                  <c:v>13235</c:v>
                </c:pt>
                <c:pt idx="91">
                  <c:v>30947</c:v>
                </c:pt>
                <c:pt idx="92">
                  <c:v>5567</c:v>
                </c:pt>
                <c:pt idx="93">
                  <c:v>18328</c:v>
                </c:pt>
                <c:pt idx="94">
                  <c:v>14086</c:v>
                </c:pt>
                <c:pt idx="95">
                  <c:v>14224</c:v>
                </c:pt>
                <c:pt idx="96">
                  <c:v>15745</c:v>
                </c:pt>
                <c:pt idx="97">
                  <c:v>12030</c:v>
                </c:pt>
                <c:pt idx="98">
                  <c:v>25335</c:v>
                </c:pt>
                <c:pt idx="99">
                  <c:v>13494</c:v>
                </c:pt>
                <c:pt idx="100">
                  <c:v>26036</c:v>
                </c:pt>
                <c:pt idx="101">
                  <c:v>32265</c:v>
                </c:pt>
                <c:pt idx="102">
                  <c:v>30260</c:v>
                </c:pt>
                <c:pt idx="103">
                  <c:v>22094</c:v>
                </c:pt>
                <c:pt idx="104">
                  <c:v>5524</c:v>
                </c:pt>
                <c:pt idx="105">
                  <c:v>16315</c:v>
                </c:pt>
                <c:pt idx="106">
                  <c:v>30498</c:v>
                </c:pt>
                <c:pt idx="107">
                  <c:v>20607</c:v>
                </c:pt>
                <c:pt idx="108">
                  <c:v>12074</c:v>
                </c:pt>
                <c:pt idx="109">
                  <c:v>20896</c:v>
                </c:pt>
                <c:pt idx="110">
                  <c:v>20286</c:v>
                </c:pt>
                <c:pt idx="111">
                  <c:v>12513</c:v>
                </c:pt>
                <c:pt idx="112">
                  <c:v>25184</c:v>
                </c:pt>
                <c:pt idx="113">
                  <c:v>17800</c:v>
                </c:pt>
                <c:pt idx="114">
                  <c:v>20146</c:v>
                </c:pt>
                <c:pt idx="115">
                  <c:v>24016</c:v>
                </c:pt>
                <c:pt idx="116">
                  <c:v>20586</c:v>
                </c:pt>
                <c:pt idx="117">
                  <c:v>23151</c:v>
                </c:pt>
                <c:pt idx="118">
                  <c:v>18600</c:v>
                </c:pt>
                <c:pt idx="119">
                  <c:v>22063</c:v>
                </c:pt>
                <c:pt idx="120">
                  <c:v>16282</c:v>
                </c:pt>
                <c:pt idx="121">
                  <c:v>22075</c:v>
                </c:pt>
                <c:pt idx="122">
                  <c:v>10566</c:v>
                </c:pt>
                <c:pt idx="123">
                  <c:v>20831</c:v>
                </c:pt>
                <c:pt idx="124">
                  <c:v>19058</c:v>
                </c:pt>
                <c:pt idx="125">
                  <c:v>23283</c:v>
                </c:pt>
                <c:pt idx="126">
                  <c:v>19951</c:v>
                </c:pt>
                <c:pt idx="127">
                  <c:v>15644</c:v>
                </c:pt>
                <c:pt idx="128">
                  <c:v>15070</c:v>
                </c:pt>
                <c:pt idx="129">
                  <c:v>46080</c:v>
                </c:pt>
                <c:pt idx="130">
                  <c:v>9216</c:v>
                </c:pt>
                <c:pt idx="131">
                  <c:v>18408</c:v>
                </c:pt>
                <c:pt idx="132">
                  <c:v>23686</c:v>
                </c:pt>
                <c:pt idx="133">
                  <c:v>19849</c:v>
                </c:pt>
                <c:pt idx="134">
                  <c:v>19341</c:v>
                </c:pt>
                <c:pt idx="135">
                  <c:v>6100</c:v>
                </c:pt>
                <c:pt idx="136">
                  <c:v>12404</c:v>
                </c:pt>
                <c:pt idx="137">
                  <c:v>21311</c:v>
                </c:pt>
                <c:pt idx="138">
                  <c:v>26054</c:v>
                </c:pt>
                <c:pt idx="139">
                  <c:v>16383</c:v>
                </c:pt>
                <c:pt idx="140">
                  <c:v>29135</c:v>
                </c:pt>
                <c:pt idx="141">
                  <c:v>26972</c:v>
                </c:pt>
                <c:pt idx="142">
                  <c:v>23544</c:v>
                </c:pt>
                <c:pt idx="143">
                  <c:v>22472</c:v>
                </c:pt>
                <c:pt idx="144">
                  <c:v>26598</c:v>
                </c:pt>
                <c:pt idx="145">
                  <c:v>25263</c:v>
                </c:pt>
                <c:pt idx="146">
                  <c:v>22583</c:v>
                </c:pt>
                <c:pt idx="147">
                  <c:v>21401</c:v>
                </c:pt>
                <c:pt idx="148">
                  <c:v>24038</c:v>
                </c:pt>
                <c:pt idx="149">
                  <c:v>26569</c:v>
                </c:pt>
                <c:pt idx="150">
                  <c:v>25669</c:v>
                </c:pt>
                <c:pt idx="151">
                  <c:v>13186</c:v>
                </c:pt>
                <c:pt idx="152">
                  <c:v>22814</c:v>
                </c:pt>
                <c:pt idx="153">
                  <c:v>20894</c:v>
                </c:pt>
                <c:pt idx="154">
                  <c:v>37702</c:v>
                </c:pt>
                <c:pt idx="155">
                  <c:v>10372</c:v>
                </c:pt>
                <c:pt idx="156">
                  <c:v>19719</c:v>
                </c:pt>
                <c:pt idx="157">
                  <c:v>21063</c:v>
                </c:pt>
                <c:pt idx="158">
                  <c:v>23459</c:v>
                </c:pt>
                <c:pt idx="159">
                  <c:v>14258</c:v>
                </c:pt>
                <c:pt idx="160">
                  <c:v>15845</c:v>
                </c:pt>
                <c:pt idx="161">
                  <c:v>21677</c:v>
                </c:pt>
                <c:pt idx="162">
                  <c:v>35639</c:v>
                </c:pt>
                <c:pt idx="163">
                  <c:v>6106</c:v>
                </c:pt>
                <c:pt idx="164">
                  <c:v>21630</c:v>
                </c:pt>
                <c:pt idx="165">
                  <c:v>18086</c:v>
                </c:pt>
                <c:pt idx="166">
                  <c:v>18878</c:v>
                </c:pt>
                <c:pt idx="167">
                  <c:v>15210</c:v>
                </c:pt>
                <c:pt idx="168">
                  <c:v>20898</c:v>
                </c:pt>
                <c:pt idx="169">
                  <c:v>21741</c:v>
                </c:pt>
                <c:pt idx="170">
                  <c:v>18273</c:v>
                </c:pt>
                <c:pt idx="171">
                  <c:v>28340</c:v>
                </c:pt>
                <c:pt idx="172">
                  <c:v>20252</c:v>
                </c:pt>
                <c:pt idx="173">
                  <c:v>27426</c:v>
                </c:pt>
                <c:pt idx="174">
                  <c:v>31027</c:v>
                </c:pt>
                <c:pt idx="175">
                  <c:v>23931</c:v>
                </c:pt>
                <c:pt idx="176">
                  <c:v>22085</c:v>
                </c:pt>
                <c:pt idx="177">
                  <c:v>22960</c:v>
                </c:pt>
                <c:pt idx="178">
                  <c:v>23509</c:v>
                </c:pt>
                <c:pt idx="179">
                  <c:v>29249</c:v>
                </c:pt>
                <c:pt idx="180">
                  <c:v>22382</c:v>
                </c:pt>
                <c:pt idx="181">
                  <c:v>31872</c:v>
                </c:pt>
                <c:pt idx="182">
                  <c:v>25480</c:v>
                </c:pt>
                <c:pt idx="183">
                  <c:v>20951</c:v>
                </c:pt>
                <c:pt idx="184">
                  <c:v>27642</c:v>
                </c:pt>
                <c:pt idx="185">
                  <c:v>19616</c:v>
                </c:pt>
                <c:pt idx="186">
                  <c:v>29579</c:v>
                </c:pt>
                <c:pt idx="187">
                  <c:v>20082</c:v>
                </c:pt>
                <c:pt idx="188">
                  <c:v>12724</c:v>
                </c:pt>
                <c:pt idx="189">
                  <c:v>16641</c:v>
                </c:pt>
                <c:pt idx="190">
                  <c:v>21131</c:v>
                </c:pt>
                <c:pt idx="191">
                  <c:v>17360</c:v>
                </c:pt>
                <c:pt idx="192">
                  <c:v>12756</c:v>
                </c:pt>
                <c:pt idx="193">
                  <c:v>11404</c:v>
                </c:pt>
                <c:pt idx="194">
                  <c:v>19923</c:v>
                </c:pt>
                <c:pt idx="195">
                  <c:v>18605</c:v>
                </c:pt>
                <c:pt idx="196">
                  <c:v>16646</c:v>
                </c:pt>
                <c:pt idx="197">
                  <c:v>18277</c:v>
                </c:pt>
                <c:pt idx="198">
                  <c:v>24906</c:v>
                </c:pt>
                <c:pt idx="199">
                  <c:v>19910</c:v>
                </c:pt>
                <c:pt idx="200">
                  <c:v>29357</c:v>
                </c:pt>
                <c:pt idx="201">
                  <c:v>22051</c:v>
                </c:pt>
                <c:pt idx="202">
                  <c:v>26674</c:v>
                </c:pt>
                <c:pt idx="203">
                  <c:v>18885</c:v>
                </c:pt>
                <c:pt idx="204">
                  <c:v>21005</c:v>
                </c:pt>
                <c:pt idx="205">
                  <c:v>14107</c:v>
                </c:pt>
                <c:pt idx="206">
                  <c:v>25817</c:v>
                </c:pt>
                <c:pt idx="207">
                  <c:v>17707</c:v>
                </c:pt>
                <c:pt idx="208">
                  <c:v>27061</c:v>
                </c:pt>
                <c:pt idx="209">
                  <c:v>21751</c:v>
                </c:pt>
                <c:pt idx="210">
                  <c:v>22715</c:v>
                </c:pt>
                <c:pt idx="211">
                  <c:v>16927</c:v>
                </c:pt>
                <c:pt idx="212">
                  <c:v>19932</c:v>
                </c:pt>
                <c:pt idx="213">
                  <c:v>16334</c:v>
                </c:pt>
                <c:pt idx="214">
                  <c:v>32020</c:v>
                </c:pt>
                <c:pt idx="215">
                  <c:v>8709</c:v>
                </c:pt>
                <c:pt idx="216">
                  <c:v>20689</c:v>
                </c:pt>
                <c:pt idx="217">
                  <c:v>8470</c:v>
                </c:pt>
                <c:pt idx="218">
                  <c:v>26005</c:v>
                </c:pt>
                <c:pt idx="219">
                  <c:v>29529</c:v>
                </c:pt>
                <c:pt idx="220">
                  <c:v>12641</c:v>
                </c:pt>
                <c:pt idx="221">
                  <c:v>22371</c:v>
                </c:pt>
                <c:pt idx="222">
                  <c:v>25942</c:v>
                </c:pt>
                <c:pt idx="223">
                  <c:v>17432</c:v>
                </c:pt>
                <c:pt idx="224">
                  <c:v>21666</c:v>
                </c:pt>
                <c:pt idx="225">
                  <c:v>49430</c:v>
                </c:pt>
                <c:pt idx="226">
                  <c:v>14836</c:v>
                </c:pt>
                <c:pt idx="227">
                  <c:v>31072</c:v>
                </c:pt>
                <c:pt idx="228">
                  <c:v>19748</c:v>
                </c:pt>
                <c:pt idx="229">
                  <c:v>21983</c:v>
                </c:pt>
                <c:pt idx="230">
                  <c:v>20148</c:v>
                </c:pt>
                <c:pt idx="231">
                  <c:v>16692</c:v>
                </c:pt>
                <c:pt idx="232">
                  <c:v>26683</c:v>
                </c:pt>
                <c:pt idx="233">
                  <c:v>22344</c:v>
                </c:pt>
                <c:pt idx="234">
                  <c:v>28882</c:v>
                </c:pt>
                <c:pt idx="235">
                  <c:v>21662</c:v>
                </c:pt>
                <c:pt idx="236">
                  <c:v>25163</c:v>
                </c:pt>
                <c:pt idx="237">
                  <c:v>15676</c:v>
                </c:pt>
                <c:pt idx="238">
                  <c:v>27431</c:v>
                </c:pt>
                <c:pt idx="239">
                  <c:v>24425</c:v>
                </c:pt>
                <c:pt idx="240">
                  <c:v>31625</c:v>
                </c:pt>
                <c:pt idx="241">
                  <c:v>34649</c:v>
                </c:pt>
                <c:pt idx="242">
                  <c:v>17882</c:v>
                </c:pt>
                <c:pt idx="243">
                  <c:v>18669</c:v>
                </c:pt>
                <c:pt idx="244">
                  <c:v>21365</c:v>
                </c:pt>
                <c:pt idx="245">
                  <c:v>21649</c:v>
                </c:pt>
                <c:pt idx="246">
                  <c:v>28333</c:v>
                </c:pt>
                <c:pt idx="247">
                  <c:v>27006</c:v>
                </c:pt>
                <c:pt idx="248">
                  <c:v>19310</c:v>
                </c:pt>
                <c:pt idx="249">
                  <c:v>22227</c:v>
                </c:pt>
                <c:pt idx="250">
                  <c:v>20519</c:v>
                </c:pt>
                <c:pt idx="251">
                  <c:v>31942</c:v>
                </c:pt>
                <c:pt idx="252">
                  <c:v>17131</c:v>
                </c:pt>
                <c:pt idx="253">
                  <c:v>12287</c:v>
                </c:pt>
                <c:pt idx="254">
                  <c:v>18460</c:v>
                </c:pt>
                <c:pt idx="255">
                  <c:v>19533</c:v>
                </c:pt>
                <c:pt idx="256">
                  <c:v>25365</c:v>
                </c:pt>
                <c:pt idx="257">
                  <c:v>24034</c:v>
                </c:pt>
                <c:pt idx="258">
                  <c:v>22451</c:v>
                </c:pt>
                <c:pt idx="259">
                  <c:v>2835</c:v>
                </c:pt>
                <c:pt idx="260">
                  <c:v>18853</c:v>
                </c:pt>
                <c:pt idx="261">
                  <c:v>22034</c:v>
                </c:pt>
                <c:pt idx="262">
                  <c:v>20301</c:v>
                </c:pt>
                <c:pt idx="263">
                  <c:v>20473</c:v>
                </c:pt>
                <c:pt idx="264">
                  <c:v>23206</c:v>
                </c:pt>
                <c:pt idx="265">
                  <c:v>18504</c:v>
                </c:pt>
                <c:pt idx="266">
                  <c:v>19061</c:v>
                </c:pt>
                <c:pt idx="267">
                  <c:v>29791</c:v>
                </c:pt>
                <c:pt idx="268">
                  <c:v>19444</c:v>
                </c:pt>
                <c:pt idx="269">
                  <c:v>12595</c:v>
                </c:pt>
                <c:pt idx="270">
                  <c:v>21574</c:v>
                </c:pt>
                <c:pt idx="271">
                  <c:v>27712</c:v>
                </c:pt>
                <c:pt idx="272">
                  <c:v>26299</c:v>
                </c:pt>
                <c:pt idx="273">
                  <c:v>16577</c:v>
                </c:pt>
                <c:pt idx="274">
                  <c:v>17540</c:v>
                </c:pt>
                <c:pt idx="275">
                  <c:v>22270</c:v>
                </c:pt>
                <c:pt idx="276">
                  <c:v>27371</c:v>
                </c:pt>
                <c:pt idx="277">
                  <c:v>15464</c:v>
                </c:pt>
                <c:pt idx="278">
                  <c:v>21393</c:v>
                </c:pt>
                <c:pt idx="279">
                  <c:v>23626</c:v>
                </c:pt>
                <c:pt idx="280">
                  <c:v>24639</c:v>
                </c:pt>
                <c:pt idx="281">
                  <c:v>30587</c:v>
                </c:pt>
                <c:pt idx="282">
                  <c:v>17674</c:v>
                </c:pt>
                <c:pt idx="283">
                  <c:v>21656</c:v>
                </c:pt>
                <c:pt idx="284">
                  <c:v>24704</c:v>
                </c:pt>
                <c:pt idx="285">
                  <c:v>26672</c:v>
                </c:pt>
                <c:pt idx="286">
                  <c:v>23206</c:v>
                </c:pt>
                <c:pt idx="287">
                  <c:v>22227</c:v>
                </c:pt>
                <c:pt idx="288">
                  <c:v>20311</c:v>
                </c:pt>
                <c:pt idx="289">
                  <c:v>17649</c:v>
                </c:pt>
                <c:pt idx="290">
                  <c:v>22723</c:v>
                </c:pt>
                <c:pt idx="291">
                  <c:v>21293</c:v>
                </c:pt>
                <c:pt idx="292">
                  <c:v>23627</c:v>
                </c:pt>
                <c:pt idx="293">
                  <c:v>20251</c:v>
                </c:pt>
                <c:pt idx="294">
                  <c:v>20958</c:v>
                </c:pt>
                <c:pt idx="295">
                  <c:v>19532</c:v>
                </c:pt>
                <c:pt idx="296">
                  <c:v>20556</c:v>
                </c:pt>
                <c:pt idx="297">
                  <c:v>19481</c:v>
                </c:pt>
                <c:pt idx="298">
                  <c:v>24153</c:v>
                </c:pt>
                <c:pt idx="299">
                  <c:v>20150</c:v>
                </c:pt>
                <c:pt idx="300">
                  <c:v>16442</c:v>
                </c:pt>
                <c:pt idx="301">
                  <c:v>36483</c:v>
                </c:pt>
                <c:pt idx="302">
                  <c:v>21456</c:v>
                </c:pt>
                <c:pt idx="303">
                  <c:v>20194</c:v>
                </c:pt>
                <c:pt idx="304">
                  <c:v>20144</c:v>
                </c:pt>
                <c:pt idx="305">
                  <c:v>19581</c:v>
                </c:pt>
                <c:pt idx="306">
                  <c:v>17879</c:v>
                </c:pt>
                <c:pt idx="307">
                  <c:v>18610</c:v>
                </c:pt>
                <c:pt idx="308">
                  <c:v>25573</c:v>
                </c:pt>
                <c:pt idx="309">
                  <c:v>25021</c:v>
                </c:pt>
                <c:pt idx="310">
                  <c:v>20948</c:v>
                </c:pt>
                <c:pt idx="311">
                  <c:v>28035</c:v>
                </c:pt>
                <c:pt idx="312">
                  <c:v>22601</c:v>
                </c:pt>
                <c:pt idx="313">
                  <c:v>14601</c:v>
                </c:pt>
                <c:pt idx="314">
                  <c:v>22766</c:v>
                </c:pt>
                <c:pt idx="315">
                  <c:v>44089</c:v>
                </c:pt>
                <c:pt idx="316">
                  <c:v>19751</c:v>
                </c:pt>
                <c:pt idx="317">
                  <c:v>20599</c:v>
                </c:pt>
                <c:pt idx="318">
                  <c:v>36861</c:v>
                </c:pt>
                <c:pt idx="319">
                  <c:v>18846</c:v>
                </c:pt>
                <c:pt idx="320">
                  <c:v>21872</c:v>
                </c:pt>
                <c:pt idx="321">
                  <c:v>28354</c:v>
                </c:pt>
                <c:pt idx="322">
                  <c:v>19360</c:v>
                </c:pt>
                <c:pt idx="323">
                  <c:v>11916</c:v>
                </c:pt>
                <c:pt idx="324">
                  <c:v>15635</c:v>
                </c:pt>
                <c:pt idx="325">
                  <c:v>26337</c:v>
                </c:pt>
                <c:pt idx="326">
                  <c:v>16813</c:v>
                </c:pt>
                <c:pt idx="327">
                  <c:v>14598</c:v>
                </c:pt>
                <c:pt idx="328">
                  <c:v>25491</c:v>
                </c:pt>
                <c:pt idx="329">
                  <c:v>30525</c:v>
                </c:pt>
                <c:pt idx="330">
                  <c:v>24860</c:v>
                </c:pt>
                <c:pt idx="331">
                  <c:v>19943</c:v>
                </c:pt>
                <c:pt idx="332">
                  <c:v>22421</c:v>
                </c:pt>
                <c:pt idx="333">
                  <c:v>16626</c:v>
                </c:pt>
                <c:pt idx="334">
                  <c:v>22566</c:v>
                </c:pt>
                <c:pt idx="335">
                  <c:v>35013</c:v>
                </c:pt>
                <c:pt idx="336">
                  <c:v>26649</c:v>
                </c:pt>
                <c:pt idx="337">
                  <c:v>27686</c:v>
                </c:pt>
                <c:pt idx="338">
                  <c:v>29310</c:v>
                </c:pt>
                <c:pt idx="339">
                  <c:v>27511</c:v>
                </c:pt>
                <c:pt idx="340">
                  <c:v>22347</c:v>
                </c:pt>
                <c:pt idx="341">
                  <c:v>18499</c:v>
                </c:pt>
                <c:pt idx="342">
                  <c:v>992</c:v>
                </c:pt>
                <c:pt idx="343">
                  <c:v>25907</c:v>
                </c:pt>
                <c:pt idx="344">
                  <c:v>32917</c:v>
                </c:pt>
                <c:pt idx="345">
                  <c:v>20406</c:v>
                </c:pt>
                <c:pt idx="346">
                  <c:v>22213</c:v>
                </c:pt>
                <c:pt idx="347">
                  <c:v>25890</c:v>
                </c:pt>
                <c:pt idx="348">
                  <c:v>23589</c:v>
                </c:pt>
                <c:pt idx="349">
                  <c:v>19676</c:v>
                </c:pt>
                <c:pt idx="350">
                  <c:v>36708</c:v>
                </c:pt>
                <c:pt idx="351">
                  <c:v>27807</c:v>
                </c:pt>
                <c:pt idx="352">
                  <c:v>23624</c:v>
                </c:pt>
                <c:pt idx="353">
                  <c:v>20359</c:v>
                </c:pt>
                <c:pt idx="354">
                  <c:v>26265</c:v>
                </c:pt>
                <c:pt idx="355">
                  <c:v>26728</c:v>
                </c:pt>
                <c:pt idx="356">
                  <c:v>29500</c:v>
                </c:pt>
                <c:pt idx="357">
                  <c:v>20961</c:v>
                </c:pt>
                <c:pt idx="358">
                  <c:v>12148</c:v>
                </c:pt>
                <c:pt idx="359">
                  <c:v>27705</c:v>
                </c:pt>
                <c:pt idx="360">
                  <c:v>24714</c:v>
                </c:pt>
                <c:pt idx="361">
                  <c:v>27047</c:v>
                </c:pt>
                <c:pt idx="362">
                  <c:v>21807</c:v>
                </c:pt>
                <c:pt idx="363">
                  <c:v>22662</c:v>
                </c:pt>
                <c:pt idx="364">
                  <c:v>20786</c:v>
                </c:pt>
                <c:pt idx="365">
                  <c:v>17133</c:v>
                </c:pt>
                <c:pt idx="366">
                  <c:v>22671</c:v>
                </c:pt>
                <c:pt idx="367">
                  <c:v>19693</c:v>
                </c:pt>
                <c:pt idx="368">
                  <c:v>31152</c:v>
                </c:pt>
                <c:pt idx="369">
                  <c:v>23386</c:v>
                </c:pt>
                <c:pt idx="370">
                  <c:v>21989</c:v>
                </c:pt>
                <c:pt idx="371">
                  <c:v>24452</c:v>
                </c:pt>
                <c:pt idx="372">
                  <c:v>20449</c:v>
                </c:pt>
                <c:pt idx="373">
                  <c:v>18805</c:v>
                </c:pt>
                <c:pt idx="374">
                  <c:v>16530</c:v>
                </c:pt>
                <c:pt idx="375">
                  <c:v>22925</c:v>
                </c:pt>
                <c:pt idx="376">
                  <c:v>22488</c:v>
                </c:pt>
                <c:pt idx="377">
                  <c:v>17545</c:v>
                </c:pt>
                <c:pt idx="378">
                  <c:v>19076</c:v>
                </c:pt>
                <c:pt idx="379">
                  <c:v>45597</c:v>
                </c:pt>
                <c:pt idx="380">
                  <c:v>18083</c:v>
                </c:pt>
                <c:pt idx="381">
                  <c:v>32839</c:v>
                </c:pt>
                <c:pt idx="382">
                  <c:v>17349</c:v>
                </c:pt>
                <c:pt idx="383">
                  <c:v>19372</c:v>
                </c:pt>
                <c:pt idx="384">
                  <c:v>26662</c:v>
                </c:pt>
                <c:pt idx="385">
                  <c:v>22409</c:v>
                </c:pt>
                <c:pt idx="386">
                  <c:v>13113</c:v>
                </c:pt>
                <c:pt idx="387">
                  <c:v>29580</c:v>
                </c:pt>
                <c:pt idx="388">
                  <c:v>25203</c:v>
                </c:pt>
                <c:pt idx="389">
                  <c:v>19353</c:v>
                </c:pt>
                <c:pt idx="390">
                  <c:v>20875</c:v>
                </c:pt>
                <c:pt idx="391">
                  <c:v>20079</c:v>
                </c:pt>
                <c:pt idx="392">
                  <c:v>22204</c:v>
                </c:pt>
                <c:pt idx="393">
                  <c:v>38071</c:v>
                </c:pt>
                <c:pt idx="394">
                  <c:v>20590</c:v>
                </c:pt>
                <c:pt idx="395">
                  <c:v>25243</c:v>
                </c:pt>
                <c:pt idx="396">
                  <c:v>14493</c:v>
                </c:pt>
                <c:pt idx="397">
                  <c:v>17758</c:v>
                </c:pt>
                <c:pt idx="398">
                  <c:v>27970</c:v>
                </c:pt>
                <c:pt idx="399">
                  <c:v>14072</c:v>
                </c:pt>
                <c:pt idx="400">
                  <c:v>16774</c:v>
                </c:pt>
                <c:pt idx="401">
                  <c:v>14095</c:v>
                </c:pt>
                <c:pt idx="402">
                  <c:v>26441</c:v>
                </c:pt>
                <c:pt idx="403">
                  <c:v>27715</c:v>
                </c:pt>
                <c:pt idx="404">
                  <c:v>24883</c:v>
                </c:pt>
                <c:pt idx="405">
                  <c:v>26267</c:v>
                </c:pt>
                <c:pt idx="406">
                  <c:v>17127</c:v>
                </c:pt>
                <c:pt idx="407">
                  <c:v>24865</c:v>
                </c:pt>
                <c:pt idx="408">
                  <c:v>24314</c:v>
                </c:pt>
                <c:pt idx="409">
                  <c:v>21507</c:v>
                </c:pt>
                <c:pt idx="410">
                  <c:v>28082</c:v>
                </c:pt>
                <c:pt idx="411">
                  <c:v>20794</c:v>
                </c:pt>
                <c:pt idx="412">
                  <c:v>28856</c:v>
                </c:pt>
                <c:pt idx="413">
                  <c:v>15376</c:v>
                </c:pt>
                <c:pt idx="414">
                  <c:v>29954</c:v>
                </c:pt>
                <c:pt idx="415">
                  <c:v>23965</c:v>
                </c:pt>
                <c:pt idx="416">
                  <c:v>25807</c:v>
                </c:pt>
                <c:pt idx="417">
                  <c:v>18298</c:v>
                </c:pt>
                <c:pt idx="418">
                  <c:v>20748</c:v>
                </c:pt>
                <c:pt idx="419">
                  <c:v>20942</c:v>
                </c:pt>
                <c:pt idx="420">
                  <c:v>16053</c:v>
                </c:pt>
                <c:pt idx="421">
                  <c:v>23911</c:v>
                </c:pt>
                <c:pt idx="422">
                  <c:v>21774</c:v>
                </c:pt>
                <c:pt idx="423">
                  <c:v>27477</c:v>
                </c:pt>
                <c:pt idx="424">
                  <c:v>22130</c:v>
                </c:pt>
                <c:pt idx="425">
                  <c:v>39013</c:v>
                </c:pt>
                <c:pt idx="426">
                  <c:v>58741</c:v>
                </c:pt>
                <c:pt idx="427">
                  <c:v>23696</c:v>
                </c:pt>
                <c:pt idx="428">
                  <c:v>21988</c:v>
                </c:pt>
                <c:pt idx="429">
                  <c:v>22778</c:v>
                </c:pt>
                <c:pt idx="430">
                  <c:v>22470</c:v>
                </c:pt>
                <c:pt idx="431">
                  <c:v>23125</c:v>
                </c:pt>
                <c:pt idx="432">
                  <c:v>19285</c:v>
                </c:pt>
                <c:pt idx="433">
                  <c:v>23274</c:v>
                </c:pt>
                <c:pt idx="434">
                  <c:v>22540</c:v>
                </c:pt>
                <c:pt idx="435">
                  <c:v>27891</c:v>
                </c:pt>
                <c:pt idx="436">
                  <c:v>12547</c:v>
                </c:pt>
                <c:pt idx="437">
                  <c:v>20729</c:v>
                </c:pt>
                <c:pt idx="438">
                  <c:v>23280</c:v>
                </c:pt>
                <c:pt idx="439">
                  <c:v>21526</c:v>
                </c:pt>
                <c:pt idx="440">
                  <c:v>19638</c:v>
                </c:pt>
                <c:pt idx="441">
                  <c:v>19237</c:v>
                </c:pt>
                <c:pt idx="442">
                  <c:v>26364</c:v>
                </c:pt>
                <c:pt idx="443">
                  <c:v>27154</c:v>
                </c:pt>
                <c:pt idx="444">
                  <c:v>8221</c:v>
                </c:pt>
                <c:pt idx="445">
                  <c:v>15921</c:v>
                </c:pt>
                <c:pt idx="446">
                  <c:v>29627</c:v>
                </c:pt>
                <c:pt idx="447">
                  <c:v>17800</c:v>
                </c:pt>
                <c:pt idx="448">
                  <c:v>16525</c:v>
                </c:pt>
                <c:pt idx="449">
                  <c:v>23634</c:v>
                </c:pt>
                <c:pt idx="450">
                  <c:v>21937</c:v>
                </c:pt>
                <c:pt idx="451">
                  <c:v>18489</c:v>
                </c:pt>
                <c:pt idx="452">
                  <c:v>41437</c:v>
                </c:pt>
                <c:pt idx="453">
                  <c:v>21602</c:v>
                </c:pt>
                <c:pt idx="454">
                  <c:v>20789</c:v>
                </c:pt>
                <c:pt idx="455">
                  <c:v>24345</c:v>
                </c:pt>
                <c:pt idx="456">
                  <c:v>20503</c:v>
                </c:pt>
                <c:pt idx="457">
                  <c:v>19735</c:v>
                </c:pt>
                <c:pt idx="458">
                  <c:v>18499</c:v>
                </c:pt>
                <c:pt idx="459">
                  <c:v>24456</c:v>
                </c:pt>
                <c:pt idx="460">
                  <c:v>22320</c:v>
                </c:pt>
                <c:pt idx="461">
                  <c:v>9302</c:v>
                </c:pt>
                <c:pt idx="462">
                  <c:v>24691</c:v>
                </c:pt>
                <c:pt idx="463">
                  <c:v>15644</c:v>
                </c:pt>
                <c:pt idx="464">
                  <c:v>26034</c:v>
                </c:pt>
                <c:pt idx="465">
                  <c:v>19859</c:v>
                </c:pt>
                <c:pt idx="466">
                  <c:v>24654</c:v>
                </c:pt>
                <c:pt idx="467">
                  <c:v>20397</c:v>
                </c:pt>
                <c:pt idx="468">
                  <c:v>21829</c:v>
                </c:pt>
                <c:pt idx="469">
                  <c:v>27171</c:v>
                </c:pt>
                <c:pt idx="470">
                  <c:v>18924</c:v>
                </c:pt>
                <c:pt idx="471">
                  <c:v>24066</c:v>
                </c:pt>
                <c:pt idx="472">
                  <c:v>20205</c:v>
                </c:pt>
                <c:pt idx="473">
                  <c:v>26502</c:v>
                </c:pt>
                <c:pt idx="474">
                  <c:v>18436</c:v>
                </c:pt>
                <c:pt idx="475">
                  <c:v>27603</c:v>
                </c:pt>
                <c:pt idx="476">
                  <c:v>22576</c:v>
                </c:pt>
                <c:pt idx="477">
                  <c:v>21616</c:v>
                </c:pt>
                <c:pt idx="478">
                  <c:v>26312</c:v>
                </c:pt>
                <c:pt idx="479">
                  <c:v>21058</c:v>
                </c:pt>
                <c:pt idx="480">
                  <c:v>23377</c:v>
                </c:pt>
                <c:pt idx="481">
                  <c:v>16590</c:v>
                </c:pt>
                <c:pt idx="482">
                  <c:v>27817</c:v>
                </c:pt>
                <c:pt idx="483">
                  <c:v>29207</c:v>
                </c:pt>
                <c:pt idx="484">
                  <c:v>20614</c:v>
                </c:pt>
                <c:pt idx="485">
                  <c:v>23907</c:v>
                </c:pt>
                <c:pt idx="486">
                  <c:v>21383</c:v>
                </c:pt>
                <c:pt idx="487">
                  <c:v>22857</c:v>
                </c:pt>
                <c:pt idx="488">
                  <c:v>23245</c:v>
                </c:pt>
                <c:pt idx="489">
                  <c:v>21913</c:v>
                </c:pt>
                <c:pt idx="490">
                  <c:v>20694</c:v>
                </c:pt>
                <c:pt idx="491">
                  <c:v>19555</c:v>
                </c:pt>
                <c:pt idx="492">
                  <c:v>22436</c:v>
                </c:pt>
                <c:pt idx="493">
                  <c:v>24595</c:v>
                </c:pt>
                <c:pt idx="494">
                  <c:v>24588</c:v>
                </c:pt>
                <c:pt idx="495">
                  <c:v>24516</c:v>
                </c:pt>
                <c:pt idx="496">
                  <c:v>25620</c:v>
                </c:pt>
                <c:pt idx="497">
                  <c:v>20216</c:v>
                </c:pt>
                <c:pt idx="498">
                  <c:v>22288</c:v>
                </c:pt>
                <c:pt idx="499">
                  <c:v>35671</c:v>
                </c:pt>
                <c:pt idx="500">
                  <c:v>18649</c:v>
                </c:pt>
                <c:pt idx="501">
                  <c:v>22084</c:v>
                </c:pt>
                <c:pt idx="502">
                  <c:v>18260</c:v>
                </c:pt>
                <c:pt idx="503">
                  <c:v>23130</c:v>
                </c:pt>
                <c:pt idx="504">
                  <c:v>19971</c:v>
                </c:pt>
                <c:pt idx="505">
                  <c:v>23716</c:v>
                </c:pt>
                <c:pt idx="506">
                  <c:v>28138</c:v>
                </c:pt>
                <c:pt idx="507">
                  <c:v>25629</c:v>
                </c:pt>
                <c:pt idx="508">
                  <c:v>19509</c:v>
                </c:pt>
                <c:pt idx="509">
                  <c:v>28551</c:v>
                </c:pt>
                <c:pt idx="510">
                  <c:v>18196</c:v>
                </c:pt>
                <c:pt idx="511">
                  <c:v>22855</c:v>
                </c:pt>
                <c:pt idx="512">
                  <c:v>14271</c:v>
                </c:pt>
                <c:pt idx="513">
                  <c:v>24479</c:v>
                </c:pt>
                <c:pt idx="514">
                  <c:v>24468</c:v>
                </c:pt>
                <c:pt idx="515">
                  <c:v>31320</c:v>
                </c:pt>
                <c:pt idx="516">
                  <c:v>25368</c:v>
                </c:pt>
                <c:pt idx="517">
                  <c:v>24739</c:v>
                </c:pt>
                <c:pt idx="518">
                  <c:v>27963</c:v>
                </c:pt>
                <c:pt idx="519">
                  <c:v>33393</c:v>
                </c:pt>
                <c:pt idx="520">
                  <c:v>26196</c:v>
                </c:pt>
                <c:pt idx="521">
                  <c:v>20897</c:v>
                </c:pt>
                <c:pt idx="522">
                  <c:v>29824</c:v>
                </c:pt>
                <c:pt idx="523">
                  <c:v>21260</c:v>
                </c:pt>
                <c:pt idx="524">
                  <c:v>19125</c:v>
                </c:pt>
                <c:pt idx="525">
                  <c:v>26182</c:v>
                </c:pt>
                <c:pt idx="526">
                  <c:v>22107</c:v>
                </c:pt>
                <c:pt idx="527">
                  <c:v>23401</c:v>
                </c:pt>
                <c:pt idx="528">
                  <c:v>23388</c:v>
                </c:pt>
                <c:pt idx="529">
                  <c:v>28278</c:v>
                </c:pt>
                <c:pt idx="530">
                  <c:v>38107</c:v>
                </c:pt>
                <c:pt idx="531">
                  <c:v>33147</c:v>
                </c:pt>
                <c:pt idx="532">
                  <c:v>20629</c:v>
                </c:pt>
                <c:pt idx="533">
                  <c:v>24212</c:v>
                </c:pt>
                <c:pt idx="534">
                  <c:v>22613</c:v>
                </c:pt>
                <c:pt idx="535">
                  <c:v>32811</c:v>
                </c:pt>
                <c:pt idx="536">
                  <c:v>36201</c:v>
                </c:pt>
                <c:pt idx="537">
                  <c:v>26106</c:v>
                </c:pt>
                <c:pt idx="538">
                  <c:v>17248</c:v>
                </c:pt>
                <c:pt idx="539">
                  <c:v>32908</c:v>
                </c:pt>
                <c:pt idx="540">
                  <c:v>19140</c:v>
                </c:pt>
                <c:pt idx="541">
                  <c:v>28062</c:v>
                </c:pt>
                <c:pt idx="542">
                  <c:v>24754</c:v>
                </c:pt>
                <c:pt idx="543">
                  <c:v>21032</c:v>
                </c:pt>
                <c:pt idx="544">
                  <c:v>18558</c:v>
                </c:pt>
                <c:pt idx="545">
                  <c:v>22235</c:v>
                </c:pt>
                <c:pt idx="546">
                  <c:v>18327</c:v>
                </c:pt>
                <c:pt idx="547">
                  <c:v>29357</c:v>
                </c:pt>
                <c:pt idx="548">
                  <c:v>19567</c:v>
                </c:pt>
                <c:pt idx="549">
                  <c:v>22775</c:v>
                </c:pt>
                <c:pt idx="550">
                  <c:v>31495</c:v>
                </c:pt>
                <c:pt idx="551">
                  <c:v>28516</c:v>
                </c:pt>
                <c:pt idx="552">
                  <c:v>16164</c:v>
                </c:pt>
                <c:pt idx="553">
                  <c:v>29224</c:v>
                </c:pt>
                <c:pt idx="554">
                  <c:v>25121</c:v>
                </c:pt>
                <c:pt idx="555">
                  <c:v>23988</c:v>
                </c:pt>
                <c:pt idx="556">
                  <c:v>34666</c:v>
                </c:pt>
                <c:pt idx="557">
                  <c:v>26565</c:v>
                </c:pt>
                <c:pt idx="558">
                  <c:v>21145</c:v>
                </c:pt>
                <c:pt idx="559">
                  <c:v>27221</c:v>
                </c:pt>
                <c:pt idx="560">
                  <c:v>20873</c:v>
                </c:pt>
                <c:pt idx="561">
                  <c:v>28185</c:v>
                </c:pt>
                <c:pt idx="562">
                  <c:v>32647</c:v>
                </c:pt>
                <c:pt idx="563">
                  <c:v>18745</c:v>
                </c:pt>
                <c:pt idx="564">
                  <c:v>15788</c:v>
                </c:pt>
                <c:pt idx="565">
                  <c:v>25355</c:v>
                </c:pt>
                <c:pt idx="566">
                  <c:v>21083</c:v>
                </c:pt>
                <c:pt idx="567">
                  <c:v>27074</c:v>
                </c:pt>
                <c:pt idx="568">
                  <c:v>15404</c:v>
                </c:pt>
                <c:pt idx="569">
                  <c:v>22829</c:v>
                </c:pt>
                <c:pt idx="570">
                  <c:v>9854</c:v>
                </c:pt>
                <c:pt idx="571">
                  <c:v>17124</c:v>
                </c:pt>
                <c:pt idx="572">
                  <c:v>22386</c:v>
                </c:pt>
                <c:pt idx="573">
                  <c:v>15488</c:v>
                </c:pt>
                <c:pt idx="574">
                  <c:v>40045</c:v>
                </c:pt>
                <c:pt idx="575">
                  <c:v>30857</c:v>
                </c:pt>
                <c:pt idx="576">
                  <c:v>18759</c:v>
                </c:pt>
                <c:pt idx="577">
                  <c:v>12199</c:v>
                </c:pt>
                <c:pt idx="578">
                  <c:v>27804</c:v>
                </c:pt>
                <c:pt idx="579">
                  <c:v>20503</c:v>
                </c:pt>
                <c:pt idx="580">
                  <c:v>15193</c:v>
                </c:pt>
                <c:pt idx="581">
                  <c:v>24503</c:v>
                </c:pt>
                <c:pt idx="582">
                  <c:v>33036</c:v>
                </c:pt>
                <c:pt idx="583">
                  <c:v>18129</c:v>
                </c:pt>
                <c:pt idx="584">
                  <c:v>11704</c:v>
                </c:pt>
                <c:pt idx="585">
                  <c:v>22610</c:v>
                </c:pt>
                <c:pt idx="586">
                  <c:v>20716</c:v>
                </c:pt>
                <c:pt idx="587">
                  <c:v>24338</c:v>
                </c:pt>
                <c:pt idx="588">
                  <c:v>34732</c:v>
                </c:pt>
                <c:pt idx="589">
                  <c:v>22917</c:v>
                </c:pt>
                <c:pt idx="590">
                  <c:v>29466</c:v>
                </c:pt>
                <c:pt idx="591">
                  <c:v>40654</c:v>
                </c:pt>
                <c:pt idx="592">
                  <c:v>38645</c:v>
                </c:pt>
                <c:pt idx="593">
                  <c:v>23847</c:v>
                </c:pt>
                <c:pt idx="594">
                  <c:v>26172</c:v>
                </c:pt>
                <c:pt idx="595">
                  <c:v>22992</c:v>
                </c:pt>
                <c:pt idx="596">
                  <c:v>35860</c:v>
                </c:pt>
                <c:pt idx="597">
                  <c:v>26441</c:v>
                </c:pt>
                <c:pt idx="598">
                  <c:v>27182</c:v>
                </c:pt>
                <c:pt idx="599">
                  <c:v>30298</c:v>
                </c:pt>
                <c:pt idx="600">
                  <c:v>27866</c:v>
                </c:pt>
                <c:pt idx="601">
                  <c:v>32622</c:v>
                </c:pt>
                <c:pt idx="602">
                  <c:v>18235</c:v>
                </c:pt>
                <c:pt idx="603">
                  <c:v>26534</c:v>
                </c:pt>
                <c:pt idx="604">
                  <c:v>24717</c:v>
                </c:pt>
                <c:pt idx="605">
                  <c:v>10970</c:v>
                </c:pt>
                <c:pt idx="606">
                  <c:v>20024</c:v>
                </c:pt>
                <c:pt idx="607">
                  <c:v>18838</c:v>
                </c:pt>
                <c:pt idx="608">
                  <c:v>24018</c:v>
                </c:pt>
                <c:pt idx="609">
                  <c:v>14301</c:v>
                </c:pt>
                <c:pt idx="610">
                  <c:v>25578</c:v>
                </c:pt>
                <c:pt idx="611">
                  <c:v>23873</c:v>
                </c:pt>
                <c:pt idx="612">
                  <c:v>20991</c:v>
                </c:pt>
                <c:pt idx="613">
                  <c:v>22553</c:v>
                </c:pt>
                <c:pt idx="614">
                  <c:v>13630</c:v>
                </c:pt>
                <c:pt idx="615">
                  <c:v>27555</c:v>
                </c:pt>
                <c:pt idx="616">
                  <c:v>17755</c:v>
                </c:pt>
                <c:pt idx="617">
                  <c:v>25319</c:v>
                </c:pt>
                <c:pt idx="618">
                  <c:v>30371</c:v>
                </c:pt>
                <c:pt idx="619">
                  <c:v>23894</c:v>
                </c:pt>
                <c:pt idx="620">
                  <c:v>19359</c:v>
                </c:pt>
                <c:pt idx="621">
                  <c:v>17562</c:v>
                </c:pt>
                <c:pt idx="622">
                  <c:v>21936</c:v>
                </c:pt>
                <c:pt idx="623">
                  <c:v>19764</c:v>
                </c:pt>
                <c:pt idx="624">
                  <c:v>24902</c:v>
                </c:pt>
                <c:pt idx="625">
                  <c:v>25292</c:v>
                </c:pt>
                <c:pt idx="626">
                  <c:v>21835</c:v>
                </c:pt>
                <c:pt idx="627">
                  <c:v>36211</c:v>
                </c:pt>
                <c:pt idx="628">
                  <c:v>18659</c:v>
                </c:pt>
                <c:pt idx="629">
                  <c:v>22519</c:v>
                </c:pt>
                <c:pt idx="630">
                  <c:v>25757</c:v>
                </c:pt>
                <c:pt idx="631">
                  <c:v>23093</c:v>
                </c:pt>
                <c:pt idx="632">
                  <c:v>24691</c:v>
                </c:pt>
                <c:pt idx="633">
                  <c:v>21241</c:v>
                </c:pt>
                <c:pt idx="634">
                  <c:v>16948</c:v>
                </c:pt>
                <c:pt idx="635">
                  <c:v>29657</c:v>
                </c:pt>
                <c:pt idx="636">
                  <c:v>23458</c:v>
                </c:pt>
                <c:pt idx="637">
                  <c:v>26113</c:v>
                </c:pt>
                <c:pt idx="638">
                  <c:v>31679</c:v>
                </c:pt>
                <c:pt idx="639">
                  <c:v>20493</c:v>
                </c:pt>
                <c:pt idx="640">
                  <c:v>22347</c:v>
                </c:pt>
                <c:pt idx="641">
                  <c:v>28358</c:v>
                </c:pt>
                <c:pt idx="642">
                  <c:v>23097</c:v>
                </c:pt>
                <c:pt idx="643">
                  <c:v>18462</c:v>
                </c:pt>
                <c:pt idx="644">
                  <c:v>15554</c:v>
                </c:pt>
                <c:pt idx="645">
                  <c:v>27989</c:v>
                </c:pt>
                <c:pt idx="646">
                  <c:v>33062</c:v>
                </c:pt>
                <c:pt idx="647">
                  <c:v>23510</c:v>
                </c:pt>
                <c:pt idx="648">
                  <c:v>16898</c:v>
                </c:pt>
                <c:pt idx="649">
                  <c:v>22866</c:v>
                </c:pt>
                <c:pt idx="650">
                  <c:v>38967</c:v>
                </c:pt>
                <c:pt idx="651">
                  <c:v>21044</c:v>
                </c:pt>
                <c:pt idx="652">
                  <c:v>34192</c:v>
                </c:pt>
                <c:pt idx="653">
                  <c:v>34028</c:v>
                </c:pt>
                <c:pt idx="654">
                  <c:v>20528</c:v>
                </c:pt>
                <c:pt idx="655">
                  <c:v>11745</c:v>
                </c:pt>
                <c:pt idx="656">
                  <c:v>24149</c:v>
                </c:pt>
                <c:pt idx="657">
                  <c:v>35273</c:v>
                </c:pt>
                <c:pt idx="658">
                  <c:v>12548</c:v>
                </c:pt>
                <c:pt idx="659">
                  <c:v>21916</c:v>
                </c:pt>
                <c:pt idx="660">
                  <c:v>17940</c:v>
                </c:pt>
                <c:pt idx="661">
                  <c:v>20168</c:v>
                </c:pt>
                <c:pt idx="662">
                  <c:v>30282</c:v>
                </c:pt>
                <c:pt idx="663">
                  <c:v>23131</c:v>
                </c:pt>
                <c:pt idx="664">
                  <c:v>17770</c:v>
                </c:pt>
                <c:pt idx="665">
                  <c:v>18556</c:v>
                </c:pt>
                <c:pt idx="666">
                  <c:v>20744</c:v>
                </c:pt>
                <c:pt idx="667">
                  <c:v>31320</c:v>
                </c:pt>
                <c:pt idx="668">
                  <c:v>41832</c:v>
                </c:pt>
                <c:pt idx="669">
                  <c:v>17550</c:v>
                </c:pt>
                <c:pt idx="670">
                  <c:v>31643</c:v>
                </c:pt>
                <c:pt idx="671">
                  <c:v>21107</c:v>
                </c:pt>
                <c:pt idx="672">
                  <c:v>25239</c:v>
                </c:pt>
                <c:pt idx="673">
                  <c:v>38707</c:v>
                </c:pt>
                <c:pt idx="674">
                  <c:v>15000</c:v>
                </c:pt>
                <c:pt idx="675">
                  <c:v>24185</c:v>
                </c:pt>
                <c:pt idx="676">
                  <c:v>26285</c:v>
                </c:pt>
                <c:pt idx="677">
                  <c:v>26939</c:v>
                </c:pt>
                <c:pt idx="678">
                  <c:v>28819</c:v>
                </c:pt>
                <c:pt idx="679">
                  <c:v>23960</c:v>
                </c:pt>
                <c:pt idx="680">
                  <c:v>18693</c:v>
                </c:pt>
                <c:pt idx="681">
                  <c:v>45566</c:v>
                </c:pt>
                <c:pt idx="682">
                  <c:v>28673</c:v>
                </c:pt>
                <c:pt idx="683">
                  <c:v>30670</c:v>
                </c:pt>
                <c:pt idx="684">
                  <c:v>23329</c:v>
                </c:pt>
                <c:pt idx="685">
                  <c:v>21499</c:v>
                </c:pt>
                <c:pt idx="686">
                  <c:v>22940</c:v>
                </c:pt>
                <c:pt idx="687">
                  <c:v>26505</c:v>
                </c:pt>
                <c:pt idx="688">
                  <c:v>28119</c:v>
                </c:pt>
                <c:pt idx="689">
                  <c:v>23526</c:v>
                </c:pt>
                <c:pt idx="690">
                  <c:v>22066</c:v>
                </c:pt>
                <c:pt idx="691">
                  <c:v>23003</c:v>
                </c:pt>
                <c:pt idx="692">
                  <c:v>36013</c:v>
                </c:pt>
                <c:pt idx="693">
                  <c:v>24792</c:v>
                </c:pt>
                <c:pt idx="694">
                  <c:v>13143</c:v>
                </c:pt>
                <c:pt idx="695">
                  <c:v>28714</c:v>
                </c:pt>
                <c:pt idx="696">
                  <c:v>26598</c:v>
                </c:pt>
                <c:pt idx="697">
                  <c:v>26979</c:v>
                </c:pt>
                <c:pt idx="698">
                  <c:v>22277</c:v>
                </c:pt>
                <c:pt idx="699">
                  <c:v>17648</c:v>
                </c:pt>
                <c:pt idx="700">
                  <c:v>49180</c:v>
                </c:pt>
                <c:pt idx="701">
                  <c:v>28746</c:v>
                </c:pt>
                <c:pt idx="702">
                  <c:v>19994</c:v>
                </c:pt>
                <c:pt idx="703">
                  <c:v>33013</c:v>
                </c:pt>
                <c:pt idx="704">
                  <c:v>22736</c:v>
                </c:pt>
                <c:pt idx="705">
                  <c:v>32165</c:v>
                </c:pt>
                <c:pt idx="706">
                  <c:v>50539</c:v>
                </c:pt>
                <c:pt idx="707">
                  <c:v>18578</c:v>
                </c:pt>
                <c:pt idx="708">
                  <c:v>26640</c:v>
                </c:pt>
                <c:pt idx="709">
                  <c:v>39949</c:v>
                </c:pt>
                <c:pt idx="710">
                  <c:v>19108</c:v>
                </c:pt>
                <c:pt idx="711">
                  <c:v>22313</c:v>
                </c:pt>
                <c:pt idx="712">
                  <c:v>27743</c:v>
                </c:pt>
                <c:pt idx="713">
                  <c:v>25265</c:v>
                </c:pt>
                <c:pt idx="714">
                  <c:v>33926</c:v>
                </c:pt>
                <c:pt idx="715">
                  <c:v>24280</c:v>
                </c:pt>
                <c:pt idx="716">
                  <c:v>26975</c:v>
                </c:pt>
                <c:pt idx="717">
                  <c:v>28556</c:v>
                </c:pt>
                <c:pt idx="718">
                  <c:v>25301</c:v>
                </c:pt>
                <c:pt idx="719">
                  <c:v>32149</c:v>
                </c:pt>
                <c:pt idx="720">
                  <c:v>19035</c:v>
                </c:pt>
                <c:pt idx="721">
                  <c:v>13006</c:v>
                </c:pt>
                <c:pt idx="722">
                  <c:v>38729</c:v>
                </c:pt>
                <c:pt idx="723">
                  <c:v>27579</c:v>
                </c:pt>
                <c:pt idx="724">
                  <c:v>22655</c:v>
                </c:pt>
                <c:pt idx="725">
                  <c:v>18526</c:v>
                </c:pt>
                <c:pt idx="726">
                  <c:v>37485</c:v>
                </c:pt>
                <c:pt idx="727">
                  <c:v>24488</c:v>
                </c:pt>
                <c:pt idx="728">
                  <c:v>29053</c:v>
                </c:pt>
                <c:pt idx="729">
                  <c:v>32997</c:v>
                </c:pt>
                <c:pt idx="730">
                  <c:v>27872</c:v>
                </c:pt>
                <c:pt idx="731">
                  <c:v>39986</c:v>
                </c:pt>
                <c:pt idx="732">
                  <c:v>28115</c:v>
                </c:pt>
                <c:pt idx="733">
                  <c:v>33375</c:v>
                </c:pt>
                <c:pt idx="734">
                  <c:v>19169</c:v>
                </c:pt>
                <c:pt idx="735">
                  <c:v>20161</c:v>
                </c:pt>
                <c:pt idx="736">
                  <c:v>27898</c:v>
                </c:pt>
                <c:pt idx="737">
                  <c:v>23874</c:v>
                </c:pt>
                <c:pt idx="738">
                  <c:v>22257</c:v>
                </c:pt>
                <c:pt idx="739">
                  <c:v>19072</c:v>
                </c:pt>
                <c:pt idx="740">
                  <c:v>22900</c:v>
                </c:pt>
                <c:pt idx="741">
                  <c:v>33692</c:v>
                </c:pt>
                <c:pt idx="742">
                  <c:v>21696</c:v>
                </c:pt>
                <c:pt idx="743">
                  <c:v>41104</c:v>
                </c:pt>
                <c:pt idx="744">
                  <c:v>27846</c:v>
                </c:pt>
                <c:pt idx="745">
                  <c:v>17028</c:v>
                </c:pt>
                <c:pt idx="746">
                  <c:v>27094</c:v>
                </c:pt>
                <c:pt idx="747">
                  <c:v>20781</c:v>
                </c:pt>
                <c:pt idx="748">
                  <c:v>28585</c:v>
                </c:pt>
                <c:pt idx="749">
                  <c:v>22212</c:v>
                </c:pt>
                <c:pt idx="750">
                  <c:v>22719</c:v>
                </c:pt>
                <c:pt idx="751">
                  <c:v>20433</c:v>
                </c:pt>
                <c:pt idx="752">
                  <c:v>28945</c:v>
                </c:pt>
                <c:pt idx="753">
                  <c:v>19589</c:v>
                </c:pt>
                <c:pt idx="754">
                  <c:v>25884</c:v>
                </c:pt>
                <c:pt idx="755">
                  <c:v>27483</c:v>
                </c:pt>
                <c:pt idx="756">
                  <c:v>28651</c:v>
                </c:pt>
                <c:pt idx="757">
                  <c:v>19409</c:v>
                </c:pt>
                <c:pt idx="758">
                  <c:v>29618</c:v>
                </c:pt>
                <c:pt idx="759">
                  <c:v>29137</c:v>
                </c:pt>
                <c:pt idx="760">
                  <c:v>22878</c:v>
                </c:pt>
                <c:pt idx="761">
                  <c:v>33313</c:v>
                </c:pt>
                <c:pt idx="762">
                  <c:v>22400</c:v>
                </c:pt>
                <c:pt idx="763">
                  <c:v>25522</c:v>
                </c:pt>
                <c:pt idx="764">
                  <c:v>29822</c:v>
                </c:pt>
                <c:pt idx="765">
                  <c:v>40007</c:v>
                </c:pt>
                <c:pt idx="766">
                  <c:v>25002</c:v>
                </c:pt>
                <c:pt idx="767">
                  <c:v>30988</c:v>
                </c:pt>
                <c:pt idx="768">
                  <c:v>25180</c:v>
                </c:pt>
                <c:pt idx="769">
                  <c:v>50507</c:v>
                </c:pt>
                <c:pt idx="770">
                  <c:v>26706</c:v>
                </c:pt>
                <c:pt idx="771">
                  <c:v>36660</c:v>
                </c:pt>
                <c:pt idx="772">
                  <c:v>30308</c:v>
                </c:pt>
                <c:pt idx="773">
                  <c:v>30109</c:v>
                </c:pt>
                <c:pt idx="774">
                  <c:v>30902</c:v>
                </c:pt>
                <c:pt idx="775">
                  <c:v>31563</c:v>
                </c:pt>
                <c:pt idx="776">
                  <c:v>18732</c:v>
                </c:pt>
                <c:pt idx="777">
                  <c:v>34176</c:v>
                </c:pt>
                <c:pt idx="778">
                  <c:v>28905</c:v>
                </c:pt>
                <c:pt idx="779">
                  <c:v>32918</c:v>
                </c:pt>
                <c:pt idx="780">
                  <c:v>32297</c:v>
                </c:pt>
                <c:pt idx="781">
                  <c:v>29351</c:v>
                </c:pt>
                <c:pt idx="782">
                  <c:v>34191</c:v>
                </c:pt>
                <c:pt idx="783">
                  <c:v>29999</c:v>
                </c:pt>
                <c:pt idx="784">
                  <c:v>38394</c:v>
                </c:pt>
                <c:pt idx="785">
                  <c:v>24336</c:v>
                </c:pt>
                <c:pt idx="786">
                  <c:v>46555</c:v>
                </c:pt>
                <c:pt idx="787">
                  <c:v>22443</c:v>
                </c:pt>
                <c:pt idx="788">
                  <c:v>31446</c:v>
                </c:pt>
                <c:pt idx="789">
                  <c:v>37607</c:v>
                </c:pt>
                <c:pt idx="790">
                  <c:v>37999</c:v>
                </c:pt>
                <c:pt idx="791">
                  <c:v>30892</c:v>
                </c:pt>
                <c:pt idx="792">
                  <c:v>41008</c:v>
                </c:pt>
                <c:pt idx="793">
                  <c:v>22264</c:v>
                </c:pt>
                <c:pt idx="794">
                  <c:v>24398</c:v>
                </c:pt>
                <c:pt idx="795">
                  <c:v>28199</c:v>
                </c:pt>
                <c:pt idx="796">
                  <c:v>25759</c:v>
                </c:pt>
                <c:pt idx="797">
                  <c:v>15232</c:v>
                </c:pt>
                <c:pt idx="798">
                  <c:v>36131</c:v>
                </c:pt>
                <c:pt idx="799">
                  <c:v>49965</c:v>
                </c:pt>
                <c:pt idx="800">
                  <c:v>39343</c:v>
                </c:pt>
                <c:pt idx="801">
                  <c:v>31490</c:v>
                </c:pt>
                <c:pt idx="802">
                  <c:v>36079</c:v>
                </c:pt>
                <c:pt idx="803">
                  <c:v>23464</c:v>
                </c:pt>
                <c:pt idx="804">
                  <c:v>38512</c:v>
                </c:pt>
                <c:pt idx="805">
                  <c:v>29127</c:v>
                </c:pt>
                <c:pt idx="806">
                  <c:v>48661</c:v>
                </c:pt>
                <c:pt idx="807">
                  <c:v>18397</c:v>
                </c:pt>
                <c:pt idx="808">
                  <c:v>21413</c:v>
                </c:pt>
                <c:pt idx="809">
                  <c:v>30031</c:v>
                </c:pt>
                <c:pt idx="810">
                  <c:v>36967</c:v>
                </c:pt>
                <c:pt idx="811">
                  <c:v>27290</c:v>
                </c:pt>
                <c:pt idx="812">
                  <c:v>29561</c:v>
                </c:pt>
                <c:pt idx="813">
                  <c:v>34779</c:v>
                </c:pt>
                <c:pt idx="814">
                  <c:v>29188</c:v>
                </c:pt>
                <c:pt idx="815">
                  <c:v>30536</c:v>
                </c:pt>
                <c:pt idx="816">
                  <c:v>29155</c:v>
                </c:pt>
                <c:pt idx="817">
                  <c:v>30177</c:v>
                </c:pt>
                <c:pt idx="818">
                  <c:v>31568</c:v>
                </c:pt>
                <c:pt idx="819">
                  <c:v>28241</c:v>
                </c:pt>
                <c:pt idx="820">
                  <c:v>41555</c:v>
                </c:pt>
                <c:pt idx="821">
                  <c:v>32568</c:v>
                </c:pt>
                <c:pt idx="822">
                  <c:v>37730</c:v>
                </c:pt>
                <c:pt idx="823">
                  <c:v>29498</c:v>
                </c:pt>
                <c:pt idx="824">
                  <c:v>36175</c:v>
                </c:pt>
                <c:pt idx="825">
                  <c:v>46174</c:v>
                </c:pt>
                <c:pt idx="826">
                  <c:v>31759</c:v>
                </c:pt>
                <c:pt idx="827">
                  <c:v>34662</c:v>
                </c:pt>
                <c:pt idx="828">
                  <c:v>37244</c:v>
                </c:pt>
                <c:pt idx="829">
                  <c:v>30783</c:v>
                </c:pt>
                <c:pt idx="830">
                  <c:v>25407</c:v>
                </c:pt>
                <c:pt idx="831">
                  <c:v>29533</c:v>
                </c:pt>
                <c:pt idx="832">
                  <c:v>37927</c:v>
                </c:pt>
                <c:pt idx="833">
                  <c:v>24258</c:v>
                </c:pt>
                <c:pt idx="834">
                  <c:v>15564</c:v>
                </c:pt>
                <c:pt idx="835">
                  <c:v>38263</c:v>
                </c:pt>
                <c:pt idx="836">
                  <c:v>33733</c:v>
                </c:pt>
                <c:pt idx="837">
                  <c:v>36425</c:v>
                </c:pt>
                <c:pt idx="838">
                  <c:v>31309</c:v>
                </c:pt>
                <c:pt idx="839">
                  <c:v>31483</c:v>
                </c:pt>
                <c:pt idx="840">
                  <c:v>34906</c:v>
                </c:pt>
                <c:pt idx="841">
                  <c:v>25672</c:v>
                </c:pt>
                <c:pt idx="842">
                  <c:v>35736</c:v>
                </c:pt>
                <c:pt idx="843">
                  <c:v>36041</c:v>
                </c:pt>
                <c:pt idx="844">
                  <c:v>41943</c:v>
                </c:pt>
                <c:pt idx="845">
                  <c:v>28928</c:v>
                </c:pt>
                <c:pt idx="846">
                  <c:v>36294</c:v>
                </c:pt>
                <c:pt idx="847">
                  <c:v>23367</c:v>
                </c:pt>
                <c:pt idx="848">
                  <c:v>33016</c:v>
                </c:pt>
                <c:pt idx="849">
                  <c:v>19285</c:v>
                </c:pt>
                <c:pt idx="850">
                  <c:v>24347</c:v>
                </c:pt>
                <c:pt idx="851">
                  <c:v>41544</c:v>
                </c:pt>
                <c:pt idx="852">
                  <c:v>28719</c:v>
                </c:pt>
                <c:pt idx="853">
                  <c:v>31487</c:v>
                </c:pt>
                <c:pt idx="854">
                  <c:v>48381</c:v>
                </c:pt>
                <c:pt idx="855">
                  <c:v>40892</c:v>
                </c:pt>
                <c:pt idx="856">
                  <c:v>28985</c:v>
                </c:pt>
                <c:pt idx="857">
                  <c:v>25447</c:v>
                </c:pt>
                <c:pt idx="858">
                  <c:v>26536</c:v>
                </c:pt>
                <c:pt idx="859">
                  <c:v>30378</c:v>
                </c:pt>
                <c:pt idx="860">
                  <c:v>35119</c:v>
                </c:pt>
                <c:pt idx="861">
                  <c:v>29278</c:v>
                </c:pt>
                <c:pt idx="862">
                  <c:v>38793</c:v>
                </c:pt>
                <c:pt idx="863">
                  <c:v>25314</c:v>
                </c:pt>
                <c:pt idx="864">
                  <c:v>22585</c:v>
                </c:pt>
                <c:pt idx="865">
                  <c:v>23149</c:v>
                </c:pt>
                <c:pt idx="866">
                  <c:v>17180</c:v>
                </c:pt>
                <c:pt idx="867">
                  <c:v>28800</c:v>
                </c:pt>
                <c:pt idx="868">
                  <c:v>24478</c:v>
                </c:pt>
                <c:pt idx="869">
                  <c:v>17379</c:v>
                </c:pt>
                <c:pt idx="870">
                  <c:v>37050</c:v>
                </c:pt>
                <c:pt idx="871">
                  <c:v>18425</c:v>
                </c:pt>
                <c:pt idx="872">
                  <c:v>30574</c:v>
                </c:pt>
                <c:pt idx="873">
                  <c:v>34170</c:v>
                </c:pt>
                <c:pt idx="874">
                  <c:v>14398</c:v>
                </c:pt>
                <c:pt idx="875">
                  <c:v>28210</c:v>
                </c:pt>
                <c:pt idx="876">
                  <c:v>58098</c:v>
                </c:pt>
                <c:pt idx="877">
                  <c:v>39998</c:v>
                </c:pt>
                <c:pt idx="878">
                  <c:v>24402</c:v>
                </c:pt>
                <c:pt idx="879">
                  <c:v>40675</c:v>
                </c:pt>
                <c:pt idx="880">
                  <c:v>13269</c:v>
                </c:pt>
                <c:pt idx="881">
                  <c:v>18725</c:v>
                </c:pt>
                <c:pt idx="882">
                  <c:v>40287</c:v>
                </c:pt>
                <c:pt idx="883">
                  <c:v>41272</c:v>
                </c:pt>
                <c:pt idx="884">
                  <c:v>38509</c:v>
                </c:pt>
                <c:pt idx="885">
                  <c:v>35333</c:v>
                </c:pt>
                <c:pt idx="886">
                  <c:v>25496</c:v>
                </c:pt>
                <c:pt idx="887">
                  <c:v>22102</c:v>
                </c:pt>
                <c:pt idx="888">
                  <c:v>28786</c:v>
                </c:pt>
                <c:pt idx="889">
                  <c:v>44338</c:v>
                </c:pt>
                <c:pt idx="890">
                  <c:v>21786</c:v>
                </c:pt>
                <c:pt idx="891">
                  <c:v>27256</c:v>
                </c:pt>
                <c:pt idx="892">
                  <c:v>30365</c:v>
                </c:pt>
                <c:pt idx="893">
                  <c:v>29689</c:v>
                </c:pt>
                <c:pt idx="894">
                  <c:v>48523</c:v>
                </c:pt>
                <c:pt idx="895">
                  <c:v>18809</c:v>
                </c:pt>
                <c:pt idx="896">
                  <c:v>41190</c:v>
                </c:pt>
                <c:pt idx="897">
                  <c:v>34561</c:v>
                </c:pt>
                <c:pt idx="898">
                  <c:v>17716</c:v>
                </c:pt>
                <c:pt idx="899">
                  <c:v>48095</c:v>
                </c:pt>
                <c:pt idx="900">
                  <c:v>22453</c:v>
                </c:pt>
                <c:pt idx="901">
                  <c:v>29167</c:v>
                </c:pt>
                <c:pt idx="902">
                  <c:v>30305</c:v>
                </c:pt>
                <c:pt idx="903">
                  <c:v>13370</c:v>
                </c:pt>
                <c:pt idx="904">
                  <c:v>41431</c:v>
                </c:pt>
                <c:pt idx="905">
                  <c:v>41219</c:v>
                </c:pt>
                <c:pt idx="906">
                  <c:v>38782</c:v>
                </c:pt>
                <c:pt idx="907">
                  <c:v>34832</c:v>
                </c:pt>
                <c:pt idx="908">
                  <c:v>36586</c:v>
                </c:pt>
                <c:pt idx="909">
                  <c:v>34433</c:v>
                </c:pt>
                <c:pt idx="910">
                  <c:v>15846</c:v>
                </c:pt>
                <c:pt idx="911">
                  <c:v>14860</c:v>
                </c:pt>
                <c:pt idx="912">
                  <c:v>32740</c:v>
                </c:pt>
                <c:pt idx="913">
                  <c:v>25181</c:v>
                </c:pt>
                <c:pt idx="914">
                  <c:v>30915</c:v>
                </c:pt>
                <c:pt idx="915">
                  <c:v>25184</c:v>
                </c:pt>
                <c:pt idx="916">
                  <c:v>40766</c:v>
                </c:pt>
                <c:pt idx="917">
                  <c:v>23781</c:v>
                </c:pt>
                <c:pt idx="918">
                  <c:v>34660</c:v>
                </c:pt>
                <c:pt idx="919">
                  <c:v>29519</c:v>
                </c:pt>
                <c:pt idx="920">
                  <c:v>29612</c:v>
                </c:pt>
                <c:pt idx="921">
                  <c:v>26780</c:v>
                </c:pt>
                <c:pt idx="922">
                  <c:v>43756</c:v>
                </c:pt>
                <c:pt idx="923">
                  <c:v>23777</c:v>
                </c:pt>
                <c:pt idx="924">
                  <c:v>19066</c:v>
                </c:pt>
                <c:pt idx="925">
                  <c:v>36228</c:v>
                </c:pt>
                <c:pt idx="926">
                  <c:v>21590</c:v>
                </c:pt>
                <c:pt idx="927">
                  <c:v>43071</c:v>
                </c:pt>
                <c:pt idx="928">
                  <c:v>40815</c:v>
                </c:pt>
                <c:pt idx="929">
                  <c:v>41704</c:v>
                </c:pt>
                <c:pt idx="930">
                  <c:v>28690</c:v>
                </c:pt>
                <c:pt idx="931">
                  <c:v>28849</c:v>
                </c:pt>
                <c:pt idx="932">
                  <c:v>36931</c:v>
                </c:pt>
                <c:pt idx="933">
                  <c:v>41346</c:v>
                </c:pt>
                <c:pt idx="934">
                  <c:v>50062</c:v>
                </c:pt>
                <c:pt idx="935">
                  <c:v>6128</c:v>
                </c:pt>
                <c:pt idx="936">
                  <c:v>28699</c:v>
                </c:pt>
                <c:pt idx="937">
                  <c:v>31944</c:v>
                </c:pt>
                <c:pt idx="938">
                  <c:v>37930</c:v>
                </c:pt>
                <c:pt idx="939">
                  <c:v>13807</c:v>
                </c:pt>
                <c:pt idx="940">
                  <c:v>16075</c:v>
                </c:pt>
                <c:pt idx="941">
                  <c:v>35924</c:v>
                </c:pt>
                <c:pt idx="942">
                  <c:v>20111</c:v>
                </c:pt>
              </c:numCache>
            </c:numRef>
          </c:xVal>
          <c:yVal>
            <c:numRef>
              <c:f>Sheet1!$B$2:$B$944</c:f>
              <c:numCache>
                <c:formatCode>General</c:formatCode>
                <c:ptCount val="943"/>
                <c:pt idx="0">
                  <c:v>19761</c:v>
                </c:pt>
                <c:pt idx="1">
                  <c:v>20064</c:v>
                </c:pt>
                <c:pt idx="2">
                  <c:v>20902</c:v>
                </c:pt>
                <c:pt idx="3">
                  <c:v>21123</c:v>
                </c:pt>
                <c:pt idx="4">
                  <c:v>21256</c:v>
                </c:pt>
                <c:pt idx="5">
                  <c:v>22842</c:v>
                </c:pt>
                <c:pt idx="6">
                  <c:v>22842</c:v>
                </c:pt>
                <c:pt idx="7">
                  <c:v>22842</c:v>
                </c:pt>
                <c:pt idx="8">
                  <c:v>22842</c:v>
                </c:pt>
                <c:pt idx="9">
                  <c:v>22844</c:v>
                </c:pt>
                <c:pt idx="10">
                  <c:v>23132</c:v>
                </c:pt>
                <c:pt idx="11">
                  <c:v>23204</c:v>
                </c:pt>
                <c:pt idx="12">
                  <c:v>24328</c:v>
                </c:pt>
                <c:pt idx="13">
                  <c:v>24490</c:v>
                </c:pt>
                <c:pt idx="14">
                  <c:v>24539</c:v>
                </c:pt>
                <c:pt idx="15">
                  <c:v>24776</c:v>
                </c:pt>
                <c:pt idx="16">
                  <c:v>24900</c:v>
                </c:pt>
                <c:pt idx="17">
                  <c:v>24908</c:v>
                </c:pt>
                <c:pt idx="18">
                  <c:v>24908</c:v>
                </c:pt>
                <c:pt idx="19">
                  <c:v>24908</c:v>
                </c:pt>
                <c:pt idx="20">
                  <c:v>25021</c:v>
                </c:pt>
                <c:pt idx="21">
                  <c:v>25272</c:v>
                </c:pt>
                <c:pt idx="22">
                  <c:v>25416</c:v>
                </c:pt>
                <c:pt idx="23">
                  <c:v>25827</c:v>
                </c:pt>
                <c:pt idx="24">
                  <c:v>26223</c:v>
                </c:pt>
                <c:pt idx="25">
                  <c:v>26721</c:v>
                </c:pt>
                <c:pt idx="26">
                  <c:v>26946</c:v>
                </c:pt>
                <c:pt idx="27">
                  <c:v>27981</c:v>
                </c:pt>
                <c:pt idx="28">
                  <c:v>28396</c:v>
                </c:pt>
                <c:pt idx="29">
                  <c:v>28418</c:v>
                </c:pt>
                <c:pt idx="30">
                  <c:v>28465</c:v>
                </c:pt>
                <c:pt idx="31">
                  <c:v>28720</c:v>
                </c:pt>
                <c:pt idx="32">
                  <c:v>29288</c:v>
                </c:pt>
                <c:pt idx="33">
                  <c:v>29420</c:v>
                </c:pt>
                <c:pt idx="34">
                  <c:v>29813</c:v>
                </c:pt>
                <c:pt idx="35">
                  <c:v>29936</c:v>
                </c:pt>
                <c:pt idx="36">
                  <c:v>29963</c:v>
                </c:pt>
                <c:pt idx="37">
                  <c:v>30180</c:v>
                </c:pt>
                <c:pt idx="38">
                  <c:v>30497</c:v>
                </c:pt>
                <c:pt idx="39">
                  <c:v>30573</c:v>
                </c:pt>
                <c:pt idx="40">
                  <c:v>30614</c:v>
                </c:pt>
                <c:pt idx="41">
                  <c:v>30821</c:v>
                </c:pt>
                <c:pt idx="42">
                  <c:v>31053</c:v>
                </c:pt>
                <c:pt idx="43">
                  <c:v>31670</c:v>
                </c:pt>
                <c:pt idx="44">
                  <c:v>31754</c:v>
                </c:pt>
                <c:pt idx="45">
                  <c:v>31902</c:v>
                </c:pt>
                <c:pt idx="46">
                  <c:v>32229</c:v>
                </c:pt>
                <c:pt idx="47">
                  <c:v>32275</c:v>
                </c:pt>
                <c:pt idx="48">
                  <c:v>32465</c:v>
                </c:pt>
                <c:pt idx="49">
                  <c:v>32568</c:v>
                </c:pt>
                <c:pt idx="50">
                  <c:v>32568</c:v>
                </c:pt>
                <c:pt idx="51">
                  <c:v>32568</c:v>
                </c:pt>
                <c:pt idx="52">
                  <c:v>32600</c:v>
                </c:pt>
                <c:pt idx="53">
                  <c:v>32627</c:v>
                </c:pt>
                <c:pt idx="54">
                  <c:v>32864</c:v>
                </c:pt>
                <c:pt idx="55">
                  <c:v>32992</c:v>
                </c:pt>
                <c:pt idx="56">
                  <c:v>33022</c:v>
                </c:pt>
                <c:pt idx="57">
                  <c:v>33159</c:v>
                </c:pt>
                <c:pt idx="58">
                  <c:v>33291</c:v>
                </c:pt>
                <c:pt idx="59">
                  <c:v>33338</c:v>
                </c:pt>
                <c:pt idx="60">
                  <c:v>33647</c:v>
                </c:pt>
                <c:pt idx="61">
                  <c:v>33752</c:v>
                </c:pt>
                <c:pt idx="62">
                  <c:v>34409</c:v>
                </c:pt>
                <c:pt idx="63">
                  <c:v>34724</c:v>
                </c:pt>
                <c:pt idx="64">
                  <c:v>34782</c:v>
                </c:pt>
                <c:pt idx="65">
                  <c:v>35339</c:v>
                </c:pt>
                <c:pt idx="66">
                  <c:v>35348</c:v>
                </c:pt>
                <c:pt idx="67">
                  <c:v>35421</c:v>
                </c:pt>
                <c:pt idx="68">
                  <c:v>35422</c:v>
                </c:pt>
                <c:pt idx="69">
                  <c:v>35594</c:v>
                </c:pt>
                <c:pt idx="70">
                  <c:v>35715</c:v>
                </c:pt>
                <c:pt idx="71">
                  <c:v>35730</c:v>
                </c:pt>
                <c:pt idx="72">
                  <c:v>35833</c:v>
                </c:pt>
                <c:pt idx="73">
                  <c:v>35942</c:v>
                </c:pt>
                <c:pt idx="74">
                  <c:v>35983</c:v>
                </c:pt>
                <c:pt idx="75">
                  <c:v>36260</c:v>
                </c:pt>
                <c:pt idx="76">
                  <c:v>36355</c:v>
                </c:pt>
                <c:pt idx="77">
                  <c:v>36624</c:v>
                </c:pt>
                <c:pt idx="78">
                  <c:v>36630</c:v>
                </c:pt>
                <c:pt idx="79">
                  <c:v>36654</c:v>
                </c:pt>
                <c:pt idx="80">
                  <c:v>36909</c:v>
                </c:pt>
                <c:pt idx="81">
                  <c:v>36909</c:v>
                </c:pt>
                <c:pt idx="82">
                  <c:v>36909</c:v>
                </c:pt>
                <c:pt idx="83">
                  <c:v>36909</c:v>
                </c:pt>
                <c:pt idx="84">
                  <c:v>37275</c:v>
                </c:pt>
                <c:pt idx="85">
                  <c:v>37709</c:v>
                </c:pt>
                <c:pt idx="86">
                  <c:v>37722</c:v>
                </c:pt>
                <c:pt idx="87">
                  <c:v>37852</c:v>
                </c:pt>
                <c:pt idx="88">
                  <c:v>38109</c:v>
                </c:pt>
                <c:pt idx="89">
                  <c:v>38208</c:v>
                </c:pt>
                <c:pt idx="90">
                  <c:v>38275</c:v>
                </c:pt>
                <c:pt idx="91">
                  <c:v>38289</c:v>
                </c:pt>
                <c:pt idx="92">
                  <c:v>38298</c:v>
                </c:pt>
                <c:pt idx="93">
                  <c:v>38342</c:v>
                </c:pt>
                <c:pt idx="94">
                  <c:v>38412</c:v>
                </c:pt>
                <c:pt idx="95">
                  <c:v>38427</c:v>
                </c:pt>
                <c:pt idx="96">
                  <c:v>38484</c:v>
                </c:pt>
                <c:pt idx="97">
                  <c:v>38518</c:v>
                </c:pt>
                <c:pt idx="98">
                  <c:v>38740</c:v>
                </c:pt>
                <c:pt idx="99">
                  <c:v>38857</c:v>
                </c:pt>
                <c:pt idx="100">
                  <c:v>38951</c:v>
                </c:pt>
                <c:pt idx="101">
                  <c:v>39016</c:v>
                </c:pt>
                <c:pt idx="102">
                  <c:v>39115</c:v>
                </c:pt>
                <c:pt idx="103">
                  <c:v>39196</c:v>
                </c:pt>
                <c:pt idx="104">
                  <c:v>39248</c:v>
                </c:pt>
                <c:pt idx="105">
                  <c:v>39533</c:v>
                </c:pt>
                <c:pt idx="106">
                  <c:v>39696</c:v>
                </c:pt>
                <c:pt idx="107">
                  <c:v>39813</c:v>
                </c:pt>
                <c:pt idx="108">
                  <c:v>39863</c:v>
                </c:pt>
                <c:pt idx="109">
                  <c:v>40075</c:v>
                </c:pt>
                <c:pt idx="110">
                  <c:v>40117</c:v>
                </c:pt>
                <c:pt idx="111">
                  <c:v>40183</c:v>
                </c:pt>
                <c:pt idx="112">
                  <c:v>40264</c:v>
                </c:pt>
                <c:pt idx="113">
                  <c:v>40304</c:v>
                </c:pt>
                <c:pt idx="114">
                  <c:v>40391</c:v>
                </c:pt>
                <c:pt idx="115">
                  <c:v>40421</c:v>
                </c:pt>
                <c:pt idx="116">
                  <c:v>40457</c:v>
                </c:pt>
                <c:pt idx="117">
                  <c:v>40523</c:v>
                </c:pt>
                <c:pt idx="118">
                  <c:v>40573</c:v>
                </c:pt>
                <c:pt idx="119">
                  <c:v>40596</c:v>
                </c:pt>
                <c:pt idx="120">
                  <c:v>40650</c:v>
                </c:pt>
                <c:pt idx="121">
                  <c:v>40650</c:v>
                </c:pt>
                <c:pt idx="122">
                  <c:v>40694</c:v>
                </c:pt>
                <c:pt idx="123">
                  <c:v>40694</c:v>
                </c:pt>
                <c:pt idx="124">
                  <c:v>40803</c:v>
                </c:pt>
                <c:pt idx="125">
                  <c:v>40867</c:v>
                </c:pt>
                <c:pt idx="126">
                  <c:v>41000</c:v>
                </c:pt>
                <c:pt idx="127">
                  <c:v>41066</c:v>
                </c:pt>
                <c:pt idx="128">
                  <c:v>41129</c:v>
                </c:pt>
                <c:pt idx="129">
                  <c:v>41198</c:v>
                </c:pt>
                <c:pt idx="130">
                  <c:v>41216</c:v>
                </c:pt>
                <c:pt idx="131">
                  <c:v>41338</c:v>
                </c:pt>
                <c:pt idx="132">
                  <c:v>41478</c:v>
                </c:pt>
                <c:pt idx="133">
                  <c:v>41544</c:v>
                </c:pt>
                <c:pt idx="134">
                  <c:v>41583</c:v>
                </c:pt>
                <c:pt idx="135">
                  <c:v>41592</c:v>
                </c:pt>
                <c:pt idx="136">
                  <c:v>41663</c:v>
                </c:pt>
                <c:pt idx="137">
                  <c:v>42002</c:v>
                </c:pt>
                <c:pt idx="138">
                  <c:v>42009</c:v>
                </c:pt>
                <c:pt idx="139">
                  <c:v>42051</c:v>
                </c:pt>
                <c:pt idx="140">
                  <c:v>42091</c:v>
                </c:pt>
                <c:pt idx="141">
                  <c:v>42092</c:v>
                </c:pt>
                <c:pt idx="142">
                  <c:v>42101</c:v>
                </c:pt>
                <c:pt idx="143">
                  <c:v>42186</c:v>
                </c:pt>
                <c:pt idx="144">
                  <c:v>42195</c:v>
                </c:pt>
                <c:pt idx="145">
                  <c:v>42198</c:v>
                </c:pt>
                <c:pt idx="146">
                  <c:v>42359</c:v>
                </c:pt>
                <c:pt idx="147">
                  <c:v>42368</c:v>
                </c:pt>
                <c:pt idx="148">
                  <c:v>42375</c:v>
                </c:pt>
                <c:pt idx="149">
                  <c:v>42401</c:v>
                </c:pt>
                <c:pt idx="150">
                  <c:v>42488</c:v>
                </c:pt>
                <c:pt idx="151">
                  <c:v>42631</c:v>
                </c:pt>
                <c:pt idx="152">
                  <c:v>42643</c:v>
                </c:pt>
                <c:pt idx="153">
                  <c:v>42680</c:v>
                </c:pt>
                <c:pt idx="154">
                  <c:v>42712</c:v>
                </c:pt>
                <c:pt idx="155">
                  <c:v>42836</c:v>
                </c:pt>
                <c:pt idx="156">
                  <c:v>42937</c:v>
                </c:pt>
                <c:pt idx="157">
                  <c:v>43035</c:v>
                </c:pt>
                <c:pt idx="158">
                  <c:v>43071</c:v>
                </c:pt>
                <c:pt idx="159">
                  <c:v>43087</c:v>
                </c:pt>
                <c:pt idx="160">
                  <c:v>43101</c:v>
                </c:pt>
                <c:pt idx="161">
                  <c:v>43112</c:v>
                </c:pt>
                <c:pt idx="162">
                  <c:v>43137</c:v>
                </c:pt>
                <c:pt idx="163">
                  <c:v>43150</c:v>
                </c:pt>
                <c:pt idx="164">
                  <c:v>43185</c:v>
                </c:pt>
                <c:pt idx="165">
                  <c:v>43221</c:v>
                </c:pt>
                <c:pt idx="166">
                  <c:v>43222</c:v>
                </c:pt>
                <c:pt idx="167">
                  <c:v>43283</c:v>
                </c:pt>
                <c:pt idx="168">
                  <c:v>43299</c:v>
                </c:pt>
                <c:pt idx="169">
                  <c:v>43326</c:v>
                </c:pt>
                <c:pt idx="170">
                  <c:v>43411</c:v>
                </c:pt>
                <c:pt idx="171">
                  <c:v>43415</c:v>
                </c:pt>
                <c:pt idx="172">
                  <c:v>43418</c:v>
                </c:pt>
                <c:pt idx="173">
                  <c:v>43418</c:v>
                </c:pt>
                <c:pt idx="174">
                  <c:v>43418</c:v>
                </c:pt>
                <c:pt idx="175">
                  <c:v>43445</c:v>
                </c:pt>
                <c:pt idx="176">
                  <c:v>43457</c:v>
                </c:pt>
                <c:pt idx="177">
                  <c:v>43503</c:v>
                </c:pt>
                <c:pt idx="178">
                  <c:v>43545</c:v>
                </c:pt>
                <c:pt idx="179">
                  <c:v>43596</c:v>
                </c:pt>
                <c:pt idx="180">
                  <c:v>43611</c:v>
                </c:pt>
                <c:pt idx="181">
                  <c:v>43845</c:v>
                </c:pt>
                <c:pt idx="182">
                  <c:v>44096</c:v>
                </c:pt>
                <c:pt idx="183">
                  <c:v>44130</c:v>
                </c:pt>
                <c:pt idx="184">
                  <c:v>44172</c:v>
                </c:pt>
                <c:pt idx="185">
                  <c:v>44232</c:v>
                </c:pt>
                <c:pt idx="186">
                  <c:v>44246</c:v>
                </c:pt>
                <c:pt idx="187">
                  <c:v>44296</c:v>
                </c:pt>
                <c:pt idx="188">
                  <c:v>44317</c:v>
                </c:pt>
                <c:pt idx="189">
                  <c:v>44354</c:v>
                </c:pt>
                <c:pt idx="190">
                  <c:v>44367</c:v>
                </c:pt>
                <c:pt idx="191">
                  <c:v>44384</c:v>
                </c:pt>
                <c:pt idx="192">
                  <c:v>44427</c:v>
                </c:pt>
                <c:pt idx="193">
                  <c:v>44468</c:v>
                </c:pt>
                <c:pt idx="194">
                  <c:v>44498</c:v>
                </c:pt>
                <c:pt idx="195">
                  <c:v>44512</c:v>
                </c:pt>
                <c:pt idx="196">
                  <c:v>44604</c:v>
                </c:pt>
                <c:pt idx="197">
                  <c:v>44640</c:v>
                </c:pt>
                <c:pt idx="198">
                  <c:v>44644</c:v>
                </c:pt>
                <c:pt idx="199">
                  <c:v>44781</c:v>
                </c:pt>
                <c:pt idx="200">
                  <c:v>44813</c:v>
                </c:pt>
                <c:pt idx="201">
                  <c:v>44976</c:v>
                </c:pt>
                <c:pt idx="202">
                  <c:v>44985</c:v>
                </c:pt>
                <c:pt idx="203">
                  <c:v>44991</c:v>
                </c:pt>
                <c:pt idx="204">
                  <c:v>45025</c:v>
                </c:pt>
                <c:pt idx="205">
                  <c:v>45036</c:v>
                </c:pt>
                <c:pt idx="206">
                  <c:v>45064</c:v>
                </c:pt>
                <c:pt idx="207">
                  <c:v>45099</c:v>
                </c:pt>
                <c:pt idx="208">
                  <c:v>45151</c:v>
                </c:pt>
                <c:pt idx="209">
                  <c:v>45354</c:v>
                </c:pt>
                <c:pt idx="210">
                  <c:v>45378</c:v>
                </c:pt>
                <c:pt idx="211">
                  <c:v>45389</c:v>
                </c:pt>
                <c:pt idx="212">
                  <c:v>45411</c:v>
                </c:pt>
                <c:pt idx="213">
                  <c:v>45421</c:v>
                </c:pt>
                <c:pt idx="214">
                  <c:v>45454</c:v>
                </c:pt>
                <c:pt idx="215">
                  <c:v>45500</c:v>
                </c:pt>
                <c:pt idx="216">
                  <c:v>45543</c:v>
                </c:pt>
                <c:pt idx="217">
                  <c:v>45577</c:v>
                </c:pt>
                <c:pt idx="218">
                  <c:v>45593</c:v>
                </c:pt>
                <c:pt idx="219">
                  <c:v>45606</c:v>
                </c:pt>
                <c:pt idx="220">
                  <c:v>45799</c:v>
                </c:pt>
                <c:pt idx="221">
                  <c:v>45846</c:v>
                </c:pt>
                <c:pt idx="222">
                  <c:v>45856</c:v>
                </c:pt>
                <c:pt idx="223">
                  <c:v>45873</c:v>
                </c:pt>
                <c:pt idx="224">
                  <c:v>45898</c:v>
                </c:pt>
                <c:pt idx="225">
                  <c:v>45954</c:v>
                </c:pt>
                <c:pt idx="226">
                  <c:v>45989</c:v>
                </c:pt>
                <c:pt idx="227">
                  <c:v>45998</c:v>
                </c:pt>
                <c:pt idx="228">
                  <c:v>46086</c:v>
                </c:pt>
                <c:pt idx="229">
                  <c:v>46092</c:v>
                </c:pt>
                <c:pt idx="230">
                  <c:v>46110</c:v>
                </c:pt>
                <c:pt idx="231">
                  <c:v>46116</c:v>
                </c:pt>
                <c:pt idx="232">
                  <c:v>46145</c:v>
                </c:pt>
                <c:pt idx="233">
                  <c:v>46165</c:v>
                </c:pt>
                <c:pt idx="234">
                  <c:v>46236</c:v>
                </c:pt>
                <c:pt idx="235">
                  <c:v>46238</c:v>
                </c:pt>
                <c:pt idx="236">
                  <c:v>46264</c:v>
                </c:pt>
                <c:pt idx="237">
                  <c:v>46440</c:v>
                </c:pt>
                <c:pt idx="238">
                  <c:v>46474</c:v>
                </c:pt>
                <c:pt idx="239">
                  <c:v>46541</c:v>
                </c:pt>
                <c:pt idx="240">
                  <c:v>46543</c:v>
                </c:pt>
                <c:pt idx="241">
                  <c:v>46543</c:v>
                </c:pt>
                <c:pt idx="242">
                  <c:v>46566</c:v>
                </c:pt>
                <c:pt idx="243">
                  <c:v>46573</c:v>
                </c:pt>
                <c:pt idx="244">
                  <c:v>46641</c:v>
                </c:pt>
                <c:pt idx="245">
                  <c:v>46643</c:v>
                </c:pt>
                <c:pt idx="246">
                  <c:v>46651</c:v>
                </c:pt>
                <c:pt idx="247">
                  <c:v>46660</c:v>
                </c:pt>
                <c:pt idx="248">
                  <c:v>46672</c:v>
                </c:pt>
                <c:pt idx="249">
                  <c:v>46700</c:v>
                </c:pt>
                <c:pt idx="250">
                  <c:v>46721</c:v>
                </c:pt>
                <c:pt idx="251">
                  <c:v>46744</c:v>
                </c:pt>
                <c:pt idx="252">
                  <c:v>46747</c:v>
                </c:pt>
                <c:pt idx="253">
                  <c:v>46789</c:v>
                </c:pt>
                <c:pt idx="254">
                  <c:v>46802</c:v>
                </c:pt>
                <c:pt idx="255">
                  <c:v>46827</c:v>
                </c:pt>
                <c:pt idx="256">
                  <c:v>46885</c:v>
                </c:pt>
                <c:pt idx="257">
                  <c:v>46938</c:v>
                </c:pt>
                <c:pt idx="258">
                  <c:v>46945</c:v>
                </c:pt>
                <c:pt idx="259">
                  <c:v>46989</c:v>
                </c:pt>
                <c:pt idx="260">
                  <c:v>47139</c:v>
                </c:pt>
                <c:pt idx="261">
                  <c:v>47195</c:v>
                </c:pt>
                <c:pt idx="262">
                  <c:v>47314</c:v>
                </c:pt>
                <c:pt idx="263">
                  <c:v>47327</c:v>
                </c:pt>
                <c:pt idx="264">
                  <c:v>47327</c:v>
                </c:pt>
                <c:pt idx="265">
                  <c:v>47361</c:v>
                </c:pt>
                <c:pt idx="266">
                  <c:v>47385</c:v>
                </c:pt>
                <c:pt idx="267">
                  <c:v>47397</c:v>
                </c:pt>
                <c:pt idx="268">
                  <c:v>47452</c:v>
                </c:pt>
                <c:pt idx="269">
                  <c:v>47482</c:v>
                </c:pt>
                <c:pt idx="270">
                  <c:v>47485</c:v>
                </c:pt>
                <c:pt idx="271">
                  <c:v>47485</c:v>
                </c:pt>
                <c:pt idx="272">
                  <c:v>47495</c:v>
                </c:pt>
                <c:pt idx="273">
                  <c:v>47540</c:v>
                </c:pt>
                <c:pt idx="274">
                  <c:v>47540</c:v>
                </c:pt>
                <c:pt idx="275">
                  <c:v>47590</c:v>
                </c:pt>
                <c:pt idx="276">
                  <c:v>47597</c:v>
                </c:pt>
                <c:pt idx="277">
                  <c:v>47756</c:v>
                </c:pt>
                <c:pt idx="278">
                  <c:v>47907</c:v>
                </c:pt>
                <c:pt idx="279">
                  <c:v>47913</c:v>
                </c:pt>
                <c:pt idx="280">
                  <c:v>47937</c:v>
                </c:pt>
                <c:pt idx="281">
                  <c:v>48036</c:v>
                </c:pt>
                <c:pt idx="282">
                  <c:v>48039</c:v>
                </c:pt>
                <c:pt idx="283">
                  <c:v>48040</c:v>
                </c:pt>
                <c:pt idx="284">
                  <c:v>48050</c:v>
                </c:pt>
                <c:pt idx="285">
                  <c:v>48057</c:v>
                </c:pt>
                <c:pt idx="286">
                  <c:v>48150</c:v>
                </c:pt>
                <c:pt idx="287">
                  <c:v>48179</c:v>
                </c:pt>
                <c:pt idx="288">
                  <c:v>48231</c:v>
                </c:pt>
                <c:pt idx="289">
                  <c:v>48296</c:v>
                </c:pt>
                <c:pt idx="290">
                  <c:v>48309</c:v>
                </c:pt>
                <c:pt idx="291">
                  <c:v>48364</c:v>
                </c:pt>
                <c:pt idx="292">
                  <c:v>48376</c:v>
                </c:pt>
                <c:pt idx="293">
                  <c:v>48382</c:v>
                </c:pt>
                <c:pt idx="294">
                  <c:v>48434</c:v>
                </c:pt>
                <c:pt idx="295">
                  <c:v>48440</c:v>
                </c:pt>
                <c:pt idx="296">
                  <c:v>48466</c:v>
                </c:pt>
                <c:pt idx="297">
                  <c:v>48473</c:v>
                </c:pt>
                <c:pt idx="298">
                  <c:v>48491</c:v>
                </c:pt>
                <c:pt idx="299">
                  <c:v>48555</c:v>
                </c:pt>
                <c:pt idx="300">
                  <c:v>48675</c:v>
                </c:pt>
                <c:pt idx="301">
                  <c:v>48684</c:v>
                </c:pt>
                <c:pt idx="302">
                  <c:v>48707</c:v>
                </c:pt>
                <c:pt idx="303">
                  <c:v>48712</c:v>
                </c:pt>
                <c:pt idx="304">
                  <c:v>48745</c:v>
                </c:pt>
                <c:pt idx="305">
                  <c:v>48779</c:v>
                </c:pt>
                <c:pt idx="306">
                  <c:v>48793</c:v>
                </c:pt>
                <c:pt idx="307">
                  <c:v>48860</c:v>
                </c:pt>
                <c:pt idx="308">
                  <c:v>48896</c:v>
                </c:pt>
                <c:pt idx="309">
                  <c:v>48899</c:v>
                </c:pt>
                <c:pt idx="310">
                  <c:v>48909</c:v>
                </c:pt>
                <c:pt idx="311">
                  <c:v>48917</c:v>
                </c:pt>
                <c:pt idx="312">
                  <c:v>48936</c:v>
                </c:pt>
                <c:pt idx="313">
                  <c:v>48991</c:v>
                </c:pt>
                <c:pt idx="314">
                  <c:v>48991</c:v>
                </c:pt>
                <c:pt idx="315">
                  <c:v>49006</c:v>
                </c:pt>
                <c:pt idx="316">
                  <c:v>49036</c:v>
                </c:pt>
                <c:pt idx="317">
                  <c:v>49130</c:v>
                </c:pt>
                <c:pt idx="318">
                  <c:v>49131</c:v>
                </c:pt>
                <c:pt idx="319">
                  <c:v>49156</c:v>
                </c:pt>
                <c:pt idx="320">
                  <c:v>49203</c:v>
                </c:pt>
                <c:pt idx="321">
                  <c:v>49232</c:v>
                </c:pt>
                <c:pt idx="322">
                  <c:v>49279</c:v>
                </c:pt>
                <c:pt idx="323">
                  <c:v>49295</c:v>
                </c:pt>
                <c:pt idx="324">
                  <c:v>49316</c:v>
                </c:pt>
                <c:pt idx="325">
                  <c:v>49351</c:v>
                </c:pt>
                <c:pt idx="326">
                  <c:v>49378</c:v>
                </c:pt>
                <c:pt idx="327">
                  <c:v>49416</c:v>
                </c:pt>
                <c:pt idx="328">
                  <c:v>49438</c:v>
                </c:pt>
                <c:pt idx="329">
                  <c:v>49483</c:v>
                </c:pt>
                <c:pt idx="330">
                  <c:v>49520</c:v>
                </c:pt>
                <c:pt idx="331">
                  <c:v>49547</c:v>
                </c:pt>
                <c:pt idx="332">
                  <c:v>49555</c:v>
                </c:pt>
                <c:pt idx="333">
                  <c:v>49584</c:v>
                </c:pt>
                <c:pt idx="334">
                  <c:v>49601</c:v>
                </c:pt>
                <c:pt idx="335">
                  <c:v>49641</c:v>
                </c:pt>
                <c:pt idx="336">
                  <c:v>49669</c:v>
                </c:pt>
                <c:pt idx="337">
                  <c:v>49694</c:v>
                </c:pt>
                <c:pt idx="338">
                  <c:v>49697</c:v>
                </c:pt>
                <c:pt idx="339">
                  <c:v>49705</c:v>
                </c:pt>
                <c:pt idx="340">
                  <c:v>49714</c:v>
                </c:pt>
                <c:pt idx="341">
                  <c:v>49716</c:v>
                </c:pt>
                <c:pt idx="342">
                  <c:v>49766</c:v>
                </c:pt>
                <c:pt idx="343">
                  <c:v>49802</c:v>
                </c:pt>
                <c:pt idx="344">
                  <c:v>49898</c:v>
                </c:pt>
                <c:pt idx="345">
                  <c:v>49956</c:v>
                </c:pt>
                <c:pt idx="346">
                  <c:v>50002</c:v>
                </c:pt>
                <c:pt idx="347">
                  <c:v>50004</c:v>
                </c:pt>
                <c:pt idx="348">
                  <c:v>50030</c:v>
                </c:pt>
                <c:pt idx="349">
                  <c:v>50074</c:v>
                </c:pt>
                <c:pt idx="350">
                  <c:v>50318</c:v>
                </c:pt>
                <c:pt idx="351">
                  <c:v>50323</c:v>
                </c:pt>
                <c:pt idx="352">
                  <c:v>50330</c:v>
                </c:pt>
                <c:pt idx="353">
                  <c:v>50369</c:v>
                </c:pt>
                <c:pt idx="354">
                  <c:v>50412</c:v>
                </c:pt>
                <c:pt idx="355">
                  <c:v>50416</c:v>
                </c:pt>
                <c:pt idx="356">
                  <c:v>50416</c:v>
                </c:pt>
                <c:pt idx="357">
                  <c:v>50417</c:v>
                </c:pt>
                <c:pt idx="358">
                  <c:v>50660</c:v>
                </c:pt>
                <c:pt idx="359">
                  <c:v>50755</c:v>
                </c:pt>
                <c:pt idx="360">
                  <c:v>50797</c:v>
                </c:pt>
                <c:pt idx="361">
                  <c:v>50876</c:v>
                </c:pt>
                <c:pt idx="362">
                  <c:v>50968</c:v>
                </c:pt>
                <c:pt idx="363">
                  <c:v>51006</c:v>
                </c:pt>
                <c:pt idx="364">
                  <c:v>51051</c:v>
                </c:pt>
                <c:pt idx="365">
                  <c:v>51110</c:v>
                </c:pt>
                <c:pt idx="366">
                  <c:v>51152</c:v>
                </c:pt>
                <c:pt idx="367">
                  <c:v>51165</c:v>
                </c:pt>
                <c:pt idx="368">
                  <c:v>51173</c:v>
                </c:pt>
                <c:pt idx="369">
                  <c:v>51190</c:v>
                </c:pt>
                <c:pt idx="370">
                  <c:v>51262</c:v>
                </c:pt>
                <c:pt idx="371">
                  <c:v>51303</c:v>
                </c:pt>
                <c:pt idx="372">
                  <c:v>51500</c:v>
                </c:pt>
                <c:pt idx="373">
                  <c:v>51504</c:v>
                </c:pt>
                <c:pt idx="374">
                  <c:v>51509</c:v>
                </c:pt>
                <c:pt idx="375">
                  <c:v>51516</c:v>
                </c:pt>
                <c:pt idx="376">
                  <c:v>51539</c:v>
                </c:pt>
                <c:pt idx="377">
                  <c:v>51540</c:v>
                </c:pt>
                <c:pt idx="378">
                  <c:v>51562</c:v>
                </c:pt>
                <c:pt idx="379">
                  <c:v>51584</c:v>
                </c:pt>
                <c:pt idx="380">
                  <c:v>51593</c:v>
                </c:pt>
                <c:pt idx="381">
                  <c:v>51612</c:v>
                </c:pt>
                <c:pt idx="382">
                  <c:v>51641</c:v>
                </c:pt>
                <c:pt idx="383">
                  <c:v>51642</c:v>
                </c:pt>
                <c:pt idx="384">
                  <c:v>51655</c:v>
                </c:pt>
                <c:pt idx="385">
                  <c:v>51673</c:v>
                </c:pt>
                <c:pt idx="386">
                  <c:v>51700</c:v>
                </c:pt>
                <c:pt idx="387">
                  <c:v>51719</c:v>
                </c:pt>
                <c:pt idx="388">
                  <c:v>51724</c:v>
                </c:pt>
                <c:pt idx="389">
                  <c:v>51732</c:v>
                </c:pt>
                <c:pt idx="390">
                  <c:v>51745</c:v>
                </c:pt>
                <c:pt idx="391">
                  <c:v>51748</c:v>
                </c:pt>
                <c:pt idx="392">
                  <c:v>51748</c:v>
                </c:pt>
                <c:pt idx="393">
                  <c:v>51819</c:v>
                </c:pt>
                <c:pt idx="394">
                  <c:v>51838</c:v>
                </c:pt>
                <c:pt idx="395">
                  <c:v>51892</c:v>
                </c:pt>
                <c:pt idx="396">
                  <c:v>51943</c:v>
                </c:pt>
                <c:pt idx="397">
                  <c:v>51943</c:v>
                </c:pt>
                <c:pt idx="398">
                  <c:v>52015</c:v>
                </c:pt>
                <c:pt idx="399">
                  <c:v>52055</c:v>
                </c:pt>
                <c:pt idx="400">
                  <c:v>52064</c:v>
                </c:pt>
                <c:pt idx="401">
                  <c:v>52074</c:v>
                </c:pt>
                <c:pt idx="402">
                  <c:v>52084</c:v>
                </c:pt>
                <c:pt idx="403">
                  <c:v>52113</c:v>
                </c:pt>
                <c:pt idx="404">
                  <c:v>52119</c:v>
                </c:pt>
                <c:pt idx="405">
                  <c:v>52163</c:v>
                </c:pt>
                <c:pt idx="406">
                  <c:v>52184</c:v>
                </c:pt>
                <c:pt idx="407">
                  <c:v>52198</c:v>
                </c:pt>
                <c:pt idx="408">
                  <c:v>52199</c:v>
                </c:pt>
                <c:pt idx="409">
                  <c:v>52228</c:v>
                </c:pt>
                <c:pt idx="410">
                  <c:v>52248</c:v>
                </c:pt>
                <c:pt idx="411">
                  <c:v>52341</c:v>
                </c:pt>
                <c:pt idx="412">
                  <c:v>52343</c:v>
                </c:pt>
                <c:pt idx="413">
                  <c:v>52374</c:v>
                </c:pt>
                <c:pt idx="414">
                  <c:v>52410</c:v>
                </c:pt>
                <c:pt idx="415">
                  <c:v>52415</c:v>
                </c:pt>
                <c:pt idx="416">
                  <c:v>52559</c:v>
                </c:pt>
                <c:pt idx="417">
                  <c:v>52575</c:v>
                </c:pt>
                <c:pt idx="418">
                  <c:v>52649</c:v>
                </c:pt>
                <c:pt idx="419">
                  <c:v>52766</c:v>
                </c:pt>
                <c:pt idx="420">
                  <c:v>52773</c:v>
                </c:pt>
                <c:pt idx="421">
                  <c:v>52788</c:v>
                </c:pt>
                <c:pt idx="422">
                  <c:v>52824</c:v>
                </c:pt>
                <c:pt idx="423">
                  <c:v>52873</c:v>
                </c:pt>
                <c:pt idx="424">
                  <c:v>52876</c:v>
                </c:pt>
                <c:pt idx="425">
                  <c:v>52889</c:v>
                </c:pt>
                <c:pt idx="426">
                  <c:v>52901</c:v>
                </c:pt>
                <c:pt idx="427">
                  <c:v>52927</c:v>
                </c:pt>
                <c:pt idx="428">
                  <c:v>52928</c:v>
                </c:pt>
                <c:pt idx="429">
                  <c:v>52946</c:v>
                </c:pt>
                <c:pt idx="430">
                  <c:v>53023</c:v>
                </c:pt>
                <c:pt idx="431">
                  <c:v>53038</c:v>
                </c:pt>
                <c:pt idx="432">
                  <c:v>53096</c:v>
                </c:pt>
                <c:pt idx="433">
                  <c:v>53124</c:v>
                </c:pt>
                <c:pt idx="434">
                  <c:v>53145</c:v>
                </c:pt>
                <c:pt idx="435">
                  <c:v>53175</c:v>
                </c:pt>
                <c:pt idx="436">
                  <c:v>53187</c:v>
                </c:pt>
                <c:pt idx="437">
                  <c:v>53213</c:v>
                </c:pt>
                <c:pt idx="438">
                  <c:v>53217</c:v>
                </c:pt>
                <c:pt idx="439">
                  <c:v>53260</c:v>
                </c:pt>
                <c:pt idx="440">
                  <c:v>53278</c:v>
                </c:pt>
                <c:pt idx="441">
                  <c:v>53313</c:v>
                </c:pt>
                <c:pt idx="442">
                  <c:v>53316</c:v>
                </c:pt>
                <c:pt idx="443">
                  <c:v>53353</c:v>
                </c:pt>
                <c:pt idx="444">
                  <c:v>53406</c:v>
                </c:pt>
                <c:pt idx="445">
                  <c:v>53409</c:v>
                </c:pt>
                <c:pt idx="446">
                  <c:v>53419</c:v>
                </c:pt>
                <c:pt idx="447">
                  <c:v>53453</c:v>
                </c:pt>
                <c:pt idx="448">
                  <c:v>53459</c:v>
                </c:pt>
                <c:pt idx="449">
                  <c:v>53460</c:v>
                </c:pt>
                <c:pt idx="450">
                  <c:v>53501</c:v>
                </c:pt>
                <c:pt idx="451">
                  <c:v>53565</c:v>
                </c:pt>
                <c:pt idx="452">
                  <c:v>53603</c:v>
                </c:pt>
                <c:pt idx="453">
                  <c:v>53610</c:v>
                </c:pt>
                <c:pt idx="454">
                  <c:v>53623</c:v>
                </c:pt>
                <c:pt idx="455">
                  <c:v>53723</c:v>
                </c:pt>
                <c:pt idx="456">
                  <c:v>53726</c:v>
                </c:pt>
                <c:pt idx="457">
                  <c:v>53728</c:v>
                </c:pt>
                <c:pt idx="458">
                  <c:v>53770</c:v>
                </c:pt>
                <c:pt idx="459">
                  <c:v>53787</c:v>
                </c:pt>
                <c:pt idx="460">
                  <c:v>53800</c:v>
                </c:pt>
                <c:pt idx="461">
                  <c:v>53804</c:v>
                </c:pt>
                <c:pt idx="462">
                  <c:v>53843</c:v>
                </c:pt>
                <c:pt idx="463">
                  <c:v>53844</c:v>
                </c:pt>
                <c:pt idx="464">
                  <c:v>53848</c:v>
                </c:pt>
                <c:pt idx="465">
                  <c:v>53861</c:v>
                </c:pt>
                <c:pt idx="466">
                  <c:v>53863</c:v>
                </c:pt>
                <c:pt idx="467">
                  <c:v>53907</c:v>
                </c:pt>
                <c:pt idx="468">
                  <c:v>53957</c:v>
                </c:pt>
                <c:pt idx="469">
                  <c:v>53990</c:v>
                </c:pt>
                <c:pt idx="470">
                  <c:v>54003</c:v>
                </c:pt>
                <c:pt idx="471">
                  <c:v>54053</c:v>
                </c:pt>
                <c:pt idx="472">
                  <c:v>54058</c:v>
                </c:pt>
                <c:pt idx="473">
                  <c:v>54064</c:v>
                </c:pt>
                <c:pt idx="474">
                  <c:v>54089</c:v>
                </c:pt>
                <c:pt idx="475">
                  <c:v>54122</c:v>
                </c:pt>
                <c:pt idx="476">
                  <c:v>54143</c:v>
                </c:pt>
                <c:pt idx="477">
                  <c:v>54271</c:v>
                </c:pt>
                <c:pt idx="478">
                  <c:v>54272</c:v>
                </c:pt>
                <c:pt idx="479">
                  <c:v>54311</c:v>
                </c:pt>
                <c:pt idx="480">
                  <c:v>54317</c:v>
                </c:pt>
                <c:pt idx="481">
                  <c:v>54338</c:v>
                </c:pt>
                <c:pt idx="482">
                  <c:v>54340</c:v>
                </c:pt>
                <c:pt idx="483">
                  <c:v>54400</c:v>
                </c:pt>
                <c:pt idx="484">
                  <c:v>54434</c:v>
                </c:pt>
                <c:pt idx="485">
                  <c:v>54475</c:v>
                </c:pt>
                <c:pt idx="486">
                  <c:v>54521</c:v>
                </c:pt>
                <c:pt idx="487">
                  <c:v>54655</c:v>
                </c:pt>
                <c:pt idx="488">
                  <c:v>54664</c:v>
                </c:pt>
                <c:pt idx="489">
                  <c:v>54705</c:v>
                </c:pt>
                <c:pt idx="490">
                  <c:v>54742</c:v>
                </c:pt>
                <c:pt idx="491">
                  <c:v>54771</c:v>
                </c:pt>
                <c:pt idx="492">
                  <c:v>54794</c:v>
                </c:pt>
                <c:pt idx="493">
                  <c:v>54820</c:v>
                </c:pt>
                <c:pt idx="494">
                  <c:v>54869</c:v>
                </c:pt>
                <c:pt idx="495">
                  <c:v>54886</c:v>
                </c:pt>
                <c:pt idx="496">
                  <c:v>54897</c:v>
                </c:pt>
                <c:pt idx="497">
                  <c:v>54902</c:v>
                </c:pt>
                <c:pt idx="498">
                  <c:v>54914</c:v>
                </c:pt>
                <c:pt idx="499">
                  <c:v>54914</c:v>
                </c:pt>
                <c:pt idx="500">
                  <c:v>54947</c:v>
                </c:pt>
                <c:pt idx="501">
                  <c:v>54951</c:v>
                </c:pt>
                <c:pt idx="502">
                  <c:v>55017</c:v>
                </c:pt>
                <c:pt idx="503">
                  <c:v>55031</c:v>
                </c:pt>
                <c:pt idx="504">
                  <c:v>55041</c:v>
                </c:pt>
                <c:pt idx="505">
                  <c:v>55045</c:v>
                </c:pt>
                <c:pt idx="506">
                  <c:v>55055</c:v>
                </c:pt>
                <c:pt idx="507">
                  <c:v>55204</c:v>
                </c:pt>
                <c:pt idx="508">
                  <c:v>55232</c:v>
                </c:pt>
                <c:pt idx="509">
                  <c:v>55294</c:v>
                </c:pt>
                <c:pt idx="510">
                  <c:v>55362</c:v>
                </c:pt>
                <c:pt idx="511">
                  <c:v>55376</c:v>
                </c:pt>
                <c:pt idx="512">
                  <c:v>55383</c:v>
                </c:pt>
                <c:pt idx="513">
                  <c:v>55396</c:v>
                </c:pt>
                <c:pt idx="514">
                  <c:v>55443</c:v>
                </c:pt>
                <c:pt idx="515">
                  <c:v>55494</c:v>
                </c:pt>
                <c:pt idx="516">
                  <c:v>55504</c:v>
                </c:pt>
                <c:pt idx="517">
                  <c:v>55541</c:v>
                </c:pt>
                <c:pt idx="518">
                  <c:v>55552</c:v>
                </c:pt>
                <c:pt idx="519">
                  <c:v>55552</c:v>
                </c:pt>
                <c:pt idx="520">
                  <c:v>55619</c:v>
                </c:pt>
                <c:pt idx="521">
                  <c:v>55624</c:v>
                </c:pt>
                <c:pt idx="522">
                  <c:v>55646</c:v>
                </c:pt>
                <c:pt idx="523">
                  <c:v>55660</c:v>
                </c:pt>
                <c:pt idx="524">
                  <c:v>55700</c:v>
                </c:pt>
                <c:pt idx="525">
                  <c:v>55736</c:v>
                </c:pt>
                <c:pt idx="526">
                  <c:v>55774</c:v>
                </c:pt>
                <c:pt idx="527">
                  <c:v>55789</c:v>
                </c:pt>
                <c:pt idx="528">
                  <c:v>55817</c:v>
                </c:pt>
                <c:pt idx="529">
                  <c:v>55838</c:v>
                </c:pt>
                <c:pt idx="530">
                  <c:v>55921</c:v>
                </c:pt>
                <c:pt idx="531">
                  <c:v>55930</c:v>
                </c:pt>
                <c:pt idx="532">
                  <c:v>55933</c:v>
                </c:pt>
                <c:pt idx="533">
                  <c:v>55961</c:v>
                </c:pt>
                <c:pt idx="534">
                  <c:v>55966</c:v>
                </c:pt>
                <c:pt idx="535">
                  <c:v>56075</c:v>
                </c:pt>
                <c:pt idx="536">
                  <c:v>56075</c:v>
                </c:pt>
                <c:pt idx="537">
                  <c:v>56132</c:v>
                </c:pt>
                <c:pt idx="538">
                  <c:v>56196</c:v>
                </c:pt>
                <c:pt idx="539">
                  <c:v>56201</c:v>
                </c:pt>
                <c:pt idx="540">
                  <c:v>56210</c:v>
                </c:pt>
                <c:pt idx="541">
                  <c:v>56257</c:v>
                </c:pt>
                <c:pt idx="542">
                  <c:v>56274</c:v>
                </c:pt>
                <c:pt idx="543">
                  <c:v>56309</c:v>
                </c:pt>
                <c:pt idx="544">
                  <c:v>56313</c:v>
                </c:pt>
                <c:pt idx="545">
                  <c:v>56380</c:v>
                </c:pt>
                <c:pt idx="546">
                  <c:v>56405</c:v>
                </c:pt>
                <c:pt idx="547">
                  <c:v>56458</c:v>
                </c:pt>
                <c:pt idx="548">
                  <c:v>56621</c:v>
                </c:pt>
                <c:pt idx="549">
                  <c:v>56733</c:v>
                </c:pt>
                <c:pt idx="550">
                  <c:v>56778</c:v>
                </c:pt>
                <c:pt idx="551">
                  <c:v>56807</c:v>
                </c:pt>
                <c:pt idx="552">
                  <c:v>56878</c:v>
                </c:pt>
                <c:pt idx="553">
                  <c:v>56878</c:v>
                </c:pt>
                <c:pt idx="554">
                  <c:v>56911</c:v>
                </c:pt>
                <c:pt idx="555">
                  <c:v>56918</c:v>
                </c:pt>
                <c:pt idx="556">
                  <c:v>56930</c:v>
                </c:pt>
                <c:pt idx="557">
                  <c:v>56950</c:v>
                </c:pt>
                <c:pt idx="558">
                  <c:v>56955</c:v>
                </c:pt>
                <c:pt idx="559">
                  <c:v>56996</c:v>
                </c:pt>
                <c:pt idx="560">
                  <c:v>57089</c:v>
                </c:pt>
                <c:pt idx="561">
                  <c:v>57103</c:v>
                </c:pt>
                <c:pt idx="562">
                  <c:v>57106</c:v>
                </c:pt>
                <c:pt idx="563">
                  <c:v>57125</c:v>
                </c:pt>
                <c:pt idx="564">
                  <c:v>57165</c:v>
                </c:pt>
                <c:pt idx="565">
                  <c:v>57165</c:v>
                </c:pt>
                <c:pt idx="566">
                  <c:v>57180</c:v>
                </c:pt>
                <c:pt idx="567">
                  <c:v>57214</c:v>
                </c:pt>
                <c:pt idx="568">
                  <c:v>57273</c:v>
                </c:pt>
                <c:pt idx="569">
                  <c:v>57273</c:v>
                </c:pt>
                <c:pt idx="570">
                  <c:v>57478</c:v>
                </c:pt>
                <c:pt idx="571">
                  <c:v>57529</c:v>
                </c:pt>
                <c:pt idx="572">
                  <c:v>57550</c:v>
                </c:pt>
                <c:pt idx="573">
                  <c:v>57556</c:v>
                </c:pt>
                <c:pt idx="574">
                  <c:v>57602</c:v>
                </c:pt>
                <c:pt idx="575">
                  <c:v>57673</c:v>
                </c:pt>
                <c:pt idx="576">
                  <c:v>57687</c:v>
                </c:pt>
                <c:pt idx="577">
                  <c:v>57815</c:v>
                </c:pt>
                <c:pt idx="578">
                  <c:v>57817</c:v>
                </c:pt>
                <c:pt idx="579">
                  <c:v>57949</c:v>
                </c:pt>
                <c:pt idx="580">
                  <c:v>58009</c:v>
                </c:pt>
                <c:pt idx="581">
                  <c:v>58047</c:v>
                </c:pt>
                <c:pt idx="582">
                  <c:v>58063</c:v>
                </c:pt>
                <c:pt idx="583">
                  <c:v>58099</c:v>
                </c:pt>
                <c:pt idx="584">
                  <c:v>58170</c:v>
                </c:pt>
                <c:pt idx="585">
                  <c:v>58285</c:v>
                </c:pt>
                <c:pt idx="586">
                  <c:v>58289</c:v>
                </c:pt>
                <c:pt idx="587">
                  <c:v>58289</c:v>
                </c:pt>
                <c:pt idx="588">
                  <c:v>58295</c:v>
                </c:pt>
                <c:pt idx="589">
                  <c:v>58316</c:v>
                </c:pt>
                <c:pt idx="590">
                  <c:v>58336</c:v>
                </c:pt>
                <c:pt idx="591">
                  <c:v>58336</c:v>
                </c:pt>
                <c:pt idx="592">
                  <c:v>58343</c:v>
                </c:pt>
                <c:pt idx="593">
                  <c:v>58354</c:v>
                </c:pt>
                <c:pt idx="594">
                  <c:v>58363</c:v>
                </c:pt>
                <c:pt idx="595">
                  <c:v>58375</c:v>
                </c:pt>
                <c:pt idx="596">
                  <c:v>58386</c:v>
                </c:pt>
                <c:pt idx="597">
                  <c:v>58418</c:v>
                </c:pt>
                <c:pt idx="598">
                  <c:v>58427</c:v>
                </c:pt>
                <c:pt idx="599">
                  <c:v>58433</c:v>
                </c:pt>
                <c:pt idx="600">
                  <c:v>58448</c:v>
                </c:pt>
                <c:pt idx="601">
                  <c:v>58469</c:v>
                </c:pt>
                <c:pt idx="602">
                  <c:v>58537</c:v>
                </c:pt>
                <c:pt idx="603">
                  <c:v>58561</c:v>
                </c:pt>
                <c:pt idx="604">
                  <c:v>58572</c:v>
                </c:pt>
                <c:pt idx="605">
                  <c:v>58656</c:v>
                </c:pt>
                <c:pt idx="606">
                  <c:v>58700</c:v>
                </c:pt>
                <c:pt idx="607">
                  <c:v>58709</c:v>
                </c:pt>
                <c:pt idx="608">
                  <c:v>58759</c:v>
                </c:pt>
                <c:pt idx="609">
                  <c:v>58799</c:v>
                </c:pt>
                <c:pt idx="610">
                  <c:v>58826</c:v>
                </c:pt>
                <c:pt idx="611">
                  <c:v>58829</c:v>
                </c:pt>
                <c:pt idx="612">
                  <c:v>58832</c:v>
                </c:pt>
                <c:pt idx="613">
                  <c:v>58845</c:v>
                </c:pt>
                <c:pt idx="614">
                  <c:v>58896</c:v>
                </c:pt>
                <c:pt idx="615">
                  <c:v>59045</c:v>
                </c:pt>
                <c:pt idx="616">
                  <c:v>59058</c:v>
                </c:pt>
                <c:pt idx="617">
                  <c:v>59159</c:v>
                </c:pt>
                <c:pt idx="618">
                  <c:v>59209</c:v>
                </c:pt>
                <c:pt idx="619">
                  <c:v>59217</c:v>
                </c:pt>
                <c:pt idx="620">
                  <c:v>59224</c:v>
                </c:pt>
                <c:pt idx="621">
                  <c:v>59268</c:v>
                </c:pt>
                <c:pt idx="622">
                  <c:v>59274</c:v>
                </c:pt>
                <c:pt idx="623">
                  <c:v>59282</c:v>
                </c:pt>
                <c:pt idx="624">
                  <c:v>59317</c:v>
                </c:pt>
                <c:pt idx="625">
                  <c:v>59354</c:v>
                </c:pt>
                <c:pt idx="626">
                  <c:v>59384</c:v>
                </c:pt>
                <c:pt idx="627">
                  <c:v>59436</c:v>
                </c:pt>
                <c:pt idx="628">
                  <c:v>59460</c:v>
                </c:pt>
                <c:pt idx="629">
                  <c:v>59483</c:v>
                </c:pt>
                <c:pt idx="630">
                  <c:v>59492</c:v>
                </c:pt>
                <c:pt idx="631">
                  <c:v>59498</c:v>
                </c:pt>
                <c:pt idx="632">
                  <c:v>59531</c:v>
                </c:pt>
                <c:pt idx="633">
                  <c:v>59541</c:v>
                </c:pt>
                <c:pt idx="634">
                  <c:v>59572</c:v>
                </c:pt>
                <c:pt idx="635">
                  <c:v>59593</c:v>
                </c:pt>
                <c:pt idx="636">
                  <c:v>59629</c:v>
                </c:pt>
                <c:pt idx="637">
                  <c:v>59728</c:v>
                </c:pt>
                <c:pt idx="638">
                  <c:v>59761</c:v>
                </c:pt>
                <c:pt idx="639">
                  <c:v>59764</c:v>
                </c:pt>
                <c:pt idx="640">
                  <c:v>59831</c:v>
                </c:pt>
                <c:pt idx="641">
                  <c:v>59841</c:v>
                </c:pt>
                <c:pt idx="642">
                  <c:v>59850</c:v>
                </c:pt>
                <c:pt idx="643">
                  <c:v>59871</c:v>
                </c:pt>
                <c:pt idx="644">
                  <c:v>59892</c:v>
                </c:pt>
                <c:pt idx="645">
                  <c:v>59908</c:v>
                </c:pt>
                <c:pt idx="646">
                  <c:v>59950</c:v>
                </c:pt>
                <c:pt idx="647">
                  <c:v>59982</c:v>
                </c:pt>
                <c:pt idx="648">
                  <c:v>59986</c:v>
                </c:pt>
                <c:pt idx="649">
                  <c:v>59986</c:v>
                </c:pt>
                <c:pt idx="650">
                  <c:v>59993</c:v>
                </c:pt>
                <c:pt idx="651">
                  <c:v>60123</c:v>
                </c:pt>
                <c:pt idx="652">
                  <c:v>60126</c:v>
                </c:pt>
                <c:pt idx="653">
                  <c:v>60144</c:v>
                </c:pt>
                <c:pt idx="654">
                  <c:v>60194</c:v>
                </c:pt>
                <c:pt idx="655">
                  <c:v>60327</c:v>
                </c:pt>
                <c:pt idx="656">
                  <c:v>60376</c:v>
                </c:pt>
                <c:pt idx="657">
                  <c:v>60583</c:v>
                </c:pt>
                <c:pt idx="658">
                  <c:v>60615</c:v>
                </c:pt>
                <c:pt idx="659">
                  <c:v>60663</c:v>
                </c:pt>
                <c:pt idx="660">
                  <c:v>60681</c:v>
                </c:pt>
                <c:pt idx="661">
                  <c:v>60787</c:v>
                </c:pt>
                <c:pt idx="662">
                  <c:v>60823</c:v>
                </c:pt>
                <c:pt idx="663">
                  <c:v>60883</c:v>
                </c:pt>
                <c:pt idx="664">
                  <c:v>60909</c:v>
                </c:pt>
                <c:pt idx="665">
                  <c:v>61012</c:v>
                </c:pt>
                <c:pt idx="666">
                  <c:v>61106</c:v>
                </c:pt>
                <c:pt idx="667">
                  <c:v>61107</c:v>
                </c:pt>
                <c:pt idx="668">
                  <c:v>61171</c:v>
                </c:pt>
                <c:pt idx="669">
                  <c:v>61289</c:v>
                </c:pt>
                <c:pt idx="670">
                  <c:v>61295</c:v>
                </c:pt>
                <c:pt idx="671">
                  <c:v>61296</c:v>
                </c:pt>
                <c:pt idx="672">
                  <c:v>61317</c:v>
                </c:pt>
                <c:pt idx="673">
                  <c:v>61389</c:v>
                </c:pt>
                <c:pt idx="674">
                  <c:v>61408</c:v>
                </c:pt>
                <c:pt idx="675">
                  <c:v>61462</c:v>
                </c:pt>
                <c:pt idx="676">
                  <c:v>61504</c:v>
                </c:pt>
                <c:pt idx="677">
                  <c:v>61511</c:v>
                </c:pt>
                <c:pt idx="678">
                  <c:v>61723</c:v>
                </c:pt>
                <c:pt idx="679">
                  <c:v>61772</c:v>
                </c:pt>
                <c:pt idx="680">
                  <c:v>61808</c:v>
                </c:pt>
                <c:pt idx="681">
                  <c:v>61824</c:v>
                </c:pt>
                <c:pt idx="682">
                  <c:v>61825</c:v>
                </c:pt>
                <c:pt idx="683">
                  <c:v>61860</c:v>
                </c:pt>
                <c:pt idx="684">
                  <c:v>61885</c:v>
                </c:pt>
                <c:pt idx="685">
                  <c:v>62069</c:v>
                </c:pt>
                <c:pt idx="686">
                  <c:v>62069</c:v>
                </c:pt>
                <c:pt idx="687">
                  <c:v>62079</c:v>
                </c:pt>
                <c:pt idx="688">
                  <c:v>62092</c:v>
                </c:pt>
                <c:pt idx="689">
                  <c:v>62101</c:v>
                </c:pt>
                <c:pt idx="690">
                  <c:v>62105</c:v>
                </c:pt>
                <c:pt idx="691">
                  <c:v>62105</c:v>
                </c:pt>
                <c:pt idx="692">
                  <c:v>62205</c:v>
                </c:pt>
                <c:pt idx="693">
                  <c:v>62208</c:v>
                </c:pt>
                <c:pt idx="694">
                  <c:v>62235</c:v>
                </c:pt>
                <c:pt idx="695">
                  <c:v>62381</c:v>
                </c:pt>
                <c:pt idx="696">
                  <c:v>62399</c:v>
                </c:pt>
                <c:pt idx="697">
                  <c:v>62621</c:v>
                </c:pt>
                <c:pt idx="698">
                  <c:v>62731</c:v>
                </c:pt>
                <c:pt idx="699">
                  <c:v>62830</c:v>
                </c:pt>
                <c:pt idx="700">
                  <c:v>62832</c:v>
                </c:pt>
                <c:pt idx="701">
                  <c:v>62860</c:v>
                </c:pt>
                <c:pt idx="702">
                  <c:v>62909</c:v>
                </c:pt>
                <c:pt idx="703">
                  <c:v>62927</c:v>
                </c:pt>
                <c:pt idx="704">
                  <c:v>62971</c:v>
                </c:pt>
                <c:pt idx="705">
                  <c:v>62972</c:v>
                </c:pt>
                <c:pt idx="706">
                  <c:v>63066</c:v>
                </c:pt>
                <c:pt idx="707">
                  <c:v>63191</c:v>
                </c:pt>
                <c:pt idx="708">
                  <c:v>63260</c:v>
                </c:pt>
                <c:pt idx="709">
                  <c:v>63268</c:v>
                </c:pt>
                <c:pt idx="710">
                  <c:v>63277</c:v>
                </c:pt>
                <c:pt idx="711">
                  <c:v>63446</c:v>
                </c:pt>
                <c:pt idx="712">
                  <c:v>63454</c:v>
                </c:pt>
                <c:pt idx="713">
                  <c:v>63494</c:v>
                </c:pt>
                <c:pt idx="714">
                  <c:v>63548</c:v>
                </c:pt>
                <c:pt idx="715">
                  <c:v>63646</c:v>
                </c:pt>
                <c:pt idx="716">
                  <c:v>63756</c:v>
                </c:pt>
                <c:pt idx="717">
                  <c:v>63764</c:v>
                </c:pt>
                <c:pt idx="718">
                  <c:v>63855</c:v>
                </c:pt>
                <c:pt idx="719">
                  <c:v>63878</c:v>
                </c:pt>
                <c:pt idx="720">
                  <c:v>63905</c:v>
                </c:pt>
                <c:pt idx="721">
                  <c:v>63926</c:v>
                </c:pt>
                <c:pt idx="722">
                  <c:v>63998</c:v>
                </c:pt>
                <c:pt idx="723">
                  <c:v>64027</c:v>
                </c:pt>
                <c:pt idx="724">
                  <c:v>64072</c:v>
                </c:pt>
                <c:pt idx="725">
                  <c:v>64249</c:v>
                </c:pt>
                <c:pt idx="726">
                  <c:v>64313</c:v>
                </c:pt>
                <c:pt idx="727">
                  <c:v>64506</c:v>
                </c:pt>
                <c:pt idx="728">
                  <c:v>64778</c:v>
                </c:pt>
                <c:pt idx="729">
                  <c:v>64873</c:v>
                </c:pt>
                <c:pt idx="730">
                  <c:v>64911</c:v>
                </c:pt>
                <c:pt idx="731">
                  <c:v>64973</c:v>
                </c:pt>
                <c:pt idx="732">
                  <c:v>65083</c:v>
                </c:pt>
                <c:pt idx="733">
                  <c:v>65222</c:v>
                </c:pt>
                <c:pt idx="734">
                  <c:v>65344</c:v>
                </c:pt>
                <c:pt idx="735">
                  <c:v>65464</c:v>
                </c:pt>
                <c:pt idx="736">
                  <c:v>65518</c:v>
                </c:pt>
                <c:pt idx="737">
                  <c:v>65543</c:v>
                </c:pt>
                <c:pt idx="738">
                  <c:v>65575</c:v>
                </c:pt>
                <c:pt idx="739">
                  <c:v>65590</c:v>
                </c:pt>
                <c:pt idx="740">
                  <c:v>65607</c:v>
                </c:pt>
                <c:pt idx="741">
                  <c:v>65668</c:v>
                </c:pt>
                <c:pt idx="742">
                  <c:v>65756</c:v>
                </c:pt>
                <c:pt idx="743">
                  <c:v>65793</c:v>
                </c:pt>
                <c:pt idx="744">
                  <c:v>65934</c:v>
                </c:pt>
                <c:pt idx="745">
                  <c:v>66099</c:v>
                </c:pt>
                <c:pt idx="746">
                  <c:v>66215</c:v>
                </c:pt>
                <c:pt idx="747">
                  <c:v>66240</c:v>
                </c:pt>
                <c:pt idx="748">
                  <c:v>66651</c:v>
                </c:pt>
                <c:pt idx="749">
                  <c:v>66677</c:v>
                </c:pt>
                <c:pt idx="750">
                  <c:v>66852</c:v>
                </c:pt>
                <c:pt idx="751">
                  <c:v>66942</c:v>
                </c:pt>
                <c:pt idx="752">
                  <c:v>66944</c:v>
                </c:pt>
                <c:pt idx="753">
                  <c:v>66990</c:v>
                </c:pt>
                <c:pt idx="754">
                  <c:v>67102</c:v>
                </c:pt>
                <c:pt idx="755">
                  <c:v>67145</c:v>
                </c:pt>
                <c:pt idx="756">
                  <c:v>67258</c:v>
                </c:pt>
                <c:pt idx="757">
                  <c:v>67416</c:v>
                </c:pt>
                <c:pt idx="758">
                  <c:v>67506</c:v>
                </c:pt>
                <c:pt idx="759">
                  <c:v>67516</c:v>
                </c:pt>
                <c:pt idx="760">
                  <c:v>67548</c:v>
                </c:pt>
                <c:pt idx="761">
                  <c:v>67589</c:v>
                </c:pt>
                <c:pt idx="762">
                  <c:v>67640</c:v>
                </c:pt>
                <c:pt idx="763">
                  <c:v>67705</c:v>
                </c:pt>
                <c:pt idx="764">
                  <c:v>67725</c:v>
                </c:pt>
                <c:pt idx="765">
                  <c:v>67753</c:v>
                </c:pt>
                <c:pt idx="766">
                  <c:v>67918</c:v>
                </c:pt>
                <c:pt idx="767">
                  <c:v>67991</c:v>
                </c:pt>
                <c:pt idx="768">
                  <c:v>68010</c:v>
                </c:pt>
                <c:pt idx="769">
                  <c:v>68140</c:v>
                </c:pt>
                <c:pt idx="770">
                  <c:v>68245</c:v>
                </c:pt>
                <c:pt idx="771">
                  <c:v>68424</c:v>
                </c:pt>
                <c:pt idx="772">
                  <c:v>68635</c:v>
                </c:pt>
                <c:pt idx="773">
                  <c:v>68712</c:v>
                </c:pt>
                <c:pt idx="774">
                  <c:v>68751</c:v>
                </c:pt>
                <c:pt idx="775">
                  <c:v>68831</c:v>
                </c:pt>
                <c:pt idx="776">
                  <c:v>68964</c:v>
                </c:pt>
                <c:pt idx="777">
                  <c:v>69039</c:v>
                </c:pt>
                <c:pt idx="778">
                  <c:v>69107</c:v>
                </c:pt>
                <c:pt idx="779">
                  <c:v>69151</c:v>
                </c:pt>
                <c:pt idx="780">
                  <c:v>69363</c:v>
                </c:pt>
                <c:pt idx="781">
                  <c:v>69498</c:v>
                </c:pt>
                <c:pt idx="782">
                  <c:v>69512</c:v>
                </c:pt>
                <c:pt idx="783">
                  <c:v>69571</c:v>
                </c:pt>
                <c:pt idx="784">
                  <c:v>69594</c:v>
                </c:pt>
                <c:pt idx="785">
                  <c:v>69952</c:v>
                </c:pt>
                <c:pt idx="786">
                  <c:v>70070</c:v>
                </c:pt>
                <c:pt idx="787">
                  <c:v>70080</c:v>
                </c:pt>
                <c:pt idx="788">
                  <c:v>70196</c:v>
                </c:pt>
                <c:pt idx="789">
                  <c:v>70204</c:v>
                </c:pt>
                <c:pt idx="790">
                  <c:v>70266</c:v>
                </c:pt>
                <c:pt idx="791">
                  <c:v>70378</c:v>
                </c:pt>
                <c:pt idx="792">
                  <c:v>70484</c:v>
                </c:pt>
                <c:pt idx="793">
                  <c:v>70527</c:v>
                </c:pt>
                <c:pt idx="794">
                  <c:v>70783</c:v>
                </c:pt>
                <c:pt idx="795">
                  <c:v>70871</c:v>
                </c:pt>
                <c:pt idx="796">
                  <c:v>70920</c:v>
                </c:pt>
                <c:pt idx="797">
                  <c:v>71030</c:v>
                </c:pt>
                <c:pt idx="798">
                  <c:v>71155</c:v>
                </c:pt>
                <c:pt idx="799">
                  <c:v>71353</c:v>
                </c:pt>
                <c:pt idx="800">
                  <c:v>71366</c:v>
                </c:pt>
                <c:pt idx="801">
                  <c:v>71517</c:v>
                </c:pt>
                <c:pt idx="802">
                  <c:v>71530</c:v>
                </c:pt>
                <c:pt idx="803">
                  <c:v>71668</c:v>
                </c:pt>
                <c:pt idx="804">
                  <c:v>71830</c:v>
                </c:pt>
                <c:pt idx="805">
                  <c:v>71901</c:v>
                </c:pt>
                <c:pt idx="806">
                  <c:v>71958</c:v>
                </c:pt>
                <c:pt idx="807">
                  <c:v>72105</c:v>
                </c:pt>
                <c:pt idx="808">
                  <c:v>72379</c:v>
                </c:pt>
                <c:pt idx="809">
                  <c:v>72690</c:v>
                </c:pt>
                <c:pt idx="810">
                  <c:v>72975</c:v>
                </c:pt>
                <c:pt idx="811">
                  <c:v>73157</c:v>
                </c:pt>
                <c:pt idx="812">
                  <c:v>73250</c:v>
                </c:pt>
                <c:pt idx="813">
                  <c:v>73371</c:v>
                </c:pt>
                <c:pt idx="814">
                  <c:v>73595</c:v>
                </c:pt>
                <c:pt idx="815">
                  <c:v>73721</c:v>
                </c:pt>
                <c:pt idx="816">
                  <c:v>73739</c:v>
                </c:pt>
                <c:pt idx="817">
                  <c:v>73897</c:v>
                </c:pt>
                <c:pt idx="818">
                  <c:v>73911</c:v>
                </c:pt>
                <c:pt idx="819">
                  <c:v>74360</c:v>
                </c:pt>
                <c:pt idx="820">
                  <c:v>74545</c:v>
                </c:pt>
                <c:pt idx="821">
                  <c:v>74652</c:v>
                </c:pt>
                <c:pt idx="822">
                  <c:v>74742</c:v>
                </c:pt>
                <c:pt idx="823">
                  <c:v>74895</c:v>
                </c:pt>
                <c:pt idx="824">
                  <c:v>75001</c:v>
                </c:pt>
                <c:pt idx="825">
                  <c:v>75059</c:v>
                </c:pt>
                <c:pt idx="826">
                  <c:v>75217</c:v>
                </c:pt>
                <c:pt idx="827">
                  <c:v>75272</c:v>
                </c:pt>
                <c:pt idx="828">
                  <c:v>75328</c:v>
                </c:pt>
                <c:pt idx="829">
                  <c:v>75482</c:v>
                </c:pt>
                <c:pt idx="830">
                  <c:v>75525</c:v>
                </c:pt>
                <c:pt idx="831">
                  <c:v>75537</c:v>
                </c:pt>
                <c:pt idx="832">
                  <c:v>75584</c:v>
                </c:pt>
                <c:pt idx="833">
                  <c:v>75701</c:v>
                </c:pt>
                <c:pt idx="834">
                  <c:v>75790</c:v>
                </c:pt>
                <c:pt idx="835">
                  <c:v>75951</c:v>
                </c:pt>
                <c:pt idx="836">
                  <c:v>76079</c:v>
                </c:pt>
                <c:pt idx="837">
                  <c:v>76124</c:v>
                </c:pt>
                <c:pt idx="838">
                  <c:v>76178</c:v>
                </c:pt>
                <c:pt idx="839">
                  <c:v>76310</c:v>
                </c:pt>
                <c:pt idx="840">
                  <c:v>76571</c:v>
                </c:pt>
                <c:pt idx="841">
                  <c:v>76786</c:v>
                </c:pt>
                <c:pt idx="842">
                  <c:v>77231</c:v>
                </c:pt>
                <c:pt idx="843">
                  <c:v>77235</c:v>
                </c:pt>
                <c:pt idx="844">
                  <c:v>77370</c:v>
                </c:pt>
                <c:pt idx="845">
                  <c:v>77449</c:v>
                </c:pt>
                <c:pt idx="846">
                  <c:v>77539</c:v>
                </c:pt>
                <c:pt idx="847">
                  <c:v>77644</c:v>
                </c:pt>
                <c:pt idx="848">
                  <c:v>77745</c:v>
                </c:pt>
                <c:pt idx="849">
                  <c:v>77779</c:v>
                </c:pt>
                <c:pt idx="850">
                  <c:v>77789</c:v>
                </c:pt>
                <c:pt idx="851">
                  <c:v>77819</c:v>
                </c:pt>
                <c:pt idx="852">
                  <c:v>78158</c:v>
                </c:pt>
                <c:pt idx="853">
                  <c:v>78257</c:v>
                </c:pt>
                <c:pt idx="854">
                  <c:v>78349</c:v>
                </c:pt>
                <c:pt idx="855">
                  <c:v>78354</c:v>
                </c:pt>
                <c:pt idx="856">
                  <c:v>78411</c:v>
                </c:pt>
                <c:pt idx="857">
                  <c:v>78445</c:v>
                </c:pt>
                <c:pt idx="858">
                  <c:v>78638</c:v>
                </c:pt>
                <c:pt idx="859">
                  <c:v>78812</c:v>
                </c:pt>
                <c:pt idx="860">
                  <c:v>78892</c:v>
                </c:pt>
                <c:pt idx="861">
                  <c:v>79042</c:v>
                </c:pt>
                <c:pt idx="862">
                  <c:v>79164</c:v>
                </c:pt>
                <c:pt idx="863">
                  <c:v>79966</c:v>
                </c:pt>
                <c:pt idx="864">
                  <c:v>80137</c:v>
                </c:pt>
                <c:pt idx="865">
                  <c:v>80257</c:v>
                </c:pt>
                <c:pt idx="866">
                  <c:v>80490</c:v>
                </c:pt>
                <c:pt idx="867">
                  <c:v>80516</c:v>
                </c:pt>
                <c:pt idx="868">
                  <c:v>80928</c:v>
                </c:pt>
                <c:pt idx="869">
                  <c:v>81400</c:v>
                </c:pt>
                <c:pt idx="870">
                  <c:v>82509</c:v>
                </c:pt>
                <c:pt idx="871">
                  <c:v>82592</c:v>
                </c:pt>
                <c:pt idx="872">
                  <c:v>82652</c:v>
                </c:pt>
                <c:pt idx="873">
                  <c:v>82721</c:v>
                </c:pt>
                <c:pt idx="874">
                  <c:v>82735</c:v>
                </c:pt>
                <c:pt idx="875">
                  <c:v>82804</c:v>
                </c:pt>
                <c:pt idx="876">
                  <c:v>82939</c:v>
                </c:pt>
                <c:pt idx="877">
                  <c:v>83214</c:v>
                </c:pt>
                <c:pt idx="878">
                  <c:v>83238</c:v>
                </c:pt>
                <c:pt idx="879">
                  <c:v>83759</c:v>
                </c:pt>
                <c:pt idx="880">
                  <c:v>83847</c:v>
                </c:pt>
                <c:pt idx="881">
                  <c:v>84131</c:v>
                </c:pt>
                <c:pt idx="882">
                  <c:v>84131</c:v>
                </c:pt>
                <c:pt idx="883">
                  <c:v>84131</c:v>
                </c:pt>
                <c:pt idx="884">
                  <c:v>84648</c:v>
                </c:pt>
                <c:pt idx="885">
                  <c:v>84713</c:v>
                </c:pt>
                <c:pt idx="886">
                  <c:v>84803</c:v>
                </c:pt>
                <c:pt idx="887">
                  <c:v>85035</c:v>
                </c:pt>
                <c:pt idx="888">
                  <c:v>85139</c:v>
                </c:pt>
                <c:pt idx="889">
                  <c:v>85569</c:v>
                </c:pt>
                <c:pt idx="890">
                  <c:v>86182</c:v>
                </c:pt>
                <c:pt idx="891">
                  <c:v>86316</c:v>
                </c:pt>
                <c:pt idx="892">
                  <c:v>86522</c:v>
                </c:pt>
                <c:pt idx="893">
                  <c:v>86881</c:v>
                </c:pt>
                <c:pt idx="894">
                  <c:v>87054</c:v>
                </c:pt>
                <c:pt idx="895">
                  <c:v>87555</c:v>
                </c:pt>
                <c:pt idx="896">
                  <c:v>87989</c:v>
                </c:pt>
                <c:pt idx="897">
                  <c:v>88604</c:v>
                </c:pt>
                <c:pt idx="898">
                  <c:v>88665</c:v>
                </c:pt>
                <c:pt idx="899">
                  <c:v>88794</c:v>
                </c:pt>
                <c:pt idx="900">
                  <c:v>89070</c:v>
                </c:pt>
                <c:pt idx="901">
                  <c:v>89363</c:v>
                </c:pt>
                <c:pt idx="902">
                  <c:v>89696</c:v>
                </c:pt>
                <c:pt idx="903">
                  <c:v>89718</c:v>
                </c:pt>
                <c:pt idx="904">
                  <c:v>89812</c:v>
                </c:pt>
                <c:pt idx="905">
                  <c:v>90008</c:v>
                </c:pt>
                <c:pt idx="906">
                  <c:v>90543</c:v>
                </c:pt>
                <c:pt idx="907">
                  <c:v>90779</c:v>
                </c:pt>
                <c:pt idx="908">
                  <c:v>90873</c:v>
                </c:pt>
                <c:pt idx="909">
                  <c:v>91410</c:v>
                </c:pt>
                <c:pt idx="910">
                  <c:v>91565</c:v>
                </c:pt>
                <c:pt idx="911">
                  <c:v>91885</c:v>
                </c:pt>
                <c:pt idx="912">
                  <c:v>92498</c:v>
                </c:pt>
                <c:pt idx="913">
                  <c:v>92538</c:v>
                </c:pt>
                <c:pt idx="914">
                  <c:v>92538</c:v>
                </c:pt>
                <c:pt idx="915">
                  <c:v>93487</c:v>
                </c:pt>
                <c:pt idx="916">
                  <c:v>93807</c:v>
                </c:pt>
                <c:pt idx="917">
                  <c:v>94810</c:v>
                </c:pt>
                <c:pt idx="918">
                  <c:v>94823</c:v>
                </c:pt>
                <c:pt idx="919">
                  <c:v>97434</c:v>
                </c:pt>
                <c:pt idx="920">
                  <c:v>97800</c:v>
                </c:pt>
                <c:pt idx="921">
                  <c:v>99980</c:v>
                </c:pt>
                <c:pt idx="922">
                  <c:v>100423</c:v>
                </c:pt>
                <c:pt idx="923">
                  <c:v>100533</c:v>
                </c:pt>
                <c:pt idx="924">
                  <c:v>101817</c:v>
                </c:pt>
                <c:pt idx="925">
                  <c:v>102051</c:v>
                </c:pt>
                <c:pt idx="926">
                  <c:v>102491</c:v>
                </c:pt>
                <c:pt idx="927">
                  <c:v>103470</c:v>
                </c:pt>
                <c:pt idx="928">
                  <c:v>103494</c:v>
                </c:pt>
                <c:pt idx="929">
                  <c:v>103937</c:v>
                </c:pt>
                <c:pt idx="930">
                  <c:v>104043</c:v>
                </c:pt>
                <c:pt idx="931">
                  <c:v>104736</c:v>
                </c:pt>
                <c:pt idx="932">
                  <c:v>105584</c:v>
                </c:pt>
                <c:pt idx="933">
                  <c:v>108772</c:v>
                </c:pt>
                <c:pt idx="934">
                  <c:v>109183</c:v>
                </c:pt>
                <c:pt idx="935">
                  <c:v>110066</c:v>
                </c:pt>
                <c:pt idx="936">
                  <c:v>111371</c:v>
                </c:pt>
                <c:pt idx="937">
                  <c:v>114862</c:v>
                </c:pt>
                <c:pt idx="938">
                  <c:v>120959</c:v>
                </c:pt>
                <c:pt idx="939">
                  <c:v>124080</c:v>
                </c:pt>
                <c:pt idx="940">
                  <c:v>128566</c:v>
                </c:pt>
                <c:pt idx="941">
                  <c:v>138687</c:v>
                </c:pt>
                <c:pt idx="942">
                  <c:v>143372</c:v>
                </c:pt>
              </c:numCache>
            </c:numRef>
          </c:yVal>
          <c:smooth val="0"/>
          <c:extLst>
            <c:ext xmlns:c16="http://schemas.microsoft.com/office/drawing/2014/chart" uri="{C3380CC4-5D6E-409C-BE32-E72D297353CC}">
              <c16:uniqueId val="{00000001-A6C2-4C08-9A2C-13704BF64019}"/>
            </c:ext>
          </c:extLst>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c:v>
                </c:pt>
                <c:pt idx="1">
                  <c:v>2789</c:v>
                </c:pt>
                <c:pt idx="2">
                  <c:v>7765</c:v>
                </c:pt>
                <c:pt idx="3">
                  <c:v>12675</c:v>
                </c:pt>
                <c:pt idx="4">
                  <c:v>10680</c:v>
                </c:pt>
                <c:pt idx="5">
                  <c:v>12945</c:v>
                </c:pt>
                <c:pt idx="6">
                  <c:v>10176</c:v>
                </c:pt>
                <c:pt idx="7">
                  <c:v>9922</c:v>
                </c:pt>
                <c:pt idx="8">
                  <c:v>10990</c:v>
                </c:pt>
                <c:pt idx="9">
                  <c:v>9686</c:v>
                </c:pt>
                <c:pt idx="10">
                  <c:v>5258</c:v>
                </c:pt>
                <c:pt idx="11">
                  <c:v>11504</c:v>
                </c:pt>
                <c:pt idx="12">
                  <c:v>13096</c:v>
                </c:pt>
                <c:pt idx="13">
                  <c:v>14810</c:v>
                </c:pt>
                <c:pt idx="14">
                  <c:v>8484</c:v>
                </c:pt>
                <c:pt idx="15">
                  <c:v>20435</c:v>
                </c:pt>
                <c:pt idx="16">
                  <c:v>6842</c:v>
                </c:pt>
                <c:pt idx="17">
                  <c:v>1807</c:v>
                </c:pt>
                <c:pt idx="18">
                  <c:v>12653</c:v>
                </c:pt>
                <c:pt idx="19">
                  <c:v>8767</c:v>
                </c:pt>
                <c:pt idx="20">
                  <c:v>9175</c:v>
                </c:pt>
                <c:pt idx="21">
                  <c:v>8598</c:v>
                </c:pt>
                <c:pt idx="22">
                  <c:v>8040</c:v>
                </c:pt>
                <c:pt idx="23">
                  <c:v>13265</c:v>
                </c:pt>
                <c:pt idx="24">
                  <c:v>7770</c:v>
                </c:pt>
                <c:pt idx="25">
                  <c:v>10338</c:v>
                </c:pt>
                <c:pt idx="26">
                  <c:v>3957</c:v>
                </c:pt>
                <c:pt idx="27">
                  <c:v>14287</c:v>
                </c:pt>
                <c:pt idx="28">
                  <c:v>7177</c:v>
                </c:pt>
                <c:pt idx="29">
                  <c:v>6440</c:v>
                </c:pt>
                <c:pt idx="30">
                  <c:v>1133</c:v>
                </c:pt>
                <c:pt idx="31">
                  <c:v>14265</c:v>
                </c:pt>
                <c:pt idx="32">
                  <c:v>8105</c:v>
                </c:pt>
                <c:pt idx="33">
                  <c:v>5364</c:v>
                </c:pt>
                <c:pt idx="34">
                  <c:v>8172</c:v>
                </c:pt>
                <c:pt idx="35">
                  <c:v>7276</c:v>
                </c:pt>
                <c:pt idx="36">
                  <c:v>12088</c:v>
                </c:pt>
                <c:pt idx="37">
                  <c:v>13684</c:v>
                </c:pt>
                <c:pt idx="38">
                  <c:v>18097</c:v>
                </c:pt>
                <c:pt idx="39">
                  <c:v>3815</c:v>
                </c:pt>
                <c:pt idx="40">
                  <c:v>4904</c:v>
                </c:pt>
                <c:pt idx="41">
                  <c:v>7469</c:v>
                </c:pt>
                <c:pt idx="42">
                  <c:v>12798</c:v>
                </c:pt>
                <c:pt idx="43">
                  <c:v>16590</c:v>
                </c:pt>
                <c:pt idx="44">
                  <c:v>23836</c:v>
                </c:pt>
                <c:pt idx="45">
                  <c:v>8889</c:v>
                </c:pt>
                <c:pt idx="46">
                  <c:v>8522</c:v>
                </c:pt>
                <c:pt idx="47">
                  <c:v>8471</c:v>
                </c:pt>
                <c:pt idx="48">
                  <c:v>14006</c:v>
                </c:pt>
                <c:pt idx="49">
                  <c:v>15261</c:v>
                </c:pt>
                <c:pt idx="50">
                  <c:v>19092</c:v>
                </c:pt>
                <c:pt idx="51">
                  <c:v>14381</c:v>
                </c:pt>
                <c:pt idx="52">
                  <c:v>4571</c:v>
                </c:pt>
                <c:pt idx="53">
                  <c:v>5203</c:v>
                </c:pt>
                <c:pt idx="54">
                  <c:v>3877</c:v>
                </c:pt>
                <c:pt idx="55">
                  <c:v>6364</c:v>
                </c:pt>
                <c:pt idx="56">
                  <c:v>10912</c:v>
                </c:pt>
                <c:pt idx="57">
                  <c:v>7892</c:v>
                </c:pt>
                <c:pt idx="58">
                  <c:v>5012</c:v>
                </c:pt>
                <c:pt idx="59">
                  <c:v>22356</c:v>
                </c:pt>
                <c:pt idx="60">
                  <c:v>10924</c:v>
                </c:pt>
                <c:pt idx="61">
                  <c:v>11139</c:v>
                </c:pt>
                <c:pt idx="62">
                  <c:v>9427</c:v>
                </c:pt>
                <c:pt idx="63">
                  <c:v>17621</c:v>
                </c:pt>
                <c:pt idx="64">
                  <c:v>11898</c:v>
                </c:pt>
                <c:pt idx="65">
                  <c:v>12361</c:v>
                </c:pt>
                <c:pt idx="66">
                  <c:v>7035</c:v>
                </c:pt>
                <c:pt idx="67">
                  <c:v>10574</c:v>
                </c:pt>
                <c:pt idx="68">
                  <c:v>19809</c:v>
                </c:pt>
                <c:pt idx="69">
                  <c:v>11225</c:v>
                </c:pt>
                <c:pt idx="70">
                  <c:v>12767</c:v>
                </c:pt>
                <c:pt idx="71">
                  <c:v>6135</c:v>
                </c:pt>
                <c:pt idx="72">
                  <c:v>8970</c:v>
                </c:pt>
                <c:pt idx="73">
                  <c:v>12970</c:v>
                </c:pt>
                <c:pt idx="74">
                  <c:v>13286</c:v>
                </c:pt>
                <c:pt idx="75">
                  <c:v>6624</c:v>
                </c:pt>
                <c:pt idx="76">
                  <c:v>13540</c:v>
                </c:pt>
                <c:pt idx="77">
                  <c:v>16527</c:v>
                </c:pt>
                <c:pt idx="78">
                  <c:v>7065</c:v>
                </c:pt>
                <c:pt idx="79">
                  <c:v>4128</c:v>
                </c:pt>
                <c:pt idx="80">
                  <c:v>14027</c:v>
                </c:pt>
                <c:pt idx="81">
                  <c:v>15363</c:v>
                </c:pt>
                <c:pt idx="82">
                  <c:v>1471</c:v>
                </c:pt>
                <c:pt idx="83">
                  <c:v>12366</c:v>
                </c:pt>
                <c:pt idx="84">
                  <c:v>12007</c:v>
                </c:pt>
                <c:pt idx="85">
                  <c:v>13251</c:v>
                </c:pt>
                <c:pt idx="86">
                  <c:v>9966</c:v>
                </c:pt>
                <c:pt idx="87">
                  <c:v>15796</c:v>
                </c:pt>
                <c:pt idx="88">
                  <c:v>12335</c:v>
                </c:pt>
                <c:pt idx="89">
                  <c:v>17683</c:v>
                </c:pt>
                <c:pt idx="90">
                  <c:v>15359</c:v>
                </c:pt>
                <c:pt idx="91">
                  <c:v>9862</c:v>
                </c:pt>
                <c:pt idx="92">
                  <c:v>15314</c:v>
                </c:pt>
                <c:pt idx="93">
                  <c:v>14977</c:v>
                </c:pt>
                <c:pt idx="94">
                  <c:v>6928</c:v>
                </c:pt>
                <c:pt idx="95">
                  <c:v>9793</c:v>
                </c:pt>
                <c:pt idx="96">
                  <c:v>16558</c:v>
                </c:pt>
                <c:pt idx="97">
                  <c:v>15939</c:v>
                </c:pt>
                <c:pt idx="98">
                  <c:v>15366</c:v>
                </c:pt>
                <c:pt idx="99">
                  <c:v>5130</c:v>
                </c:pt>
                <c:pt idx="100">
                  <c:v>20077</c:v>
                </c:pt>
                <c:pt idx="101">
                  <c:v>10260</c:v>
                </c:pt>
                <c:pt idx="102">
                  <c:v>7247</c:v>
                </c:pt>
                <c:pt idx="103">
                  <c:v>23405</c:v>
                </c:pt>
                <c:pt idx="104">
                  <c:v>11386</c:v>
                </c:pt>
                <c:pt idx="105">
                  <c:v>10990</c:v>
                </c:pt>
                <c:pt idx="106">
                  <c:v>12250</c:v>
                </c:pt>
                <c:pt idx="107">
                  <c:v>15882</c:v>
                </c:pt>
                <c:pt idx="108">
                  <c:v>7813</c:v>
                </c:pt>
                <c:pt idx="109">
                  <c:v>21708</c:v>
                </c:pt>
                <c:pt idx="110">
                  <c:v>10701</c:v>
                </c:pt>
                <c:pt idx="111">
                  <c:v>12684</c:v>
                </c:pt>
                <c:pt idx="112">
                  <c:v>10648</c:v>
                </c:pt>
                <c:pt idx="113">
                  <c:v>16524</c:v>
                </c:pt>
                <c:pt idx="114">
                  <c:v>9735</c:v>
                </c:pt>
                <c:pt idx="115">
                  <c:v>13739</c:v>
                </c:pt>
                <c:pt idx="116">
                  <c:v>10104</c:v>
                </c:pt>
                <c:pt idx="117">
                  <c:v>12980</c:v>
                </c:pt>
                <c:pt idx="118">
                  <c:v>13224</c:v>
                </c:pt>
                <c:pt idx="119">
                  <c:v>16857</c:v>
                </c:pt>
                <c:pt idx="120">
                  <c:v>10846</c:v>
                </c:pt>
                <c:pt idx="121">
                  <c:v>16784</c:v>
                </c:pt>
                <c:pt idx="122">
                  <c:v>13115</c:v>
                </c:pt>
                <c:pt idx="123">
                  <c:v>16039</c:v>
                </c:pt>
                <c:pt idx="124">
                  <c:v>15282</c:v>
                </c:pt>
                <c:pt idx="125">
                  <c:v>9096</c:v>
                </c:pt>
                <c:pt idx="126">
                  <c:v>15489</c:v>
                </c:pt>
                <c:pt idx="127">
                  <c:v>15983</c:v>
                </c:pt>
                <c:pt idx="128">
                  <c:v>7413</c:v>
                </c:pt>
                <c:pt idx="129">
                  <c:v>8653</c:v>
                </c:pt>
                <c:pt idx="130">
                  <c:v>8683</c:v>
                </c:pt>
                <c:pt idx="131">
                  <c:v>18701</c:v>
                </c:pt>
                <c:pt idx="132">
                  <c:v>8039</c:v>
                </c:pt>
                <c:pt idx="133">
                  <c:v>18913</c:v>
                </c:pt>
                <c:pt idx="134">
                  <c:v>14279</c:v>
                </c:pt>
                <c:pt idx="135">
                  <c:v>17248</c:v>
                </c:pt>
                <c:pt idx="136">
                  <c:v>24319</c:v>
                </c:pt>
                <c:pt idx="137">
                  <c:v>9210</c:v>
                </c:pt>
                <c:pt idx="138">
                  <c:v>13479</c:v>
                </c:pt>
                <c:pt idx="139">
                  <c:v>12710</c:v>
                </c:pt>
                <c:pt idx="140">
                  <c:v>11135</c:v>
                </c:pt>
                <c:pt idx="141">
                  <c:v>12542</c:v>
                </c:pt>
                <c:pt idx="142">
                  <c:v>13799</c:v>
                </c:pt>
                <c:pt idx="143">
                  <c:v>20787</c:v>
                </c:pt>
                <c:pt idx="144">
                  <c:v>13570</c:v>
                </c:pt>
                <c:pt idx="145">
                  <c:v>12170</c:v>
                </c:pt>
                <c:pt idx="146">
                  <c:v>12947</c:v>
                </c:pt>
                <c:pt idx="147">
                  <c:v>12997</c:v>
                </c:pt>
                <c:pt idx="148">
                  <c:v>15840</c:v>
                </c:pt>
                <c:pt idx="149">
                  <c:v>11641</c:v>
                </c:pt>
                <c:pt idx="150">
                  <c:v>12193</c:v>
                </c:pt>
                <c:pt idx="151">
                  <c:v>10999</c:v>
                </c:pt>
                <c:pt idx="152">
                  <c:v>14459</c:v>
                </c:pt>
                <c:pt idx="153">
                  <c:v>11040</c:v>
                </c:pt>
                <c:pt idx="154">
                  <c:v>15103</c:v>
                </c:pt>
                <c:pt idx="155">
                  <c:v>13171</c:v>
                </c:pt>
                <c:pt idx="156">
                  <c:v>14838</c:v>
                </c:pt>
                <c:pt idx="157">
                  <c:v>16511</c:v>
                </c:pt>
                <c:pt idx="158">
                  <c:v>15635</c:v>
                </c:pt>
                <c:pt idx="159">
                  <c:v>12411</c:v>
                </c:pt>
                <c:pt idx="160">
                  <c:v>17296</c:v>
                </c:pt>
                <c:pt idx="161">
                  <c:v>7502</c:v>
                </c:pt>
                <c:pt idx="162">
                  <c:v>12493</c:v>
                </c:pt>
                <c:pt idx="163">
                  <c:v>13154</c:v>
                </c:pt>
                <c:pt idx="164">
                  <c:v>9977</c:v>
                </c:pt>
                <c:pt idx="165">
                  <c:v>5718</c:v>
                </c:pt>
                <c:pt idx="166">
                  <c:v>13946</c:v>
                </c:pt>
                <c:pt idx="167">
                  <c:v>15911</c:v>
                </c:pt>
                <c:pt idx="168">
                  <c:v>8317</c:v>
                </c:pt>
                <c:pt idx="169">
                  <c:v>13466</c:v>
                </c:pt>
                <c:pt idx="170">
                  <c:v>16425</c:v>
                </c:pt>
                <c:pt idx="171">
                  <c:v>9032</c:v>
                </c:pt>
                <c:pt idx="172">
                  <c:v>12549</c:v>
                </c:pt>
                <c:pt idx="173">
                  <c:v>13606</c:v>
                </c:pt>
                <c:pt idx="174">
                  <c:v>11632</c:v>
                </c:pt>
                <c:pt idx="175">
                  <c:v>15360</c:v>
                </c:pt>
                <c:pt idx="176">
                  <c:v>13530</c:v>
                </c:pt>
                <c:pt idx="177">
                  <c:v>14085</c:v>
                </c:pt>
                <c:pt idx="178">
                  <c:v>8134</c:v>
                </c:pt>
                <c:pt idx="179">
                  <c:v>15343</c:v>
                </c:pt>
                <c:pt idx="180">
                  <c:v>13966</c:v>
                </c:pt>
                <c:pt idx="181">
                  <c:v>15931</c:v>
                </c:pt>
                <c:pt idx="182">
                  <c:v>7022</c:v>
                </c:pt>
                <c:pt idx="183">
                  <c:v>7888</c:v>
                </c:pt>
                <c:pt idx="184">
                  <c:v>16261</c:v>
                </c:pt>
                <c:pt idx="185">
                  <c:v>12923</c:v>
                </c:pt>
                <c:pt idx="186">
                  <c:v>15812</c:v>
                </c:pt>
                <c:pt idx="187">
                  <c:v>13171</c:v>
                </c:pt>
                <c:pt idx="188">
                  <c:v>13338</c:v>
                </c:pt>
                <c:pt idx="189">
                  <c:v>10740</c:v>
                </c:pt>
                <c:pt idx="190">
                  <c:v>15844</c:v>
                </c:pt>
                <c:pt idx="191">
                  <c:v>11456</c:v>
                </c:pt>
                <c:pt idx="192">
                  <c:v>11856</c:v>
                </c:pt>
                <c:pt idx="193">
                  <c:v>15268</c:v>
                </c:pt>
                <c:pt idx="194">
                  <c:v>13624</c:v>
                </c:pt>
                <c:pt idx="195">
                  <c:v>12384</c:v>
                </c:pt>
                <c:pt idx="196">
                  <c:v>16244</c:v>
                </c:pt>
                <c:pt idx="197">
                  <c:v>24022</c:v>
                </c:pt>
                <c:pt idx="198">
                  <c:v>7195</c:v>
                </c:pt>
                <c:pt idx="199">
                  <c:v>14656</c:v>
                </c:pt>
                <c:pt idx="200">
                  <c:v>16068</c:v>
                </c:pt>
                <c:pt idx="201">
                  <c:v>10965</c:v>
                </c:pt>
                <c:pt idx="202">
                  <c:v>6079</c:v>
                </c:pt>
                <c:pt idx="203">
                  <c:v>18309</c:v>
                </c:pt>
                <c:pt idx="204">
                  <c:v>3637</c:v>
                </c:pt>
                <c:pt idx="205">
                  <c:v>10873</c:v>
                </c:pt>
                <c:pt idx="206">
                  <c:v>12397</c:v>
                </c:pt>
                <c:pt idx="207">
                  <c:v>13787</c:v>
                </c:pt>
                <c:pt idx="208">
                  <c:v>12357</c:v>
                </c:pt>
                <c:pt idx="209">
                  <c:v>14246</c:v>
                </c:pt>
                <c:pt idx="210">
                  <c:v>13359</c:v>
                </c:pt>
                <c:pt idx="211">
                  <c:v>13557</c:v>
                </c:pt>
                <c:pt idx="212">
                  <c:v>17510</c:v>
                </c:pt>
                <c:pt idx="213">
                  <c:v>12019</c:v>
                </c:pt>
                <c:pt idx="214">
                  <c:v>10892</c:v>
                </c:pt>
                <c:pt idx="215">
                  <c:v>12569</c:v>
                </c:pt>
                <c:pt idx="216">
                  <c:v>17936</c:v>
                </c:pt>
                <c:pt idx="217">
                  <c:v>12822</c:v>
                </c:pt>
                <c:pt idx="218">
                  <c:v>9364</c:v>
                </c:pt>
                <c:pt idx="219">
                  <c:v>16732</c:v>
                </c:pt>
                <c:pt idx="220">
                  <c:v>8365</c:v>
                </c:pt>
                <c:pt idx="221">
                  <c:v>13910</c:v>
                </c:pt>
                <c:pt idx="222">
                  <c:v>11363</c:v>
                </c:pt>
                <c:pt idx="223">
                  <c:v>10945</c:v>
                </c:pt>
                <c:pt idx="224">
                  <c:v>5127</c:v>
                </c:pt>
                <c:pt idx="225">
                  <c:v>17648</c:v>
                </c:pt>
                <c:pt idx="226">
                  <c:v>13315</c:v>
                </c:pt>
                <c:pt idx="227">
                  <c:v>11081</c:v>
                </c:pt>
                <c:pt idx="228">
                  <c:v>15415</c:v>
                </c:pt>
                <c:pt idx="229">
                  <c:v>12664</c:v>
                </c:pt>
                <c:pt idx="230">
                  <c:v>14462</c:v>
                </c:pt>
                <c:pt idx="231">
                  <c:v>12786</c:v>
                </c:pt>
                <c:pt idx="232">
                  <c:v>12220</c:v>
                </c:pt>
                <c:pt idx="233">
                  <c:v>4831</c:v>
                </c:pt>
                <c:pt idx="234">
                  <c:v>14260</c:v>
                </c:pt>
                <c:pt idx="235">
                  <c:v>9366</c:v>
                </c:pt>
                <c:pt idx="236">
                  <c:v>15280</c:v>
                </c:pt>
                <c:pt idx="237">
                  <c:v>17613</c:v>
                </c:pt>
                <c:pt idx="238">
                  <c:v>3968</c:v>
                </c:pt>
                <c:pt idx="239">
                  <c:v>13596</c:v>
                </c:pt>
                <c:pt idx="240">
                  <c:v>16242</c:v>
                </c:pt>
                <c:pt idx="241">
                  <c:v>17148</c:v>
                </c:pt>
                <c:pt idx="242">
                  <c:v>15091</c:v>
                </c:pt>
                <c:pt idx="243">
                  <c:v>9823</c:v>
                </c:pt>
                <c:pt idx="244">
                  <c:v>8191</c:v>
                </c:pt>
                <c:pt idx="245">
                  <c:v>10462</c:v>
                </c:pt>
                <c:pt idx="246">
                  <c:v>11841</c:v>
                </c:pt>
                <c:pt idx="247">
                  <c:v>18212</c:v>
                </c:pt>
                <c:pt idx="248">
                  <c:v>15016</c:v>
                </c:pt>
                <c:pt idx="249">
                  <c:v>17997</c:v>
                </c:pt>
                <c:pt idx="250">
                  <c:v>15784</c:v>
                </c:pt>
                <c:pt idx="251">
                  <c:v>17249</c:v>
                </c:pt>
                <c:pt idx="252">
                  <c:v>6817</c:v>
                </c:pt>
                <c:pt idx="253">
                  <c:v>14985</c:v>
                </c:pt>
                <c:pt idx="254">
                  <c:v>13803</c:v>
                </c:pt>
                <c:pt idx="255">
                  <c:v>14092</c:v>
                </c:pt>
                <c:pt idx="256">
                  <c:v>19487</c:v>
                </c:pt>
                <c:pt idx="257">
                  <c:v>8837</c:v>
                </c:pt>
                <c:pt idx="258">
                  <c:v>9403</c:v>
                </c:pt>
                <c:pt idx="259">
                  <c:v>21057</c:v>
                </c:pt>
                <c:pt idx="260">
                  <c:v>13314</c:v>
                </c:pt>
                <c:pt idx="261">
                  <c:v>16804</c:v>
                </c:pt>
                <c:pt idx="262">
                  <c:v>7482</c:v>
                </c:pt>
                <c:pt idx="263">
                  <c:v>11772</c:v>
                </c:pt>
                <c:pt idx="264">
                  <c:v>14265</c:v>
                </c:pt>
                <c:pt idx="265">
                  <c:v>15291</c:v>
                </c:pt>
                <c:pt idx="266">
                  <c:v>12090</c:v>
                </c:pt>
                <c:pt idx="267">
                  <c:v>17595</c:v>
                </c:pt>
                <c:pt idx="268">
                  <c:v>13194</c:v>
                </c:pt>
                <c:pt idx="269">
                  <c:v>17225</c:v>
                </c:pt>
                <c:pt idx="270">
                  <c:v>21610</c:v>
                </c:pt>
                <c:pt idx="271">
                  <c:v>12703</c:v>
                </c:pt>
                <c:pt idx="272">
                  <c:v>15407</c:v>
                </c:pt>
                <c:pt idx="273">
                  <c:v>17237</c:v>
                </c:pt>
                <c:pt idx="274">
                  <c:v>14940</c:v>
                </c:pt>
                <c:pt idx="275">
                  <c:v>16836</c:v>
                </c:pt>
                <c:pt idx="276">
                  <c:v>15225</c:v>
                </c:pt>
                <c:pt idx="277">
                  <c:v>15301</c:v>
                </c:pt>
                <c:pt idx="278">
                  <c:v>19858</c:v>
                </c:pt>
                <c:pt idx="279">
                  <c:v>10775</c:v>
                </c:pt>
                <c:pt idx="280">
                  <c:v>12786</c:v>
                </c:pt>
                <c:pt idx="281">
                  <c:v>14559</c:v>
                </c:pt>
                <c:pt idx="282">
                  <c:v>10327</c:v>
                </c:pt>
                <c:pt idx="283">
                  <c:v>15327</c:v>
                </c:pt>
                <c:pt idx="284">
                  <c:v>14764</c:v>
                </c:pt>
                <c:pt idx="285">
                  <c:v>17760</c:v>
                </c:pt>
                <c:pt idx="286">
                  <c:v>14109</c:v>
                </c:pt>
                <c:pt idx="287">
                  <c:v>11864</c:v>
                </c:pt>
                <c:pt idx="288">
                  <c:v>11346</c:v>
                </c:pt>
                <c:pt idx="289">
                  <c:v>19066</c:v>
                </c:pt>
                <c:pt idx="290">
                  <c:v>16114</c:v>
                </c:pt>
                <c:pt idx="291">
                  <c:v>13369</c:v>
                </c:pt>
                <c:pt idx="292">
                  <c:v>25110</c:v>
                </c:pt>
                <c:pt idx="293">
                  <c:v>21637</c:v>
                </c:pt>
                <c:pt idx="294">
                  <c:v>11890</c:v>
                </c:pt>
                <c:pt idx="295">
                  <c:v>16053</c:v>
                </c:pt>
                <c:pt idx="296">
                  <c:v>19608</c:v>
                </c:pt>
                <c:pt idx="297">
                  <c:v>15071</c:v>
                </c:pt>
                <c:pt idx="298">
                  <c:v>20783</c:v>
                </c:pt>
                <c:pt idx="299">
                  <c:v>14068</c:v>
                </c:pt>
                <c:pt idx="300">
                  <c:v>7007</c:v>
                </c:pt>
                <c:pt idx="301">
                  <c:v>15267</c:v>
                </c:pt>
                <c:pt idx="302">
                  <c:v>22499</c:v>
                </c:pt>
                <c:pt idx="303">
                  <c:v>13297</c:v>
                </c:pt>
                <c:pt idx="304">
                  <c:v>12766</c:v>
                </c:pt>
                <c:pt idx="305">
                  <c:v>5579</c:v>
                </c:pt>
                <c:pt idx="306">
                  <c:v>10542</c:v>
                </c:pt>
                <c:pt idx="307">
                  <c:v>15273</c:v>
                </c:pt>
                <c:pt idx="308">
                  <c:v>14578</c:v>
                </c:pt>
                <c:pt idx="309">
                  <c:v>15261</c:v>
                </c:pt>
                <c:pt idx="310">
                  <c:v>21331</c:v>
                </c:pt>
                <c:pt idx="311">
                  <c:v>14262</c:v>
                </c:pt>
                <c:pt idx="312">
                  <c:v>17988</c:v>
                </c:pt>
                <c:pt idx="313">
                  <c:v>13441</c:v>
                </c:pt>
                <c:pt idx="314">
                  <c:v>14936</c:v>
                </c:pt>
                <c:pt idx="315">
                  <c:v>11676</c:v>
                </c:pt>
                <c:pt idx="316">
                  <c:v>12937</c:v>
                </c:pt>
                <c:pt idx="317">
                  <c:v>16404</c:v>
                </c:pt>
                <c:pt idx="318">
                  <c:v>15897</c:v>
                </c:pt>
                <c:pt idx="319">
                  <c:v>16481</c:v>
                </c:pt>
                <c:pt idx="320">
                  <c:v>11196</c:v>
                </c:pt>
                <c:pt idx="321">
                  <c:v>17887</c:v>
                </c:pt>
                <c:pt idx="322">
                  <c:v>14158</c:v>
                </c:pt>
                <c:pt idx="323">
                  <c:v>14054</c:v>
                </c:pt>
                <c:pt idx="324">
                  <c:v>8109</c:v>
                </c:pt>
                <c:pt idx="325">
                  <c:v>16353</c:v>
                </c:pt>
                <c:pt idx="326">
                  <c:v>18749</c:v>
                </c:pt>
                <c:pt idx="327">
                  <c:v>19298</c:v>
                </c:pt>
                <c:pt idx="328">
                  <c:v>12568</c:v>
                </c:pt>
                <c:pt idx="329">
                  <c:v>15788</c:v>
                </c:pt>
                <c:pt idx="330">
                  <c:v>14831</c:v>
                </c:pt>
                <c:pt idx="331">
                  <c:v>8624</c:v>
                </c:pt>
                <c:pt idx="332">
                  <c:v>25648</c:v>
                </c:pt>
                <c:pt idx="333">
                  <c:v>14638</c:v>
                </c:pt>
                <c:pt idx="334">
                  <c:v>20109</c:v>
                </c:pt>
                <c:pt idx="335">
                  <c:v>15014</c:v>
                </c:pt>
                <c:pt idx="336">
                  <c:v>10359</c:v>
                </c:pt>
                <c:pt idx="337">
                  <c:v>20857</c:v>
                </c:pt>
                <c:pt idx="338">
                  <c:v>19841</c:v>
                </c:pt>
                <c:pt idx="339">
                  <c:v>10809</c:v>
                </c:pt>
                <c:pt idx="340">
                  <c:v>11286</c:v>
                </c:pt>
                <c:pt idx="341">
                  <c:v>28384</c:v>
                </c:pt>
                <c:pt idx="342">
                  <c:v>15739</c:v>
                </c:pt>
                <c:pt idx="343">
                  <c:v>15901</c:v>
                </c:pt>
                <c:pt idx="344">
                  <c:v>11668</c:v>
                </c:pt>
                <c:pt idx="345">
                  <c:v>20787</c:v>
                </c:pt>
                <c:pt idx="346">
                  <c:v>14158</c:v>
                </c:pt>
                <c:pt idx="347">
                  <c:v>6376</c:v>
                </c:pt>
                <c:pt idx="348">
                  <c:v>16715</c:v>
                </c:pt>
                <c:pt idx="349">
                  <c:v>14305</c:v>
                </c:pt>
                <c:pt idx="350">
                  <c:v>10051</c:v>
                </c:pt>
                <c:pt idx="351">
                  <c:v>11656</c:v>
                </c:pt>
                <c:pt idx="352">
                  <c:v>18952</c:v>
                </c:pt>
                <c:pt idx="353">
                  <c:v>13529</c:v>
                </c:pt>
                <c:pt idx="354">
                  <c:v>17597</c:v>
                </c:pt>
                <c:pt idx="355">
                  <c:v>9197</c:v>
                </c:pt>
                <c:pt idx="356">
                  <c:v>9337</c:v>
                </c:pt>
                <c:pt idx="357">
                  <c:v>15634</c:v>
                </c:pt>
                <c:pt idx="358">
                  <c:v>12723</c:v>
                </c:pt>
                <c:pt idx="359">
                  <c:v>16317</c:v>
                </c:pt>
                <c:pt idx="360">
                  <c:v>18134</c:v>
                </c:pt>
                <c:pt idx="361">
                  <c:v>3203</c:v>
                </c:pt>
                <c:pt idx="362">
                  <c:v>12780</c:v>
                </c:pt>
                <c:pt idx="363">
                  <c:v>10258</c:v>
                </c:pt>
                <c:pt idx="364">
                  <c:v>11430</c:v>
                </c:pt>
                <c:pt idx="365">
                  <c:v>9478</c:v>
                </c:pt>
                <c:pt idx="366">
                  <c:v>10154</c:v>
                </c:pt>
                <c:pt idx="367">
                  <c:v>14889</c:v>
                </c:pt>
                <c:pt idx="368">
                  <c:v>23726</c:v>
                </c:pt>
                <c:pt idx="369">
                  <c:v>17156</c:v>
                </c:pt>
                <c:pt idx="370">
                  <c:v>18960</c:v>
                </c:pt>
                <c:pt idx="371">
                  <c:v>21067</c:v>
                </c:pt>
                <c:pt idx="372">
                  <c:v>11963</c:v>
                </c:pt>
                <c:pt idx="373">
                  <c:v>15996</c:v>
                </c:pt>
                <c:pt idx="374">
                  <c:v>8752</c:v>
                </c:pt>
                <c:pt idx="375">
                  <c:v>13599</c:v>
                </c:pt>
                <c:pt idx="376">
                  <c:v>17747</c:v>
                </c:pt>
                <c:pt idx="377">
                  <c:v>16805</c:v>
                </c:pt>
                <c:pt idx="378">
                  <c:v>19139</c:v>
                </c:pt>
                <c:pt idx="379">
                  <c:v>4456</c:v>
                </c:pt>
                <c:pt idx="380">
                  <c:v>15649</c:v>
                </c:pt>
                <c:pt idx="381">
                  <c:v>13323</c:v>
                </c:pt>
                <c:pt idx="382">
                  <c:v>9833</c:v>
                </c:pt>
                <c:pt idx="383">
                  <c:v>10836</c:v>
                </c:pt>
                <c:pt idx="384">
                  <c:v>8615</c:v>
                </c:pt>
                <c:pt idx="385">
                  <c:v>12447</c:v>
                </c:pt>
                <c:pt idx="386">
                  <c:v>19406</c:v>
                </c:pt>
                <c:pt idx="387">
                  <c:v>15435</c:v>
                </c:pt>
                <c:pt idx="388">
                  <c:v>19216</c:v>
                </c:pt>
                <c:pt idx="389">
                  <c:v>16721</c:v>
                </c:pt>
                <c:pt idx="390">
                  <c:v>17447</c:v>
                </c:pt>
                <c:pt idx="391">
                  <c:v>16383</c:v>
                </c:pt>
                <c:pt idx="392">
                  <c:v>15048</c:v>
                </c:pt>
                <c:pt idx="393">
                  <c:v>16236</c:v>
                </c:pt>
                <c:pt idx="394">
                  <c:v>20670</c:v>
                </c:pt>
                <c:pt idx="395">
                  <c:v>15664</c:v>
                </c:pt>
                <c:pt idx="396">
                  <c:v>9812</c:v>
                </c:pt>
                <c:pt idx="397">
                  <c:v>18745</c:v>
                </c:pt>
                <c:pt idx="398">
                  <c:v>13391</c:v>
                </c:pt>
                <c:pt idx="399">
                  <c:v>13886</c:v>
                </c:pt>
                <c:pt idx="400">
                  <c:v>9552</c:v>
                </c:pt>
                <c:pt idx="401">
                  <c:v>3148</c:v>
                </c:pt>
                <c:pt idx="402">
                  <c:v>12212</c:v>
                </c:pt>
                <c:pt idx="403">
                  <c:v>18809</c:v>
                </c:pt>
                <c:pt idx="404">
                  <c:v>17490</c:v>
                </c:pt>
                <c:pt idx="405">
                  <c:v>23433</c:v>
                </c:pt>
                <c:pt idx="406">
                  <c:v>20686</c:v>
                </c:pt>
                <c:pt idx="407">
                  <c:v>12329</c:v>
                </c:pt>
                <c:pt idx="408">
                  <c:v>18209</c:v>
                </c:pt>
                <c:pt idx="409">
                  <c:v>10411</c:v>
                </c:pt>
                <c:pt idx="410">
                  <c:v>11282</c:v>
                </c:pt>
                <c:pt idx="411">
                  <c:v>17503</c:v>
                </c:pt>
                <c:pt idx="412">
                  <c:v>16550</c:v>
                </c:pt>
                <c:pt idx="413">
                  <c:v>16857</c:v>
                </c:pt>
                <c:pt idx="414">
                  <c:v>9120</c:v>
                </c:pt>
                <c:pt idx="415">
                  <c:v>15563</c:v>
                </c:pt>
                <c:pt idx="416">
                  <c:v>5652</c:v>
                </c:pt>
                <c:pt idx="417">
                  <c:v>18851</c:v>
                </c:pt>
                <c:pt idx="418">
                  <c:v>7021</c:v>
                </c:pt>
                <c:pt idx="419">
                  <c:v>17604</c:v>
                </c:pt>
                <c:pt idx="420">
                  <c:v>3967</c:v>
                </c:pt>
                <c:pt idx="421">
                  <c:v>22420</c:v>
                </c:pt>
                <c:pt idx="422">
                  <c:v>13663</c:v>
                </c:pt>
                <c:pt idx="423">
                  <c:v>13310</c:v>
                </c:pt>
                <c:pt idx="424">
                  <c:v>9492</c:v>
                </c:pt>
                <c:pt idx="425">
                  <c:v>4564</c:v>
                </c:pt>
                <c:pt idx="426">
                  <c:v>16674</c:v>
                </c:pt>
                <c:pt idx="427">
                  <c:v>22408</c:v>
                </c:pt>
                <c:pt idx="428">
                  <c:v>18441</c:v>
                </c:pt>
                <c:pt idx="429">
                  <c:v>22345</c:v>
                </c:pt>
                <c:pt idx="430">
                  <c:v>9288</c:v>
                </c:pt>
                <c:pt idx="431">
                  <c:v>18976</c:v>
                </c:pt>
                <c:pt idx="432">
                  <c:v>16210</c:v>
                </c:pt>
                <c:pt idx="433">
                  <c:v>19158</c:v>
                </c:pt>
                <c:pt idx="434">
                  <c:v>11488</c:v>
                </c:pt>
                <c:pt idx="435">
                  <c:v>12940</c:v>
                </c:pt>
                <c:pt idx="436">
                  <c:v>14767</c:v>
                </c:pt>
                <c:pt idx="437">
                  <c:v>16197</c:v>
                </c:pt>
                <c:pt idx="438">
                  <c:v>17339</c:v>
                </c:pt>
                <c:pt idx="439">
                  <c:v>23015</c:v>
                </c:pt>
                <c:pt idx="440">
                  <c:v>21279</c:v>
                </c:pt>
                <c:pt idx="441">
                  <c:v>20667</c:v>
                </c:pt>
                <c:pt idx="442">
                  <c:v>15927</c:v>
                </c:pt>
                <c:pt idx="443">
                  <c:v>13381</c:v>
                </c:pt>
                <c:pt idx="444">
                  <c:v>3103</c:v>
                </c:pt>
                <c:pt idx="445">
                  <c:v>7000</c:v>
                </c:pt>
                <c:pt idx="446">
                  <c:v>19151</c:v>
                </c:pt>
                <c:pt idx="447">
                  <c:v>23331</c:v>
                </c:pt>
                <c:pt idx="448">
                  <c:v>22182</c:v>
                </c:pt>
                <c:pt idx="449">
                  <c:v>13868</c:v>
                </c:pt>
                <c:pt idx="450">
                  <c:v>15566</c:v>
                </c:pt>
                <c:pt idx="451">
                  <c:v>28014</c:v>
                </c:pt>
                <c:pt idx="452">
                  <c:v>17743</c:v>
                </c:pt>
                <c:pt idx="453">
                  <c:v>18476</c:v>
                </c:pt>
                <c:pt idx="454">
                  <c:v>11297</c:v>
                </c:pt>
                <c:pt idx="455">
                  <c:v>16032</c:v>
                </c:pt>
                <c:pt idx="456">
                  <c:v>18796</c:v>
                </c:pt>
                <c:pt idx="457">
                  <c:v>18059</c:v>
                </c:pt>
                <c:pt idx="458">
                  <c:v>19398</c:v>
                </c:pt>
                <c:pt idx="459">
                  <c:v>9849</c:v>
                </c:pt>
                <c:pt idx="460">
                  <c:v>22811</c:v>
                </c:pt>
                <c:pt idx="461">
                  <c:v>15543</c:v>
                </c:pt>
                <c:pt idx="462">
                  <c:v>14276</c:v>
                </c:pt>
                <c:pt idx="463">
                  <c:v>19070</c:v>
                </c:pt>
                <c:pt idx="464">
                  <c:v>19343</c:v>
                </c:pt>
                <c:pt idx="465">
                  <c:v>21193</c:v>
                </c:pt>
                <c:pt idx="466">
                  <c:v>18743</c:v>
                </c:pt>
                <c:pt idx="467">
                  <c:v>14967</c:v>
                </c:pt>
                <c:pt idx="468">
                  <c:v>19095</c:v>
                </c:pt>
                <c:pt idx="469">
                  <c:v>4195</c:v>
                </c:pt>
                <c:pt idx="470">
                  <c:v>10229</c:v>
                </c:pt>
                <c:pt idx="471">
                  <c:v>6555</c:v>
                </c:pt>
                <c:pt idx="472">
                  <c:v>15300</c:v>
                </c:pt>
                <c:pt idx="473">
                  <c:v>2984</c:v>
                </c:pt>
                <c:pt idx="474">
                  <c:v>6067</c:v>
                </c:pt>
                <c:pt idx="475">
                  <c:v>13951</c:v>
                </c:pt>
                <c:pt idx="476">
                  <c:v>18589</c:v>
                </c:pt>
                <c:pt idx="477">
                  <c:v>20268</c:v>
                </c:pt>
                <c:pt idx="478">
                  <c:v>8370</c:v>
                </c:pt>
                <c:pt idx="479">
                  <c:v>18551</c:v>
                </c:pt>
                <c:pt idx="480">
                  <c:v>28198</c:v>
                </c:pt>
                <c:pt idx="481">
                  <c:v>16264</c:v>
                </c:pt>
                <c:pt idx="482">
                  <c:v>19604</c:v>
                </c:pt>
                <c:pt idx="483">
                  <c:v>14480</c:v>
                </c:pt>
                <c:pt idx="484">
                  <c:v>15815</c:v>
                </c:pt>
                <c:pt idx="485">
                  <c:v>11900</c:v>
                </c:pt>
                <c:pt idx="486">
                  <c:v>14164</c:v>
                </c:pt>
                <c:pt idx="487">
                  <c:v>11983</c:v>
                </c:pt>
                <c:pt idx="488">
                  <c:v>17413</c:v>
                </c:pt>
                <c:pt idx="489">
                  <c:v>10440</c:v>
                </c:pt>
                <c:pt idx="490">
                  <c:v>16863</c:v>
                </c:pt>
                <c:pt idx="491">
                  <c:v>22531</c:v>
                </c:pt>
                <c:pt idx="492">
                  <c:v>17163</c:v>
                </c:pt>
                <c:pt idx="493">
                  <c:v>9338</c:v>
                </c:pt>
                <c:pt idx="494">
                  <c:v>15364</c:v>
                </c:pt>
                <c:pt idx="495">
                  <c:v>22063</c:v>
                </c:pt>
                <c:pt idx="496">
                  <c:v>24323</c:v>
                </c:pt>
                <c:pt idx="497">
                  <c:v>32654</c:v>
                </c:pt>
                <c:pt idx="498">
                  <c:v>17707</c:v>
                </c:pt>
                <c:pt idx="499">
                  <c:v>12885</c:v>
                </c:pt>
                <c:pt idx="500">
                  <c:v>3776</c:v>
                </c:pt>
                <c:pt idx="501">
                  <c:v>15350</c:v>
                </c:pt>
                <c:pt idx="502">
                  <c:v>17945</c:v>
                </c:pt>
                <c:pt idx="503">
                  <c:v>18202</c:v>
                </c:pt>
                <c:pt idx="504">
                  <c:v>30434</c:v>
                </c:pt>
                <c:pt idx="505">
                  <c:v>9992</c:v>
                </c:pt>
                <c:pt idx="506">
                  <c:v>10864</c:v>
                </c:pt>
                <c:pt idx="507">
                  <c:v>23805</c:v>
                </c:pt>
                <c:pt idx="508">
                  <c:v>16200</c:v>
                </c:pt>
                <c:pt idx="509">
                  <c:v>19680</c:v>
                </c:pt>
                <c:pt idx="510">
                  <c:v>18211</c:v>
                </c:pt>
                <c:pt idx="511">
                  <c:v>18173</c:v>
                </c:pt>
                <c:pt idx="512">
                  <c:v>14304</c:v>
                </c:pt>
                <c:pt idx="513">
                  <c:v>17167</c:v>
                </c:pt>
                <c:pt idx="514">
                  <c:v>12278</c:v>
                </c:pt>
                <c:pt idx="515">
                  <c:v>18267</c:v>
                </c:pt>
                <c:pt idx="516">
                  <c:v>17890</c:v>
                </c:pt>
                <c:pt idx="517">
                  <c:v>13936</c:v>
                </c:pt>
                <c:pt idx="518">
                  <c:v>10974</c:v>
                </c:pt>
                <c:pt idx="519">
                  <c:v>17303</c:v>
                </c:pt>
                <c:pt idx="520">
                  <c:v>20927</c:v>
                </c:pt>
                <c:pt idx="521">
                  <c:v>14971</c:v>
                </c:pt>
                <c:pt idx="522">
                  <c:v>16778</c:v>
                </c:pt>
                <c:pt idx="523">
                  <c:v>25346</c:v>
                </c:pt>
                <c:pt idx="524">
                  <c:v>21440</c:v>
                </c:pt>
                <c:pt idx="525">
                  <c:v>10867</c:v>
                </c:pt>
                <c:pt idx="526">
                  <c:v>23322</c:v>
                </c:pt>
                <c:pt idx="527">
                  <c:v>16467</c:v>
                </c:pt>
                <c:pt idx="528">
                  <c:v>20995</c:v>
                </c:pt>
                <c:pt idx="529">
                  <c:v>9320</c:v>
                </c:pt>
                <c:pt idx="530">
                  <c:v>22253</c:v>
                </c:pt>
                <c:pt idx="531">
                  <c:v>4815</c:v>
                </c:pt>
                <c:pt idx="532">
                  <c:v>6541</c:v>
                </c:pt>
                <c:pt idx="533">
                  <c:v>22383</c:v>
                </c:pt>
                <c:pt idx="534">
                  <c:v>11531</c:v>
                </c:pt>
                <c:pt idx="535">
                  <c:v>20723</c:v>
                </c:pt>
                <c:pt idx="536">
                  <c:v>21315</c:v>
                </c:pt>
                <c:pt idx="537">
                  <c:v>11655</c:v>
                </c:pt>
                <c:pt idx="538">
                  <c:v>20183</c:v>
                </c:pt>
                <c:pt idx="539">
                  <c:v>15706</c:v>
                </c:pt>
                <c:pt idx="540">
                  <c:v>14600</c:v>
                </c:pt>
                <c:pt idx="541">
                  <c:v>17799</c:v>
                </c:pt>
                <c:pt idx="542">
                  <c:v>27646</c:v>
                </c:pt>
                <c:pt idx="543">
                  <c:v>19096</c:v>
                </c:pt>
                <c:pt idx="544">
                  <c:v>17354</c:v>
                </c:pt>
                <c:pt idx="545">
                  <c:v>25097</c:v>
                </c:pt>
                <c:pt idx="546">
                  <c:v>18745</c:v>
                </c:pt>
                <c:pt idx="547">
                  <c:v>19703</c:v>
                </c:pt>
                <c:pt idx="548">
                  <c:v>24406</c:v>
                </c:pt>
                <c:pt idx="549">
                  <c:v>18784</c:v>
                </c:pt>
                <c:pt idx="550">
                  <c:v>16109</c:v>
                </c:pt>
                <c:pt idx="551">
                  <c:v>19857</c:v>
                </c:pt>
                <c:pt idx="552">
                  <c:v>3033</c:v>
                </c:pt>
                <c:pt idx="553">
                  <c:v>17915</c:v>
                </c:pt>
                <c:pt idx="554">
                  <c:v>9873</c:v>
                </c:pt>
                <c:pt idx="555">
                  <c:v>16510</c:v>
                </c:pt>
                <c:pt idx="556">
                  <c:v>17113</c:v>
                </c:pt>
                <c:pt idx="557">
                  <c:v>14182</c:v>
                </c:pt>
                <c:pt idx="558">
                  <c:v>10163</c:v>
                </c:pt>
                <c:pt idx="559">
                  <c:v>12319</c:v>
                </c:pt>
                <c:pt idx="560">
                  <c:v>14091</c:v>
                </c:pt>
                <c:pt idx="561">
                  <c:v>13760</c:v>
                </c:pt>
                <c:pt idx="562">
                  <c:v>21620</c:v>
                </c:pt>
                <c:pt idx="563">
                  <c:v>14251</c:v>
                </c:pt>
                <c:pt idx="564">
                  <c:v>14741</c:v>
                </c:pt>
                <c:pt idx="565">
                  <c:v>14355</c:v>
                </c:pt>
                <c:pt idx="566">
                  <c:v>24953</c:v>
                </c:pt>
                <c:pt idx="567">
                  <c:v>21582</c:v>
                </c:pt>
                <c:pt idx="568">
                  <c:v>12548</c:v>
                </c:pt>
                <c:pt idx="569">
                  <c:v>15678</c:v>
                </c:pt>
                <c:pt idx="570">
                  <c:v>16298</c:v>
                </c:pt>
                <c:pt idx="571">
                  <c:v>13138</c:v>
                </c:pt>
                <c:pt idx="572">
                  <c:v>16504</c:v>
                </c:pt>
                <c:pt idx="573">
                  <c:v>12470</c:v>
                </c:pt>
                <c:pt idx="574">
                  <c:v>21565</c:v>
                </c:pt>
                <c:pt idx="575">
                  <c:v>23414</c:v>
                </c:pt>
                <c:pt idx="576">
                  <c:v>6174</c:v>
                </c:pt>
                <c:pt idx="577">
                  <c:v>16665</c:v>
                </c:pt>
                <c:pt idx="578">
                  <c:v>13481</c:v>
                </c:pt>
                <c:pt idx="579">
                  <c:v>20555</c:v>
                </c:pt>
                <c:pt idx="580">
                  <c:v>22367</c:v>
                </c:pt>
                <c:pt idx="581">
                  <c:v>28690</c:v>
                </c:pt>
                <c:pt idx="582">
                  <c:v>12116</c:v>
                </c:pt>
              </c:numCache>
            </c:numRef>
          </c:xVal>
          <c:yVal>
            <c:numRef>
              <c:f>Sheet1!$B$947:$B$1529</c:f>
              <c:numCache>
                <c:formatCode>General</c:formatCode>
                <c:ptCount val="583"/>
                <c:pt idx="0">
                  <c:v>23906</c:v>
                </c:pt>
                <c:pt idx="1">
                  <c:v>27836</c:v>
                </c:pt>
                <c:pt idx="2">
                  <c:v>27997</c:v>
                </c:pt>
                <c:pt idx="3">
                  <c:v>29521</c:v>
                </c:pt>
                <c:pt idx="4">
                  <c:v>30512</c:v>
                </c:pt>
                <c:pt idx="5">
                  <c:v>30626</c:v>
                </c:pt>
                <c:pt idx="6">
                  <c:v>30958</c:v>
                </c:pt>
                <c:pt idx="7">
                  <c:v>31088</c:v>
                </c:pt>
                <c:pt idx="8">
                  <c:v>31394</c:v>
                </c:pt>
                <c:pt idx="9">
                  <c:v>31919</c:v>
                </c:pt>
                <c:pt idx="10">
                  <c:v>33252</c:v>
                </c:pt>
                <c:pt idx="11">
                  <c:v>33261</c:v>
                </c:pt>
                <c:pt idx="12">
                  <c:v>33267</c:v>
                </c:pt>
                <c:pt idx="13">
                  <c:v>34042</c:v>
                </c:pt>
                <c:pt idx="14">
                  <c:v>34409</c:v>
                </c:pt>
                <c:pt idx="15">
                  <c:v>34502</c:v>
                </c:pt>
                <c:pt idx="16">
                  <c:v>34996</c:v>
                </c:pt>
                <c:pt idx="17">
                  <c:v>35171</c:v>
                </c:pt>
                <c:pt idx="18">
                  <c:v>35550</c:v>
                </c:pt>
                <c:pt idx="19">
                  <c:v>35697</c:v>
                </c:pt>
                <c:pt idx="20">
                  <c:v>35723</c:v>
                </c:pt>
                <c:pt idx="21">
                  <c:v>35946</c:v>
                </c:pt>
                <c:pt idx="22">
                  <c:v>36382</c:v>
                </c:pt>
                <c:pt idx="23">
                  <c:v>36421</c:v>
                </c:pt>
                <c:pt idx="24">
                  <c:v>36596</c:v>
                </c:pt>
                <c:pt idx="25">
                  <c:v>36666</c:v>
                </c:pt>
                <c:pt idx="26">
                  <c:v>36739</c:v>
                </c:pt>
                <c:pt idx="27">
                  <c:v>36902</c:v>
                </c:pt>
                <c:pt idx="28">
                  <c:v>37096</c:v>
                </c:pt>
                <c:pt idx="29">
                  <c:v>37195</c:v>
                </c:pt>
                <c:pt idx="30">
                  <c:v>37378</c:v>
                </c:pt>
                <c:pt idx="31">
                  <c:v>37837</c:v>
                </c:pt>
                <c:pt idx="32">
                  <c:v>37871</c:v>
                </c:pt>
                <c:pt idx="33">
                  <c:v>37894</c:v>
                </c:pt>
                <c:pt idx="34">
                  <c:v>37981</c:v>
                </c:pt>
                <c:pt idx="35">
                  <c:v>38112</c:v>
                </c:pt>
                <c:pt idx="36">
                  <c:v>38203</c:v>
                </c:pt>
                <c:pt idx="37">
                  <c:v>38217</c:v>
                </c:pt>
                <c:pt idx="38">
                  <c:v>38262</c:v>
                </c:pt>
                <c:pt idx="39">
                  <c:v>38315</c:v>
                </c:pt>
                <c:pt idx="40">
                  <c:v>38550</c:v>
                </c:pt>
                <c:pt idx="41">
                  <c:v>38681</c:v>
                </c:pt>
                <c:pt idx="42">
                  <c:v>38924</c:v>
                </c:pt>
                <c:pt idx="43">
                  <c:v>38924</c:v>
                </c:pt>
                <c:pt idx="44">
                  <c:v>39060</c:v>
                </c:pt>
                <c:pt idx="45">
                  <c:v>39067</c:v>
                </c:pt>
                <c:pt idx="46">
                  <c:v>39095</c:v>
                </c:pt>
                <c:pt idx="47">
                  <c:v>39289</c:v>
                </c:pt>
                <c:pt idx="48">
                  <c:v>39315</c:v>
                </c:pt>
                <c:pt idx="49">
                  <c:v>39318</c:v>
                </c:pt>
                <c:pt idx="50">
                  <c:v>39463</c:v>
                </c:pt>
                <c:pt idx="51">
                  <c:v>39596</c:v>
                </c:pt>
                <c:pt idx="52">
                  <c:v>39664</c:v>
                </c:pt>
                <c:pt idx="53">
                  <c:v>39903</c:v>
                </c:pt>
                <c:pt idx="54">
                  <c:v>39990</c:v>
                </c:pt>
                <c:pt idx="55">
                  <c:v>40026</c:v>
                </c:pt>
                <c:pt idx="56">
                  <c:v>40118</c:v>
                </c:pt>
                <c:pt idx="57">
                  <c:v>40144</c:v>
                </c:pt>
                <c:pt idx="58">
                  <c:v>40251</c:v>
                </c:pt>
                <c:pt idx="59">
                  <c:v>40318</c:v>
                </c:pt>
                <c:pt idx="60">
                  <c:v>40342</c:v>
                </c:pt>
                <c:pt idx="61">
                  <c:v>40492</c:v>
                </c:pt>
                <c:pt idx="62">
                  <c:v>40624</c:v>
                </c:pt>
                <c:pt idx="63">
                  <c:v>40628</c:v>
                </c:pt>
                <c:pt idx="64">
                  <c:v>40674</c:v>
                </c:pt>
                <c:pt idx="65">
                  <c:v>40863</c:v>
                </c:pt>
                <c:pt idx="66">
                  <c:v>40956</c:v>
                </c:pt>
                <c:pt idx="67">
                  <c:v>41102</c:v>
                </c:pt>
                <c:pt idx="68">
                  <c:v>41109</c:v>
                </c:pt>
                <c:pt idx="69">
                  <c:v>41110</c:v>
                </c:pt>
                <c:pt idx="70">
                  <c:v>41544</c:v>
                </c:pt>
                <c:pt idx="71">
                  <c:v>41728</c:v>
                </c:pt>
                <c:pt idx="72">
                  <c:v>41733</c:v>
                </c:pt>
                <c:pt idx="73">
                  <c:v>41766</c:v>
                </c:pt>
                <c:pt idx="74">
                  <c:v>41871</c:v>
                </c:pt>
                <c:pt idx="75">
                  <c:v>41913</c:v>
                </c:pt>
                <c:pt idx="76">
                  <c:v>41991</c:v>
                </c:pt>
                <c:pt idx="77">
                  <c:v>42062</c:v>
                </c:pt>
                <c:pt idx="78">
                  <c:v>42205</c:v>
                </c:pt>
                <c:pt idx="79">
                  <c:v>42244</c:v>
                </c:pt>
                <c:pt idx="80">
                  <c:v>42386</c:v>
                </c:pt>
                <c:pt idx="81">
                  <c:v>42396</c:v>
                </c:pt>
                <c:pt idx="82">
                  <c:v>42557</c:v>
                </c:pt>
                <c:pt idx="83">
                  <c:v>42617</c:v>
                </c:pt>
                <c:pt idx="84">
                  <c:v>42620</c:v>
                </c:pt>
                <c:pt idx="85">
                  <c:v>42647</c:v>
                </c:pt>
                <c:pt idx="86">
                  <c:v>42703</c:v>
                </c:pt>
                <c:pt idx="87">
                  <c:v>42730</c:v>
                </c:pt>
                <c:pt idx="88">
                  <c:v>42778</c:v>
                </c:pt>
                <c:pt idx="89">
                  <c:v>42957</c:v>
                </c:pt>
                <c:pt idx="90">
                  <c:v>42968</c:v>
                </c:pt>
                <c:pt idx="91">
                  <c:v>43140</c:v>
                </c:pt>
                <c:pt idx="92">
                  <c:v>43166</c:v>
                </c:pt>
                <c:pt idx="93">
                  <c:v>43167</c:v>
                </c:pt>
                <c:pt idx="94">
                  <c:v>43184</c:v>
                </c:pt>
                <c:pt idx="95">
                  <c:v>43197</c:v>
                </c:pt>
                <c:pt idx="96">
                  <c:v>43229</c:v>
                </c:pt>
                <c:pt idx="97">
                  <c:v>43295</c:v>
                </c:pt>
                <c:pt idx="98">
                  <c:v>43296</c:v>
                </c:pt>
                <c:pt idx="99">
                  <c:v>43361</c:v>
                </c:pt>
                <c:pt idx="100">
                  <c:v>43371</c:v>
                </c:pt>
                <c:pt idx="101">
                  <c:v>43407</c:v>
                </c:pt>
                <c:pt idx="102">
                  <c:v>43421</c:v>
                </c:pt>
                <c:pt idx="103">
                  <c:v>43459</c:v>
                </c:pt>
                <c:pt idx="104">
                  <c:v>43888</c:v>
                </c:pt>
                <c:pt idx="105">
                  <c:v>43889</c:v>
                </c:pt>
                <c:pt idx="106">
                  <c:v>44030</c:v>
                </c:pt>
                <c:pt idx="107">
                  <c:v>44030</c:v>
                </c:pt>
                <c:pt idx="108">
                  <c:v>44127</c:v>
                </c:pt>
                <c:pt idx="109">
                  <c:v>44140</c:v>
                </c:pt>
                <c:pt idx="110">
                  <c:v>44213</c:v>
                </c:pt>
                <c:pt idx="111">
                  <c:v>44232</c:v>
                </c:pt>
                <c:pt idx="112">
                  <c:v>44236</c:v>
                </c:pt>
                <c:pt idx="113">
                  <c:v>44296</c:v>
                </c:pt>
                <c:pt idx="114">
                  <c:v>44301</c:v>
                </c:pt>
                <c:pt idx="115">
                  <c:v>44349</c:v>
                </c:pt>
                <c:pt idx="116">
                  <c:v>44358</c:v>
                </c:pt>
                <c:pt idx="117">
                  <c:v>44372</c:v>
                </c:pt>
                <c:pt idx="118">
                  <c:v>44391</c:v>
                </c:pt>
                <c:pt idx="119">
                  <c:v>44433</c:v>
                </c:pt>
                <c:pt idx="120">
                  <c:v>44440</c:v>
                </c:pt>
                <c:pt idx="121">
                  <c:v>44511</c:v>
                </c:pt>
                <c:pt idx="122">
                  <c:v>44544</c:v>
                </c:pt>
                <c:pt idx="123">
                  <c:v>44570</c:v>
                </c:pt>
                <c:pt idx="124">
                  <c:v>44666</c:v>
                </c:pt>
                <c:pt idx="125">
                  <c:v>44737</c:v>
                </c:pt>
                <c:pt idx="126">
                  <c:v>44792</c:v>
                </c:pt>
                <c:pt idx="127">
                  <c:v>44859</c:v>
                </c:pt>
                <c:pt idx="128">
                  <c:v>44933</c:v>
                </c:pt>
                <c:pt idx="129">
                  <c:v>44947</c:v>
                </c:pt>
                <c:pt idx="130">
                  <c:v>44962</c:v>
                </c:pt>
                <c:pt idx="131">
                  <c:v>45030</c:v>
                </c:pt>
                <c:pt idx="132">
                  <c:v>45079</c:v>
                </c:pt>
                <c:pt idx="133">
                  <c:v>45092</c:v>
                </c:pt>
                <c:pt idx="134">
                  <c:v>45235</c:v>
                </c:pt>
                <c:pt idx="135">
                  <c:v>45265</c:v>
                </c:pt>
                <c:pt idx="136">
                  <c:v>45320</c:v>
                </c:pt>
                <c:pt idx="137">
                  <c:v>45325</c:v>
                </c:pt>
                <c:pt idx="138">
                  <c:v>45344</c:v>
                </c:pt>
                <c:pt idx="139">
                  <c:v>45379</c:v>
                </c:pt>
                <c:pt idx="140">
                  <c:v>45388</c:v>
                </c:pt>
                <c:pt idx="141">
                  <c:v>45388</c:v>
                </c:pt>
                <c:pt idx="142">
                  <c:v>45388</c:v>
                </c:pt>
                <c:pt idx="143">
                  <c:v>45388</c:v>
                </c:pt>
                <c:pt idx="144">
                  <c:v>45411</c:v>
                </c:pt>
                <c:pt idx="145">
                  <c:v>45415</c:v>
                </c:pt>
                <c:pt idx="146">
                  <c:v>45454</c:v>
                </c:pt>
                <c:pt idx="147">
                  <c:v>45515</c:v>
                </c:pt>
                <c:pt idx="148">
                  <c:v>45543</c:v>
                </c:pt>
                <c:pt idx="149">
                  <c:v>45603</c:v>
                </c:pt>
                <c:pt idx="150">
                  <c:v>45608</c:v>
                </c:pt>
                <c:pt idx="151">
                  <c:v>45634</c:v>
                </c:pt>
                <c:pt idx="152">
                  <c:v>45744</c:v>
                </c:pt>
                <c:pt idx="153">
                  <c:v>45795</c:v>
                </c:pt>
                <c:pt idx="154">
                  <c:v>45823</c:v>
                </c:pt>
                <c:pt idx="155">
                  <c:v>45872</c:v>
                </c:pt>
                <c:pt idx="156">
                  <c:v>45937</c:v>
                </c:pt>
                <c:pt idx="157">
                  <c:v>45938</c:v>
                </c:pt>
                <c:pt idx="158">
                  <c:v>46001</c:v>
                </c:pt>
                <c:pt idx="159">
                  <c:v>46128</c:v>
                </c:pt>
                <c:pt idx="160">
                  <c:v>46349</c:v>
                </c:pt>
                <c:pt idx="161">
                  <c:v>46354</c:v>
                </c:pt>
                <c:pt idx="162">
                  <c:v>46453</c:v>
                </c:pt>
                <c:pt idx="163">
                  <c:v>46482</c:v>
                </c:pt>
                <c:pt idx="164">
                  <c:v>46490</c:v>
                </c:pt>
                <c:pt idx="165">
                  <c:v>46498</c:v>
                </c:pt>
                <c:pt idx="166">
                  <c:v>46600</c:v>
                </c:pt>
                <c:pt idx="167">
                  <c:v>46674</c:v>
                </c:pt>
                <c:pt idx="168">
                  <c:v>46680</c:v>
                </c:pt>
                <c:pt idx="169">
                  <c:v>46769</c:v>
                </c:pt>
                <c:pt idx="170">
                  <c:v>46833</c:v>
                </c:pt>
                <c:pt idx="171">
                  <c:v>46857</c:v>
                </c:pt>
                <c:pt idx="172">
                  <c:v>47002</c:v>
                </c:pt>
                <c:pt idx="173">
                  <c:v>47021</c:v>
                </c:pt>
                <c:pt idx="174">
                  <c:v>47071</c:v>
                </c:pt>
                <c:pt idx="175">
                  <c:v>47075</c:v>
                </c:pt>
                <c:pt idx="176">
                  <c:v>47089</c:v>
                </c:pt>
                <c:pt idx="177">
                  <c:v>47107</c:v>
                </c:pt>
                <c:pt idx="178">
                  <c:v>47156</c:v>
                </c:pt>
                <c:pt idx="179">
                  <c:v>47185</c:v>
                </c:pt>
                <c:pt idx="180">
                  <c:v>47258</c:v>
                </c:pt>
                <c:pt idx="181">
                  <c:v>47384</c:v>
                </c:pt>
                <c:pt idx="182">
                  <c:v>47477</c:v>
                </c:pt>
                <c:pt idx="183">
                  <c:v>47596</c:v>
                </c:pt>
                <c:pt idx="184">
                  <c:v>47601</c:v>
                </c:pt>
                <c:pt idx="185">
                  <c:v>47605</c:v>
                </c:pt>
                <c:pt idx="186">
                  <c:v>47618</c:v>
                </c:pt>
                <c:pt idx="187">
                  <c:v>47626</c:v>
                </c:pt>
                <c:pt idx="188">
                  <c:v>47697</c:v>
                </c:pt>
                <c:pt idx="189">
                  <c:v>47728</c:v>
                </c:pt>
                <c:pt idx="190">
                  <c:v>47730</c:v>
                </c:pt>
                <c:pt idx="191">
                  <c:v>47828</c:v>
                </c:pt>
                <c:pt idx="192">
                  <c:v>47856</c:v>
                </c:pt>
                <c:pt idx="193">
                  <c:v>47860</c:v>
                </c:pt>
                <c:pt idx="194">
                  <c:v>47866</c:v>
                </c:pt>
                <c:pt idx="195">
                  <c:v>47872</c:v>
                </c:pt>
                <c:pt idx="196">
                  <c:v>47885</c:v>
                </c:pt>
                <c:pt idx="197">
                  <c:v>47896</c:v>
                </c:pt>
                <c:pt idx="198">
                  <c:v>48082</c:v>
                </c:pt>
                <c:pt idx="199">
                  <c:v>48088</c:v>
                </c:pt>
                <c:pt idx="200">
                  <c:v>48102</c:v>
                </c:pt>
                <c:pt idx="201">
                  <c:v>48160</c:v>
                </c:pt>
                <c:pt idx="202">
                  <c:v>48318</c:v>
                </c:pt>
                <c:pt idx="203">
                  <c:v>48351</c:v>
                </c:pt>
                <c:pt idx="204">
                  <c:v>48386</c:v>
                </c:pt>
                <c:pt idx="205">
                  <c:v>48387</c:v>
                </c:pt>
                <c:pt idx="206">
                  <c:v>48458</c:v>
                </c:pt>
                <c:pt idx="207">
                  <c:v>48472</c:v>
                </c:pt>
                <c:pt idx="208">
                  <c:v>48475</c:v>
                </c:pt>
                <c:pt idx="209">
                  <c:v>48501</c:v>
                </c:pt>
                <c:pt idx="210">
                  <c:v>48541</c:v>
                </c:pt>
                <c:pt idx="211">
                  <c:v>48587</c:v>
                </c:pt>
                <c:pt idx="212">
                  <c:v>48653</c:v>
                </c:pt>
                <c:pt idx="213">
                  <c:v>48757</c:v>
                </c:pt>
                <c:pt idx="214">
                  <c:v>48866</c:v>
                </c:pt>
                <c:pt idx="215">
                  <c:v>48928</c:v>
                </c:pt>
                <c:pt idx="216">
                  <c:v>48992</c:v>
                </c:pt>
                <c:pt idx="217">
                  <c:v>49045</c:v>
                </c:pt>
                <c:pt idx="218">
                  <c:v>49137</c:v>
                </c:pt>
                <c:pt idx="219">
                  <c:v>49175</c:v>
                </c:pt>
                <c:pt idx="220">
                  <c:v>49179</c:v>
                </c:pt>
                <c:pt idx="221">
                  <c:v>49307</c:v>
                </c:pt>
                <c:pt idx="222">
                  <c:v>49358</c:v>
                </c:pt>
                <c:pt idx="223">
                  <c:v>49361</c:v>
                </c:pt>
                <c:pt idx="224">
                  <c:v>49365</c:v>
                </c:pt>
                <c:pt idx="225">
                  <c:v>49379</c:v>
                </c:pt>
                <c:pt idx="226">
                  <c:v>49458</c:v>
                </c:pt>
                <c:pt idx="227">
                  <c:v>49500</c:v>
                </c:pt>
                <c:pt idx="228">
                  <c:v>49500</c:v>
                </c:pt>
                <c:pt idx="229">
                  <c:v>49505</c:v>
                </c:pt>
                <c:pt idx="230">
                  <c:v>49560</c:v>
                </c:pt>
                <c:pt idx="231">
                  <c:v>49587</c:v>
                </c:pt>
                <c:pt idx="232">
                  <c:v>49606</c:v>
                </c:pt>
                <c:pt idx="233">
                  <c:v>49620</c:v>
                </c:pt>
                <c:pt idx="234">
                  <c:v>49634</c:v>
                </c:pt>
                <c:pt idx="235">
                  <c:v>49652</c:v>
                </c:pt>
                <c:pt idx="236">
                  <c:v>49774</c:v>
                </c:pt>
                <c:pt idx="237">
                  <c:v>49827</c:v>
                </c:pt>
                <c:pt idx="238">
                  <c:v>49917</c:v>
                </c:pt>
                <c:pt idx="239">
                  <c:v>49958</c:v>
                </c:pt>
                <c:pt idx="240">
                  <c:v>50105</c:v>
                </c:pt>
                <c:pt idx="241">
                  <c:v>50112</c:v>
                </c:pt>
                <c:pt idx="242">
                  <c:v>50116</c:v>
                </c:pt>
                <c:pt idx="243">
                  <c:v>50135</c:v>
                </c:pt>
                <c:pt idx="244">
                  <c:v>50220</c:v>
                </c:pt>
                <c:pt idx="245">
                  <c:v>50296</c:v>
                </c:pt>
                <c:pt idx="246">
                  <c:v>50296</c:v>
                </c:pt>
                <c:pt idx="247">
                  <c:v>50331</c:v>
                </c:pt>
                <c:pt idx="248">
                  <c:v>50445</c:v>
                </c:pt>
                <c:pt idx="249">
                  <c:v>50527</c:v>
                </c:pt>
                <c:pt idx="250">
                  <c:v>50579</c:v>
                </c:pt>
                <c:pt idx="251">
                  <c:v>50632</c:v>
                </c:pt>
                <c:pt idx="252">
                  <c:v>50669</c:v>
                </c:pt>
                <c:pt idx="253">
                  <c:v>50698</c:v>
                </c:pt>
                <c:pt idx="254">
                  <c:v>50712</c:v>
                </c:pt>
                <c:pt idx="255">
                  <c:v>50720</c:v>
                </c:pt>
                <c:pt idx="256">
                  <c:v>50741</c:v>
                </c:pt>
                <c:pt idx="257">
                  <c:v>50919</c:v>
                </c:pt>
                <c:pt idx="258">
                  <c:v>50923</c:v>
                </c:pt>
                <c:pt idx="259">
                  <c:v>50970</c:v>
                </c:pt>
                <c:pt idx="260">
                  <c:v>50994</c:v>
                </c:pt>
                <c:pt idx="261">
                  <c:v>51019</c:v>
                </c:pt>
                <c:pt idx="262">
                  <c:v>51077</c:v>
                </c:pt>
                <c:pt idx="263">
                  <c:v>51129</c:v>
                </c:pt>
                <c:pt idx="264">
                  <c:v>51151</c:v>
                </c:pt>
                <c:pt idx="265">
                  <c:v>51342</c:v>
                </c:pt>
                <c:pt idx="266">
                  <c:v>51450</c:v>
                </c:pt>
                <c:pt idx="267">
                  <c:v>51513</c:v>
                </c:pt>
                <c:pt idx="268">
                  <c:v>51532</c:v>
                </c:pt>
                <c:pt idx="269">
                  <c:v>51629</c:v>
                </c:pt>
                <c:pt idx="270">
                  <c:v>51658</c:v>
                </c:pt>
                <c:pt idx="271">
                  <c:v>51759</c:v>
                </c:pt>
                <c:pt idx="272">
                  <c:v>51793</c:v>
                </c:pt>
                <c:pt idx="273">
                  <c:v>51815</c:v>
                </c:pt>
                <c:pt idx="274">
                  <c:v>51833</c:v>
                </c:pt>
                <c:pt idx="275">
                  <c:v>51836</c:v>
                </c:pt>
                <c:pt idx="276">
                  <c:v>51865</c:v>
                </c:pt>
                <c:pt idx="277">
                  <c:v>51871</c:v>
                </c:pt>
                <c:pt idx="278">
                  <c:v>51926</c:v>
                </c:pt>
                <c:pt idx="279">
                  <c:v>51955</c:v>
                </c:pt>
                <c:pt idx="280">
                  <c:v>51989</c:v>
                </c:pt>
                <c:pt idx="281">
                  <c:v>52021</c:v>
                </c:pt>
                <c:pt idx="282">
                  <c:v>52075</c:v>
                </c:pt>
                <c:pt idx="283">
                  <c:v>52093</c:v>
                </c:pt>
                <c:pt idx="284">
                  <c:v>52131</c:v>
                </c:pt>
                <c:pt idx="285">
                  <c:v>52231</c:v>
                </c:pt>
                <c:pt idx="286">
                  <c:v>52234</c:v>
                </c:pt>
                <c:pt idx="287">
                  <c:v>52279</c:v>
                </c:pt>
                <c:pt idx="288">
                  <c:v>52334</c:v>
                </c:pt>
                <c:pt idx="289">
                  <c:v>52347</c:v>
                </c:pt>
                <c:pt idx="290">
                  <c:v>52349</c:v>
                </c:pt>
                <c:pt idx="291">
                  <c:v>52528</c:v>
                </c:pt>
                <c:pt idx="292">
                  <c:v>52567</c:v>
                </c:pt>
                <c:pt idx="293">
                  <c:v>52581</c:v>
                </c:pt>
                <c:pt idx="294">
                  <c:v>52725</c:v>
                </c:pt>
                <c:pt idx="295">
                  <c:v>52745</c:v>
                </c:pt>
                <c:pt idx="296">
                  <c:v>53032</c:v>
                </c:pt>
                <c:pt idx="297">
                  <c:v>53037</c:v>
                </c:pt>
                <c:pt idx="298">
                  <c:v>53040</c:v>
                </c:pt>
                <c:pt idx="299">
                  <c:v>53166</c:v>
                </c:pt>
                <c:pt idx="300">
                  <c:v>53230</c:v>
                </c:pt>
                <c:pt idx="301">
                  <c:v>53236</c:v>
                </c:pt>
                <c:pt idx="302">
                  <c:v>53263</c:v>
                </c:pt>
                <c:pt idx="303">
                  <c:v>53390</c:v>
                </c:pt>
                <c:pt idx="304">
                  <c:v>53493</c:v>
                </c:pt>
                <c:pt idx="305">
                  <c:v>53501</c:v>
                </c:pt>
                <c:pt idx="306">
                  <c:v>53551</c:v>
                </c:pt>
                <c:pt idx="307">
                  <c:v>53562</c:v>
                </c:pt>
                <c:pt idx="308">
                  <c:v>53739</c:v>
                </c:pt>
                <c:pt idx="309">
                  <c:v>53755</c:v>
                </c:pt>
                <c:pt idx="310">
                  <c:v>53775</c:v>
                </c:pt>
                <c:pt idx="311">
                  <c:v>53874</c:v>
                </c:pt>
                <c:pt idx="312">
                  <c:v>53899</c:v>
                </c:pt>
                <c:pt idx="313">
                  <c:v>53909</c:v>
                </c:pt>
                <c:pt idx="314">
                  <c:v>54022</c:v>
                </c:pt>
                <c:pt idx="315">
                  <c:v>54080</c:v>
                </c:pt>
                <c:pt idx="316">
                  <c:v>54163</c:v>
                </c:pt>
                <c:pt idx="317">
                  <c:v>54211</c:v>
                </c:pt>
                <c:pt idx="318">
                  <c:v>54247</c:v>
                </c:pt>
                <c:pt idx="319">
                  <c:v>54329</c:v>
                </c:pt>
                <c:pt idx="320">
                  <c:v>54338</c:v>
                </c:pt>
                <c:pt idx="321">
                  <c:v>54368</c:v>
                </c:pt>
                <c:pt idx="322">
                  <c:v>54384</c:v>
                </c:pt>
                <c:pt idx="323">
                  <c:v>54458</c:v>
                </c:pt>
                <c:pt idx="324">
                  <c:v>54467</c:v>
                </c:pt>
                <c:pt idx="325">
                  <c:v>54496</c:v>
                </c:pt>
                <c:pt idx="326">
                  <c:v>54501</c:v>
                </c:pt>
                <c:pt idx="327">
                  <c:v>54537</c:v>
                </c:pt>
                <c:pt idx="328">
                  <c:v>54560</c:v>
                </c:pt>
                <c:pt idx="329">
                  <c:v>54659</c:v>
                </c:pt>
                <c:pt idx="330">
                  <c:v>54670</c:v>
                </c:pt>
                <c:pt idx="331">
                  <c:v>54735</c:v>
                </c:pt>
                <c:pt idx="332">
                  <c:v>54810</c:v>
                </c:pt>
                <c:pt idx="333">
                  <c:v>54914</c:v>
                </c:pt>
                <c:pt idx="334">
                  <c:v>54967</c:v>
                </c:pt>
                <c:pt idx="335">
                  <c:v>54990</c:v>
                </c:pt>
                <c:pt idx="336">
                  <c:v>55037</c:v>
                </c:pt>
                <c:pt idx="337">
                  <c:v>55043</c:v>
                </c:pt>
                <c:pt idx="338">
                  <c:v>55070</c:v>
                </c:pt>
                <c:pt idx="339">
                  <c:v>55076</c:v>
                </c:pt>
                <c:pt idx="340">
                  <c:v>55076</c:v>
                </c:pt>
                <c:pt idx="341">
                  <c:v>55076</c:v>
                </c:pt>
                <c:pt idx="342">
                  <c:v>55146</c:v>
                </c:pt>
                <c:pt idx="343">
                  <c:v>55177</c:v>
                </c:pt>
                <c:pt idx="344">
                  <c:v>55198</c:v>
                </c:pt>
                <c:pt idx="345">
                  <c:v>55246</c:v>
                </c:pt>
                <c:pt idx="346">
                  <c:v>55356</c:v>
                </c:pt>
                <c:pt idx="347">
                  <c:v>55486</c:v>
                </c:pt>
                <c:pt idx="348">
                  <c:v>55493</c:v>
                </c:pt>
                <c:pt idx="349">
                  <c:v>55548</c:v>
                </c:pt>
                <c:pt idx="350">
                  <c:v>55563</c:v>
                </c:pt>
                <c:pt idx="351">
                  <c:v>55747</c:v>
                </c:pt>
                <c:pt idx="352">
                  <c:v>55763</c:v>
                </c:pt>
                <c:pt idx="353">
                  <c:v>55813</c:v>
                </c:pt>
                <c:pt idx="354">
                  <c:v>55874</c:v>
                </c:pt>
                <c:pt idx="355">
                  <c:v>55939</c:v>
                </c:pt>
                <c:pt idx="356">
                  <c:v>55939</c:v>
                </c:pt>
                <c:pt idx="357">
                  <c:v>55939</c:v>
                </c:pt>
                <c:pt idx="358">
                  <c:v>56073</c:v>
                </c:pt>
                <c:pt idx="359">
                  <c:v>56118</c:v>
                </c:pt>
                <c:pt idx="360">
                  <c:v>56148</c:v>
                </c:pt>
                <c:pt idx="361">
                  <c:v>56195</c:v>
                </c:pt>
                <c:pt idx="362">
                  <c:v>56280</c:v>
                </c:pt>
                <c:pt idx="363">
                  <c:v>56287</c:v>
                </c:pt>
                <c:pt idx="364">
                  <c:v>56310</c:v>
                </c:pt>
                <c:pt idx="365">
                  <c:v>56318</c:v>
                </c:pt>
                <c:pt idx="366">
                  <c:v>56343</c:v>
                </c:pt>
                <c:pt idx="367">
                  <c:v>56346</c:v>
                </c:pt>
                <c:pt idx="368">
                  <c:v>56351</c:v>
                </c:pt>
                <c:pt idx="369">
                  <c:v>56403</c:v>
                </c:pt>
                <c:pt idx="370">
                  <c:v>56416</c:v>
                </c:pt>
                <c:pt idx="371">
                  <c:v>56469</c:v>
                </c:pt>
                <c:pt idx="372">
                  <c:v>56544</c:v>
                </c:pt>
                <c:pt idx="373">
                  <c:v>56662</c:v>
                </c:pt>
                <c:pt idx="374">
                  <c:v>56746</c:v>
                </c:pt>
                <c:pt idx="375">
                  <c:v>56880</c:v>
                </c:pt>
                <c:pt idx="376">
                  <c:v>56887</c:v>
                </c:pt>
                <c:pt idx="377">
                  <c:v>56906</c:v>
                </c:pt>
                <c:pt idx="378">
                  <c:v>56922</c:v>
                </c:pt>
                <c:pt idx="379">
                  <c:v>56945</c:v>
                </c:pt>
                <c:pt idx="380">
                  <c:v>57010</c:v>
                </c:pt>
                <c:pt idx="381">
                  <c:v>57053</c:v>
                </c:pt>
                <c:pt idx="382">
                  <c:v>57103</c:v>
                </c:pt>
                <c:pt idx="383">
                  <c:v>57131</c:v>
                </c:pt>
                <c:pt idx="384">
                  <c:v>57162</c:v>
                </c:pt>
                <c:pt idx="385">
                  <c:v>57237</c:v>
                </c:pt>
                <c:pt idx="386">
                  <c:v>57262</c:v>
                </c:pt>
                <c:pt idx="387">
                  <c:v>57289</c:v>
                </c:pt>
                <c:pt idx="388">
                  <c:v>57304</c:v>
                </c:pt>
                <c:pt idx="389">
                  <c:v>57346</c:v>
                </c:pt>
                <c:pt idx="390">
                  <c:v>57413</c:v>
                </c:pt>
                <c:pt idx="391">
                  <c:v>57466</c:v>
                </c:pt>
                <c:pt idx="392">
                  <c:v>57552</c:v>
                </c:pt>
                <c:pt idx="393">
                  <c:v>57566</c:v>
                </c:pt>
                <c:pt idx="394">
                  <c:v>57602</c:v>
                </c:pt>
                <c:pt idx="395">
                  <c:v>57624</c:v>
                </c:pt>
                <c:pt idx="396">
                  <c:v>57743</c:v>
                </c:pt>
                <c:pt idx="397">
                  <c:v>57780</c:v>
                </c:pt>
                <c:pt idx="398">
                  <c:v>57808</c:v>
                </c:pt>
                <c:pt idx="399">
                  <c:v>57897</c:v>
                </c:pt>
                <c:pt idx="400">
                  <c:v>57906</c:v>
                </c:pt>
                <c:pt idx="401">
                  <c:v>58013</c:v>
                </c:pt>
                <c:pt idx="402">
                  <c:v>58056</c:v>
                </c:pt>
                <c:pt idx="403">
                  <c:v>58073</c:v>
                </c:pt>
                <c:pt idx="404">
                  <c:v>58084</c:v>
                </c:pt>
                <c:pt idx="405">
                  <c:v>58128</c:v>
                </c:pt>
                <c:pt idx="406">
                  <c:v>58140</c:v>
                </c:pt>
                <c:pt idx="407">
                  <c:v>58169</c:v>
                </c:pt>
                <c:pt idx="408">
                  <c:v>58191</c:v>
                </c:pt>
                <c:pt idx="409">
                  <c:v>58308</c:v>
                </c:pt>
                <c:pt idx="410">
                  <c:v>58526</c:v>
                </c:pt>
                <c:pt idx="411">
                  <c:v>58532</c:v>
                </c:pt>
                <c:pt idx="412">
                  <c:v>58561</c:v>
                </c:pt>
                <c:pt idx="413">
                  <c:v>58562</c:v>
                </c:pt>
                <c:pt idx="414">
                  <c:v>58612</c:v>
                </c:pt>
                <c:pt idx="415">
                  <c:v>59004</c:v>
                </c:pt>
                <c:pt idx="416">
                  <c:v>59009</c:v>
                </c:pt>
                <c:pt idx="417">
                  <c:v>59025</c:v>
                </c:pt>
                <c:pt idx="418">
                  <c:v>59115</c:v>
                </c:pt>
                <c:pt idx="419">
                  <c:v>59115</c:v>
                </c:pt>
                <c:pt idx="420">
                  <c:v>59211</c:v>
                </c:pt>
                <c:pt idx="421">
                  <c:v>59221</c:v>
                </c:pt>
                <c:pt idx="422">
                  <c:v>59247</c:v>
                </c:pt>
                <c:pt idx="423">
                  <c:v>59637</c:v>
                </c:pt>
                <c:pt idx="424">
                  <c:v>59649</c:v>
                </c:pt>
                <c:pt idx="425">
                  <c:v>59977</c:v>
                </c:pt>
                <c:pt idx="426">
                  <c:v>59979</c:v>
                </c:pt>
                <c:pt idx="427">
                  <c:v>59988</c:v>
                </c:pt>
                <c:pt idx="428">
                  <c:v>60110</c:v>
                </c:pt>
                <c:pt idx="429">
                  <c:v>60236</c:v>
                </c:pt>
                <c:pt idx="430">
                  <c:v>60249</c:v>
                </c:pt>
                <c:pt idx="431">
                  <c:v>60249</c:v>
                </c:pt>
                <c:pt idx="432">
                  <c:v>60378</c:v>
                </c:pt>
                <c:pt idx="433">
                  <c:v>60386</c:v>
                </c:pt>
                <c:pt idx="434">
                  <c:v>60409</c:v>
                </c:pt>
                <c:pt idx="435">
                  <c:v>60409</c:v>
                </c:pt>
                <c:pt idx="436">
                  <c:v>60409</c:v>
                </c:pt>
                <c:pt idx="437">
                  <c:v>60409</c:v>
                </c:pt>
                <c:pt idx="438">
                  <c:v>60409</c:v>
                </c:pt>
                <c:pt idx="439">
                  <c:v>60509</c:v>
                </c:pt>
                <c:pt idx="440">
                  <c:v>60543</c:v>
                </c:pt>
                <c:pt idx="441">
                  <c:v>60613</c:v>
                </c:pt>
                <c:pt idx="442">
                  <c:v>60614</c:v>
                </c:pt>
                <c:pt idx="443">
                  <c:v>60624</c:v>
                </c:pt>
                <c:pt idx="444">
                  <c:v>60752</c:v>
                </c:pt>
                <c:pt idx="445">
                  <c:v>61244</c:v>
                </c:pt>
                <c:pt idx="446">
                  <c:v>61251</c:v>
                </c:pt>
                <c:pt idx="447">
                  <c:v>61258</c:v>
                </c:pt>
                <c:pt idx="448">
                  <c:v>61324</c:v>
                </c:pt>
                <c:pt idx="449">
                  <c:v>61335</c:v>
                </c:pt>
                <c:pt idx="450">
                  <c:v>61415</c:v>
                </c:pt>
                <c:pt idx="451">
                  <c:v>61415</c:v>
                </c:pt>
                <c:pt idx="452">
                  <c:v>61515</c:v>
                </c:pt>
                <c:pt idx="453">
                  <c:v>61580</c:v>
                </c:pt>
                <c:pt idx="454">
                  <c:v>61675</c:v>
                </c:pt>
                <c:pt idx="455">
                  <c:v>61760</c:v>
                </c:pt>
                <c:pt idx="456">
                  <c:v>61767</c:v>
                </c:pt>
                <c:pt idx="457">
                  <c:v>61945</c:v>
                </c:pt>
                <c:pt idx="458">
                  <c:v>62117</c:v>
                </c:pt>
                <c:pt idx="459">
                  <c:v>62152</c:v>
                </c:pt>
                <c:pt idx="460">
                  <c:v>62177</c:v>
                </c:pt>
                <c:pt idx="461">
                  <c:v>62203</c:v>
                </c:pt>
                <c:pt idx="462">
                  <c:v>62377</c:v>
                </c:pt>
                <c:pt idx="463">
                  <c:v>62454</c:v>
                </c:pt>
                <c:pt idx="464">
                  <c:v>62472</c:v>
                </c:pt>
                <c:pt idx="465">
                  <c:v>62569</c:v>
                </c:pt>
                <c:pt idx="466">
                  <c:v>62616</c:v>
                </c:pt>
                <c:pt idx="467">
                  <c:v>62668</c:v>
                </c:pt>
                <c:pt idx="468">
                  <c:v>62696</c:v>
                </c:pt>
                <c:pt idx="469">
                  <c:v>62763</c:v>
                </c:pt>
                <c:pt idx="470">
                  <c:v>62908</c:v>
                </c:pt>
                <c:pt idx="471">
                  <c:v>62951</c:v>
                </c:pt>
                <c:pt idx="472">
                  <c:v>63126</c:v>
                </c:pt>
                <c:pt idx="473">
                  <c:v>63163</c:v>
                </c:pt>
                <c:pt idx="474">
                  <c:v>63188</c:v>
                </c:pt>
                <c:pt idx="475">
                  <c:v>63199</c:v>
                </c:pt>
                <c:pt idx="476">
                  <c:v>63386</c:v>
                </c:pt>
                <c:pt idx="477">
                  <c:v>63403</c:v>
                </c:pt>
                <c:pt idx="478">
                  <c:v>63496</c:v>
                </c:pt>
                <c:pt idx="479">
                  <c:v>63552</c:v>
                </c:pt>
                <c:pt idx="480">
                  <c:v>63727</c:v>
                </c:pt>
                <c:pt idx="481">
                  <c:v>63742</c:v>
                </c:pt>
                <c:pt idx="482">
                  <c:v>64010</c:v>
                </c:pt>
                <c:pt idx="483">
                  <c:v>64172</c:v>
                </c:pt>
                <c:pt idx="484">
                  <c:v>64209</c:v>
                </c:pt>
                <c:pt idx="485">
                  <c:v>64270</c:v>
                </c:pt>
                <c:pt idx="486">
                  <c:v>64355</c:v>
                </c:pt>
                <c:pt idx="487">
                  <c:v>64368</c:v>
                </c:pt>
                <c:pt idx="488">
                  <c:v>64390</c:v>
                </c:pt>
                <c:pt idx="489">
                  <c:v>64403</c:v>
                </c:pt>
                <c:pt idx="490">
                  <c:v>64705</c:v>
                </c:pt>
                <c:pt idx="491">
                  <c:v>64762</c:v>
                </c:pt>
                <c:pt idx="492">
                  <c:v>64874</c:v>
                </c:pt>
                <c:pt idx="493">
                  <c:v>64876</c:v>
                </c:pt>
                <c:pt idx="494">
                  <c:v>64909</c:v>
                </c:pt>
                <c:pt idx="495">
                  <c:v>65287</c:v>
                </c:pt>
                <c:pt idx="496">
                  <c:v>65337</c:v>
                </c:pt>
                <c:pt idx="497">
                  <c:v>65703</c:v>
                </c:pt>
                <c:pt idx="498">
                  <c:v>65865</c:v>
                </c:pt>
                <c:pt idx="499">
                  <c:v>65986</c:v>
                </c:pt>
                <c:pt idx="500">
                  <c:v>66039</c:v>
                </c:pt>
                <c:pt idx="501">
                  <c:v>66125</c:v>
                </c:pt>
                <c:pt idx="502">
                  <c:v>66125</c:v>
                </c:pt>
                <c:pt idx="503">
                  <c:v>66125</c:v>
                </c:pt>
                <c:pt idx="504">
                  <c:v>66125</c:v>
                </c:pt>
                <c:pt idx="505">
                  <c:v>66479</c:v>
                </c:pt>
                <c:pt idx="506">
                  <c:v>66479</c:v>
                </c:pt>
                <c:pt idx="507">
                  <c:v>66479</c:v>
                </c:pt>
                <c:pt idx="508">
                  <c:v>67170</c:v>
                </c:pt>
                <c:pt idx="509">
                  <c:v>67253</c:v>
                </c:pt>
                <c:pt idx="510">
                  <c:v>67316</c:v>
                </c:pt>
                <c:pt idx="511">
                  <c:v>67541</c:v>
                </c:pt>
                <c:pt idx="512">
                  <c:v>67699</c:v>
                </c:pt>
                <c:pt idx="513">
                  <c:v>67979</c:v>
                </c:pt>
                <c:pt idx="514">
                  <c:v>68077</c:v>
                </c:pt>
                <c:pt idx="515">
                  <c:v>68227</c:v>
                </c:pt>
                <c:pt idx="516">
                  <c:v>68396</c:v>
                </c:pt>
                <c:pt idx="517">
                  <c:v>68726</c:v>
                </c:pt>
                <c:pt idx="518">
                  <c:v>68740</c:v>
                </c:pt>
                <c:pt idx="519">
                  <c:v>68758</c:v>
                </c:pt>
                <c:pt idx="520">
                  <c:v>68804</c:v>
                </c:pt>
                <c:pt idx="521">
                  <c:v>68905</c:v>
                </c:pt>
                <c:pt idx="522">
                  <c:v>69020</c:v>
                </c:pt>
                <c:pt idx="523">
                  <c:v>69738</c:v>
                </c:pt>
                <c:pt idx="524">
                  <c:v>69743</c:v>
                </c:pt>
                <c:pt idx="525">
                  <c:v>69781</c:v>
                </c:pt>
                <c:pt idx="526">
                  <c:v>69954</c:v>
                </c:pt>
                <c:pt idx="527">
                  <c:v>69960</c:v>
                </c:pt>
                <c:pt idx="528">
                  <c:v>70814</c:v>
                </c:pt>
                <c:pt idx="529">
                  <c:v>71401</c:v>
                </c:pt>
                <c:pt idx="530">
                  <c:v>71513</c:v>
                </c:pt>
                <c:pt idx="531">
                  <c:v>71588</c:v>
                </c:pt>
                <c:pt idx="532">
                  <c:v>71588</c:v>
                </c:pt>
                <c:pt idx="533">
                  <c:v>71631</c:v>
                </c:pt>
                <c:pt idx="534">
                  <c:v>71902</c:v>
                </c:pt>
                <c:pt idx="535">
                  <c:v>72085</c:v>
                </c:pt>
                <c:pt idx="536">
                  <c:v>72097</c:v>
                </c:pt>
                <c:pt idx="537">
                  <c:v>72200</c:v>
                </c:pt>
                <c:pt idx="538">
                  <c:v>72257</c:v>
                </c:pt>
                <c:pt idx="539">
                  <c:v>72273</c:v>
                </c:pt>
                <c:pt idx="540">
                  <c:v>72424</c:v>
                </c:pt>
                <c:pt idx="541">
                  <c:v>72950</c:v>
                </c:pt>
                <c:pt idx="542">
                  <c:v>73323</c:v>
                </c:pt>
                <c:pt idx="543">
                  <c:v>73490</c:v>
                </c:pt>
                <c:pt idx="544">
                  <c:v>73792</c:v>
                </c:pt>
                <c:pt idx="545">
                  <c:v>73997</c:v>
                </c:pt>
                <c:pt idx="546">
                  <c:v>74479</c:v>
                </c:pt>
                <c:pt idx="547">
                  <c:v>74479</c:v>
                </c:pt>
                <c:pt idx="548">
                  <c:v>74479</c:v>
                </c:pt>
                <c:pt idx="549">
                  <c:v>74502</c:v>
                </c:pt>
                <c:pt idx="550">
                  <c:v>74915</c:v>
                </c:pt>
                <c:pt idx="551">
                  <c:v>75121</c:v>
                </c:pt>
                <c:pt idx="552">
                  <c:v>75971</c:v>
                </c:pt>
                <c:pt idx="553">
                  <c:v>76343</c:v>
                </c:pt>
                <c:pt idx="554">
                  <c:v>76489</c:v>
                </c:pt>
                <c:pt idx="555">
                  <c:v>76813</c:v>
                </c:pt>
                <c:pt idx="556">
                  <c:v>77369</c:v>
                </c:pt>
                <c:pt idx="557">
                  <c:v>78198</c:v>
                </c:pt>
                <c:pt idx="558">
                  <c:v>78466</c:v>
                </c:pt>
                <c:pt idx="559">
                  <c:v>78466</c:v>
                </c:pt>
                <c:pt idx="560">
                  <c:v>78466</c:v>
                </c:pt>
                <c:pt idx="561">
                  <c:v>78988</c:v>
                </c:pt>
                <c:pt idx="562">
                  <c:v>80596</c:v>
                </c:pt>
                <c:pt idx="563">
                  <c:v>80735</c:v>
                </c:pt>
                <c:pt idx="564">
                  <c:v>80838</c:v>
                </c:pt>
                <c:pt idx="565">
                  <c:v>81054</c:v>
                </c:pt>
                <c:pt idx="566">
                  <c:v>81698</c:v>
                </c:pt>
                <c:pt idx="567">
                  <c:v>82392</c:v>
                </c:pt>
                <c:pt idx="568">
                  <c:v>82511</c:v>
                </c:pt>
                <c:pt idx="569">
                  <c:v>82860</c:v>
                </c:pt>
                <c:pt idx="570">
                  <c:v>82957</c:v>
                </c:pt>
                <c:pt idx="571">
                  <c:v>83648</c:v>
                </c:pt>
                <c:pt idx="572">
                  <c:v>84276</c:v>
                </c:pt>
                <c:pt idx="573">
                  <c:v>84943</c:v>
                </c:pt>
                <c:pt idx="574">
                  <c:v>86863</c:v>
                </c:pt>
                <c:pt idx="575">
                  <c:v>89964</c:v>
                </c:pt>
                <c:pt idx="576">
                  <c:v>90610</c:v>
                </c:pt>
                <c:pt idx="577">
                  <c:v>90768</c:v>
                </c:pt>
                <c:pt idx="578">
                  <c:v>92446</c:v>
                </c:pt>
                <c:pt idx="579">
                  <c:v>94784</c:v>
                </c:pt>
                <c:pt idx="580">
                  <c:v>95951</c:v>
                </c:pt>
                <c:pt idx="581">
                  <c:v>97335</c:v>
                </c:pt>
                <c:pt idx="582">
                  <c:v>102772</c:v>
                </c:pt>
              </c:numCache>
            </c:numRef>
          </c:yVal>
          <c:smooth val="0"/>
          <c:extLst>
            <c:ext xmlns:c16="http://schemas.microsoft.com/office/drawing/2014/chart" uri="{C3380CC4-5D6E-409C-BE32-E72D297353CC}">
              <c16:uniqueId val="{00000002-A6C2-4C08-9A2C-13704BF64019}"/>
            </c:ext>
          </c:extLst>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c:v>
                </c:pt>
              </c:numCache>
            </c:numRef>
          </c:xVal>
          <c:yVal>
            <c:numRef>
              <c:f>Sheet1!$B$1532:$B$1532</c:f>
              <c:numCache>
                <c:formatCode>General</c:formatCode>
                <c:ptCount val="1"/>
                <c:pt idx="0">
                  <c:v>92538</c:v>
                </c:pt>
              </c:numCache>
            </c:numRef>
          </c:yVal>
          <c:smooth val="0"/>
          <c:extLst>
            <c:ext xmlns:c16="http://schemas.microsoft.com/office/drawing/2014/chart" uri="{C3380CC4-5D6E-409C-BE32-E72D297353CC}">
              <c16:uniqueId val="{00000003-A6C2-4C08-9A2C-13704BF64019}"/>
            </c:ext>
          </c:extLst>
        </c:ser>
        <c:dLbls>
          <c:showLegendKey val="0"/>
          <c:showVal val="0"/>
          <c:showCatName val="0"/>
          <c:showSerName val="0"/>
          <c:showPercent val="0"/>
          <c:showBubbleSize val="0"/>
        </c:dLbls>
        <c:axId val="-2128940872"/>
        <c:axId val="-2129643912"/>
      </c:scatterChart>
      <c:valAx>
        <c:axId val="-2128940872"/>
        <c:scaling>
          <c:orientation val="minMax"/>
          <c:max val="60000"/>
          <c:min val="0"/>
        </c:scaling>
        <c:delete val="0"/>
        <c:axPos val="b"/>
        <c:title>
          <c:tx>
            <c:rich>
              <a:bodyPr/>
              <a:lstStyle/>
              <a:p>
                <a:pPr>
                  <a:defRPr/>
                </a:pPr>
                <a:r>
                  <a:rPr lang="en-US" sz="1000" b="1">
                    <a:solidFill>
                      <a:srgbClr val="000000"/>
                    </a:solidFill>
                    <a:latin typeface="Lato"/>
                  </a:rPr>
                  <a:t>Average annual net cost of attendance (2)</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
      </c:valAx>
      <c:valAx>
        <c:axId val="-2129643912"/>
        <c:scaling>
          <c:orientation val="minMax"/>
          <c:max val="150000"/>
          <c:min val="0"/>
        </c:scaling>
        <c:delete val="0"/>
        <c:axPos val="l"/>
        <c:title>
          <c:tx>
            <c:rich>
              <a:bodyPr rot="-5400000" vert="horz"/>
              <a:lstStyle/>
              <a:p>
                <a:pPr>
                  <a:defRPr/>
                </a:pPr>
                <a:r>
                  <a:rPr lang="en-US" sz="1000" b="1">
                    <a:solidFill>
                      <a:srgbClr val="000000"/>
                    </a:solidFill>
                    <a:latin typeface="Lato"/>
                  </a:rPr>
                  <a:t>Median earnings ten years after entry (1)</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1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bg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0.129862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3.84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0.129862</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4.9460762227609832E-2"/>
          <c:y val="0.10349034212645429"/>
          <c:w val="0.93805059108755817"/>
          <c:h val="0.61650179765270907"/>
        </c:manualLayout>
      </c:layout>
      <c:barChart>
        <c:barDir val="col"/>
        <c:grouping val="clustered"/>
        <c:varyColors val="1"/>
        <c:ser>
          <c:idx val="0"/>
          <c:order val="0"/>
          <c:tx>
            <c:strRef>
              <c:f>Sheet1!$B$1</c:f>
              <c:strCache>
                <c:ptCount val="1"/>
                <c:pt idx="0">
                  <c:v>FY25 EBIDA margin</c:v>
                </c:pt>
              </c:strCache>
            </c:strRef>
          </c:tx>
          <c:spPr>
            <a:solidFill>
              <a:srgbClr val="7F7F7F"/>
            </a:solidFill>
            <a:ln>
              <a:solidFill>
                <a:schemeClr val="bg1"/>
              </a:solidFill>
            </a:ln>
          </c:spPr>
          <c:invertIfNegative val="1"/>
          <c:dPt>
            <c:idx val="16"/>
            <c:invertIfNegative val="1"/>
            <c:bubble3D val="0"/>
            <c:spPr>
              <a:solidFill>
                <a:srgbClr val="C8102E"/>
              </a:solidFill>
              <a:ln>
                <a:solidFill>
                  <a:schemeClr val="bg1"/>
                </a:solidFill>
              </a:ln>
            </c:spPr>
            <c:extLst>
              <c:ext xmlns:c16="http://schemas.microsoft.com/office/drawing/2014/chart" uri="{C3380CC4-5D6E-409C-BE32-E72D297353CC}">
                <c16:uniqueId val="{00000001-F1A1-499D-BD85-758D35ED83C8}"/>
              </c:ext>
            </c:extLst>
          </c:dPt>
          <c:dLbls>
            <c:numFmt formatCode="#,##0.0" sourceLinked="0"/>
            <c:spPr>
              <a:noFill/>
              <a:ln>
                <a:noFill/>
              </a:ln>
              <a:effectLst/>
            </c:spPr>
            <c:txPr>
              <a:bodyPr/>
              <a:lstStyle/>
              <a:p>
                <a:pPr>
                  <a:defRPr sz="1400" b="1">
                    <a:solidFill>
                      <a:srgbClr val="000000"/>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Sheet1!$A$2:$A$23</c:f>
              <c:strCache>
                <c:ptCount val="22"/>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pt idx="21">
                  <c:v>Drexel †</c:v>
                </c:pt>
              </c:strCache>
            </c:strRef>
          </c:cat>
          <c:val>
            <c:numRef>
              <c:f>Sheet1!$B$2:$B$23</c:f>
              <c:numCache>
                <c:formatCode>General</c:formatCode>
                <c:ptCount val="22"/>
                <c:pt idx="0">
                  <c:v>9.9700000000000006</c:v>
                </c:pt>
                <c:pt idx="1">
                  <c:v>23.88</c:v>
                </c:pt>
                <c:pt idx="2">
                  <c:v>18.059999999999999</c:v>
                </c:pt>
                <c:pt idx="3">
                  <c:v>9.86</c:v>
                </c:pt>
                <c:pt idx="4">
                  <c:v>6.85</c:v>
                </c:pt>
                <c:pt idx="5">
                  <c:v>5.64</c:v>
                </c:pt>
                <c:pt idx="6">
                  <c:v>4.8600000000000003</c:v>
                </c:pt>
                <c:pt idx="7">
                  <c:v>9.85</c:v>
                </c:pt>
                <c:pt idx="8">
                  <c:v>7.15</c:v>
                </c:pt>
                <c:pt idx="9">
                  <c:v>2.94</c:v>
                </c:pt>
                <c:pt idx="10">
                  <c:v>18.260000000000002</c:v>
                </c:pt>
                <c:pt idx="11">
                  <c:v>14.96</c:v>
                </c:pt>
                <c:pt idx="12">
                  <c:v>11.39</c:v>
                </c:pt>
                <c:pt idx="13">
                  <c:v>10.5</c:v>
                </c:pt>
                <c:pt idx="14">
                  <c:v>9.66</c:v>
                </c:pt>
                <c:pt idx="15">
                  <c:v>9.07</c:v>
                </c:pt>
                <c:pt idx="16">
                  <c:v>9.4600000000000009</c:v>
                </c:pt>
                <c:pt idx="17">
                  <c:v>8.34</c:v>
                </c:pt>
                <c:pt idx="18">
                  <c:v>10.95</c:v>
                </c:pt>
                <c:pt idx="19">
                  <c:v>0.69</c:v>
                </c:pt>
                <c:pt idx="20">
                  <c:v>10.68</c:v>
                </c:pt>
                <c:pt idx="21">
                  <c:v>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chemeClr val="bg1"/>
                    </a:solidFill>
                  </a:ln>
                </c14:spPr>
              </c14:invertSolidFillFmt>
            </c:ext>
            <c:ext xmlns:c16="http://schemas.microsoft.com/office/drawing/2014/chart" uri="{C3380CC4-5D6E-409C-BE32-E72D297353CC}">
              <c16:uniqueId val="{00000002-B892-41E2-91C4-A305EB5790DF}"/>
            </c:ext>
          </c:extLst>
        </c:ser>
        <c:dLbls>
          <c:dLblPos val="outEnd"/>
          <c:showLegendKey val="0"/>
          <c:showVal val="1"/>
          <c:showCatName val="0"/>
          <c:showSerName val="0"/>
          <c:showPercent val="0"/>
          <c:showBubbleSize val="0"/>
        </c:dLbls>
        <c:gapWidth val="45"/>
        <c:axId val="-2068027336"/>
        <c:axId val="-2113994440"/>
      </c:barChart>
      <c:lineChart>
        <c:grouping val="standard"/>
        <c:varyColors val="0"/>
        <c:ser>
          <c:idx val="2"/>
          <c:order val="1"/>
          <c:tx>
            <c:strRef>
              <c:f>Sheet1!$D$1</c:f>
              <c:strCache>
                <c:ptCount val="1"/>
                <c:pt idx="0">
                  <c:v>Moody’s broad A median — 11.5%</c:v>
                </c:pt>
              </c:strCache>
            </c:strRef>
          </c:tx>
          <c:spPr>
            <a:ln w="31750">
              <a:solidFill>
                <a:srgbClr val="000000"/>
              </a:solidFill>
              <a:prstDash val="dash"/>
            </a:ln>
          </c:spPr>
          <c:marker>
            <c:symbol val="none"/>
          </c:marker>
          <c:cat>
            <c:strRef>
              <c:f>Sheet1!$A$2:$A$22</c:f>
              <c:strCache>
                <c:ptCount val="21"/>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strCache>
            </c:strRef>
          </c:cat>
          <c:val>
            <c:numRef>
              <c:f>Sheet1!$D$2:$D$23</c:f>
              <c:numCache>
                <c:formatCode>General</c:formatCode>
                <c:ptCount val="22"/>
                <c:pt idx="0">
                  <c:v>11.5</c:v>
                </c:pt>
                <c:pt idx="1">
                  <c:v>11.5</c:v>
                </c:pt>
                <c:pt idx="2">
                  <c:v>11.5</c:v>
                </c:pt>
                <c:pt idx="3">
                  <c:v>11.5</c:v>
                </c:pt>
                <c:pt idx="4">
                  <c:v>11.5</c:v>
                </c:pt>
                <c:pt idx="5">
                  <c:v>11.5</c:v>
                </c:pt>
                <c:pt idx="6">
                  <c:v>11.5</c:v>
                </c:pt>
                <c:pt idx="7">
                  <c:v>11.5</c:v>
                </c:pt>
                <c:pt idx="8">
                  <c:v>11.5</c:v>
                </c:pt>
                <c:pt idx="9">
                  <c:v>11.5</c:v>
                </c:pt>
                <c:pt idx="10">
                  <c:v>11.5</c:v>
                </c:pt>
                <c:pt idx="11">
                  <c:v>11.5</c:v>
                </c:pt>
                <c:pt idx="12">
                  <c:v>11.5</c:v>
                </c:pt>
                <c:pt idx="13">
                  <c:v>11.5</c:v>
                </c:pt>
                <c:pt idx="14">
                  <c:v>11.5</c:v>
                </c:pt>
                <c:pt idx="15">
                  <c:v>11.5</c:v>
                </c:pt>
                <c:pt idx="16">
                  <c:v>11.5</c:v>
                </c:pt>
                <c:pt idx="17">
                  <c:v>11.5</c:v>
                </c:pt>
                <c:pt idx="18">
                  <c:v>11.5</c:v>
                </c:pt>
                <c:pt idx="19">
                  <c:v>11.5</c:v>
                </c:pt>
                <c:pt idx="20">
                  <c:v>11.5</c:v>
                </c:pt>
                <c:pt idx="21">
                  <c:v>11.5</c:v>
                </c:pt>
              </c:numCache>
            </c:numRef>
          </c:val>
          <c:smooth val="0"/>
          <c:extLst>
            <c:ext xmlns:c16="http://schemas.microsoft.com/office/drawing/2014/chart" uri="{C3380CC4-5D6E-409C-BE32-E72D297353CC}">
              <c16:uniqueId val="{00000003-B892-41E2-91C4-A305EB5790D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chemeClr val="bg1"/>
            </a:solidFill>
          </a:ln>
        </c:spPr>
        <c:txPr>
          <a:bodyPr/>
          <a:lstStyle/>
          <a:p>
            <a:pPr>
              <a:defRPr sz="1100">
                <a:solidFill>
                  <a:schemeClr val="bg1"/>
                </a:solidFill>
                <a:latin typeface="Lato"/>
              </a:defRPr>
            </a:pPr>
            <a:endParaRPr lang="en-US"/>
          </a:p>
        </c:txPr>
        <c:crossAx val="-2113994440"/>
        <c:crosses val="autoZero"/>
        <c:auto val="1"/>
        <c:lblAlgn val="ctr"/>
        <c:lblOffset val="100"/>
        <c:noMultiLvlLbl val="0"/>
      </c:catAx>
      <c:valAx>
        <c:axId val="-2113994440"/>
        <c:scaling>
          <c:orientation val="minMax"/>
          <c:max val="25"/>
          <c:min val="0"/>
        </c:scaling>
        <c:delete val="0"/>
        <c:axPos val="l"/>
        <c:numFmt formatCode="0.0&quot;%&quot;" sourceLinked="0"/>
        <c:majorTickMark val="out"/>
        <c:minorTickMark val="none"/>
        <c:tickLblPos val="nextTo"/>
        <c:spPr>
          <a:ln>
            <a:solidFill>
              <a:schemeClr val="bg1"/>
            </a:solidFill>
          </a:ln>
        </c:spPr>
        <c:txPr>
          <a:bodyPr/>
          <a:lstStyle/>
          <a:p>
            <a:pPr>
              <a:defRPr sz="1000">
                <a:solidFill>
                  <a:schemeClr val="bg1"/>
                </a:solidFill>
                <a:latin typeface="Lato"/>
              </a:defRPr>
            </a:pPr>
            <a:endParaRPr lang="en-US"/>
          </a:p>
        </c:txPr>
        <c:crossAx val="-2068027336"/>
        <c:crosses val="autoZero"/>
        <c:crossBetween val="between"/>
      </c:valAx>
    </c:plotArea>
    <c:legend>
      <c:legendPos val="t"/>
      <c:overlay val="0"/>
      <c:txPr>
        <a:bodyPr/>
        <a:lstStyle/>
        <a:p>
          <a:pPr>
            <a:defRPr sz="1000">
              <a:solidFill>
                <a:srgbClr val="49494D"/>
              </a:solidFill>
              <a:latin typeface="Lato"/>
            </a:defRPr>
          </a:pPr>
          <a:endParaRPr lang="en-US"/>
        </a:p>
      </c:txPr>
    </c:legend>
    <c:plotVisOnly val="1"/>
    <c:dispBlanksAs val="gap"/>
    <c:showDLblsOverMax val="1"/>
  </c:chart>
  <c:txPr>
    <a:bodyPr/>
    <a:lstStyle/>
    <a:p>
      <a:pPr>
        <a:defRPr sz="850">
          <a:latin typeface="Lato"/>
        </a:defRPr>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1146245059288543E-2"/>
          <c:y val="6.8126520681265221E-2"/>
          <c:w val="0.91304347826086962"/>
          <c:h val="0.75669099756690994"/>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Sheet1!$A$2:$A$96</c:f>
              <c:numCache>
                <c:formatCode>General</c:formatCode>
                <c:ptCount val="95"/>
                <c:pt idx="0">
                  <c:v>66666.666666666672</c:v>
                </c:pt>
                <c:pt idx="1">
                  <c:v>70000</c:v>
                </c:pt>
                <c:pt idx="2">
                  <c:v>80000</c:v>
                </c:pt>
                <c:pt idx="3">
                  <c:v>90000</c:v>
                </c:pt>
                <c:pt idx="4">
                  <c:v>100000</c:v>
                </c:pt>
                <c:pt idx="5">
                  <c:v>110000</c:v>
                </c:pt>
                <c:pt idx="6">
                  <c:v>120000</c:v>
                </c:pt>
                <c:pt idx="7">
                  <c:v>130000</c:v>
                </c:pt>
                <c:pt idx="8">
                  <c:v>140000</c:v>
                </c:pt>
                <c:pt idx="9">
                  <c:v>150000</c:v>
                </c:pt>
                <c:pt idx="10">
                  <c:v>160000</c:v>
                </c:pt>
                <c:pt idx="11">
                  <c:v>170000</c:v>
                </c:pt>
                <c:pt idx="12">
                  <c:v>180000</c:v>
                </c:pt>
                <c:pt idx="13">
                  <c:v>190000</c:v>
                </c:pt>
                <c:pt idx="14">
                  <c:v>200000</c:v>
                </c:pt>
                <c:pt idx="15">
                  <c:v>210000</c:v>
                </c:pt>
                <c:pt idx="16">
                  <c:v>220000</c:v>
                </c:pt>
                <c:pt idx="17">
                  <c:v>230000</c:v>
                </c:pt>
                <c:pt idx="18">
                  <c:v>240000</c:v>
                </c:pt>
                <c:pt idx="19">
                  <c:v>250000</c:v>
                </c:pt>
                <c:pt idx="20">
                  <c:v>260000</c:v>
                </c:pt>
                <c:pt idx="21">
                  <c:v>270000</c:v>
                </c:pt>
                <c:pt idx="22">
                  <c:v>280000</c:v>
                </c:pt>
                <c:pt idx="23">
                  <c:v>290000</c:v>
                </c:pt>
                <c:pt idx="24">
                  <c:v>300000</c:v>
                </c:pt>
                <c:pt idx="25">
                  <c:v>310000</c:v>
                </c:pt>
                <c:pt idx="26">
                  <c:v>320000</c:v>
                </c:pt>
                <c:pt idx="27">
                  <c:v>330000</c:v>
                </c:pt>
                <c:pt idx="28">
                  <c:v>340000</c:v>
                </c:pt>
                <c:pt idx="29">
                  <c:v>350000</c:v>
                </c:pt>
                <c:pt idx="30">
                  <c:v>360000</c:v>
                </c:pt>
                <c:pt idx="31">
                  <c:v>370000</c:v>
                </c:pt>
                <c:pt idx="32">
                  <c:v>380000</c:v>
                </c:pt>
                <c:pt idx="33">
                  <c:v>390000</c:v>
                </c:pt>
                <c:pt idx="34">
                  <c:v>400000</c:v>
                </c:pt>
                <c:pt idx="35">
                  <c:v>410000</c:v>
                </c:pt>
                <c:pt idx="36">
                  <c:v>420000</c:v>
                </c:pt>
                <c:pt idx="37">
                  <c:v>430000</c:v>
                </c:pt>
                <c:pt idx="38">
                  <c:v>440000</c:v>
                </c:pt>
                <c:pt idx="39">
                  <c:v>450000</c:v>
                </c:pt>
                <c:pt idx="40">
                  <c:v>460000</c:v>
                </c:pt>
                <c:pt idx="41">
                  <c:v>470000</c:v>
                </c:pt>
                <c:pt idx="42">
                  <c:v>480000</c:v>
                </c:pt>
                <c:pt idx="43">
                  <c:v>490000</c:v>
                </c:pt>
                <c:pt idx="44">
                  <c:v>500000</c:v>
                </c:pt>
                <c:pt idx="45">
                  <c:v>510000</c:v>
                </c:pt>
                <c:pt idx="46">
                  <c:v>520000</c:v>
                </c:pt>
                <c:pt idx="47">
                  <c:v>530000</c:v>
                </c:pt>
                <c:pt idx="48">
                  <c:v>540000</c:v>
                </c:pt>
                <c:pt idx="49">
                  <c:v>550000</c:v>
                </c:pt>
                <c:pt idx="50">
                  <c:v>560000</c:v>
                </c:pt>
                <c:pt idx="51">
                  <c:v>570000</c:v>
                </c:pt>
                <c:pt idx="52">
                  <c:v>580000</c:v>
                </c:pt>
                <c:pt idx="53">
                  <c:v>590000</c:v>
                </c:pt>
                <c:pt idx="54">
                  <c:v>600000</c:v>
                </c:pt>
                <c:pt idx="55">
                  <c:v>610000</c:v>
                </c:pt>
                <c:pt idx="56">
                  <c:v>620000</c:v>
                </c:pt>
                <c:pt idx="57">
                  <c:v>630000</c:v>
                </c:pt>
                <c:pt idx="58">
                  <c:v>640000</c:v>
                </c:pt>
                <c:pt idx="59">
                  <c:v>650000</c:v>
                </c:pt>
                <c:pt idx="60">
                  <c:v>660000</c:v>
                </c:pt>
                <c:pt idx="61">
                  <c:v>670000</c:v>
                </c:pt>
                <c:pt idx="62">
                  <c:v>680000</c:v>
                </c:pt>
                <c:pt idx="63">
                  <c:v>690000</c:v>
                </c:pt>
                <c:pt idx="64">
                  <c:v>700000</c:v>
                </c:pt>
                <c:pt idx="65">
                  <c:v>710000</c:v>
                </c:pt>
                <c:pt idx="66">
                  <c:v>720000</c:v>
                </c:pt>
                <c:pt idx="67">
                  <c:v>730000</c:v>
                </c:pt>
                <c:pt idx="68">
                  <c:v>740000</c:v>
                </c:pt>
                <c:pt idx="69">
                  <c:v>750000</c:v>
                </c:pt>
                <c:pt idx="70">
                  <c:v>760000</c:v>
                </c:pt>
                <c:pt idx="71">
                  <c:v>770000</c:v>
                </c:pt>
                <c:pt idx="72">
                  <c:v>780000</c:v>
                </c:pt>
                <c:pt idx="73">
                  <c:v>790000</c:v>
                </c:pt>
                <c:pt idx="74">
                  <c:v>800000</c:v>
                </c:pt>
                <c:pt idx="75">
                  <c:v>810000</c:v>
                </c:pt>
                <c:pt idx="76">
                  <c:v>820000</c:v>
                </c:pt>
                <c:pt idx="77">
                  <c:v>830000</c:v>
                </c:pt>
                <c:pt idx="78">
                  <c:v>840000</c:v>
                </c:pt>
                <c:pt idx="79">
                  <c:v>850000</c:v>
                </c:pt>
                <c:pt idx="80">
                  <c:v>860000</c:v>
                </c:pt>
                <c:pt idx="81">
                  <c:v>870000</c:v>
                </c:pt>
                <c:pt idx="82">
                  <c:v>880000</c:v>
                </c:pt>
                <c:pt idx="83">
                  <c:v>890000</c:v>
                </c:pt>
                <c:pt idx="84">
                  <c:v>900000</c:v>
                </c:pt>
                <c:pt idx="85">
                  <c:v>910000</c:v>
                </c:pt>
                <c:pt idx="86">
                  <c:v>920000</c:v>
                </c:pt>
                <c:pt idx="87">
                  <c:v>930000</c:v>
                </c:pt>
                <c:pt idx="88">
                  <c:v>940000</c:v>
                </c:pt>
                <c:pt idx="89">
                  <c:v>950000</c:v>
                </c:pt>
                <c:pt idx="90">
                  <c:v>960000</c:v>
                </c:pt>
                <c:pt idx="91">
                  <c:v>970000</c:v>
                </c:pt>
                <c:pt idx="92">
                  <c:v>980000</c:v>
                </c:pt>
                <c:pt idx="93">
                  <c:v>990000</c:v>
                </c:pt>
                <c:pt idx="94">
                  <c:v>1000000</c:v>
                </c:pt>
              </c:numCache>
            </c:numRef>
          </c:xVal>
          <c:yVal>
            <c:numRef>
              <c:f>Sheet1!$B$2:$B$96</c:f>
              <c:numCache>
                <c:formatCode>General</c:formatCode>
                <c:ptCount val="95"/>
                <c:pt idx="0">
                  <c:v>0.6</c:v>
                </c:pt>
                <c:pt idx="1">
                  <c:v>0.5714285714285714</c:v>
                </c:pt>
                <c:pt idx="2">
                  <c:v>0.5</c:v>
                </c:pt>
                <c:pt idx="3">
                  <c:v>0.44444444444444442</c:v>
                </c:pt>
                <c:pt idx="4">
                  <c:v>0.4</c:v>
                </c:pt>
                <c:pt idx="5">
                  <c:v>0.36363636363636365</c:v>
                </c:pt>
                <c:pt idx="6">
                  <c:v>0.33333333333333331</c:v>
                </c:pt>
                <c:pt idx="7">
                  <c:v>0.30769230769230771</c:v>
                </c:pt>
                <c:pt idx="8">
                  <c:v>0.2857142857142857</c:v>
                </c:pt>
                <c:pt idx="9">
                  <c:v>0.26666666666666666</c:v>
                </c:pt>
                <c:pt idx="10">
                  <c:v>0.25</c:v>
                </c:pt>
                <c:pt idx="11">
                  <c:v>0.23529411764705882</c:v>
                </c:pt>
                <c:pt idx="12">
                  <c:v>0.22222222222222221</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9.7560975609756101E-2</c:v>
                </c:pt>
                <c:pt idx="36">
                  <c:v>9.5238095238095233E-2</c:v>
                </c:pt>
                <c:pt idx="37">
                  <c:v>9.3023255813953487E-2</c:v>
                </c:pt>
                <c:pt idx="38">
                  <c:v>9.0909090909090912E-2</c:v>
                </c:pt>
                <c:pt idx="39">
                  <c:v>8.8888888888888892E-2</c:v>
                </c:pt>
                <c:pt idx="40">
                  <c:v>8.6956521739130432E-2</c:v>
                </c:pt>
                <c:pt idx="41">
                  <c:v>8.5106382978723402E-2</c:v>
                </c:pt>
                <c:pt idx="42">
                  <c:v>8.3333333333333329E-2</c:v>
                </c:pt>
                <c:pt idx="43">
                  <c:v>8.1632653061224483E-2</c:v>
                </c:pt>
                <c:pt idx="44">
                  <c:v>0.08</c:v>
                </c:pt>
                <c:pt idx="45">
                  <c:v>7.8431372549019607E-2</c:v>
                </c:pt>
                <c:pt idx="46">
                  <c:v>7.6923076923076927E-2</c:v>
                </c:pt>
                <c:pt idx="47">
                  <c:v>7.5471698113207544E-2</c:v>
                </c:pt>
                <c:pt idx="48">
                  <c:v>7.407407407407407E-2</c:v>
                </c:pt>
                <c:pt idx="49">
                  <c:v>7.2727272727272724E-2</c:v>
                </c:pt>
                <c:pt idx="50">
                  <c:v>7.1428571428571425E-2</c:v>
                </c:pt>
                <c:pt idx="51">
                  <c:v>7.0175438596491224E-2</c:v>
                </c:pt>
                <c:pt idx="52">
                  <c:v>6.8965517241379309E-2</c:v>
                </c:pt>
                <c:pt idx="53">
                  <c:v>6.7796610169491525E-2</c:v>
                </c:pt>
                <c:pt idx="54">
                  <c:v>6.6666666666666666E-2</c:v>
                </c:pt>
                <c:pt idx="55">
                  <c:v>6.5573770491803282E-2</c:v>
                </c:pt>
                <c:pt idx="56">
                  <c:v>6.4516129032258063E-2</c:v>
                </c:pt>
                <c:pt idx="57">
                  <c:v>6.3492063492063489E-2</c:v>
                </c:pt>
                <c:pt idx="58">
                  <c:v>6.25E-2</c:v>
                </c:pt>
                <c:pt idx="59">
                  <c:v>6.1538461538461542E-2</c:v>
                </c:pt>
                <c:pt idx="60">
                  <c:v>6.0606060606060608E-2</c:v>
                </c:pt>
                <c:pt idx="61">
                  <c:v>5.9701492537313432E-2</c:v>
                </c:pt>
                <c:pt idx="62">
                  <c:v>5.8823529411764705E-2</c:v>
                </c:pt>
                <c:pt idx="63">
                  <c:v>5.7971014492753624E-2</c:v>
                </c:pt>
                <c:pt idx="64">
                  <c:v>5.7142857142857141E-2</c:v>
                </c:pt>
                <c:pt idx="65">
                  <c:v>5.6338028169014086E-2</c:v>
                </c:pt>
                <c:pt idx="66">
                  <c:v>5.5555555555555552E-2</c:v>
                </c:pt>
                <c:pt idx="67">
                  <c:v>5.4794520547945202E-2</c:v>
                </c:pt>
                <c:pt idx="68">
                  <c:v>5.4054054054054057E-2</c:v>
                </c:pt>
                <c:pt idx="69">
                  <c:v>5.3333333333333337E-2</c:v>
                </c:pt>
                <c:pt idx="70">
                  <c:v>5.2631578947368418E-2</c:v>
                </c:pt>
                <c:pt idx="71">
                  <c:v>5.1948051948051951E-2</c:v>
                </c:pt>
                <c:pt idx="72">
                  <c:v>5.128205128205128E-2</c:v>
                </c:pt>
                <c:pt idx="73">
                  <c:v>5.0632911392405063E-2</c:v>
                </c:pt>
                <c:pt idx="74">
                  <c:v>0.05</c:v>
                </c:pt>
                <c:pt idx="75">
                  <c:v>4.9382716049382713E-2</c:v>
                </c:pt>
                <c:pt idx="76">
                  <c:v>4.878048780487805E-2</c:v>
                </c:pt>
                <c:pt idx="77">
                  <c:v>4.8192771084337352E-2</c:v>
                </c:pt>
                <c:pt idx="78">
                  <c:v>4.7619047619047616E-2</c:v>
                </c:pt>
                <c:pt idx="79">
                  <c:v>4.7058823529411764E-2</c:v>
                </c:pt>
                <c:pt idx="80">
                  <c:v>4.6511627906976744E-2</c:v>
                </c:pt>
                <c:pt idx="81">
                  <c:v>4.5977011494252873E-2</c:v>
                </c:pt>
                <c:pt idx="82">
                  <c:v>4.5454545454545456E-2</c:v>
                </c:pt>
                <c:pt idx="83">
                  <c:v>4.49438202247191E-2</c:v>
                </c:pt>
                <c:pt idx="84">
                  <c:v>4.4444444444444446E-2</c:v>
                </c:pt>
                <c:pt idx="85">
                  <c:v>4.3956043956043959E-2</c:v>
                </c:pt>
                <c:pt idx="86">
                  <c:v>4.3478260869565216E-2</c:v>
                </c:pt>
                <c:pt idx="87">
                  <c:v>4.3010752688172046E-2</c:v>
                </c:pt>
                <c:pt idx="88">
                  <c:v>4.2553191489361701E-2</c:v>
                </c:pt>
                <c:pt idx="89">
                  <c:v>4.2105263157894736E-2</c:v>
                </c:pt>
                <c:pt idx="90">
                  <c:v>4.1666666666666664E-2</c:v>
                </c:pt>
                <c:pt idx="91">
                  <c:v>4.1237113402061855E-2</c:v>
                </c:pt>
                <c:pt idx="92">
                  <c:v>4.0816326530612242E-2</c:v>
                </c:pt>
                <c:pt idx="93">
                  <c:v>4.0404040404040407E-2</c:v>
                </c:pt>
                <c:pt idx="94">
                  <c:v>0.04</c:v>
                </c:pt>
              </c:numCache>
            </c:numRef>
          </c:yVal>
          <c:smooth val="0"/>
          <c:extLst>
            <c:ext xmlns:c16="http://schemas.microsoft.com/office/drawing/2014/chart" uri="{C3380CC4-5D6E-409C-BE32-E72D297353CC}">
              <c16:uniqueId val="{00000001-1B62-4160-ADA3-F41F64D3854C}"/>
            </c:ext>
          </c:extLst>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Sheet1!$A$99:$A$186</c:f>
              <c:numCache>
                <c:formatCode>General</c:formatCode>
                <c:ptCount val="88"/>
                <c:pt idx="0">
                  <c:v>133333.33333333334</c:v>
                </c:pt>
                <c:pt idx="1">
                  <c:v>140000</c:v>
                </c:pt>
                <c:pt idx="2">
                  <c:v>150000</c:v>
                </c:pt>
                <c:pt idx="3">
                  <c:v>160000</c:v>
                </c:pt>
                <c:pt idx="4">
                  <c:v>170000</c:v>
                </c:pt>
                <c:pt idx="5">
                  <c:v>180000</c:v>
                </c:pt>
                <c:pt idx="6">
                  <c:v>190000</c:v>
                </c:pt>
                <c:pt idx="7">
                  <c:v>200000</c:v>
                </c:pt>
                <c:pt idx="8">
                  <c:v>210000</c:v>
                </c:pt>
                <c:pt idx="9">
                  <c:v>220000</c:v>
                </c:pt>
                <c:pt idx="10">
                  <c:v>230000</c:v>
                </c:pt>
                <c:pt idx="11">
                  <c:v>240000</c:v>
                </c:pt>
                <c:pt idx="12">
                  <c:v>250000</c:v>
                </c:pt>
                <c:pt idx="13">
                  <c:v>260000</c:v>
                </c:pt>
                <c:pt idx="14">
                  <c:v>270000</c:v>
                </c:pt>
                <c:pt idx="15">
                  <c:v>280000</c:v>
                </c:pt>
                <c:pt idx="16">
                  <c:v>290000</c:v>
                </c:pt>
                <c:pt idx="17">
                  <c:v>300000</c:v>
                </c:pt>
                <c:pt idx="18">
                  <c:v>310000</c:v>
                </c:pt>
                <c:pt idx="19">
                  <c:v>320000</c:v>
                </c:pt>
                <c:pt idx="20">
                  <c:v>330000</c:v>
                </c:pt>
                <c:pt idx="21">
                  <c:v>340000</c:v>
                </c:pt>
                <c:pt idx="22">
                  <c:v>350000</c:v>
                </c:pt>
                <c:pt idx="23">
                  <c:v>360000</c:v>
                </c:pt>
                <c:pt idx="24">
                  <c:v>370000</c:v>
                </c:pt>
                <c:pt idx="25">
                  <c:v>380000</c:v>
                </c:pt>
                <c:pt idx="26">
                  <c:v>390000</c:v>
                </c:pt>
                <c:pt idx="27">
                  <c:v>400000</c:v>
                </c:pt>
                <c:pt idx="28">
                  <c:v>410000</c:v>
                </c:pt>
                <c:pt idx="29">
                  <c:v>420000</c:v>
                </c:pt>
                <c:pt idx="30">
                  <c:v>430000</c:v>
                </c:pt>
                <c:pt idx="31">
                  <c:v>440000</c:v>
                </c:pt>
                <c:pt idx="32">
                  <c:v>450000</c:v>
                </c:pt>
                <c:pt idx="33">
                  <c:v>460000</c:v>
                </c:pt>
                <c:pt idx="34">
                  <c:v>470000</c:v>
                </c:pt>
                <c:pt idx="35">
                  <c:v>480000</c:v>
                </c:pt>
                <c:pt idx="36">
                  <c:v>490000</c:v>
                </c:pt>
                <c:pt idx="37">
                  <c:v>500000</c:v>
                </c:pt>
                <c:pt idx="38">
                  <c:v>510000</c:v>
                </c:pt>
                <c:pt idx="39">
                  <c:v>520000</c:v>
                </c:pt>
                <c:pt idx="40">
                  <c:v>530000</c:v>
                </c:pt>
                <c:pt idx="41">
                  <c:v>540000</c:v>
                </c:pt>
                <c:pt idx="42">
                  <c:v>550000</c:v>
                </c:pt>
                <c:pt idx="43">
                  <c:v>560000</c:v>
                </c:pt>
                <c:pt idx="44">
                  <c:v>570000</c:v>
                </c:pt>
                <c:pt idx="45">
                  <c:v>580000</c:v>
                </c:pt>
                <c:pt idx="46">
                  <c:v>590000</c:v>
                </c:pt>
                <c:pt idx="47">
                  <c:v>600000</c:v>
                </c:pt>
                <c:pt idx="48">
                  <c:v>610000</c:v>
                </c:pt>
                <c:pt idx="49">
                  <c:v>620000</c:v>
                </c:pt>
                <c:pt idx="50">
                  <c:v>630000</c:v>
                </c:pt>
                <c:pt idx="51">
                  <c:v>640000</c:v>
                </c:pt>
                <c:pt idx="52">
                  <c:v>650000</c:v>
                </c:pt>
                <c:pt idx="53">
                  <c:v>660000</c:v>
                </c:pt>
                <c:pt idx="54">
                  <c:v>670000</c:v>
                </c:pt>
                <c:pt idx="55">
                  <c:v>680000</c:v>
                </c:pt>
                <c:pt idx="56">
                  <c:v>690000</c:v>
                </c:pt>
                <c:pt idx="57">
                  <c:v>700000</c:v>
                </c:pt>
                <c:pt idx="58">
                  <c:v>710000</c:v>
                </c:pt>
                <c:pt idx="59">
                  <c:v>720000</c:v>
                </c:pt>
                <c:pt idx="60">
                  <c:v>730000</c:v>
                </c:pt>
                <c:pt idx="61">
                  <c:v>740000</c:v>
                </c:pt>
                <c:pt idx="62">
                  <c:v>750000</c:v>
                </c:pt>
                <c:pt idx="63">
                  <c:v>760000</c:v>
                </c:pt>
                <c:pt idx="64">
                  <c:v>770000</c:v>
                </c:pt>
                <c:pt idx="65">
                  <c:v>780000</c:v>
                </c:pt>
                <c:pt idx="66">
                  <c:v>790000</c:v>
                </c:pt>
                <c:pt idx="67">
                  <c:v>800000</c:v>
                </c:pt>
                <c:pt idx="68">
                  <c:v>810000</c:v>
                </c:pt>
                <c:pt idx="69">
                  <c:v>820000</c:v>
                </c:pt>
                <c:pt idx="70">
                  <c:v>830000</c:v>
                </c:pt>
                <c:pt idx="71">
                  <c:v>840000</c:v>
                </c:pt>
                <c:pt idx="72">
                  <c:v>850000</c:v>
                </c:pt>
                <c:pt idx="73">
                  <c:v>860000</c:v>
                </c:pt>
                <c:pt idx="74">
                  <c:v>870000</c:v>
                </c:pt>
                <c:pt idx="75">
                  <c:v>880000</c:v>
                </c:pt>
                <c:pt idx="76">
                  <c:v>890000</c:v>
                </c:pt>
                <c:pt idx="77">
                  <c:v>900000</c:v>
                </c:pt>
                <c:pt idx="78">
                  <c:v>910000</c:v>
                </c:pt>
                <c:pt idx="79">
                  <c:v>920000</c:v>
                </c:pt>
                <c:pt idx="80">
                  <c:v>930000</c:v>
                </c:pt>
                <c:pt idx="81">
                  <c:v>940000</c:v>
                </c:pt>
                <c:pt idx="82">
                  <c:v>950000</c:v>
                </c:pt>
                <c:pt idx="83">
                  <c:v>960000</c:v>
                </c:pt>
                <c:pt idx="84">
                  <c:v>970000</c:v>
                </c:pt>
                <c:pt idx="85">
                  <c:v>980000</c:v>
                </c:pt>
                <c:pt idx="86">
                  <c:v>990000</c:v>
                </c:pt>
                <c:pt idx="87">
                  <c:v>1000000</c:v>
                </c:pt>
              </c:numCache>
            </c:numRef>
          </c:xVal>
          <c:yVal>
            <c:numRef>
              <c:f>Sheet1!$B$99:$B$186</c:f>
              <c:numCache>
                <c:formatCode>General</c:formatCode>
                <c:ptCount val="88"/>
                <c:pt idx="0">
                  <c:v>0.6</c:v>
                </c:pt>
                <c:pt idx="1">
                  <c:v>0.5714285714285714</c:v>
                </c:pt>
                <c:pt idx="2">
                  <c:v>0.53333333333333333</c:v>
                </c:pt>
                <c:pt idx="3">
                  <c:v>0.5</c:v>
                </c:pt>
                <c:pt idx="4">
                  <c:v>0.47058823529411764</c:v>
                </c:pt>
                <c:pt idx="5">
                  <c:v>0.44444444444444442</c:v>
                </c:pt>
                <c:pt idx="6">
                  <c:v>0.42105263157894735</c:v>
                </c:pt>
                <c:pt idx="7">
                  <c:v>0.4</c:v>
                </c:pt>
                <c:pt idx="8">
                  <c:v>0.38095238095238093</c:v>
                </c:pt>
                <c:pt idx="9">
                  <c:v>0.36363636363636365</c:v>
                </c:pt>
                <c:pt idx="10">
                  <c:v>0.34782608695652173</c:v>
                </c:pt>
                <c:pt idx="11">
                  <c:v>0.33333333333333331</c:v>
                </c:pt>
                <c:pt idx="12">
                  <c:v>0.32</c:v>
                </c:pt>
                <c:pt idx="13">
                  <c:v>0.30769230769230771</c:v>
                </c:pt>
                <c:pt idx="14">
                  <c:v>0.29629629629629628</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0.22222222222222221</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0.15686274509803921</c:v>
                </c:pt>
                <c:pt idx="39">
                  <c:v>0.15384615384615385</c:v>
                </c:pt>
                <c:pt idx="40">
                  <c:v>0.15094339622641509</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9.8765432098765427E-2</c:v>
                </c:pt>
                <c:pt idx="69">
                  <c:v>9.7560975609756101E-2</c:v>
                </c:pt>
                <c:pt idx="70">
                  <c:v>9.6385542168674704E-2</c:v>
                </c:pt>
                <c:pt idx="71">
                  <c:v>9.5238095238095233E-2</c:v>
                </c:pt>
                <c:pt idx="72">
                  <c:v>9.4117647058823528E-2</c:v>
                </c:pt>
                <c:pt idx="73">
                  <c:v>9.3023255813953487E-2</c:v>
                </c:pt>
                <c:pt idx="74">
                  <c:v>9.1954022988505746E-2</c:v>
                </c:pt>
                <c:pt idx="75">
                  <c:v>9.0909090909090912E-2</c:v>
                </c:pt>
                <c:pt idx="76">
                  <c:v>8.98876404494382E-2</c:v>
                </c:pt>
                <c:pt idx="77">
                  <c:v>8.8888888888888892E-2</c:v>
                </c:pt>
                <c:pt idx="78">
                  <c:v>8.7912087912087919E-2</c:v>
                </c:pt>
                <c:pt idx="79">
                  <c:v>8.6956521739130432E-2</c:v>
                </c:pt>
                <c:pt idx="80">
                  <c:v>8.6021505376344093E-2</c:v>
                </c:pt>
                <c:pt idx="81">
                  <c:v>8.5106382978723402E-2</c:v>
                </c:pt>
                <c:pt idx="82">
                  <c:v>8.4210526315789472E-2</c:v>
                </c:pt>
                <c:pt idx="83">
                  <c:v>8.3333333333333329E-2</c:v>
                </c:pt>
                <c:pt idx="84">
                  <c:v>8.247422680412371E-2</c:v>
                </c:pt>
                <c:pt idx="85">
                  <c:v>8.1632653061224483E-2</c:v>
                </c:pt>
                <c:pt idx="86">
                  <c:v>8.0808080808080815E-2</c:v>
                </c:pt>
                <c:pt idx="87">
                  <c:v>0.08</c:v>
                </c:pt>
              </c:numCache>
            </c:numRef>
          </c:yVal>
          <c:smooth val="0"/>
          <c:extLst>
            <c:ext xmlns:c16="http://schemas.microsoft.com/office/drawing/2014/chart" uri="{C3380CC4-5D6E-409C-BE32-E72D297353CC}">
              <c16:uniqueId val="{00000003-1B62-4160-ADA3-F41F64D3854C}"/>
            </c:ext>
          </c:extLst>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Sheet1!$A$189:$A$269</c:f>
              <c:numCache>
                <c:formatCode>General</c:formatCode>
                <c:ptCount val="81"/>
                <c:pt idx="0">
                  <c:v>200000</c:v>
                </c:pt>
                <c:pt idx="1">
                  <c:v>210000</c:v>
                </c:pt>
                <c:pt idx="2">
                  <c:v>220000</c:v>
                </c:pt>
                <c:pt idx="3">
                  <c:v>230000</c:v>
                </c:pt>
                <c:pt idx="4">
                  <c:v>240000</c:v>
                </c:pt>
                <c:pt idx="5">
                  <c:v>250000</c:v>
                </c:pt>
                <c:pt idx="6">
                  <c:v>260000</c:v>
                </c:pt>
                <c:pt idx="7">
                  <c:v>270000</c:v>
                </c:pt>
                <c:pt idx="8">
                  <c:v>280000</c:v>
                </c:pt>
                <c:pt idx="9">
                  <c:v>290000</c:v>
                </c:pt>
                <c:pt idx="10">
                  <c:v>300000</c:v>
                </c:pt>
                <c:pt idx="11">
                  <c:v>310000</c:v>
                </c:pt>
                <c:pt idx="12">
                  <c:v>320000</c:v>
                </c:pt>
                <c:pt idx="13">
                  <c:v>330000</c:v>
                </c:pt>
                <c:pt idx="14">
                  <c:v>340000</c:v>
                </c:pt>
                <c:pt idx="15">
                  <c:v>350000</c:v>
                </c:pt>
                <c:pt idx="16">
                  <c:v>360000</c:v>
                </c:pt>
                <c:pt idx="17">
                  <c:v>370000</c:v>
                </c:pt>
                <c:pt idx="18">
                  <c:v>380000</c:v>
                </c:pt>
                <c:pt idx="19">
                  <c:v>390000</c:v>
                </c:pt>
                <c:pt idx="20">
                  <c:v>400000</c:v>
                </c:pt>
                <c:pt idx="21">
                  <c:v>410000</c:v>
                </c:pt>
                <c:pt idx="22">
                  <c:v>420000</c:v>
                </c:pt>
                <c:pt idx="23">
                  <c:v>430000</c:v>
                </c:pt>
                <c:pt idx="24">
                  <c:v>440000</c:v>
                </c:pt>
                <c:pt idx="25">
                  <c:v>450000</c:v>
                </c:pt>
                <c:pt idx="26">
                  <c:v>460000</c:v>
                </c:pt>
                <c:pt idx="27">
                  <c:v>470000</c:v>
                </c:pt>
                <c:pt idx="28">
                  <c:v>480000</c:v>
                </c:pt>
                <c:pt idx="29">
                  <c:v>490000</c:v>
                </c:pt>
                <c:pt idx="30">
                  <c:v>500000</c:v>
                </c:pt>
                <c:pt idx="31">
                  <c:v>510000</c:v>
                </c:pt>
                <c:pt idx="32">
                  <c:v>520000</c:v>
                </c:pt>
                <c:pt idx="33">
                  <c:v>530000</c:v>
                </c:pt>
                <c:pt idx="34">
                  <c:v>540000</c:v>
                </c:pt>
                <c:pt idx="35">
                  <c:v>550000</c:v>
                </c:pt>
                <c:pt idx="36">
                  <c:v>560000</c:v>
                </c:pt>
                <c:pt idx="37">
                  <c:v>570000</c:v>
                </c:pt>
                <c:pt idx="38">
                  <c:v>580000</c:v>
                </c:pt>
                <c:pt idx="39">
                  <c:v>590000</c:v>
                </c:pt>
                <c:pt idx="40">
                  <c:v>600000</c:v>
                </c:pt>
                <c:pt idx="41">
                  <c:v>610000</c:v>
                </c:pt>
                <c:pt idx="42">
                  <c:v>620000</c:v>
                </c:pt>
                <c:pt idx="43">
                  <c:v>630000</c:v>
                </c:pt>
                <c:pt idx="44">
                  <c:v>640000</c:v>
                </c:pt>
                <c:pt idx="45">
                  <c:v>650000</c:v>
                </c:pt>
                <c:pt idx="46">
                  <c:v>660000</c:v>
                </c:pt>
                <c:pt idx="47">
                  <c:v>670000</c:v>
                </c:pt>
                <c:pt idx="48">
                  <c:v>680000</c:v>
                </c:pt>
                <c:pt idx="49">
                  <c:v>690000</c:v>
                </c:pt>
                <c:pt idx="50">
                  <c:v>700000</c:v>
                </c:pt>
                <c:pt idx="51">
                  <c:v>710000</c:v>
                </c:pt>
                <c:pt idx="52">
                  <c:v>720000</c:v>
                </c:pt>
                <c:pt idx="53">
                  <c:v>730000</c:v>
                </c:pt>
                <c:pt idx="54">
                  <c:v>740000</c:v>
                </c:pt>
                <c:pt idx="55">
                  <c:v>750000</c:v>
                </c:pt>
                <c:pt idx="56">
                  <c:v>760000</c:v>
                </c:pt>
                <c:pt idx="57">
                  <c:v>770000</c:v>
                </c:pt>
                <c:pt idx="58">
                  <c:v>780000</c:v>
                </c:pt>
                <c:pt idx="59">
                  <c:v>790000</c:v>
                </c:pt>
                <c:pt idx="60">
                  <c:v>800000</c:v>
                </c:pt>
                <c:pt idx="61">
                  <c:v>810000</c:v>
                </c:pt>
                <c:pt idx="62">
                  <c:v>820000</c:v>
                </c:pt>
                <c:pt idx="63">
                  <c:v>830000</c:v>
                </c:pt>
                <c:pt idx="64">
                  <c:v>840000</c:v>
                </c:pt>
                <c:pt idx="65">
                  <c:v>850000</c:v>
                </c:pt>
                <c:pt idx="66">
                  <c:v>860000</c:v>
                </c:pt>
                <c:pt idx="67">
                  <c:v>870000</c:v>
                </c:pt>
                <c:pt idx="68">
                  <c:v>880000</c:v>
                </c:pt>
                <c:pt idx="69">
                  <c:v>890000</c:v>
                </c:pt>
                <c:pt idx="70">
                  <c:v>900000</c:v>
                </c:pt>
                <c:pt idx="71">
                  <c:v>910000</c:v>
                </c:pt>
                <c:pt idx="72">
                  <c:v>920000</c:v>
                </c:pt>
                <c:pt idx="73">
                  <c:v>930000</c:v>
                </c:pt>
                <c:pt idx="74">
                  <c:v>940000</c:v>
                </c:pt>
                <c:pt idx="75">
                  <c:v>950000</c:v>
                </c:pt>
                <c:pt idx="76">
                  <c:v>960000</c:v>
                </c:pt>
                <c:pt idx="77">
                  <c:v>970000</c:v>
                </c:pt>
                <c:pt idx="78">
                  <c:v>980000</c:v>
                </c:pt>
                <c:pt idx="79">
                  <c:v>990000</c:v>
                </c:pt>
                <c:pt idx="80">
                  <c:v>1000000</c:v>
                </c:pt>
              </c:numCache>
            </c:numRef>
          </c:xVal>
          <c:yVal>
            <c:numRef>
              <c:f>Sheet1!$B$189:$B$269</c:f>
              <c:numCache>
                <c:formatCode>General</c:formatCode>
                <c:ptCount val="81"/>
                <c:pt idx="0">
                  <c:v>0.6</c:v>
                </c:pt>
                <c:pt idx="1">
                  <c:v>0.5714285714285714</c:v>
                </c:pt>
                <c:pt idx="2">
                  <c:v>0.54545454545454541</c:v>
                </c:pt>
                <c:pt idx="3">
                  <c:v>0.52173913043478259</c:v>
                </c:pt>
                <c:pt idx="4">
                  <c:v>0.5</c:v>
                </c:pt>
                <c:pt idx="5">
                  <c:v>0.48</c:v>
                </c:pt>
                <c:pt idx="6">
                  <c:v>0.46153846153846156</c:v>
                </c:pt>
                <c:pt idx="7">
                  <c:v>0.44444444444444442</c:v>
                </c:pt>
                <c:pt idx="8">
                  <c:v>0.42857142857142855</c:v>
                </c:pt>
                <c:pt idx="9">
                  <c:v>0.41379310344827586</c:v>
                </c:pt>
                <c:pt idx="10">
                  <c:v>0.4</c:v>
                </c:pt>
                <c:pt idx="11">
                  <c:v>0.38709677419354838</c:v>
                </c:pt>
                <c:pt idx="12">
                  <c:v>0.375</c:v>
                </c:pt>
                <c:pt idx="13">
                  <c:v>0.36363636363636365</c:v>
                </c:pt>
                <c:pt idx="14">
                  <c:v>0.35294117647058826</c:v>
                </c:pt>
                <c:pt idx="15">
                  <c:v>0.34285714285714286</c:v>
                </c:pt>
                <c:pt idx="16">
                  <c:v>0.33333333333333331</c:v>
                </c:pt>
                <c:pt idx="17">
                  <c:v>0.32432432432432434</c:v>
                </c:pt>
                <c:pt idx="18">
                  <c:v>0.31578947368421051</c:v>
                </c:pt>
                <c:pt idx="19">
                  <c:v>0.30769230769230771</c:v>
                </c:pt>
                <c:pt idx="20">
                  <c:v>0.3</c:v>
                </c:pt>
                <c:pt idx="21">
                  <c:v>0.29268292682926828</c:v>
                </c:pt>
                <c:pt idx="22">
                  <c:v>0.2857142857142857</c:v>
                </c:pt>
                <c:pt idx="23">
                  <c:v>0.27906976744186046</c:v>
                </c:pt>
                <c:pt idx="24">
                  <c:v>0.27272727272727271</c:v>
                </c:pt>
                <c:pt idx="25">
                  <c:v>0.26666666666666666</c:v>
                </c:pt>
                <c:pt idx="26">
                  <c:v>0.2608695652173913</c:v>
                </c:pt>
                <c:pt idx="27">
                  <c:v>0.25531914893617019</c:v>
                </c:pt>
                <c:pt idx="28">
                  <c:v>0.25</c:v>
                </c:pt>
                <c:pt idx="29">
                  <c:v>0.24489795918367346</c:v>
                </c:pt>
                <c:pt idx="30">
                  <c:v>0.24</c:v>
                </c:pt>
                <c:pt idx="31">
                  <c:v>0.23529411764705882</c:v>
                </c:pt>
                <c:pt idx="32">
                  <c:v>0.23076923076923078</c:v>
                </c:pt>
                <c:pt idx="33">
                  <c:v>0.22641509433962265</c:v>
                </c:pt>
                <c:pt idx="34">
                  <c:v>0.22222222222222221</c:v>
                </c:pt>
                <c:pt idx="35">
                  <c:v>0.21818181818181817</c:v>
                </c:pt>
                <c:pt idx="36">
                  <c:v>0.21428571428571427</c:v>
                </c:pt>
                <c:pt idx="37">
                  <c:v>0.21052631578947367</c:v>
                </c:pt>
                <c:pt idx="38">
                  <c:v>0.20689655172413793</c:v>
                </c:pt>
                <c:pt idx="39">
                  <c:v>0.20338983050847459</c:v>
                </c:pt>
                <c:pt idx="40">
                  <c:v>0.2</c:v>
                </c:pt>
                <c:pt idx="41">
                  <c:v>0.19672131147540983</c:v>
                </c:pt>
                <c:pt idx="42">
                  <c:v>0.19354838709677419</c:v>
                </c:pt>
                <c:pt idx="43">
                  <c:v>0.19047619047619047</c:v>
                </c:pt>
                <c:pt idx="44">
                  <c:v>0.1875</c:v>
                </c:pt>
                <c:pt idx="45">
                  <c:v>0.18461538461538463</c:v>
                </c:pt>
                <c:pt idx="46">
                  <c:v>0.18181818181818182</c:v>
                </c:pt>
                <c:pt idx="47">
                  <c:v>0.17910447761194029</c:v>
                </c:pt>
                <c:pt idx="48">
                  <c:v>0.17647058823529413</c:v>
                </c:pt>
                <c:pt idx="49">
                  <c:v>0.17391304347826086</c:v>
                </c:pt>
                <c:pt idx="50">
                  <c:v>0.17142857142857143</c:v>
                </c:pt>
                <c:pt idx="51">
                  <c:v>0.16901408450704225</c:v>
                </c:pt>
                <c:pt idx="52">
                  <c:v>0.16666666666666666</c:v>
                </c:pt>
                <c:pt idx="53">
                  <c:v>0.16438356164383561</c:v>
                </c:pt>
                <c:pt idx="54">
                  <c:v>0.16216216216216217</c:v>
                </c:pt>
                <c:pt idx="55">
                  <c:v>0.16</c:v>
                </c:pt>
                <c:pt idx="56">
                  <c:v>0.15789473684210525</c:v>
                </c:pt>
                <c:pt idx="57">
                  <c:v>0.15584415584415584</c:v>
                </c:pt>
                <c:pt idx="58">
                  <c:v>0.15384615384615385</c:v>
                </c:pt>
                <c:pt idx="59">
                  <c:v>0.15189873417721519</c:v>
                </c:pt>
                <c:pt idx="60">
                  <c:v>0.15</c:v>
                </c:pt>
                <c:pt idx="61">
                  <c:v>0.14814814814814814</c:v>
                </c:pt>
                <c:pt idx="62">
                  <c:v>0.14634146341463414</c:v>
                </c:pt>
                <c:pt idx="63">
                  <c:v>0.14457831325301204</c:v>
                </c:pt>
                <c:pt idx="64">
                  <c:v>0.14285714285714285</c:v>
                </c:pt>
                <c:pt idx="65">
                  <c:v>0.14117647058823529</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extLst>
            <c:ext xmlns:c16="http://schemas.microsoft.com/office/drawing/2014/chart" uri="{C3380CC4-5D6E-409C-BE32-E72D297353CC}">
              <c16:uniqueId val="{00000005-1B62-4160-ADA3-F41F64D3854C}"/>
            </c:ext>
          </c:extLst>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Sheet1!$A$272:$A$346</c:f>
              <c:numCache>
                <c:formatCode>General</c:formatCode>
                <c:ptCount val="75"/>
                <c:pt idx="0">
                  <c:v>266666.66666666669</c:v>
                </c:pt>
                <c:pt idx="1">
                  <c:v>270000</c:v>
                </c:pt>
                <c:pt idx="2">
                  <c:v>280000</c:v>
                </c:pt>
                <c:pt idx="3">
                  <c:v>290000</c:v>
                </c:pt>
                <c:pt idx="4">
                  <c:v>300000</c:v>
                </c:pt>
                <c:pt idx="5">
                  <c:v>310000</c:v>
                </c:pt>
                <c:pt idx="6">
                  <c:v>320000</c:v>
                </c:pt>
                <c:pt idx="7">
                  <c:v>330000</c:v>
                </c:pt>
                <c:pt idx="8">
                  <c:v>340000</c:v>
                </c:pt>
                <c:pt idx="9">
                  <c:v>350000</c:v>
                </c:pt>
                <c:pt idx="10">
                  <c:v>360000</c:v>
                </c:pt>
                <c:pt idx="11">
                  <c:v>370000</c:v>
                </c:pt>
                <c:pt idx="12">
                  <c:v>380000</c:v>
                </c:pt>
                <c:pt idx="13">
                  <c:v>390000</c:v>
                </c:pt>
                <c:pt idx="14">
                  <c:v>400000</c:v>
                </c:pt>
                <c:pt idx="15">
                  <c:v>410000</c:v>
                </c:pt>
                <c:pt idx="16">
                  <c:v>420000</c:v>
                </c:pt>
                <c:pt idx="17">
                  <c:v>430000</c:v>
                </c:pt>
                <c:pt idx="18">
                  <c:v>440000</c:v>
                </c:pt>
                <c:pt idx="19">
                  <c:v>450000</c:v>
                </c:pt>
                <c:pt idx="20">
                  <c:v>460000</c:v>
                </c:pt>
                <c:pt idx="21">
                  <c:v>470000</c:v>
                </c:pt>
                <c:pt idx="22">
                  <c:v>480000</c:v>
                </c:pt>
                <c:pt idx="23">
                  <c:v>490000</c:v>
                </c:pt>
                <c:pt idx="24">
                  <c:v>500000</c:v>
                </c:pt>
                <c:pt idx="25">
                  <c:v>510000</c:v>
                </c:pt>
                <c:pt idx="26">
                  <c:v>520000</c:v>
                </c:pt>
                <c:pt idx="27">
                  <c:v>530000</c:v>
                </c:pt>
                <c:pt idx="28">
                  <c:v>540000</c:v>
                </c:pt>
                <c:pt idx="29">
                  <c:v>550000</c:v>
                </c:pt>
                <c:pt idx="30">
                  <c:v>560000</c:v>
                </c:pt>
                <c:pt idx="31">
                  <c:v>570000</c:v>
                </c:pt>
                <c:pt idx="32">
                  <c:v>580000</c:v>
                </c:pt>
                <c:pt idx="33">
                  <c:v>590000</c:v>
                </c:pt>
                <c:pt idx="34">
                  <c:v>600000</c:v>
                </c:pt>
                <c:pt idx="35">
                  <c:v>610000</c:v>
                </c:pt>
                <c:pt idx="36">
                  <c:v>620000</c:v>
                </c:pt>
                <c:pt idx="37">
                  <c:v>630000</c:v>
                </c:pt>
                <c:pt idx="38">
                  <c:v>640000</c:v>
                </c:pt>
                <c:pt idx="39">
                  <c:v>650000</c:v>
                </c:pt>
                <c:pt idx="40">
                  <c:v>660000</c:v>
                </c:pt>
                <c:pt idx="41">
                  <c:v>670000</c:v>
                </c:pt>
                <c:pt idx="42">
                  <c:v>680000</c:v>
                </c:pt>
                <c:pt idx="43">
                  <c:v>690000</c:v>
                </c:pt>
                <c:pt idx="44">
                  <c:v>700000</c:v>
                </c:pt>
                <c:pt idx="45">
                  <c:v>710000</c:v>
                </c:pt>
                <c:pt idx="46">
                  <c:v>720000</c:v>
                </c:pt>
                <c:pt idx="47">
                  <c:v>730000</c:v>
                </c:pt>
                <c:pt idx="48">
                  <c:v>740000</c:v>
                </c:pt>
                <c:pt idx="49">
                  <c:v>750000</c:v>
                </c:pt>
                <c:pt idx="50">
                  <c:v>760000</c:v>
                </c:pt>
                <c:pt idx="51">
                  <c:v>770000</c:v>
                </c:pt>
                <c:pt idx="52">
                  <c:v>780000</c:v>
                </c:pt>
                <c:pt idx="53">
                  <c:v>790000</c:v>
                </c:pt>
                <c:pt idx="54">
                  <c:v>800000</c:v>
                </c:pt>
                <c:pt idx="55">
                  <c:v>810000</c:v>
                </c:pt>
                <c:pt idx="56">
                  <c:v>820000</c:v>
                </c:pt>
                <c:pt idx="57">
                  <c:v>830000</c:v>
                </c:pt>
                <c:pt idx="58">
                  <c:v>840000</c:v>
                </c:pt>
                <c:pt idx="59">
                  <c:v>850000</c:v>
                </c:pt>
                <c:pt idx="60">
                  <c:v>860000</c:v>
                </c:pt>
                <c:pt idx="61">
                  <c:v>870000</c:v>
                </c:pt>
                <c:pt idx="62">
                  <c:v>880000</c:v>
                </c:pt>
                <c:pt idx="63">
                  <c:v>890000</c:v>
                </c:pt>
                <c:pt idx="64">
                  <c:v>900000</c:v>
                </c:pt>
                <c:pt idx="65">
                  <c:v>910000</c:v>
                </c:pt>
                <c:pt idx="66">
                  <c:v>920000</c:v>
                </c:pt>
                <c:pt idx="67">
                  <c:v>930000</c:v>
                </c:pt>
                <c:pt idx="68">
                  <c:v>940000</c:v>
                </c:pt>
                <c:pt idx="69">
                  <c:v>950000</c:v>
                </c:pt>
                <c:pt idx="70">
                  <c:v>960000</c:v>
                </c:pt>
                <c:pt idx="71">
                  <c:v>970000</c:v>
                </c:pt>
                <c:pt idx="72">
                  <c:v>980000</c:v>
                </c:pt>
                <c:pt idx="73">
                  <c:v>990000</c:v>
                </c:pt>
                <c:pt idx="74">
                  <c:v>1000000</c:v>
                </c:pt>
              </c:numCache>
            </c:numRef>
          </c:xVal>
          <c:yVal>
            <c:numRef>
              <c:f>Sheet1!$B$272:$B$346</c:f>
              <c:numCache>
                <c:formatCode>General</c:formatCode>
                <c:ptCount val="75"/>
                <c:pt idx="0">
                  <c:v>0.6</c:v>
                </c:pt>
                <c:pt idx="1">
                  <c:v>0.59259259259259256</c:v>
                </c:pt>
                <c:pt idx="2">
                  <c:v>0.5714285714285714</c:v>
                </c:pt>
                <c:pt idx="3">
                  <c:v>0.55172413793103448</c:v>
                </c:pt>
                <c:pt idx="4">
                  <c:v>0.53333333333333333</c:v>
                </c:pt>
                <c:pt idx="5">
                  <c:v>0.5161290322580645</c:v>
                </c:pt>
                <c:pt idx="6">
                  <c:v>0.5</c:v>
                </c:pt>
                <c:pt idx="7">
                  <c:v>0.48484848484848486</c:v>
                </c:pt>
                <c:pt idx="8">
                  <c:v>0.47058823529411764</c:v>
                </c:pt>
                <c:pt idx="9">
                  <c:v>0.45714285714285713</c:v>
                </c:pt>
                <c:pt idx="10">
                  <c:v>0.44444444444444442</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0.34042553191489361</c:v>
                </c:pt>
                <c:pt idx="22">
                  <c:v>0.33333333333333331</c:v>
                </c:pt>
                <c:pt idx="23">
                  <c:v>0.32653061224489793</c:v>
                </c:pt>
                <c:pt idx="24">
                  <c:v>0.32</c:v>
                </c:pt>
                <c:pt idx="25">
                  <c:v>0.31372549019607843</c:v>
                </c:pt>
                <c:pt idx="26">
                  <c:v>0.30769230769230771</c:v>
                </c:pt>
                <c:pt idx="27">
                  <c:v>0.30188679245283018</c:v>
                </c:pt>
                <c:pt idx="28">
                  <c:v>0.29629629629629628</c:v>
                </c:pt>
                <c:pt idx="29">
                  <c:v>0.29090909090909089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0.22222222222222221</c:v>
                </c:pt>
                <c:pt idx="47">
                  <c:v>0.21917808219178081</c:v>
                </c:pt>
                <c:pt idx="48">
                  <c:v>0.21621621621621623</c:v>
                </c:pt>
                <c:pt idx="49">
                  <c:v>0.21333333333333335</c:v>
                </c:pt>
                <c:pt idx="50">
                  <c:v>0.21052631578947367</c:v>
                </c:pt>
                <c:pt idx="51">
                  <c:v>0.20779220779220781</c:v>
                </c:pt>
                <c:pt idx="52">
                  <c:v>0.20512820512820512</c:v>
                </c:pt>
                <c:pt idx="53">
                  <c:v>0.20253164556962025</c:v>
                </c:pt>
                <c:pt idx="54">
                  <c:v>0.2</c:v>
                </c:pt>
                <c:pt idx="55">
                  <c:v>0.19753086419753085</c:v>
                </c:pt>
                <c:pt idx="56">
                  <c:v>0.1951219512195122</c:v>
                </c:pt>
                <c:pt idx="57">
                  <c:v>0.19277108433734941</c:v>
                </c:pt>
                <c:pt idx="58">
                  <c:v>0.19047619047619047</c:v>
                </c:pt>
                <c:pt idx="59">
                  <c:v>0.18823529411764706</c:v>
                </c:pt>
                <c:pt idx="60">
                  <c:v>0.18604651162790697</c:v>
                </c:pt>
                <c:pt idx="61">
                  <c:v>0.18390804597701149</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extLst>
            <c:ext xmlns:c16="http://schemas.microsoft.com/office/drawing/2014/chart" uri="{C3380CC4-5D6E-409C-BE32-E72D297353CC}">
              <c16:uniqueId val="{00000007-1B62-4160-ADA3-F41F64D3854C}"/>
            </c:ext>
          </c:extLst>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Sheet1!$A$349:$A$416</c:f>
              <c:numCache>
                <c:formatCode>General</c:formatCode>
                <c:ptCount val="68"/>
                <c:pt idx="0">
                  <c:v>333333.33333333337</c:v>
                </c:pt>
                <c:pt idx="1">
                  <c:v>340000</c:v>
                </c:pt>
                <c:pt idx="2">
                  <c:v>350000</c:v>
                </c:pt>
                <c:pt idx="3">
                  <c:v>360000</c:v>
                </c:pt>
                <c:pt idx="4">
                  <c:v>370000</c:v>
                </c:pt>
                <c:pt idx="5">
                  <c:v>380000</c:v>
                </c:pt>
                <c:pt idx="6">
                  <c:v>390000</c:v>
                </c:pt>
                <c:pt idx="7">
                  <c:v>400000</c:v>
                </c:pt>
                <c:pt idx="8">
                  <c:v>410000</c:v>
                </c:pt>
                <c:pt idx="9">
                  <c:v>420000</c:v>
                </c:pt>
                <c:pt idx="10">
                  <c:v>430000</c:v>
                </c:pt>
                <c:pt idx="11">
                  <c:v>440000</c:v>
                </c:pt>
                <c:pt idx="12">
                  <c:v>450000</c:v>
                </c:pt>
                <c:pt idx="13">
                  <c:v>460000</c:v>
                </c:pt>
                <c:pt idx="14">
                  <c:v>470000</c:v>
                </c:pt>
                <c:pt idx="15">
                  <c:v>480000</c:v>
                </c:pt>
                <c:pt idx="16">
                  <c:v>490000</c:v>
                </c:pt>
                <c:pt idx="17">
                  <c:v>500000</c:v>
                </c:pt>
                <c:pt idx="18">
                  <c:v>510000</c:v>
                </c:pt>
                <c:pt idx="19">
                  <c:v>520000</c:v>
                </c:pt>
                <c:pt idx="20">
                  <c:v>530000</c:v>
                </c:pt>
                <c:pt idx="21">
                  <c:v>540000</c:v>
                </c:pt>
                <c:pt idx="22">
                  <c:v>550000</c:v>
                </c:pt>
                <c:pt idx="23">
                  <c:v>560000</c:v>
                </c:pt>
                <c:pt idx="24">
                  <c:v>570000</c:v>
                </c:pt>
                <c:pt idx="25">
                  <c:v>580000</c:v>
                </c:pt>
                <c:pt idx="26">
                  <c:v>590000</c:v>
                </c:pt>
                <c:pt idx="27">
                  <c:v>600000</c:v>
                </c:pt>
                <c:pt idx="28">
                  <c:v>610000</c:v>
                </c:pt>
                <c:pt idx="29">
                  <c:v>620000</c:v>
                </c:pt>
                <c:pt idx="30">
                  <c:v>630000</c:v>
                </c:pt>
                <c:pt idx="31">
                  <c:v>640000</c:v>
                </c:pt>
                <c:pt idx="32">
                  <c:v>650000</c:v>
                </c:pt>
                <c:pt idx="33">
                  <c:v>660000</c:v>
                </c:pt>
                <c:pt idx="34">
                  <c:v>670000</c:v>
                </c:pt>
                <c:pt idx="35">
                  <c:v>680000</c:v>
                </c:pt>
                <c:pt idx="36">
                  <c:v>690000</c:v>
                </c:pt>
                <c:pt idx="37">
                  <c:v>700000</c:v>
                </c:pt>
                <c:pt idx="38">
                  <c:v>710000</c:v>
                </c:pt>
                <c:pt idx="39">
                  <c:v>720000</c:v>
                </c:pt>
                <c:pt idx="40">
                  <c:v>730000</c:v>
                </c:pt>
                <c:pt idx="41">
                  <c:v>740000</c:v>
                </c:pt>
                <c:pt idx="42">
                  <c:v>750000</c:v>
                </c:pt>
                <c:pt idx="43">
                  <c:v>760000</c:v>
                </c:pt>
                <c:pt idx="44">
                  <c:v>770000</c:v>
                </c:pt>
                <c:pt idx="45">
                  <c:v>780000</c:v>
                </c:pt>
                <c:pt idx="46">
                  <c:v>790000</c:v>
                </c:pt>
                <c:pt idx="47">
                  <c:v>800000</c:v>
                </c:pt>
                <c:pt idx="48">
                  <c:v>810000</c:v>
                </c:pt>
                <c:pt idx="49">
                  <c:v>820000</c:v>
                </c:pt>
                <c:pt idx="50">
                  <c:v>830000</c:v>
                </c:pt>
                <c:pt idx="51">
                  <c:v>840000</c:v>
                </c:pt>
                <c:pt idx="52">
                  <c:v>850000</c:v>
                </c:pt>
                <c:pt idx="53">
                  <c:v>860000</c:v>
                </c:pt>
                <c:pt idx="54">
                  <c:v>870000</c:v>
                </c:pt>
                <c:pt idx="55">
                  <c:v>880000</c:v>
                </c:pt>
                <c:pt idx="56">
                  <c:v>890000</c:v>
                </c:pt>
                <c:pt idx="57">
                  <c:v>900000</c:v>
                </c:pt>
                <c:pt idx="58">
                  <c:v>910000</c:v>
                </c:pt>
                <c:pt idx="59">
                  <c:v>920000</c:v>
                </c:pt>
                <c:pt idx="60">
                  <c:v>930000</c:v>
                </c:pt>
                <c:pt idx="61">
                  <c:v>940000</c:v>
                </c:pt>
                <c:pt idx="62">
                  <c:v>950000</c:v>
                </c:pt>
                <c:pt idx="63">
                  <c:v>960000</c:v>
                </c:pt>
                <c:pt idx="64">
                  <c:v>970000</c:v>
                </c:pt>
                <c:pt idx="65">
                  <c:v>980000</c:v>
                </c:pt>
                <c:pt idx="66">
                  <c:v>990000</c:v>
                </c:pt>
                <c:pt idx="67">
                  <c:v>1000000</c:v>
                </c:pt>
              </c:numCache>
            </c:numRef>
          </c:xVal>
          <c:yVal>
            <c:numRef>
              <c:f>Sheet1!$B$349:$B$416</c:f>
              <c:numCache>
                <c:formatCode>General</c:formatCode>
                <c:ptCount val="68"/>
                <c:pt idx="0">
                  <c:v>0.6</c:v>
                </c:pt>
                <c:pt idx="1">
                  <c:v>0.58823529411764708</c:v>
                </c:pt>
                <c:pt idx="2">
                  <c:v>0.5714285714285714</c:v>
                </c:pt>
                <c:pt idx="3">
                  <c:v>0.55555555555555558</c:v>
                </c:pt>
                <c:pt idx="4">
                  <c:v>0.54054054054054057</c:v>
                </c:pt>
                <c:pt idx="5">
                  <c:v>0.52631578947368418</c:v>
                </c:pt>
                <c:pt idx="6">
                  <c:v>0.51282051282051277</c:v>
                </c:pt>
                <c:pt idx="7">
                  <c:v>0.5</c:v>
                </c:pt>
                <c:pt idx="8">
                  <c:v>0.48780487804878048</c:v>
                </c:pt>
                <c:pt idx="9">
                  <c:v>0.47619047619047616</c:v>
                </c:pt>
                <c:pt idx="10">
                  <c:v>0.46511627906976744</c:v>
                </c:pt>
                <c:pt idx="11">
                  <c:v>0.45454545454545453</c:v>
                </c:pt>
                <c:pt idx="12">
                  <c:v>0.44444444444444442</c:v>
                </c:pt>
                <c:pt idx="13">
                  <c:v>0.43478260869565216</c:v>
                </c:pt>
                <c:pt idx="14">
                  <c:v>0.42553191489361702</c:v>
                </c:pt>
                <c:pt idx="15">
                  <c:v>0.41666666666666669</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0.35087719298245612</c:v>
                </c:pt>
                <c:pt idx="25">
                  <c:v>0.34482758620689657</c:v>
                </c:pt>
                <c:pt idx="26">
                  <c:v>0.33898305084745761</c:v>
                </c:pt>
                <c:pt idx="27">
                  <c:v>0.33333333333333331</c:v>
                </c:pt>
                <c:pt idx="28">
                  <c:v>0.32786885245901637</c:v>
                </c:pt>
                <c:pt idx="29">
                  <c:v>0.32258064516129031</c:v>
                </c:pt>
                <c:pt idx="30">
                  <c:v>0.31746031746031744</c:v>
                </c:pt>
                <c:pt idx="31">
                  <c:v>0.3125</c:v>
                </c:pt>
                <c:pt idx="32">
                  <c:v>0.30769230769230771</c:v>
                </c:pt>
                <c:pt idx="33">
                  <c:v>0.30303030303030304</c:v>
                </c:pt>
                <c:pt idx="34">
                  <c:v>0.29850746268656714</c:v>
                </c:pt>
                <c:pt idx="35">
                  <c:v>0.29411764705882354</c:v>
                </c:pt>
                <c:pt idx="36">
                  <c:v>0.28985507246376813</c:v>
                </c:pt>
                <c:pt idx="37">
                  <c:v>0.2857142857142857</c:v>
                </c:pt>
                <c:pt idx="38">
                  <c:v>0.28169014084507044</c:v>
                </c:pt>
                <c:pt idx="39">
                  <c:v>0.27777777777777779</c:v>
                </c:pt>
                <c:pt idx="40">
                  <c:v>0.27397260273972601</c:v>
                </c:pt>
                <c:pt idx="41">
                  <c:v>0.27027027027027029</c:v>
                </c:pt>
                <c:pt idx="42">
                  <c:v>0.26666666666666666</c:v>
                </c:pt>
                <c:pt idx="43">
                  <c:v>0.26315789473684209</c:v>
                </c:pt>
                <c:pt idx="44">
                  <c:v>0.25974025974025972</c:v>
                </c:pt>
                <c:pt idx="45">
                  <c:v>0.25641025641025639</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0.22222222222222221</c:v>
                </c:pt>
                <c:pt idx="58">
                  <c:v>0.21978021978021978</c:v>
                </c:pt>
                <c:pt idx="59">
                  <c:v>0.21739130434782608</c:v>
                </c:pt>
                <c:pt idx="60">
                  <c:v>0.21505376344086022</c:v>
                </c:pt>
                <c:pt idx="61">
                  <c:v>0.21276595744680851</c:v>
                </c:pt>
                <c:pt idx="62">
                  <c:v>0.21052631578947367</c:v>
                </c:pt>
                <c:pt idx="63">
                  <c:v>0.20833333333333334</c:v>
                </c:pt>
                <c:pt idx="64">
                  <c:v>0.20618556701030927</c:v>
                </c:pt>
                <c:pt idx="65">
                  <c:v>0.20408163265306123</c:v>
                </c:pt>
                <c:pt idx="66">
                  <c:v>0.20202020202020202</c:v>
                </c:pt>
                <c:pt idx="67">
                  <c:v>0.2</c:v>
                </c:pt>
              </c:numCache>
            </c:numRef>
          </c:yVal>
          <c:smooth val="0"/>
          <c:extLst>
            <c:ext xmlns:c16="http://schemas.microsoft.com/office/drawing/2014/chart" uri="{C3380CC4-5D6E-409C-BE32-E72D297353CC}">
              <c16:uniqueId val="{00000009-1B62-4160-ADA3-F41F64D3854C}"/>
            </c:ext>
          </c:extLst>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Sheet1!$A$419:$A$479</c:f>
              <c:numCache>
                <c:formatCode>General</c:formatCode>
                <c:ptCount val="61"/>
                <c:pt idx="0">
                  <c:v>400000</c:v>
                </c:pt>
                <c:pt idx="1">
                  <c:v>410000</c:v>
                </c:pt>
                <c:pt idx="2">
                  <c:v>420000</c:v>
                </c:pt>
                <c:pt idx="3">
                  <c:v>430000</c:v>
                </c:pt>
                <c:pt idx="4">
                  <c:v>440000</c:v>
                </c:pt>
                <c:pt idx="5">
                  <c:v>450000</c:v>
                </c:pt>
                <c:pt idx="6">
                  <c:v>460000</c:v>
                </c:pt>
                <c:pt idx="7">
                  <c:v>470000</c:v>
                </c:pt>
                <c:pt idx="8">
                  <c:v>480000</c:v>
                </c:pt>
                <c:pt idx="9">
                  <c:v>490000</c:v>
                </c:pt>
                <c:pt idx="10">
                  <c:v>500000</c:v>
                </c:pt>
                <c:pt idx="11">
                  <c:v>510000</c:v>
                </c:pt>
                <c:pt idx="12">
                  <c:v>520000</c:v>
                </c:pt>
                <c:pt idx="13">
                  <c:v>530000</c:v>
                </c:pt>
                <c:pt idx="14">
                  <c:v>540000</c:v>
                </c:pt>
                <c:pt idx="15">
                  <c:v>550000</c:v>
                </c:pt>
                <c:pt idx="16">
                  <c:v>560000</c:v>
                </c:pt>
                <c:pt idx="17">
                  <c:v>570000</c:v>
                </c:pt>
                <c:pt idx="18">
                  <c:v>580000</c:v>
                </c:pt>
                <c:pt idx="19">
                  <c:v>590000</c:v>
                </c:pt>
                <c:pt idx="20">
                  <c:v>600000</c:v>
                </c:pt>
                <c:pt idx="21">
                  <c:v>610000</c:v>
                </c:pt>
                <c:pt idx="22">
                  <c:v>620000</c:v>
                </c:pt>
                <c:pt idx="23">
                  <c:v>630000</c:v>
                </c:pt>
                <c:pt idx="24">
                  <c:v>640000</c:v>
                </c:pt>
                <c:pt idx="25">
                  <c:v>650000</c:v>
                </c:pt>
                <c:pt idx="26">
                  <c:v>660000</c:v>
                </c:pt>
                <c:pt idx="27">
                  <c:v>670000</c:v>
                </c:pt>
                <c:pt idx="28">
                  <c:v>680000</c:v>
                </c:pt>
                <c:pt idx="29">
                  <c:v>690000</c:v>
                </c:pt>
                <c:pt idx="30">
                  <c:v>700000</c:v>
                </c:pt>
                <c:pt idx="31">
                  <c:v>710000</c:v>
                </c:pt>
                <c:pt idx="32">
                  <c:v>720000</c:v>
                </c:pt>
                <c:pt idx="33">
                  <c:v>730000</c:v>
                </c:pt>
                <c:pt idx="34">
                  <c:v>740000</c:v>
                </c:pt>
                <c:pt idx="35">
                  <c:v>750000</c:v>
                </c:pt>
                <c:pt idx="36">
                  <c:v>760000</c:v>
                </c:pt>
                <c:pt idx="37">
                  <c:v>770000</c:v>
                </c:pt>
                <c:pt idx="38">
                  <c:v>780000</c:v>
                </c:pt>
                <c:pt idx="39">
                  <c:v>790000</c:v>
                </c:pt>
                <c:pt idx="40">
                  <c:v>800000</c:v>
                </c:pt>
                <c:pt idx="41">
                  <c:v>810000</c:v>
                </c:pt>
                <c:pt idx="42">
                  <c:v>820000</c:v>
                </c:pt>
                <c:pt idx="43">
                  <c:v>830000</c:v>
                </c:pt>
                <c:pt idx="44">
                  <c:v>840000</c:v>
                </c:pt>
                <c:pt idx="45">
                  <c:v>850000</c:v>
                </c:pt>
                <c:pt idx="46">
                  <c:v>860000</c:v>
                </c:pt>
                <c:pt idx="47">
                  <c:v>870000</c:v>
                </c:pt>
                <c:pt idx="48">
                  <c:v>880000</c:v>
                </c:pt>
                <c:pt idx="49">
                  <c:v>890000</c:v>
                </c:pt>
                <c:pt idx="50">
                  <c:v>900000</c:v>
                </c:pt>
                <c:pt idx="51">
                  <c:v>910000</c:v>
                </c:pt>
                <c:pt idx="52">
                  <c:v>920000</c:v>
                </c:pt>
                <c:pt idx="53">
                  <c:v>930000</c:v>
                </c:pt>
                <c:pt idx="54">
                  <c:v>940000</c:v>
                </c:pt>
                <c:pt idx="55">
                  <c:v>950000</c:v>
                </c:pt>
                <c:pt idx="56">
                  <c:v>960000</c:v>
                </c:pt>
                <c:pt idx="57">
                  <c:v>970000</c:v>
                </c:pt>
                <c:pt idx="58">
                  <c:v>980000</c:v>
                </c:pt>
                <c:pt idx="59">
                  <c:v>990000</c:v>
                </c:pt>
                <c:pt idx="60">
                  <c:v>1000000</c:v>
                </c:pt>
              </c:numCache>
            </c:numRef>
          </c:xVal>
          <c:yVal>
            <c:numRef>
              <c:f>Sheet1!$B$419:$B$479</c:f>
              <c:numCache>
                <c:formatCode>General</c:formatCode>
                <c:ptCount val="61"/>
                <c:pt idx="0">
                  <c:v>0.6</c:v>
                </c:pt>
                <c:pt idx="1">
                  <c:v>0.58536585365853655</c:v>
                </c:pt>
                <c:pt idx="2">
                  <c:v>0.5714285714285714</c:v>
                </c:pt>
                <c:pt idx="3">
                  <c:v>0.55813953488372092</c:v>
                </c:pt>
                <c:pt idx="4">
                  <c:v>0.54545454545454541</c:v>
                </c:pt>
                <c:pt idx="5">
                  <c:v>0.53333333333333333</c:v>
                </c:pt>
                <c:pt idx="6">
                  <c:v>0.52173913043478259</c:v>
                </c:pt>
                <c:pt idx="7">
                  <c:v>0.51063829787234039</c:v>
                </c:pt>
                <c:pt idx="8">
                  <c:v>0.5</c:v>
                </c:pt>
                <c:pt idx="9">
                  <c:v>0.48979591836734693</c:v>
                </c:pt>
                <c:pt idx="10">
                  <c:v>0.48</c:v>
                </c:pt>
                <c:pt idx="11">
                  <c:v>0.47058823529411764</c:v>
                </c:pt>
                <c:pt idx="12">
                  <c:v>0.46153846153846156</c:v>
                </c:pt>
                <c:pt idx="13">
                  <c:v>0.45283018867924529</c:v>
                </c:pt>
                <c:pt idx="14">
                  <c:v>0.44444444444444442</c:v>
                </c:pt>
                <c:pt idx="15">
                  <c:v>0.43636363636363634</c:v>
                </c:pt>
                <c:pt idx="16">
                  <c:v>0.42857142857142855</c:v>
                </c:pt>
                <c:pt idx="17">
                  <c:v>0.42105263157894735</c:v>
                </c:pt>
                <c:pt idx="18">
                  <c:v>0.41379310344827586</c:v>
                </c:pt>
                <c:pt idx="19">
                  <c:v>0.40677966101694918</c:v>
                </c:pt>
                <c:pt idx="20">
                  <c:v>0.4</c:v>
                </c:pt>
                <c:pt idx="21">
                  <c:v>0.39344262295081966</c:v>
                </c:pt>
                <c:pt idx="22">
                  <c:v>0.38709677419354838</c:v>
                </c:pt>
                <c:pt idx="23">
                  <c:v>0.38095238095238093</c:v>
                </c:pt>
                <c:pt idx="24">
                  <c:v>0.375</c:v>
                </c:pt>
                <c:pt idx="25">
                  <c:v>0.36923076923076925</c:v>
                </c:pt>
                <c:pt idx="26">
                  <c:v>0.36363636363636365</c:v>
                </c:pt>
                <c:pt idx="27">
                  <c:v>0.35820895522388058</c:v>
                </c:pt>
                <c:pt idx="28">
                  <c:v>0.35294117647058826</c:v>
                </c:pt>
                <c:pt idx="29">
                  <c:v>0.34782608695652173</c:v>
                </c:pt>
                <c:pt idx="30">
                  <c:v>0.34285714285714286</c:v>
                </c:pt>
                <c:pt idx="31">
                  <c:v>0.3380281690140845</c:v>
                </c:pt>
                <c:pt idx="32">
                  <c:v>0.33333333333333331</c:v>
                </c:pt>
                <c:pt idx="33">
                  <c:v>0.32876712328767121</c:v>
                </c:pt>
                <c:pt idx="34">
                  <c:v>0.32432432432432434</c:v>
                </c:pt>
                <c:pt idx="35">
                  <c:v>0.32</c:v>
                </c:pt>
                <c:pt idx="36">
                  <c:v>0.31578947368421051</c:v>
                </c:pt>
                <c:pt idx="37">
                  <c:v>0.31168831168831168</c:v>
                </c:pt>
                <c:pt idx="38">
                  <c:v>0.30769230769230771</c:v>
                </c:pt>
                <c:pt idx="39">
                  <c:v>0.30379746835443039</c:v>
                </c:pt>
                <c:pt idx="40">
                  <c:v>0.3</c:v>
                </c:pt>
                <c:pt idx="41">
                  <c:v>0.29629629629629628</c:v>
                </c:pt>
                <c:pt idx="42">
                  <c:v>0.29268292682926828</c:v>
                </c:pt>
                <c:pt idx="43">
                  <c:v>0.28915662650602408</c:v>
                </c:pt>
                <c:pt idx="44">
                  <c:v>0.2857142857142857</c:v>
                </c:pt>
                <c:pt idx="45">
                  <c:v>0.28235294117647058</c:v>
                </c:pt>
                <c:pt idx="46">
                  <c:v>0.27906976744186046</c:v>
                </c:pt>
                <c:pt idx="47">
                  <c:v>0.27586206896551724</c:v>
                </c:pt>
                <c:pt idx="48">
                  <c:v>0.27272727272727271</c:v>
                </c:pt>
                <c:pt idx="49">
                  <c:v>0.2696629213483146</c:v>
                </c:pt>
                <c:pt idx="50">
                  <c:v>0.26666666666666666</c:v>
                </c:pt>
                <c:pt idx="51">
                  <c:v>0.26373626373626374</c:v>
                </c:pt>
                <c:pt idx="52">
                  <c:v>0.2608695652173913</c:v>
                </c:pt>
                <c:pt idx="53">
                  <c:v>0.25806451612903225</c:v>
                </c:pt>
                <c:pt idx="54">
                  <c:v>0.25531914893617019</c:v>
                </c:pt>
                <c:pt idx="55">
                  <c:v>0.25263157894736843</c:v>
                </c:pt>
                <c:pt idx="56">
                  <c:v>0.25</c:v>
                </c:pt>
                <c:pt idx="57">
                  <c:v>0.24742268041237114</c:v>
                </c:pt>
                <c:pt idx="58">
                  <c:v>0.24489795918367346</c:v>
                </c:pt>
                <c:pt idx="59">
                  <c:v>0.24242424242424243</c:v>
                </c:pt>
                <c:pt idx="60">
                  <c:v>0.24</c:v>
                </c:pt>
              </c:numCache>
            </c:numRef>
          </c:yVal>
          <c:smooth val="0"/>
          <c:extLst>
            <c:ext xmlns:c16="http://schemas.microsoft.com/office/drawing/2014/chart" uri="{C3380CC4-5D6E-409C-BE32-E72D297353CC}">
              <c16:uniqueId val="{0000000B-1B62-4160-ADA3-F41F64D3854C}"/>
            </c:ext>
          </c:extLst>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Sheet1!$A$482:$A$536</c:f>
              <c:numCache>
                <c:formatCode>General</c:formatCode>
                <c:ptCount val="55"/>
                <c:pt idx="0">
                  <c:v>466666.66666666669</c:v>
                </c:pt>
                <c:pt idx="1">
                  <c:v>470000</c:v>
                </c:pt>
                <c:pt idx="2">
                  <c:v>480000</c:v>
                </c:pt>
                <c:pt idx="3">
                  <c:v>490000</c:v>
                </c:pt>
                <c:pt idx="4">
                  <c:v>500000</c:v>
                </c:pt>
                <c:pt idx="5">
                  <c:v>510000</c:v>
                </c:pt>
                <c:pt idx="6">
                  <c:v>520000</c:v>
                </c:pt>
                <c:pt idx="7">
                  <c:v>530000</c:v>
                </c:pt>
                <c:pt idx="8">
                  <c:v>540000</c:v>
                </c:pt>
                <c:pt idx="9">
                  <c:v>550000</c:v>
                </c:pt>
                <c:pt idx="10">
                  <c:v>560000</c:v>
                </c:pt>
                <c:pt idx="11">
                  <c:v>570000</c:v>
                </c:pt>
                <c:pt idx="12">
                  <c:v>580000</c:v>
                </c:pt>
                <c:pt idx="13">
                  <c:v>590000</c:v>
                </c:pt>
                <c:pt idx="14">
                  <c:v>600000</c:v>
                </c:pt>
                <c:pt idx="15">
                  <c:v>610000</c:v>
                </c:pt>
                <c:pt idx="16">
                  <c:v>620000</c:v>
                </c:pt>
                <c:pt idx="17">
                  <c:v>630000</c:v>
                </c:pt>
                <c:pt idx="18">
                  <c:v>640000</c:v>
                </c:pt>
                <c:pt idx="19">
                  <c:v>650000</c:v>
                </c:pt>
                <c:pt idx="20">
                  <c:v>660000</c:v>
                </c:pt>
                <c:pt idx="21">
                  <c:v>670000</c:v>
                </c:pt>
                <c:pt idx="22">
                  <c:v>680000</c:v>
                </c:pt>
                <c:pt idx="23">
                  <c:v>690000</c:v>
                </c:pt>
                <c:pt idx="24">
                  <c:v>700000</c:v>
                </c:pt>
                <c:pt idx="25">
                  <c:v>710000</c:v>
                </c:pt>
                <c:pt idx="26">
                  <c:v>720000</c:v>
                </c:pt>
                <c:pt idx="27">
                  <c:v>730000</c:v>
                </c:pt>
                <c:pt idx="28">
                  <c:v>740000</c:v>
                </c:pt>
                <c:pt idx="29">
                  <c:v>750000</c:v>
                </c:pt>
                <c:pt idx="30">
                  <c:v>760000</c:v>
                </c:pt>
                <c:pt idx="31">
                  <c:v>770000</c:v>
                </c:pt>
                <c:pt idx="32">
                  <c:v>780000</c:v>
                </c:pt>
                <c:pt idx="33">
                  <c:v>790000</c:v>
                </c:pt>
                <c:pt idx="34">
                  <c:v>800000</c:v>
                </c:pt>
                <c:pt idx="35">
                  <c:v>810000</c:v>
                </c:pt>
                <c:pt idx="36">
                  <c:v>820000</c:v>
                </c:pt>
                <c:pt idx="37">
                  <c:v>830000</c:v>
                </c:pt>
                <c:pt idx="38">
                  <c:v>840000</c:v>
                </c:pt>
                <c:pt idx="39">
                  <c:v>850000</c:v>
                </c:pt>
                <c:pt idx="40">
                  <c:v>860000</c:v>
                </c:pt>
                <c:pt idx="41">
                  <c:v>870000</c:v>
                </c:pt>
                <c:pt idx="42">
                  <c:v>880000</c:v>
                </c:pt>
                <c:pt idx="43">
                  <c:v>890000</c:v>
                </c:pt>
                <c:pt idx="44">
                  <c:v>900000</c:v>
                </c:pt>
                <c:pt idx="45">
                  <c:v>910000</c:v>
                </c:pt>
                <c:pt idx="46">
                  <c:v>920000</c:v>
                </c:pt>
                <c:pt idx="47">
                  <c:v>930000</c:v>
                </c:pt>
                <c:pt idx="48">
                  <c:v>940000</c:v>
                </c:pt>
                <c:pt idx="49">
                  <c:v>950000</c:v>
                </c:pt>
                <c:pt idx="50">
                  <c:v>960000</c:v>
                </c:pt>
                <c:pt idx="51">
                  <c:v>970000</c:v>
                </c:pt>
                <c:pt idx="52">
                  <c:v>980000</c:v>
                </c:pt>
                <c:pt idx="53">
                  <c:v>990000</c:v>
                </c:pt>
                <c:pt idx="54">
                  <c:v>1000000</c:v>
                </c:pt>
              </c:numCache>
            </c:numRef>
          </c:xVal>
          <c:yVal>
            <c:numRef>
              <c:f>Sheet1!$B$482:$B$536</c:f>
              <c:numCache>
                <c:formatCode>General</c:formatCode>
                <c:ptCount val="55"/>
                <c:pt idx="0">
                  <c:v>0.6</c:v>
                </c:pt>
                <c:pt idx="1">
                  <c:v>0.5957446808510638</c:v>
                </c:pt>
                <c:pt idx="2">
                  <c:v>0.58333333333333337</c:v>
                </c:pt>
                <c:pt idx="3">
                  <c:v>0.5714285714285714</c:v>
                </c:pt>
                <c:pt idx="4">
                  <c:v>0.56000000000000005</c:v>
                </c:pt>
                <c:pt idx="5">
                  <c:v>0.5490196078431373</c:v>
                </c:pt>
                <c:pt idx="6">
                  <c:v>0.53846153846153844</c:v>
                </c:pt>
                <c:pt idx="7">
                  <c:v>0.52830188679245282</c:v>
                </c:pt>
                <c:pt idx="8">
                  <c:v>0.51851851851851849</c:v>
                </c:pt>
                <c:pt idx="9">
                  <c:v>0.50909090909090904</c:v>
                </c:pt>
                <c:pt idx="10">
                  <c:v>0.5</c:v>
                </c:pt>
                <c:pt idx="11">
                  <c:v>0.49122807017543857</c:v>
                </c:pt>
                <c:pt idx="12">
                  <c:v>0.48275862068965519</c:v>
                </c:pt>
                <c:pt idx="13">
                  <c:v>0.47457627118644069</c:v>
                </c:pt>
                <c:pt idx="14">
                  <c:v>0.46666666666666667</c:v>
                </c:pt>
                <c:pt idx="15">
                  <c:v>0.45901639344262296</c:v>
                </c:pt>
                <c:pt idx="16">
                  <c:v>0.45161290322580644</c:v>
                </c:pt>
                <c:pt idx="17">
                  <c:v>0.44444444444444442</c:v>
                </c:pt>
                <c:pt idx="18">
                  <c:v>0.4375</c:v>
                </c:pt>
                <c:pt idx="19">
                  <c:v>0.43076923076923079</c:v>
                </c:pt>
                <c:pt idx="20">
                  <c:v>0.42424242424242425</c:v>
                </c:pt>
                <c:pt idx="21">
                  <c:v>0.41791044776119401</c:v>
                </c:pt>
                <c:pt idx="22">
                  <c:v>0.41176470588235292</c:v>
                </c:pt>
                <c:pt idx="23">
                  <c:v>0.40579710144927539</c:v>
                </c:pt>
                <c:pt idx="24">
                  <c:v>0.4</c:v>
                </c:pt>
                <c:pt idx="25">
                  <c:v>0.39436619718309857</c:v>
                </c:pt>
                <c:pt idx="26">
                  <c:v>0.3888888888888889</c:v>
                </c:pt>
                <c:pt idx="27">
                  <c:v>0.38356164383561642</c:v>
                </c:pt>
                <c:pt idx="28">
                  <c:v>0.3783783783783784</c:v>
                </c:pt>
                <c:pt idx="29">
                  <c:v>0.37333333333333335</c:v>
                </c:pt>
                <c:pt idx="30">
                  <c:v>0.36842105263157893</c:v>
                </c:pt>
                <c:pt idx="31">
                  <c:v>0.36363636363636365</c:v>
                </c:pt>
                <c:pt idx="32">
                  <c:v>0.35897435897435898</c:v>
                </c:pt>
                <c:pt idx="33">
                  <c:v>0.35443037974683544</c:v>
                </c:pt>
                <c:pt idx="34">
                  <c:v>0.35</c:v>
                </c:pt>
                <c:pt idx="35">
                  <c:v>0.34567901234567899</c:v>
                </c:pt>
                <c:pt idx="36">
                  <c:v>0.34146341463414637</c:v>
                </c:pt>
                <c:pt idx="37">
                  <c:v>0.33734939759036142</c:v>
                </c:pt>
                <c:pt idx="38">
                  <c:v>0.33333333333333331</c:v>
                </c:pt>
                <c:pt idx="39">
                  <c:v>0.32941176470588235</c:v>
                </c:pt>
                <c:pt idx="40">
                  <c:v>0.32558139534883723</c:v>
                </c:pt>
                <c:pt idx="41">
                  <c:v>0.32183908045977011</c:v>
                </c:pt>
                <c:pt idx="42">
                  <c:v>0.31818181818181818</c:v>
                </c:pt>
                <c:pt idx="43">
                  <c:v>0.3146067415730337</c:v>
                </c:pt>
                <c:pt idx="44">
                  <c:v>0.31111111111111112</c:v>
                </c:pt>
                <c:pt idx="45">
                  <c:v>0.30769230769230771</c:v>
                </c:pt>
                <c:pt idx="46">
                  <c:v>0.30434782608695654</c:v>
                </c:pt>
                <c:pt idx="47">
                  <c:v>0.30107526881720431</c:v>
                </c:pt>
                <c:pt idx="48">
                  <c:v>0.2978723404255319</c:v>
                </c:pt>
                <c:pt idx="49">
                  <c:v>0.29473684210526313</c:v>
                </c:pt>
                <c:pt idx="50">
                  <c:v>0.29166666666666669</c:v>
                </c:pt>
                <c:pt idx="51">
                  <c:v>0.28865979381443296</c:v>
                </c:pt>
                <c:pt idx="52">
                  <c:v>0.2857142857142857</c:v>
                </c:pt>
                <c:pt idx="53">
                  <c:v>0.28282828282828282</c:v>
                </c:pt>
                <c:pt idx="54">
                  <c:v>0.28000000000000003</c:v>
                </c:pt>
              </c:numCache>
            </c:numRef>
          </c:yVal>
          <c:smooth val="0"/>
          <c:extLst>
            <c:ext xmlns:c16="http://schemas.microsoft.com/office/drawing/2014/chart" uri="{C3380CC4-5D6E-409C-BE32-E72D297353CC}">
              <c16:uniqueId val="{0000000D-1B62-4160-ADA3-F41F64D3854C}"/>
            </c:ext>
          </c:extLst>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$320K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Sheet1!$A$539:$A$586</c:f>
              <c:numCache>
                <c:formatCode>General</c:formatCode>
                <c:ptCount val="48"/>
                <c:pt idx="0">
                  <c:v>533333.33333333337</c:v>
                </c:pt>
                <c:pt idx="1">
                  <c:v>540000</c:v>
                </c:pt>
                <c:pt idx="2">
                  <c:v>550000</c:v>
                </c:pt>
                <c:pt idx="3">
                  <c:v>560000</c:v>
                </c:pt>
                <c:pt idx="4">
                  <c:v>570000</c:v>
                </c:pt>
                <c:pt idx="5">
                  <c:v>580000</c:v>
                </c:pt>
                <c:pt idx="6">
                  <c:v>590000</c:v>
                </c:pt>
                <c:pt idx="7">
                  <c:v>600000</c:v>
                </c:pt>
                <c:pt idx="8">
                  <c:v>610000</c:v>
                </c:pt>
                <c:pt idx="9">
                  <c:v>620000</c:v>
                </c:pt>
                <c:pt idx="10">
                  <c:v>630000</c:v>
                </c:pt>
                <c:pt idx="11">
                  <c:v>640000</c:v>
                </c:pt>
                <c:pt idx="12">
                  <c:v>650000</c:v>
                </c:pt>
                <c:pt idx="13">
                  <c:v>660000</c:v>
                </c:pt>
                <c:pt idx="14">
                  <c:v>670000</c:v>
                </c:pt>
                <c:pt idx="15">
                  <c:v>680000</c:v>
                </c:pt>
                <c:pt idx="16">
                  <c:v>690000</c:v>
                </c:pt>
                <c:pt idx="17">
                  <c:v>700000</c:v>
                </c:pt>
                <c:pt idx="18">
                  <c:v>710000</c:v>
                </c:pt>
                <c:pt idx="19">
                  <c:v>720000</c:v>
                </c:pt>
                <c:pt idx="20">
                  <c:v>730000</c:v>
                </c:pt>
                <c:pt idx="21">
                  <c:v>740000</c:v>
                </c:pt>
                <c:pt idx="22">
                  <c:v>750000</c:v>
                </c:pt>
                <c:pt idx="23">
                  <c:v>760000</c:v>
                </c:pt>
                <c:pt idx="24">
                  <c:v>770000</c:v>
                </c:pt>
                <c:pt idx="25">
                  <c:v>780000</c:v>
                </c:pt>
                <c:pt idx="26">
                  <c:v>790000</c:v>
                </c:pt>
                <c:pt idx="27">
                  <c:v>800000</c:v>
                </c:pt>
                <c:pt idx="28">
                  <c:v>810000</c:v>
                </c:pt>
                <c:pt idx="29">
                  <c:v>820000</c:v>
                </c:pt>
                <c:pt idx="30">
                  <c:v>830000</c:v>
                </c:pt>
                <c:pt idx="31">
                  <c:v>840000</c:v>
                </c:pt>
                <c:pt idx="32">
                  <c:v>850000</c:v>
                </c:pt>
                <c:pt idx="33">
                  <c:v>860000</c:v>
                </c:pt>
                <c:pt idx="34">
                  <c:v>870000</c:v>
                </c:pt>
                <c:pt idx="35">
                  <c:v>880000</c:v>
                </c:pt>
                <c:pt idx="36">
                  <c:v>890000</c:v>
                </c:pt>
                <c:pt idx="37">
                  <c:v>900000</c:v>
                </c:pt>
                <c:pt idx="38">
                  <c:v>910000</c:v>
                </c:pt>
                <c:pt idx="39">
                  <c:v>920000</c:v>
                </c:pt>
                <c:pt idx="40">
                  <c:v>930000</c:v>
                </c:pt>
                <c:pt idx="41">
                  <c:v>940000</c:v>
                </c:pt>
                <c:pt idx="42">
                  <c:v>950000</c:v>
                </c:pt>
                <c:pt idx="43">
                  <c:v>960000</c:v>
                </c:pt>
                <c:pt idx="44">
                  <c:v>970000</c:v>
                </c:pt>
                <c:pt idx="45">
                  <c:v>980000</c:v>
                </c:pt>
                <c:pt idx="46">
                  <c:v>990000</c:v>
                </c:pt>
                <c:pt idx="47">
                  <c:v>1000000</c:v>
                </c:pt>
              </c:numCache>
            </c:numRef>
          </c:xVal>
          <c:yVal>
            <c:numRef>
              <c:f>Sheet1!$B$539:$B$586</c:f>
              <c:numCache>
                <c:formatCode>General</c:formatCode>
                <c:ptCount val="48"/>
                <c:pt idx="0">
                  <c:v>0.6</c:v>
                </c:pt>
                <c:pt idx="1">
                  <c:v>0.59259259259259256</c:v>
                </c:pt>
                <c:pt idx="2">
                  <c:v>0.58181818181818179</c:v>
                </c:pt>
                <c:pt idx="3">
                  <c:v>0.5714285714285714</c:v>
                </c:pt>
                <c:pt idx="4">
                  <c:v>0.56140350877192979</c:v>
                </c:pt>
                <c:pt idx="5">
                  <c:v>0.55172413793103448</c:v>
                </c:pt>
                <c:pt idx="6">
                  <c:v>0.5423728813559322</c:v>
                </c:pt>
                <c:pt idx="7">
                  <c:v>0.53333333333333333</c:v>
                </c:pt>
                <c:pt idx="8">
                  <c:v>0.52459016393442626</c:v>
                </c:pt>
                <c:pt idx="9">
                  <c:v>0.5161290322580645</c:v>
                </c:pt>
                <c:pt idx="10">
                  <c:v>0.50793650793650791</c:v>
                </c:pt>
                <c:pt idx="11">
                  <c:v>0.5</c:v>
                </c:pt>
                <c:pt idx="12">
                  <c:v>0.49230769230769234</c:v>
                </c:pt>
                <c:pt idx="13">
                  <c:v>0.48484848484848486</c:v>
                </c:pt>
                <c:pt idx="14">
                  <c:v>0.47761194029850745</c:v>
                </c:pt>
                <c:pt idx="15">
                  <c:v>0.47058823529411764</c:v>
                </c:pt>
                <c:pt idx="16">
                  <c:v>0.46376811594202899</c:v>
                </c:pt>
                <c:pt idx="17">
                  <c:v>0.45714285714285713</c:v>
                </c:pt>
                <c:pt idx="18">
                  <c:v>0.45070422535211269</c:v>
                </c:pt>
                <c:pt idx="19">
                  <c:v>0.44444444444444442</c:v>
                </c:pt>
                <c:pt idx="20">
                  <c:v>0.43835616438356162</c:v>
                </c:pt>
                <c:pt idx="21">
                  <c:v>0.43243243243243246</c:v>
                </c:pt>
                <c:pt idx="22">
                  <c:v>0.42666666666666669</c:v>
                </c:pt>
                <c:pt idx="23">
                  <c:v>0.42105263157894735</c:v>
                </c:pt>
                <c:pt idx="24">
                  <c:v>0.41558441558441561</c:v>
                </c:pt>
                <c:pt idx="25">
                  <c:v>0.41025641025641024</c:v>
                </c:pt>
                <c:pt idx="26">
                  <c:v>0.4050632911392405</c:v>
                </c:pt>
                <c:pt idx="27">
                  <c:v>0.4</c:v>
                </c:pt>
                <c:pt idx="28">
                  <c:v>0.39506172839506171</c:v>
                </c:pt>
                <c:pt idx="29">
                  <c:v>0.3902439024390244</c:v>
                </c:pt>
                <c:pt idx="30">
                  <c:v>0.38554216867469882</c:v>
                </c:pt>
                <c:pt idx="31">
                  <c:v>0.38095238095238093</c:v>
                </c:pt>
                <c:pt idx="32">
                  <c:v>0.37647058823529411</c:v>
                </c:pt>
                <c:pt idx="33">
                  <c:v>0.37209302325581395</c:v>
                </c:pt>
                <c:pt idx="34">
                  <c:v>0.36781609195402298</c:v>
                </c:pt>
                <c:pt idx="35">
                  <c:v>0.36363636363636365</c:v>
                </c:pt>
                <c:pt idx="36">
                  <c:v>0.3595505617977528</c:v>
                </c:pt>
                <c:pt idx="37">
                  <c:v>0.35555555555555557</c:v>
                </c:pt>
                <c:pt idx="38">
                  <c:v>0.35164835164835168</c:v>
                </c:pt>
                <c:pt idx="39">
                  <c:v>0.34782608695652173</c:v>
                </c:pt>
                <c:pt idx="40">
                  <c:v>0.34408602150537637</c:v>
                </c:pt>
                <c:pt idx="41">
                  <c:v>0.34042553191489361</c:v>
                </c:pt>
                <c:pt idx="42">
                  <c:v>0.33684210526315789</c:v>
                </c:pt>
                <c:pt idx="43">
                  <c:v>0.33333333333333331</c:v>
                </c:pt>
                <c:pt idx="44">
                  <c:v>0.32989690721649484</c:v>
                </c:pt>
                <c:pt idx="45">
                  <c:v>0.32653061224489793</c:v>
                </c:pt>
                <c:pt idx="46">
                  <c:v>0.32323232323232326</c:v>
                </c:pt>
                <c:pt idx="47">
                  <c:v>0.32</c:v>
                </c:pt>
              </c:numCache>
            </c:numRef>
          </c:yVal>
          <c:smooth val="0"/>
          <c:extLst>
            <c:ext xmlns:c16="http://schemas.microsoft.com/office/drawing/2014/chart" uri="{C3380CC4-5D6E-409C-BE32-E72D297353CC}">
              <c16:uniqueId val="{0000000F-1B62-4160-ADA3-F41F64D3854C}"/>
            </c:ext>
          </c:extLst>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Sheet1!$A$589:$A$623</c:f>
              <c:numCache>
                <c:formatCode>General</c:formatCode>
                <c:ptCount val="35"/>
                <c:pt idx="0">
                  <c:v>666666.66666666674</c:v>
                </c:pt>
                <c:pt idx="1">
                  <c:v>670000</c:v>
                </c:pt>
                <c:pt idx="2">
                  <c:v>680000</c:v>
                </c:pt>
                <c:pt idx="3">
                  <c:v>690000</c:v>
                </c:pt>
                <c:pt idx="4">
                  <c:v>700000</c:v>
                </c:pt>
                <c:pt idx="5">
                  <c:v>710000</c:v>
                </c:pt>
                <c:pt idx="6">
                  <c:v>720000</c:v>
                </c:pt>
                <c:pt idx="7">
                  <c:v>730000</c:v>
                </c:pt>
                <c:pt idx="8">
                  <c:v>740000</c:v>
                </c:pt>
                <c:pt idx="9">
                  <c:v>750000</c:v>
                </c:pt>
                <c:pt idx="10">
                  <c:v>760000</c:v>
                </c:pt>
                <c:pt idx="11">
                  <c:v>770000</c:v>
                </c:pt>
                <c:pt idx="12">
                  <c:v>780000</c:v>
                </c:pt>
                <c:pt idx="13">
                  <c:v>790000</c:v>
                </c:pt>
                <c:pt idx="14">
                  <c:v>800000</c:v>
                </c:pt>
                <c:pt idx="15">
                  <c:v>810000</c:v>
                </c:pt>
                <c:pt idx="16">
                  <c:v>820000</c:v>
                </c:pt>
                <c:pt idx="17">
                  <c:v>830000</c:v>
                </c:pt>
                <c:pt idx="18">
                  <c:v>840000</c:v>
                </c:pt>
                <c:pt idx="19">
                  <c:v>850000</c:v>
                </c:pt>
                <c:pt idx="20">
                  <c:v>860000</c:v>
                </c:pt>
                <c:pt idx="21">
                  <c:v>870000</c:v>
                </c:pt>
                <c:pt idx="22">
                  <c:v>880000</c:v>
                </c:pt>
                <c:pt idx="23">
                  <c:v>890000</c:v>
                </c:pt>
                <c:pt idx="24">
                  <c:v>900000</c:v>
                </c:pt>
                <c:pt idx="25">
                  <c:v>910000</c:v>
                </c:pt>
                <c:pt idx="26">
                  <c:v>920000</c:v>
                </c:pt>
                <c:pt idx="27">
                  <c:v>930000</c:v>
                </c:pt>
                <c:pt idx="28">
                  <c:v>940000</c:v>
                </c:pt>
                <c:pt idx="29">
                  <c:v>950000</c:v>
                </c:pt>
                <c:pt idx="30">
                  <c:v>960000</c:v>
                </c:pt>
                <c:pt idx="31">
                  <c:v>970000</c:v>
                </c:pt>
                <c:pt idx="32">
                  <c:v>980000</c:v>
                </c:pt>
                <c:pt idx="33">
                  <c:v>990000</c:v>
                </c:pt>
                <c:pt idx="34">
                  <c:v>1000000</c:v>
                </c:pt>
              </c:numCache>
            </c:numRef>
          </c:xVal>
          <c:yVal>
            <c:numRef>
              <c:f>Sheet1!$B$589:$B$623</c:f>
              <c:numCache>
                <c:formatCode>General</c:formatCode>
                <c:ptCount val="35"/>
                <c:pt idx="0">
                  <c:v>0.6</c:v>
                </c:pt>
                <c:pt idx="1">
                  <c:v>0.59701492537313428</c:v>
                </c:pt>
                <c:pt idx="2">
                  <c:v>0.58823529411764708</c:v>
                </c:pt>
                <c:pt idx="3">
                  <c:v>0.57971014492753625</c:v>
                </c:pt>
                <c:pt idx="4">
                  <c:v>0.5714285714285714</c:v>
                </c:pt>
                <c:pt idx="5">
                  <c:v>0.56338028169014087</c:v>
                </c:pt>
                <c:pt idx="6">
                  <c:v>0.55555555555555558</c:v>
                </c:pt>
                <c:pt idx="7">
                  <c:v>0.54794520547945202</c:v>
                </c:pt>
                <c:pt idx="8">
                  <c:v>0.54054054054054057</c:v>
                </c:pt>
                <c:pt idx="9">
                  <c:v>0.53333333333333333</c:v>
                </c:pt>
                <c:pt idx="10">
                  <c:v>0.52631578947368418</c:v>
                </c:pt>
                <c:pt idx="11">
                  <c:v>0.51948051948051943</c:v>
                </c:pt>
                <c:pt idx="12">
                  <c:v>0.51282051282051277</c:v>
                </c:pt>
                <c:pt idx="13">
                  <c:v>0.50632911392405067</c:v>
                </c:pt>
                <c:pt idx="14">
                  <c:v>0.5</c:v>
                </c:pt>
                <c:pt idx="15">
                  <c:v>0.49382716049382713</c:v>
                </c:pt>
                <c:pt idx="16">
                  <c:v>0.48780487804878048</c:v>
                </c:pt>
                <c:pt idx="17">
                  <c:v>0.48192771084337349</c:v>
                </c:pt>
                <c:pt idx="18">
                  <c:v>0.47619047619047616</c:v>
                </c:pt>
                <c:pt idx="19">
                  <c:v>0.47058823529411764</c:v>
                </c:pt>
                <c:pt idx="20">
                  <c:v>0.46511627906976744</c:v>
                </c:pt>
                <c:pt idx="21">
                  <c:v>0.45977011494252873</c:v>
                </c:pt>
                <c:pt idx="22">
                  <c:v>0.45454545454545453</c:v>
                </c:pt>
                <c:pt idx="23">
                  <c:v>0.449438202247191</c:v>
                </c:pt>
                <c:pt idx="24">
                  <c:v>0.44444444444444442</c:v>
                </c:pt>
                <c:pt idx="25">
                  <c:v>0.43956043956043955</c:v>
                </c:pt>
                <c:pt idx="26">
                  <c:v>0.43478260869565216</c:v>
                </c:pt>
                <c:pt idx="27">
                  <c:v>0.43010752688172044</c:v>
                </c:pt>
                <c:pt idx="28">
                  <c:v>0.42553191489361702</c:v>
                </c:pt>
                <c:pt idx="29">
                  <c:v>0.42105263157894735</c:v>
                </c:pt>
                <c:pt idx="30">
                  <c:v>0.41666666666666669</c:v>
                </c:pt>
                <c:pt idx="31">
                  <c:v>0.41237113402061853</c:v>
                </c:pt>
                <c:pt idx="32">
                  <c:v>0.40816326530612246</c:v>
                </c:pt>
                <c:pt idx="33">
                  <c:v>0.40404040404040403</c:v>
                </c:pt>
                <c:pt idx="34">
                  <c:v>0.4</c:v>
                </c:pt>
              </c:numCache>
            </c:numRef>
          </c:yVal>
          <c:smooth val="0"/>
          <c:extLst>
            <c:ext xmlns:c16="http://schemas.microsoft.com/office/drawing/2014/chart" uri="{C3380CC4-5D6E-409C-BE32-E72D297353CC}">
              <c16:uniqueId val="{00000011-1B62-4160-ADA3-F41F64D3854C}"/>
            </c:ext>
          </c:extLst>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Sheet1!$A$626:$A$646</c:f>
              <c:numCache>
                <c:formatCode>General</c:formatCode>
                <c:ptCount val="21"/>
                <c:pt idx="0">
                  <c:v>800000</c:v>
                </c:pt>
                <c:pt idx="1">
                  <c:v>810000</c:v>
                </c:pt>
                <c:pt idx="2">
                  <c:v>820000</c:v>
                </c:pt>
                <c:pt idx="3">
                  <c:v>830000</c:v>
                </c:pt>
                <c:pt idx="4">
                  <c:v>840000</c:v>
                </c:pt>
                <c:pt idx="5">
                  <c:v>850000</c:v>
                </c:pt>
                <c:pt idx="6">
                  <c:v>860000</c:v>
                </c:pt>
                <c:pt idx="7">
                  <c:v>870000</c:v>
                </c:pt>
                <c:pt idx="8">
                  <c:v>880000</c:v>
                </c:pt>
                <c:pt idx="9">
                  <c:v>890000</c:v>
                </c:pt>
                <c:pt idx="10">
                  <c:v>900000</c:v>
                </c:pt>
                <c:pt idx="11">
                  <c:v>910000</c:v>
                </c:pt>
                <c:pt idx="12">
                  <c:v>920000</c:v>
                </c:pt>
                <c:pt idx="13">
                  <c:v>930000</c:v>
                </c:pt>
                <c:pt idx="14">
                  <c:v>940000</c:v>
                </c:pt>
                <c:pt idx="15">
                  <c:v>950000</c:v>
                </c:pt>
                <c:pt idx="16">
                  <c:v>960000</c:v>
                </c:pt>
                <c:pt idx="17">
                  <c:v>970000</c:v>
                </c:pt>
                <c:pt idx="18">
                  <c:v>980000</c:v>
                </c:pt>
                <c:pt idx="19">
                  <c:v>990000</c:v>
                </c:pt>
                <c:pt idx="20">
                  <c:v>1000000</c:v>
                </c:pt>
              </c:numCache>
            </c:numRef>
          </c:xVal>
          <c:yVal>
            <c:numRef>
              <c:f>Sheet1!$B$626:$B$646</c:f>
              <c:numCache>
                <c:formatCode>General</c:formatCode>
                <c:ptCount val="21"/>
                <c:pt idx="0">
                  <c:v>0.6</c:v>
                </c:pt>
                <c:pt idx="1">
                  <c:v>0.59259259259259256</c:v>
                </c:pt>
                <c:pt idx="2">
                  <c:v>0.58536585365853655</c:v>
                </c:pt>
                <c:pt idx="3">
                  <c:v>0.57831325301204817</c:v>
                </c:pt>
                <c:pt idx="4">
                  <c:v>0.5714285714285714</c:v>
                </c:pt>
                <c:pt idx="5">
                  <c:v>0.56470588235294117</c:v>
                </c:pt>
                <c:pt idx="6">
                  <c:v>0.55813953488372092</c:v>
                </c:pt>
                <c:pt idx="7">
                  <c:v>0.55172413793103448</c:v>
                </c:pt>
                <c:pt idx="8">
                  <c:v>0.54545454545454541</c:v>
                </c:pt>
                <c:pt idx="9">
                  <c:v>0.5393258426966292</c:v>
                </c:pt>
                <c:pt idx="10">
                  <c:v>0.53333333333333333</c:v>
                </c:pt>
                <c:pt idx="11">
                  <c:v>0.52747252747252749</c:v>
                </c:pt>
                <c:pt idx="12">
                  <c:v>0.52173913043478259</c:v>
                </c:pt>
                <c:pt idx="13">
                  <c:v>0.5161290322580645</c:v>
                </c:pt>
                <c:pt idx="14">
                  <c:v>0.51063829787234039</c:v>
                </c:pt>
                <c:pt idx="15">
                  <c:v>0.50526315789473686</c:v>
                </c:pt>
                <c:pt idx="16">
                  <c:v>0.5</c:v>
                </c:pt>
                <c:pt idx="17">
                  <c:v>0.49484536082474229</c:v>
                </c:pt>
                <c:pt idx="18">
                  <c:v>0.48979591836734693</c:v>
                </c:pt>
                <c:pt idx="19">
                  <c:v>0.48484848484848486</c:v>
                </c:pt>
                <c:pt idx="20">
                  <c:v>0.48</c:v>
                </c:pt>
              </c:numCache>
            </c:numRef>
          </c:yVal>
          <c:smooth val="0"/>
          <c:extLst>
            <c:ext xmlns:c16="http://schemas.microsoft.com/office/drawing/2014/chart" uri="{C3380CC4-5D6E-409C-BE32-E72D297353CC}">
              <c16:uniqueId val="{00000013-1B62-4160-ADA3-F41F64D3854C}"/>
            </c:ext>
          </c:extLst>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$560K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Sheet1!$A$649:$A$656</c:f>
              <c:numCache>
                <c:formatCode>General</c:formatCode>
                <c:ptCount val="8"/>
                <c:pt idx="0">
                  <c:v>933333.33333333337</c:v>
                </c:pt>
                <c:pt idx="1">
                  <c:v>940000</c:v>
                </c:pt>
                <c:pt idx="2">
                  <c:v>950000</c:v>
                </c:pt>
                <c:pt idx="3">
                  <c:v>960000</c:v>
                </c:pt>
                <c:pt idx="4">
                  <c:v>970000</c:v>
                </c:pt>
                <c:pt idx="5">
                  <c:v>980000</c:v>
                </c:pt>
                <c:pt idx="6">
                  <c:v>990000</c:v>
                </c:pt>
                <c:pt idx="7">
                  <c:v>1000000</c:v>
                </c:pt>
              </c:numCache>
            </c:numRef>
          </c:xVal>
          <c:yVal>
            <c:numRef>
              <c:f>Sheet1!$B$649:$B$656</c:f>
              <c:numCache>
                <c:formatCode>General</c:formatCode>
                <c:ptCount val="8"/>
                <c:pt idx="0">
                  <c:v>0.6</c:v>
                </c:pt>
                <c:pt idx="1">
                  <c:v>0.5957446808510638</c:v>
                </c:pt>
                <c:pt idx="2">
                  <c:v>0.58947368421052626</c:v>
                </c:pt>
                <c:pt idx="3">
                  <c:v>0.58333333333333337</c:v>
                </c:pt>
                <c:pt idx="4">
                  <c:v>0.57731958762886593</c:v>
                </c:pt>
                <c:pt idx="5">
                  <c:v>0.5714285714285714</c:v>
                </c:pt>
                <c:pt idx="6">
                  <c:v>0.56565656565656564</c:v>
                </c:pt>
                <c:pt idx="7">
                  <c:v>0.56000000000000005</c:v>
                </c:pt>
              </c:numCache>
            </c:numRef>
          </c:yVal>
          <c:smooth val="0"/>
          <c:extLst>
            <c:ext xmlns:c16="http://schemas.microsoft.com/office/drawing/2014/chart" uri="{C3380CC4-5D6E-409C-BE32-E72D297353CC}">
              <c16:uniqueId val="{00000015-1B62-4160-ADA3-F41F64D3854C}"/>
            </c:ext>
          </c:extLst>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65650.740652410095</c:v>
                </c:pt>
                <c:pt idx="1">
                  <c:v>107162.81664992747</c:v>
                </c:pt>
                <c:pt idx="2">
                  <c:v>121744.89871086556</c:v>
                </c:pt>
                <c:pt idx="3">
                  <c:v>140457.68426443601</c:v>
                </c:pt>
                <c:pt idx="4">
                  <c:v>244683.26685200853</c:v>
                </c:pt>
                <c:pt idx="5">
                  <c:v>253177.34806629835</c:v>
                </c:pt>
                <c:pt idx="6">
                  <c:v>340721.40837830893</c:v>
                </c:pt>
                <c:pt idx="7">
                  <c:v>391815.58135621739</c:v>
                </c:pt>
              </c:numCache>
            </c:numRef>
          </c:xVal>
          <c:yVal>
            <c:numRef>
              <c:f>Sheet1!$B$659:$B$666</c:f>
              <c:numCache>
                <c:formatCode>General</c:formatCode>
                <c:ptCount val="8"/>
                <c:pt idx="0">
                  <c:v>0.49989707208425399</c:v>
                </c:pt>
                <c:pt idx="1">
                  <c:v>0.53713164619707043</c:v>
                </c:pt>
                <c:pt idx="2">
                  <c:v>0.48648050114752522</c:v>
                </c:pt>
                <c:pt idx="3">
                  <c:v>0.47295422939207504</c:v>
                </c:pt>
                <c:pt idx="4">
                  <c:v>0.45424890091776537</c:v>
                </c:pt>
                <c:pt idx="5">
                  <c:v>0.50750483905108768</c:v>
                </c:pt>
                <c:pt idx="6">
                  <c:v>0.51619407775390025</c:v>
                </c:pt>
                <c:pt idx="7">
                  <c:v>0.44896030164565226</c:v>
                </c:pt>
              </c:numCache>
            </c:numRef>
          </c:yVal>
          <c:smooth val="0"/>
          <c:extLst>
            <c:ext xmlns:c16="http://schemas.microsoft.com/office/drawing/2014/chart" uri="{C3380CC4-5D6E-409C-BE32-E72D297353CC}">
              <c16:uniqueId val="{00000016-1B62-4160-ADA3-F41F64D3854C}"/>
            </c:ext>
          </c:extLst>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472627.21163923311</c:v>
                </c:pt>
                <c:pt idx="1">
                  <c:v>589749.07137550716</c:v>
                </c:pt>
                <c:pt idx="2">
                  <c:v>664398.77462283417</c:v>
                </c:pt>
              </c:numCache>
            </c:numRef>
          </c:xVal>
          <c:yVal>
            <c:numRef>
              <c:f>Sheet1!$B$669:$B$671</c:f>
              <c:numCache>
                <c:formatCode>General</c:formatCode>
                <c:ptCount val="3"/>
                <c:pt idx="0">
                  <c:v>0.47983887272473985</c:v>
                </c:pt>
                <c:pt idx="1">
                  <c:v>0.48853243390346474</c:v>
                </c:pt>
                <c:pt idx="2">
                  <c:v>0.52211170175159738</c:v>
                </c:pt>
              </c:numCache>
            </c:numRef>
          </c:yVal>
          <c:smooth val="0"/>
          <c:extLst>
            <c:ext xmlns:c16="http://schemas.microsoft.com/office/drawing/2014/chart" uri="{C3380CC4-5D6E-409C-BE32-E72D297353CC}">
              <c16:uniqueId val="{00000017-1B62-4160-ADA3-F41F64D3854C}"/>
            </c:ext>
          </c:extLst>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650413.68688340345</c:v>
                </c:pt>
                <c:pt idx="1">
                  <c:v>951719.03355704702</c:v>
                </c:pt>
              </c:numCache>
            </c:numRef>
          </c:xVal>
          <c:yVal>
            <c:numRef>
              <c:f>Sheet1!$B$674:$B$675</c:f>
              <c:numCache>
                <c:formatCode>General</c:formatCode>
                <c:ptCount val="2"/>
                <c:pt idx="0">
                  <c:v>0.42758327234089616</c:v>
                </c:pt>
                <c:pt idx="1">
                  <c:v>0.48671748539851617</c:v>
                </c:pt>
              </c:numCache>
            </c:numRef>
          </c:yVal>
          <c:smooth val="0"/>
          <c:extLst>
            <c:ext xmlns:c16="http://schemas.microsoft.com/office/drawing/2014/chart" uri="{C3380CC4-5D6E-409C-BE32-E72D297353CC}">
              <c16:uniqueId val="{00000018-1B62-4160-ADA3-F41F64D3854C}"/>
            </c:ext>
          </c:extLst>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extLst>
            <c:ext xmlns:c16="http://schemas.microsoft.com/office/drawing/2014/chart" uri="{C3380CC4-5D6E-409C-BE32-E72D297353CC}">
              <c16:uniqueId val="{00000019-1B62-4160-ADA3-F41F64D3854C}"/>
            </c:ext>
          </c:extLst>
        </c:ser>
        <c:dLbls>
          <c:showLegendKey val="0"/>
          <c:showVal val="0"/>
          <c:showCatName val="0"/>
          <c:showSerName val="0"/>
          <c:showPercent val="0"/>
          <c:showBubbleSize val="0"/>
        </c:dLbls>
        <c:axId val="-2128940872"/>
        <c:axId val="-2129643912"/>
      </c:scatterChart>
      <c:valAx>
        <c:axId val="-2128940872"/>
        <c:scaling>
          <c:orientation val="minMax"/>
          <c:max val="1000000"/>
          <c:min val="0"/>
        </c:scaling>
        <c:delete val="0"/>
        <c:axPos val="b"/>
        <c:title>
          <c:tx>
            <c:rich>
              <a:bodyPr/>
              <a:lstStyle/>
              <a:p>
                <a:pPr>
                  <a:defRPr/>
                </a:pPr>
                <a:r>
                  <a:rPr lang="en-US" sz="1000" b="1">
                    <a:solidFill>
                      <a:srgbClr val="000000"/>
                    </a:solidFill>
                    <a:latin typeface="Lato"/>
                  </a:rPr>
                  <a:t>Core unlevered cash operating expenses (excluding depreciation, amortization and interest) per student ($K)</a:t>
                </a:r>
              </a:p>
            </c:rich>
          </c:tx>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0"/>
      </c:valAx>
      <c:valAx>
        <c:axId val="-2129643912"/>
        <c:scaling>
          <c:orientation val="minMax"/>
          <c:max val="0.6"/>
          <c:min val="0.3"/>
        </c:scaling>
        <c:delete val="0"/>
        <c:axPos val="l"/>
        <c:title>
          <c:tx>
            <c:rich>
              <a:bodyPr rot="-5400000" vert="horz"/>
              <a:lstStyle/>
              <a:p>
                <a:pPr>
                  <a:defRPr/>
                </a:pPr>
                <a:r>
                  <a:rPr lang="en-US" sz="1000" b="1">
                    <a:solidFill>
                      <a:srgbClr val="000000"/>
                    </a:solidFill>
                    <a:latin typeface="Lato"/>
                  </a:rPr>
                  <a:t>S&amp;W as % of core operating expenses</a:t>
                </a:r>
              </a:p>
            </c:rich>
          </c:tx>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5.5335968379446633E-2"/>
          <c:y val="1.1961722488038279E-2"/>
          <c:w val="0.89328063241106725"/>
          <c:h val="0.89234449760765555"/>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r>
                      <a:rPr lang="en-US" sz="1000" b="1" i="1">
                        <a:solidFill>
                          <a:srgbClr val="C8102E"/>
                        </a:solidFill>
                        <a:latin typeface="Lato"/>
                      </a:rPr>
                      <a:t>32%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470-465C-B23E-C773DA3A9C3F}"/>
                </c:ext>
              </c:extLst>
            </c:dLbl>
            <c:dLbl>
              <c:idx val="1"/>
              <c:tx>
                <c:rich>
                  <a:bodyPr/>
                  <a:lstStyle/>
                  <a:p>
                    <a:r>
                      <a:rPr lang="en-US" sz="1000" b="1" i="1">
                        <a:solidFill>
                          <a:srgbClr val="C8102E"/>
                        </a:solidFill>
                        <a:latin typeface="Lato"/>
                      </a:rPr>
                      <a:t>27%*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470-465C-B23E-C773DA3A9C3F}"/>
                </c:ext>
              </c:extLst>
            </c:dLbl>
            <c:dLbl>
              <c:idx val="2"/>
              <c:tx>
                <c:rich>
                  <a:bodyPr/>
                  <a:lstStyle/>
                  <a:p>
                    <a:r>
                      <a:rPr lang="en-US" sz="1000" b="1" i="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470-465C-B23E-C773DA3A9C3F}"/>
                </c:ext>
              </c:extLst>
            </c:dLbl>
            <c:dLbl>
              <c:idx val="3"/>
              <c:tx>
                <c:rich>
                  <a:bodyPr/>
                  <a:lstStyle/>
                  <a:p>
                    <a:r>
                      <a:rPr lang="en-US" sz="1000" b="1" i="1">
                        <a:solidFill>
                          <a:srgbClr val="C8102E"/>
                        </a:solidFill>
                        <a:latin typeface="Lato"/>
                      </a:rPr>
                      <a:t>44%</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470-465C-B23E-C773DA3A9C3F}"/>
                </c:ext>
              </c:extLst>
            </c:dLbl>
            <c:dLbl>
              <c:idx val="4"/>
              <c:tx>
                <c:rich>
                  <a:bodyPr/>
                  <a:lstStyle/>
                  <a:p>
                    <a:r>
                      <a:rPr lang="en-US" sz="1000" b="1" i="1">
                        <a:solidFill>
                          <a:srgbClr val="C8102E"/>
                        </a:solidFill>
                        <a:latin typeface="Lato"/>
                      </a:rPr>
                      <a:t>32%</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B470-465C-B23E-C773DA3A9C3F}"/>
                </c:ext>
              </c:extLst>
            </c:dLbl>
            <c:dLbl>
              <c:idx val="5"/>
              <c:tx>
                <c:rich>
                  <a:bodyPr/>
                  <a:lstStyle/>
                  <a:p>
                    <a:r>
                      <a:rPr lang="en-US" sz="1000" b="1" i="1">
                        <a:solidFill>
                          <a:srgbClr val="C8102E"/>
                        </a:solidFill>
                        <a:latin typeface="Lato"/>
                      </a:rPr>
                      <a:t>34%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470-465C-B23E-C773DA3A9C3F}"/>
                </c:ext>
              </c:extLst>
            </c:dLbl>
            <c:dLbl>
              <c:idx val="6"/>
              <c:tx>
                <c:rich>
                  <a:bodyPr/>
                  <a:lstStyle/>
                  <a:p>
                    <a:r>
                      <a:rPr lang="en-US" sz="1000" b="1" i="1">
                        <a:solidFill>
                          <a:srgbClr val="C8102E"/>
                        </a:solidFill>
                        <a:latin typeface="Lato"/>
                      </a:rPr>
                      <a:t>50%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B470-465C-B23E-C773DA3A9C3F}"/>
                </c:ext>
              </c:extLst>
            </c:dLbl>
            <c:dLbl>
              <c:idx val="7"/>
              <c:tx>
                <c:rich>
                  <a:bodyPr/>
                  <a:lstStyle/>
                  <a:p>
                    <a:r>
                      <a:rPr lang="en-US" sz="1000" b="1" i="1">
                        <a:solidFill>
                          <a:srgbClr val="C8102E"/>
                        </a:solidFill>
                        <a:latin typeface="Lato"/>
                      </a:rPr>
                      <a:t>53%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470-465C-B23E-C773DA3A9C3F}"/>
                </c:ext>
              </c:extLst>
            </c:dLbl>
            <c:dLbl>
              <c:idx val="8"/>
              <c:tx>
                <c:rich>
                  <a:bodyPr/>
                  <a:lstStyle/>
                  <a:p>
                    <a:r>
                      <a:rPr lang="en-US" sz="1000" b="1" i="1">
                        <a:solidFill>
                          <a:srgbClr val="C8102E"/>
                        </a:solidFill>
                        <a:latin typeface="Lato"/>
                      </a:rPr>
                      <a:t>45%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B470-465C-B23E-C773DA3A9C3F}"/>
                </c:ext>
              </c:extLst>
            </c:dLbl>
            <c:dLbl>
              <c:idx val="9"/>
              <c:tx>
                <c:rich>
                  <a:bodyPr/>
                  <a:lstStyle/>
                  <a:p>
                    <a:r>
                      <a:rPr lang="en-US" sz="1000" b="1" i="1">
                        <a:solidFill>
                          <a:srgbClr val="C8102E"/>
                        </a:solidFill>
                        <a:latin typeface="Lato"/>
                      </a:rPr>
                      <a:t>39%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Sheet1!$A$2:$A$11</c:f>
              <c:numCache>
                <c:formatCode>General</c:formatCode>
                <c:ptCount val="10"/>
                <c:pt idx="0">
                  <c:v>32</c:v>
                </c:pt>
                <c:pt idx="1">
                  <c:v>27</c:v>
                </c:pt>
                <c:pt idx="2">
                  <c:v>32</c:v>
                </c:pt>
                <c:pt idx="3">
                  <c:v>44</c:v>
                </c:pt>
                <c:pt idx="4">
                  <c:v>32</c:v>
                </c:pt>
                <c:pt idx="5">
                  <c:v>34</c:v>
                </c:pt>
                <c:pt idx="6">
                  <c:v>50</c:v>
                </c:pt>
                <c:pt idx="7">
                  <c:v>53</c:v>
                </c:pt>
                <c:pt idx="8">
                  <c:v>45</c:v>
                </c:pt>
                <c:pt idx="9">
                  <c:v>39</c:v>
                </c:pt>
              </c:numCache>
            </c:numRef>
          </c:xVal>
          <c:yVal>
            <c:numRef>
              <c:f>Sheet1!$B$2:$B$11</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0A-B470-465C-B23E-C773DA3A9C3F}"/>
            </c:ext>
          </c:extLst>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r>
                      <a:rPr lang="en-US" sz="1000" b="1" i="1">
                        <a:solidFill>
                          <a:srgbClr val="3A3A3F"/>
                        </a:solidFill>
                        <a:latin typeface="Lato"/>
                      </a:rPr>
                      <a:t>79%</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B470-465C-B23E-C773DA3A9C3F}"/>
                </c:ext>
              </c:extLst>
            </c:dLbl>
            <c:dLbl>
              <c:idx val="1"/>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B470-465C-B23E-C773DA3A9C3F}"/>
                </c:ext>
              </c:extLst>
            </c:dLbl>
            <c:dLbl>
              <c:idx val="2"/>
              <c:tx>
                <c:rich>
                  <a:bodyPr/>
                  <a:lstStyle/>
                  <a:p>
                    <a:r>
                      <a:rPr lang="en-US" sz="1000" b="1" i="1">
                        <a:solidFill>
                          <a:srgbClr val="3A3A3F"/>
                        </a:solidFill>
                        <a:latin typeface="Lato"/>
                      </a:rPr>
                      <a:t>77%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B470-465C-B23E-C773DA3A9C3F}"/>
                </c:ext>
              </c:extLst>
            </c:dLbl>
            <c:dLbl>
              <c:idx val="3"/>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B470-465C-B23E-C773DA3A9C3F}"/>
                </c:ext>
              </c:extLst>
            </c:dLbl>
            <c:dLbl>
              <c:idx val="4"/>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B470-465C-B23E-C773DA3A9C3F}"/>
                </c:ext>
              </c:extLst>
            </c:dLbl>
            <c:dLbl>
              <c:idx val="5"/>
              <c:tx>
                <c:rich>
                  <a:bodyPr/>
                  <a:lstStyle/>
                  <a:p>
                    <a:r>
                      <a:rPr lang="en-US" sz="1000" b="1" i="1">
                        <a:solidFill>
                          <a:srgbClr val="3A3A3F"/>
                        </a:solidFill>
                        <a:latin typeface="Lato"/>
                      </a:rPr>
                      <a:t>84%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B470-465C-B23E-C773DA3A9C3F}"/>
                </c:ext>
              </c:extLst>
            </c:dLbl>
            <c:dLbl>
              <c:idx val="6"/>
              <c:tx>
                <c:rich>
                  <a:bodyPr/>
                  <a:lstStyle/>
                  <a:p>
                    <a:r>
                      <a:rPr lang="en-US" sz="1000" b="1" i="1">
                        <a:solidFill>
                          <a:srgbClr val="3A3A3F"/>
                        </a:solidFill>
                        <a:latin typeface="Lato"/>
                      </a:rPr>
                      <a:t>85%</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B470-465C-B23E-C773DA3A9C3F}"/>
                </c:ext>
              </c:extLst>
            </c:dLbl>
            <c:dLbl>
              <c:idx val="7"/>
              <c:tx>
                <c:rich>
                  <a:bodyPr/>
                  <a:lstStyle/>
                  <a:p>
                    <a:r>
                      <a:rPr lang="en-US" sz="1000" b="1" i="1">
                        <a:solidFill>
                          <a:srgbClr val="3A3A3F"/>
                        </a:solidFill>
                        <a:latin typeface="Lato"/>
                      </a:rPr>
                      <a:t>90%</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B470-465C-B23E-C773DA3A9C3F}"/>
                </c:ext>
              </c:extLst>
            </c:dLbl>
            <c:dLbl>
              <c:idx val="8"/>
              <c:tx>
                <c:rich>
                  <a:bodyPr/>
                  <a:lstStyle/>
                  <a:p>
                    <a:r>
                      <a:rPr lang="en-US" sz="1000" b="1" i="1">
                        <a:solidFill>
                          <a:srgbClr val="3A3A3F"/>
                        </a:solidFill>
                        <a:latin typeface="Lato"/>
                      </a:rPr>
                      <a:t>86%</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B470-465C-B23E-C773DA3A9C3F}"/>
                </c:ext>
              </c:extLst>
            </c:dLbl>
            <c:dLbl>
              <c:idx val="9"/>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Sheet1!$A$14:$A$23</c:f>
              <c:numCache>
                <c:formatCode>General</c:formatCode>
                <c:ptCount val="10"/>
                <c:pt idx="0">
                  <c:v>79</c:v>
                </c:pt>
                <c:pt idx="1">
                  <c:v>74</c:v>
                </c:pt>
                <c:pt idx="2">
                  <c:v>77</c:v>
                </c:pt>
                <c:pt idx="3">
                  <c:v>78</c:v>
                </c:pt>
                <c:pt idx="4">
                  <c:v>78</c:v>
                </c:pt>
                <c:pt idx="5">
                  <c:v>84</c:v>
                </c:pt>
                <c:pt idx="6">
                  <c:v>85</c:v>
                </c:pt>
                <c:pt idx="7">
                  <c:v>90</c:v>
                </c:pt>
                <c:pt idx="8">
                  <c:v>86</c:v>
                </c:pt>
                <c:pt idx="9">
                  <c:v>79</c:v>
                </c:pt>
              </c:numCache>
            </c:numRef>
          </c:xVal>
          <c:yVal>
            <c:numRef>
              <c:f>Sheet1!$B$14:$B$23</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15-B470-465C-B23E-C773DA3A9C3F}"/>
            </c:ext>
          </c:extLst>
        </c:ser>
        <c:ser>
          <c:idx val="2"/>
          <c:order val="2"/>
          <c:tx>
            <c:strRef>
              <c:f>Sheet1!$B$25</c:f>
              <c:strCache>
                <c:ptCount val="1"/>
                <c:pt idx="0">
                  <c:v>Sr. Administrators</c:v>
                </c:pt>
              </c:strCache>
            </c:strRef>
          </c:tx>
          <c:spPr>
            <a:ln w="9525">
              <a:solidFill>
                <a:srgbClr val="000000"/>
              </a:solidFill>
              <a:prstDash val="sysDash"/>
            </a:ln>
          </c:spPr>
          <c:marker>
            <c:symbol val="circle"/>
            <c:size val="13"/>
            <c:spPr>
              <a:solidFill>
                <a:srgbClr val="000000"/>
              </a:solidFill>
              <a:ln>
                <a:noFill/>
              </a:ln>
            </c:spPr>
          </c:marker>
          <c:dLbls>
            <c:dLbl>
              <c:idx val="0"/>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B470-465C-B23E-C773DA3A9C3F}"/>
                </c:ext>
              </c:extLst>
            </c:dLbl>
            <c:dLbl>
              <c:idx val="1"/>
              <c:tx>
                <c:rich>
                  <a:bodyPr/>
                  <a:lstStyle/>
                  <a:p>
                    <a:r>
                      <a:rPr lang="en-US" sz="1000" b="1" i="1">
                        <a:solidFill>
                          <a:srgbClr val="000000"/>
                        </a:solidFill>
                        <a:latin typeface="Lato"/>
                      </a:rPr>
                      <a:t>86%</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B470-465C-B23E-C773DA3A9C3F}"/>
                </c:ext>
              </c:extLst>
            </c:dLbl>
            <c:dLbl>
              <c:idx val="2"/>
              <c:tx>
                <c:rich>
                  <a:bodyPr/>
                  <a:lstStyle/>
                  <a:p>
                    <a:r>
                      <a:rPr lang="en-US" sz="1000" b="1" i="1">
                        <a:solidFill>
                          <a:srgbClr val="000000"/>
                        </a:solidFill>
                        <a:latin typeface="Lato"/>
                      </a:rPr>
                      <a:t>85%</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B470-465C-B23E-C773DA3A9C3F}"/>
                </c:ext>
              </c:extLst>
            </c:dLbl>
            <c:dLbl>
              <c:idx val="3"/>
              <c:tx>
                <c:rich>
                  <a:bodyPr/>
                  <a:lstStyle/>
                  <a:p>
                    <a:r>
                      <a:rPr lang="en-US" sz="1000" b="1" i="1">
                        <a:solidFill>
                          <a:srgbClr val="000000"/>
                        </a:solidFill>
                        <a:latin typeface="Lato"/>
                      </a:rPr>
                      <a:t>80%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B470-465C-B23E-C773DA3A9C3F}"/>
                </c:ext>
              </c:extLst>
            </c:dLbl>
            <c:dLbl>
              <c:idx val="4"/>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B470-465C-B23E-C773DA3A9C3F}"/>
                </c:ext>
              </c:extLst>
            </c:dLbl>
            <c:dLbl>
              <c:idx val="5"/>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B470-465C-B23E-C773DA3A9C3F}"/>
                </c:ext>
              </c:extLst>
            </c:dLbl>
            <c:dLbl>
              <c:idx val="6"/>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B470-465C-B23E-C773DA3A9C3F}"/>
                </c:ext>
              </c:extLst>
            </c:dLbl>
            <c:dLbl>
              <c:idx val="7"/>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B470-465C-B23E-C773DA3A9C3F}"/>
                </c:ext>
              </c:extLst>
            </c:dLbl>
            <c:dLbl>
              <c:idx val="8"/>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B470-465C-B23E-C773DA3A9C3F}"/>
                </c:ext>
              </c:extLst>
            </c:dLbl>
            <c:dLbl>
              <c:idx val="9"/>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Sheet1!$A$26:$A$35</c:f>
              <c:numCache>
                <c:formatCode>General</c:formatCode>
                <c:ptCount val="10"/>
                <c:pt idx="0">
                  <c:v>88</c:v>
                </c:pt>
                <c:pt idx="1">
                  <c:v>86</c:v>
                </c:pt>
                <c:pt idx="2">
                  <c:v>85</c:v>
                </c:pt>
                <c:pt idx="3">
                  <c:v>80</c:v>
                </c:pt>
                <c:pt idx="4">
                  <c:v>90</c:v>
                </c:pt>
                <c:pt idx="5">
                  <c:v>90</c:v>
                </c:pt>
                <c:pt idx="6">
                  <c:v>90</c:v>
                </c:pt>
                <c:pt idx="7">
                  <c:v>91</c:v>
                </c:pt>
                <c:pt idx="8">
                  <c:v>91</c:v>
                </c:pt>
                <c:pt idx="9">
                  <c:v>88</c:v>
                </c:pt>
              </c:numCache>
            </c:numRef>
          </c:xVal>
          <c:yVal>
            <c:numRef>
              <c:f>Sheet1!$B$26:$B$35</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20-B470-465C-B23E-C773DA3A9C3F}"/>
            </c:ext>
          </c:extLst>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B470-465C-B23E-C773DA3A9C3F}"/>
                </c:ext>
              </c:extLst>
            </c:dLbl>
            <c:dLbl>
              <c:idx val="1"/>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Sheet1!$A$38:$A$39</c:f>
              <c:numCache>
                <c:formatCode>General</c:formatCode>
                <c:ptCount val="2"/>
                <c:pt idx="0">
                  <c:v>74</c:v>
                </c:pt>
                <c:pt idx="1">
                  <c:v>79</c:v>
                </c:pt>
              </c:numCache>
            </c:numRef>
          </c:xVal>
          <c:yVal>
            <c:numRef>
              <c:f>Sheet1!$B$38:$B$39</c:f>
              <c:numCache>
                <c:formatCode>General</c:formatCode>
                <c:ptCount val="2"/>
                <c:pt idx="0">
                  <c:v>2025</c:v>
                </c:pt>
                <c:pt idx="1">
                  <c:v>2026</c:v>
                </c:pt>
              </c:numCache>
            </c:numRef>
          </c:yVal>
          <c:smooth val="0"/>
          <c:extLst>
            <c:ext xmlns:c16="http://schemas.microsoft.com/office/drawing/2014/chart" uri="{C3380CC4-5D6E-409C-BE32-E72D297353CC}">
              <c16:uniqueId val="{00000023-B470-465C-B23E-C773DA3A9C3F}"/>
            </c:ext>
          </c:extLst>
        </c:ser>
        <c:dLbls>
          <c:showLegendKey val="0"/>
          <c:showVal val="0"/>
          <c:showCatName val="0"/>
          <c:showSerName val="0"/>
          <c:showPercent val="0"/>
          <c:showBubbleSize val="0"/>
        </c:dLbls>
        <c:axId val="-2128940872"/>
        <c:axId val="-2129643912"/>
      </c:scatterChart>
      <c:valAx>
        <c:axId val="-2128940872"/>
        <c:scaling>
          <c:orientation val="minMax"/>
          <c:max val="100"/>
          <c:min val="0"/>
        </c:scaling>
        <c:delete val="0"/>
        <c:axPos val="b"/>
        <c:numFmt formatCode="0&quot;%&quot;" sourceLinked="0"/>
        <c:majorTickMark val="out"/>
        <c:minorTickMark val="none"/>
        <c:tickLblPos val="nextTo"/>
        <c:spPr>
          <a:ln w="9525">
            <a:solidFill>
              <a:srgbClr val="000000"/>
            </a:solidFill>
          </a:ln>
        </c:spPr>
        <c:txPr>
          <a:bodyPr/>
          <a:lstStyle/>
          <a:p>
            <a:pPr>
              <a:defRPr sz="1000">
                <a:solidFill>
                  <a:srgbClr val="000000"/>
                </a:solidFill>
                <a:latin typeface="Lato"/>
              </a:defRPr>
            </a:pPr>
            <a:endParaRPr lang="en-US"/>
          </a:p>
        </c:txPr>
        <c:crossAx val="-2129643912"/>
        <c:crosses val="max"/>
        <c:crossBetween val="midCat"/>
        <c:majorUnit val="25"/>
      </c:valAx>
      <c:valAx>
        <c:axId val="-2129643912"/>
        <c:scaling>
          <c:orientation val="maxMin"/>
          <c:max val="2027"/>
          <c:min val="2014"/>
        </c:scaling>
        <c:delete val="0"/>
        <c:axPos val="l"/>
        <c:numFmt formatCode="[&lt;2015]&quot;&quot;;[&gt;2026]&quot;&quot;;0" sourceLinked="0"/>
        <c:majorTickMark val="out"/>
        <c:minorTickMark val="none"/>
        <c:tickLblPos val="nextTo"/>
        <c:spPr>
          <a:ln w="9525">
            <a:solidFill>
              <a:srgbClr val="FFFFFF"/>
            </a:solidFill>
          </a:ln>
        </c:spPr>
        <c:txPr>
          <a:bodyPr/>
          <a:lstStyle/>
          <a:p>
            <a:pPr>
              <a:defRPr sz="1100" b="1">
                <a:solidFill>
                  <a:srgbClr val="000000"/>
                </a:solidFill>
                <a:latin typeface="Lato"/>
              </a:defRPr>
            </a:pPr>
            <a:endParaRPr lang="en-US"/>
          </a:p>
        </c:txPr>
        <c:crossAx val="-2128940872"/>
        <c:crosses val="autoZero"/>
        <c:crossBetween val="midCat"/>
        <c:majorUnit val="1"/>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percentStacked"/>
        <c:varyColors val="1"/>
        <c:ser>
          <c:idx val="0"/>
          <c:order val="0"/>
          <c:tx>
            <c:strRef>
              <c:f>Sheet1!$B$1</c:f>
              <c:strCache>
                <c:ptCount val="1"/>
                <c:pt idx="0">
                  <c:v>Public</c:v>
                </c:pt>
              </c:strCache>
            </c:strRef>
          </c:tx>
          <c:spPr>
            <a:solidFill>
              <a:srgbClr val="000000"/>
            </a:solidFill>
          </c:spPr>
          <c:invertIfNegative val="1"/>
          <c:dLbls>
            <c:dLbl>
              <c:idx val="0"/>
              <c:tx>
                <c:rich>
                  <a:bodyPr/>
                  <a:lstStyle/>
                  <a:p>
                    <a:r>
                      <a:rPr lang="en-US" sz="1100" b="1">
                        <a:solidFill>
                          <a:srgbClr val="FFFFFF"/>
                        </a:solidFill>
                        <a:latin typeface="Lato"/>
                      </a:rPr>
                      <a:t>1,884 (32%)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C41-4C1A-A3CA-7A0D5B755274}"/>
                </c:ext>
              </c:extLst>
            </c:dLbl>
            <c:dLbl>
              <c:idx val="1"/>
              <c:tx>
                <c:rich>
                  <a:bodyPr/>
                  <a:lstStyle/>
                  <a:p>
                    <a:r>
                      <a:rPr lang="en-US" sz="1100" b="1">
                        <a:solidFill>
                          <a:srgbClr val="FFFFFF"/>
                        </a:solidFill>
                        <a:latin typeface="Lato"/>
                      </a:rPr>
                      <a:t>1,582 (40%)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C41-4C1A-A3CA-7A0D5B755274}"/>
                </c:ext>
              </c:extLst>
            </c:dLbl>
            <c:dLbl>
              <c:idx val="2"/>
              <c:tx>
                <c:rich>
                  <a:bodyPr/>
                  <a:lstStyle/>
                  <a:p>
                    <a:r>
                      <a:rPr lang="en-US" sz="1100" b="1">
                        <a:solidFill>
                          <a:srgbClr val="FFFFFF"/>
                        </a:solidFill>
                        <a:latin typeface="Lato"/>
                      </a:rPr>
                      <a:t>302 (15%)</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C41-4C1A-A3CA-7A0D5B755274}"/>
                </c:ext>
              </c:extLst>
            </c:dLbl>
            <c:dLbl>
              <c:idx val="3"/>
              <c:tx>
                <c:rich>
                  <a:bodyPr/>
                  <a:lstStyle/>
                  <a:p>
                    <a:r>
                      <a:rPr lang="en-US" sz="1100" b="1">
                        <a:solidFill>
                          <a:srgbClr val="FFFFFF"/>
                        </a:solidFill>
                        <a:latin typeface="Lato"/>
                      </a:rPr>
                      <a:t>756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C41-4C1A-A3CA-7A0D5B755274}"/>
                </c:ext>
              </c:extLst>
            </c:dLbl>
            <c:dLbl>
              <c:idx val="4"/>
              <c:tx>
                <c:rich>
                  <a:bodyPr/>
                  <a:lstStyle/>
                  <a:p>
                    <a:r>
                      <a:rPr lang="en-US" sz="1100" b="1">
                        <a:solidFill>
                          <a:srgbClr val="FFFFFF"/>
                        </a:solidFill>
                        <a:latin typeface="Lato"/>
                      </a:rPr>
                      <a:t>826 (64%)</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Sheet1!$B$2:$B$6</c:f>
              <c:numCache>
                <c:formatCode>General</c:formatCode>
                <c:ptCount val="5"/>
                <c:pt idx="0">
                  <c:v>1884</c:v>
                </c:pt>
                <c:pt idx="1">
                  <c:v>1582</c:v>
                </c:pt>
                <c:pt idx="2">
                  <c:v>302</c:v>
                </c:pt>
                <c:pt idx="3">
                  <c:v>756</c:v>
                </c:pt>
                <c:pt idx="4">
                  <c:v>826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DC41-4C1A-A3CA-7A0D5B755274}"/>
            </c:ext>
          </c:extLst>
        </c:ser>
        <c:ser>
          <c:idx val="1"/>
          <c:order val="1"/>
          <c:tx>
            <c:strRef>
              <c:f>Sheet1!$C$1</c:f>
              <c:strCache>
                <c:ptCount val="1"/>
                <c:pt idx="0">
                  <c:v>Private nonprofit</c:v>
                </c:pt>
              </c:strCache>
            </c:strRef>
          </c:tx>
          <c:spPr>
            <a:solidFill>
              <a:srgbClr val="C8102E"/>
            </a:solidFill>
          </c:spPr>
          <c:invertIfNegative val="1"/>
          <c:dLbls>
            <c:dLbl>
              <c:idx val="0"/>
              <c:tx>
                <c:rich>
                  <a:bodyPr/>
                  <a:lstStyle/>
                  <a:p>
                    <a:r>
                      <a:rPr lang="en-US" sz="1100" b="1">
                        <a:solidFill>
                          <a:srgbClr val="FFFFFF"/>
                        </a:solidFill>
                        <a:latin typeface="Lato"/>
                      </a:rPr>
                      <a:t>1,740 (30%)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C41-4C1A-A3CA-7A0D5B755274}"/>
                </c:ext>
              </c:extLst>
            </c:dLbl>
            <c:dLbl>
              <c:idx val="1"/>
              <c:tx>
                <c:rich>
                  <a:bodyPr/>
                  <a:lstStyle/>
                  <a:p>
                    <a:r>
                      <a:rPr lang="en-US" sz="1100" b="1">
                        <a:solidFill>
                          <a:srgbClr val="FFFFFF"/>
                        </a:solidFill>
                        <a:latin typeface="Lato"/>
                      </a:rPr>
                      <a:t>1,626 (42%)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DC41-4C1A-A3CA-7A0D5B755274}"/>
                </c:ext>
              </c:extLst>
            </c:dLbl>
            <c:dLbl>
              <c:idx val="2"/>
              <c:tx>
                <c:rich>
                  <a:bodyPr/>
                  <a:lstStyle/>
                  <a:p>
                    <a:r>
                      <a:rPr lang="en-US" sz="900" b="1">
                        <a:solidFill>
                          <a:srgbClr val="FFFFFF"/>
                        </a:solidFill>
                        <a:latin typeface="Lato"/>
                      </a:rPr>
                      <a:t>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C41-4C1A-A3CA-7A0D5B755274}"/>
                </c:ext>
              </c:extLst>
            </c:dLbl>
            <c:dLbl>
              <c:idx val="3"/>
              <c:tx>
                <c:rich>
                  <a:bodyPr/>
                  <a:lstStyle/>
                  <a:p>
                    <a:r>
                      <a:rPr lang="en-US" sz="1100" b="1">
                        <a:solidFill>
                          <a:srgbClr val="FFFFFF"/>
                        </a:solidFill>
                        <a:latin typeface="Lato"/>
                      </a:rPr>
                      <a:t>1,541 (59%)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C41-4C1A-A3CA-7A0D5B755274}"/>
                </c:ext>
              </c:extLst>
            </c:dLbl>
            <c:dLbl>
              <c:idx val="4"/>
              <c:tx>
                <c:rich>
                  <a:bodyPr/>
                  <a:lstStyle/>
                  <a:p>
                    <a:r>
                      <a:rPr lang="en-US" sz="1100" b="1">
                        <a:solidFill>
                          <a:srgbClr val="FFFFFF"/>
                        </a:solidFill>
                        <a:latin typeface="Lato"/>
                      </a:rPr>
                      <a:t>85 (7%)</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Sheet1!$C$2:$C$6</c:f>
              <c:numCache>
                <c:formatCode>General</c:formatCode>
                <c:ptCount val="5"/>
                <c:pt idx="0">
                  <c:v>1740</c:v>
                </c:pt>
                <c:pt idx="1">
                  <c:v>1626</c:v>
                </c:pt>
                <c:pt idx="2">
                  <c:v>114</c:v>
                </c:pt>
                <c:pt idx="3">
                  <c:v>1541</c:v>
                </c:pt>
                <c:pt idx="4">
                  <c:v>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C41-4C1A-A3CA-7A0D5B755274}"/>
            </c:ext>
          </c:extLst>
        </c:ser>
        <c:ser>
          <c:idx val="2"/>
          <c:order val="2"/>
          <c:tx>
            <c:strRef>
              <c:f>Sheet1!$D$1</c:f>
              <c:strCache>
                <c:ptCount val="1"/>
                <c:pt idx="0">
                  <c:v>Private for-profit</c:v>
                </c:pt>
              </c:strCache>
            </c:strRef>
          </c:tx>
          <c:spPr>
            <a:solidFill>
              <a:srgbClr val="8C8C8C"/>
            </a:solidFill>
          </c:spPr>
          <c:invertIfNegative val="1"/>
          <c:dLbls>
            <c:dLbl>
              <c:idx val="0"/>
              <c:tx>
                <c:rich>
                  <a:bodyPr/>
                  <a:lstStyle/>
                  <a:p>
                    <a:r>
                      <a:rPr lang="en-US" sz="1100" b="1">
                        <a:solidFill>
                          <a:srgbClr val="FFFFFF"/>
                        </a:solidFill>
                        <a:latin typeface="Lato"/>
                      </a:rPr>
                      <a:t>2,215 (38%)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DC41-4C1A-A3CA-7A0D5B755274}"/>
                </c:ext>
              </c:extLst>
            </c:dLbl>
            <c:dLbl>
              <c:idx val="1"/>
              <c:tx>
                <c:rich>
                  <a:bodyPr/>
                  <a:lstStyle/>
                  <a:p>
                    <a:r>
                      <a:rPr lang="en-US" sz="1100" b="1">
                        <a:solidFill>
                          <a:srgbClr val="FFFFFF"/>
                        </a:solidFill>
                        <a:latin typeface="Lato"/>
                      </a:rPr>
                      <a:t>691 (18%)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DC41-4C1A-A3CA-7A0D5B755274}"/>
                </c:ext>
              </c:extLst>
            </c:dLbl>
            <c:dLbl>
              <c:idx val="2"/>
              <c:tx>
                <c:rich>
                  <a:bodyPr/>
                  <a:lstStyle/>
                  <a:p>
                    <a:r>
                      <a:rPr lang="en-US" sz="1100" b="1">
                        <a:solidFill>
                          <a:srgbClr val="FFFFFF"/>
                        </a:solidFill>
                        <a:latin typeface="Lato"/>
                      </a:rPr>
                      <a:t>1,524 (79%)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DC41-4C1A-A3CA-7A0D5B755274}"/>
                </c:ext>
              </c:extLst>
            </c:dLbl>
            <c:dLbl>
              <c:idx val="3"/>
              <c:tx>
                <c:rich>
                  <a:bodyPr/>
                  <a:lstStyle/>
                  <a:p>
                    <a:r>
                      <a:rPr lang="en-US" sz="1100" b="1">
                        <a:solidFill>
                          <a:srgbClr val="FFFFFF"/>
                        </a:solidFill>
                        <a:latin typeface="Lato"/>
                      </a:rPr>
                      <a:t>322 (12%)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DC41-4C1A-A3CA-7A0D5B755274}"/>
                </c:ext>
              </c:extLst>
            </c:dLbl>
            <c:dLbl>
              <c:idx val="4"/>
              <c:tx>
                <c:rich>
                  <a:bodyPr/>
                  <a:lstStyle/>
                  <a:p>
                    <a:r>
                      <a:rPr lang="en-US" sz="1100" b="1">
                        <a:solidFill>
                          <a:srgbClr val="FFFFFF"/>
                        </a:solidFill>
                        <a:latin typeface="Lato"/>
                      </a:rPr>
                      <a:t>369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Sheet1!$D$2:$D$6</c:f>
              <c:numCache>
                <c:formatCode>General</c:formatCode>
                <c:ptCount val="5"/>
                <c:pt idx="0">
                  <c:v>2215</c:v>
                </c:pt>
                <c:pt idx="1">
                  <c:v>691</c:v>
                </c:pt>
                <c:pt idx="2">
                  <c:v>1524</c:v>
                </c:pt>
                <c:pt idx="3">
                  <c:v>322</c:v>
                </c:pt>
                <c:pt idx="4">
                  <c:v>369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1-DC41-4C1A-A3CA-7A0D5B755274}"/>
            </c:ext>
          </c:extLst>
        </c:ser>
        <c:dLbls>
          <c:showLegendKey val="0"/>
          <c:showVal val="0"/>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200"/>
            </a:pPr>
            <a:endParaRPr lang="en-US"/>
          </a:p>
        </c:txPr>
        <c:crossAx val="-2113994440"/>
        <c:crosses val="autoZero"/>
        <c:auto val="1"/>
        <c:lblAlgn val="ctr"/>
        <c:lblOffset val="100"/>
        <c:noMultiLvlLbl val="0"/>
      </c:catAx>
      <c:valAx>
        <c:axId val="-2113994440"/>
        <c:scaling>
          <c:orientation val="minMax"/>
        </c:scaling>
        <c:delete val="1"/>
        <c:axPos val="t"/>
        <c:numFmt formatCode="0%" sourceLinked="1"/>
        <c:majorTickMark val="out"/>
        <c:minorTickMark val="none"/>
        <c:tickLblPos val="nextTo"/>
        <c:crossAx val="-2068027336"/>
        <c:crosses val="autoZero"/>
        <c:crossBetween val="between"/>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lang="en-US" sz="1100" b="1">
                        <a:solidFill>
                          <a:srgbClr val="C8102E"/>
                        </a:solidFill>
                        <a:latin typeface="Lato"/>
                      </a:rPr>
                      <a:t>92%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C7EC-454A-B66B-E335A0651B45}"/>
                </c:ext>
              </c:extLst>
            </c:dLbl>
            <c:dLbl>
              <c:idx val="44"/>
              <c:tx>
                <c:rich>
                  <a:bodyPr/>
                  <a:lstStyle/>
                  <a:p>
                    <a:r>
                      <a:rPr lang="en-US" sz="1100" b="1">
                        <a:solidFill>
                          <a:srgbClr val="C8102E"/>
                        </a:solidFill>
                        <a:latin typeface="Lato"/>
                      </a:rPr>
                      <a:t>50%</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7EC-454A-B66B-E335A0651B4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0.91500002145767212</c:v>
                </c:pt>
                <c:pt idx="1">
                  <c:v>0.89099997282028198</c:v>
                </c:pt>
                <c:pt idx="2">
                  <c:v>0.89600002765655518</c:v>
                </c:pt>
                <c:pt idx="3">
                  <c:v>0.8880000114440918</c:v>
                </c:pt>
                <c:pt idx="4">
                  <c:v>0.89899998903274536</c:v>
                </c:pt>
                <c:pt idx="5">
                  <c:v>0.86400002241134644</c:v>
                </c:pt>
                <c:pt idx="6">
                  <c:v>0.85799998044967651</c:v>
                </c:pt>
                <c:pt idx="7">
                  <c:v>0.8399999737739563</c:v>
                </c:pt>
                <c:pt idx="8">
                  <c:v>0.82099997997283936</c:v>
                </c:pt>
                <c:pt idx="9">
                  <c:v>0.79600000381469727</c:v>
                </c:pt>
                <c:pt idx="10">
                  <c:v>0.7850000262260437</c:v>
                </c:pt>
                <c:pt idx="11">
                  <c:v>0.7839999794960022</c:v>
                </c:pt>
                <c:pt idx="12">
                  <c:v>0.74000000953674316</c:v>
                </c:pt>
                <c:pt idx="13">
                  <c:v>0.70800000429153442</c:v>
                </c:pt>
                <c:pt idx="14">
                  <c:v>0.68199998140335083</c:v>
                </c:pt>
                <c:pt idx="15">
                  <c:v>0.69599997997283936</c:v>
                </c:pt>
                <c:pt idx="16">
                  <c:v>0.67400002479553223</c:v>
                </c:pt>
                <c:pt idx="17">
                  <c:v>0.67299997806549072</c:v>
                </c:pt>
                <c:pt idx="18">
                  <c:v>0.67100000381469727</c:v>
                </c:pt>
                <c:pt idx="19">
                  <c:v>0.65299999713897705</c:v>
                </c:pt>
                <c:pt idx="20">
                  <c:v>0.62300002574920654</c:v>
                </c:pt>
                <c:pt idx="21">
                  <c:v>0.60100001096725464</c:v>
                </c:pt>
                <c:pt idx="22">
                  <c:v>0.58300000429153442</c:v>
                </c:pt>
                <c:pt idx="23">
                  <c:v>0.57599997520446777</c:v>
                </c:pt>
                <c:pt idx="24">
                  <c:v>0.56499999761581421</c:v>
                </c:pt>
                <c:pt idx="25">
                  <c:v>0.59299999475479126</c:v>
                </c:pt>
                <c:pt idx="26">
                  <c:v>0.57499998807907104</c:v>
                </c:pt>
                <c:pt idx="27">
                  <c:v>0.57800000905990601</c:v>
                </c:pt>
                <c:pt idx="28">
                  <c:v>0.60100001096725464</c:v>
                </c:pt>
                <c:pt idx="29">
                  <c:v>0.59399998188018799</c:v>
                </c:pt>
                <c:pt idx="30">
                  <c:v>0.61000001430511475</c:v>
                </c:pt>
                <c:pt idx="31">
                  <c:v>0.6119999885559082</c:v>
                </c:pt>
                <c:pt idx="32">
                  <c:v>0.60799998044967651</c:v>
                </c:pt>
                <c:pt idx="33">
                  <c:v>0.59899997711181641</c:v>
                </c:pt>
                <c:pt idx="34">
                  <c:v>0.57999998331069946</c:v>
                </c:pt>
                <c:pt idx="35">
                  <c:v>0.58600002527236938</c:v>
                </c:pt>
                <c:pt idx="36">
                  <c:v>0.54900002479553223</c:v>
                </c:pt>
                <c:pt idx="37">
                  <c:v>0.56599998474121094</c:v>
                </c:pt>
                <c:pt idx="38">
                  <c:v>0.55699998140335083</c:v>
                </c:pt>
                <c:pt idx="39">
                  <c:v>0.5429999828338623</c:v>
                </c:pt>
                <c:pt idx="40">
                  <c:v>0.5</c:v>
                </c:pt>
                <c:pt idx="41">
                  <c:v>0.53200000524520874</c:v>
                </c:pt>
                <c:pt idx="42">
                  <c:v>0.5429999828338623</c:v>
                </c:pt>
                <c:pt idx="43">
                  <c:v>0.52700001001358032</c:v>
                </c:pt>
                <c:pt idx="44">
                  <c:v>0.50300002098083496</c:v>
                </c:pt>
              </c:numCache>
            </c:numRef>
          </c:val>
          <c:smooth val="0"/>
          <c:extLst>
            <c:ext xmlns:c16="http://schemas.microsoft.com/office/drawing/2014/chart" uri="{C3380CC4-5D6E-409C-BE32-E72D297353CC}">
              <c16:uniqueId val="{00000002-C7EC-454A-B66B-E335A0651B4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1"/>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Median weekly earnings</c:v>
                </c:pt>
              </c:strCache>
            </c:strRef>
          </c:tx>
          <c:spPr>
            <a:solidFill>
              <a:srgbClr val="000000"/>
            </a:solidFill>
          </c:spPr>
          <c:invertIfNegative val="1"/>
          <c:dPt>
            <c:idx val="4"/>
            <c:invertIfNegative val="1"/>
            <c:bubble3D val="0"/>
            <c:spPr>
              <a:solidFill>
                <a:srgbClr val="C8102E"/>
              </a:solidFill>
            </c:spPr>
            <c:extLst>
              <c:ext xmlns:c16="http://schemas.microsoft.com/office/drawing/2014/chart" uri="{C3380CC4-5D6E-409C-BE32-E72D297353CC}">
                <c16:uniqueId val="{00000001-57AB-46AD-91A4-C40E42600CA8}"/>
              </c:ext>
            </c:extLst>
          </c:dPt>
          <c:dLbls>
            <c:numFmt formatCode="&quot;$&quot;#,##0" sourceLinked="0"/>
            <c:spPr>
              <a:noFill/>
              <a:ln>
                <a:noFill/>
              </a:ln>
              <a:effectLst/>
            </c:spPr>
            <c:txPr>
              <a:bodyPr/>
              <a:lstStyle/>
              <a:p>
                <a:pPr>
                  <a:defRPr sz="11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770</c:v>
                </c:pt>
                <c:pt idx="1">
                  <c:v>966</c:v>
                </c:pt>
                <c:pt idx="2">
                  <c:v>1062</c:v>
                </c:pt>
                <c:pt idx="3">
                  <c:v>1135</c:v>
                </c:pt>
                <c:pt idx="4">
                  <c:v>1578</c:v>
                </c:pt>
                <c:pt idx="5">
                  <c:v>1876</c:v>
                </c:pt>
                <c:pt idx="6">
                  <c:v>2294</c:v>
                </c:pt>
                <c:pt idx="7">
                  <c:v>2307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57AB-46AD-91A4-C40E42600CA8}"/>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26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500"/>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Unemployment rate</c:v>
                </c:pt>
              </c:strCache>
            </c:strRef>
          </c:tx>
          <c:spPr>
            <a:solidFill>
              <a:srgbClr val="C8102E"/>
            </a:solidFill>
          </c:spPr>
          <c:invertIfNegative val="1"/>
          <c:dLbls>
            <c:numFmt formatCode="0.0%" sourceLinked="0"/>
            <c:spPr>
              <a:noFill/>
              <a:ln>
                <a:noFill/>
              </a:ln>
              <a:effectLst/>
            </c:spPr>
            <c:txPr>
              <a:bodyPr/>
              <a:lstStyle/>
              <a:p>
                <a:pPr>
                  <a:defRPr sz="10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6.0999999999999999E-2</c:v>
                </c:pt>
                <c:pt idx="1">
                  <c:v>4.2999999999999997E-2</c:v>
                </c:pt>
                <c:pt idx="2">
                  <c:v>3.7999999999999999E-2</c:v>
                </c:pt>
                <c:pt idx="3">
                  <c:v>0.03</c:v>
                </c:pt>
                <c:pt idx="4">
                  <c:v>2.8000000000000001E-2</c:v>
                </c:pt>
                <c:pt idx="5">
                  <c:v>2.5999999999999999E-2</c:v>
                </c:pt>
                <c:pt idx="6">
                  <c:v>1.9E-2</c:v>
                </c:pt>
                <c:pt idx="7">
                  <c:v>1.7999999999999999E-2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471-41D4-A561-0AE9CBE65D4C}"/>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7.0000000000000007E-2"/>
          <c:min val="0"/>
        </c:scaling>
        <c:delete val="0"/>
        <c:axPos val="t"/>
        <c:majorGridlines>
          <c:spPr>
            <a:ln w="6350">
              <a:solidFill>
                <a:srgbClr val="D9D9D9"/>
              </a:solidFill>
            </a:ln>
          </c:spPr>
        </c:majorGridlines>
        <c:numFmt formatCode="0.0%" sourceLinked="0"/>
        <c:majorTickMark val="out"/>
        <c:minorTickMark val="none"/>
        <c:tickLblPos val="high"/>
        <c:spPr>
          <a:ln>
            <a:noFill/>
          </a:ln>
        </c:spPr>
        <c:crossAx val="-2068027336"/>
        <c:crosses val="autoZero"/>
        <c:crossBetween val="between"/>
        <c:majorUnit val="0.0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billion</c:v>
                </c:pt>
              </c:strCache>
            </c:strRef>
          </c:tx>
          <c:spPr>
            <a:solidFill>
              <a:srgbClr val="8C8C8C"/>
            </a:solidFill>
          </c:spPr>
          <c:invertIfNegative val="1"/>
          <c:dPt>
            <c:idx val="15"/>
            <c:invertIfNegative val="1"/>
            <c:bubble3D val="0"/>
            <c:spPr>
              <a:solidFill>
                <a:srgbClr val="C8102E"/>
              </a:solidFill>
            </c:spPr>
            <c:extLst>
              <c:ext xmlns:c16="http://schemas.microsoft.com/office/drawing/2014/chart" uri="{C3380CC4-5D6E-409C-BE32-E72D297353CC}">
                <c16:uniqueId val="{00000001-A953-4488-BD8D-26CC3F0FDB34}"/>
              </c:ext>
            </c:extLst>
          </c:dPt>
          <c:dPt>
            <c:idx val="26"/>
            <c:invertIfNegative val="1"/>
            <c:bubble3D val="0"/>
            <c:spPr>
              <a:solidFill>
                <a:srgbClr val="C8102E"/>
              </a:solidFill>
            </c:spPr>
            <c:extLst>
              <c:ext xmlns:c16="http://schemas.microsoft.com/office/drawing/2014/chart" uri="{C3380CC4-5D6E-409C-BE32-E72D297353CC}">
                <c16:uniqueId val="{00000003-A953-4488-BD8D-26CC3F0FDB34}"/>
              </c:ext>
            </c:extLst>
          </c:dPt>
          <c:dLbls>
            <c:dLbl>
              <c:idx val="0"/>
              <c:tx>
                <c:rich>
                  <a:bodyPr/>
                  <a:lstStyle/>
                  <a:p>
                    <a:r>
                      <a:rPr lang="en-US" sz="900" b="0">
                        <a:solidFill>
                          <a:srgbClr val="000000"/>
                        </a:solidFill>
                        <a:latin typeface="Lato"/>
                      </a:rPr>
                      <a:t>$159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953-4488-BD8D-26CC3F0FDB34}"/>
                </c:ext>
              </c:extLst>
            </c:dLbl>
            <c:dLbl>
              <c:idx val="1"/>
              <c:tx>
                <c:rich>
                  <a:bodyPr/>
                  <a:lstStyle/>
                  <a:p>
                    <a:r>
                      <a:rPr lang="en-US" sz="900" b="0">
                        <a:solidFill>
                          <a:srgbClr val="000000"/>
                        </a:solidFill>
                        <a:latin typeface="Lato"/>
                      </a:rPr>
                      <a:t>$158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953-4488-BD8D-26CC3F0FDB34}"/>
                </c:ext>
              </c:extLst>
            </c:dLbl>
            <c:dLbl>
              <c:idx val="2"/>
              <c:tx>
                <c:rich>
                  <a:bodyPr/>
                  <a:lstStyle/>
                  <a:p>
                    <a:r>
                      <a:rPr lang="en-US" sz="900" b="0">
                        <a:solidFill>
                          <a:srgbClr val="000000"/>
                        </a:solidFill>
                        <a:latin typeface="Lato"/>
                      </a:rPr>
                      <a:t>$129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953-4488-BD8D-26CC3F0FDB34}"/>
                </c:ext>
              </c:extLst>
            </c:dLbl>
            <c:dLbl>
              <c:idx val="3"/>
              <c:tx>
                <c:rich>
                  <a:bodyPr/>
                  <a:lstStyle/>
                  <a:p>
                    <a:r>
                      <a:rPr lang="en-US" sz="900" b="0">
                        <a:solidFill>
                          <a:srgbClr val="000000"/>
                        </a:solidFill>
                        <a:latin typeface="Lato"/>
                      </a:rPr>
                      <a:t>$110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A953-4488-BD8D-26CC3F0FDB34}"/>
                </c:ext>
              </c:extLst>
            </c:dLbl>
            <c:dLbl>
              <c:idx val="4"/>
              <c:tx>
                <c:rich>
                  <a:bodyPr/>
                  <a:lstStyle/>
                  <a:p>
                    <a:r>
                      <a:rPr lang="en-US" sz="900" b="0">
                        <a:solidFill>
                          <a:srgbClr val="000000"/>
                        </a:solidFill>
                        <a:latin typeface="Lato"/>
                      </a:rPr>
                      <a:t>$109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A953-4488-BD8D-26CC3F0FDB34}"/>
                </c:ext>
              </c:extLst>
            </c:dLbl>
            <c:dLbl>
              <c:idx val="5"/>
              <c:tx>
                <c:rich>
                  <a:bodyPr/>
                  <a:lstStyle/>
                  <a:p>
                    <a:r>
                      <a:rPr lang="en-US" sz="900" b="0">
                        <a:solidFill>
                          <a:srgbClr val="000000"/>
                        </a:solidFill>
                        <a:latin typeface="Lato"/>
                      </a:rPr>
                      <a:t>$108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A953-4488-BD8D-26CC3F0FDB34}"/>
                </c:ext>
              </c:extLst>
            </c:dLbl>
            <c:dLbl>
              <c:idx val="6"/>
              <c:tx>
                <c:rich>
                  <a:bodyPr/>
                  <a:lstStyle/>
                  <a:p>
                    <a:r>
                      <a:rPr lang="en-US" sz="900" b="0">
                        <a:solidFill>
                          <a:srgbClr val="000000"/>
                        </a:solidFill>
                        <a:latin typeface="Lato"/>
                      </a:rPr>
                      <a:t>$99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A953-4488-BD8D-26CC3F0FDB34}"/>
                </c:ext>
              </c:extLst>
            </c:dLbl>
            <c:dLbl>
              <c:idx val="7"/>
              <c:tx>
                <c:rich>
                  <a:bodyPr/>
                  <a:lstStyle/>
                  <a:p>
                    <a:r>
                      <a:rPr lang="en-US" sz="900" b="0">
                        <a:solidFill>
                          <a:srgbClr val="000000"/>
                        </a:solidFill>
                        <a:latin typeface="Lato"/>
                      </a:rPr>
                      <a:t>$91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A953-4488-BD8D-26CC3F0FDB34}"/>
                </c:ext>
              </c:extLst>
            </c:dLbl>
            <c:dLbl>
              <c:idx val="8"/>
              <c:tx>
                <c:rich>
                  <a:bodyPr/>
                  <a:lstStyle/>
                  <a:p>
                    <a:r>
                      <a:rPr lang="en-US" sz="900" b="0">
                        <a:solidFill>
                          <a:srgbClr val="000000"/>
                        </a:solidFill>
                        <a:latin typeface="Lato"/>
                      </a:rPr>
                      <a:t>$89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A953-4488-BD8D-26CC3F0FDB34}"/>
                </c:ext>
              </c:extLst>
            </c:dLbl>
            <c:dLbl>
              <c:idx val="9"/>
              <c:tx>
                <c:rich>
                  <a:bodyPr/>
                  <a:lstStyle/>
                  <a:p>
                    <a:r>
                      <a:rPr lang="en-US" sz="900" b="0">
                        <a:solidFill>
                          <a:srgbClr val="000000"/>
                        </a:solidFill>
                        <a:latin typeface="Lato"/>
                      </a:rPr>
                      <a:t>$79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953-4488-BD8D-26CC3F0FDB34}"/>
                </c:ext>
              </c:extLst>
            </c:dLbl>
            <c:dLbl>
              <c:idx val="10"/>
              <c:tx>
                <c:rich>
                  <a:bodyPr/>
                  <a:lstStyle/>
                  <a:p>
                    <a:r>
                      <a:rPr lang="en-US" sz="900" b="0">
                        <a:solidFill>
                          <a:srgbClr val="000000"/>
                        </a:solidFill>
                        <a:latin typeface="Lato"/>
                      </a:rPr>
                      <a:t>$78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A953-4488-BD8D-26CC3F0FDB34}"/>
                </c:ext>
              </c:extLst>
            </c:dLbl>
            <c:dLbl>
              <c:idx val="11"/>
              <c:tx>
                <c:rich>
                  <a:bodyPr/>
                  <a:lstStyle/>
                  <a:p>
                    <a:r>
                      <a:rPr lang="en-US" sz="900" b="0">
                        <a:solidFill>
                          <a:srgbClr val="000000"/>
                        </a:solidFill>
                        <a:latin typeface="Lato"/>
                      </a:rPr>
                      <a:t>$62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953-4488-BD8D-26CC3F0FDB34}"/>
                </c:ext>
              </c:extLst>
            </c:dLbl>
            <c:dLbl>
              <c:idx val="12"/>
              <c:tx>
                <c:rich>
                  <a:bodyPr/>
                  <a:lstStyle/>
                  <a:p>
                    <a:r>
                      <a:rPr lang="en-US" sz="900" b="0">
                        <a:solidFill>
                          <a:srgbClr val="000000"/>
                        </a:solidFill>
                        <a:latin typeface="Lato"/>
                      </a:rPr>
                      <a:t>$59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A953-4488-BD8D-26CC3F0FDB34}"/>
                </c:ext>
              </c:extLst>
            </c:dLbl>
            <c:dLbl>
              <c:idx val="13"/>
              <c:tx>
                <c:rich>
                  <a:bodyPr/>
                  <a:lstStyle/>
                  <a:p>
                    <a:r>
                      <a:rPr lang="en-US" sz="900" b="0">
                        <a:solidFill>
                          <a:srgbClr val="000000"/>
                        </a:solidFill>
                        <a:latin typeface="Lato"/>
                      </a:rPr>
                      <a:t>$50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953-4488-BD8D-26CC3F0FDB34}"/>
                </c:ext>
              </c:extLst>
            </c:dLbl>
            <c:dLbl>
              <c:idx val="14"/>
              <c:tx>
                <c:rich>
                  <a:bodyPr/>
                  <a:lstStyle/>
                  <a:p>
                    <a:r>
                      <a:rPr lang="en-US" sz="900" b="0">
                        <a:solidFill>
                          <a:srgbClr val="000000"/>
                        </a:solidFill>
                        <a:latin typeface="Lato"/>
                      </a:rPr>
                      <a:t>$49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A953-4488-BD8D-26CC3F0FDB34}"/>
                </c:ext>
              </c:extLst>
            </c:dLbl>
            <c:dLbl>
              <c:idx val="15"/>
              <c:tx>
                <c:rich>
                  <a:bodyPr/>
                  <a:lstStyle/>
                  <a:p>
                    <a:r>
                      <a:rPr lang="en-US" sz="900" b="1">
                        <a:solidFill>
                          <a:srgbClr val="C8102E"/>
                        </a:solidFill>
                        <a:latin typeface="Lato"/>
                      </a:rPr>
                      <a:t>$48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953-4488-BD8D-26CC3F0FDB34}"/>
                </c:ext>
              </c:extLst>
            </c:dLbl>
            <c:dLbl>
              <c:idx val="16"/>
              <c:tx>
                <c:rich>
                  <a:bodyPr/>
                  <a:lstStyle/>
                  <a:p>
                    <a:r>
                      <a:rPr lang="en-US" sz="900" b="0">
                        <a:solidFill>
                          <a:srgbClr val="000000"/>
                        </a:solidFill>
                        <a:latin typeface="Lato"/>
                      </a:rPr>
                      <a:t>$36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A953-4488-BD8D-26CC3F0FDB34}"/>
                </c:ext>
              </c:extLst>
            </c:dLbl>
            <c:dLbl>
              <c:idx val="17"/>
              <c:tx>
                <c:rich>
                  <a:bodyPr/>
                  <a:lstStyle/>
                  <a:p>
                    <a:r>
                      <a:rPr lang="en-US" sz="900" b="0">
                        <a:solidFill>
                          <a:srgbClr val="000000"/>
                        </a:solidFill>
                        <a:latin typeface="Lato"/>
                      </a:rPr>
                      <a:t>$23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A953-4488-BD8D-26CC3F0FDB34}"/>
                </c:ext>
              </c:extLst>
            </c:dLbl>
            <c:dLbl>
              <c:idx val="18"/>
              <c:tx>
                <c:rich>
                  <a:bodyPr/>
                  <a:lstStyle/>
                  <a:p>
                    <a:r>
                      <a:rPr lang="en-US" sz="900" b="0">
                        <a:solidFill>
                          <a:srgbClr val="000000"/>
                        </a:solidFill>
                        <a:latin typeface="Lato"/>
                      </a:rPr>
                      <a:t>$22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A953-4488-BD8D-26CC3F0FDB34}"/>
                </c:ext>
              </c:extLst>
            </c:dLbl>
            <c:dLbl>
              <c:idx val="19"/>
              <c:tx>
                <c:rich>
                  <a:bodyPr/>
                  <a:lstStyle/>
                  <a:p>
                    <a:r>
                      <a:rPr lang="en-US" sz="900" b="0">
                        <a:solidFill>
                          <a:srgbClr val="000000"/>
                        </a:solidFill>
                        <a:latin typeface="Lato"/>
                      </a:rPr>
                      <a:t>$16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A953-4488-BD8D-26CC3F0FDB34}"/>
                </c:ext>
              </c:extLst>
            </c:dLbl>
            <c:dLbl>
              <c:idx val="20"/>
              <c:tx>
                <c:rich>
                  <a:bodyPr/>
                  <a:lstStyle/>
                  <a:p>
                    <a:r>
                      <a:rPr lang="en-US" sz="900" b="0">
                        <a:solidFill>
                          <a:srgbClr val="000000"/>
                        </a:solidFill>
                        <a:latin typeface="Lato"/>
                      </a:rPr>
                      <a:t>$15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A953-4488-BD8D-26CC3F0FDB34}"/>
                </c:ext>
              </c:extLst>
            </c:dLbl>
            <c:dLbl>
              <c:idx val="21"/>
              <c:tx>
                <c:rich>
                  <a:bodyPr/>
                  <a:lstStyle/>
                  <a:p>
                    <a:r>
                      <a:rPr lang="en-US" sz="900" b="0">
                        <a:solidFill>
                          <a:srgbClr val="000000"/>
                        </a:solidFill>
                        <a:latin typeface="Lato"/>
                      </a:rPr>
                      <a:t>$14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A953-4488-BD8D-26CC3F0FDB34}"/>
                </c:ext>
              </c:extLst>
            </c:dLbl>
            <c:dLbl>
              <c:idx val="22"/>
              <c:tx>
                <c:rich>
                  <a:bodyPr/>
                  <a:lstStyle/>
                  <a:p>
                    <a:r>
                      <a:rPr lang="en-US" sz="900" b="0">
                        <a:solidFill>
                          <a:srgbClr val="000000"/>
                        </a:solidFill>
                        <a:latin typeface="Lato"/>
                      </a:rPr>
                      <a:t>$12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A953-4488-BD8D-26CC3F0FDB34}"/>
                </c:ext>
              </c:extLst>
            </c:dLbl>
            <c:dLbl>
              <c:idx val="23"/>
              <c:tx>
                <c:rich>
                  <a:bodyPr/>
                  <a:lstStyle/>
                  <a:p>
                    <a:r>
                      <a:rPr lang="en-US" sz="900" b="0">
                        <a:solidFill>
                          <a:srgbClr val="000000"/>
                        </a:solidFill>
                        <a:latin typeface="Lato"/>
                      </a:rPr>
                      <a:t>$10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A953-4488-BD8D-26CC3F0FDB34}"/>
                </c:ext>
              </c:extLst>
            </c:dLbl>
            <c:dLbl>
              <c:idx val="24"/>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A953-4488-BD8D-26CC3F0FDB34}"/>
                </c:ext>
              </c:extLst>
            </c:dLbl>
            <c:dLbl>
              <c:idx val="25"/>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A953-4488-BD8D-26CC3F0FDB34}"/>
                </c:ext>
              </c:extLst>
            </c:dLbl>
            <c:dLbl>
              <c:idx val="26"/>
              <c:tx>
                <c:rich>
                  <a:bodyPr/>
                  <a:lstStyle/>
                  <a:p>
                    <a:r>
                      <a:rPr lang="en-US" sz="900" b="1">
                        <a:solidFill>
                          <a:srgbClr val="C8102E"/>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953-4488-BD8D-26CC3F0FDB34}"/>
                </c:ext>
              </c:extLst>
            </c:dLbl>
            <c:dLbl>
              <c:idx val="27"/>
              <c:tx>
                <c:rich>
                  <a:bodyPr/>
                  <a:lstStyle/>
                  <a:p>
                    <a:r>
                      <a:rPr lang="en-US" sz="900" b="0">
                        <a:solidFill>
                          <a:srgbClr val="000000"/>
                        </a:solidFill>
                        <a:latin typeface="Lato"/>
                      </a:rPr>
                      <a:t>$7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A953-4488-BD8D-26CC3F0FDB34}"/>
                </c:ext>
              </c:extLst>
            </c:dLbl>
            <c:dLbl>
              <c:idx val="28"/>
              <c:tx>
                <c:rich>
                  <a:bodyPr/>
                  <a:lstStyle/>
                  <a:p>
                    <a:r>
                      <a:rPr lang="en-US" sz="900" b="0">
                        <a:solidFill>
                          <a:srgbClr val="000000"/>
                        </a:solidFill>
                        <a:latin typeface="Lato"/>
                      </a:rPr>
                      <a:t>$3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A953-4488-BD8D-26CC3F0FDB34}"/>
                </c:ext>
              </c:extLst>
            </c:dLbl>
            <c:dLbl>
              <c:idx val="29"/>
              <c:tx>
                <c:rich>
                  <a:bodyPr/>
                  <a:lstStyle/>
                  <a:p>
                    <a:r>
                      <a:rPr lang="en-US" sz="900" b="0">
                        <a:solidFill>
                          <a:srgbClr val="000000"/>
                        </a:solidFill>
                        <a:latin typeface="Lato"/>
                      </a:rPr>
                      <a:t>$2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A953-4488-BD8D-26CC3F0FDB34}"/>
                </c:ext>
              </c:extLst>
            </c:dLbl>
            <c:dLbl>
              <c:idx val="30"/>
              <c:tx>
                <c:rich>
                  <a:bodyPr/>
                  <a:lstStyle/>
                  <a:p>
                    <a:r>
                      <a:rPr lang="en-US" sz="900" b="0">
                        <a:solidFill>
                          <a:srgbClr val="000000"/>
                        </a:solidFill>
                        <a:latin typeface="Lato"/>
                      </a:rPr>
                      <a:t>$1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A953-4488-BD8D-26CC3F0FDB3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Sheet1!$A$2:$A$32</c:f>
              <c:strCache>
                <c:ptCount val="31"/>
                <c:pt idx="0">
                  <c:v>Wine and Spirits</c:v>
                </c:pt>
                <c:pt idx="1">
                  <c:v>Pet care (2025)</c:v>
                </c:pt>
                <c:pt idx="2">
                  <c:v>Beer</c:v>
                </c:pt>
                <c:pt idx="3">
                  <c:v>Soft drinks</c:v>
                </c:pt>
                <c:pt idx="4">
                  <c:v>Lottery tickets (FY2025)</c:v>
                </c:pt>
                <c:pt idx="5">
                  <c:v>Tobacco</c:v>
                </c:pt>
                <c:pt idx="6">
                  <c:v>Bottled water</c:v>
                </c:pt>
                <c:pt idx="7">
                  <c:v>Beauty and personal care</c:v>
                </c:pt>
                <c:pt idx="8">
                  <c:v>Coffee</c:v>
                </c:pt>
                <c:pt idx="9">
                  <c:v>Gambling, non-lottery (2025)</c:v>
                </c:pt>
                <c:pt idx="10">
                  <c:v>Video games</c:v>
                </c:pt>
                <c:pt idx="11">
                  <c:v>Child care</c:v>
                </c:pt>
                <c:pt idx="12">
                  <c:v>Lawn care</c:v>
                </c:pt>
                <c:pt idx="13">
                  <c:v>Sporting events</c:v>
                </c:pt>
                <c:pt idx="14">
                  <c:v>Pizza</c:v>
                </c:pt>
                <c:pt idx="15">
                  <c:v>NIH (FY2026)</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Perfume</c:v>
                </c:pt>
                <c:pt idx="26">
                  <c:v>NSF (FY2026)</c:v>
                </c:pt>
                <c:pt idx="27">
                  <c:v>Baggage fees (2024)</c:v>
                </c:pt>
                <c:pt idx="28">
                  <c:v>Valentine's flowers (2026)</c:v>
                </c:pt>
                <c:pt idx="29">
                  <c:v>Tattoos</c:v>
                </c:pt>
                <c:pt idx="30">
                  <c:v>Twinkies</c:v>
                </c:pt>
              </c:strCache>
            </c:strRef>
          </c:cat>
          <c:val>
            <c:numRef>
              <c:f>Sheet1!$B$2:$B$32</c:f>
              <c:numCache>
                <c:formatCode>General</c:formatCode>
                <c:ptCount val="31"/>
                <c:pt idx="0">
                  <c:v>159.4</c:v>
                </c:pt>
                <c:pt idx="1">
                  <c:v>158</c:v>
                </c:pt>
                <c:pt idx="2">
                  <c:v>129.30000000000001</c:v>
                </c:pt>
                <c:pt idx="3">
                  <c:v>109.5</c:v>
                </c:pt>
                <c:pt idx="4">
                  <c:v>109.4</c:v>
                </c:pt>
                <c:pt idx="5">
                  <c:v>107.5</c:v>
                </c:pt>
                <c:pt idx="6">
                  <c:v>98.5</c:v>
                </c:pt>
                <c:pt idx="7">
                  <c:v>91.4</c:v>
                </c:pt>
                <c:pt idx="8">
                  <c:v>88.6</c:v>
                </c:pt>
                <c:pt idx="9">
                  <c:v>78.7</c:v>
                </c:pt>
                <c:pt idx="10">
                  <c:v>78</c:v>
                </c:pt>
                <c:pt idx="11">
                  <c:v>62</c:v>
                </c:pt>
                <c:pt idx="12">
                  <c:v>59</c:v>
                </c:pt>
                <c:pt idx="13">
                  <c:v>49.8</c:v>
                </c:pt>
                <c:pt idx="14">
                  <c:v>49</c:v>
                </c:pt>
                <c:pt idx="15">
                  <c:v>47.5</c:v>
                </c:pt>
                <c:pt idx="16">
                  <c:v>35.6</c:v>
                </c:pt>
                <c:pt idx="17">
                  <c:v>23.2</c:v>
                </c:pt>
                <c:pt idx="18">
                  <c:v>22</c:v>
                </c:pt>
                <c:pt idx="19">
                  <c:v>16</c:v>
                </c:pt>
                <c:pt idx="20">
                  <c:v>15</c:v>
                </c:pt>
                <c:pt idx="21">
                  <c:v>13.9</c:v>
                </c:pt>
                <c:pt idx="22">
                  <c:v>12</c:v>
                </c:pt>
                <c:pt idx="23">
                  <c:v>10.199999999999999</c:v>
                </c:pt>
                <c:pt idx="24">
                  <c:v>9</c:v>
                </c:pt>
                <c:pt idx="25">
                  <c:v>8.9</c:v>
                </c:pt>
                <c:pt idx="26">
                  <c:v>8.75</c:v>
                </c:pt>
                <c:pt idx="27">
                  <c:v>7.3</c:v>
                </c:pt>
                <c:pt idx="28">
                  <c:v>3.1</c:v>
                </c:pt>
                <c:pt idx="29">
                  <c:v>2</c:v>
                </c:pt>
                <c:pt idx="30">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1-A953-4488-BD8D-26CC3F0FDB34}"/>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800"/>
            </a:pPr>
            <a:endParaRPr lang="en-US"/>
          </a:p>
        </c:txPr>
        <c:crossAx val="-2113994440"/>
        <c:crosses val="autoZero"/>
        <c:auto val="1"/>
        <c:lblAlgn val="ctr"/>
        <c:lblOffset val="100"/>
        <c:tickLblSkip val="1"/>
        <c:tickMarkSkip val="1"/>
        <c:noMultiLvlLbl val="0"/>
      </c:catAx>
      <c:valAx>
        <c:axId val="-2113994440"/>
        <c:scaling>
          <c:orientation val="minMax"/>
          <c:max val="180"/>
          <c:min val="0"/>
        </c:scaling>
        <c:delete val="0"/>
        <c:axPos val="t"/>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crossBetween val="between"/>
        <c:majorUnit val="20"/>
      </c:valAx>
    </c:plotArea>
    <c:plotVisOnly val="1"/>
    <c:dispBlanksAs val="gap"/>
    <c:showDLblsOverMax val="1"/>
  </c:chart>
  <c:txPr>
    <a:bodyPr/>
    <a:lstStyle/>
    <a:p>
      <a:pPr>
        <a:defRPr sz="800">
          <a:solidFill>
            <a:srgbClr val="000000"/>
          </a:solidFill>
          <a:latin typeface="Lato"/>
        </a:defRPr>
      </a:pPr>
      <a:endParaRPr lang="en-US"/>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10"/>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numFmt formatCode="0%" sourceLinked="0"/>
        <c:majorTickMark val="out"/>
        <c:minorTickMark val="none"/>
        <c:tickLblPos val="nextTo"/>
        <c:spPr>
          <a:ln>
            <a:solidFill>
              <a:schemeClr val="tx1"/>
            </a:solidFill>
          </a:ln>
        </c:spPr>
        <c:txPr>
          <a:bodyPr/>
          <a:lstStyle/>
          <a:p>
            <a:pPr>
              <a:defRPr sz="1100">
                <a:solidFill>
                  <a:schemeClr val="tx1"/>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9/29/2026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endParaRPr/>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Moody's “A” (single-A, solid line) and “Aa” (double-A, dashed line)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 each institution’s audited FY2025 consolidated financial statements, without-donor-restrictions operating column; EBIDA = operating result + depreciation (and amortization) + interest, over total operating revenues and other support. FYE varies: Aug 31 for NYU, Emory, Northwestern; May 31 for Boston College, Miami, Villanova; June 30 for the rest. Health-system consolidators (†) blend academic and clinical margins and are not like-for-like. Syracuse discloses depreciation and interest only combined. USC is shown before its $55.5M insurance recovery; with it, 3.7%. Medians: Moody’s 24 June 2026 private-university medians, FY2025 — comprehensive n=61, broad A n=70.</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endParaRPr/>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endParaRPr/>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endParaRPr/>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Updated this edition: pet care $158B (APPA, 2025); gambling (AGA commercial gaming revenue) $78.7B (2025); lottery $109.4B (NASPL, FY2025 total including gaming machines, table games and sports betting); NIH $47.5B and NSF $8.75B (FY2026 enacted); baggage fees $7.27B (BTS, 2024 record; 2025 not yet published); Valentine's Day flowers $3.1B (NRF, 2026). All other items are 2024 figures from: Bureau of Transportation Statistics, Fortune Business Insights, IBIS World, Mordor Intelligence, Responsible Lending, Statista, Yahoo Finance, Yum! Brands, and industry sources; not updated because no same-basis 2025 figure was found (wine and spirits, beer, soft drinks, tobacco, bottled water, beauty, coffee, video games, child care, lawn care, sporting events, pizza, legal marijuana, chocolate, movies, Taco Bell, credit card late fees, concerts, overdraft fees, potato chips, cosmetic surgery, perfume, tattoos, Twinkies).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03920" y="6510528"/>
            <a:ext cx="2331720" cy="256032"/>
          </a:xfrm>
          <a:prstGeom prst="rect">
            <a:avLst/>
          </a:prstGeom>
          <a:noFill/>
        </p:spPr>
        <p:txBody>
          <a:bodyPr wrap="none" lIns="0" tIns="0" rIns="0" bIns="0" anchor="ctr">
            <a:spAutoFit/>
          </a:bodyPr>
          <a:lstStyle/>
          <a:p>
            <a:pPr algn="r"/>
            <a:r>
              <a:rPr sz="900" b="1">
                <a:solidFill>
                  <a:srgbClr val="000000"/>
                </a:solidFill>
                <a:latin typeface="Lato"/>
              </a:rPr>
              <a:t>Northeastern University</a:t>
            </a:r>
          </a:p>
        </p:txBody>
      </p:sp>
      <p:pic>
        <p:nvPicPr>
          <p:cNvPr id="5" name="Picture 4" descr="monogram-red.png"/>
          <p:cNvPicPr>
            <a:picLocks noChangeAspect="1"/>
          </p:cNvPicPr>
          <p:nvPr/>
        </p:nvPicPr>
        <p:blipFill>
          <a:blip r:embed="rId2"/>
          <a:srcRect l="12000" t="20000" r="12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18.xml"/><Relationship Id="rId4" Type="http://schemas.openxmlformats.org/officeDocument/2006/relationships/image" Target="../media/image12.png"/><Relationship Id="rId5"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31.xml"/><Relationship Id="rId4" Type="http://schemas.openxmlformats.org/officeDocument/2006/relationships/chart" Target="../charts/chart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3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3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3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4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hart" Target="../charts/chart45.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tIns="0" r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tIns="0" r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tIns="0" r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tIns="0" rIns="0" bIns="0" anchor="t">
            <a:spAutoFit/>
          </a:bodyPr>
          <a:lstStyle/>
          <a:p>
            <a:pPr algn="l"/>
            <a:r>
              <a:rPr sz="1600" b="0" i="0">
                <a:solidFill>
                  <a:srgbClr val="595959"/>
                </a:solidFill>
                <a:latin typeface="Lato"/>
              </a:rPr>
              <a:t>September 30, 2026</a:t>
            </a:r>
          </a:p>
        </p:txBody>
      </p:sp>
      <p:sp>
        <p:nvSpPr>
          <p:cNvPr id="7"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−24%</a:t>
            </a:r>
          </a:p>
        </p:txBody>
      </p:sp>
      <p:sp>
        <p:nvSpPr>
          <p:cNvPr id="21" name="TextBox 20"/>
          <p:cNvSpPr txBox="1"/>
          <p:nvPr/>
        </p:nvSpPr>
        <p:spPr>
          <a:xfrm>
            <a:off x="9079077"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Master’s and professional enrollment</a:t>
            </a:r>
          </a:p>
        </p:txBody>
      </p:sp>
      <p:sp>
        <p:nvSpPr>
          <p:cNvPr id="22" name="TextBox 21"/>
          <p:cNvSpPr txBox="1"/>
          <p:nvPr/>
        </p:nvSpPr>
        <p:spPr>
          <a:xfrm>
            <a:off x="9079077"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Professional graduate enrollment falls from its FY24 peak of 23,247 to 17,607 in FY27 (−5,640, low scenario), pulling total degree-seeking enrollment down 7.2% from FY25.</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193792"/>
            <a:ext cx="10881360" cy="685800"/>
          </a:xfrm>
          <a:prstGeom prst="rect">
            <a:avLst/>
          </a:prstGeom>
          <a:noFill/>
        </p:spPr>
        <p:txBody>
          <a:bodyPr wrap="square" lIns="0" tIns="0" r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Boston Globe (May 12, 2026); NSF HERD Survey FY24; Northeastern Financial Affairs (FY26 unaudited)</a:t>
            </a:r>
          </a:p>
        </p:txBody>
      </p:sp>
      <p:sp>
        <p:nvSpPr>
          <p:cNvPr id="2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a:t>
            </a:fl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tIns="0" r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tIns="0" r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tIns="0" r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tIns="0" r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tIns="0" r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tIns="0" r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tIns="0" r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tIns="0" r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tIns="0" r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011680"/>
            <a:ext cx="1828800" cy="1463040"/>
          </a:xfrm>
          <a:prstGeom prst="rect">
            <a:avLst/>
          </a:prstGeom>
          <a:noFill/>
        </p:spPr>
        <p:txBody>
          <a:bodyPr wrap="square" lIns="0" tIns="0" rIns="0" bIns="0" anchor="t">
            <a:spAutoFit/>
          </a:bodyPr>
          <a:lstStyle/>
          <a:p>
            <a:pPr algn="l"/>
            <a:r>
              <a:rPr sz="9600" b="1" i="0">
                <a:solidFill>
                  <a:srgbClr val="C8102E"/>
                </a:solidFill>
                <a:latin typeface="Lato"/>
              </a:rPr>
              <a:t>1</a:t>
            </a:r>
          </a:p>
        </p:txBody>
      </p:sp>
      <p:sp>
        <p:nvSpPr>
          <p:cNvPr id="3" name="TextBox 2"/>
          <p:cNvSpPr txBox="1"/>
          <p:nvPr/>
        </p:nvSpPr>
        <p:spPr>
          <a:xfrm>
            <a:off x="283464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The environment</a:t>
            </a:r>
          </a:p>
        </p:txBody>
      </p:sp>
      <p:sp>
        <p:nvSpPr>
          <p:cNvPr id="4" name="TextBox 3"/>
          <p:cNvSpPr txBox="1"/>
          <p:nvPr/>
        </p:nvSpPr>
        <p:spPr>
          <a:xfrm>
            <a:off x="2834640" y="3291840"/>
            <a:ext cx="8229600" cy="1097280"/>
          </a:xfrm>
          <a:prstGeom prst="rect">
            <a:avLst/>
          </a:prstGeom>
          <a:noFill/>
        </p:spPr>
        <p:txBody>
          <a:bodyPr wrap="square" lIns="0" tIns="0" rIns="0" bIns="0" anchor="t">
            <a:spAutoFit/>
          </a:bodyPr>
          <a:lstStyle/>
          <a:p>
            <a:pPr algn="l"/>
            <a:r>
              <a:rPr sz="1800" b="0" i="0">
                <a:solidFill>
                  <a:srgbClr val="595959"/>
                </a:solidFill>
                <a:latin typeface="Lato"/>
              </a:rPr>
              <a:t>Pressures on higher education, and the forces behind them</a:t>
            </a:r>
          </a:p>
        </p:txBody>
      </p:sp>
      <p:sp>
        <p:nvSpPr>
          <p:cNvPr id="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880360" cy="365760"/>
          </a:xfrm>
          <a:prstGeom prst="rect">
            <a:avLst/>
          </a:prstGeom>
          <a:noFill/>
        </p:spPr>
        <p:txBody>
          <a:bodyPr wrap="square" lIns="0" tIns="0" r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471416"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880360" cy="365760"/>
          </a:xfrm>
          <a:prstGeom prst="rect">
            <a:avLst/>
          </a:prstGeom>
          <a:noFill/>
        </p:spPr>
        <p:txBody>
          <a:bodyPr wrap="square" lIns="0" tIns="0" r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02752"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880360" cy="365760"/>
          </a:xfrm>
          <a:prstGeom prst="rect">
            <a:avLst/>
          </a:prstGeom>
          <a:noFill/>
        </p:spPr>
        <p:txBody>
          <a:bodyPr wrap="square" lIns="0" tIns="0" r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880360" cy="365760"/>
          </a:xfrm>
          <a:prstGeom prst="rect">
            <a:avLst/>
          </a:prstGeom>
          <a:noFill/>
        </p:spPr>
        <p:txBody>
          <a:bodyPr wrap="square" lIns="0" tIns="0" r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71416"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880360" cy="365760"/>
          </a:xfrm>
          <a:prstGeom prst="rect">
            <a:avLst/>
          </a:prstGeom>
          <a:noFill/>
        </p:spPr>
        <p:txBody>
          <a:bodyPr wrap="square" lIns="0" tIns="0" r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880360" cy="365760"/>
          </a:xfrm>
          <a:prstGeom prst="rect">
            <a:avLst/>
          </a:prstGeom>
          <a:noFill/>
        </p:spPr>
        <p:txBody>
          <a:bodyPr wrap="square" lIns="0" tIns="0" r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
        <p:nvSpPr>
          <p:cNvPr id="2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Recent coverage, June–August 2026, as clipped</a:t>
            </a:r>
          </a:p>
        </p:txBody>
      </p:sp>
      <p:sp>
        <p:nvSpPr>
          <p:cNvPr id="4" name="Rectangle 3"/>
          <p:cNvSpPr/>
          <p:nvPr/>
        </p:nvSpPr>
        <p:spPr>
          <a:xfrm>
            <a:off x="457200" y="1417320"/>
            <a:ext cx="11274552" cy="452628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 name="Group 10"/>
          <p:cNvGrpSpPr/>
          <p:nvPr/>
        </p:nvGrpSpPr>
        <p:grpSpPr>
          <a:xfrm rot="21480000">
            <a:off x="629378" y="1504549"/>
            <a:ext cx="2665019" cy="2161169"/>
            <a:chOff x="629378" y="1504549"/>
            <a:chExt cx="2665019" cy="2161169"/>
          </a:xfrm>
        </p:grpSpPr>
        <p:sp>
          <p:nvSpPr>
            <p:cNvPr id="5" name="Freeform 4"/>
            <p:cNvSpPr/>
            <p:nvPr/>
          </p:nvSpPr>
          <p:spPr>
            <a:xfrm>
              <a:off x="629378" y="1504549"/>
              <a:ext cx="2665019" cy="2161169"/>
            </a:xfrm>
            <a:custGeom>
              <a:avLst/>
              <a:gdLst/>
              <a:ahLst/>
              <a:cxnLst/>
              <a:rect l="l" t="t" r="r" b="b"/>
              <a:pathLst>
                <a:path w="2665019" h="2161169">
                  <a:moveTo>
                    <a:pt x="28990" y="8962"/>
                  </a:moveTo>
                  <a:lnTo>
                    <a:pt x="150202" y="48975"/>
                  </a:lnTo>
                  <a:lnTo>
                    <a:pt x="290338" y="46490"/>
                  </a:lnTo>
                  <a:lnTo>
                    <a:pt x="397025" y="50846"/>
                  </a:lnTo>
                  <a:lnTo>
                    <a:pt x="527484" y="4769"/>
                  </a:lnTo>
                  <a:lnTo>
                    <a:pt x="646655" y="2704"/>
                  </a:lnTo>
                  <a:lnTo>
                    <a:pt x="801285" y="60259"/>
                  </a:lnTo>
                  <a:lnTo>
                    <a:pt x="887131" y="19443"/>
                  </a:lnTo>
                  <a:lnTo>
                    <a:pt x="1038922" y="12688"/>
                  </a:lnTo>
                  <a:lnTo>
                    <a:pt x="1125283" y="11710"/>
                  </a:lnTo>
                  <a:lnTo>
                    <a:pt x="1260168" y="39728"/>
                  </a:lnTo>
                  <a:lnTo>
                    <a:pt x="1423714" y="13134"/>
                  </a:lnTo>
                  <a:lnTo>
                    <a:pt x="1547349" y="35189"/>
                  </a:lnTo>
                  <a:lnTo>
                    <a:pt x="1667929" y="51998"/>
                  </a:lnTo>
                  <a:lnTo>
                    <a:pt x="1744614" y="41150"/>
                  </a:lnTo>
                  <a:lnTo>
                    <a:pt x="1866386" y="0"/>
                  </a:lnTo>
                  <a:lnTo>
                    <a:pt x="2007856" y="49149"/>
                  </a:lnTo>
                  <a:lnTo>
                    <a:pt x="2142876" y="11969"/>
                  </a:lnTo>
                  <a:lnTo>
                    <a:pt x="2284576" y="58128"/>
                  </a:lnTo>
                  <a:lnTo>
                    <a:pt x="2370016" y="28326"/>
                  </a:lnTo>
                  <a:lnTo>
                    <a:pt x="2519753" y="57396"/>
                  </a:lnTo>
                  <a:lnTo>
                    <a:pt x="2635030" y="7743"/>
                  </a:lnTo>
                  <a:lnTo>
                    <a:pt x="2638483" y="154280"/>
                  </a:lnTo>
                  <a:lnTo>
                    <a:pt x="2665019" y="276917"/>
                  </a:lnTo>
                  <a:lnTo>
                    <a:pt x="2642013" y="399554"/>
                  </a:lnTo>
                  <a:lnTo>
                    <a:pt x="2648939" y="522191"/>
                  </a:lnTo>
                  <a:lnTo>
                    <a:pt x="2652629" y="644828"/>
                  </a:lnTo>
                  <a:lnTo>
                    <a:pt x="2635485" y="767466"/>
                  </a:lnTo>
                  <a:lnTo>
                    <a:pt x="2621579" y="890103"/>
                  </a:lnTo>
                  <a:lnTo>
                    <a:pt x="2640814" y="1012740"/>
                  </a:lnTo>
                  <a:lnTo>
                    <a:pt x="2636833" y="1135377"/>
                  </a:lnTo>
                  <a:lnTo>
                    <a:pt x="2624997" y="1258014"/>
                  </a:lnTo>
                  <a:lnTo>
                    <a:pt x="2657699" y="1380651"/>
                  </a:lnTo>
                  <a:lnTo>
                    <a:pt x="2626260" y="1503289"/>
                  </a:lnTo>
                  <a:lnTo>
                    <a:pt x="2633977" y="1625926"/>
                  </a:lnTo>
                  <a:lnTo>
                    <a:pt x="2651768" y="1748563"/>
                  </a:lnTo>
                  <a:lnTo>
                    <a:pt x="2655116" y="1871200"/>
                  </a:lnTo>
                  <a:lnTo>
                    <a:pt x="2660022" y="1993837"/>
                  </a:lnTo>
                  <a:lnTo>
                    <a:pt x="2644727" y="2116475"/>
                  </a:lnTo>
                  <a:lnTo>
                    <a:pt x="2495092" y="2152050"/>
                  </a:lnTo>
                  <a:lnTo>
                    <a:pt x="2413033" y="2138467"/>
                  </a:lnTo>
                  <a:lnTo>
                    <a:pt x="2279826" y="2117865"/>
                  </a:lnTo>
                  <a:lnTo>
                    <a:pt x="2138224" y="2124942"/>
                  </a:lnTo>
                  <a:lnTo>
                    <a:pt x="1991961" y="2134497"/>
                  </a:lnTo>
                  <a:lnTo>
                    <a:pt x="1913575" y="2082136"/>
                  </a:lnTo>
                  <a:lnTo>
                    <a:pt x="1782600" y="2137590"/>
                  </a:lnTo>
                  <a:lnTo>
                    <a:pt x="1617994" y="2070463"/>
                  </a:lnTo>
                  <a:lnTo>
                    <a:pt x="1524259" y="2087712"/>
                  </a:lnTo>
                  <a:lnTo>
                    <a:pt x="1381888" y="2128884"/>
                  </a:lnTo>
                  <a:lnTo>
                    <a:pt x="1279615" y="2141950"/>
                  </a:lnTo>
                  <a:lnTo>
                    <a:pt x="1150230" y="2099447"/>
                  </a:lnTo>
                  <a:lnTo>
                    <a:pt x="990564" y="2076946"/>
                  </a:lnTo>
                  <a:lnTo>
                    <a:pt x="878008" y="2119064"/>
                  </a:lnTo>
                  <a:lnTo>
                    <a:pt x="787661" y="2086687"/>
                  </a:lnTo>
                  <a:lnTo>
                    <a:pt x="642424" y="2161169"/>
                  </a:lnTo>
                  <a:lnTo>
                    <a:pt x="519016" y="2138310"/>
                  </a:lnTo>
                  <a:lnTo>
                    <a:pt x="408865" y="2132833"/>
                  </a:lnTo>
                  <a:lnTo>
                    <a:pt x="275693" y="2121092"/>
                  </a:lnTo>
                  <a:lnTo>
                    <a:pt x="165942" y="2081770"/>
                  </a:lnTo>
                  <a:lnTo>
                    <a:pt x="28990" y="2147071"/>
                  </a:lnTo>
                  <a:lnTo>
                    <a:pt x="52857" y="1993837"/>
                  </a:lnTo>
                  <a:lnTo>
                    <a:pt x="0" y="1871200"/>
                  </a:lnTo>
                  <a:lnTo>
                    <a:pt x="9667" y="1748563"/>
                  </a:lnTo>
                  <a:lnTo>
                    <a:pt x="12910" y="1625926"/>
                  </a:lnTo>
                  <a:lnTo>
                    <a:pt x="3024" y="1503289"/>
                  </a:lnTo>
                  <a:lnTo>
                    <a:pt x="5945" y="1380651"/>
                  </a:lnTo>
                  <a:lnTo>
                    <a:pt x="38042" y="1258014"/>
                  </a:lnTo>
                  <a:lnTo>
                    <a:pt x="4859" y="1135377"/>
                  </a:lnTo>
                  <a:lnTo>
                    <a:pt x="1261" y="1012740"/>
                  </a:lnTo>
                  <a:lnTo>
                    <a:pt x="57526" y="890103"/>
                  </a:lnTo>
                  <a:lnTo>
                    <a:pt x="22718" y="767466"/>
                  </a:lnTo>
                  <a:lnTo>
                    <a:pt x="31584" y="644828"/>
                  </a:lnTo>
                  <a:lnTo>
                    <a:pt x="27333" y="522191"/>
                  </a:lnTo>
                  <a:lnTo>
                    <a:pt x="18983" y="399554"/>
                  </a:lnTo>
                  <a:lnTo>
                    <a:pt x="26059" y="276917"/>
                  </a:lnTo>
                  <a:lnTo>
                    <a:pt x="9416" y="15428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lobe.png"/>
            <p:cNvPicPr>
              <a:picLocks noChangeAspect="1"/>
            </p:cNvPicPr>
            <p:nvPr/>
          </p:nvPicPr>
          <p:blipFill>
            <a:blip r:embed="rId2"/>
            <a:stretch>
              <a:fillRect/>
            </a:stretch>
          </p:blipFill>
          <p:spPr>
            <a:xfrm>
              <a:off x="886968" y="1670065"/>
              <a:ext cx="2148840" cy="335756"/>
            </a:xfrm>
            <a:prstGeom prst="rect">
              <a:avLst/>
            </a:prstGeom>
          </p:spPr>
        </p:pic>
        <p:cxnSp>
          <p:nvCxnSpPr>
            <p:cNvPr id="7" name="Connector 6"/>
            <p:cNvCxnSpPr/>
            <p:nvPr/>
          </p:nvCxnSpPr>
          <p:spPr>
            <a:xfrm>
              <a:off x="786384" y="2103120"/>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6384" y="2157984"/>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 y="2231136"/>
              <a:ext cx="2350008" cy="201168"/>
            </a:xfrm>
            <a:prstGeom prst="rect">
              <a:avLst/>
            </a:prstGeom>
            <a:noFill/>
          </p:spPr>
          <p:txBody>
            <a:bodyPr wrap="square" lIns="0" tIns="0" rIns="0" bIns="0" anchor="t">
              <a:spAutoFit/>
            </a:bodyPr>
            <a:lstStyle/>
            <a:p>
              <a:pPr algn="ctr"/>
              <a:r>
                <a:rPr sz="800" b="1" i="0">
                  <a:solidFill>
                    <a:srgbClr val="595959"/>
                  </a:solidFill>
                  <a:latin typeface="Lato"/>
                </a:rPr>
                <a:t>MAY 12, 2026</a:t>
              </a:r>
            </a:p>
          </p:txBody>
        </p:sp>
        <p:sp>
          <p:nvSpPr>
            <p:cNvPr id="10" name="TextBox 9"/>
            <p:cNvSpPr txBox="1"/>
            <p:nvPr/>
          </p:nvSpPr>
          <p:spPr>
            <a:xfrm>
              <a:off x="804672" y="2523744"/>
              <a:ext cx="2313432" cy="1042415"/>
            </a:xfrm>
            <a:prstGeom prst="rect">
              <a:avLst/>
            </a:prstGeom>
            <a:noFill/>
          </p:spPr>
          <p:txBody>
            <a:bodyPr wrap="square" lIns="0" tIns="0" rIns="0" bIns="0" anchor="t">
              <a:spAutoFit/>
            </a:bodyPr>
            <a:lstStyle/>
            <a:p>
              <a:pPr algn="l"/>
              <a:r>
                <a:rPr sz="1300" b="1" i="0">
                  <a:solidFill>
                    <a:srgbClr val="000000"/>
                  </a:solidFill>
                  <a:latin typeface="Georgia"/>
                </a:rPr>
                <a:t>US colleges report 20 percent drop in foreign students over visa clampdown</a:t>
              </a:r>
            </a:p>
          </p:txBody>
        </p:sp>
      </p:grpSp>
      <p:grpSp>
        <p:nvGrpSpPr>
          <p:cNvPr id="18" name="Group 17"/>
          <p:cNvGrpSpPr/>
          <p:nvPr/>
        </p:nvGrpSpPr>
        <p:grpSpPr>
          <a:xfrm rot="84000">
            <a:off x="3393975" y="1559469"/>
            <a:ext cx="2555397" cy="2163234"/>
            <a:chOff x="3393975" y="1559469"/>
            <a:chExt cx="2555397" cy="2163234"/>
          </a:xfrm>
        </p:grpSpPr>
        <p:sp>
          <p:nvSpPr>
            <p:cNvPr id="12" name="Freeform 11"/>
            <p:cNvSpPr/>
            <p:nvPr/>
          </p:nvSpPr>
          <p:spPr>
            <a:xfrm>
              <a:off x="3393975" y="1559469"/>
              <a:ext cx="2555397" cy="2163234"/>
            </a:xfrm>
            <a:custGeom>
              <a:avLst/>
              <a:gdLst/>
              <a:ahLst/>
              <a:cxnLst/>
              <a:rect l="l" t="t" r="r" b="b"/>
              <a:pathLst>
                <a:path w="2555397" h="2163234">
                  <a:moveTo>
                    <a:pt x="16737" y="36781"/>
                  </a:moveTo>
                  <a:lnTo>
                    <a:pt x="116941" y="61366"/>
                  </a:lnTo>
                  <a:lnTo>
                    <a:pt x="283360" y="29483"/>
                  </a:lnTo>
                  <a:lnTo>
                    <a:pt x="386429" y="13314"/>
                  </a:lnTo>
                  <a:lnTo>
                    <a:pt x="477894" y="18050"/>
                  </a:lnTo>
                  <a:lnTo>
                    <a:pt x="627767" y="13176"/>
                  </a:lnTo>
                  <a:lnTo>
                    <a:pt x="765348" y="4086"/>
                  </a:lnTo>
                  <a:lnTo>
                    <a:pt x="835304" y="5270"/>
                  </a:lnTo>
                  <a:lnTo>
                    <a:pt x="991955" y="23042"/>
                  </a:lnTo>
                  <a:lnTo>
                    <a:pt x="1092610" y="20451"/>
                  </a:lnTo>
                  <a:lnTo>
                    <a:pt x="1222961" y="25435"/>
                  </a:lnTo>
                  <a:lnTo>
                    <a:pt x="1315235" y="27116"/>
                  </a:lnTo>
                  <a:lnTo>
                    <a:pt x="1441124" y="6675"/>
                  </a:lnTo>
                  <a:lnTo>
                    <a:pt x="1594093" y="43117"/>
                  </a:lnTo>
                  <a:lnTo>
                    <a:pt x="1703684" y="56066"/>
                  </a:lnTo>
                  <a:lnTo>
                    <a:pt x="1806136" y="23859"/>
                  </a:lnTo>
                  <a:lnTo>
                    <a:pt x="1927691" y="25477"/>
                  </a:lnTo>
                  <a:lnTo>
                    <a:pt x="2063178" y="0"/>
                  </a:lnTo>
                  <a:lnTo>
                    <a:pt x="2169810" y="33832"/>
                  </a:lnTo>
                  <a:lnTo>
                    <a:pt x="2281962" y="982"/>
                  </a:lnTo>
                  <a:lnTo>
                    <a:pt x="2424689" y="187"/>
                  </a:lnTo>
                  <a:lnTo>
                    <a:pt x="2531337" y="35709"/>
                  </a:lnTo>
                  <a:lnTo>
                    <a:pt x="2509149" y="154224"/>
                  </a:lnTo>
                  <a:lnTo>
                    <a:pt x="2501546" y="276861"/>
                  </a:lnTo>
                  <a:lnTo>
                    <a:pt x="2510908" y="399498"/>
                  </a:lnTo>
                  <a:lnTo>
                    <a:pt x="2503540" y="522135"/>
                  </a:lnTo>
                  <a:lnTo>
                    <a:pt x="2508982" y="644772"/>
                  </a:lnTo>
                  <a:lnTo>
                    <a:pt x="2543170" y="767410"/>
                  </a:lnTo>
                  <a:lnTo>
                    <a:pt x="2545948" y="890047"/>
                  </a:lnTo>
                  <a:lnTo>
                    <a:pt x="2522554" y="1012684"/>
                  </a:lnTo>
                  <a:lnTo>
                    <a:pt x="2541091" y="1135321"/>
                  </a:lnTo>
                  <a:lnTo>
                    <a:pt x="2529745" y="1257958"/>
                  </a:lnTo>
                  <a:lnTo>
                    <a:pt x="2531237" y="1380595"/>
                  </a:lnTo>
                  <a:lnTo>
                    <a:pt x="2555397" y="1503233"/>
                  </a:lnTo>
                  <a:lnTo>
                    <a:pt x="2519258" y="1625870"/>
                  </a:lnTo>
                  <a:lnTo>
                    <a:pt x="2555019" y="1748507"/>
                  </a:lnTo>
                  <a:lnTo>
                    <a:pt x="2543567" y="1871144"/>
                  </a:lnTo>
                  <a:lnTo>
                    <a:pt x="2543079" y="1993781"/>
                  </a:lnTo>
                  <a:lnTo>
                    <a:pt x="2499713" y="2116418"/>
                  </a:lnTo>
                  <a:lnTo>
                    <a:pt x="2384970" y="2068489"/>
                  </a:lnTo>
                  <a:lnTo>
                    <a:pt x="2281979" y="2162105"/>
                  </a:lnTo>
                  <a:lnTo>
                    <a:pt x="2196156" y="2151093"/>
                  </a:lnTo>
                  <a:lnTo>
                    <a:pt x="2027970" y="2137487"/>
                  </a:lnTo>
                  <a:lnTo>
                    <a:pt x="1950191" y="2148090"/>
                  </a:lnTo>
                  <a:lnTo>
                    <a:pt x="1831585" y="2079582"/>
                  </a:lnTo>
                  <a:lnTo>
                    <a:pt x="1672579" y="2146380"/>
                  </a:lnTo>
                  <a:lnTo>
                    <a:pt x="1588641" y="2156610"/>
                  </a:lnTo>
                  <a:lnTo>
                    <a:pt x="1450225" y="2156316"/>
                  </a:lnTo>
                  <a:lnTo>
                    <a:pt x="1310827" y="2163234"/>
                  </a:lnTo>
                  <a:lnTo>
                    <a:pt x="1238775" y="2099782"/>
                  </a:lnTo>
                  <a:lnTo>
                    <a:pt x="1066742" y="2121389"/>
                  </a:lnTo>
                  <a:lnTo>
                    <a:pt x="986790" y="2101095"/>
                  </a:lnTo>
                  <a:lnTo>
                    <a:pt x="826613" y="2093752"/>
                  </a:lnTo>
                  <a:lnTo>
                    <a:pt x="755964" y="2074494"/>
                  </a:lnTo>
                  <a:lnTo>
                    <a:pt x="643439" y="2090817"/>
                  </a:lnTo>
                  <a:lnTo>
                    <a:pt x="476790" y="2076702"/>
                  </a:lnTo>
                  <a:lnTo>
                    <a:pt x="406755" y="2157491"/>
                  </a:lnTo>
                  <a:lnTo>
                    <a:pt x="244647" y="2075005"/>
                  </a:lnTo>
                  <a:lnTo>
                    <a:pt x="146292" y="2156111"/>
                  </a:lnTo>
                  <a:lnTo>
                    <a:pt x="16737" y="2066452"/>
                  </a:lnTo>
                  <a:lnTo>
                    <a:pt x="25252" y="1993781"/>
                  </a:lnTo>
                  <a:lnTo>
                    <a:pt x="39569" y="1871144"/>
                  </a:lnTo>
                  <a:lnTo>
                    <a:pt x="14101" y="1748507"/>
                  </a:lnTo>
                  <a:lnTo>
                    <a:pt x="21177" y="1625870"/>
                  </a:lnTo>
                  <a:lnTo>
                    <a:pt x="36212" y="1503233"/>
                  </a:lnTo>
                  <a:lnTo>
                    <a:pt x="0" y="1380595"/>
                  </a:lnTo>
                  <a:lnTo>
                    <a:pt x="2222" y="1257958"/>
                  </a:lnTo>
                  <a:lnTo>
                    <a:pt x="27004" y="1135321"/>
                  </a:lnTo>
                  <a:lnTo>
                    <a:pt x="20086" y="1012684"/>
                  </a:lnTo>
                  <a:lnTo>
                    <a:pt x="18999" y="890047"/>
                  </a:lnTo>
                  <a:lnTo>
                    <a:pt x="6134" y="767410"/>
                  </a:lnTo>
                  <a:lnTo>
                    <a:pt x="44706" y="644772"/>
                  </a:lnTo>
                  <a:lnTo>
                    <a:pt x="3176" y="522135"/>
                  </a:lnTo>
                  <a:lnTo>
                    <a:pt x="28187" y="399498"/>
                  </a:lnTo>
                  <a:lnTo>
                    <a:pt x="41966" y="276861"/>
                  </a:lnTo>
                  <a:lnTo>
                    <a:pt x="10387" y="154224"/>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globe.png"/>
            <p:cNvPicPr>
              <a:picLocks noChangeAspect="1"/>
            </p:cNvPicPr>
            <p:nvPr/>
          </p:nvPicPr>
          <p:blipFill>
            <a:blip r:embed="rId2"/>
            <a:stretch>
              <a:fillRect/>
            </a:stretch>
          </p:blipFill>
          <p:spPr>
            <a:xfrm>
              <a:off x="3639312" y="1732073"/>
              <a:ext cx="2057400" cy="321468"/>
            </a:xfrm>
            <a:prstGeom prst="rect">
              <a:avLst/>
            </a:prstGeom>
          </p:spPr>
        </p:pic>
        <p:cxnSp>
          <p:nvCxnSpPr>
            <p:cNvPr id="14" name="Connector 13"/>
            <p:cNvCxnSpPr/>
            <p:nvPr/>
          </p:nvCxnSpPr>
          <p:spPr>
            <a:xfrm>
              <a:off x="3538728" y="2157984"/>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538728" y="2212848"/>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38728" y="2286000"/>
              <a:ext cx="2258568" cy="201168"/>
            </a:xfrm>
            <a:prstGeom prst="rect">
              <a:avLst/>
            </a:prstGeom>
            <a:noFill/>
          </p:spPr>
          <p:txBody>
            <a:bodyPr wrap="square" lIns="0" tIns="0" rIns="0" bIns="0" anchor="t">
              <a:spAutoFit/>
            </a:bodyPr>
            <a:lstStyle/>
            <a:p>
              <a:pPr algn="ctr"/>
              <a:r>
                <a:rPr sz="800" b="1" i="0">
                  <a:solidFill>
                    <a:srgbClr val="595959"/>
                  </a:solidFill>
                  <a:latin typeface="Lato"/>
                </a:rPr>
                <a:t>JULY 31, 2026</a:t>
              </a:r>
            </a:p>
          </p:txBody>
        </p:sp>
        <p:sp>
          <p:nvSpPr>
            <p:cNvPr id="17" name="TextBox 16"/>
            <p:cNvSpPr txBox="1"/>
            <p:nvPr/>
          </p:nvSpPr>
          <p:spPr>
            <a:xfrm>
              <a:off x="3557016" y="2578608"/>
              <a:ext cx="2221992" cy="1042415"/>
            </a:xfrm>
            <a:prstGeom prst="rect">
              <a:avLst/>
            </a:prstGeom>
            <a:noFill/>
          </p:spPr>
          <p:txBody>
            <a:bodyPr wrap="square" lIns="0" tIns="0" rIns="0" bIns="0" anchor="t">
              <a:spAutoFit/>
            </a:bodyPr>
            <a:lstStyle/>
            <a:p>
              <a:pPr algn="l"/>
              <a:r>
                <a:rPr sz="1300" b="1" i="0">
                  <a:solidFill>
                    <a:srgbClr val="000000"/>
                  </a:solidFill>
                  <a:latin typeface="Georgia"/>
                </a:rPr>
                <a:t>New visa changes will upend international studies. Graduate programs are bracing for impact.</a:t>
              </a:r>
            </a:p>
          </p:txBody>
        </p:sp>
      </p:grpSp>
      <p:grpSp>
        <p:nvGrpSpPr>
          <p:cNvPr id="25" name="Group 24"/>
          <p:cNvGrpSpPr/>
          <p:nvPr/>
        </p:nvGrpSpPr>
        <p:grpSpPr>
          <a:xfrm rot="21534000">
            <a:off x="6076675" y="1506954"/>
            <a:ext cx="2713617" cy="2159548"/>
            <a:chOff x="6076675" y="1506954"/>
            <a:chExt cx="2713617" cy="2159548"/>
          </a:xfrm>
        </p:grpSpPr>
        <p:sp>
          <p:nvSpPr>
            <p:cNvPr id="19" name="Freeform 18"/>
            <p:cNvSpPr/>
            <p:nvPr/>
          </p:nvSpPr>
          <p:spPr>
            <a:xfrm>
              <a:off x="6076675" y="1506954"/>
              <a:ext cx="2713617" cy="2159548"/>
            </a:xfrm>
            <a:custGeom>
              <a:avLst/>
              <a:gdLst/>
              <a:ahLst/>
              <a:cxnLst/>
              <a:rect l="l" t="t" r="r" b="b"/>
              <a:pathLst>
                <a:path w="2713617" h="2159548">
                  <a:moveTo>
                    <a:pt x="31517" y="6718"/>
                  </a:moveTo>
                  <a:lnTo>
                    <a:pt x="159474" y="8095"/>
                  </a:lnTo>
                  <a:lnTo>
                    <a:pt x="286188" y="36140"/>
                  </a:lnTo>
                  <a:lnTo>
                    <a:pt x="385717" y="36758"/>
                  </a:lnTo>
                  <a:lnTo>
                    <a:pt x="517895" y="0"/>
                  </a:lnTo>
                  <a:lnTo>
                    <a:pt x="636117" y="36897"/>
                  </a:lnTo>
                  <a:lnTo>
                    <a:pt x="755979" y="53526"/>
                  </a:lnTo>
                  <a:lnTo>
                    <a:pt x="890320" y="21372"/>
                  </a:lnTo>
                  <a:lnTo>
                    <a:pt x="978308" y="5430"/>
                  </a:lnTo>
                  <a:lnTo>
                    <a:pt x="1136183" y="41385"/>
                  </a:lnTo>
                  <a:lnTo>
                    <a:pt x="1243859" y="25508"/>
                  </a:lnTo>
                  <a:lnTo>
                    <a:pt x="1357463" y="11445"/>
                  </a:lnTo>
                  <a:lnTo>
                    <a:pt x="1479877" y="6537"/>
                  </a:lnTo>
                  <a:lnTo>
                    <a:pt x="1606217" y="37569"/>
                  </a:lnTo>
                  <a:lnTo>
                    <a:pt x="1729900" y="13008"/>
                  </a:lnTo>
                  <a:lnTo>
                    <a:pt x="1813420" y="18547"/>
                  </a:lnTo>
                  <a:lnTo>
                    <a:pt x="1972079" y="29872"/>
                  </a:lnTo>
                  <a:lnTo>
                    <a:pt x="2096453" y="24824"/>
                  </a:lnTo>
                  <a:lnTo>
                    <a:pt x="2194637" y="55326"/>
                  </a:lnTo>
                  <a:lnTo>
                    <a:pt x="2300359" y="10506"/>
                  </a:lnTo>
                  <a:lnTo>
                    <a:pt x="2447892" y="37648"/>
                  </a:lnTo>
                  <a:lnTo>
                    <a:pt x="2558443" y="32954"/>
                  </a:lnTo>
                  <a:lnTo>
                    <a:pt x="2683277" y="25434"/>
                  </a:lnTo>
                  <a:lnTo>
                    <a:pt x="2694073" y="151875"/>
                  </a:lnTo>
                  <a:lnTo>
                    <a:pt x="2708164" y="274512"/>
                  </a:lnTo>
                  <a:lnTo>
                    <a:pt x="2704083" y="397149"/>
                  </a:lnTo>
                  <a:lnTo>
                    <a:pt x="2692189" y="519786"/>
                  </a:lnTo>
                  <a:lnTo>
                    <a:pt x="2681365" y="642423"/>
                  </a:lnTo>
                  <a:lnTo>
                    <a:pt x="2711923" y="765061"/>
                  </a:lnTo>
                  <a:lnTo>
                    <a:pt x="2679893" y="887698"/>
                  </a:lnTo>
                  <a:lnTo>
                    <a:pt x="2691324" y="1010335"/>
                  </a:lnTo>
                  <a:lnTo>
                    <a:pt x="2706862" y="1132972"/>
                  </a:lnTo>
                  <a:lnTo>
                    <a:pt x="2695015" y="1255609"/>
                  </a:lnTo>
                  <a:lnTo>
                    <a:pt x="2676283" y="1378246"/>
                  </a:lnTo>
                  <a:lnTo>
                    <a:pt x="2698831" y="1500884"/>
                  </a:lnTo>
                  <a:lnTo>
                    <a:pt x="2689696" y="1623521"/>
                  </a:lnTo>
                  <a:lnTo>
                    <a:pt x="2709839" y="1746158"/>
                  </a:lnTo>
                  <a:lnTo>
                    <a:pt x="2691155" y="1868795"/>
                  </a:lnTo>
                  <a:lnTo>
                    <a:pt x="2685432" y="1991432"/>
                  </a:lnTo>
                  <a:lnTo>
                    <a:pt x="2713617" y="2114070"/>
                  </a:lnTo>
                  <a:lnTo>
                    <a:pt x="2564512" y="2103668"/>
                  </a:lnTo>
                  <a:lnTo>
                    <a:pt x="2470224" y="2159548"/>
                  </a:lnTo>
                  <a:lnTo>
                    <a:pt x="2300679" y="2070280"/>
                  </a:lnTo>
                  <a:lnTo>
                    <a:pt x="2224057" y="2153266"/>
                  </a:lnTo>
                  <a:lnTo>
                    <a:pt x="2073209" y="2088950"/>
                  </a:lnTo>
                  <a:lnTo>
                    <a:pt x="1971878" y="2159142"/>
                  </a:lnTo>
                  <a:lnTo>
                    <a:pt x="1821170" y="2108727"/>
                  </a:lnTo>
                  <a:lnTo>
                    <a:pt x="1729413" y="2085477"/>
                  </a:lnTo>
                  <a:lnTo>
                    <a:pt x="1593016" y="2077501"/>
                  </a:lnTo>
                  <a:lnTo>
                    <a:pt x="1476632" y="2086409"/>
                  </a:lnTo>
                  <a:lnTo>
                    <a:pt x="1330555" y="2102718"/>
                  </a:lnTo>
                  <a:lnTo>
                    <a:pt x="1214472" y="2075036"/>
                  </a:lnTo>
                  <a:lnTo>
                    <a:pt x="1093963" y="2105641"/>
                  </a:lnTo>
                  <a:lnTo>
                    <a:pt x="984134" y="2137450"/>
                  </a:lnTo>
                  <a:lnTo>
                    <a:pt x="869778" y="2087774"/>
                  </a:lnTo>
                  <a:lnTo>
                    <a:pt x="734755" y="2093292"/>
                  </a:lnTo>
                  <a:lnTo>
                    <a:pt x="649763" y="2083502"/>
                  </a:lnTo>
                  <a:lnTo>
                    <a:pt x="511431" y="2145477"/>
                  </a:lnTo>
                  <a:lnTo>
                    <a:pt x="414226" y="2110214"/>
                  </a:lnTo>
                  <a:lnTo>
                    <a:pt x="294523" y="2128650"/>
                  </a:lnTo>
                  <a:lnTo>
                    <a:pt x="134567" y="2072375"/>
                  </a:lnTo>
                  <a:lnTo>
                    <a:pt x="31517" y="2080278"/>
                  </a:lnTo>
                  <a:lnTo>
                    <a:pt x="50088" y="1991432"/>
                  </a:lnTo>
                  <a:lnTo>
                    <a:pt x="24453" y="1868795"/>
                  </a:lnTo>
                  <a:lnTo>
                    <a:pt x="53118" y="1746158"/>
                  </a:lnTo>
                  <a:lnTo>
                    <a:pt x="61439" y="1623521"/>
                  </a:lnTo>
                  <a:lnTo>
                    <a:pt x="58358" y="1500884"/>
                  </a:lnTo>
                  <a:lnTo>
                    <a:pt x="29545" y="1378246"/>
                  </a:lnTo>
                  <a:lnTo>
                    <a:pt x="0" y="1255609"/>
                  </a:lnTo>
                  <a:lnTo>
                    <a:pt x="17200" y="1132972"/>
                  </a:lnTo>
                  <a:lnTo>
                    <a:pt x="13525" y="1010335"/>
                  </a:lnTo>
                  <a:lnTo>
                    <a:pt x="41058" y="887698"/>
                  </a:lnTo>
                  <a:lnTo>
                    <a:pt x="44441" y="765061"/>
                  </a:lnTo>
                  <a:lnTo>
                    <a:pt x="58505" y="642423"/>
                  </a:lnTo>
                  <a:lnTo>
                    <a:pt x="44648" y="519786"/>
                  </a:lnTo>
                  <a:lnTo>
                    <a:pt x="60938" y="397149"/>
                  </a:lnTo>
                  <a:lnTo>
                    <a:pt x="40355" y="274512"/>
                  </a:lnTo>
                  <a:lnTo>
                    <a:pt x="29904" y="151875"/>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fc.png"/>
            <p:cNvPicPr>
              <a:picLocks noChangeAspect="1"/>
            </p:cNvPicPr>
            <p:nvPr/>
          </p:nvPicPr>
          <p:blipFill>
            <a:blip r:embed="rId3"/>
            <a:stretch>
              <a:fillRect/>
            </a:stretch>
          </p:blipFill>
          <p:spPr>
            <a:xfrm>
              <a:off x="6336792" y="1724787"/>
              <a:ext cx="2194560" cy="226314"/>
            </a:xfrm>
            <a:prstGeom prst="rect">
              <a:avLst/>
            </a:prstGeom>
          </p:spPr>
        </p:pic>
        <p:cxnSp>
          <p:nvCxnSpPr>
            <p:cNvPr id="21" name="Connector 20"/>
            <p:cNvCxnSpPr/>
            <p:nvPr/>
          </p:nvCxnSpPr>
          <p:spPr>
            <a:xfrm>
              <a:off x="6236207" y="2103120"/>
              <a:ext cx="2395729"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36207" y="2157984"/>
              <a:ext cx="2395729"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7" y="2231136"/>
              <a:ext cx="2395728" cy="201168"/>
            </a:xfrm>
            <a:prstGeom prst="rect">
              <a:avLst/>
            </a:prstGeom>
            <a:noFill/>
          </p:spPr>
          <p:txBody>
            <a:bodyPr wrap="square" lIns="0" tIns="0" rIns="0" bIns="0" anchor="t">
              <a:spAutoFit/>
            </a:bodyPr>
            <a:lstStyle/>
            <a:p>
              <a:pPr algn="ctr"/>
              <a:r>
                <a:rPr sz="800" b="1" i="0">
                  <a:solidFill>
                    <a:srgbClr val="595959"/>
                  </a:solidFill>
                  <a:latin typeface="Lato"/>
                </a:rPr>
                <a:t>JULY 2026</a:t>
              </a:r>
            </a:p>
          </p:txBody>
        </p:sp>
        <p:sp>
          <p:nvSpPr>
            <p:cNvPr id="24" name="TextBox 23"/>
            <p:cNvSpPr txBox="1"/>
            <p:nvPr/>
          </p:nvSpPr>
          <p:spPr>
            <a:xfrm>
              <a:off x="6254496" y="2523744"/>
              <a:ext cx="2359152" cy="1042415"/>
            </a:xfrm>
            <a:prstGeom prst="rect">
              <a:avLst/>
            </a:prstGeom>
            <a:noFill/>
          </p:spPr>
          <p:txBody>
            <a:bodyPr wrap="square" lIns="0" tIns="0" rIns="0" bIns="0" anchor="t">
              <a:spAutoFit/>
            </a:bodyPr>
            <a:lstStyle/>
            <a:p>
              <a:pPr algn="l"/>
              <a:r>
                <a:rPr sz="1300" b="1" i="0">
                  <a:solidFill>
                    <a:srgbClr val="000000"/>
                  </a:solidFill>
                  <a:latin typeface="Georgia"/>
                </a:rPr>
                <a:t>New student visa limits could ripple through Bay Area labs and campuses</a:t>
              </a:r>
            </a:p>
          </p:txBody>
        </p:sp>
      </p:grpSp>
      <p:grpSp>
        <p:nvGrpSpPr>
          <p:cNvPr id="32" name="Group 31"/>
          <p:cNvGrpSpPr/>
          <p:nvPr/>
        </p:nvGrpSpPr>
        <p:grpSpPr>
          <a:xfrm rot="108000">
            <a:off x="8912628" y="1564315"/>
            <a:ext cx="2622263" cy="2157043"/>
            <a:chOff x="8912628" y="1564315"/>
            <a:chExt cx="2622263" cy="2157043"/>
          </a:xfrm>
        </p:grpSpPr>
        <p:sp>
          <p:nvSpPr>
            <p:cNvPr id="26" name="Freeform 25"/>
            <p:cNvSpPr/>
            <p:nvPr/>
          </p:nvSpPr>
          <p:spPr>
            <a:xfrm>
              <a:off x="8912628" y="1564315"/>
              <a:ext cx="2622263" cy="2157043"/>
            </a:xfrm>
            <a:custGeom>
              <a:avLst/>
              <a:gdLst/>
              <a:ahLst/>
              <a:cxnLst/>
              <a:rect l="l" t="t" r="r" b="b"/>
              <a:pathLst>
                <a:path w="2622263" h="2157043">
                  <a:moveTo>
                    <a:pt x="30204" y="57404"/>
                  </a:moveTo>
                  <a:lnTo>
                    <a:pt x="149326" y="40748"/>
                  </a:lnTo>
                  <a:lnTo>
                    <a:pt x="289078" y="8492"/>
                  </a:lnTo>
                  <a:lnTo>
                    <a:pt x="368955" y="33317"/>
                  </a:lnTo>
                  <a:lnTo>
                    <a:pt x="493683" y="19202"/>
                  </a:lnTo>
                  <a:lnTo>
                    <a:pt x="664748" y="50561"/>
                  </a:lnTo>
                  <a:lnTo>
                    <a:pt x="737317" y="0"/>
                  </a:lnTo>
                  <a:lnTo>
                    <a:pt x="865880" y="47741"/>
                  </a:lnTo>
                  <a:lnTo>
                    <a:pt x="975142" y="9150"/>
                  </a:lnTo>
                  <a:lnTo>
                    <a:pt x="1102344" y="2906"/>
                  </a:lnTo>
                  <a:lnTo>
                    <a:pt x="1250903" y="6478"/>
                  </a:lnTo>
                  <a:lnTo>
                    <a:pt x="1365527" y="41666"/>
                  </a:lnTo>
                  <a:lnTo>
                    <a:pt x="1507517" y="21302"/>
                  </a:lnTo>
                  <a:lnTo>
                    <a:pt x="1633478" y="31382"/>
                  </a:lnTo>
                  <a:lnTo>
                    <a:pt x="1758012" y="10667"/>
                  </a:lnTo>
                  <a:lnTo>
                    <a:pt x="1850626" y="31883"/>
                  </a:lnTo>
                  <a:lnTo>
                    <a:pt x="2009464" y="34315"/>
                  </a:lnTo>
                  <a:lnTo>
                    <a:pt x="2101224" y="10800"/>
                  </a:lnTo>
                  <a:lnTo>
                    <a:pt x="2210767" y="8549"/>
                  </a:lnTo>
                  <a:lnTo>
                    <a:pt x="2377815" y="51485"/>
                  </a:lnTo>
                  <a:lnTo>
                    <a:pt x="2493859" y="28569"/>
                  </a:lnTo>
                  <a:lnTo>
                    <a:pt x="2590523" y="40079"/>
                  </a:lnTo>
                  <a:lnTo>
                    <a:pt x="2577497" y="149378"/>
                  </a:lnTo>
                  <a:lnTo>
                    <a:pt x="2589344" y="272015"/>
                  </a:lnTo>
                  <a:lnTo>
                    <a:pt x="2567835" y="394652"/>
                  </a:lnTo>
                  <a:lnTo>
                    <a:pt x="2585412" y="517289"/>
                  </a:lnTo>
                  <a:lnTo>
                    <a:pt x="2574695" y="639926"/>
                  </a:lnTo>
                  <a:lnTo>
                    <a:pt x="2564919" y="762564"/>
                  </a:lnTo>
                  <a:lnTo>
                    <a:pt x="2617371" y="885201"/>
                  </a:lnTo>
                  <a:lnTo>
                    <a:pt x="2564708" y="1007838"/>
                  </a:lnTo>
                  <a:lnTo>
                    <a:pt x="2610554" y="1130475"/>
                  </a:lnTo>
                  <a:lnTo>
                    <a:pt x="2603298" y="1253112"/>
                  </a:lnTo>
                  <a:lnTo>
                    <a:pt x="2564284" y="1375749"/>
                  </a:lnTo>
                  <a:lnTo>
                    <a:pt x="2589573" y="1498387"/>
                  </a:lnTo>
                  <a:lnTo>
                    <a:pt x="2622263" y="1621024"/>
                  </a:lnTo>
                  <a:lnTo>
                    <a:pt x="2621687" y="1743661"/>
                  </a:lnTo>
                  <a:lnTo>
                    <a:pt x="2594575" y="1866298"/>
                  </a:lnTo>
                  <a:lnTo>
                    <a:pt x="2607921" y="1988935"/>
                  </a:lnTo>
                  <a:lnTo>
                    <a:pt x="2603880" y="2111572"/>
                  </a:lnTo>
                  <a:lnTo>
                    <a:pt x="2455275" y="2116687"/>
                  </a:lnTo>
                  <a:lnTo>
                    <a:pt x="2352888" y="2100723"/>
                  </a:lnTo>
                  <a:lnTo>
                    <a:pt x="2245182" y="2105859"/>
                  </a:lnTo>
                  <a:lnTo>
                    <a:pt x="2118813" y="2066991"/>
                  </a:lnTo>
                  <a:lnTo>
                    <a:pt x="1977396" y="2064917"/>
                  </a:lnTo>
                  <a:lnTo>
                    <a:pt x="1868402" y="2149737"/>
                  </a:lnTo>
                  <a:lnTo>
                    <a:pt x="1739865" y="2118269"/>
                  </a:lnTo>
                  <a:lnTo>
                    <a:pt x="1623004" y="2083824"/>
                  </a:lnTo>
                  <a:lnTo>
                    <a:pt x="1485963" y="2119614"/>
                  </a:lnTo>
                  <a:lnTo>
                    <a:pt x="1380687" y="2099289"/>
                  </a:lnTo>
                  <a:lnTo>
                    <a:pt x="1247955" y="2094243"/>
                  </a:lnTo>
                  <a:lnTo>
                    <a:pt x="1130959" y="2129594"/>
                  </a:lnTo>
                  <a:lnTo>
                    <a:pt x="994539" y="2130519"/>
                  </a:lnTo>
                  <a:lnTo>
                    <a:pt x="905981" y="2115304"/>
                  </a:lnTo>
                  <a:lnTo>
                    <a:pt x="792471" y="2092063"/>
                  </a:lnTo>
                  <a:lnTo>
                    <a:pt x="666659" y="2078995"/>
                  </a:lnTo>
                  <a:lnTo>
                    <a:pt x="509142" y="2144022"/>
                  </a:lnTo>
                  <a:lnTo>
                    <a:pt x="366045" y="2123298"/>
                  </a:lnTo>
                  <a:lnTo>
                    <a:pt x="297811" y="2157043"/>
                  </a:lnTo>
                  <a:lnTo>
                    <a:pt x="163785" y="2095756"/>
                  </a:lnTo>
                  <a:lnTo>
                    <a:pt x="30204" y="2094397"/>
                  </a:lnTo>
                  <a:lnTo>
                    <a:pt x="38598" y="1988935"/>
                  </a:lnTo>
                  <a:lnTo>
                    <a:pt x="2470" y="1866298"/>
                  </a:lnTo>
                  <a:lnTo>
                    <a:pt x="0" y="1743661"/>
                  </a:lnTo>
                  <a:lnTo>
                    <a:pt x="54633" y="1621024"/>
                  </a:lnTo>
                  <a:lnTo>
                    <a:pt x="38326" y="1498387"/>
                  </a:lnTo>
                  <a:lnTo>
                    <a:pt x="8624" y="1375749"/>
                  </a:lnTo>
                  <a:lnTo>
                    <a:pt x="25642" y="1253112"/>
                  </a:lnTo>
                  <a:lnTo>
                    <a:pt x="16703" y="1130475"/>
                  </a:lnTo>
                  <a:lnTo>
                    <a:pt x="53841" y="1007838"/>
                  </a:lnTo>
                  <a:lnTo>
                    <a:pt x="16521" y="885201"/>
                  </a:lnTo>
                  <a:lnTo>
                    <a:pt x="44568" y="762564"/>
                  </a:lnTo>
                  <a:lnTo>
                    <a:pt x="45808" y="639926"/>
                  </a:lnTo>
                  <a:lnTo>
                    <a:pt x="18603" y="517289"/>
                  </a:lnTo>
                  <a:lnTo>
                    <a:pt x="14336" y="394652"/>
                  </a:lnTo>
                  <a:lnTo>
                    <a:pt x="31555" y="272015"/>
                  </a:lnTo>
                  <a:lnTo>
                    <a:pt x="23785" y="14937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ihe.png"/>
            <p:cNvPicPr>
              <a:picLocks noChangeAspect="1"/>
            </p:cNvPicPr>
            <p:nvPr/>
          </p:nvPicPr>
          <p:blipFill>
            <a:blip r:embed="rId4"/>
            <a:stretch>
              <a:fillRect/>
            </a:stretch>
          </p:blipFill>
          <p:spPr>
            <a:xfrm>
              <a:off x="9805064" y="1682496"/>
              <a:ext cx="835855" cy="420624"/>
            </a:xfrm>
            <a:prstGeom prst="rect">
              <a:avLst/>
            </a:prstGeom>
          </p:spPr>
        </p:pic>
        <p:cxnSp>
          <p:nvCxnSpPr>
            <p:cNvPr id="28" name="Connector 27"/>
            <p:cNvCxnSpPr/>
            <p:nvPr/>
          </p:nvCxnSpPr>
          <p:spPr>
            <a:xfrm>
              <a:off x="9070848" y="2157984"/>
              <a:ext cx="230428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70848" y="2212848"/>
              <a:ext cx="230428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70848" y="2286000"/>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24, 2026</a:t>
              </a:r>
            </a:p>
          </p:txBody>
        </p:sp>
        <p:sp>
          <p:nvSpPr>
            <p:cNvPr id="31" name="TextBox 30"/>
            <p:cNvSpPr txBox="1"/>
            <p:nvPr/>
          </p:nvSpPr>
          <p:spPr>
            <a:xfrm>
              <a:off x="9089136" y="2578608"/>
              <a:ext cx="226771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Rule Already Spurring Disenrollments</a:t>
              </a:r>
            </a:p>
          </p:txBody>
        </p:sp>
      </p:grpSp>
      <p:grpSp>
        <p:nvGrpSpPr>
          <p:cNvPr id="39" name="Group 38"/>
          <p:cNvGrpSpPr/>
          <p:nvPr/>
        </p:nvGrpSpPr>
        <p:grpSpPr>
          <a:xfrm rot="90000">
            <a:off x="611573" y="3705166"/>
            <a:ext cx="2620595" cy="2153115"/>
            <a:chOff x="611573" y="3705166"/>
            <a:chExt cx="2620595" cy="2153115"/>
          </a:xfrm>
        </p:grpSpPr>
        <p:sp>
          <p:nvSpPr>
            <p:cNvPr id="33" name="Freeform 32"/>
            <p:cNvSpPr/>
            <p:nvPr/>
          </p:nvSpPr>
          <p:spPr>
            <a:xfrm>
              <a:off x="611573" y="3705166"/>
              <a:ext cx="2620595" cy="2153115"/>
            </a:xfrm>
            <a:custGeom>
              <a:avLst/>
              <a:gdLst/>
              <a:ahLst/>
              <a:cxnLst/>
              <a:rect l="l" t="t" r="r" b="b"/>
              <a:pathLst>
                <a:path w="2620595" h="2153115">
                  <a:moveTo>
                    <a:pt x="28507" y="55027"/>
                  </a:moveTo>
                  <a:lnTo>
                    <a:pt x="174229" y="40429"/>
                  </a:lnTo>
                  <a:lnTo>
                    <a:pt x="254912" y="14745"/>
                  </a:lnTo>
                  <a:lnTo>
                    <a:pt x="407952" y="45217"/>
                  </a:lnTo>
                  <a:lnTo>
                    <a:pt x="485253" y="4251"/>
                  </a:lnTo>
                  <a:lnTo>
                    <a:pt x="663416" y="1142"/>
                  </a:lnTo>
                  <a:lnTo>
                    <a:pt x="769969" y="14685"/>
                  </a:lnTo>
                  <a:lnTo>
                    <a:pt x="891260" y="48774"/>
                  </a:lnTo>
                  <a:lnTo>
                    <a:pt x="1009084" y="18618"/>
                  </a:lnTo>
                  <a:lnTo>
                    <a:pt x="1114414" y="33358"/>
                  </a:lnTo>
                  <a:lnTo>
                    <a:pt x="1255920" y="19798"/>
                  </a:lnTo>
                  <a:lnTo>
                    <a:pt x="1367473" y="27911"/>
                  </a:lnTo>
                  <a:lnTo>
                    <a:pt x="1476079" y="5084"/>
                  </a:lnTo>
                  <a:lnTo>
                    <a:pt x="1617856" y="0"/>
                  </a:lnTo>
                  <a:lnTo>
                    <a:pt x="1741645" y="44903"/>
                  </a:lnTo>
                  <a:lnTo>
                    <a:pt x="1878305" y="9729"/>
                  </a:lnTo>
                  <a:lnTo>
                    <a:pt x="1973773" y="52686"/>
                  </a:lnTo>
                  <a:lnTo>
                    <a:pt x="2091538" y="57049"/>
                  </a:lnTo>
                  <a:lnTo>
                    <a:pt x="2203862" y="47396"/>
                  </a:lnTo>
                  <a:lnTo>
                    <a:pt x="2315605" y="36312"/>
                  </a:lnTo>
                  <a:lnTo>
                    <a:pt x="2486464" y="28632"/>
                  </a:lnTo>
                  <a:lnTo>
                    <a:pt x="2588827" y="34080"/>
                  </a:lnTo>
                  <a:lnTo>
                    <a:pt x="2615312" y="148223"/>
                  </a:lnTo>
                  <a:lnTo>
                    <a:pt x="2620595" y="270860"/>
                  </a:lnTo>
                  <a:lnTo>
                    <a:pt x="2568301" y="393497"/>
                  </a:lnTo>
                  <a:lnTo>
                    <a:pt x="2590278" y="516134"/>
                  </a:lnTo>
                  <a:lnTo>
                    <a:pt x="2559374" y="638771"/>
                  </a:lnTo>
                  <a:lnTo>
                    <a:pt x="2581052" y="761409"/>
                  </a:lnTo>
                  <a:lnTo>
                    <a:pt x="2566110" y="884046"/>
                  </a:lnTo>
                  <a:lnTo>
                    <a:pt x="2567080" y="1006683"/>
                  </a:lnTo>
                  <a:lnTo>
                    <a:pt x="2596817" y="1129320"/>
                  </a:lnTo>
                  <a:lnTo>
                    <a:pt x="2562230" y="1251957"/>
                  </a:lnTo>
                  <a:lnTo>
                    <a:pt x="2566680" y="1374594"/>
                  </a:lnTo>
                  <a:lnTo>
                    <a:pt x="2557449" y="1497232"/>
                  </a:lnTo>
                  <a:lnTo>
                    <a:pt x="2608895" y="1619869"/>
                  </a:lnTo>
                  <a:lnTo>
                    <a:pt x="2572421" y="1742506"/>
                  </a:lnTo>
                  <a:lnTo>
                    <a:pt x="2561449" y="1865143"/>
                  </a:lnTo>
                  <a:lnTo>
                    <a:pt x="2596573" y="1987780"/>
                  </a:lnTo>
                  <a:lnTo>
                    <a:pt x="2602753" y="2110417"/>
                  </a:lnTo>
                  <a:lnTo>
                    <a:pt x="2475262" y="2115274"/>
                  </a:lnTo>
                  <a:lnTo>
                    <a:pt x="2347200" y="2132905"/>
                  </a:lnTo>
                  <a:lnTo>
                    <a:pt x="2210922" y="2145507"/>
                  </a:lnTo>
                  <a:lnTo>
                    <a:pt x="2113556" y="2147100"/>
                  </a:lnTo>
                  <a:lnTo>
                    <a:pt x="2004226" y="2145201"/>
                  </a:lnTo>
                  <a:lnTo>
                    <a:pt x="1858533" y="2112706"/>
                  </a:lnTo>
                  <a:lnTo>
                    <a:pt x="1750344" y="2118515"/>
                  </a:lnTo>
                  <a:lnTo>
                    <a:pt x="1583250" y="2153115"/>
                  </a:lnTo>
                  <a:lnTo>
                    <a:pt x="1472286" y="2108822"/>
                  </a:lnTo>
                  <a:lnTo>
                    <a:pt x="1366578" y="2068765"/>
                  </a:lnTo>
                  <a:lnTo>
                    <a:pt x="1252716" y="2119667"/>
                  </a:lnTo>
                  <a:lnTo>
                    <a:pt x="1145827" y="2121905"/>
                  </a:lnTo>
                  <a:lnTo>
                    <a:pt x="991486" y="2117066"/>
                  </a:lnTo>
                  <a:lnTo>
                    <a:pt x="911338" y="2124413"/>
                  </a:lnTo>
                  <a:lnTo>
                    <a:pt x="782033" y="2060370"/>
                  </a:lnTo>
                  <a:lnTo>
                    <a:pt x="650242" y="2080843"/>
                  </a:lnTo>
                  <a:lnTo>
                    <a:pt x="494603" y="2093130"/>
                  </a:lnTo>
                  <a:lnTo>
                    <a:pt x="373646" y="2067989"/>
                  </a:lnTo>
                  <a:lnTo>
                    <a:pt x="253851" y="2082808"/>
                  </a:lnTo>
                  <a:lnTo>
                    <a:pt x="134389" y="2141026"/>
                  </a:lnTo>
                  <a:lnTo>
                    <a:pt x="28507" y="2067731"/>
                  </a:lnTo>
                  <a:lnTo>
                    <a:pt x="9315" y="1987780"/>
                  </a:lnTo>
                  <a:lnTo>
                    <a:pt x="0" y="1865143"/>
                  </a:lnTo>
                  <a:lnTo>
                    <a:pt x="28906" y="1742506"/>
                  </a:lnTo>
                  <a:lnTo>
                    <a:pt x="11167" y="1619869"/>
                  </a:lnTo>
                  <a:lnTo>
                    <a:pt x="30477" y="1497232"/>
                  </a:lnTo>
                  <a:lnTo>
                    <a:pt x="11720" y="1374594"/>
                  </a:lnTo>
                  <a:lnTo>
                    <a:pt x="9082" y="1251957"/>
                  </a:lnTo>
                  <a:lnTo>
                    <a:pt x="27735" y="1129320"/>
                  </a:lnTo>
                  <a:lnTo>
                    <a:pt x="1088" y="1006683"/>
                  </a:lnTo>
                  <a:lnTo>
                    <a:pt x="53125" y="884046"/>
                  </a:lnTo>
                  <a:lnTo>
                    <a:pt x="32511" y="761409"/>
                  </a:lnTo>
                  <a:lnTo>
                    <a:pt x="21805" y="638771"/>
                  </a:lnTo>
                  <a:lnTo>
                    <a:pt x="31695" y="516134"/>
                  </a:lnTo>
                  <a:lnTo>
                    <a:pt x="57139" y="393497"/>
                  </a:lnTo>
                  <a:lnTo>
                    <a:pt x="28145" y="270860"/>
                  </a:lnTo>
                  <a:lnTo>
                    <a:pt x="21732" y="148223"/>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ihe.png"/>
            <p:cNvPicPr>
              <a:picLocks noChangeAspect="1"/>
            </p:cNvPicPr>
            <p:nvPr/>
          </p:nvPicPr>
          <p:blipFill>
            <a:blip r:embed="rId4"/>
            <a:stretch>
              <a:fillRect/>
            </a:stretch>
          </p:blipFill>
          <p:spPr>
            <a:xfrm>
              <a:off x="1502312" y="3822191"/>
              <a:ext cx="835855" cy="420624"/>
            </a:xfrm>
            <a:prstGeom prst="rect">
              <a:avLst/>
            </a:prstGeom>
          </p:spPr>
        </p:pic>
        <p:cxnSp>
          <p:nvCxnSpPr>
            <p:cNvPr id="35" name="Connector 34"/>
            <p:cNvCxnSpPr/>
            <p:nvPr/>
          </p:nvCxnSpPr>
          <p:spPr>
            <a:xfrm>
              <a:off x="768096" y="4297680"/>
              <a:ext cx="2304287"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8096" y="4352544"/>
              <a:ext cx="2304287"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8096" y="4425696"/>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6, 2026</a:t>
              </a:r>
            </a:p>
          </p:txBody>
        </p:sp>
        <p:sp>
          <p:nvSpPr>
            <p:cNvPr id="38" name="TextBox 37"/>
            <p:cNvSpPr txBox="1"/>
            <p:nvPr/>
          </p:nvSpPr>
          <p:spPr>
            <a:xfrm>
              <a:off x="786384" y="4718304"/>
              <a:ext cx="2267712" cy="1042415"/>
            </a:xfrm>
            <a:prstGeom prst="rect">
              <a:avLst/>
            </a:prstGeom>
            <a:noFill/>
          </p:spPr>
          <p:txBody>
            <a:bodyPr wrap="square" lIns="0" tIns="0" rIns="0" bIns="0" anchor="t">
              <a:spAutoFit/>
            </a:bodyPr>
            <a:lstStyle/>
            <a:p>
              <a:pPr algn="l"/>
              <a:r>
                <a:rPr sz="1300" b="1" i="0">
                  <a:solidFill>
                    <a:srgbClr val="000000"/>
                  </a:solidFill>
                  <a:latin typeface="Georgia"/>
                </a:rPr>
                <a:t>Campus Cuts Hit Even Wealthy Institutions</a:t>
              </a:r>
            </a:p>
          </p:txBody>
        </p:sp>
      </p:grpSp>
      <p:grpSp>
        <p:nvGrpSpPr>
          <p:cNvPr id="46" name="Group 45"/>
          <p:cNvGrpSpPr/>
          <p:nvPr/>
        </p:nvGrpSpPr>
        <p:grpSpPr>
          <a:xfrm rot="21492000">
            <a:off x="3409287" y="3763057"/>
            <a:ext cx="2710545" cy="2156201"/>
            <a:chOff x="3409287" y="3763057"/>
            <a:chExt cx="2710545" cy="2156201"/>
          </a:xfrm>
        </p:grpSpPr>
        <p:sp>
          <p:nvSpPr>
            <p:cNvPr id="40" name="Freeform 39"/>
            <p:cNvSpPr/>
            <p:nvPr/>
          </p:nvSpPr>
          <p:spPr>
            <a:xfrm>
              <a:off x="3409287" y="3763057"/>
              <a:ext cx="2710545" cy="2156201"/>
            </a:xfrm>
            <a:custGeom>
              <a:avLst/>
              <a:gdLst/>
              <a:ahLst/>
              <a:cxnLst/>
              <a:rect l="l" t="t" r="r" b="b"/>
              <a:pathLst>
                <a:path w="2710545" h="2156201">
                  <a:moveTo>
                    <a:pt x="28857" y="46760"/>
                  </a:moveTo>
                  <a:lnTo>
                    <a:pt x="139733" y="41167"/>
                  </a:lnTo>
                  <a:lnTo>
                    <a:pt x="298831" y="10539"/>
                  </a:lnTo>
                  <a:lnTo>
                    <a:pt x="407635" y="11978"/>
                  </a:lnTo>
                  <a:lnTo>
                    <a:pt x="489474" y="12849"/>
                  </a:lnTo>
                  <a:lnTo>
                    <a:pt x="647610" y="0"/>
                  </a:lnTo>
                  <a:lnTo>
                    <a:pt x="762257" y="13038"/>
                  </a:lnTo>
                  <a:lnTo>
                    <a:pt x="851414" y="18085"/>
                  </a:lnTo>
                  <a:lnTo>
                    <a:pt x="985866" y="20021"/>
                  </a:lnTo>
                  <a:lnTo>
                    <a:pt x="1138062" y="49465"/>
                  </a:lnTo>
                  <a:lnTo>
                    <a:pt x="1216744" y="53785"/>
                  </a:lnTo>
                  <a:lnTo>
                    <a:pt x="1361907" y="51986"/>
                  </a:lnTo>
                  <a:lnTo>
                    <a:pt x="1495546" y="24208"/>
                  </a:lnTo>
                  <a:lnTo>
                    <a:pt x="1579857" y="50044"/>
                  </a:lnTo>
                  <a:lnTo>
                    <a:pt x="1748289" y="30548"/>
                  </a:lnTo>
                  <a:lnTo>
                    <a:pt x="1812325" y="43244"/>
                  </a:lnTo>
                  <a:lnTo>
                    <a:pt x="1974389" y="46869"/>
                  </a:lnTo>
                  <a:lnTo>
                    <a:pt x="2108432" y="53012"/>
                  </a:lnTo>
                  <a:lnTo>
                    <a:pt x="2213596" y="15674"/>
                  </a:lnTo>
                  <a:lnTo>
                    <a:pt x="2321074" y="22860"/>
                  </a:lnTo>
                  <a:lnTo>
                    <a:pt x="2456216" y="30641"/>
                  </a:lnTo>
                  <a:lnTo>
                    <a:pt x="2580955" y="23551"/>
                  </a:lnTo>
                  <a:lnTo>
                    <a:pt x="2680617" y="28323"/>
                  </a:lnTo>
                  <a:lnTo>
                    <a:pt x="2710286" y="145196"/>
                  </a:lnTo>
                  <a:lnTo>
                    <a:pt x="2699296" y="267833"/>
                  </a:lnTo>
                  <a:lnTo>
                    <a:pt x="2708214" y="390470"/>
                  </a:lnTo>
                  <a:lnTo>
                    <a:pt x="2693339" y="513107"/>
                  </a:lnTo>
                  <a:lnTo>
                    <a:pt x="2656564" y="635744"/>
                  </a:lnTo>
                  <a:lnTo>
                    <a:pt x="2675428" y="758382"/>
                  </a:lnTo>
                  <a:lnTo>
                    <a:pt x="2667218" y="881019"/>
                  </a:lnTo>
                  <a:lnTo>
                    <a:pt x="2665422" y="1003656"/>
                  </a:lnTo>
                  <a:lnTo>
                    <a:pt x="2656744" y="1126293"/>
                  </a:lnTo>
                  <a:lnTo>
                    <a:pt x="2655680" y="1248930"/>
                  </a:lnTo>
                  <a:lnTo>
                    <a:pt x="2679406" y="1371567"/>
                  </a:lnTo>
                  <a:lnTo>
                    <a:pt x="2698723" y="1494205"/>
                  </a:lnTo>
                  <a:lnTo>
                    <a:pt x="2704130" y="1616842"/>
                  </a:lnTo>
                  <a:lnTo>
                    <a:pt x="2710545" y="1739479"/>
                  </a:lnTo>
                  <a:lnTo>
                    <a:pt x="2685863" y="1862116"/>
                  </a:lnTo>
                  <a:lnTo>
                    <a:pt x="2649535" y="1984753"/>
                  </a:lnTo>
                  <a:lnTo>
                    <a:pt x="2660856" y="2107391"/>
                  </a:lnTo>
                  <a:lnTo>
                    <a:pt x="2531741" y="2145090"/>
                  </a:lnTo>
                  <a:lnTo>
                    <a:pt x="2428017" y="2130289"/>
                  </a:lnTo>
                  <a:lnTo>
                    <a:pt x="2315890" y="2115975"/>
                  </a:lnTo>
                  <a:lnTo>
                    <a:pt x="2220987" y="2123482"/>
                  </a:lnTo>
                  <a:lnTo>
                    <a:pt x="2050729" y="2121213"/>
                  </a:lnTo>
                  <a:lnTo>
                    <a:pt x="1948169" y="2156201"/>
                  </a:lnTo>
                  <a:lnTo>
                    <a:pt x="1822006" y="2080962"/>
                  </a:lnTo>
                  <a:lnTo>
                    <a:pt x="1743381" y="2098582"/>
                  </a:lnTo>
                  <a:lnTo>
                    <a:pt x="1569104" y="2137724"/>
                  </a:lnTo>
                  <a:lnTo>
                    <a:pt x="1502096" y="2106585"/>
                  </a:lnTo>
                  <a:lnTo>
                    <a:pt x="1333434" y="2144885"/>
                  </a:lnTo>
                  <a:lnTo>
                    <a:pt x="1223957" y="2081346"/>
                  </a:lnTo>
                  <a:lnTo>
                    <a:pt x="1084455" y="2146422"/>
                  </a:lnTo>
                  <a:lnTo>
                    <a:pt x="976190" y="2068505"/>
                  </a:lnTo>
                  <a:lnTo>
                    <a:pt x="863886" y="2127893"/>
                  </a:lnTo>
                  <a:lnTo>
                    <a:pt x="783875" y="2077809"/>
                  </a:lnTo>
                  <a:lnTo>
                    <a:pt x="639051" y="2083840"/>
                  </a:lnTo>
                  <a:lnTo>
                    <a:pt x="534155" y="2106092"/>
                  </a:lnTo>
                  <a:lnTo>
                    <a:pt x="402216" y="2141994"/>
                  </a:lnTo>
                  <a:lnTo>
                    <a:pt x="272157" y="2104420"/>
                  </a:lnTo>
                  <a:lnTo>
                    <a:pt x="117992" y="2073158"/>
                  </a:lnTo>
                  <a:lnTo>
                    <a:pt x="28857" y="2127090"/>
                  </a:lnTo>
                  <a:lnTo>
                    <a:pt x="45551" y="1984753"/>
                  </a:lnTo>
                  <a:lnTo>
                    <a:pt x="33831" y="1862116"/>
                  </a:lnTo>
                  <a:lnTo>
                    <a:pt x="0" y="1739479"/>
                  </a:lnTo>
                  <a:lnTo>
                    <a:pt x="44652" y="1616842"/>
                  </a:lnTo>
                  <a:lnTo>
                    <a:pt x="51200" y="1494205"/>
                  </a:lnTo>
                  <a:lnTo>
                    <a:pt x="51649" y="1371567"/>
                  </a:lnTo>
                  <a:lnTo>
                    <a:pt x="44891" y="1248930"/>
                  </a:lnTo>
                  <a:lnTo>
                    <a:pt x="39286" y="1126293"/>
                  </a:lnTo>
                  <a:lnTo>
                    <a:pt x="19227" y="1003656"/>
                  </a:lnTo>
                  <a:lnTo>
                    <a:pt x="20030" y="881019"/>
                  </a:lnTo>
                  <a:lnTo>
                    <a:pt x="9028" y="758382"/>
                  </a:lnTo>
                  <a:lnTo>
                    <a:pt x="38037" y="635744"/>
                  </a:lnTo>
                  <a:lnTo>
                    <a:pt x="18556" y="513107"/>
                  </a:lnTo>
                  <a:lnTo>
                    <a:pt x="48664" y="390470"/>
                  </a:lnTo>
                  <a:lnTo>
                    <a:pt x="11706" y="267833"/>
                  </a:lnTo>
                  <a:lnTo>
                    <a:pt x="13715" y="145196"/>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descr="wapo.png"/>
            <p:cNvPicPr>
              <a:picLocks noChangeAspect="1"/>
            </p:cNvPicPr>
            <p:nvPr/>
          </p:nvPicPr>
          <p:blipFill>
            <a:blip r:embed="rId5"/>
            <a:stretch>
              <a:fillRect/>
            </a:stretch>
          </p:blipFill>
          <p:spPr>
            <a:xfrm>
              <a:off x="3769156" y="3931920"/>
              <a:ext cx="1989734" cy="310896"/>
            </a:xfrm>
            <a:prstGeom prst="rect">
              <a:avLst/>
            </a:prstGeom>
          </p:spPr>
        </p:pic>
        <p:cxnSp>
          <p:nvCxnSpPr>
            <p:cNvPr id="42" name="Connector 41"/>
            <p:cNvCxnSpPr/>
            <p:nvPr/>
          </p:nvCxnSpPr>
          <p:spPr>
            <a:xfrm>
              <a:off x="3566160" y="4352544"/>
              <a:ext cx="239572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566160" y="4407407"/>
              <a:ext cx="239572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66160" y="4480559"/>
              <a:ext cx="2395728" cy="201168"/>
            </a:xfrm>
            <a:prstGeom prst="rect">
              <a:avLst/>
            </a:prstGeom>
            <a:noFill/>
          </p:spPr>
          <p:txBody>
            <a:bodyPr wrap="square" lIns="0" tIns="0" rIns="0" bIns="0" anchor="t">
              <a:spAutoFit/>
            </a:bodyPr>
            <a:lstStyle/>
            <a:p>
              <a:pPr algn="ctr"/>
              <a:r>
                <a:rPr sz="800" b="1" i="0">
                  <a:solidFill>
                    <a:srgbClr val="595959"/>
                  </a:solidFill>
                  <a:latin typeface="Lato"/>
                </a:rPr>
                <a:t>JUNE 29, 2026</a:t>
              </a:r>
            </a:p>
          </p:txBody>
        </p:sp>
        <p:sp>
          <p:nvSpPr>
            <p:cNvPr id="45" name="TextBox 44"/>
            <p:cNvSpPr txBox="1"/>
            <p:nvPr/>
          </p:nvSpPr>
          <p:spPr>
            <a:xfrm>
              <a:off x="3584448" y="4773168"/>
              <a:ext cx="2359152" cy="1042415"/>
            </a:xfrm>
            <a:prstGeom prst="rect">
              <a:avLst/>
            </a:prstGeom>
            <a:noFill/>
          </p:spPr>
          <p:txBody>
            <a:bodyPr wrap="square" lIns="0" tIns="0" rIns="0" bIns="0" anchor="t">
              <a:spAutoFit/>
            </a:bodyPr>
            <a:lstStyle/>
            <a:p>
              <a:pPr algn="l"/>
              <a:r>
                <a:rPr sz="1300" b="1" i="0">
                  <a:solidFill>
                    <a:srgbClr val="000000"/>
                  </a:solidFill>
                  <a:latin typeface="Georgia"/>
                </a:rPr>
                <a:t>U.S. colleges cut programs, report budget gaps after losing foreign students</a:t>
              </a:r>
            </a:p>
          </p:txBody>
        </p:sp>
      </p:grpSp>
      <p:grpSp>
        <p:nvGrpSpPr>
          <p:cNvPr id="53" name="Group 52"/>
          <p:cNvGrpSpPr/>
          <p:nvPr/>
        </p:nvGrpSpPr>
        <p:grpSpPr>
          <a:xfrm rot="60000">
            <a:off x="6060080" y="3699821"/>
            <a:ext cx="2573452" cy="2165632"/>
            <a:chOff x="6060080" y="3699821"/>
            <a:chExt cx="2573452" cy="2165632"/>
          </a:xfrm>
        </p:grpSpPr>
        <p:sp>
          <p:nvSpPr>
            <p:cNvPr id="47" name="Freeform 46"/>
            <p:cNvSpPr/>
            <p:nvPr/>
          </p:nvSpPr>
          <p:spPr>
            <a:xfrm>
              <a:off x="6060080" y="3699821"/>
              <a:ext cx="2573452" cy="2165632"/>
            </a:xfrm>
            <a:custGeom>
              <a:avLst/>
              <a:gdLst/>
              <a:ahLst/>
              <a:cxnLst/>
              <a:rect l="l" t="t" r="r" b="b"/>
              <a:pathLst>
                <a:path w="2573452" h="2165632">
                  <a:moveTo>
                    <a:pt x="29824" y="44416"/>
                  </a:moveTo>
                  <a:lnTo>
                    <a:pt x="175240" y="0"/>
                  </a:lnTo>
                  <a:lnTo>
                    <a:pt x="297605" y="51477"/>
                  </a:lnTo>
                  <a:lnTo>
                    <a:pt x="360676" y="50538"/>
                  </a:lnTo>
                  <a:lnTo>
                    <a:pt x="528285" y="10941"/>
                  </a:lnTo>
                  <a:lnTo>
                    <a:pt x="658707" y="22221"/>
                  </a:lnTo>
                  <a:lnTo>
                    <a:pt x="745137" y="40772"/>
                  </a:lnTo>
                  <a:lnTo>
                    <a:pt x="880198" y="46711"/>
                  </a:lnTo>
                  <a:lnTo>
                    <a:pt x="973565" y="29907"/>
                  </a:lnTo>
                  <a:lnTo>
                    <a:pt x="1084301" y="16517"/>
                  </a:lnTo>
                  <a:lnTo>
                    <a:pt x="1226659" y="3696"/>
                  </a:lnTo>
                  <a:lnTo>
                    <a:pt x="1337319" y="51097"/>
                  </a:lnTo>
                  <a:lnTo>
                    <a:pt x="1446179" y="26670"/>
                  </a:lnTo>
                  <a:lnTo>
                    <a:pt x="1556872" y="46133"/>
                  </a:lnTo>
                  <a:lnTo>
                    <a:pt x="1680631" y="10562"/>
                  </a:lnTo>
                  <a:lnTo>
                    <a:pt x="1841669" y="27235"/>
                  </a:lnTo>
                  <a:lnTo>
                    <a:pt x="1949109" y="37920"/>
                  </a:lnTo>
                  <a:lnTo>
                    <a:pt x="2065238" y="26110"/>
                  </a:lnTo>
                  <a:lnTo>
                    <a:pt x="2163013" y="8028"/>
                  </a:lnTo>
                  <a:lnTo>
                    <a:pt x="2285981" y="14588"/>
                  </a:lnTo>
                  <a:lnTo>
                    <a:pt x="2413247" y="56010"/>
                  </a:lnTo>
                  <a:lnTo>
                    <a:pt x="2544424" y="12594"/>
                  </a:lnTo>
                  <a:lnTo>
                    <a:pt x="2520812" y="153568"/>
                  </a:lnTo>
                  <a:lnTo>
                    <a:pt x="2529627" y="276205"/>
                  </a:lnTo>
                  <a:lnTo>
                    <a:pt x="2520862" y="398842"/>
                  </a:lnTo>
                  <a:lnTo>
                    <a:pt x="2565488" y="521479"/>
                  </a:lnTo>
                  <a:lnTo>
                    <a:pt x="2573440" y="644116"/>
                  </a:lnTo>
                  <a:lnTo>
                    <a:pt x="2561434" y="766754"/>
                  </a:lnTo>
                  <a:lnTo>
                    <a:pt x="2573452" y="889391"/>
                  </a:lnTo>
                  <a:lnTo>
                    <a:pt x="2547612" y="1012028"/>
                  </a:lnTo>
                  <a:lnTo>
                    <a:pt x="2541412" y="1134665"/>
                  </a:lnTo>
                  <a:lnTo>
                    <a:pt x="2537041" y="1257302"/>
                  </a:lnTo>
                  <a:lnTo>
                    <a:pt x="2554190" y="1379939"/>
                  </a:lnTo>
                  <a:lnTo>
                    <a:pt x="2527745" y="1502577"/>
                  </a:lnTo>
                  <a:lnTo>
                    <a:pt x="2545930" y="1625214"/>
                  </a:lnTo>
                  <a:lnTo>
                    <a:pt x="2537354" y="1747851"/>
                  </a:lnTo>
                  <a:lnTo>
                    <a:pt x="2555201" y="1870488"/>
                  </a:lnTo>
                  <a:lnTo>
                    <a:pt x="2568201" y="1993125"/>
                  </a:lnTo>
                  <a:lnTo>
                    <a:pt x="2554547" y="2115762"/>
                  </a:lnTo>
                  <a:lnTo>
                    <a:pt x="2401580" y="2125335"/>
                  </a:lnTo>
                  <a:lnTo>
                    <a:pt x="2319744" y="2119627"/>
                  </a:lnTo>
                  <a:lnTo>
                    <a:pt x="2157411" y="2074194"/>
                  </a:lnTo>
                  <a:lnTo>
                    <a:pt x="2067940" y="2138035"/>
                  </a:lnTo>
                  <a:lnTo>
                    <a:pt x="1945382" y="2139176"/>
                  </a:lnTo>
                  <a:lnTo>
                    <a:pt x="1829136" y="2148883"/>
                  </a:lnTo>
                  <a:lnTo>
                    <a:pt x="1688038" y="2149715"/>
                  </a:lnTo>
                  <a:lnTo>
                    <a:pt x="1602381" y="2076256"/>
                  </a:lnTo>
                  <a:lnTo>
                    <a:pt x="1449177" y="2094621"/>
                  </a:lnTo>
                  <a:lnTo>
                    <a:pt x="1365303" y="2129929"/>
                  </a:lnTo>
                  <a:lnTo>
                    <a:pt x="1199596" y="2139862"/>
                  </a:lnTo>
                  <a:lnTo>
                    <a:pt x="1095165" y="2152998"/>
                  </a:lnTo>
                  <a:lnTo>
                    <a:pt x="973538" y="2074990"/>
                  </a:lnTo>
                  <a:lnTo>
                    <a:pt x="857227" y="2111830"/>
                  </a:lnTo>
                  <a:lnTo>
                    <a:pt x="743753" y="2119560"/>
                  </a:lnTo>
                  <a:lnTo>
                    <a:pt x="603431" y="2092556"/>
                  </a:lnTo>
                  <a:lnTo>
                    <a:pt x="479455" y="2165632"/>
                  </a:lnTo>
                  <a:lnTo>
                    <a:pt x="388240" y="2093902"/>
                  </a:lnTo>
                  <a:lnTo>
                    <a:pt x="248051" y="2126475"/>
                  </a:lnTo>
                  <a:lnTo>
                    <a:pt x="117878" y="2080730"/>
                  </a:lnTo>
                  <a:lnTo>
                    <a:pt x="29824" y="2132970"/>
                  </a:lnTo>
                  <a:lnTo>
                    <a:pt x="31604" y="1993125"/>
                  </a:lnTo>
                  <a:lnTo>
                    <a:pt x="43113" y="1870488"/>
                  </a:lnTo>
                  <a:lnTo>
                    <a:pt x="52092" y="1747851"/>
                  </a:lnTo>
                  <a:lnTo>
                    <a:pt x="18582" y="1625214"/>
                  </a:lnTo>
                  <a:lnTo>
                    <a:pt x="46664" y="1502577"/>
                  </a:lnTo>
                  <a:lnTo>
                    <a:pt x="49360" y="1379939"/>
                  </a:lnTo>
                  <a:lnTo>
                    <a:pt x="50745" y="1257302"/>
                  </a:lnTo>
                  <a:lnTo>
                    <a:pt x="32087" y="1134665"/>
                  </a:lnTo>
                  <a:lnTo>
                    <a:pt x="46690" y="1012028"/>
                  </a:lnTo>
                  <a:lnTo>
                    <a:pt x="0" y="889391"/>
                  </a:lnTo>
                  <a:lnTo>
                    <a:pt x="10066" y="766754"/>
                  </a:lnTo>
                  <a:lnTo>
                    <a:pt x="34732" y="644116"/>
                  </a:lnTo>
                  <a:lnTo>
                    <a:pt x="33338" y="521479"/>
                  </a:lnTo>
                  <a:lnTo>
                    <a:pt x="36915" y="398842"/>
                  </a:lnTo>
                  <a:lnTo>
                    <a:pt x="24381" y="276205"/>
                  </a:lnTo>
                  <a:lnTo>
                    <a:pt x="1005" y="15356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Picture 47" descr="cnbc.png"/>
            <p:cNvPicPr>
              <a:picLocks noChangeAspect="1"/>
            </p:cNvPicPr>
            <p:nvPr/>
          </p:nvPicPr>
          <p:blipFill>
            <a:blip r:embed="rId6"/>
            <a:stretch>
              <a:fillRect/>
            </a:stretch>
          </p:blipFill>
          <p:spPr>
            <a:xfrm>
              <a:off x="6689550" y="3822191"/>
              <a:ext cx="1315306" cy="420624"/>
            </a:xfrm>
            <a:prstGeom prst="rect">
              <a:avLst/>
            </a:prstGeom>
          </p:spPr>
        </p:pic>
        <p:cxnSp>
          <p:nvCxnSpPr>
            <p:cNvPr id="49" name="Connector 48"/>
            <p:cNvCxnSpPr/>
            <p:nvPr/>
          </p:nvCxnSpPr>
          <p:spPr>
            <a:xfrm>
              <a:off x="6217920" y="4297680"/>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7920" y="4352544"/>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17920" y="4425696"/>
              <a:ext cx="2258568" cy="201168"/>
            </a:xfrm>
            <a:prstGeom prst="rect">
              <a:avLst/>
            </a:prstGeom>
            <a:noFill/>
          </p:spPr>
          <p:txBody>
            <a:bodyPr wrap="square" lIns="0" tIns="0" rIns="0" bIns="0" anchor="t">
              <a:spAutoFit/>
            </a:bodyPr>
            <a:lstStyle/>
            <a:p>
              <a:pPr algn="ctr"/>
              <a:r>
                <a:rPr sz="800" b="1" i="0">
                  <a:solidFill>
                    <a:srgbClr val="595959"/>
                  </a:solidFill>
                  <a:latin typeface="Lato"/>
                </a:rPr>
                <a:t>AUGUST 21, 2026</a:t>
              </a:r>
            </a:p>
          </p:txBody>
        </p:sp>
        <p:sp>
          <p:nvSpPr>
            <p:cNvPr id="52" name="TextBox 51"/>
            <p:cNvSpPr txBox="1"/>
            <p:nvPr/>
          </p:nvSpPr>
          <p:spPr>
            <a:xfrm>
              <a:off x="6236208" y="4718304"/>
              <a:ext cx="222199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enrollment falls amid tighter U.S. visa policies, reports show</a:t>
              </a:r>
            </a:p>
          </p:txBody>
        </p:sp>
      </p:grpSp>
      <p:grpSp>
        <p:nvGrpSpPr>
          <p:cNvPr id="60" name="Group 59"/>
          <p:cNvGrpSpPr/>
          <p:nvPr/>
        </p:nvGrpSpPr>
        <p:grpSpPr>
          <a:xfrm rot="21516000">
            <a:off x="8933000" y="3762433"/>
            <a:ext cx="2664629" cy="2156966"/>
            <a:chOff x="8933000" y="3762433"/>
            <a:chExt cx="2664629" cy="2156966"/>
          </a:xfrm>
        </p:grpSpPr>
        <p:sp>
          <p:nvSpPr>
            <p:cNvPr id="54" name="Freeform 53"/>
            <p:cNvSpPr/>
            <p:nvPr/>
          </p:nvSpPr>
          <p:spPr>
            <a:xfrm>
              <a:off x="8933000" y="3762433"/>
              <a:ext cx="2664629" cy="2156966"/>
            </a:xfrm>
            <a:custGeom>
              <a:avLst/>
              <a:gdLst/>
              <a:ahLst/>
              <a:cxnLst/>
              <a:rect l="l" t="t" r="r" b="b"/>
              <a:pathLst>
                <a:path w="2664629" h="2156966">
                  <a:moveTo>
                    <a:pt x="28120" y="6955"/>
                  </a:moveTo>
                  <a:lnTo>
                    <a:pt x="157420" y="53412"/>
                  </a:lnTo>
                  <a:lnTo>
                    <a:pt x="286414" y="22064"/>
                  </a:lnTo>
                  <a:lnTo>
                    <a:pt x="388184" y="0"/>
                  </a:lnTo>
                  <a:lnTo>
                    <a:pt x="556431" y="39462"/>
                  </a:lnTo>
                  <a:lnTo>
                    <a:pt x="632611" y="29225"/>
                  </a:lnTo>
                  <a:lnTo>
                    <a:pt x="786065" y="49220"/>
                  </a:lnTo>
                  <a:lnTo>
                    <a:pt x="882740" y="11242"/>
                  </a:lnTo>
                  <a:lnTo>
                    <a:pt x="1000880" y="28928"/>
                  </a:lnTo>
                  <a:lnTo>
                    <a:pt x="1172004" y="38194"/>
                  </a:lnTo>
                  <a:lnTo>
                    <a:pt x="1246021" y="14995"/>
                  </a:lnTo>
                  <a:lnTo>
                    <a:pt x="1366081" y="1479"/>
                  </a:lnTo>
                  <a:lnTo>
                    <a:pt x="1516837" y="995"/>
                  </a:lnTo>
                  <a:lnTo>
                    <a:pt x="1626697" y="6740"/>
                  </a:lnTo>
                  <a:lnTo>
                    <a:pt x="1760516" y="45951"/>
                  </a:lnTo>
                  <a:lnTo>
                    <a:pt x="1872645" y="30417"/>
                  </a:lnTo>
                  <a:lnTo>
                    <a:pt x="2007276" y="9838"/>
                  </a:lnTo>
                  <a:lnTo>
                    <a:pt x="2124871" y="41033"/>
                  </a:lnTo>
                  <a:lnTo>
                    <a:pt x="2283804" y="38059"/>
                  </a:lnTo>
                  <a:lnTo>
                    <a:pt x="2410856" y="37800"/>
                  </a:lnTo>
                  <a:lnTo>
                    <a:pt x="2497172" y="6147"/>
                  </a:lnTo>
                  <a:lnTo>
                    <a:pt x="2634160" y="27453"/>
                  </a:lnTo>
                  <a:lnTo>
                    <a:pt x="2641145" y="145820"/>
                  </a:lnTo>
                  <a:lnTo>
                    <a:pt x="2652389" y="268457"/>
                  </a:lnTo>
                  <a:lnTo>
                    <a:pt x="2660161" y="391094"/>
                  </a:lnTo>
                  <a:lnTo>
                    <a:pt x="2653221" y="513731"/>
                  </a:lnTo>
                  <a:lnTo>
                    <a:pt x="2664629" y="636368"/>
                  </a:lnTo>
                  <a:lnTo>
                    <a:pt x="2645310" y="759006"/>
                  </a:lnTo>
                  <a:lnTo>
                    <a:pt x="2645841" y="881643"/>
                  </a:lnTo>
                  <a:lnTo>
                    <a:pt x="2653316" y="1004280"/>
                  </a:lnTo>
                  <a:lnTo>
                    <a:pt x="2633964" y="1126917"/>
                  </a:lnTo>
                  <a:lnTo>
                    <a:pt x="2653236" y="1249554"/>
                  </a:lnTo>
                  <a:lnTo>
                    <a:pt x="2658181" y="1372191"/>
                  </a:lnTo>
                  <a:lnTo>
                    <a:pt x="2634947" y="1494829"/>
                  </a:lnTo>
                  <a:lnTo>
                    <a:pt x="2624105" y="1617466"/>
                  </a:lnTo>
                  <a:lnTo>
                    <a:pt x="2626545" y="1740103"/>
                  </a:lnTo>
                  <a:lnTo>
                    <a:pt x="2641358" y="1862740"/>
                  </a:lnTo>
                  <a:lnTo>
                    <a:pt x="2638389" y="1985377"/>
                  </a:lnTo>
                  <a:lnTo>
                    <a:pt x="2633844" y="2108015"/>
                  </a:lnTo>
                  <a:lnTo>
                    <a:pt x="2502977" y="2132412"/>
                  </a:lnTo>
                  <a:lnTo>
                    <a:pt x="2397790" y="2152722"/>
                  </a:lnTo>
                  <a:lnTo>
                    <a:pt x="2291446" y="2058193"/>
                  </a:lnTo>
                  <a:lnTo>
                    <a:pt x="2131399" y="2132900"/>
                  </a:lnTo>
                  <a:lnTo>
                    <a:pt x="2015981" y="2120089"/>
                  </a:lnTo>
                  <a:lnTo>
                    <a:pt x="1874023" y="2096277"/>
                  </a:lnTo>
                  <a:lnTo>
                    <a:pt x="1788579" y="2125453"/>
                  </a:lnTo>
                  <a:lnTo>
                    <a:pt x="1665610" y="2150825"/>
                  </a:lnTo>
                  <a:lnTo>
                    <a:pt x="1544221" y="2145402"/>
                  </a:lnTo>
                  <a:lnTo>
                    <a:pt x="1419798" y="2148722"/>
                  </a:lnTo>
                  <a:lnTo>
                    <a:pt x="1296601" y="2099186"/>
                  </a:lnTo>
                  <a:lnTo>
                    <a:pt x="1139092" y="2102482"/>
                  </a:lnTo>
                  <a:lnTo>
                    <a:pt x="1037967" y="2156966"/>
                  </a:lnTo>
                  <a:lnTo>
                    <a:pt x="907791" y="2100743"/>
                  </a:lnTo>
                  <a:lnTo>
                    <a:pt x="745932" y="2070306"/>
                  </a:lnTo>
                  <a:lnTo>
                    <a:pt x="620866" y="2072124"/>
                  </a:lnTo>
                  <a:lnTo>
                    <a:pt x="492530" y="2097642"/>
                  </a:lnTo>
                  <a:lnTo>
                    <a:pt x="387911" y="2154037"/>
                  </a:lnTo>
                  <a:lnTo>
                    <a:pt x="254162" y="2066295"/>
                  </a:lnTo>
                  <a:lnTo>
                    <a:pt x="177730" y="2151210"/>
                  </a:lnTo>
                  <a:lnTo>
                    <a:pt x="28120" y="2109264"/>
                  </a:lnTo>
                  <a:lnTo>
                    <a:pt x="30618" y="1985377"/>
                  </a:lnTo>
                  <a:lnTo>
                    <a:pt x="17734" y="1862740"/>
                  </a:lnTo>
                  <a:lnTo>
                    <a:pt x="21521" y="1740103"/>
                  </a:lnTo>
                  <a:lnTo>
                    <a:pt x="14176" y="1617466"/>
                  </a:lnTo>
                  <a:lnTo>
                    <a:pt x="2645" y="1494829"/>
                  </a:lnTo>
                  <a:lnTo>
                    <a:pt x="58625" y="1372191"/>
                  </a:lnTo>
                  <a:lnTo>
                    <a:pt x="51636" y="1249554"/>
                  </a:lnTo>
                  <a:lnTo>
                    <a:pt x="51349" y="1126917"/>
                  </a:lnTo>
                  <a:lnTo>
                    <a:pt x="5594" y="1004280"/>
                  </a:lnTo>
                  <a:lnTo>
                    <a:pt x="36883" y="881643"/>
                  </a:lnTo>
                  <a:lnTo>
                    <a:pt x="0" y="759006"/>
                  </a:lnTo>
                  <a:lnTo>
                    <a:pt x="41891" y="636368"/>
                  </a:lnTo>
                  <a:lnTo>
                    <a:pt x="591" y="513731"/>
                  </a:lnTo>
                  <a:lnTo>
                    <a:pt x="35098" y="391094"/>
                  </a:lnTo>
                  <a:lnTo>
                    <a:pt x="6296" y="268457"/>
                  </a:lnTo>
                  <a:lnTo>
                    <a:pt x="58765" y="14582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sm.png"/>
            <p:cNvPicPr>
              <a:picLocks noChangeAspect="1"/>
            </p:cNvPicPr>
            <p:nvPr/>
          </p:nvPicPr>
          <p:blipFill>
            <a:blip r:embed="rId7"/>
            <a:stretch>
              <a:fillRect/>
            </a:stretch>
          </p:blipFill>
          <p:spPr>
            <a:xfrm>
              <a:off x="9428117" y="3886200"/>
              <a:ext cx="1672045" cy="402336"/>
            </a:xfrm>
            <a:prstGeom prst="rect">
              <a:avLst/>
            </a:prstGeom>
          </p:spPr>
        </p:pic>
        <p:cxnSp>
          <p:nvCxnSpPr>
            <p:cNvPr id="56" name="Connector 55"/>
            <p:cNvCxnSpPr/>
            <p:nvPr/>
          </p:nvCxnSpPr>
          <p:spPr>
            <a:xfrm>
              <a:off x="9089136" y="4352544"/>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089136" y="4407407"/>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89136" y="4480559"/>
              <a:ext cx="2350008" cy="201168"/>
            </a:xfrm>
            <a:prstGeom prst="rect">
              <a:avLst/>
            </a:prstGeom>
            <a:noFill/>
          </p:spPr>
          <p:txBody>
            <a:bodyPr wrap="square" lIns="0" tIns="0" rIns="0" bIns="0" anchor="t">
              <a:spAutoFit/>
            </a:bodyPr>
            <a:lstStyle/>
            <a:p>
              <a:pPr algn="ctr"/>
              <a:r>
                <a:rPr sz="800" b="1" i="0">
                  <a:solidFill>
                    <a:srgbClr val="595959"/>
                  </a:solidFill>
                  <a:latin typeface="Lato"/>
                </a:rPr>
                <a:t>AUGUST 13, 2026</a:t>
              </a:r>
            </a:p>
          </p:txBody>
        </p:sp>
        <p:sp>
          <p:nvSpPr>
            <p:cNvPr id="59" name="TextBox 58"/>
            <p:cNvSpPr txBox="1"/>
            <p:nvPr/>
          </p:nvSpPr>
          <p:spPr>
            <a:xfrm>
              <a:off x="9107424" y="4773168"/>
              <a:ext cx="2313432" cy="1042415"/>
            </a:xfrm>
            <a:prstGeom prst="rect">
              <a:avLst/>
            </a:prstGeom>
            <a:noFill/>
          </p:spPr>
          <p:txBody>
            <a:bodyPr wrap="square" lIns="0" tIns="0" rIns="0" bIns="0" anchor="t">
              <a:spAutoFit/>
            </a:bodyPr>
            <a:lstStyle/>
            <a:p>
              <a:pPr algn="l"/>
              <a:r>
                <a:rPr sz="1300" b="1" i="0">
                  <a:solidFill>
                    <a:srgbClr val="000000"/>
                  </a:solidFill>
                  <a:latin typeface="Georgia"/>
                </a:rPr>
                <a:t>As financial outlook darkens, colleges cut staff, programs ahead of new school year</a:t>
              </a:r>
            </a:p>
          </p:txBody>
        </p:sp>
      </p:grpSp>
      <p:sp>
        <p:nvSpPr>
          <p:cNvPr id="61" name="TextBox 60"/>
          <p:cNvSpPr txBox="1"/>
          <p:nvPr/>
        </p:nvSpPr>
        <p:spPr>
          <a:xfrm>
            <a:off x="457200" y="6053328"/>
            <a:ext cx="11247120" cy="274320"/>
          </a:xfrm>
          <a:prstGeom prst="rect">
            <a:avLst/>
          </a:prstGeom>
          <a:noFill/>
        </p:spPr>
        <p:txBody>
          <a:bodyPr wrap="square" lIns="0" tIns="0" r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62" name="TextBox 6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headlines as published by each outlet; logos are the publications’ trademarks; NAFSA/JB International analysis via Inside Higher Ed, August 2026</a:t>
            </a:r>
          </a:p>
        </p:txBody>
      </p:sp>
      <p:sp>
        <p:nvSpPr>
          <p:cNvPr id="6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6</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Updated through 2025–2026 where sources publish; regulatory and compliance burden compounds each</a:t>
            </a:r>
          </a:p>
        </p:txBody>
      </p:sp>
      <p:sp>
        <p:nvSpPr>
          <p:cNvPr id="4" name="TextBox 3"/>
          <p:cNvSpPr txBox="1"/>
          <p:nvPr/>
        </p:nvSpPr>
        <p:spPr>
          <a:xfrm>
            <a:off x="457200" y="1645920"/>
            <a:ext cx="3611880" cy="365760"/>
          </a:xfrm>
          <a:prstGeom prst="rect">
            <a:avLst/>
          </a:prstGeom>
          <a:noFill/>
        </p:spPr>
        <p:txBody>
          <a:bodyPr wrap="square" lIns="0" tIns="0" r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2212848"/>
            <a:ext cx="3611880" cy="4023360"/>
          </a:xfrm>
          <a:prstGeom prst="rect">
            <a:avLst/>
          </a:prstGeom>
          <a:noFill/>
        </p:spPr>
        <p:txBody>
          <a:bodyPr wrap="square" lIns="0" tIns="0" rIns="0" bIns="0">
            <a:spAutoFit/>
          </a:bodyPr>
          <a:lstStyle/>
          <a:p>
            <a:pPr marL="171450" indent="-171450">
              <a:spcAft>
                <a:spcPts val="1000"/>
              </a:spcAft>
              <a:buChar char="•"/>
            </a:pPr>
            <a:r>
              <a:rPr sz="1600">
                <a:solidFill>
                  <a:srgbClr val="000000"/>
                </a:solidFill>
                <a:latin typeface="Lato"/>
              </a:rPr>
              <a:t>Federal R&amp;D funding was 0.63% of GDP in 2024 (1.86% at its 1964 peak), about 19% of all U.S. R&amp;D. The federal share of basic and applied research funding fell from 45% to 34% between 2010 and 2022.</a:t>
            </a:r>
          </a:p>
          <a:p>
            <a:pPr marL="171450" indent="-171450">
              <a:spcAft>
                <a:spcPts val="1000"/>
              </a:spcAft>
              <a:buChar char="•"/>
            </a:pPr>
            <a:r>
              <a:rPr sz="1600">
                <a:solidFill>
                  <a:srgbClr val="000000"/>
                </a:solidFill>
                <a:latin typeface="Lato"/>
              </a:rPr>
              <a:t>Congress held NIH at $47.5 billion for FY2026 (+1.0%), $19.6 billion above the President’s request. NSF received $8.75 billion, down 3%.</a:t>
            </a:r>
          </a:p>
          <a:p>
            <a:pPr marL="171450" indent="-171450">
              <a:spcAft>
                <a:spcPts val="1000"/>
              </a:spcAft>
              <a:buChar char="•"/>
            </a:pPr>
            <a:r>
              <a:rPr sz="1600">
                <a:solidFill>
                  <a:srgbClr val="000000"/>
                </a:solidFill>
                <a:latin typeface="Lato"/>
              </a:rPr>
              <a:t>U.S. R&amp;D totaled $937 billion in 2023, with an estimated $993 billion in 2024, driven by business funding.</a:t>
            </a:r>
          </a:p>
        </p:txBody>
      </p:sp>
      <p:sp>
        <p:nvSpPr>
          <p:cNvPr id="7" name="TextBox 6"/>
          <p:cNvSpPr txBox="1"/>
          <p:nvPr/>
        </p:nvSpPr>
        <p:spPr>
          <a:xfrm>
            <a:off x="4288536" y="1645920"/>
            <a:ext cx="3611880" cy="365760"/>
          </a:xfrm>
          <a:prstGeom prst="rect">
            <a:avLst/>
          </a:prstGeom>
          <a:noFill/>
        </p:spPr>
        <p:txBody>
          <a:bodyPr wrap="square" lIns="0" tIns="0" r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2212848"/>
            <a:ext cx="3611880" cy="4023360"/>
          </a:xfrm>
          <a:prstGeom prst="rect">
            <a:avLst/>
          </a:prstGeom>
          <a:noFill/>
        </p:spPr>
        <p:txBody>
          <a:bodyPr wrap="square" lIns="0" tIns="0" rIns="0" bIns="0">
            <a:spAutoFit/>
          </a:bodyPr>
          <a:lstStyle/>
          <a:p>
            <a:pPr marL="171450" indent="-171450">
              <a:spcAft>
                <a:spcPts val="1000"/>
              </a:spcAft>
              <a:buChar char="•"/>
            </a:pPr>
            <a:r>
              <a:rPr sz="1600">
                <a:solidFill>
                  <a:srgbClr val="000000"/>
                </a:solidFill>
                <a:latin typeface="Lato"/>
              </a:rPr>
              <a:t>Federal student loan debt reached a record $1.696 trillion in December 2025, more than triple its 2007 level of $516 billion.</a:t>
            </a:r>
          </a:p>
          <a:p>
            <a:pPr marL="171450" indent="-171450">
              <a:spcAft>
                <a:spcPts val="1000"/>
              </a:spcAft>
              <a:buChar char="•"/>
            </a:pPr>
            <a:r>
              <a:rPr sz="1600">
                <a:solidFill>
                  <a:srgbClr val="000000"/>
                </a:solidFill>
                <a:latin typeface="Lato"/>
              </a:rPr>
              <a:t>Closures ran about ten a year in 2014–2025 versus three a year in 1996–2013 (SHEEO). Nonprofit closure announcements alone reached 15 to 16 a year in 2023–2025.</a:t>
            </a:r>
          </a:p>
          <a:p>
            <a:pPr marL="171450" indent="-171450">
              <a:spcAft>
                <a:spcPts val="1000"/>
              </a:spcAft>
              <a:buChar char="•"/>
            </a:pPr>
            <a:r>
              <a:rPr sz="1600">
                <a:solidFill>
                  <a:srgbClr val="000000"/>
                </a:solidFill>
                <a:latin typeface="Lato"/>
              </a:rPr>
              <a:t>Recent-graduate unemployment was about 5.6% with 42% underemployment in Q2 2026 as AI automates entry-level work. 61.1% of the fall 2019 cohort finished a credential within six years.</a:t>
            </a:r>
          </a:p>
        </p:txBody>
      </p:sp>
      <p:sp>
        <p:nvSpPr>
          <p:cNvPr id="10" name="TextBox 9"/>
          <p:cNvSpPr txBox="1"/>
          <p:nvPr/>
        </p:nvSpPr>
        <p:spPr>
          <a:xfrm>
            <a:off x="8119872" y="1645920"/>
            <a:ext cx="3611880" cy="365760"/>
          </a:xfrm>
          <a:prstGeom prst="rect">
            <a:avLst/>
          </a:prstGeom>
          <a:noFill/>
        </p:spPr>
        <p:txBody>
          <a:bodyPr wrap="square" lIns="0" tIns="0" r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2212848"/>
            <a:ext cx="3611880" cy="4023360"/>
          </a:xfrm>
          <a:prstGeom prst="rect">
            <a:avLst/>
          </a:prstGeom>
          <a:noFill/>
        </p:spPr>
        <p:txBody>
          <a:bodyPr wrap="square" lIns="0" tIns="0" rIns="0" bIns="0">
            <a:spAutoFit/>
          </a:bodyPr>
          <a:lstStyle/>
          <a:p>
            <a:pPr marL="171450" indent="-171450">
              <a:spcAft>
                <a:spcPts val="1000"/>
              </a:spcAft>
              <a:buChar char="•"/>
            </a:pPr>
            <a:r>
              <a:rPr sz="1600">
                <a:solidFill>
                  <a:srgbClr val="000000"/>
                </a:solidFill>
                <a:latin typeface="Lato"/>
              </a:rPr>
              <a:t>Health spending reached 18.0% of GDP in 2024, up 8.2% on the year, and is projected to reach 20.3% by 2033.</a:t>
            </a:r>
          </a:p>
          <a:p>
            <a:pPr marL="171450" indent="-171450">
              <a:spcAft>
                <a:spcPts val="1000"/>
              </a:spcAft>
              <a:buChar char="•"/>
            </a:pPr>
            <a:r>
              <a:rPr sz="1600">
                <a:solidFill>
                  <a:srgbClr val="000000"/>
                </a:solidFill>
                <a:latin typeface="Lato"/>
              </a:rPr>
              <a:t>CMS projects private health insurance enrollment to fall 2.2% in 2026 when enhanced subsidies expire under current law.</a:t>
            </a:r>
          </a:p>
          <a:p>
            <a:pPr marL="171450" indent="-171450">
              <a:spcAft>
                <a:spcPts val="1000"/>
              </a:spcAft>
              <a:buChar char="•"/>
            </a:pPr>
            <a:r>
              <a:rPr sz="1600">
                <a:solidFill>
                  <a:srgbClr val="000000"/>
                </a:solidFill>
                <a:latin typeface="Lato"/>
              </a:rPr>
              <a:t>All reform proposals aim to contain health’s share of GDP, driving structural transformation and a shift from volume to value.</a:t>
            </a:r>
          </a:p>
        </p:txBody>
      </p:sp>
      <p:sp>
        <p:nvSpPr>
          <p:cNvPr id="13" name="TextBox 12"/>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NCSES; CRS (P.L. 119-75); Federal Student Aid; SHEEO; NY Fed; National Student Clearinghouse; CMS Office of the Actuary</a:t>
            </a:r>
          </a:p>
        </p:txBody>
      </p:sp>
      <p:sp>
        <p:nvSpPr>
          <p:cNvPr id="1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7</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tIns="0" r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132320" y="1600200"/>
            <a:ext cx="4572000" cy="274320"/>
          </a:xfrm>
          <a:prstGeom prst="rect">
            <a:avLst/>
          </a:prstGeom>
          <a:noFill/>
        </p:spPr>
        <p:txBody>
          <a:bodyPr wrap="square" lIns="0" tIns="0" r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tIns="0" r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8872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10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tIns="0" r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8872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Demand for elite institutions is projected to drop by much less during 2025 to 2029.</a:t>
            </a:r>
          </a:p>
          <a:p>
            <a:pPr marL="171450" indent="-171450">
              <a:spcAft>
                <a:spcPts val="400"/>
              </a:spcAft>
              <a:buChar char="•"/>
            </a:pPr>
            <a:r>
              <a:rPr sz="11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
        <p:nvSpPr>
          <p:cNvPr id="1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8</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sector grew eightfold from 1870 to 2010, peaked at 4,726 in 2012–13, and has shrunk 18% since</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degree-granting institutions, including branch campuses: start of each decade, the 2012–13 peak, and 2018 and 2022–23</a:t>
            </a:r>
          </a:p>
        </p:txBody>
      </p:sp>
      <p:graphicFrame>
        <p:nvGraphicFramePr>
          <p:cNvPr id="4" name="Chart 3"/>
          <p:cNvGraphicFramePr>
            <a:graphicFrameLocks noGrp="1"/>
          </p:cNvGraphicFramePr>
          <p:nvPr>
            <p:extLst>
              <p:ext uri="{D42A27DB-BD31-4B8C-83A1-F6EECF244321}">
                <p14:modId xmlns:p14="http://schemas.microsoft.com/office/powerpoint/2010/main" val="1506495422"/>
              </p:ext>
            </p:extLst>
          </p:nvPr>
        </p:nvGraphicFramePr>
        <p:xfrm>
          <a:off x="457200" y="1691640"/>
          <a:ext cx="11274552" cy="43434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1234440" y="1920240"/>
            <a:ext cx="5256006"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599" y="1993392"/>
            <a:ext cx="5118847" cy="738664"/>
          </a:xfrm>
          <a:prstGeom prst="rect">
            <a:avLst/>
          </a:prstGeom>
          <a:noFill/>
        </p:spPr>
        <p:txBody>
          <a:bodyPr wrap="square" lIns="0" tIns="0" rIns="0" bIns="0" anchor="t">
            <a:spAutoFit/>
          </a:bodyPr>
          <a:lstStyle/>
          <a:p>
            <a:pPr algn="l"/>
            <a:r>
              <a:rPr sz="1600" b="1" i="0" dirty="0">
                <a:solidFill>
                  <a:srgbClr val="C8102E"/>
                </a:solidFill>
                <a:latin typeface="Lato"/>
              </a:rPr>
              <a:t>2023–24 update</a:t>
            </a:r>
          </a:p>
          <a:p>
            <a:pPr algn="l"/>
            <a:r>
              <a:rPr sz="1600" b="0" i="0" dirty="0">
                <a:solidFill>
                  <a:srgbClr val="000000"/>
                </a:solidFill>
                <a:latin typeface="Lato"/>
              </a:rPr>
              <a:t>All Title IV institutions fell 2%, from 5,918 to 5,819: 161 closed, merged or lost eligibility and 62 were added.</a:t>
            </a:r>
          </a:p>
        </p:txBody>
      </p:sp>
      <p:sp>
        <p:nvSpPr>
          <p:cNvPr id="7" name="TextBox 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 317.10; NCES press release, August 21, 2024 (Title IV institutions)</a:t>
            </a:r>
          </a:p>
        </p:txBody>
      </p:sp>
      <p:sp>
        <p:nvSpPr>
          <p:cNvPr id="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9</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2325445" y="1133011"/>
            <a:ext cx="7772400" cy="502920"/>
          </a:xfrm>
          <a:prstGeom prst="rect">
            <a:avLst/>
          </a:prstGeom>
          <a:noFill/>
        </p:spPr>
        <p:txBody>
          <a:bodyPr wrap="square" rtlCol="0">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Four-year c</a:t>
            </a:r>
            <a:r>
              <a:rPr kumimoji="0" lang="en-US" b="0" i="0" u="none" strike="noStrike" kern="1200" cap="none" spc="0" normalizeH="0" baseline="0" noProof="0" dirty="0" err="1">
                <a:ln>
                  <a:noFill/>
                </a:ln>
                <a:effectLst/>
                <a:uLnTx/>
                <a:uFillTx/>
                <a:latin typeface="Lato" panose="020B0604020202020204" pitchFamily="34" charset="0"/>
                <a:ea typeface="+mn-ea"/>
                <a:cs typeface="Arial" panose="020B0604020202020204" pitchFamily="34" charset="0"/>
              </a:rPr>
              <a:t>olleges</a:t>
            </a: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/universities by country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World Bank; HIPI university list</a:t>
            </a:r>
          </a:p>
        </p:txBody>
      </p:sp>
      <p:sp>
        <p:nvSpPr>
          <p:cNvPr id="11" name="TextBox 10"/>
          <p:cNvSpPr txBox="1"/>
          <p:nvPr/>
        </p:nvSpPr>
        <p:spPr>
          <a:xfrm>
            <a:off x="457200" y="6268212"/>
            <a:ext cx="11274552" cy="132588"/>
          </a:xfrm>
          <a:prstGeom prst="rect">
            <a:avLst/>
          </a:prstGeom>
          <a:noFill/>
        </p:spPr>
        <p:txBody>
          <a:bodyPr wrap="square" lIns="0" rIns="0" tIns="0" bIns="0" anchor="b">
            <a:spAutoFit/>
          </a:bodyPr>
          <a:lstStyle/>
          <a:p>
            <a:pPr algn="l"/>
            <a:r>
              <a:rPr sz="700" b="0" i="0">
                <a:solidFill>
                  <a:srgbClr val="595959"/>
                </a:solidFill>
                <a:latin typeface="Lato"/>
              </a:rPr>
              <a:t>The HIPI list counts 2,349 four-year U.S. institutions; NCES reports 2,628 four-year degree-granting institutions in 2022–23 (a different list and year).</a:t>
            </a:r>
          </a:p>
        </p:txBody>
      </p:sp>
      <p:sp>
        <p:nvSpPr>
          <p:cNvPr id="1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10</a:t>
            </a:fld>
          </a:p>
        </p:txBody>
      </p:sp>
    </p:spTree>
    <p:extLst>
      <p:ext uri="{BB962C8B-B14F-4D97-AF65-F5344CB8AC3E}">
        <p14:creationId xmlns:p14="http://schemas.microsoft.com/office/powerpoint/2010/main" val="2518138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9" y="320040"/>
            <a:ext cx="11161059" cy="369332"/>
          </a:xfrm>
          <a:prstGeom prst="rect">
            <a:avLst/>
          </a:prstGeom>
          <a:noFill/>
        </p:spPr>
        <p:txBody>
          <a:bodyPr wrap="square" lIns="0" tIns="0" rIns="0" bIns="0" anchor="t">
            <a:spAutoFit/>
          </a:bodyPr>
          <a:lstStyle/>
          <a:p>
            <a:pPr algn="l"/>
            <a:r>
              <a:rPr lang="en-US" sz="2400" b="1" i="0" dirty="0">
                <a:solidFill>
                  <a:srgbClr val="000000"/>
                </a:solidFill>
                <a:latin typeface="Lato"/>
              </a:rPr>
              <a:t>And we have more than four times the average per capita of other large countries</a:t>
            </a:r>
            <a:endParaRPr sz="2400" b="1" i="0" dirty="0">
              <a:solidFill>
                <a:srgbClr val="000000"/>
              </a:solidFill>
              <a:latin typeface="Lato"/>
            </a:endParaRPr>
          </a:p>
        </p:txBody>
      </p:sp>
      <p:sp>
        <p:nvSpPr>
          <p:cNvPr id="3" name="TextBox 2"/>
          <p:cNvSpPr txBox="1"/>
          <p:nvPr/>
        </p:nvSpPr>
        <p:spPr>
          <a:xfrm>
            <a:off x="457200" y="1115568"/>
            <a:ext cx="11247120" cy="246221"/>
          </a:xfrm>
          <a:prstGeom prst="rect">
            <a:avLst/>
          </a:prstGeom>
          <a:noFill/>
        </p:spPr>
        <p:txBody>
          <a:bodyPr wrap="square" lIns="0" tIns="0" rIns="0" bIns="0" anchor="t">
            <a:spAutoFit/>
          </a:bodyPr>
          <a:lstStyle/>
          <a:p>
            <a:pPr algn="l"/>
            <a:r>
              <a:rPr sz="1600" b="0" i="0" dirty="0">
                <a:latin typeface="Lato"/>
              </a:rPr>
              <a:t>Colleges and universities per 1 million population, countries with 50 million or more people (n=31); *see note</a:t>
            </a:r>
          </a:p>
        </p:txBody>
      </p:sp>
      <p:graphicFrame>
        <p:nvGraphicFramePr>
          <p:cNvPr id="4" name="Chart 3"/>
          <p:cNvGraphicFramePr>
            <a:graphicFrameLocks noGrp="1"/>
          </p:cNvGraphicFramePr>
          <p:nvPr>
            <p:extLst>
              <p:ext uri="{D42A27DB-BD31-4B8C-83A1-F6EECF244321}">
                <p14:modId xmlns:p14="http://schemas.microsoft.com/office/powerpoint/2010/main" val="1631163607"/>
              </p:ext>
            </p:extLst>
          </p:nvPr>
        </p:nvGraphicFramePr>
        <p:xfrm>
          <a:off x="457200" y="1600200"/>
          <a:ext cx="11274552" cy="42062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5120640" y="2011680"/>
            <a:ext cx="6217920" cy="914400"/>
          </a:xfrm>
          <a:prstGeom prst="rect">
            <a:avLst/>
          </a:prstGeom>
          <a:noFill/>
        </p:spPr>
        <p:txBody>
          <a:bodyPr wrap="square" lIns="0" tIns="0" rIns="0" bIns="0" anchor="t">
            <a:spAutoFit/>
          </a:bodyPr>
          <a:lstStyle/>
          <a:p>
            <a:pPr algn="l"/>
            <a:r>
              <a:rPr sz="1200" b="0" i="0" dirty="0">
                <a:solidFill>
                  <a:srgbClr val="000000"/>
                </a:solidFill>
                <a:latin typeface="Lato"/>
              </a:rPr>
              <a:t>Korea (4.71), Japan (4.61) and France (4.33) come closest, at 63% to 68% of the U.S. rate. The U.S. has 2,349 four-year institutions versus 572 in Japan.</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World Bank; HIPI university list; AISHE 2021–22 (India); China Ministry of Education (2024)</a:t>
            </a:r>
          </a:p>
        </p:txBody>
      </p:sp>
      <p:sp>
        <p:nvSpPr>
          <p:cNvPr id="7" name="TextBox 6"/>
          <p:cNvSpPr txBox="1"/>
          <p:nvPr/>
        </p:nvSpPr>
        <p:spPr>
          <a:xfrm>
            <a:off x="457200" y="6039612"/>
            <a:ext cx="11274552" cy="361188"/>
          </a:xfrm>
          <a:prstGeom prst="rect">
            <a:avLst/>
          </a:prstGeom>
          <a:noFill/>
        </p:spPr>
        <p:txBody>
          <a:bodyPr wrap="square" lIns="0" rIns="0" tIns="0" bIns="0" anchor="b">
            <a:spAutoFit/>
          </a:bodyPr>
          <a:lstStyle/>
          <a:p>
            <a:pPr algn="l"/>
            <a:r>
              <a:rPr sz="700" b="0" i="0">
                <a:solidFill>
                  <a:srgbClr val="595959"/>
                </a:solidFill>
                <a:latin typeface="Lato"/>
              </a:rPr>
              <a:t>*India (0.80 per million) is 1,168 universities (AISHE 2021–22) ÷ 1,451 million people; China (2.21) is 3,117 institutions of higher learning (Ministry of Education, 2024, including 1,560 vocational and technical colleges) ÷ 1,409 million. These official national counts are not like-for-like with the HIPI list of four-year institutions used for the other countries; on the HIPI basis India is 0.33 (474 institutions) and China 0.28 (398). Average of the 31 countries shown = 1.63.</a:t>
            </a:r>
          </a:p>
        </p:txBody>
      </p:sp>
      <p:sp>
        <p:nvSpPr>
          <p:cNvPr id="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82 college closures since 2015, 53 of them since 2023</a:t>
            </a:r>
          </a:p>
        </p:txBody>
      </p:sp>
      <p:graphicFrame>
        <p:nvGraphicFramePr>
          <p:cNvPr id="7" name="Chart 6">
            <a:extLst>
              <a:ext uri="{FF2B5EF4-FFF2-40B4-BE49-F238E27FC236}">
                <a16:creationId xmlns:a16="http://schemas.microsoft.com/office/drawing/2014/main" id="{9679DFC2-0AA5-0A25-79F3-4CC65DD850F7}"/>
              </a:ext>
            </a:extLst>
          </p:cNvPr>
          <p:cNvGraphicFramePr/>
          <p:nvPr>
            <p:extLst>
              <p:ext uri="{D42A27DB-BD31-4B8C-83A1-F6EECF244321}">
                <p14:modId xmlns:p14="http://schemas.microsoft.com/office/powerpoint/2010/main" val="2351327601"/>
              </p:ext>
            </p:extLst>
          </p:nvPr>
        </p:nvGraphicFramePr>
        <p:xfrm>
          <a:off x="9026696" y="4858286"/>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686486" y="4550509"/>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
        <p:nvSpPr>
          <p:cNvPr id="9" name="2026 closure: University of Valley Forge (Phoenixville, PA)"/>
          <p:cNvSpPr/>
          <p:nvPr/>
        </p:nvSpPr>
        <p:spPr>
          <a:xfrm>
            <a:off x="9635715" y="296123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2026 closure: Anna Maria College (Paxton, MA)"/>
          <p:cNvSpPr/>
          <p:nvPr/>
        </p:nvSpPr>
        <p:spPr>
          <a:xfrm>
            <a:off x="10268181" y="2508969"/>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2026 closure: Hampshire College (Amherst, MA)"/>
          <p:cNvSpPr/>
          <p:nvPr/>
        </p:nvSpPr>
        <p:spPr>
          <a:xfrm>
            <a:off x="10162181" y="2506895"/>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2026 closure: Labouré College of Healthcare (Milton, MA)"/>
          <p:cNvSpPr/>
          <p:nvPr/>
        </p:nvSpPr>
        <p:spPr>
          <a:xfrm>
            <a:off x="10420114" y="252141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2026 closure: Lourdes University (Sylvania, OH)"/>
          <p:cNvSpPr/>
          <p:nvPr/>
        </p:nvSpPr>
        <p:spPr>
          <a:xfrm>
            <a:off x="8187049" y="2631372"/>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2026 closure: California College of the Arts (San Francisco, CA)"/>
          <p:cNvSpPr/>
          <p:nvPr/>
        </p:nvSpPr>
        <p:spPr>
          <a:xfrm>
            <a:off x="1348288" y="3450848"/>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egend 2026"/>
          <p:cNvSpPr/>
          <p:nvPr/>
        </p:nvSpPr>
        <p:spPr>
          <a:xfrm>
            <a:off x="3062154" y="611055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36031" y="6094555"/>
            <a:ext cx="457200" cy="146304"/>
          </a:xfrm>
          <a:prstGeom prst="rect">
            <a:avLst/>
          </a:prstGeom>
          <a:noFill/>
        </p:spPr>
        <p:txBody>
          <a:bodyPr wrap="none" lIns="0" rIns="0" tIns="0" bIns="0" anchor="ctr">
            <a:spAutoFit/>
          </a:bodyPr>
          <a:lstStyle/>
          <a:p>
            <a:r>
              <a:rPr sz="750">
                <a:solidFill>
                  <a:srgbClr val="000000"/>
                </a:solidFill>
                <a:latin typeface="Lato"/>
              </a:rPr>
              <a:t>2026*</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Inside Higher Ed closure tallies (2023–2025); University Business closings tracker (2026); Northeastern analysis</a:t>
            </a:r>
          </a:p>
        </p:txBody>
      </p:sp>
      <p:sp>
        <p:nvSpPr>
          <p:cNvPr id="18" name="TextBox 17"/>
          <p:cNvSpPr txBox="1"/>
          <p:nvPr/>
        </p:nvSpPr>
        <p:spPr>
          <a:xfrm>
            <a:off x="3703320" y="5989320"/>
            <a:ext cx="5212080" cy="411480"/>
          </a:xfrm>
          <a:prstGeom prst="rect">
            <a:avLst/>
          </a:prstGeom>
          <a:noFill/>
        </p:spPr>
        <p:txBody>
          <a:bodyPr wrap="square" lIns="0" rIns="0" tIns="0" bIns="0" anchor="b">
            <a:spAutoFit/>
          </a:bodyPr>
          <a:lstStyle/>
          <a:p>
            <a:pPr algn="l"/>
            <a:r>
              <a:rPr sz="700" b="0" i="0">
                <a:solidFill>
                  <a:srgbClr val="595959"/>
                </a:solidFill>
                <a:latin typeface="Lato"/>
              </a:rPr>
              <a:t>Nonprofit institutions announcing closure each year. 2025 = 16 (Inside Higher Ed, Dec. 2025). *2026 through July 31 (University Business): Hampshire, Anna Maria, Labouré, Lourdes, California College of the Arts, Valley Forge. Other trackers count 8–9 by closing year.</a:t>
            </a:r>
          </a:p>
        </p:txBody>
      </p:sp>
      <p:sp>
        <p:nvSpPr>
          <p:cNvPr id="1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12</a:t>
            </a:fld>
          </a:p>
        </p:txBody>
      </p:sp>
    </p:spTree>
    <p:extLst>
      <p:ext uri="{BB962C8B-B14F-4D97-AF65-F5344CB8AC3E}">
        <p14:creationId xmlns:p14="http://schemas.microsoft.com/office/powerpoint/2010/main" val="17324613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R&amp;D funding by source as a percent of GDP, 1953–2024</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2887883" y="2212848"/>
            <a:ext cx="0" cy="3112617"/>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pic>
        <p:nvPicPr>
          <p:cNvPr id="6" name="Picture 5" descr="medicare.jpg"/>
          <p:cNvPicPr>
            <a:picLocks noChangeAspect="1"/>
          </p:cNvPicPr>
          <p:nvPr/>
        </p:nvPicPr>
        <p:blipFill>
          <a:blip r:embed="rId3"/>
          <a:stretch>
            <a:fillRect/>
          </a:stretch>
        </p:blipFill>
        <p:spPr>
          <a:xfrm>
            <a:off x="2979323" y="2212848"/>
            <a:ext cx="1188720" cy="794956"/>
          </a:xfrm>
          <a:prstGeom prst="rect">
            <a:avLst/>
          </a:prstGeom>
        </p:spPr>
      </p:pic>
      <p:sp>
        <p:nvSpPr>
          <p:cNvPr id="7" name="TextBox 6"/>
          <p:cNvSpPr txBox="1"/>
          <p:nvPr/>
        </p:nvSpPr>
        <p:spPr>
          <a:xfrm>
            <a:off x="4259483" y="2212848"/>
            <a:ext cx="2194560" cy="822960"/>
          </a:xfrm>
          <a:prstGeom prst="rect">
            <a:avLst/>
          </a:prstGeom>
          <a:noFill/>
        </p:spPr>
        <p:txBody>
          <a:bodyPr wrap="square" lIns="0" tIns="0" rIns="0" bIns="0" anchor="t">
            <a:spAutoFit/>
          </a:bodyPr>
          <a:lstStyle/>
          <a:p>
            <a:pPr algn="l"/>
            <a:r>
              <a:rPr sz="1000" b="1" i="0">
                <a:solidFill>
                  <a:srgbClr val="C8102E"/>
                </a:solidFill>
                <a:latin typeface="Lato"/>
              </a:rPr>
              <a:t>1965: Medicare enacted</a:t>
            </a:r>
          </a:p>
          <a:p>
            <a:pPr algn="l"/>
            <a:r>
              <a:rPr sz="1000" b="0" i="0">
                <a:solidFill>
                  <a:srgbClr val="000000"/>
                </a:solidFill>
                <a:latin typeface="Lato"/>
              </a:rPr>
              <a:t>President Johnson signs the bill with former President Truman (LBJ Library)</a:t>
            </a:r>
          </a:p>
        </p:txBody>
      </p:sp>
      <p:sp>
        <p:nvSpPr>
          <p:cNvPr id="8" name="Oval 7"/>
          <p:cNvSpPr/>
          <p:nvPr/>
        </p:nvSpPr>
        <p:spPr>
          <a:xfrm>
            <a:off x="2823875" y="3485304"/>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060583" y="4410722"/>
            <a:ext cx="0" cy="435598"/>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996575" y="4213726"/>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52023" y="4846320"/>
            <a:ext cx="2377440" cy="548640"/>
          </a:xfrm>
          <a:prstGeom prst="rect">
            <a:avLst/>
          </a:prstGeom>
          <a:noFill/>
        </p:spPr>
        <p:txBody>
          <a:bodyPr wrap="square" lIns="0" tIns="0" rIns="0" bIns="0" anchor="t">
            <a:spAutoFit/>
          </a:bodyPr>
          <a:lstStyle/>
          <a:p>
            <a:pPr algn="l"/>
            <a:r>
              <a:rPr sz="1000" b="1" i="0">
                <a:solidFill>
                  <a:srgbClr val="C8102E"/>
                </a:solidFill>
                <a:latin typeface="Lato"/>
              </a:rPr>
              <a:t>1980: Bayh-Dole Act</a:t>
            </a:r>
          </a:p>
          <a:p>
            <a:pPr algn="l"/>
            <a:r>
              <a:rPr sz="1000" b="0" i="0">
                <a:solidFill>
                  <a:srgbClr val="000000"/>
                </a:solidFill>
                <a:latin typeface="Lato"/>
              </a:rPr>
              <a:t>Universities may patent federally funded research</a:t>
            </a:r>
          </a:p>
        </p:txBody>
      </p:sp>
      <p:cxnSp>
        <p:nvCxnSpPr>
          <p:cNvPr id="12" name="Connector 11"/>
          <p:cNvCxnSpPr/>
          <p:nvPr/>
        </p:nvCxnSpPr>
        <p:spPr>
          <a:xfrm>
            <a:off x="9261137" y="4610290"/>
            <a:ext cx="0" cy="236030"/>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197129" y="4393337"/>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792257" y="4846320"/>
            <a:ext cx="2377440" cy="548640"/>
          </a:xfrm>
          <a:prstGeom prst="rect">
            <a:avLst/>
          </a:prstGeom>
          <a:noFill/>
        </p:spPr>
        <p:txBody>
          <a:bodyPr wrap="square" lIns="0" tIns="0" rIns="0" bIns="0" anchor="t">
            <a:spAutoFit/>
          </a:bodyPr>
          <a:lstStyle/>
          <a:p>
            <a:pPr algn="r"/>
            <a:r>
              <a:rPr sz="1000" b="1" i="0">
                <a:solidFill>
                  <a:srgbClr val="C8102E"/>
                </a:solidFill>
                <a:latin typeface="Lato"/>
              </a:rPr>
              <a:t>2009: Recovery Act (ARRA)</a:t>
            </a:r>
          </a:p>
          <a:p>
            <a:pPr algn="r"/>
            <a:r>
              <a:rPr sz="1000" b="0" i="0">
                <a:solidFill>
                  <a:srgbClr val="000000"/>
                </a:solidFill>
                <a:latin typeface="Lato"/>
              </a:rPr>
              <a:t>Temporary federal R&amp;D bump</a:t>
            </a:r>
          </a:p>
        </p:txBody>
      </p:sp>
      <p:sp>
        <p:nvSpPr>
          <p:cNvPr id="15" name="Rectangle 14"/>
          <p:cNvSpPr/>
          <p:nvPr/>
        </p:nvSpPr>
        <p:spPr>
          <a:xfrm>
            <a:off x="7040880" y="2194560"/>
            <a:ext cx="265176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50608" y="2249424"/>
            <a:ext cx="2468880" cy="822960"/>
          </a:xfrm>
          <a:prstGeom prst="rect">
            <a:avLst/>
          </a:prstGeom>
          <a:noFill/>
        </p:spPr>
        <p:txBody>
          <a:bodyPr wrap="square" lIns="0" tIns="0" rIns="0" bIns="0" anchor="t">
            <a:spAutoFit/>
          </a:bodyPr>
          <a:lstStyle/>
          <a:p>
            <a:pPr algn="l"/>
            <a:r>
              <a:rPr sz="1000" b="1" i="0">
                <a:solidFill>
                  <a:srgbClr val="C8102E"/>
                </a:solidFill>
                <a:latin typeface="Lato"/>
              </a:rPr>
              <a:t>2024</a:t>
            </a:r>
          </a:p>
          <a:p>
            <a:pPr algn="l"/>
            <a:r>
              <a:rPr sz="1000" b="0" i="0">
                <a:solidFill>
                  <a:srgbClr val="000000"/>
                </a:solidFill>
                <a:latin typeface="Lato"/>
              </a:rPr>
              <a:t>Total U.S. R&amp;D was 3.39% of GDP: business 2.54%, federal 0.63%, other nonfederal 0.22%.</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National Patterns of R&amp;D Resources (NSF 26-314, figure 3), 2024 estimate; photo: LBJ Library, public domain</a:t>
            </a:r>
          </a:p>
        </p:txBody>
      </p:sp>
      <p:sp>
        <p:nvSpPr>
          <p:cNvPr id="1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13</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regulation has grown from 9,745 pages in 1950 to 194,395 in 2024, twentyfold</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Total pages in the Code of Federal Regulations, 1950–2024. At one page a day, the full Code would take 533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George Washington University Regulatory Studies Center, Reg-Stats (Federal Register statistics; GovInfo for 2024)</a:t>
            </a:r>
          </a:p>
        </p:txBody>
      </p:sp>
      <p:sp>
        <p:nvSpPr>
          <p:cNvPr id="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14</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tIns="0" r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Senator Lamar Alexander</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15</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Scorecard scatter [PEER_KEEP]"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Leader Yale University [PEER_KEEP]"/>
          <p:cNvCxnSpPr/>
          <p:nvPr/>
        </p:nvCxnSpPr>
        <p:spPr>
          <a:xfrm>
            <a:off x="5421464" y="2627416"/>
            <a:ext cx="475488" cy="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9" name="Leader Georgetown University [PEER_KEEP]"/>
          <p:cNvCxnSpPr/>
          <p:nvPr/>
        </p:nvCxnSpPr>
        <p:spPr>
          <a:xfrm flipV="1">
            <a:off x="8369649" y="2425491"/>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0" name="Leader Stevens Institute of Technology [PEER_KEEP]"/>
          <p:cNvCxnSpPr/>
          <p:nvPr/>
        </p:nvCxnSpPr>
        <p:spPr>
          <a:xfrm flipV="1">
            <a:off x="8442384" y="2247550"/>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1" name="Leader University of Pennsylvania [PEER_KEEP]"/>
          <p:cNvCxnSpPr/>
          <p:nvPr/>
        </p:nvCxnSpPr>
        <p:spPr>
          <a:xfrm flipV="1">
            <a:off x="6267433" y="1881057"/>
            <a:ext cx="479865" cy="479865"/>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2" name="Leader California Polytechnic State University-San Luis Obispo [PEER_KEEP]"/>
          <p:cNvCxnSpPr/>
          <p:nvPr/>
        </p:nvCxnSpPr>
        <p:spPr>
          <a:xfrm>
            <a:off x="4160047" y="2877480"/>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3" name="Leader Colorado School of Mines [PEER_KEEP]"/>
          <p:cNvCxnSpPr/>
          <p:nvPr/>
        </p:nvCxnSpPr>
        <p:spPr>
          <a:xfrm flipV="1">
            <a:off x="6246474" y="1987095"/>
            <a:ext cx="0" cy="68580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4" name="Leader Columbia University in the City of New York [PEER_KEEP]"/>
          <p:cNvCxnSpPr/>
          <p:nvPr/>
        </p:nvCxnSpPr>
        <p:spPr>
          <a:xfrm flipH="1" flipV="1">
            <a:off x="4662527" y="2230731"/>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5" name="Leader SUNY Maritime College [PEER_KEEP]"/>
          <p:cNvCxnSpPr/>
          <p:nvPr/>
        </p:nvCxnSpPr>
        <p:spPr>
          <a:xfrm flipV="1">
            <a:off x="5149387" y="2228961"/>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6" name="Leader University of Southern California [PEER_KEEP]"/>
          <p:cNvCxnSpPr/>
          <p:nvPr/>
        </p:nvCxnSpPr>
        <p:spPr>
          <a:xfrm>
            <a:off x="6968576" y="2830003"/>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7" name="Leader Missouri University of Science and Technology [PEER_KEEP]"/>
          <p:cNvCxnSpPr/>
          <p:nvPr/>
        </p:nvCxnSpPr>
        <p:spPr>
          <a:xfrm flipH="1">
            <a:off x="3859541" y="3047529"/>
            <a:ext cx="217432" cy="217432"/>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8" name="Leader Johns Hopkins University [PEER_KEEP]"/>
          <p:cNvCxnSpPr/>
          <p:nvPr/>
        </p:nvCxnSpPr>
        <p:spPr>
          <a:xfrm>
            <a:off x="4532047" y="2950734"/>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9" name="Leader Dartmouth College [PEER_KEEP]"/>
          <p:cNvCxnSpPr/>
          <p:nvPr/>
        </p:nvCxnSpPr>
        <p:spPr>
          <a:xfrm>
            <a:off x="6390312" y="2725502"/>
            <a:ext cx="0" cy="68580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0" name="Leader Cornell University [PEER_KEEP]"/>
          <p:cNvCxnSpPr/>
          <p:nvPr/>
        </p:nvCxnSpPr>
        <p:spPr>
          <a:xfrm flipH="1" flipV="1">
            <a:off x="6112057" y="2412974"/>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1" name="Leader Boston College [PEER_KEEP]"/>
          <p:cNvCxnSpPr/>
          <p:nvPr/>
        </p:nvCxnSpPr>
        <p:spPr>
          <a:xfrm flipH="1" flipV="1">
            <a:off x="8370082" y="2415391"/>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2" name="Leader Claremont McKenna College [PEER_KEEP]"/>
          <p:cNvCxnSpPr/>
          <p:nvPr/>
        </p:nvCxnSpPr>
        <p:spPr>
          <a:xfrm flipV="1">
            <a:off x="6293459" y="2179547"/>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3" name="Leader Yeshiva University [PEER_KEEP]"/>
          <p:cNvCxnSpPr/>
          <p:nvPr/>
        </p:nvCxnSpPr>
        <p:spPr>
          <a:xfrm flipH="1" flipV="1">
            <a:off x="9803427" y="3158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4" name="Leader Massachusetts Maritime Academy [PEER_KEEP]"/>
          <p:cNvCxnSpPr/>
          <p:nvPr/>
        </p:nvCxnSpPr>
        <p:spPr>
          <a:xfrm>
            <a:off x="5032581" y="3060410"/>
            <a:ext cx="217432" cy="217433"/>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25" name="Leader Illinois Institute of Technology [PEER_KEEP]"/>
          <p:cNvCxnSpPr/>
          <p:nvPr/>
        </p:nvCxnSpPr>
        <p:spPr>
          <a:xfrm flipV="1">
            <a:off x="4465420" y="2533533"/>
            <a:ext cx="0" cy="475488"/>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6" name="Leader Fairfield University [PEER_KEEP]"/>
          <p:cNvCxnSpPr/>
          <p:nvPr/>
        </p:nvCxnSpPr>
        <p:spPr>
          <a:xfrm flipV="1">
            <a:off x="9632782" y="2658224"/>
            <a:ext cx="217433" cy="21743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7" name="Leader Washington University in St Louis [PEER_KEEP]"/>
          <p:cNvCxnSpPr/>
          <p:nvPr/>
        </p:nvCxnSpPr>
        <p:spPr>
          <a:xfrm flipH="1" flipV="1">
            <a:off x="4914162" y="2820188"/>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8" name="Leader Vanderbilt University [PEER_KEEP]"/>
          <p:cNvCxnSpPr/>
          <p:nvPr/>
        </p:nvCxnSpPr>
        <p:spPr>
          <a:xfrm flipH="1">
            <a:off x="3883528" y="2851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9" name="Leader Cal Poly Maritime Academy [PEER_KEEP]"/>
          <p:cNvCxnSpPr/>
          <p:nvPr/>
        </p:nvCxnSpPr>
        <p:spPr>
          <a:xfrm>
            <a:off x="4862423" y="2758487"/>
            <a:ext cx="475488" cy="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sp>
        <p:nvSpPr>
          <p:cNvPr id="30" name="Label Harvard University [PEER_KEEP]"/>
          <p:cNvSpPr txBox="1"/>
          <p:nvPr/>
        </p:nvSpPr>
        <p:spPr>
          <a:xfrm>
            <a:off x="4649791" y="2529562"/>
            <a:ext cx="4248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Harvard</a:t>
            </a:r>
          </a:p>
        </p:txBody>
      </p:sp>
      <p:sp>
        <p:nvSpPr>
          <p:cNvPr id="31" name="Label Massachusetts Institute of Technology [PEER_KEEP]"/>
          <p:cNvSpPr txBox="1"/>
          <p:nvPr/>
        </p:nvSpPr>
        <p:spPr>
          <a:xfrm>
            <a:off x="4831106" y="1582148"/>
            <a:ext cx="25247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MIT</a:t>
            </a:r>
          </a:p>
        </p:txBody>
      </p:sp>
      <p:sp>
        <p:nvSpPr>
          <p:cNvPr id="32" name="Label Stanford University [PEER_KEEP]"/>
          <p:cNvSpPr txBox="1"/>
          <p:nvPr/>
        </p:nvSpPr>
        <p:spPr>
          <a:xfrm>
            <a:off x="3148893" y="2021987"/>
            <a:ext cx="44211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Stanford</a:t>
            </a:r>
          </a:p>
        </p:txBody>
      </p:sp>
      <p:sp>
        <p:nvSpPr>
          <p:cNvPr id="33" name="Label Princeton University [PEER_KEEP]"/>
          <p:cNvSpPr txBox="1"/>
          <p:nvPr/>
        </p:nvSpPr>
        <p:spPr>
          <a:xfrm>
            <a:off x="2404952" y="2341492"/>
            <a:ext cx="4855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Princeton</a:t>
            </a:r>
          </a:p>
        </p:txBody>
      </p:sp>
      <p:sp>
        <p:nvSpPr>
          <p:cNvPr id="34" name="Label United States Merchant Marine Academy [PEER_KEEP]"/>
          <p:cNvSpPr txBox="1"/>
          <p:nvPr/>
        </p:nvSpPr>
        <p:spPr>
          <a:xfrm>
            <a:off x="2412933" y="2785070"/>
            <a:ext cx="5116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U.S. MMA</a:t>
            </a:r>
          </a:p>
        </p:txBody>
      </p:sp>
      <p:sp>
        <p:nvSpPr>
          <p:cNvPr id="35" name="Label Georgia Institute of Technology-Main Campus [PEER_KEEP]"/>
          <p:cNvSpPr txBox="1"/>
          <p:nvPr/>
        </p:nvSpPr>
        <p:spPr>
          <a:xfrm>
            <a:off x="3421969" y="2388002"/>
            <a:ext cx="4253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GA Tech</a:t>
            </a:r>
          </a:p>
        </p:txBody>
      </p:sp>
      <p:sp>
        <p:nvSpPr>
          <p:cNvPr id="36" name="Label Yale University [PEER_KEEP]"/>
          <p:cNvSpPr txBox="1"/>
          <p:nvPr/>
        </p:nvSpPr>
        <p:spPr>
          <a:xfrm>
            <a:off x="5896952" y="2558836"/>
            <a:ext cx="25365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Yale</a:t>
            </a:r>
          </a:p>
        </p:txBody>
      </p:sp>
      <p:sp>
        <p:nvSpPr>
          <p:cNvPr id="37" name="Label Georgetown University [PEER_KEEP]"/>
          <p:cNvSpPr txBox="1"/>
          <p:nvPr/>
        </p:nvSpPr>
        <p:spPr>
          <a:xfrm>
            <a:off x="8484668" y="2288331"/>
            <a:ext cx="59648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Georgetown</a:t>
            </a:r>
          </a:p>
        </p:txBody>
      </p:sp>
      <p:sp>
        <p:nvSpPr>
          <p:cNvPr id="38" name="Label Stevens Institute of Technology [PEER_KEEP]"/>
          <p:cNvSpPr txBox="1"/>
          <p:nvPr/>
        </p:nvSpPr>
        <p:spPr>
          <a:xfrm>
            <a:off x="7989299" y="2110390"/>
            <a:ext cx="90616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Stevens Inst of Tech</a:t>
            </a:r>
          </a:p>
        </p:txBody>
      </p:sp>
      <p:sp>
        <p:nvSpPr>
          <p:cNvPr id="39" name="Label Worcester Polytechnic Institute [PEER_KEEP]"/>
          <p:cNvSpPr txBox="1"/>
          <p:nvPr/>
        </p:nvSpPr>
        <p:spPr>
          <a:xfrm>
            <a:off x="7977285" y="2611661"/>
            <a:ext cx="71319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Worcester Poly</a:t>
            </a:r>
          </a:p>
        </p:txBody>
      </p:sp>
      <p:sp>
        <p:nvSpPr>
          <p:cNvPr id="40" name="Label University of Pennsylvania [PEER_KEEP]"/>
          <p:cNvSpPr txBox="1"/>
          <p:nvPr/>
        </p:nvSpPr>
        <p:spPr>
          <a:xfrm>
            <a:off x="6747298" y="1743897"/>
            <a:ext cx="38658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 Penn</a:t>
            </a:r>
          </a:p>
        </p:txBody>
      </p:sp>
      <p:sp>
        <p:nvSpPr>
          <p:cNvPr id="41" name="Label Berea College [PEER_KEEP]"/>
          <p:cNvSpPr txBox="1"/>
          <p:nvPr/>
        </p:nvSpPr>
        <p:spPr>
          <a:xfrm>
            <a:off x="1930060" y="3867113"/>
            <a:ext cx="3247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Berea</a:t>
            </a:r>
          </a:p>
        </p:txBody>
      </p:sp>
      <p:sp>
        <p:nvSpPr>
          <p:cNvPr id="42" name="Label CUNY Bernard M Baruch College [PEER_KEEP]"/>
          <p:cNvSpPr txBox="1"/>
          <p:nvPr/>
        </p:nvSpPr>
        <p:spPr>
          <a:xfrm>
            <a:off x="1867947" y="3118826"/>
            <a:ext cx="11392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CUNY Bernard M Baruch</a:t>
            </a:r>
          </a:p>
        </p:txBody>
      </p:sp>
      <p:sp>
        <p:nvSpPr>
          <p:cNvPr id="43" name="Label California Polytechnic State University-San Luis Obispo [PEER_KEEP]"/>
          <p:cNvSpPr txBox="1"/>
          <p:nvPr/>
        </p:nvSpPr>
        <p:spPr>
          <a:xfrm>
            <a:off x="3948795" y="3352968"/>
            <a:ext cx="42250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Poly</a:t>
            </a:r>
          </a:p>
        </p:txBody>
      </p:sp>
      <p:sp>
        <p:nvSpPr>
          <p:cNvPr id="44" name="Label University of Virginia-Main Campus [PEER_KEEP]"/>
          <p:cNvSpPr txBox="1"/>
          <p:nvPr/>
        </p:nvSpPr>
        <p:spPr>
          <a:xfrm>
            <a:off x="4662405" y="2870498"/>
            <a:ext cx="2746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UVA</a:t>
            </a:r>
          </a:p>
        </p:txBody>
      </p:sp>
      <p:sp>
        <p:nvSpPr>
          <p:cNvPr id="45" name="Label Bryant University [PEER_KEEP]"/>
          <p:cNvSpPr txBox="1"/>
          <p:nvPr/>
        </p:nvSpPr>
        <p:spPr>
          <a:xfrm>
            <a:off x="8493500" y="2798796"/>
            <a:ext cx="45863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Bryant U</a:t>
            </a:r>
          </a:p>
        </p:txBody>
      </p:sp>
      <p:sp>
        <p:nvSpPr>
          <p:cNvPr id="46" name="Label California Institute of Technology [PEER_KEEP]"/>
          <p:cNvSpPr txBox="1"/>
          <p:nvPr/>
        </p:nvSpPr>
        <p:spPr>
          <a:xfrm>
            <a:off x="4130830" y="1919710"/>
            <a:ext cx="43342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 Tech</a:t>
            </a:r>
          </a:p>
        </p:txBody>
      </p:sp>
      <p:sp>
        <p:nvSpPr>
          <p:cNvPr id="47" name="Label Duke University [PEER_KEEP]"/>
          <p:cNvSpPr txBox="1"/>
          <p:nvPr/>
        </p:nvSpPr>
        <p:spPr>
          <a:xfrm>
            <a:off x="6053688" y="2740932"/>
            <a:ext cx="3015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Duke</a:t>
            </a:r>
          </a:p>
        </p:txBody>
      </p:sp>
      <p:sp>
        <p:nvSpPr>
          <p:cNvPr id="48" name="Label Rice University [PEER_KEEP]"/>
          <p:cNvSpPr txBox="1"/>
          <p:nvPr/>
        </p:nvSpPr>
        <p:spPr>
          <a:xfrm>
            <a:off x="3257172" y="2805407"/>
            <a:ext cx="2580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Rice</a:t>
            </a:r>
          </a:p>
        </p:txBody>
      </p:sp>
      <p:sp>
        <p:nvSpPr>
          <p:cNvPr id="49" name="Label Colorado School of Mines [PEER_KEEP]"/>
          <p:cNvSpPr txBox="1"/>
          <p:nvPr/>
        </p:nvSpPr>
        <p:spPr>
          <a:xfrm>
            <a:off x="5856989" y="1849935"/>
            <a:ext cx="7789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Col Sch of Mines</a:t>
            </a:r>
          </a:p>
        </p:txBody>
      </p:sp>
      <p:sp>
        <p:nvSpPr>
          <p:cNvPr id="50" name="Label Naropa University [PEER_KEEP]"/>
          <p:cNvSpPr txBox="1"/>
          <p:nvPr/>
        </p:nvSpPr>
        <p:spPr>
          <a:xfrm>
            <a:off x="6404471" y="4196103"/>
            <a:ext cx="48930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Naropa U</a:t>
            </a:r>
          </a:p>
        </p:txBody>
      </p:sp>
      <p:sp>
        <p:nvSpPr>
          <p:cNvPr id="51" name="Label Sacred Heart University [PEER_KEEP]"/>
          <p:cNvSpPr txBox="1"/>
          <p:nvPr/>
        </p:nvSpPr>
        <p:spPr>
          <a:xfrm>
            <a:off x="8596197" y="3259405"/>
            <a:ext cx="632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Sacred Heart</a:t>
            </a:r>
          </a:p>
        </p:txBody>
      </p:sp>
      <p:sp>
        <p:nvSpPr>
          <p:cNvPr id="52" name="Label Bentley University [PEER_KEEP]"/>
          <p:cNvSpPr txBox="1"/>
          <p:nvPr/>
        </p:nvSpPr>
        <p:spPr>
          <a:xfrm>
            <a:off x="7604267" y="1951410"/>
            <a:ext cx="4908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Bentley U</a:t>
            </a:r>
          </a:p>
        </p:txBody>
      </p:sp>
      <p:sp>
        <p:nvSpPr>
          <p:cNvPr id="53" name="Label Carnegie Mellon University [PEER_KEEP]"/>
          <p:cNvSpPr txBox="1"/>
          <p:nvPr/>
        </p:nvSpPr>
        <p:spPr>
          <a:xfrm>
            <a:off x="6884219" y="2232148"/>
            <a:ext cx="76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Carnegie Mellon</a:t>
            </a:r>
          </a:p>
        </p:txBody>
      </p:sp>
      <p:sp>
        <p:nvSpPr>
          <p:cNvPr id="54" name="Label Columbia University in the City of New York [PEER_KEEP]"/>
          <p:cNvSpPr txBox="1"/>
          <p:nvPr/>
        </p:nvSpPr>
        <p:spPr>
          <a:xfrm>
            <a:off x="4180015" y="2093571"/>
            <a:ext cx="48251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Columbia</a:t>
            </a:r>
          </a:p>
        </p:txBody>
      </p:sp>
      <p:sp>
        <p:nvSpPr>
          <p:cNvPr id="55" name="Label SUNY Maritime College [PEER_KEEP]"/>
          <p:cNvSpPr txBox="1"/>
          <p:nvPr/>
        </p:nvSpPr>
        <p:spPr>
          <a:xfrm>
            <a:off x="4780400" y="2091801"/>
            <a:ext cx="73797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SUNY Maritime</a:t>
            </a:r>
          </a:p>
        </p:txBody>
      </p:sp>
      <p:sp>
        <p:nvSpPr>
          <p:cNvPr id="56" name="Label University of Southern California [PEER_KEEP]"/>
          <p:cNvSpPr txBox="1"/>
          <p:nvPr/>
        </p:nvSpPr>
        <p:spPr>
          <a:xfrm>
            <a:off x="7083596" y="2945023"/>
            <a:ext cx="26695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USC</a:t>
            </a:r>
          </a:p>
        </p:txBody>
      </p:sp>
      <p:sp>
        <p:nvSpPr>
          <p:cNvPr id="57" name="Label Villanova University [PEER_KEEP]"/>
          <p:cNvSpPr txBox="1"/>
          <p:nvPr/>
        </p:nvSpPr>
        <p:spPr>
          <a:xfrm>
            <a:off x="8933688" y="2561344"/>
            <a:ext cx="4711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Villanova</a:t>
            </a:r>
          </a:p>
        </p:txBody>
      </p:sp>
      <p:sp>
        <p:nvSpPr>
          <p:cNvPr id="58" name="Label Emerson College [PEER_KEEP]"/>
          <p:cNvSpPr txBox="1"/>
          <p:nvPr/>
        </p:nvSpPr>
        <p:spPr>
          <a:xfrm>
            <a:off x="9282814" y="3418382"/>
            <a:ext cx="445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Emerson</a:t>
            </a:r>
          </a:p>
        </p:txBody>
      </p:sp>
      <p:sp>
        <p:nvSpPr>
          <p:cNvPr id="59" name="Label University of Chicago [PEER_KEEP]"/>
          <p:cNvSpPr txBox="1"/>
          <p:nvPr/>
        </p:nvSpPr>
        <p:spPr>
          <a:xfrm>
            <a:off x="3898073" y="2636215"/>
            <a:ext cx="4905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UChicago</a:t>
            </a:r>
          </a:p>
        </p:txBody>
      </p:sp>
      <p:sp>
        <p:nvSpPr>
          <p:cNvPr id="60" name="Label Missouri University of Science and Technology [PEER_KEEP]"/>
          <p:cNvSpPr txBox="1"/>
          <p:nvPr/>
        </p:nvSpPr>
        <p:spPr>
          <a:xfrm>
            <a:off x="3227787" y="3264961"/>
            <a:ext cx="6317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Missouri S&amp;T</a:t>
            </a:r>
          </a:p>
        </p:txBody>
      </p:sp>
      <p:sp>
        <p:nvSpPr>
          <p:cNvPr id="61" name="Label Harvey Mudd College [PEER_KEEP]"/>
          <p:cNvSpPr txBox="1"/>
          <p:nvPr/>
        </p:nvSpPr>
        <p:spPr>
          <a:xfrm>
            <a:off x="7574778" y="1688961"/>
            <a:ext cx="65283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Harvey Mudd</a:t>
            </a:r>
          </a:p>
        </p:txBody>
      </p:sp>
      <p:sp>
        <p:nvSpPr>
          <p:cNvPr id="62" name="Label University of Notre Dame [PEER_KEEP]"/>
          <p:cNvSpPr txBox="1"/>
          <p:nvPr/>
        </p:nvSpPr>
        <p:spPr>
          <a:xfrm>
            <a:off x="5266198" y="2451657"/>
            <a:ext cx="5976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Notre Dame</a:t>
            </a:r>
          </a:p>
        </p:txBody>
      </p:sp>
      <p:sp>
        <p:nvSpPr>
          <p:cNvPr id="63" name="Label Johns Hopkins University [PEER_KEEP]"/>
          <p:cNvSpPr txBox="1"/>
          <p:nvPr/>
        </p:nvSpPr>
        <p:spPr>
          <a:xfrm>
            <a:off x="4187472" y="3115326"/>
            <a:ext cx="68914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Johns Hopkins</a:t>
            </a:r>
          </a:p>
        </p:txBody>
      </p:sp>
      <p:sp>
        <p:nvSpPr>
          <p:cNvPr id="64" name="Label Dartmouth College [PEER_KEEP]"/>
          <p:cNvSpPr txBox="1"/>
          <p:nvPr/>
        </p:nvSpPr>
        <p:spPr>
          <a:xfrm>
            <a:off x="6114079" y="3411302"/>
            <a:ext cx="5524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Dartmouth</a:t>
            </a:r>
          </a:p>
        </p:txBody>
      </p:sp>
      <p:sp>
        <p:nvSpPr>
          <p:cNvPr id="65" name="Label Landmark College [PEER_KEEP]"/>
          <p:cNvSpPr txBox="1"/>
          <p:nvPr/>
        </p:nvSpPr>
        <p:spPr>
          <a:xfrm>
            <a:off x="10666692" y="4029452"/>
            <a:ext cx="96758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Landmark College (3)</a:t>
            </a:r>
          </a:p>
        </p:txBody>
      </p:sp>
      <p:sp>
        <p:nvSpPr>
          <p:cNvPr id="66" name="Label Bucknell University [PEER_KEEP]"/>
          <p:cNvSpPr txBox="1"/>
          <p:nvPr/>
        </p:nvSpPr>
        <p:spPr>
          <a:xfrm>
            <a:off x="7851726" y="2831968"/>
            <a:ext cx="4388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Bucknell</a:t>
            </a:r>
          </a:p>
        </p:txBody>
      </p:sp>
      <p:sp>
        <p:nvSpPr>
          <p:cNvPr id="67" name="Label Cornell University [PEER_KEEP]"/>
          <p:cNvSpPr txBox="1"/>
          <p:nvPr/>
        </p:nvSpPr>
        <p:spPr>
          <a:xfrm>
            <a:off x="5732216" y="2275814"/>
            <a:ext cx="379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Cornell</a:t>
            </a:r>
          </a:p>
        </p:txBody>
      </p:sp>
      <p:sp>
        <p:nvSpPr>
          <p:cNvPr id="68" name="Label Beacon College [PEER_KEEP]"/>
          <p:cNvSpPr txBox="1"/>
          <p:nvPr/>
        </p:nvSpPr>
        <p:spPr>
          <a:xfrm>
            <a:off x="10191962" y="4321876"/>
            <a:ext cx="7243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Beacon College</a:t>
            </a:r>
          </a:p>
        </p:txBody>
      </p:sp>
      <p:sp>
        <p:nvSpPr>
          <p:cNvPr id="69" name="Label Berklee College of Music [PEER_KEEP]"/>
          <p:cNvSpPr txBox="1"/>
          <p:nvPr/>
        </p:nvSpPr>
        <p:spPr>
          <a:xfrm>
            <a:off x="8672983" y="4083772"/>
            <a:ext cx="110495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Berklee College of Music</a:t>
            </a:r>
          </a:p>
        </p:txBody>
      </p:sp>
      <p:sp>
        <p:nvSpPr>
          <p:cNvPr id="70" name="Label California Institute of the Arts [PEER_KEEP]"/>
          <p:cNvSpPr txBox="1"/>
          <p:nvPr/>
        </p:nvSpPr>
        <p:spPr>
          <a:xfrm>
            <a:off x="7880720" y="3791830"/>
            <a:ext cx="1331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California Institute of the Arts</a:t>
            </a:r>
          </a:p>
        </p:txBody>
      </p:sp>
      <p:sp>
        <p:nvSpPr>
          <p:cNvPr id="71" name="Label Savannah College of Art and Design [PEER_KEEP]"/>
          <p:cNvSpPr txBox="1"/>
          <p:nvPr/>
        </p:nvSpPr>
        <p:spPr>
          <a:xfrm>
            <a:off x="9918169" y="3803184"/>
            <a:ext cx="3333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SCAD</a:t>
            </a:r>
          </a:p>
        </p:txBody>
      </p:sp>
      <p:sp>
        <p:nvSpPr>
          <p:cNvPr id="72" name="Label Howard University [PEER_KEEP]"/>
          <p:cNvSpPr txBox="1"/>
          <p:nvPr/>
        </p:nvSpPr>
        <p:spPr>
          <a:xfrm>
            <a:off x="10110589" y="3413047"/>
            <a:ext cx="8643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Howard University</a:t>
            </a:r>
          </a:p>
        </p:txBody>
      </p:sp>
      <p:sp>
        <p:nvSpPr>
          <p:cNvPr id="73" name="Label Boston College [PEER_KEEP]"/>
          <p:cNvSpPr txBox="1"/>
          <p:nvPr/>
        </p:nvSpPr>
        <p:spPr>
          <a:xfrm>
            <a:off x="7663200" y="2278231"/>
            <a:ext cx="70688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College</a:t>
            </a:r>
          </a:p>
        </p:txBody>
      </p:sp>
      <p:sp>
        <p:nvSpPr>
          <p:cNvPr id="74" name="Label Northwestern University [PEER_KEEP]"/>
          <p:cNvSpPr txBox="1"/>
          <p:nvPr/>
        </p:nvSpPr>
        <p:spPr>
          <a:xfrm>
            <a:off x="6380443" y="2933287"/>
            <a:ext cx="6637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Northwestern</a:t>
            </a:r>
          </a:p>
        </p:txBody>
      </p:sp>
      <p:sp>
        <p:nvSpPr>
          <p:cNvPr id="75" name="Label Claremont McKenna College [PEER_KEEP]"/>
          <p:cNvSpPr txBox="1"/>
          <p:nvPr/>
        </p:nvSpPr>
        <p:spPr>
          <a:xfrm>
            <a:off x="6626106" y="2042387"/>
            <a:ext cx="94595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Claremont McKenna</a:t>
            </a:r>
          </a:p>
        </p:txBody>
      </p:sp>
      <p:sp>
        <p:nvSpPr>
          <p:cNvPr id="76" name="Label Yeshiva University [PEER_KEEP]"/>
          <p:cNvSpPr txBox="1"/>
          <p:nvPr/>
        </p:nvSpPr>
        <p:spPr>
          <a:xfrm>
            <a:off x="8958298" y="3021115"/>
            <a:ext cx="84512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Yeshiva University</a:t>
            </a:r>
          </a:p>
        </p:txBody>
      </p:sp>
      <p:sp>
        <p:nvSpPr>
          <p:cNvPr id="77" name="Label Keiser University-Ft Lauderdale [PEER_KEEP]"/>
          <p:cNvSpPr txBox="1"/>
          <p:nvPr/>
        </p:nvSpPr>
        <p:spPr>
          <a:xfrm>
            <a:off x="6633327" y="3945861"/>
            <a:ext cx="13811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Keiser University Ft Lauderdale</a:t>
            </a:r>
          </a:p>
        </p:txBody>
      </p:sp>
      <p:sp>
        <p:nvSpPr>
          <p:cNvPr id="78" name="Label University of Rio Grande [PEER_KEEP]"/>
          <p:cNvSpPr txBox="1"/>
          <p:nvPr/>
        </p:nvSpPr>
        <p:spPr>
          <a:xfrm>
            <a:off x="4827114" y="4046965"/>
            <a:ext cx="110225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University of Rio Grande</a:t>
            </a:r>
          </a:p>
        </p:txBody>
      </p:sp>
      <p:sp>
        <p:nvSpPr>
          <p:cNvPr id="79" name="Label Massachusetts Maritime Academy [PEER_KEEP]"/>
          <p:cNvSpPr txBox="1"/>
          <p:nvPr/>
        </p:nvSpPr>
        <p:spPr>
          <a:xfrm>
            <a:off x="5250013" y="3277843"/>
            <a:ext cx="70810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Mass Maritime</a:t>
            </a:r>
          </a:p>
        </p:txBody>
      </p:sp>
      <p:sp>
        <p:nvSpPr>
          <p:cNvPr id="80" name="Label University of California-Berkeley [PEER_KEEP]"/>
          <p:cNvSpPr txBox="1"/>
          <p:nvPr/>
        </p:nvSpPr>
        <p:spPr>
          <a:xfrm>
            <a:off x="2960398" y="2623425"/>
            <a:ext cx="59599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 Berkeley</a:t>
            </a:r>
          </a:p>
        </p:txBody>
      </p:sp>
      <p:sp>
        <p:nvSpPr>
          <p:cNvPr id="81" name="Label University of California-Los Angeles [PEER_KEEP]"/>
          <p:cNvSpPr txBox="1"/>
          <p:nvPr/>
        </p:nvSpPr>
        <p:spPr>
          <a:xfrm>
            <a:off x="3281836" y="3111452"/>
            <a:ext cx="32776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UCLA</a:t>
            </a:r>
          </a:p>
        </p:txBody>
      </p:sp>
      <p:sp>
        <p:nvSpPr>
          <p:cNvPr id="82" name="Label Florida Gateway College [PEER_KEEP]"/>
          <p:cNvSpPr txBox="1"/>
          <p:nvPr/>
        </p:nvSpPr>
        <p:spPr>
          <a:xfrm>
            <a:off x="1811708" y="4128677"/>
            <a:ext cx="7750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Florida Gateway</a:t>
            </a:r>
          </a:p>
        </p:txBody>
      </p:sp>
      <p:sp>
        <p:nvSpPr>
          <p:cNvPr id="83" name="Label Dewey University-Carolina [PEER_KEEP]"/>
          <p:cNvSpPr txBox="1"/>
          <p:nvPr/>
        </p:nvSpPr>
        <p:spPr>
          <a:xfrm>
            <a:off x="2042842" y="4400360"/>
            <a:ext cx="81773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Dewey University</a:t>
            </a:r>
          </a:p>
        </p:txBody>
      </p:sp>
      <p:sp>
        <p:nvSpPr>
          <p:cNvPr id="84" name="Label Southern Methodist University [PEER_KEEP]"/>
          <p:cNvSpPr txBox="1"/>
          <p:nvPr/>
        </p:nvSpPr>
        <p:spPr>
          <a:xfrm>
            <a:off x="8436763" y="3064496"/>
            <a:ext cx="2911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SMU</a:t>
            </a:r>
          </a:p>
        </p:txBody>
      </p:sp>
      <p:sp>
        <p:nvSpPr>
          <p:cNvPr id="85" name="Label Illinois Institute of Technology [PEER_KEEP]"/>
          <p:cNvSpPr txBox="1"/>
          <p:nvPr/>
        </p:nvSpPr>
        <p:spPr>
          <a:xfrm>
            <a:off x="4184421" y="2396373"/>
            <a:ext cx="56199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Illinois Tech</a:t>
            </a:r>
          </a:p>
        </p:txBody>
      </p:sp>
      <p:sp>
        <p:nvSpPr>
          <p:cNvPr id="86" name="Label Fairfield University [PEER_KEEP]"/>
          <p:cNvSpPr txBox="1"/>
          <p:nvPr/>
        </p:nvSpPr>
        <p:spPr>
          <a:xfrm>
            <a:off x="9850215" y="2521064"/>
            <a:ext cx="86839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Fairfield University</a:t>
            </a:r>
          </a:p>
        </p:txBody>
      </p:sp>
      <p:sp>
        <p:nvSpPr>
          <p:cNvPr id="87" name="Label Washington University in St Louis [PEER_KEEP]"/>
          <p:cNvSpPr txBox="1"/>
          <p:nvPr/>
        </p:nvSpPr>
        <p:spPr>
          <a:xfrm>
            <a:off x="4525899" y="2683028"/>
            <a:ext cx="38826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WashU</a:t>
            </a:r>
          </a:p>
        </p:txBody>
      </p:sp>
      <p:sp>
        <p:nvSpPr>
          <p:cNvPr id="88" name="Label Maine Maritime Academy [PEER_KEEP]"/>
          <p:cNvSpPr txBox="1"/>
          <p:nvPr/>
        </p:nvSpPr>
        <p:spPr>
          <a:xfrm>
            <a:off x="5382255" y="2919585"/>
            <a:ext cx="75265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Maine Maritime</a:t>
            </a:r>
          </a:p>
        </p:txBody>
      </p:sp>
      <p:sp>
        <p:nvSpPr>
          <p:cNvPr id="89" name="Label Vanderbilt University [PEER_KEEP]"/>
          <p:cNvSpPr txBox="1"/>
          <p:nvPr/>
        </p:nvSpPr>
        <p:spPr>
          <a:xfrm>
            <a:off x="3365511" y="2966294"/>
            <a:ext cx="5180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Vanderbilt</a:t>
            </a:r>
          </a:p>
        </p:txBody>
      </p:sp>
      <p:sp>
        <p:nvSpPr>
          <p:cNvPr id="90" name="Label Cal Poly Maritime Academy [PEER_KEEP]"/>
          <p:cNvSpPr txBox="1"/>
          <p:nvPr/>
        </p:nvSpPr>
        <p:spPr>
          <a:xfrm>
            <a:off x="5337911" y="2689907"/>
            <a:ext cx="6264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Maritime</a:t>
            </a:r>
          </a:p>
        </p:txBody>
      </p:sp>
      <p:sp>
        <p:nvSpPr>
          <p:cNvPr id="91" name="Label St. John's College (Santa Fe, NM) [PEER_KEEP]"/>
          <p:cNvSpPr txBox="1"/>
          <p:nvPr/>
        </p:nvSpPr>
        <p:spPr>
          <a:xfrm>
            <a:off x="5947889" y="3705490"/>
            <a:ext cx="79802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 John’s College</a:t>
            </a:r>
          </a:p>
        </p:txBody>
      </p:sp>
      <p:sp>
        <p:nvSpPr>
          <p:cNvPr id="92" name="Label Boston University [PEER_KEEP]"/>
          <p:cNvSpPr txBox="1"/>
          <p:nvPr/>
        </p:nvSpPr>
        <p:spPr>
          <a:xfrm>
            <a:off x="5553681" y="3072931"/>
            <a:ext cx="82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University</a:t>
            </a:r>
          </a:p>
        </p:txBody>
      </p:sp>
      <p:sp>
        <p:nvSpPr>
          <p:cNvPr id="93" name="Label __focus__ [PEER_KEEP]"/>
          <p:cNvSpPr txBox="1"/>
          <p:nvPr/>
        </p:nvSpPr>
        <p:spPr>
          <a:xfrm>
            <a:off x="6496023" y="2554420"/>
            <a:ext cx="999517" cy="210312"/>
          </a:xfrm>
          <a:prstGeom prst="rect">
            <a:avLst/>
          </a:prstGeom>
          <a:solidFill>
            <a:srgbClr val="FFFFFF">
              <a:alpha val="82000"/>
            </a:srgbClr>
          </a:solidFill>
        </p:spPr>
        <p:txBody>
          <a:bodyPr wrap="none" lIns="27432" tIns="0" rIns="27432" bIns="0" anchor="ctr">
            <a:spAutoFit/>
          </a:bodyPr>
          <a:lstStyle/>
          <a:p>
            <a:pPr algn="ctr"/>
            <a:r>
              <a:rPr sz="1200" b="1" i="0" dirty="0">
                <a:solidFill>
                  <a:srgbClr val="C8102E"/>
                </a:solidFill>
                <a:latin typeface="Lato"/>
              </a:rPr>
              <a:t>Northeastern</a:t>
            </a:r>
          </a:p>
        </p:txBody>
      </p:sp>
      <p:sp>
        <p:nvSpPr>
          <p:cNvPr id="94" name="Better deal [PEER_KEEP]"/>
          <p:cNvSpPr txBox="1"/>
          <p:nvPr/>
        </p:nvSpPr>
        <p:spPr>
          <a:xfrm rot="21184654">
            <a:off x="10652882" y="2609539"/>
            <a:ext cx="914400" cy="215444"/>
          </a:xfrm>
          <a:prstGeom prst="rect">
            <a:avLst/>
          </a:prstGeom>
          <a:noFill/>
        </p:spPr>
        <p:txBody>
          <a:bodyPr wrap="square" lIns="0" tIns="0" rIns="0" bIns="0" anchor="ctr">
            <a:spAutoFit/>
          </a:bodyPr>
          <a:lstStyle/>
          <a:p>
            <a:pPr algn="ctr"/>
            <a:r>
              <a:rPr sz="1400" b="1" i="1" dirty="0">
                <a:solidFill>
                  <a:srgbClr val="00B050"/>
                </a:solidFill>
                <a:latin typeface="Lato"/>
              </a:rPr>
              <a:t>Better deal</a:t>
            </a:r>
          </a:p>
        </p:txBody>
      </p:sp>
      <p:sp>
        <p:nvSpPr>
          <p:cNvPr id="95" name="Worse deal [PEER_KEEP]"/>
          <p:cNvSpPr txBox="1"/>
          <p:nvPr/>
        </p:nvSpPr>
        <p:spPr>
          <a:xfrm rot="21184654">
            <a:off x="10676047" y="3067570"/>
            <a:ext cx="914400" cy="215444"/>
          </a:xfrm>
          <a:prstGeom prst="rect">
            <a:avLst/>
          </a:prstGeom>
          <a:noFill/>
        </p:spPr>
        <p:txBody>
          <a:bodyPr wrap="square" lIns="0" tIns="0" rIns="0" bIns="0" anchor="ctr">
            <a:spAutoFit/>
          </a:bodyPr>
          <a:lstStyle/>
          <a:p>
            <a:pPr algn="ctr"/>
            <a:r>
              <a:rPr sz="1400" b="1" i="1" dirty="0">
                <a:solidFill>
                  <a:srgbClr val="FF0000"/>
                </a:solidFill>
                <a:latin typeface="Lato"/>
              </a:rPr>
              <a:t>Worse deal</a:t>
            </a:r>
          </a:p>
        </p:txBody>
      </p:sp>
      <p:sp>
        <p:nvSpPr>
          <p:cNvPr id="96" name="Legend [PEER_KEEP]"/>
          <p:cNvSpPr/>
          <p:nvPr/>
        </p:nvSpPr>
        <p:spPr>
          <a:xfrm>
            <a:off x="6135583" y="1277874"/>
            <a:ext cx="77724" cy="77724"/>
          </a:xfrm>
          <a:prstGeom prst="ellipse">
            <a:avLst/>
          </a:prstGeom>
          <a:solidFill>
            <a:srgbClr val="8A8D8F"/>
          </a:solidFill>
          <a:ln w="3175">
            <a:solidFill>
              <a:srgbClr val="000000"/>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7" name="Legend [PEER_KEEP]"/>
          <p:cNvSpPr txBox="1"/>
          <p:nvPr/>
        </p:nvSpPr>
        <p:spPr>
          <a:xfrm>
            <a:off x="6302461" y="1225296"/>
            <a:ext cx="934965" cy="182880"/>
          </a:xfrm>
          <a:prstGeom prst="rect">
            <a:avLst/>
          </a:prstGeom>
          <a:noFill/>
        </p:spPr>
        <p:txBody>
          <a:bodyPr wrap="none" lIns="0" tIns="0" rIns="0" bIns="0" anchor="ctr">
            <a:spAutoFit/>
          </a:bodyPr>
          <a:lstStyle/>
          <a:p>
            <a:pPr algn="l"/>
            <a:r>
              <a:rPr sz="900" b="0" i="0">
                <a:solidFill>
                  <a:srgbClr val="000000"/>
                </a:solidFill>
                <a:latin typeface="Lato"/>
              </a:rPr>
              <a:t>Public institutions</a:t>
            </a:r>
          </a:p>
        </p:txBody>
      </p:sp>
      <p:sp>
        <p:nvSpPr>
          <p:cNvPr id="98" name="Legend [PEER_KEEP]"/>
          <p:cNvSpPr/>
          <p:nvPr/>
        </p:nvSpPr>
        <p:spPr>
          <a:xfrm>
            <a:off x="7511747" y="1271016"/>
            <a:ext cx="91440" cy="91440"/>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9" name="Legend [PEER_KEEP]"/>
          <p:cNvSpPr txBox="1"/>
          <p:nvPr/>
        </p:nvSpPr>
        <p:spPr>
          <a:xfrm>
            <a:off x="7685483" y="1225296"/>
            <a:ext cx="981542" cy="182880"/>
          </a:xfrm>
          <a:prstGeom prst="rect">
            <a:avLst/>
          </a:prstGeom>
          <a:noFill/>
        </p:spPr>
        <p:txBody>
          <a:bodyPr wrap="none" lIns="0" tIns="0" rIns="0" bIns="0" anchor="ctr">
            <a:spAutoFit/>
          </a:bodyPr>
          <a:lstStyle/>
          <a:p>
            <a:pPr algn="l"/>
            <a:r>
              <a:rPr sz="900" b="0" i="0">
                <a:solidFill>
                  <a:srgbClr val="000000"/>
                </a:solidFill>
                <a:latin typeface="Lato"/>
              </a:rPr>
              <a:t>Private institutions</a:t>
            </a:r>
          </a:p>
        </p:txBody>
      </p:sp>
      <p:cxnSp>
        <p:nvCxnSpPr>
          <p:cNvPr id="100" name="Legend [PEER_KEEP]"/>
          <p:cNvCxnSpPr/>
          <p:nvPr/>
        </p:nvCxnSpPr>
        <p:spPr>
          <a:xfrm>
            <a:off x="8923057" y="1316736"/>
            <a:ext cx="292608" cy="0"/>
          </a:xfrm>
          <a:prstGeom prst="line">
            <a:avLst/>
          </a:prstGeom>
          <a:ln w="19050">
            <a:solidFill>
              <a:srgbClr val="000000"/>
            </a:solidFill>
          </a:ln>
        </p:spPr>
        <p:style>
          <a:lnRef idx="2">
            <a:srgbClr val="C8102E"/>
          </a:lnRef>
          <a:fillRef idx="0">
            <a:srgbClr val="C8102E"/>
          </a:fillRef>
          <a:effectRef idx="1">
            <a:srgbClr val="C8102E"/>
          </a:effectRef>
          <a:fontRef idx="minor">
            <a:srgbClr val="000000"/>
          </a:fontRef>
        </p:style>
      </p:cxnSp>
      <p:sp>
        <p:nvSpPr>
          <p:cNvPr id="101" name="Legend [PEER_KEEP]"/>
          <p:cNvSpPr txBox="1"/>
          <p:nvPr/>
        </p:nvSpPr>
        <p:spPr>
          <a:xfrm>
            <a:off x="9279673" y="1225296"/>
            <a:ext cx="1244950" cy="182880"/>
          </a:xfrm>
          <a:prstGeom prst="rect">
            <a:avLst/>
          </a:prstGeom>
          <a:noFill/>
        </p:spPr>
        <p:txBody>
          <a:bodyPr wrap="none" lIns="0" tIns="0" rIns="0" bIns="0" anchor="ctr">
            <a:spAutoFit/>
          </a:bodyPr>
          <a:lstStyle/>
          <a:p>
            <a:pPr algn="l"/>
            <a:r>
              <a:rPr sz="900" b="0" i="0">
                <a:solidFill>
                  <a:srgbClr val="000000"/>
                </a:solidFill>
                <a:latin typeface="Lato"/>
              </a:rPr>
              <a:t>Private college trendline</a:t>
            </a:r>
          </a:p>
        </p:txBody>
      </p:sp>
      <p:sp>
        <p:nvSpPr>
          <p:cNvPr id="102" name="Legend [PEER_KEEP]"/>
          <p:cNvSpPr/>
          <p:nvPr/>
        </p:nvSpPr>
        <p:spPr>
          <a:xfrm>
            <a:off x="10785227" y="1257300"/>
            <a:ext cx="118872" cy="118872"/>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3" name="Legend [PEER_KEEP]"/>
          <p:cNvSpPr txBox="1"/>
          <p:nvPr/>
        </p:nvSpPr>
        <p:spPr>
          <a:xfrm>
            <a:off x="10972679" y="1225296"/>
            <a:ext cx="706311" cy="182880"/>
          </a:xfrm>
          <a:prstGeom prst="rect">
            <a:avLst/>
          </a:prstGeom>
          <a:noFill/>
        </p:spPr>
        <p:txBody>
          <a:bodyPr wrap="none" lIns="0" tIns="0" rIns="0" bIns="0" anchor="ctr">
            <a:spAutoFit/>
          </a:bodyPr>
          <a:lstStyle/>
          <a:p>
            <a:pPr algn="l"/>
            <a:r>
              <a:rPr sz="900" b="0" i="0">
                <a:solidFill>
                  <a:srgbClr val="000000"/>
                </a:solidFill>
                <a:latin typeface="Lato"/>
              </a:rPr>
              <a:t>Northeastern</a:t>
            </a:r>
          </a:p>
        </p:txBody>
      </p:sp>
      <p:sp>
        <p:nvSpPr>
          <p:cNvPr id="104" name="TextBox 103"/>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Wide variation in ‘return’ on college investment</a:t>
            </a:r>
          </a:p>
        </p:txBody>
      </p:sp>
      <p:sp>
        <p:nvSpPr>
          <p:cNvPr id="105" name="TextBox 104"/>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Northeastern ranks 33rd (of 1,527) in median earnings 10 years after entry: $93K at a $31K average net price</a:t>
            </a:r>
          </a:p>
        </p:txBody>
      </p:sp>
      <p:sp>
        <p:nvSpPr>
          <p:cNvPr id="106" name="TextBox 105"/>
          <p:cNvSpPr txBox="1"/>
          <p:nvPr/>
        </p:nvSpPr>
        <p:spPr>
          <a:xfrm>
            <a:off x="457200" y="5797296"/>
            <a:ext cx="11274552" cy="603504"/>
          </a:xfrm>
          <a:prstGeom prst="rect">
            <a:avLst/>
          </a:prstGeom>
          <a:noFill/>
        </p:spPr>
        <p:txBody>
          <a:bodyPr wrap="square" lIns="0" tIns="0" rIns="0" bIns="0" anchor="b">
            <a:spAutoFit/>
          </a:bodyPr>
          <a:lstStyle/>
          <a:p>
            <a:pPr algn="l"/>
            <a:r>
              <a:rPr sz="700" b="0" i="0">
                <a:solidFill>
                  <a:srgbClr val="595959"/>
                </a:solidFill>
                <a:latin typeface="Lato"/>
              </a:rPr>
              <a:t>(1) Median earnings of federally aided (Title IV) students who entered in 2009–10 or 2010–11, are working and not enrolled, measured in 2020 and 2021 (10th year after entry); 2022 dollars.</a:t>
            </a:r>
          </a:p>
          <a:p>
            <a:pPr algn="l"/>
            <a:r>
              <a:rPr sz="700" b="0" i="0">
                <a:solidFill>
                  <a:srgbClr val="595959"/>
                </a:solidFill>
                <a:latin typeface="Lato"/>
              </a:rPr>
              <a:t>(2) Average net price, academic year 2023–24, for undergraduate Title IV-receiving students: full cost of attendance (tuition and fees, books and supplies, living expenses) minus federal, state and institutional aid.</a:t>
            </a:r>
          </a:p>
          <a:p>
            <a:pPr algn="l"/>
            <a:r>
              <a:rPr sz="700" b="0" i="0">
                <a:solidFill>
                  <a:srgbClr val="595959"/>
                </a:solidFill>
                <a:latin typeface="Lato"/>
              </a:rPr>
              <a:t>(3) Landmark College is located in Putney, Vermont and is dedicated to students with learning disabilities (ADHD, dyslexia and autism).</a:t>
            </a:r>
          </a:p>
          <a:p>
            <a:pPr algn="l"/>
            <a:r>
              <a:rPr sz="700" b="0" i="0">
                <a:solidFill>
                  <a:srgbClr val="595959"/>
                </a:solidFill>
                <a:latin typeface="Lato"/>
              </a:rP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107"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Department of Education, College Scorecard institution-level data (collegescorecard.ed.gov/data), release of June 10, 2026; Northeastern analysis.</a:t>
            </a:r>
          </a:p>
        </p:txBody>
      </p:sp>
      <p:sp>
        <p:nvSpPr>
          <p:cNvPr id="10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16</a:t>
            </a:fld>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011680"/>
            <a:ext cx="1828800" cy="1463040"/>
          </a:xfrm>
          <a:prstGeom prst="rect">
            <a:avLst/>
          </a:prstGeom>
          <a:noFill/>
        </p:spPr>
        <p:txBody>
          <a:bodyPr wrap="square" lIns="0" tIns="0" rIns="0" bIns="0" anchor="t">
            <a:spAutoFit/>
          </a:bodyPr>
          <a:lstStyle/>
          <a:p>
            <a:pPr algn="l"/>
            <a:r>
              <a:rPr sz="9600" b="1" i="0">
                <a:solidFill>
                  <a:srgbClr val="C8102E"/>
                </a:solidFill>
                <a:latin typeface="Lato"/>
              </a:rPr>
              <a:t>2</a:t>
            </a:r>
          </a:p>
        </p:txBody>
      </p:sp>
      <p:sp>
        <p:nvSpPr>
          <p:cNvPr id="3" name="TextBox 2"/>
          <p:cNvSpPr txBox="1"/>
          <p:nvPr/>
        </p:nvSpPr>
        <p:spPr>
          <a:xfrm>
            <a:off x="283464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3291840"/>
            <a:ext cx="8229600" cy="1097280"/>
          </a:xfrm>
          <a:prstGeom prst="rect">
            <a:avLst/>
          </a:prstGeom>
          <a:noFill/>
        </p:spPr>
        <p:txBody>
          <a:bodyPr wrap="square" lIns="0" tIns="0" rIns="0" bIns="0" anchor="t">
            <a:spAutoFit/>
          </a:bodyPr>
          <a:lstStyle/>
          <a:p>
            <a:pPr algn="l"/>
            <a:r>
              <a:rPr sz="1800" b="0" i="0">
                <a:solidFill>
                  <a:srgbClr val="595959"/>
                </a:solidFill>
                <a:latin typeface="Lato"/>
              </a:rPr>
              <a:t>Research momentum, enrollment, staffing and financial performance</a:t>
            </a:r>
          </a:p>
        </p:txBody>
      </p:sp>
      <p:sp>
        <p:nvSpPr>
          <p:cNvPr id="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17</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
        <p:nvSpPr>
          <p:cNvPr id="3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18</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3"/>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19</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20</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
        <p:nvSpPr>
          <p:cNvPr id="7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21</a:t>
            </a:fld>
          </a:p>
        </p:txBody>
      </p:sp>
    </p:spTree>
    <p:extLst>
      <p:ext uri="{BB962C8B-B14F-4D97-AF65-F5344CB8AC3E}">
        <p14:creationId xmlns:p14="http://schemas.microsoft.com/office/powerpoint/2010/main" val="3672233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
        <p:nvSpPr>
          <p:cNvPr id="7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22</a:t>
            </a:fld>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
        <p:nvSpPr>
          <p:cNvPr id="31"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23</a:t>
            </a:fld>
          </a:p>
        </p:txBody>
      </p:sp>
    </p:spTree>
    <p:extLst>
      <p:ext uri="{BB962C8B-B14F-4D97-AF65-F5344CB8AC3E}">
        <p14:creationId xmlns:p14="http://schemas.microsoft.com/office/powerpoint/2010/main" val="38970255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rgbClr val="000000"/>
                </a:solidFill>
                <a:latin typeface="Lato"/>
              </a:rPr>
              <a:t>Externally funded  </a:t>
            </a:r>
            <a:r>
              <a:rPr sz="850" b="0">
                <a:solidFill>
                  <a:srgbClr val="000000"/>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rgbClr val="000000"/>
                </a:solidFill>
                <a:latin typeface="Lato"/>
              </a:rPr>
              <a:t>London  </a:t>
            </a:r>
            <a:r>
              <a:rPr sz="850" b="0" dirty="0">
                <a:solidFill>
                  <a:srgbClr val="000000"/>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rgbClr val="000000"/>
                </a:solidFill>
                <a:latin typeface="Lato"/>
              </a:rPr>
              <a:t>Internally funded, all other  </a:t>
            </a:r>
            <a:r>
              <a:rPr sz="850" b="0">
                <a:solidFill>
                  <a:srgbClr val="000000"/>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10252900" y="3547872"/>
            <a:ext cx="386143" cy="1088136"/>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10424160" y="4700016"/>
            <a:ext cx="1417320" cy="646331"/>
          </a:xfrm>
          <a:prstGeom prst="rect">
            <a:avLst/>
          </a:prstGeom>
          <a:noFill/>
        </p:spPr>
        <p:txBody>
          <a:bodyPr wrap="square" rtlCol="0">
            <a:spAutoFit/>
          </a:bodyPr>
          <a:lstStyle/>
          <a:p>
            <a:pPr algn="ctr"/>
            <a:r>
              <a:rPr lang="en-US" sz="1200" b="1" dirty="0">
                <a:solidFill>
                  <a:srgbClr val="000000"/>
                </a:solidFill>
              </a:rPr>
              <a:t>44%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533888" y="4727448"/>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rgbClr val="000000"/>
                </a:solidFill>
                <a:latin typeface="Lato"/>
              </a:rPr>
              <a:t>Oakland campus  </a:t>
            </a:r>
            <a:r>
              <a:rPr sz="850" b="0" dirty="0">
                <a:solidFill>
                  <a:srgbClr val="000000"/>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staff headcount files, September 2026; full methodology in speaker notes</a:t>
            </a:r>
          </a:p>
        </p:txBody>
      </p:sp>
      <p:sp>
        <p:nvSpPr>
          <p:cNvPr id="81"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4"/>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Moody’s Ratings (June 24, 2026); Northeastern Financial Affairs</a:t>
            </a:r>
          </a:p>
        </p:txBody>
      </p:sp>
      <p:sp>
        <p:nvSpPr>
          <p:cNvPr id="3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25</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13.0%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3"/>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sp>
        <p:nvSpPr>
          <p:cNvPr id="135" name="Oval 134"/>
          <p:cNvSpPr/>
          <p:nvPr/>
        </p:nvSpPr>
        <p:spPr>
          <a:xfrm>
            <a:off x="2615736" y="347877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6" name="Oval 135"/>
          <p:cNvSpPr/>
          <p:nvPr/>
        </p:nvSpPr>
        <p:spPr>
          <a:xfrm>
            <a:off x="3123840" y="362980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7" name="Oval 136"/>
          <p:cNvSpPr/>
          <p:nvPr/>
        </p:nvSpPr>
        <p:spPr>
          <a:xfrm>
            <a:off x="4140049" y="308861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8" name="Oval 137"/>
          <p:cNvSpPr/>
          <p:nvPr/>
        </p:nvSpPr>
        <p:spPr>
          <a:xfrm>
            <a:off x="4648154" y="344101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9" name="Oval 138"/>
          <p:cNvSpPr/>
          <p:nvPr/>
        </p:nvSpPr>
        <p:spPr>
          <a:xfrm>
            <a:off x="5156259" y="3969622"/>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0" name="Oval 139"/>
          <p:cNvSpPr/>
          <p:nvPr/>
        </p:nvSpPr>
        <p:spPr>
          <a:xfrm>
            <a:off x="6680572" y="289982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1" name="Oval 140"/>
          <p:cNvSpPr/>
          <p:nvPr/>
        </p:nvSpPr>
        <p:spPr>
          <a:xfrm>
            <a:off x="9221095" y="328998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2" name="Oval 141"/>
          <p:cNvSpPr/>
          <p:nvPr/>
        </p:nvSpPr>
        <p:spPr>
          <a:xfrm>
            <a:off x="9729200" y="2962758"/>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3" name="Oval 142"/>
          <p:cNvSpPr/>
          <p:nvPr/>
        </p:nvSpPr>
        <p:spPr>
          <a:xfrm>
            <a:off x="10237305" y="4246510"/>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institutions’ audited FY2025 financial statements; Moody’s; methodology in speaker notes</a:t>
            </a:r>
          </a:p>
        </p:txBody>
      </p:sp>
      <p:sp>
        <p:nvSpPr>
          <p:cNvPr id="149" name="TextBox 148"/>
          <p:cNvSpPr txBox="1"/>
          <p:nvPr/>
        </p:nvSpPr>
        <p:spPr>
          <a:xfrm>
            <a:off x="457200" y="6268212"/>
            <a:ext cx="11274552" cy="132588"/>
          </a:xfrm>
          <a:prstGeom prst="rect">
            <a:avLst/>
          </a:prstGeom>
          <a:noFill/>
        </p:spPr>
        <p:txBody>
          <a:bodyPr wrap="square" lIns="0" rIns="0" tIns="0" bIns="0" anchor="b">
            <a:spAutoFit/>
          </a:bodyPr>
          <a:lstStyle/>
          <a:p>
            <a:pPr algn="l"/>
            <a:r>
              <a:rPr sz="700" b="0" i="0">
                <a:solidFill>
                  <a:srgbClr val="595959"/>
                </a:solidFill>
                <a:latin typeface="Lato"/>
              </a:rPr>
              <a:t>Peer set: 19 peers plus Northeastern. Notre Dame (10.0%) and Drexel (3.1%), shown on the FY25 peer ranking, are not on this chart; Northeastern ranks fifth of 22 with them included.</a:t>
            </a:r>
          </a:p>
        </p:txBody>
      </p:sp>
      <p:sp>
        <p:nvSpPr>
          <p:cNvPr id="15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tIns="0" r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
        <p:nvSpPr>
          <p:cNvPr id="1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27</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from FY21 to FY25</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Moody’s Ratings</a:t>
            </a:r>
          </a:p>
        </p:txBody>
      </p:sp>
      <p:sp>
        <p:nvSpPr>
          <p:cNvPr id="1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28</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7744"/>
            <a:ext cx="10149840" cy="307777"/>
          </a:xfrm>
          <a:prstGeom prst="rect">
            <a:avLst/>
          </a:prstGeom>
          <a:noFill/>
        </p:spPr>
        <p:txBody>
          <a:bodyPr wrap="square" lIns="0" tIns="0" rIns="0" bIns="0">
            <a:noAutofit/>
          </a:bodyPr>
          <a:lstStyle/>
          <a:p>
            <a:pPr algn="l"/>
            <a:r>
              <a:rPr sz="2000" b="1" dirty="0">
                <a:solidFill>
                  <a:srgbClr val="000000"/>
                </a:solidFill>
                <a:latin typeface="Lato"/>
              </a:rPr>
              <a:t>On the same basis, </a:t>
            </a:r>
            <a:r>
              <a:rPr sz="2000" b="1" dirty="0" err="1">
                <a:solidFill>
                  <a:srgbClr val="000000"/>
                </a:solidFill>
                <a:latin typeface="Lato"/>
              </a:rPr>
              <a:t>Northeastern’s</a:t>
            </a:r>
            <a:r>
              <a:rPr sz="2000" b="1" dirty="0">
                <a:solidFill>
                  <a:srgbClr val="000000"/>
                </a:solidFill>
                <a:latin typeface="Lato"/>
              </a:rPr>
              <a:t> FY25 EBIDA margin ranks 13th of 22 </a:t>
            </a:r>
            <a:r>
              <a:rPr lang="en-US" sz="2000" b="1" dirty="0">
                <a:solidFill>
                  <a:srgbClr val="000000"/>
                </a:solidFill>
                <a:latin typeface="Lato"/>
              </a:rPr>
              <a:t>academic peers</a:t>
            </a:r>
            <a:endParaRPr sz="2000" b="1" dirty="0">
              <a:solidFill>
                <a:srgbClr val="000000"/>
              </a:solidFill>
              <a:latin typeface="Lato"/>
            </a:endParaRPr>
          </a:p>
        </p:txBody>
      </p:sp>
      <p:sp>
        <p:nvSpPr>
          <p:cNvPr id="3" name="TextBox 2"/>
          <p:cNvSpPr txBox="1"/>
          <p:nvPr/>
        </p:nvSpPr>
        <p:spPr>
          <a:xfrm>
            <a:off x="3099816" y="829425"/>
            <a:ext cx="5573911" cy="276999"/>
          </a:xfrm>
          <a:prstGeom prst="rect">
            <a:avLst/>
          </a:prstGeom>
          <a:noFill/>
        </p:spPr>
        <p:txBody>
          <a:bodyPr wrap="square" lIns="0" tIns="0" rIns="0" bIns="0">
            <a:spAutoFit/>
          </a:bodyPr>
          <a:lstStyle/>
          <a:p>
            <a:pPr algn="ctr"/>
            <a:r>
              <a:rPr lang="en-US" dirty="0">
                <a:solidFill>
                  <a:schemeClr val="bg1"/>
                </a:solidFill>
                <a:latin typeface="Lato"/>
              </a:rPr>
              <a:t>Peer FY25 EBIDA Margins</a:t>
            </a:r>
            <a:endParaRPr dirty="0">
              <a:solidFill>
                <a:schemeClr val="bg1"/>
              </a:solidFill>
              <a:latin typeface="Lato"/>
            </a:endParaRPr>
          </a:p>
        </p:txBody>
      </p:sp>
      <p:graphicFrame>
        <p:nvGraphicFramePr>
          <p:cNvPr id="4" name="Chart 3"/>
          <p:cNvGraphicFramePr>
            <a:graphicFrameLocks noGrp="1"/>
          </p:cNvGraphicFramePr>
          <p:nvPr/>
        </p:nvGraphicFramePr>
        <p:xfrm>
          <a:off x="502920" y="1203568"/>
          <a:ext cx="11186160" cy="4374272"/>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694008" y="5432880"/>
            <a:ext cx="10800000" cy="492443"/>
          </a:xfrm>
          <a:prstGeom prst="rect">
            <a:avLst/>
          </a:prstGeom>
          <a:solidFill>
            <a:srgbClr val="C8102E"/>
          </a:solidFill>
          <a:ln>
            <a:solidFill>
              <a:schemeClr val="bg1"/>
            </a:solidFill>
          </a:ln>
        </p:spPr>
        <p:txBody>
          <a:bodyPr wrap="square" lIns="0" tIns="0" rIns="0" bIns="0">
            <a:spAutoFit/>
          </a:bodyPr>
          <a:lstStyle/>
          <a:p>
            <a:pPr algn="ctr"/>
            <a:r>
              <a:rPr sz="1600" b="1" dirty="0">
                <a:solidFill>
                  <a:srgbClr val="FFFFFF"/>
                </a:solidFill>
                <a:latin typeface="Lato"/>
              </a:rPr>
              <a:t>Northeastern sits at 9.5% against a peer median of 9.8%, Moody’s comprehensive median of 10.3% and the broad A median of 11.5% — the A cohort being the one that matches </a:t>
            </a:r>
            <a:r>
              <a:rPr sz="1600" b="1" dirty="0" err="1">
                <a:solidFill>
                  <a:srgbClr val="FFFFFF"/>
                </a:solidFill>
                <a:latin typeface="Lato"/>
              </a:rPr>
              <a:t>Northeastern’s</a:t>
            </a:r>
            <a:r>
              <a:rPr sz="1600" b="1" dirty="0">
                <a:solidFill>
                  <a:srgbClr val="FFFFFF"/>
                </a:solidFill>
                <a:latin typeface="Lato"/>
              </a:rPr>
              <a:t> own A1 rating.</a:t>
            </a:r>
          </a:p>
        </p:txBody>
      </p:sp>
      <p:sp>
        <p:nvSpPr>
          <p:cNvPr id="9"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1" name="TextBox 10">
            <a:extLst>
              <a:ext uri="{FF2B5EF4-FFF2-40B4-BE49-F238E27FC236}">
                <a16:creationId xmlns:a16="http://schemas.microsoft.com/office/drawing/2014/main" id="{517BF540-0C1D-A854-6092-59C2EE39836E}"/>
              </a:ext>
            </a:extLst>
          </p:cNvPr>
          <p:cNvSpPr txBox="1"/>
          <p:nvPr/>
        </p:nvSpPr>
        <p:spPr>
          <a:xfrm>
            <a:off x="11298870" y="2971710"/>
            <a:ext cx="614271" cy="276999"/>
          </a:xfrm>
          <a:prstGeom prst="rect">
            <a:avLst/>
          </a:prstGeom>
          <a:noFill/>
        </p:spPr>
        <p:txBody>
          <a:bodyPr wrap="none" rtlCol="0">
            <a:spAutoFit/>
          </a:bodyPr>
          <a:lstStyle/>
          <a:p>
            <a:r>
              <a:rPr lang="en-US" sz="1200" dirty="0">
                <a:solidFill>
                  <a:srgbClr val="000000"/>
                </a:solidFill>
              </a:rPr>
              <a:t>11.5%</a:t>
            </a:r>
          </a:p>
        </p:txBody>
      </p:sp>
      <p:cxnSp>
        <p:nvCxnSpPr>
          <p:cNvPr id="12" name="Straight Connector 11">
            <a:extLst>
              <a:ext uri="{FF2B5EF4-FFF2-40B4-BE49-F238E27FC236}">
                <a16:creationId xmlns:a16="http://schemas.microsoft.com/office/drawing/2014/main" id="{04DAB528-F698-53BD-3CFB-B62C3CE9BB82}"/>
              </a:ext>
            </a:extLst>
          </p:cNvPr>
          <p:cNvCxnSpPr>
            <a:cxnSpLocks/>
          </p:cNvCxnSpPr>
          <p:nvPr/>
        </p:nvCxnSpPr>
        <p:spPr>
          <a:xfrm flipV="1">
            <a:off x="152908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676DD6F-58D9-DF50-33E7-7DF7536F30BE}"/>
              </a:ext>
            </a:extLst>
          </p:cNvPr>
          <p:cNvCxnSpPr>
            <a:cxnSpLocks/>
          </p:cNvCxnSpPr>
          <p:nvPr/>
        </p:nvCxnSpPr>
        <p:spPr>
          <a:xfrm flipV="1">
            <a:off x="4400296"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62A56A9-E79F-E1E9-C726-0C7333D71C4A}"/>
              </a:ext>
            </a:extLst>
          </p:cNvPr>
          <p:cNvCxnSpPr>
            <a:cxnSpLocks/>
          </p:cNvCxnSpPr>
          <p:nvPr/>
        </p:nvCxnSpPr>
        <p:spPr>
          <a:xfrm flipV="1">
            <a:off x="582676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3D9AEEC-7651-4F5B-C848-733BF8A80DAD}"/>
              </a:ext>
            </a:extLst>
          </p:cNvPr>
          <p:cNvCxnSpPr>
            <a:cxnSpLocks/>
          </p:cNvCxnSpPr>
          <p:nvPr/>
        </p:nvCxnSpPr>
        <p:spPr>
          <a:xfrm flipV="1">
            <a:off x="867372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9DF7EE3-5C8F-D2C9-FA7C-D8B3B3A66179}"/>
              </a:ext>
            </a:extLst>
          </p:cNvPr>
          <p:cNvCxnSpPr>
            <a:cxnSpLocks/>
          </p:cNvCxnSpPr>
          <p:nvPr/>
        </p:nvCxnSpPr>
        <p:spPr>
          <a:xfrm flipV="1">
            <a:off x="963384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6272E02-90D5-4E60-D966-2460B9A608E6}"/>
              </a:ext>
            </a:extLst>
          </p:cNvPr>
          <p:cNvCxnSpPr>
            <a:cxnSpLocks/>
          </p:cNvCxnSpPr>
          <p:nvPr/>
        </p:nvCxnSpPr>
        <p:spPr>
          <a:xfrm flipV="1">
            <a:off x="10584823"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C749822-E163-8347-F3CC-BC6BC8D411A2}"/>
              </a:ext>
            </a:extLst>
          </p:cNvPr>
          <p:cNvSpPr txBox="1"/>
          <p:nvPr/>
        </p:nvSpPr>
        <p:spPr>
          <a:xfrm>
            <a:off x="1041446" y="1567064"/>
            <a:ext cx="487634" cy="307777"/>
          </a:xfrm>
          <a:prstGeom prst="rect">
            <a:avLst/>
          </a:prstGeom>
          <a:noFill/>
        </p:spPr>
        <p:txBody>
          <a:bodyPr wrap="none" rtlCol="0">
            <a:spAutoFit/>
          </a:bodyPr>
          <a:lstStyle/>
          <a:p>
            <a:r>
              <a:rPr lang="en-US" sz="1400" b="1" i="1" dirty="0" err="1">
                <a:solidFill>
                  <a:srgbClr val="000000"/>
                </a:solidFill>
              </a:rPr>
              <a:t>Aaa</a:t>
            </a:r>
            <a:endParaRPr lang="en-US" sz="1400" b="1" i="1" dirty="0">
              <a:solidFill>
                <a:srgbClr val="000000"/>
              </a:solidFill>
            </a:endParaRPr>
          </a:p>
        </p:txBody>
      </p:sp>
      <p:sp>
        <p:nvSpPr>
          <p:cNvPr id="27" name="TextBox 26">
            <a:extLst>
              <a:ext uri="{FF2B5EF4-FFF2-40B4-BE49-F238E27FC236}">
                <a16:creationId xmlns:a16="http://schemas.microsoft.com/office/drawing/2014/main" id="{CE0C9F17-FABE-0D85-F7A1-0523BB082CBD}"/>
              </a:ext>
            </a:extLst>
          </p:cNvPr>
          <p:cNvSpPr txBox="1"/>
          <p:nvPr/>
        </p:nvSpPr>
        <p:spPr>
          <a:xfrm>
            <a:off x="2727034" y="1567064"/>
            <a:ext cx="498855" cy="307777"/>
          </a:xfrm>
          <a:prstGeom prst="rect">
            <a:avLst/>
          </a:prstGeom>
          <a:noFill/>
        </p:spPr>
        <p:txBody>
          <a:bodyPr wrap="none" rtlCol="0">
            <a:spAutoFit/>
          </a:bodyPr>
          <a:lstStyle/>
          <a:p>
            <a:r>
              <a:rPr lang="en-US" sz="1400" b="1" i="1" dirty="0">
                <a:solidFill>
                  <a:srgbClr val="000000"/>
                </a:solidFill>
              </a:rPr>
              <a:t>Aa1</a:t>
            </a:r>
          </a:p>
        </p:txBody>
      </p:sp>
      <p:sp>
        <p:nvSpPr>
          <p:cNvPr id="28" name="TextBox 27">
            <a:extLst>
              <a:ext uri="{FF2B5EF4-FFF2-40B4-BE49-F238E27FC236}">
                <a16:creationId xmlns:a16="http://schemas.microsoft.com/office/drawing/2014/main" id="{03CD8BB1-645A-3842-C5BA-D01BE4279C90}"/>
              </a:ext>
            </a:extLst>
          </p:cNvPr>
          <p:cNvSpPr txBox="1"/>
          <p:nvPr/>
        </p:nvSpPr>
        <p:spPr>
          <a:xfrm>
            <a:off x="4891532" y="1567064"/>
            <a:ext cx="498855" cy="307777"/>
          </a:xfrm>
          <a:prstGeom prst="rect">
            <a:avLst/>
          </a:prstGeom>
          <a:noFill/>
        </p:spPr>
        <p:txBody>
          <a:bodyPr wrap="none" rtlCol="0">
            <a:spAutoFit/>
          </a:bodyPr>
          <a:lstStyle/>
          <a:p>
            <a:r>
              <a:rPr lang="en-US" sz="1400" b="1" i="1" dirty="0">
                <a:solidFill>
                  <a:srgbClr val="000000"/>
                </a:solidFill>
              </a:rPr>
              <a:t>Aa2</a:t>
            </a:r>
          </a:p>
        </p:txBody>
      </p:sp>
      <p:sp>
        <p:nvSpPr>
          <p:cNvPr id="29" name="TextBox 28">
            <a:extLst>
              <a:ext uri="{FF2B5EF4-FFF2-40B4-BE49-F238E27FC236}">
                <a16:creationId xmlns:a16="http://schemas.microsoft.com/office/drawing/2014/main" id="{0F31C291-DBA3-9997-AA98-B1D81AAF82CE}"/>
              </a:ext>
            </a:extLst>
          </p:cNvPr>
          <p:cNvSpPr txBox="1"/>
          <p:nvPr/>
        </p:nvSpPr>
        <p:spPr>
          <a:xfrm>
            <a:off x="7039773" y="1567064"/>
            <a:ext cx="498855" cy="307777"/>
          </a:xfrm>
          <a:prstGeom prst="rect">
            <a:avLst/>
          </a:prstGeom>
          <a:noFill/>
        </p:spPr>
        <p:txBody>
          <a:bodyPr wrap="none" rtlCol="0">
            <a:spAutoFit/>
          </a:bodyPr>
          <a:lstStyle/>
          <a:p>
            <a:r>
              <a:rPr lang="en-US" sz="1400" b="1" i="1" dirty="0">
                <a:solidFill>
                  <a:srgbClr val="000000"/>
                </a:solidFill>
              </a:rPr>
              <a:t>Aa3</a:t>
            </a:r>
          </a:p>
        </p:txBody>
      </p:sp>
      <p:sp>
        <p:nvSpPr>
          <p:cNvPr id="30" name="TextBox 29">
            <a:extLst>
              <a:ext uri="{FF2B5EF4-FFF2-40B4-BE49-F238E27FC236}">
                <a16:creationId xmlns:a16="http://schemas.microsoft.com/office/drawing/2014/main" id="{47C4FC26-7DC5-0161-C111-70D6673FF1E6}"/>
              </a:ext>
            </a:extLst>
          </p:cNvPr>
          <p:cNvSpPr txBox="1"/>
          <p:nvPr/>
        </p:nvSpPr>
        <p:spPr>
          <a:xfrm>
            <a:off x="8929579" y="1567064"/>
            <a:ext cx="405880" cy="307777"/>
          </a:xfrm>
          <a:prstGeom prst="rect">
            <a:avLst/>
          </a:prstGeom>
          <a:noFill/>
        </p:spPr>
        <p:txBody>
          <a:bodyPr wrap="none" rtlCol="0">
            <a:spAutoFit/>
          </a:bodyPr>
          <a:lstStyle/>
          <a:p>
            <a:r>
              <a:rPr lang="en-US" sz="1400" b="1" i="1" dirty="0">
                <a:solidFill>
                  <a:srgbClr val="000000"/>
                </a:solidFill>
              </a:rPr>
              <a:t>A1</a:t>
            </a:r>
          </a:p>
        </p:txBody>
      </p:sp>
      <p:sp>
        <p:nvSpPr>
          <p:cNvPr id="31" name="TextBox 30">
            <a:extLst>
              <a:ext uri="{FF2B5EF4-FFF2-40B4-BE49-F238E27FC236}">
                <a16:creationId xmlns:a16="http://schemas.microsoft.com/office/drawing/2014/main" id="{CD92FD62-EBD1-F19C-0B58-B130F3C0A3CD}"/>
              </a:ext>
            </a:extLst>
          </p:cNvPr>
          <p:cNvSpPr txBox="1"/>
          <p:nvPr/>
        </p:nvSpPr>
        <p:spPr>
          <a:xfrm>
            <a:off x="9922513" y="1567064"/>
            <a:ext cx="405880" cy="307777"/>
          </a:xfrm>
          <a:prstGeom prst="rect">
            <a:avLst/>
          </a:prstGeom>
          <a:noFill/>
        </p:spPr>
        <p:txBody>
          <a:bodyPr wrap="none" rtlCol="0">
            <a:spAutoFit/>
          </a:bodyPr>
          <a:lstStyle/>
          <a:p>
            <a:r>
              <a:rPr lang="en-US" sz="1400" b="1" i="1" dirty="0">
                <a:solidFill>
                  <a:srgbClr val="000000"/>
                </a:solidFill>
              </a:rPr>
              <a:t>A2</a:t>
            </a:r>
          </a:p>
        </p:txBody>
      </p:sp>
      <p:sp>
        <p:nvSpPr>
          <p:cNvPr id="32" name="TextBox 31">
            <a:extLst>
              <a:ext uri="{FF2B5EF4-FFF2-40B4-BE49-F238E27FC236}">
                <a16:creationId xmlns:a16="http://schemas.microsoft.com/office/drawing/2014/main" id="{B21C8DCD-A94A-82E6-B1BA-D01841C95B89}"/>
              </a:ext>
            </a:extLst>
          </p:cNvPr>
          <p:cNvSpPr txBox="1"/>
          <p:nvPr/>
        </p:nvSpPr>
        <p:spPr>
          <a:xfrm>
            <a:off x="10946031" y="1567064"/>
            <a:ext cx="405880" cy="307777"/>
          </a:xfrm>
          <a:prstGeom prst="rect">
            <a:avLst/>
          </a:prstGeom>
          <a:noFill/>
        </p:spPr>
        <p:txBody>
          <a:bodyPr wrap="none" rtlCol="0">
            <a:spAutoFit/>
          </a:bodyPr>
          <a:lstStyle/>
          <a:p>
            <a:r>
              <a:rPr lang="en-US" sz="1400" b="1" i="1" dirty="0">
                <a:solidFill>
                  <a:srgbClr val="000000"/>
                </a:solidFill>
              </a:rPr>
              <a:t>Baa1</a:t>
            </a:r>
          </a:p>
        </p:txBody>
      </p:sp>
      <p:sp>
        <p:nvSpPr>
          <p:cNvPr id="33" name="TextBox 32"/>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institutions’ audited FY2025 financial statements; Moody’s; methodology in speaker notes</a:t>
            </a:r>
          </a:p>
        </p:txBody>
      </p:sp>
      <p:sp>
        <p:nvSpPr>
          <p:cNvPr id="3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29</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hart heading [PEER_KEEP]"/>
          <p:cNvSpPr txBox="1"/>
          <p:nvPr/>
        </p:nvSpPr>
        <p:spPr>
          <a:xfrm>
            <a:off x="768096" y="1481328"/>
            <a:ext cx="7315200" cy="237744"/>
          </a:xfrm>
          <a:prstGeom prst="rect">
            <a:avLst/>
          </a:prstGeom>
          <a:noFill/>
        </p:spPr>
        <p:txBody>
          <a:bodyPr wrap="square" lIns="0" tIns="0" r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PEER_KEEP]"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xmlns:r="http://schemas.openxmlformats.org/officeDocument/2006/relationships" r:id="rId3"/>
          </a:graphicData>
        </a:graphic>
      </p:graphicFrame>
      <p:cxnSp>
        <p:nvCxnSpPr>
          <p:cNvPr id="9" name="Leader Rice [PEER_KEEP]"/>
          <p:cNvCxnSpPr/>
          <p:nvPr/>
        </p:nvCxnSpPr>
        <p:spPr>
          <a:xfrm>
            <a:off x="2325072" y="2625914"/>
            <a:ext cx="203863"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0" name="Leader Vanderbilt [PEER_KEEP]"/>
          <p:cNvCxnSpPr/>
          <p:nvPr/>
        </p:nvCxnSpPr>
        <p:spPr>
          <a:xfrm>
            <a:off x="2428786" y="3156343"/>
            <a:ext cx="0" cy="77724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1" name="Leader Northwestern [PEER_KEEP]"/>
          <p:cNvCxnSpPr/>
          <p:nvPr/>
        </p:nvCxnSpPr>
        <p:spPr>
          <a:xfrm>
            <a:off x="2659986" y="3271719"/>
            <a:ext cx="593459" cy="66206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2" name="Leader Princeton [PEER_KEEP]"/>
          <p:cNvCxnSpPr/>
          <p:nvPr/>
        </p:nvCxnSpPr>
        <p:spPr>
          <a:xfrm>
            <a:off x="3852448" y="2942317"/>
            <a:ext cx="145261"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3" name="Leader Harvard [PEER_KEEP]"/>
          <p:cNvCxnSpPr/>
          <p:nvPr/>
        </p:nvCxnSpPr>
        <p:spPr>
          <a:xfrm>
            <a:off x="3762615" y="3447269"/>
            <a:ext cx="159790" cy="16091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4" name="Leader Yale [PEER_KEEP]"/>
          <p:cNvCxnSpPr/>
          <p:nvPr/>
        </p:nvCxnSpPr>
        <p:spPr>
          <a:xfrm>
            <a:off x="4791759" y="2824387"/>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5" name="Leader Chicago [PEER_KEEP]"/>
          <p:cNvCxnSpPr/>
          <p:nvPr/>
        </p:nvCxnSpPr>
        <p:spPr>
          <a:xfrm>
            <a:off x="6170129" y="3204570"/>
            <a:ext cx="145260"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6" name="Leader Duke [PEER_KEEP]"/>
          <p:cNvCxnSpPr/>
          <p:nvPr/>
        </p:nvCxnSpPr>
        <p:spPr>
          <a:xfrm>
            <a:off x="7421820" y="3086600"/>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7" name="Leader Emory [PEER_KEEP]"/>
          <p:cNvCxnSpPr/>
          <p:nvPr/>
        </p:nvCxnSpPr>
        <p:spPr>
          <a:xfrm>
            <a:off x="8210220" y="2768292"/>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8" name="Leader Penn [PEER_KEEP]"/>
          <p:cNvCxnSpPr/>
          <p:nvPr/>
        </p:nvCxnSpPr>
        <p:spPr>
          <a:xfrm>
            <a:off x="8062519" y="366435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9" name="Leader Stanford [PEER_KEEP]"/>
          <p:cNvCxnSpPr/>
          <p:nvPr/>
        </p:nvCxnSpPr>
        <p:spPr>
          <a:xfrm flipH="1">
            <a:off x="10936091" y="310380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0" name="Leader Boston University [PEER_KEEP]"/>
          <p:cNvCxnSpPr/>
          <p:nvPr/>
        </p:nvCxnSpPr>
        <p:spPr>
          <a:xfrm flipV="1">
            <a:off x="1836358" y="2537673"/>
            <a:ext cx="0" cy="390906"/>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1" name="Leader MIT [PEER_KEEP]"/>
          <p:cNvCxnSpPr/>
          <p:nvPr/>
        </p:nvCxnSpPr>
        <p:spPr>
          <a:xfrm>
            <a:off x="5316651" y="3497277"/>
            <a:ext cx="273277" cy="27327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2" name="Leader Northeastern [PEER_KEEP]"/>
          <p:cNvCxnSpPr/>
          <p:nvPr/>
        </p:nvCxnSpPr>
        <p:spPr>
          <a:xfrm>
            <a:off x="1723757" y="3397717"/>
            <a:ext cx="0" cy="224028"/>
          </a:xfrm>
          <a:prstGeom prst="line">
            <a:avLst/>
          </a:prstGeom>
          <a:ln w="6350">
            <a:solidFill>
              <a:srgbClr val="C8102E"/>
            </a:solidFill>
          </a:ln>
        </p:spPr>
        <p:style>
          <a:lnRef idx="2">
            <a:srgbClr val="C8102E"/>
          </a:lnRef>
          <a:fillRef idx="0">
            <a:srgbClr val="C8102E"/>
          </a:fillRef>
          <a:effectRef idx="1">
            <a:srgbClr val="C8102E"/>
          </a:effectRef>
          <a:fontRef idx="minor">
            <a:srgbClr val="000000"/>
          </a:fontRef>
        </p:style>
      </p:cxnSp>
      <p:sp>
        <p:nvSpPr>
          <p:cNvPr id="23" name="Label Rice [PEER_KEEP]"/>
          <p:cNvSpPr txBox="1"/>
          <p:nvPr/>
        </p:nvSpPr>
        <p:spPr>
          <a:xfrm>
            <a:off x="2528935" y="2475038"/>
            <a:ext cx="1082746"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EER_KEEP]"/>
          <p:cNvSpPr txBox="1"/>
          <p:nvPr/>
        </p:nvSpPr>
        <p:spPr>
          <a:xfrm>
            <a:off x="1857949" y="3933583"/>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EER_KEEP]"/>
          <p:cNvSpPr txBox="1"/>
          <p:nvPr/>
        </p:nvSpPr>
        <p:spPr>
          <a:xfrm>
            <a:off x="3253445" y="3933786"/>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EER_KEEP]"/>
          <p:cNvSpPr txBox="1"/>
          <p:nvPr/>
        </p:nvSpPr>
        <p:spPr>
          <a:xfrm>
            <a:off x="3997709" y="3087578"/>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EER_KEEP]"/>
          <p:cNvSpPr txBox="1"/>
          <p:nvPr/>
        </p:nvSpPr>
        <p:spPr>
          <a:xfrm>
            <a:off x="3922405" y="3608179"/>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EER_KEEP]"/>
          <p:cNvSpPr txBox="1"/>
          <p:nvPr/>
        </p:nvSpPr>
        <p:spPr>
          <a:xfrm>
            <a:off x="4999785" y="267351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EER_KEEP]"/>
          <p:cNvSpPr txBox="1"/>
          <p:nvPr/>
        </p:nvSpPr>
        <p:spPr>
          <a:xfrm>
            <a:off x="6315389" y="334983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EER_KEEP]"/>
          <p:cNvSpPr txBox="1"/>
          <p:nvPr/>
        </p:nvSpPr>
        <p:spPr>
          <a:xfrm>
            <a:off x="7629846" y="293572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EER_KEEP]"/>
          <p:cNvSpPr txBox="1"/>
          <p:nvPr/>
        </p:nvSpPr>
        <p:spPr>
          <a:xfrm>
            <a:off x="8418246" y="2617416"/>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EER_KEEP]"/>
          <p:cNvSpPr txBox="1"/>
          <p:nvPr/>
        </p:nvSpPr>
        <p:spPr>
          <a:xfrm>
            <a:off x="8270545" y="351347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EER_KEEP]"/>
          <p:cNvSpPr txBox="1"/>
          <p:nvPr/>
        </p:nvSpPr>
        <p:spPr>
          <a:xfrm>
            <a:off x="9551442" y="295292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EER_KEEP]"/>
          <p:cNvSpPr txBox="1"/>
          <p:nvPr/>
        </p:nvSpPr>
        <p:spPr>
          <a:xfrm>
            <a:off x="1265521" y="2235921"/>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EER_KEEP]"/>
          <p:cNvSpPr txBox="1"/>
          <p:nvPr/>
        </p:nvSpPr>
        <p:spPr>
          <a:xfrm>
            <a:off x="5589928" y="377055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EER_KEEP]"/>
          <p:cNvSpPr txBox="1"/>
          <p:nvPr/>
        </p:nvSpPr>
        <p:spPr>
          <a:xfrm>
            <a:off x="1161288" y="3621745"/>
            <a:ext cx="1141674" cy="301752"/>
          </a:xfrm>
          <a:prstGeom prst="rect">
            <a:avLst/>
          </a:prstGeom>
          <a:solidFill>
            <a:srgbClr val="FFFFFF">
              <a:alpha val="80000"/>
            </a:srgbClr>
          </a:solidFill>
        </p:spPr>
        <p:txBody>
          <a:bodyPr wrap="none" lIns="27432" tIns="0" rIns="27432"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EER_KEEP]"/>
          <p:cNvSpPr/>
          <p:nvPr/>
        </p:nvSpPr>
        <p:spPr>
          <a:xfrm>
            <a:off x="4815829" y="1547622"/>
            <a:ext cx="105156" cy="105156"/>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38" name="Legend [PEER_KEEP]"/>
          <p:cNvSpPr txBox="1"/>
          <p:nvPr/>
        </p:nvSpPr>
        <p:spPr>
          <a:xfrm>
            <a:off x="4996423" y="1508760"/>
            <a:ext cx="957437" cy="182880"/>
          </a:xfrm>
          <a:prstGeom prst="rect">
            <a:avLst/>
          </a:prstGeom>
          <a:noFill/>
        </p:spPr>
        <p:txBody>
          <a:bodyPr wrap="none" lIns="0" tIns="0" rIns="0" bIns="0" anchor="ctr">
            <a:spAutoFit/>
          </a:bodyPr>
          <a:lstStyle/>
          <a:p>
            <a:pPr algn="l"/>
            <a:r>
              <a:rPr sz="950" b="0" i="0">
                <a:solidFill>
                  <a:srgbClr val="000000"/>
                </a:solidFill>
                <a:latin typeface="Lato"/>
              </a:rPr>
              <a:t>No health system</a:t>
            </a:r>
          </a:p>
        </p:txBody>
      </p:sp>
      <p:sp>
        <p:nvSpPr>
          <p:cNvPr id="39" name="Legend [PEER_KEEP]"/>
          <p:cNvSpPr/>
          <p:nvPr/>
        </p:nvSpPr>
        <p:spPr>
          <a:xfrm>
            <a:off x="6221322" y="1547622"/>
            <a:ext cx="105156" cy="105156"/>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0" name="Legend [PEER_KEEP]"/>
          <p:cNvSpPr txBox="1"/>
          <p:nvPr/>
        </p:nvSpPr>
        <p:spPr>
          <a:xfrm>
            <a:off x="6401916" y="1508760"/>
            <a:ext cx="1658309" cy="182880"/>
          </a:xfrm>
          <a:prstGeom prst="rect">
            <a:avLst/>
          </a:prstGeom>
          <a:noFill/>
        </p:spPr>
        <p:txBody>
          <a:bodyPr wrap="none" lIns="0" tIns="0" rIns="0" bIns="0" anchor="ctr">
            <a:spAutoFit/>
          </a:bodyPr>
          <a:lstStyle/>
          <a:p>
            <a:pPr algn="l"/>
            <a:r>
              <a:rPr sz="950" b="0" i="0">
                <a:solidFill>
                  <a:srgbClr val="000000"/>
                </a:solidFill>
                <a:latin typeface="Lato"/>
              </a:rPr>
              <a:t>Health system consolidated (1)</a:t>
            </a:r>
          </a:p>
        </p:txBody>
      </p:sp>
      <p:sp>
        <p:nvSpPr>
          <p:cNvPr id="41" name="Legend [PEER_KEEP]"/>
          <p:cNvSpPr/>
          <p:nvPr/>
        </p:nvSpPr>
        <p:spPr>
          <a:xfrm>
            <a:off x="8327688" y="1547622"/>
            <a:ext cx="105156" cy="105156"/>
          </a:xfrm>
          <a:prstGeom prst="ellipse">
            <a:avLst/>
          </a:prstGeom>
          <a:solidFill>
            <a:srgbClr val="8FA9F5"/>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2" name="Legend [PEER_KEEP]"/>
          <p:cNvSpPr txBox="1"/>
          <p:nvPr/>
        </p:nvSpPr>
        <p:spPr>
          <a:xfrm>
            <a:off x="8508282" y="1508760"/>
            <a:ext cx="2004462" cy="182880"/>
          </a:xfrm>
          <a:prstGeom prst="rect">
            <a:avLst/>
          </a:prstGeom>
          <a:noFill/>
        </p:spPr>
        <p:txBody>
          <a:bodyPr wrap="none" lIns="0" tIns="0" rIns="0" bIns="0" anchor="ctr">
            <a:spAutoFit/>
          </a:bodyPr>
          <a:lstStyle/>
          <a:p>
            <a:pPr algn="l"/>
            <a:r>
              <a:rPr sz="950" b="0" i="0">
                <a:solidFill>
                  <a:srgbClr val="000000"/>
                </a:solidFill>
                <a:latin typeface="Lato"/>
              </a:rPr>
              <a:t>Health system, S&amp;W estimated (1) (4)</a:t>
            </a:r>
          </a:p>
        </p:txBody>
      </p:sp>
      <p:sp>
        <p:nvSpPr>
          <p:cNvPr id="43" name="Legend [PEER_KEEP]"/>
          <p:cNvSpPr/>
          <p:nvPr/>
        </p:nvSpPr>
        <p:spPr>
          <a:xfrm>
            <a:off x="10759632" y="1527048"/>
            <a:ext cx="146304" cy="146304"/>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4" name="Legend [PEER_KEEP]"/>
          <p:cNvSpPr txBox="1"/>
          <p:nvPr/>
        </p:nvSpPr>
        <p:spPr>
          <a:xfrm>
            <a:off x="10960800" y="1508760"/>
            <a:ext cx="743519" cy="182880"/>
          </a:xfrm>
          <a:prstGeom prst="rect">
            <a:avLst/>
          </a:prstGeom>
          <a:noFill/>
        </p:spPr>
        <p:txBody>
          <a:bodyPr wrap="none" lIns="0" tIns="0" rIns="0" bIns="0" anchor="ctr">
            <a:spAutoFit/>
          </a:bodyPr>
          <a:lstStyle/>
          <a:p>
            <a:pPr algn="l"/>
            <a:r>
              <a:rPr sz="950" b="0" i="0">
                <a:solidFill>
                  <a:srgbClr val="000000"/>
                </a:solidFill>
                <a:latin typeface="Lato"/>
              </a:rPr>
              <a:t>Northeastern</a:t>
            </a:r>
          </a:p>
        </p:txBody>
      </p:sp>
      <p:sp>
        <p:nvSpPr>
          <p:cNvPr id="45" name="TextBox 44"/>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Northeastern’s S&amp;W per student is $25K, the lowest in the peer set, at a 46% share of expenses vs a 49% peer median</a:t>
            </a:r>
          </a:p>
        </p:txBody>
      </p:sp>
      <p:sp>
        <p:nvSpPr>
          <p:cNvPr id="46" name="TextBox 45"/>
          <p:cNvSpPr txBox="1"/>
          <p:nvPr/>
        </p:nvSpPr>
        <p:spPr>
          <a:xfrm>
            <a:off x="457200" y="1097280"/>
            <a:ext cx="11274552" cy="274320"/>
          </a:xfrm>
          <a:prstGeom prst="rect">
            <a:avLst/>
          </a:prstGeom>
          <a:noFill/>
        </p:spPr>
        <p:txBody>
          <a:bodyPr wrap="square" lIns="0" tIns="0" rIns="0" bIns="0" anchor="t">
            <a:spAutoFit/>
          </a:bodyPr>
          <a:lstStyle/>
          <a:p>
            <a:pPr algn="l"/>
            <a:r>
              <a:rPr sz="1400" b="0" i="0">
                <a:solidFill>
                  <a:srgbClr val="595959"/>
                </a:solidFill>
                <a:latin typeface="Lato"/>
              </a:rPr>
              <a:t>Core operating expense per student and S&amp;W share of that expense; dashed lines, labelled at top, mark constant S&amp;W per student</a:t>
            </a:r>
          </a:p>
        </p:txBody>
      </p:sp>
      <p:sp>
        <p:nvSpPr>
          <p:cNvPr id="47" name="TextBox 46"/>
          <p:cNvSpPr txBox="1"/>
          <p:nvPr/>
        </p:nvSpPr>
        <p:spPr>
          <a:xfrm>
            <a:off x="457200" y="5920740"/>
            <a:ext cx="11274552" cy="480060"/>
          </a:xfrm>
          <a:prstGeom prst="rect">
            <a:avLst/>
          </a:prstGeom>
          <a:noFill/>
        </p:spPr>
        <p:txBody>
          <a:bodyPr wrap="square" lIns="0" tIns="0" rIns="0" bIns="0" anchor="b">
            <a:spAutoFit/>
          </a:bodyPr>
          <a:lstStyle/>
          <a:p>
            <a:pPr algn="l"/>
            <a:r>
              <a:rPr sz="700" b="0" i="0">
                <a:solidFill>
                  <a:srgbClr val="595959"/>
                </a:solidFill>
                <a:latin typeface="Lato"/>
              </a:rPr>
              <a:t>(1) Blue markers: consolidates a health care system (academic medical center): Chicago, Duke, Emory, Penn, Stanford.  (2) Consolidates a federal laboratory: MIT (Lincoln Laboratory), Princeton (Plasma Physics Laboratory), Stanford (SLAC).</a:t>
            </a:r>
          </a:p>
          <a:p>
            <a:pPr algn="l"/>
            <a:r>
              <a:rPr sz="700" b="0" i="0">
                <a:solidFill>
                  <a:srgbClr val="595959"/>
                </a:solidFill>
                <a:latin typeface="Lato"/>
              </a:rP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pPr algn="l"/>
            <a:r>
              <a:rPr sz="700" b="0" i="0">
                <a:solidFill>
                  <a:srgbClr val="595959"/>
                </a:solidFill>
                <a:latin typeface="Lato"/>
              </a:rP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48"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University FY25 audited financial statements, IRS Form 990 filings, Common Data Sets; Northeastern analysis.</a:t>
            </a:r>
          </a:p>
        </p:txBody>
      </p:sp>
      <p:sp>
        <p:nvSpPr>
          <p:cNvPr id="4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30</a:t>
            </a:fld>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011680"/>
            <a:ext cx="1828800" cy="1463040"/>
          </a:xfrm>
          <a:prstGeom prst="rect">
            <a:avLst/>
          </a:prstGeom>
          <a:noFill/>
        </p:spPr>
        <p:txBody>
          <a:bodyPr wrap="square" lIns="0" tIns="0" rIns="0" bIns="0" anchor="t">
            <a:spAutoFit/>
          </a:bodyPr>
          <a:lstStyle/>
          <a:p>
            <a:pPr algn="l"/>
            <a:r>
              <a:rPr sz="9600" b="1" i="0">
                <a:solidFill>
                  <a:srgbClr val="C8102E"/>
                </a:solidFill>
                <a:latin typeface="Lato"/>
              </a:rPr>
              <a:t>3</a:t>
            </a:r>
          </a:p>
        </p:txBody>
      </p:sp>
      <p:sp>
        <p:nvSpPr>
          <p:cNvPr id="3" name="TextBox 2"/>
          <p:cNvSpPr txBox="1"/>
          <p:nvPr/>
        </p:nvSpPr>
        <p:spPr>
          <a:xfrm>
            <a:off x="283464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3291840"/>
            <a:ext cx="8229600" cy="1097280"/>
          </a:xfrm>
          <a:prstGeom prst="rect">
            <a:avLst/>
          </a:prstGeom>
          <a:noFill/>
        </p:spPr>
        <p:txBody>
          <a:bodyPr wrap="square" lIns="0" tIns="0" rIns="0" bIns="0" anchor="t">
            <a:spAutoFit/>
          </a:bodyPr>
          <a:lstStyle/>
          <a:p>
            <a:pPr algn="l"/>
            <a:r>
              <a:rPr sz="1800" b="0" i="0">
                <a:solidFill>
                  <a:srgbClr val="595959"/>
                </a:solidFill>
                <a:latin typeface="Lato"/>
              </a:rPr>
              <a:t>What to watch, and where Legal is likely to be engaged</a:t>
            </a:r>
          </a:p>
        </p:txBody>
      </p:sp>
      <p:sp>
        <p:nvSpPr>
          <p:cNvPr id="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31</a:t>
            </a:fld>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tatement [PEER_KEEP]"/>
          <p:cNvSpPr txBox="1"/>
          <p:nvPr/>
        </p:nvSpPr>
        <p:spPr>
          <a:xfrm>
            <a:off x="768096" y="1207008"/>
            <a:ext cx="10972800" cy="274320"/>
          </a:xfrm>
          <a:prstGeom prst="rect">
            <a:avLst/>
          </a:prstGeom>
          <a:noFill/>
        </p:spPr>
        <p:txBody>
          <a:bodyPr wrap="square" lIns="0" tIns="0" rIns="0" bIns="0" anchor="t">
            <a:spAutoFit/>
          </a:bodyPr>
          <a:lstStyle/>
          <a:p>
            <a:pPr algn="l"/>
            <a:r>
              <a:rPr sz="1600" b="1" i="1">
                <a:solidFill>
                  <a:srgbClr val="000000"/>
                </a:solidFill>
                <a:latin typeface="Lato"/>
              </a:rPr>
              <a:t>_____ are aware of and understand the financial challenges confronting my institution</a:t>
            </a:r>
          </a:p>
        </p:txBody>
      </p:sp>
      <p:sp>
        <p:nvSpPr>
          <p:cNvPr id="8" name="Scale note [PEER_KEEP]"/>
          <p:cNvSpPr txBox="1"/>
          <p:nvPr/>
        </p:nvSpPr>
        <p:spPr>
          <a:xfrm>
            <a:off x="768096" y="1499616"/>
            <a:ext cx="10972800" cy="201168"/>
          </a:xfrm>
          <a:prstGeom prst="rect">
            <a:avLst/>
          </a:prstGeom>
          <a:noFill/>
        </p:spPr>
        <p:txBody>
          <a:bodyPr wrap="square" lIns="0" tIns="0" r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EER_KEEP]"/>
          <p:cNvSpPr/>
          <p:nvPr/>
        </p:nvSpPr>
        <p:spPr>
          <a:xfrm>
            <a:off x="768096" y="1801368"/>
            <a:ext cx="128016" cy="128016"/>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 name="Legend text Faculty [PEER_KEEP]"/>
          <p:cNvSpPr txBox="1"/>
          <p:nvPr/>
        </p:nvSpPr>
        <p:spPr>
          <a:xfrm>
            <a:off x="969264" y="1773936"/>
            <a:ext cx="509690" cy="182880"/>
          </a:xfrm>
          <a:prstGeom prst="rect">
            <a:avLst/>
          </a:prstGeom>
          <a:noFill/>
        </p:spPr>
        <p:txBody>
          <a:bodyPr wrap="none" lIns="0" tIns="0" rIns="0" bIns="0" anchor="ctr">
            <a:spAutoFit/>
          </a:bodyPr>
          <a:lstStyle/>
          <a:p>
            <a:pPr algn="l"/>
            <a:r>
              <a:rPr sz="1050" b="0" i="0">
                <a:solidFill>
                  <a:srgbClr val="000000"/>
                </a:solidFill>
                <a:latin typeface="Lato"/>
              </a:rPr>
              <a:t>Faculty</a:t>
            </a:r>
          </a:p>
        </p:txBody>
      </p:sp>
      <p:sp>
        <p:nvSpPr>
          <p:cNvPr id="11" name="Legend Trustees [PEER_KEEP]"/>
          <p:cNvSpPr/>
          <p:nvPr/>
        </p:nvSpPr>
        <p:spPr>
          <a:xfrm>
            <a:off x="1789850" y="1792224"/>
            <a:ext cx="146304" cy="146304"/>
          </a:xfrm>
          <a:prstGeom prst="ellipse">
            <a:avLst/>
          </a:prstGeom>
          <a:solidFill>
            <a:srgbClr val="8A8D8F"/>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2" name="Legend text Trustees [PEER_KEEP]"/>
          <p:cNvSpPr txBox="1"/>
          <p:nvPr/>
        </p:nvSpPr>
        <p:spPr>
          <a:xfrm>
            <a:off x="2000162" y="1773936"/>
            <a:ext cx="582147" cy="182880"/>
          </a:xfrm>
          <a:prstGeom prst="rect">
            <a:avLst/>
          </a:prstGeom>
          <a:noFill/>
        </p:spPr>
        <p:txBody>
          <a:bodyPr wrap="none" lIns="0" tIns="0" rIns="0" bIns="0" anchor="ctr">
            <a:spAutoFit/>
          </a:bodyPr>
          <a:lstStyle/>
          <a:p>
            <a:pPr algn="l"/>
            <a:r>
              <a:rPr sz="1050" b="0" i="0">
                <a:solidFill>
                  <a:srgbClr val="000000"/>
                </a:solidFill>
                <a:latin typeface="Lato"/>
              </a:rPr>
              <a:t>Trustees</a:t>
            </a:r>
          </a:p>
        </p:txBody>
      </p:sp>
      <p:sp>
        <p:nvSpPr>
          <p:cNvPr id="14" name="Legend text Sr. Administrators [PEER_KEEP]"/>
          <p:cNvSpPr txBox="1"/>
          <p:nvPr/>
        </p:nvSpPr>
        <p:spPr>
          <a:xfrm>
            <a:off x="3103517" y="1773936"/>
            <a:ext cx="1125704" cy="182880"/>
          </a:xfrm>
          <a:prstGeom prst="rect">
            <a:avLst/>
          </a:prstGeom>
          <a:noFill/>
        </p:spPr>
        <p:txBody>
          <a:bodyPr wrap="none" lIns="0" tIns="0" rIns="0" bIns="0" anchor="ctr">
            <a:spAutoFit/>
          </a:bodyPr>
          <a:lstStyle/>
          <a:p>
            <a:pPr algn="l"/>
            <a:r>
              <a:rPr sz="1050" b="0" i="0">
                <a:solidFill>
                  <a:srgbClr val="000000"/>
                </a:solidFill>
                <a:latin typeface="Lato"/>
              </a:rPr>
              <a:t>Sr. Administrators</a:t>
            </a:r>
          </a:p>
        </p:txBody>
      </p:sp>
      <p:sp>
        <p:nvSpPr>
          <p:cNvPr id="15" name="Legend Trustees only (2025–26 item) [PEER_KEEP]"/>
          <p:cNvSpPr/>
          <p:nvPr/>
        </p:nvSpPr>
        <p:spPr>
          <a:xfrm>
            <a:off x="4558406" y="1810512"/>
            <a:ext cx="109728" cy="109728"/>
          </a:xfrm>
          <a:prstGeom prst="ellipse">
            <a:avLst/>
          </a:prstGeom>
          <a:solidFill>
            <a:srgbClr val="C9C9CC"/>
          </a:solidFill>
          <a:ln w="22225">
            <a:solidFill>
              <a:srgbClr val="8A8D8F"/>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6" name="Legend text Trustees only (2025–26 item) [PEER_KEEP]"/>
          <p:cNvSpPr txBox="1"/>
          <p:nvPr/>
        </p:nvSpPr>
        <p:spPr>
          <a:xfrm>
            <a:off x="4750430" y="1773936"/>
            <a:ext cx="1801372" cy="182880"/>
          </a:xfrm>
          <a:prstGeom prst="rect">
            <a:avLst/>
          </a:prstGeom>
          <a:noFill/>
        </p:spPr>
        <p:txBody>
          <a:bodyPr wrap="none" lIns="0" tIns="0" rIns="0" bIns="0" anchor="ctr">
            <a:spAutoFit/>
          </a:bodyPr>
          <a:lstStyle/>
          <a:p>
            <a:pPr algn="l"/>
            <a:r>
              <a:rPr sz="1050" b="0" i="0">
                <a:solidFill>
                  <a:srgbClr val="000000"/>
                </a:solidFill>
                <a:latin typeface="Lato"/>
              </a:rPr>
              <a:t>Trustees only (2025–26 item)</a:t>
            </a:r>
          </a:p>
        </p:txBody>
      </p:sp>
      <p:graphicFrame>
        <p:nvGraphicFramePr>
          <p:cNvPr id="17" name="Perception dot plot [PEER_KEEP]"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extLst>
              <p:ext uri="{D42A27DB-BD31-4B8C-83A1-F6EECF244321}">
                <p14:modId xmlns:p14="http://schemas.microsoft.com/office/powerpoint/2010/main" val="1731262970"/>
              </p:ext>
            </p:extLst>
          </p:nvPr>
        </p:nvGraphicFramePr>
        <p:xfrm>
          <a:off x="320040" y="2048255"/>
          <a:ext cx="11567160" cy="3822191"/>
        </p:xfrm>
        <a:graphic>
          <a:graphicData uri="http://schemas.openxmlformats.org/drawingml/2006/chart">
            <c:chart xmlns:c="http://schemas.openxmlformats.org/drawingml/2006/chart" xmlns:r="http://schemas.openxmlformats.org/officeDocument/2006/relationships" r:id="rId3"/>
          </a:graphicData>
        </a:graphic>
      </p:graphicFrame>
      <p:sp>
        <p:nvSpPr>
          <p:cNvPr id="18" name="Legend Trustees [PEER_KEEP]">
            <a:extLst>
              <a:ext uri="{FF2B5EF4-FFF2-40B4-BE49-F238E27FC236}">
                <a16:creationId xmlns:a16="http://schemas.microsoft.com/office/drawing/2014/main" id="{5888E14E-6735-14E2-AB18-A33BA3C84016}"/>
              </a:ext>
            </a:extLst>
          </p:cNvPr>
          <p:cNvSpPr/>
          <p:nvPr/>
        </p:nvSpPr>
        <p:spPr>
          <a:xfrm>
            <a:off x="2865773" y="1792224"/>
            <a:ext cx="146304" cy="146304"/>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9" name="TextBox 18"/>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Is there a dangerous disconnect in perception at our institutions?</a:t>
            </a:r>
          </a:p>
        </p:txBody>
      </p:sp>
      <p:sp>
        <p:nvSpPr>
          <p:cNvPr id="20" name="TextBox 19"/>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From Inside Higher Ed’s annual survey of college and university business officers</a:t>
            </a:r>
          </a:p>
        </p:txBody>
      </p:sp>
      <p:sp>
        <p:nvSpPr>
          <p:cNvPr id="21" name="TextBox 20"/>
          <p:cNvSpPr txBox="1"/>
          <p:nvPr/>
        </p:nvSpPr>
        <p:spPr>
          <a:xfrm>
            <a:off x="457200" y="6044184"/>
            <a:ext cx="11274552" cy="356616"/>
          </a:xfrm>
          <a:prstGeom prst="rect">
            <a:avLst/>
          </a:prstGeom>
          <a:noFill/>
        </p:spPr>
        <p:txBody>
          <a:bodyPr wrap="square" lIns="0" tIns="0" rIns="0" bIns="0" anchor="b">
            <a:spAutoFit/>
          </a:bodyPr>
          <a:lstStyle/>
          <a:p>
            <a:pPr algn="l"/>
            <a:r>
              <a:rPr sz="700" b="0" i="0">
                <a:solidFill>
                  <a:srgbClr val="595959"/>
                </a:solidFill>
                <a:latin typeface="Lato"/>
              </a:rPr>
              <a:t>* 2016 and 2017 faculty item asked whether faculty understand the challenges when they take part in budget discussions. Open markers, 2025–2026: a trustees-only statement (“Trustees understand…”); faculty and senior administrators were not asked.</a:t>
            </a:r>
          </a:p>
          <a:p>
            <a:pPr algn="l"/>
            <a:r>
              <a:rPr sz="700" b="0" i="0">
                <a:solidFill>
                  <a:srgbClr val="595959"/>
                </a:solidFill>
                <a:latin typeface="Lato"/>
              </a:rPr>
              <a:t>Note: All institutions. Wording 2015–2024: “aware of and understand” (the 2014 survey asked about “realistic”). Ratings are business officers’ perceptions of each group, not self-reports by faculty or trustees.</a:t>
            </a:r>
          </a:p>
        </p:txBody>
      </p:sp>
      <p:sp>
        <p:nvSpPr>
          <p:cNvPr id="22"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Survey of College and University (Chief) Business Officers, 2015–2026 (n = 133 to 416 per year).</a:t>
            </a:r>
          </a:p>
        </p:txBody>
      </p:sp>
      <p:sp>
        <p:nvSpPr>
          <p:cNvPr id="2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32</a:t>
            </a:fld>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tIns="0" r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tIns="0" r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tIns="0" r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1810512"/>
            <a:ext cx="2103120" cy="731520"/>
          </a:xfrm>
          <a:prstGeom prst="rect">
            <a:avLst/>
          </a:prstGeom>
          <a:noFill/>
        </p:spPr>
        <p:txBody>
          <a:bodyPr wrap="square" lIns="0" tIns="0" r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tIns="0" rIns="0" bIns="0" anchor="t">
            <a:spAutoFit/>
          </a:bodyPr>
          <a:lstStyle/>
          <a:p>
            <a:pPr algn="l"/>
            <a:r>
              <a:rPr sz="1200" b="0" i="0">
                <a:solidFill>
                  <a:srgbClr val="000000"/>
                </a:solidFill>
                <a:latin typeface="Lato"/>
              </a:rPr>
              <a:t>Operating margin recovered to 4.0% in FY26 from 1.1% in FY25, still 320 bp below FY18. EBIDA margin was 9.5% in FY25 (11.5% A-category median) and is 13.0% in FY26 (preliminary).</a:t>
            </a:r>
          </a:p>
        </p:txBody>
      </p:sp>
      <p:sp>
        <p:nvSpPr>
          <p:cNvPr id="9" name="TextBox 8"/>
          <p:cNvSpPr txBox="1"/>
          <p:nvPr/>
        </p:nvSpPr>
        <p:spPr>
          <a:xfrm>
            <a:off x="7406640" y="1810512"/>
            <a:ext cx="4297680" cy="777240"/>
          </a:xfrm>
          <a:prstGeom prst="rect">
            <a:avLst/>
          </a:prstGeom>
          <a:noFill/>
        </p:spPr>
        <p:txBody>
          <a:bodyPr wrap="square" lIns="0" tIns="0" rIns="0" bIns="0" anchor="t">
            <a:spAutoFit/>
          </a:bodyPr>
          <a:lstStyle/>
          <a:p>
            <a:pPr algn="l"/>
            <a:r>
              <a:rPr sz="1200" b="0" i="0">
                <a:solidFill>
                  <a:srgbClr val="000000"/>
                </a:solidFill>
                <a:latin typeface="Lato"/>
              </a:rPr>
              <a:t>Cost-reduction actions: workforce, vendor and lease commitments; consistency of external disclosures.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06624"/>
            <a:ext cx="2103120" cy="731520"/>
          </a:xfrm>
          <a:prstGeom prst="rect">
            <a:avLst/>
          </a:prstGeom>
          <a:noFill/>
        </p:spPr>
        <p:txBody>
          <a:bodyPr wrap="square" lIns="0" tIns="0" r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tIns="0" rIns="0" bIns="0" anchor="t">
            <a:spAutoFit/>
          </a:bodyPr>
          <a:lstStyle/>
          <a:p>
            <a:pPr algn="l"/>
            <a:r>
              <a:rPr sz="1200" b="0" i="0">
                <a:solidFill>
                  <a:srgbClr val="000000"/>
                </a:solidFill>
                <a:latin typeface="Lato"/>
              </a:rPr>
              <a:t>Degree-seeking enrollment down 7.2% FY25–FY27 (low scenario); professional graduate down 22.8% (24% from its FY24 peak).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tIns="0" rIns="0" bIns="0" anchor="t">
            <a:spAutoFit/>
          </a:bodyPr>
          <a:lstStyle/>
          <a:p>
            <a:pPr algn="l"/>
            <a:r>
              <a:rPr sz="1200" b="0" i="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602736"/>
            <a:ext cx="2103120" cy="731520"/>
          </a:xfrm>
          <a:prstGeom prst="rect">
            <a:avLst/>
          </a:prstGeom>
          <a:noFill/>
        </p:spPr>
        <p:txBody>
          <a:bodyPr wrap="square" lIns="0" tIns="0" r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tIns="0" rIns="0" bIns="0" anchor="t">
            <a:spAutoFit/>
          </a:bodyPr>
          <a:lstStyle/>
          <a:p>
            <a:pPr algn="l"/>
            <a:r>
              <a:rPr sz="1200" b="0" i="0">
                <a:solidFill>
                  <a:srgbClr val="000000"/>
                </a:solidFill>
                <a:latin typeface="Lato"/>
              </a:rPr>
              <a:t>Research awards of $291M in FY26. Peers face funding cuts, executive orders and endowment taxation. Federal regulation is 20 times its 1950 page count.</a:t>
            </a:r>
          </a:p>
        </p:txBody>
      </p:sp>
      <p:sp>
        <p:nvSpPr>
          <p:cNvPr id="17" name="TextBox 16"/>
          <p:cNvSpPr txBox="1"/>
          <p:nvPr/>
        </p:nvSpPr>
        <p:spPr>
          <a:xfrm>
            <a:off x="7406640" y="3602736"/>
            <a:ext cx="4297680" cy="777240"/>
          </a:xfrm>
          <a:prstGeom prst="rect">
            <a:avLst/>
          </a:prstGeom>
          <a:noFill/>
        </p:spPr>
        <p:txBody>
          <a:bodyPr wrap="square" lIns="0" tIns="0" rIns="0" bIns="0" anchor="t">
            <a:spAutoFit/>
          </a:bodyPr>
          <a:lstStyle/>
          <a:p>
            <a:pPr algn="l"/>
            <a:r>
              <a:rPr sz="1200" b="0" i="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98848"/>
            <a:ext cx="2103120" cy="731520"/>
          </a:xfrm>
          <a:prstGeom prst="rect">
            <a:avLst/>
          </a:prstGeom>
          <a:noFill/>
        </p:spPr>
        <p:txBody>
          <a:bodyPr wrap="square" lIns="0" tIns="0" r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tIns="0" rIns="0" bIns="0" anchor="t">
            <a:spAutoFit/>
          </a:bodyPr>
          <a:lstStyle/>
          <a:p>
            <a:pPr algn="l"/>
            <a:r>
              <a:rPr sz="1200" b="0" i="0">
                <a:solidFill>
                  <a:srgbClr val="000000"/>
                </a:solidFill>
                <a:latin typeface="Lato"/>
              </a:rPr>
              <a:t>Full-time staff up 46% since FY20 to 4,179, down 312 in the past year; 92% of growth was internally funded. S&amp;W per student is $25K, the lowest in the peer set.</a:t>
            </a:r>
          </a:p>
        </p:txBody>
      </p:sp>
      <p:sp>
        <p:nvSpPr>
          <p:cNvPr id="21" name="TextBox 20"/>
          <p:cNvSpPr txBox="1"/>
          <p:nvPr/>
        </p:nvSpPr>
        <p:spPr>
          <a:xfrm>
            <a:off x="7406640" y="4498848"/>
            <a:ext cx="4297680" cy="777240"/>
          </a:xfrm>
          <a:prstGeom prst="rect">
            <a:avLst/>
          </a:prstGeom>
          <a:noFill/>
        </p:spPr>
        <p:txBody>
          <a:bodyPr wrap="square" lIns="0" tIns="0" r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5394960"/>
            <a:ext cx="2103120" cy="731520"/>
          </a:xfrm>
          <a:prstGeom prst="rect">
            <a:avLst/>
          </a:prstGeom>
          <a:noFill/>
        </p:spPr>
        <p:txBody>
          <a:bodyPr wrap="square" lIns="0" tIns="0" r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tIns="0" rIns="0" bIns="0" anchor="t">
            <a:spAutoFit/>
          </a:bodyPr>
          <a:lstStyle/>
          <a:p>
            <a:pPr algn="l"/>
            <a:r>
              <a:rPr sz="1200" b="0" i="0">
                <a:solidFill>
                  <a:srgbClr val="000000"/>
                </a:solidFill>
                <a:latin typeface="Lato"/>
              </a:rPr>
              <a:t>Long-term debt of $1,954M (from $1,432M in FY25, incl. $485M Series 2026). Debt service coverage 3.8x (FY26, at the 13.0% EBIDA margin). Endowment $2,361M.</a:t>
            </a:r>
          </a:p>
        </p:txBody>
      </p:sp>
      <p:sp>
        <p:nvSpPr>
          <p:cNvPr id="25" name="TextBox 24"/>
          <p:cNvSpPr txBox="1"/>
          <p:nvPr/>
        </p:nvSpPr>
        <p:spPr>
          <a:xfrm>
            <a:off x="7406640" y="5394960"/>
            <a:ext cx="4297680" cy="777240"/>
          </a:xfrm>
          <a:prstGeom prst="rect">
            <a:avLst/>
          </a:prstGeom>
          <a:noFill/>
        </p:spPr>
        <p:txBody>
          <a:bodyPr wrap="square" lIns="0" tIns="0" r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
        <p:nvSpPr>
          <p:cNvPr id="2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33</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8229600" cy="1097280"/>
          </a:xfrm>
          <a:prstGeom prst="rect">
            <a:avLst/>
          </a:prstGeom>
          <a:noFill/>
        </p:spPr>
        <p:txBody>
          <a:bodyPr wrap="square" lIns="0" tIns="0" rIns="0" bIns="0" anchor="t">
            <a:spAutoFit/>
          </a:bodyPr>
          <a:lstStyle/>
          <a:p>
            <a:pPr algn="l"/>
            <a:r>
              <a:rPr sz="1800" b="0" i="0">
                <a:solidFill>
                  <a:srgbClr val="595959"/>
                </a:solidFill>
                <a:latin typeface="Lato"/>
              </a:rPr>
              <a:t>Sector detail, value of a degree, economic mobility, peer responses and R&amp;D detail</a:t>
            </a:r>
          </a:p>
        </p:txBody>
      </p:sp>
      <p:sp>
        <p:nvSpPr>
          <p:cNvPr id="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34</a:t>
            </a:fld>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Post-secondary institutions by level and control, 2021–22; share of each group in the bar</a:t>
            </a:r>
          </a:p>
        </p:txBody>
      </p:sp>
      <p:graphicFrame>
        <p:nvGraphicFramePr>
          <p:cNvPr id="4" name="Chart 3"/>
          <p:cNvGraphicFramePr>
            <a:graphicFrameLocks noGrp="1"/>
          </p:cNvGraphicFramePr>
          <p:nvPr/>
        </p:nvGraphicFramePr>
        <p:xfrm>
          <a:off x="457200" y="1645920"/>
          <a:ext cx="7955279"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8686800" y="169164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0" y="1764792"/>
            <a:ext cx="3044952" cy="640080"/>
          </a:xfrm>
          <a:prstGeom prst="rect">
            <a:avLst/>
          </a:prstGeom>
          <a:noFill/>
        </p:spPr>
        <p:txBody>
          <a:bodyPr wrap="square" lIns="0" tIns="0" rIns="0" bIns="0" anchor="t">
            <a:spAutoFit/>
          </a:bodyPr>
          <a:lstStyle/>
          <a:p>
            <a:pPr algn="l"/>
            <a:r>
              <a:rPr sz="3600" b="1" i="0">
                <a:solidFill>
                  <a:srgbClr val="C8102E"/>
                </a:solidFill>
                <a:latin typeface="Lato"/>
              </a:rPr>
              <a:t>26%</a:t>
            </a:r>
          </a:p>
        </p:txBody>
      </p:sp>
      <p:sp>
        <p:nvSpPr>
          <p:cNvPr id="7" name="TextBox 6"/>
          <p:cNvSpPr txBox="1"/>
          <p:nvPr/>
        </p:nvSpPr>
        <p:spPr>
          <a:xfrm>
            <a:off x="8686800" y="2404872"/>
            <a:ext cx="3044952" cy="731520"/>
          </a:xfrm>
          <a:prstGeom prst="rect">
            <a:avLst/>
          </a:prstGeom>
          <a:noFill/>
        </p:spPr>
        <p:txBody>
          <a:bodyPr wrap="square" lIns="0" tIns="0" rIns="0" bIns="0" anchor="t">
            <a:spAutoFit/>
          </a:bodyPr>
          <a:lstStyle/>
          <a:p>
            <a:pPr algn="l"/>
            <a:r>
              <a:rPr sz="1100" b="0" i="0">
                <a:solidFill>
                  <a:srgbClr val="000000"/>
                </a:solidFill>
                <a:latin typeface="Lato"/>
              </a:rPr>
              <a:t>of all institutions are four-year private nonprofits, the group Northeastern belongs to; 13% are four-year public.</a:t>
            </a:r>
          </a:p>
        </p:txBody>
      </p:sp>
      <p:cxnSp>
        <p:nvCxnSpPr>
          <p:cNvPr id="8" name="Connector 7"/>
          <p:cNvCxnSpPr/>
          <p:nvPr/>
        </p:nvCxnSpPr>
        <p:spPr>
          <a:xfrm>
            <a:off x="8686800" y="315468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0" y="3227832"/>
            <a:ext cx="3044952" cy="640080"/>
          </a:xfrm>
          <a:prstGeom prst="rect">
            <a:avLst/>
          </a:prstGeom>
          <a:noFill/>
        </p:spPr>
        <p:txBody>
          <a:bodyPr wrap="square" lIns="0" tIns="0" rIns="0" bIns="0" anchor="t">
            <a:spAutoFit/>
          </a:bodyPr>
          <a:lstStyle/>
          <a:p>
            <a:pPr algn="l"/>
            <a:r>
              <a:rPr sz="3600" b="1" i="0">
                <a:solidFill>
                  <a:srgbClr val="C8102E"/>
                </a:solidFill>
                <a:latin typeface="Lato"/>
              </a:rPr>
              <a:t>79%</a:t>
            </a:r>
          </a:p>
        </p:txBody>
      </p:sp>
      <p:sp>
        <p:nvSpPr>
          <p:cNvPr id="10" name="TextBox 9"/>
          <p:cNvSpPr txBox="1"/>
          <p:nvPr/>
        </p:nvSpPr>
        <p:spPr>
          <a:xfrm>
            <a:off x="8686800" y="3867912"/>
            <a:ext cx="3044952" cy="731520"/>
          </a:xfrm>
          <a:prstGeom prst="rect">
            <a:avLst/>
          </a:prstGeom>
          <a:noFill/>
        </p:spPr>
        <p:txBody>
          <a:bodyPr wrap="square" lIns="0" tIns="0" rIns="0" bIns="0" anchor="t">
            <a:spAutoFit/>
          </a:bodyPr>
          <a:lstStyle/>
          <a:p>
            <a:pPr algn="l"/>
            <a:r>
              <a:rPr sz="1100" b="0" i="0">
                <a:solidFill>
                  <a:srgbClr val="000000"/>
                </a:solidFill>
                <a:latin typeface="Lato"/>
              </a:rPr>
              <a:t>of the 1,940 non-degree institutions are for-profit, which is why for-profits are 38% of the total but only 18% of degree-granting institutions.</a:t>
            </a:r>
          </a:p>
        </p:txBody>
      </p:sp>
      <p:cxnSp>
        <p:nvCxnSpPr>
          <p:cNvPr id="11" name="Connector 10"/>
          <p:cNvCxnSpPr/>
          <p:nvPr/>
        </p:nvCxnSpPr>
        <p:spPr>
          <a:xfrm>
            <a:off x="8686800" y="461772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0" y="4690872"/>
            <a:ext cx="3044952" cy="640080"/>
          </a:xfrm>
          <a:prstGeom prst="rect">
            <a:avLst/>
          </a:prstGeom>
          <a:noFill/>
        </p:spPr>
        <p:txBody>
          <a:bodyPr wrap="square" lIns="0" tIns="0" rIns="0" bIns="0" anchor="t">
            <a:spAutoFit/>
          </a:bodyPr>
          <a:lstStyle/>
          <a:p>
            <a:pPr algn="l"/>
            <a:r>
              <a:rPr sz="3600" b="1" i="0">
                <a:solidFill>
                  <a:srgbClr val="C8102E"/>
                </a:solidFill>
                <a:latin typeface="Lato"/>
              </a:rPr>
              <a:t>3,896</a:t>
            </a:r>
          </a:p>
        </p:txBody>
      </p:sp>
      <p:sp>
        <p:nvSpPr>
          <p:cNvPr id="13" name="TextBox 12"/>
          <p:cNvSpPr txBox="1"/>
          <p:nvPr/>
        </p:nvSpPr>
        <p:spPr>
          <a:xfrm>
            <a:off x="8686800" y="5330952"/>
            <a:ext cx="3044952" cy="731520"/>
          </a:xfrm>
          <a:prstGeom prst="rect">
            <a:avLst/>
          </a:prstGeom>
          <a:noFill/>
        </p:spPr>
        <p:txBody>
          <a:bodyPr wrap="square" lIns="0" tIns="0" rIns="0" bIns="0" anchor="t">
            <a:spAutoFit/>
          </a:bodyPr>
          <a:lstStyle/>
          <a:p>
            <a:pPr algn="l"/>
            <a:r>
              <a:rPr sz="1100" b="0" i="0">
                <a:solidFill>
                  <a:srgbClr val="000000"/>
                </a:solidFill>
                <a:latin typeface="Lato"/>
              </a:rPr>
              <a:t>degree-granting institutions in 2022–23 (2,628 four-year, 1,268 two-year), down 18% from the 2012–13 peak. All Title IV institutions fell 2% to 5,819 in 2023–24.</a:t>
            </a:r>
          </a:p>
        </p:txBody>
      </p:sp>
      <p:sp>
        <p:nvSpPr>
          <p:cNvPr id="14" name="TextBox 13"/>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(Tables 317.10 and 317.20) and IPEDS; 2021–22 academic year</a:t>
            </a:r>
          </a:p>
        </p:txBody>
      </p:sp>
      <p:sp>
        <p:nvSpPr>
          <p:cNvPr id="1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35</a:t>
            </a:fld>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5852160"/>
            <a:ext cx="11247120" cy="365760"/>
          </a:xfrm>
          <a:prstGeom prst="rect">
            <a:avLst/>
          </a:prstGeom>
          <a:noFill/>
        </p:spPr>
        <p:txBody>
          <a:bodyPr wrap="square" lIns="0" tIns="0" rIns="0" bIns="0" anchor="t">
            <a:spAutoFit/>
          </a:bodyPr>
          <a:lstStyle/>
          <a:p>
            <a:pPr algn="l"/>
            <a:r>
              <a:rPr sz="1100" b="0" i="1">
                <a:solidFill>
                  <a:srgbClr val="595959"/>
                </a:solidFill>
                <a:latin typeface="Lato"/>
              </a:rPr>
              <a:t>The 1984 birth cohort is the latest in Opportunity Insights’ published data (Chetty et al., Science 2017); the data table has not been extended.</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Opportunity Insights (formerly The Equality of Opportunity Project), Chetty et al.</a:t>
            </a:r>
          </a:p>
        </p:txBody>
      </p:sp>
      <p:sp>
        <p:nvSpPr>
          <p:cNvPr id="7"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36</a:t>
            </a:fld>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Higher attainment still pays: a bachelor’s degree earns 63% more than a high school diploma</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usual weekly earnings and unemployment rate by educational attainment, full-time wage and salary workers age 25 and over, 2025</a:t>
            </a:r>
          </a:p>
        </p:txBody>
      </p:sp>
      <p:sp>
        <p:nvSpPr>
          <p:cNvPr id="4" name="TextBox 3"/>
          <p:cNvSpPr txBox="1"/>
          <p:nvPr/>
        </p:nvSpPr>
        <p:spPr>
          <a:xfrm>
            <a:off x="457200" y="1691640"/>
            <a:ext cx="6675120" cy="274320"/>
          </a:xfrm>
          <a:prstGeom prst="rect">
            <a:avLst/>
          </a:prstGeom>
          <a:noFill/>
        </p:spPr>
        <p:txBody>
          <a:bodyPr wrap="square" lIns="0" tIns="0" rIns="0" bIns="0" anchor="t">
            <a:spAutoFit/>
          </a:bodyPr>
          <a:lstStyle/>
          <a:p>
            <a:pPr algn="l"/>
            <a:r>
              <a:rPr sz="1300" b="1" i="0">
                <a:solidFill>
                  <a:srgbClr val="000000"/>
                </a:solidFill>
                <a:latin typeface="Lato"/>
              </a:rPr>
              <a:t>Median usual weekly earnings ($)</a:t>
            </a:r>
          </a:p>
        </p:txBody>
      </p:sp>
      <p:graphicFrame>
        <p:nvGraphicFramePr>
          <p:cNvPr id="5" name="Chart 4"/>
          <p:cNvGraphicFramePr>
            <a:graphicFrameLocks noGrp="1"/>
          </p:cNvGraphicFramePr>
          <p:nvPr/>
        </p:nvGraphicFramePr>
        <p:xfrm>
          <a:off x="457200" y="1965960"/>
          <a:ext cx="6949440"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772400" y="1691640"/>
            <a:ext cx="3931920" cy="274320"/>
          </a:xfrm>
          <a:prstGeom prst="rect">
            <a:avLst/>
          </a:prstGeom>
          <a:noFill/>
        </p:spPr>
        <p:txBody>
          <a:bodyPr wrap="square" lIns="0" tIns="0" r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772400" y="1965960"/>
          <a:ext cx="3959352"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457200" y="5989320"/>
            <a:ext cx="11247120" cy="320040"/>
          </a:xfrm>
          <a:prstGeom prst="rect">
            <a:avLst/>
          </a:prstGeom>
          <a:noFill/>
        </p:spPr>
        <p:txBody>
          <a:bodyPr wrap="square" lIns="0" tIns="0" rIns="0" bIns="0" anchor="t">
            <a:spAutoFit/>
          </a:bodyPr>
          <a:lstStyle/>
          <a:p>
            <a:pPr algn="l"/>
            <a:r>
              <a:rPr sz="1000" b="0" i="1">
                <a:solidFill>
                  <a:srgbClr val="595959"/>
                </a:solidFill>
                <a:latin typeface="Lato"/>
              </a:rPr>
              <a:t>A master’s degree earns 19% more than a bachelor’s. 2025 annual estimates are 11-month averages that exclude October (federal shutdown) and are not strictly comparable with earlier years.</a:t>
            </a:r>
          </a:p>
        </p:txBody>
      </p:sp>
      <p:sp>
        <p:nvSpPr>
          <p:cNvPr id="9" name="TextBox 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Bureau of Labor Statistics, Current Population Survey (Education Pays, 2025)</a:t>
            </a:r>
          </a:p>
        </p:txBody>
      </p:sp>
      <p:sp>
        <p:nvSpPr>
          <p:cNvPr id="1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college earnings premium has grown from 28% in 1965 to 80% in 2014, and still holds today</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7589520" cy="384048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1938528"/>
            <a:ext cx="1280160" cy="228600"/>
          </a:xfrm>
          <a:prstGeom prst="rect">
            <a:avLst/>
          </a:prstGeom>
          <a:noFill/>
        </p:spPr>
        <p:txBody>
          <a:bodyPr wrap="square" lIns="0" tIns="0" rIns="0" bIns="0" anchor="t">
            <a:spAutoFit/>
          </a:bodyPr>
          <a:lstStyle/>
          <a:p>
            <a:pPr algn="l"/>
            <a:r>
              <a:rPr sz="900" b="1" i="0">
                <a:solidFill>
                  <a:srgbClr val="595959"/>
                </a:solidFill>
                <a:latin typeface="Lato"/>
              </a:rPr>
              <a:t>College premium above</a:t>
            </a:r>
          </a:p>
        </p:txBody>
      </p:sp>
      <p:sp>
        <p:nvSpPr>
          <p:cNvPr id="6" name="TextBox 5"/>
          <p:cNvSpPr txBox="1"/>
          <p:nvPr/>
        </p:nvSpPr>
        <p:spPr>
          <a:xfrm>
            <a:off x="1047902"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28%</a:t>
            </a:r>
          </a:p>
        </p:txBody>
      </p:sp>
      <p:sp>
        <p:nvSpPr>
          <p:cNvPr id="7" name="TextBox 6"/>
          <p:cNvSpPr txBox="1"/>
          <p:nvPr/>
        </p:nvSpPr>
        <p:spPr>
          <a:xfrm>
            <a:off x="2189073"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27%</a:t>
            </a:r>
          </a:p>
        </p:txBody>
      </p:sp>
      <p:sp>
        <p:nvSpPr>
          <p:cNvPr id="8" name="TextBox 7"/>
          <p:cNvSpPr txBox="1"/>
          <p:nvPr/>
        </p:nvSpPr>
        <p:spPr>
          <a:xfrm>
            <a:off x="3330244"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33%</a:t>
            </a:r>
          </a:p>
        </p:txBody>
      </p:sp>
      <p:sp>
        <p:nvSpPr>
          <p:cNvPr id="9" name="TextBox 8"/>
          <p:cNvSpPr txBox="1"/>
          <p:nvPr/>
        </p:nvSpPr>
        <p:spPr>
          <a:xfrm>
            <a:off x="4471416"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46%</a:t>
            </a:r>
          </a:p>
        </p:txBody>
      </p:sp>
      <p:sp>
        <p:nvSpPr>
          <p:cNvPr id="10" name="TextBox 9"/>
          <p:cNvSpPr txBox="1"/>
          <p:nvPr/>
        </p:nvSpPr>
        <p:spPr>
          <a:xfrm>
            <a:off x="5612587"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62%</a:t>
            </a:r>
          </a:p>
        </p:txBody>
      </p:sp>
      <p:sp>
        <p:nvSpPr>
          <p:cNvPr id="11" name="TextBox 10"/>
          <p:cNvSpPr txBox="1"/>
          <p:nvPr/>
        </p:nvSpPr>
        <p:spPr>
          <a:xfrm>
            <a:off x="6753758"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80%</a:t>
            </a:r>
          </a:p>
        </p:txBody>
      </p:sp>
      <p:sp>
        <p:nvSpPr>
          <p:cNvPr id="12" name="Rectangle 11"/>
          <p:cNvSpPr/>
          <p:nvPr/>
        </p:nvSpPr>
        <p:spPr>
          <a:xfrm>
            <a:off x="8412480" y="1645920"/>
            <a:ext cx="3319272" cy="4343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0" y="1783080"/>
            <a:ext cx="2971800" cy="274320"/>
          </a:xfrm>
          <a:prstGeom prst="rect">
            <a:avLst/>
          </a:prstGeom>
          <a:noFill/>
        </p:spPr>
        <p:txBody>
          <a:bodyPr wrap="square" lIns="0" tIns="0" rIns="0" bIns="0" anchor="t">
            <a:spAutoFit/>
          </a:bodyPr>
          <a:lstStyle/>
          <a:p>
            <a:pPr algn="l"/>
            <a:r>
              <a:rPr sz="1000" b="1" i="0">
                <a:solidFill>
                  <a:srgbClr val="C8102E"/>
                </a:solidFill>
                <a:latin typeface="Lato"/>
              </a:rPr>
              <a:t>2024–2025 UPDATE</a:t>
            </a:r>
          </a:p>
        </p:txBody>
      </p:sp>
      <p:sp>
        <p:nvSpPr>
          <p:cNvPr id="14" name="TextBox 13"/>
          <p:cNvSpPr txBox="1"/>
          <p:nvPr/>
        </p:nvSpPr>
        <p:spPr>
          <a:xfrm>
            <a:off x="8595360" y="2103120"/>
            <a:ext cx="2971800" cy="731520"/>
          </a:xfrm>
          <a:prstGeom prst="rect">
            <a:avLst/>
          </a:prstGeom>
          <a:noFill/>
        </p:spPr>
        <p:txBody>
          <a:bodyPr wrap="square" lIns="0" tIns="0" rIns="0" bIns="0" anchor="t">
            <a:spAutoFit/>
          </a:bodyPr>
          <a:lstStyle/>
          <a:p>
            <a:pPr algn="l"/>
            <a:r>
              <a:rPr sz="4000" b="1" i="0">
                <a:solidFill>
                  <a:srgbClr val="000000"/>
                </a:solidFill>
                <a:latin typeface="Lato"/>
              </a:rPr>
              <a:t>2.3×</a:t>
            </a:r>
          </a:p>
        </p:txBody>
      </p:sp>
      <p:sp>
        <p:nvSpPr>
          <p:cNvPr id="15" name="TextBox 14"/>
          <p:cNvSpPr txBox="1"/>
          <p:nvPr/>
        </p:nvSpPr>
        <p:spPr>
          <a:xfrm>
            <a:off x="8595360" y="2834640"/>
            <a:ext cx="2971800" cy="1188720"/>
          </a:xfrm>
          <a:prstGeom prst="rect">
            <a:avLst/>
          </a:prstGeom>
          <a:noFill/>
        </p:spPr>
        <p:txBody>
          <a:bodyPr wrap="square" lIns="0" tIns="0" rIns="0" bIns="0" anchor="t">
            <a:spAutoFit/>
          </a:bodyPr>
          <a:lstStyle/>
          <a:p>
            <a:pPr algn="l"/>
            <a:r>
              <a:rPr sz="1100" b="0" i="0">
                <a:solidFill>
                  <a:srgbClr val="000000"/>
                </a:solidFill>
                <a:latin typeface="Lato"/>
              </a:rPr>
              <a:t>Median household income in 2024: $132,700 when the householder has a bachelor’s degree or higher, versus $58,410 with a high school degree only (Census).</a:t>
            </a:r>
          </a:p>
        </p:txBody>
      </p:sp>
      <p:cxnSp>
        <p:nvCxnSpPr>
          <p:cNvPr id="16" name="Connector 15"/>
          <p:cNvCxnSpPr/>
          <p:nvPr/>
        </p:nvCxnSpPr>
        <p:spPr>
          <a:xfrm>
            <a:off x="8595360" y="4114800"/>
            <a:ext cx="2971800"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95360" y="4206240"/>
            <a:ext cx="2971800" cy="731520"/>
          </a:xfrm>
          <a:prstGeom prst="rect">
            <a:avLst/>
          </a:prstGeom>
          <a:noFill/>
        </p:spPr>
        <p:txBody>
          <a:bodyPr wrap="square" lIns="0" tIns="0" rIns="0" bIns="0" anchor="t">
            <a:spAutoFit/>
          </a:bodyPr>
          <a:lstStyle/>
          <a:p>
            <a:pPr algn="l"/>
            <a:r>
              <a:rPr sz="4000" b="1" i="0">
                <a:solidFill>
                  <a:srgbClr val="C8102E"/>
                </a:solidFill>
                <a:latin typeface="Lato"/>
              </a:rPr>
              <a:t>+63%</a:t>
            </a:r>
          </a:p>
        </p:txBody>
      </p:sp>
      <p:sp>
        <p:nvSpPr>
          <p:cNvPr id="18" name="TextBox 17"/>
          <p:cNvSpPr txBox="1"/>
          <p:nvPr/>
        </p:nvSpPr>
        <p:spPr>
          <a:xfrm>
            <a:off x="8595360" y="4937760"/>
            <a:ext cx="2971800" cy="1005840"/>
          </a:xfrm>
          <a:prstGeom prst="rect">
            <a:avLst/>
          </a:prstGeom>
          <a:noFill/>
        </p:spPr>
        <p:txBody>
          <a:bodyPr wrap="square" lIns="0" tIns="0" rIns="0" bIns="0" anchor="t">
            <a:spAutoFit/>
          </a:bodyPr>
          <a:lstStyle/>
          <a:p>
            <a:pPr algn="l"/>
            <a:r>
              <a:rPr sz="1100" b="0" i="0">
                <a:solidFill>
                  <a:srgbClr val="000000"/>
                </a:solidFill>
                <a:latin typeface="Lato"/>
              </a:rPr>
              <a:t>Bachelor’s degree holders’ median weekly earnings versus high school graduates in 2025; the premium was 66% in 2024 (BLS).</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Brookings tabulations of Census CPS ASEC (1965–2014); Census (Sept. 2025) and BLS Education Pays (2024, 2025) use different measures</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38</a:t>
            </a:fld>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spending ($ billion), latest available; items updated in this edition are labeled with their year; NIH and NSF highlighted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APPA, AGA, NASPL, BTS, NRF, CRS/Congress.gov (NIH, NSF FY2026); other items 2024 from sources in speaker notes</a:t>
            </a:r>
          </a:p>
        </p:txBody>
      </p:sp>
      <p:sp>
        <p:nvSpPr>
          <p:cNvPr id="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39</a:t>
            </a:fld>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
        <p:nvSpPr>
          <p:cNvPr id="3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40</a:t>
            </a:fld>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extLst>
              <p:ext uri="{D42A27DB-BD31-4B8C-83A1-F6EECF244321}">
                <p14:modId xmlns:p14="http://schemas.microsoft.com/office/powerpoint/2010/main" val="960987928"/>
              </p:ext>
            </p:extLst>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755294" y="5484571"/>
            <a:ext cx="914400" cy="169277"/>
          </a:xfrm>
          <a:prstGeom prst="rect">
            <a:avLst/>
          </a:prstGeom>
          <a:noFill/>
        </p:spPr>
        <p:txBody>
          <a:bodyPr wrap="square" lIns="0" tIns="0" rIns="0" bIns="0" anchor="t">
            <a:spAutoFit/>
          </a:bodyPr>
          <a:lstStyle/>
          <a:p>
            <a:pPr algn="ctr"/>
            <a:r>
              <a:rPr sz="1100" b="0" i="0" dirty="0">
                <a:latin typeface="Lato"/>
              </a:rPr>
              <a:t>$100M</a:t>
            </a:r>
          </a:p>
        </p:txBody>
      </p:sp>
      <p:sp>
        <p:nvSpPr>
          <p:cNvPr id="12" name="TextBox 11"/>
          <p:cNvSpPr txBox="1"/>
          <p:nvPr/>
        </p:nvSpPr>
        <p:spPr>
          <a:xfrm>
            <a:off x="2558866" y="5484571"/>
            <a:ext cx="914400" cy="169277"/>
          </a:xfrm>
          <a:prstGeom prst="rect">
            <a:avLst/>
          </a:prstGeom>
          <a:noFill/>
        </p:spPr>
        <p:txBody>
          <a:bodyPr wrap="square" lIns="0" tIns="0" rIns="0" bIns="0" anchor="t">
            <a:spAutoFit/>
          </a:bodyPr>
          <a:lstStyle/>
          <a:p>
            <a:pPr algn="ctr"/>
            <a:r>
              <a:rPr sz="1100" b="0" i="0">
                <a:latin typeface="Lato"/>
              </a:rPr>
              <a:t>$200M</a:t>
            </a:r>
          </a:p>
        </p:txBody>
      </p:sp>
      <p:sp>
        <p:nvSpPr>
          <p:cNvPr id="14" name="TextBox 13"/>
          <p:cNvSpPr txBox="1"/>
          <p:nvPr/>
        </p:nvSpPr>
        <p:spPr>
          <a:xfrm>
            <a:off x="4943058" y="5484571"/>
            <a:ext cx="914400" cy="169277"/>
          </a:xfrm>
          <a:prstGeom prst="rect">
            <a:avLst/>
          </a:prstGeom>
          <a:noFill/>
        </p:spPr>
        <p:txBody>
          <a:bodyPr wrap="square" lIns="0" tIns="0" rIns="0" bIns="0" anchor="t">
            <a:spAutoFit/>
          </a:bodyPr>
          <a:lstStyle/>
          <a:p>
            <a:pPr algn="ctr"/>
            <a:r>
              <a:rPr sz="1100" b="0" i="0">
                <a:latin typeface="Lato"/>
              </a:rPr>
              <a:t>$500M</a:t>
            </a:r>
          </a:p>
        </p:txBody>
      </p:sp>
      <p:sp>
        <p:nvSpPr>
          <p:cNvPr id="16" name="TextBox 15"/>
          <p:cNvSpPr txBox="1"/>
          <p:nvPr/>
        </p:nvSpPr>
        <p:spPr>
          <a:xfrm>
            <a:off x="6746630" y="5484571"/>
            <a:ext cx="914400" cy="169277"/>
          </a:xfrm>
          <a:prstGeom prst="rect">
            <a:avLst/>
          </a:prstGeom>
          <a:noFill/>
        </p:spPr>
        <p:txBody>
          <a:bodyPr wrap="square" lIns="0" tIns="0" rIns="0" bIns="0" anchor="t">
            <a:spAutoFit/>
          </a:bodyPr>
          <a:lstStyle/>
          <a:p>
            <a:pPr algn="ctr"/>
            <a:r>
              <a:rPr sz="1100" b="0" i="0" dirty="0">
                <a:latin typeface="Lato"/>
              </a:rPr>
              <a:t>$1B</a:t>
            </a:r>
          </a:p>
        </p:txBody>
      </p:sp>
      <p:sp>
        <p:nvSpPr>
          <p:cNvPr id="18" name="TextBox 17"/>
          <p:cNvSpPr txBox="1"/>
          <p:nvPr/>
        </p:nvSpPr>
        <p:spPr>
          <a:xfrm>
            <a:off x="8550202" y="5484571"/>
            <a:ext cx="914400" cy="169277"/>
          </a:xfrm>
          <a:prstGeom prst="rect">
            <a:avLst/>
          </a:prstGeom>
          <a:noFill/>
        </p:spPr>
        <p:txBody>
          <a:bodyPr wrap="square" lIns="0" tIns="0" rIns="0" bIns="0" anchor="t">
            <a:spAutoFit/>
          </a:bodyPr>
          <a:lstStyle/>
          <a:p>
            <a:pPr algn="ctr"/>
            <a:r>
              <a:rPr sz="1100" b="0" i="0">
                <a:latin typeface="Lato"/>
              </a:rPr>
              <a:t>$2B</a:t>
            </a:r>
          </a:p>
        </p:txBody>
      </p:sp>
      <p:sp>
        <p:nvSpPr>
          <p:cNvPr id="20" name="TextBox 19"/>
          <p:cNvSpPr txBox="1"/>
          <p:nvPr/>
        </p:nvSpPr>
        <p:spPr>
          <a:xfrm>
            <a:off x="10353774" y="5484571"/>
            <a:ext cx="914400" cy="169277"/>
          </a:xfrm>
          <a:prstGeom prst="rect">
            <a:avLst/>
          </a:prstGeom>
          <a:noFill/>
        </p:spPr>
        <p:txBody>
          <a:bodyPr wrap="square" lIns="0" tIns="0" rIns="0" bIns="0" anchor="t">
            <a:spAutoFit/>
          </a:bodyPr>
          <a:lstStyle/>
          <a:p>
            <a:pPr algn="ctr"/>
            <a:r>
              <a:rPr sz="1100" b="0" i="0">
                <a:latin typeface="Lato"/>
              </a:rPr>
              <a:t>$4B</a:t>
            </a:r>
          </a:p>
        </p:txBody>
      </p:sp>
      <p:sp>
        <p:nvSpPr>
          <p:cNvPr id="21" name="TextBox 20"/>
          <p:cNvSpPr txBox="1"/>
          <p:nvPr/>
        </p:nvSpPr>
        <p:spPr>
          <a:xfrm>
            <a:off x="1212494" y="5704027"/>
            <a:ext cx="10179100" cy="169277"/>
          </a:xfrm>
          <a:prstGeom prst="rect">
            <a:avLst/>
          </a:prstGeom>
          <a:noFill/>
        </p:spPr>
        <p:txBody>
          <a:bodyPr wrap="square" lIns="0" tIns="0" rIns="0" bIns="0" anchor="t">
            <a:spAutoFit/>
          </a:bodyPr>
          <a:lstStyle/>
          <a:p>
            <a:pPr algn="ctr"/>
            <a:r>
              <a:rPr sz="1100" b="0" i="0">
                <a:latin typeface="Lato"/>
              </a:rPr>
              <a:t>FY 2024 total R&amp;D expenditures (log scale)</a:t>
            </a:r>
          </a:p>
        </p:txBody>
      </p:sp>
      <p:cxnSp>
        <p:nvCxnSpPr>
          <p:cNvPr id="22" name="Connector 21"/>
          <p:cNvCxnSpPr/>
          <p:nvPr/>
        </p:nvCxnSpPr>
        <p:spPr>
          <a:xfrm>
            <a:off x="5360256" y="1419148"/>
            <a:ext cx="0" cy="4010559"/>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4"/>
          <a:stretch>
            <a:fillRect/>
          </a:stretch>
        </p:blipFill>
        <p:spPr>
          <a:xfrm>
            <a:off x="3269894" y="1727263"/>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5"/>
          <a:stretch>
            <a:fillRect/>
          </a:stretch>
        </p:blipFill>
        <p:spPr>
          <a:xfrm>
            <a:off x="10084003" y="1727263"/>
            <a:ext cx="1234440" cy="823989"/>
          </a:xfrm>
          <a:prstGeom prst="rect">
            <a:avLst/>
          </a:prstGeom>
        </p:spPr>
      </p:pic>
      <p:pic>
        <p:nvPicPr>
          <p:cNvPr id="28" name="Picture 27" descr="whale_Picture_28.png"/>
          <p:cNvPicPr>
            <a:picLocks noChangeAspect="1"/>
          </p:cNvPicPr>
          <p:nvPr/>
        </p:nvPicPr>
        <p:blipFill>
          <a:blip r:embed="rId6"/>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7"/>
          <a:stretch>
            <a:fillRect/>
          </a:stretch>
        </p:blipFill>
        <p:spPr>
          <a:xfrm>
            <a:off x="10084003" y="457812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53888"/>
          </a:xfrm>
          <a:prstGeom prst="rect">
            <a:avLst/>
          </a:prstGeom>
          <a:noFill/>
        </p:spPr>
        <p:txBody>
          <a:bodyPr wrap="square" lIns="0" tIns="0" rIns="0" bIns="0" anchor="t">
            <a:spAutoFit/>
          </a:bodyPr>
          <a:lstStyle/>
          <a:p>
            <a:pPr algn="l"/>
            <a:r>
              <a:rPr sz="1000" b="0" i="1">
                <a:solidFill>
                  <a:srgbClr val="0070C0"/>
                </a:solidFill>
                <a:latin typeface="Lato"/>
              </a:rPr>
              <a:t>Median $492M</a:t>
            </a:r>
          </a:p>
        </p:txBody>
      </p:sp>
      <p:sp>
        <p:nvSpPr>
          <p:cNvPr id="33" name="TextBox 32"/>
          <p:cNvSpPr txBox="1"/>
          <p:nvPr/>
        </p:nvSpPr>
        <p:spPr>
          <a:xfrm>
            <a:off x="9517075" y="3627629"/>
            <a:ext cx="1828800" cy="153888"/>
          </a:xfrm>
          <a:prstGeom prst="rect">
            <a:avLst/>
          </a:prstGeom>
          <a:noFill/>
        </p:spPr>
        <p:txBody>
          <a:bodyPr wrap="square" lIns="0" tIns="0" rIns="0" bIns="0" anchor="t">
            <a:spAutoFit/>
          </a:bodyPr>
          <a:lstStyle/>
          <a:p>
            <a:pPr algn="r"/>
            <a:r>
              <a:rPr sz="1000" b="0" i="1" dirty="0">
                <a:solidFill>
                  <a:srgbClr val="0070C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
        <p:nvSpPr>
          <p:cNvPr id="9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41</a:t>
            </a:fld>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customXml/itemProps3.xml><?xml version="1.0" encoding="utf-8"?>
<ds:datastoreItem xmlns:ds="http://schemas.openxmlformats.org/officeDocument/2006/customXml" ds:itemID="{7B52D33A-CE67-4424-A675-BB0F48981098}">
  <ds:schemaRefs>
    <ds:schemaRef ds:uri="http://schemas.microsoft.com/sharepoint/v3/contenttype/forms"/>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17228</TotalTime>
  <Words>9618</Words>
  <Application>Microsoft Office PowerPoint</Application>
  <PresentationFormat>Widescreen</PresentationFormat>
  <Paragraphs>1013</Paragraphs>
  <Slides>42</Slides>
  <Notes>16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42</vt:i4>
      </vt:variant>
    </vt:vector>
  </HeadingPairs>
  <TitlesOfParts>
    <vt:vector size="50" baseType="lpstr">
      <vt:lpstr>Aptos</vt:lpstr>
      <vt:lpstr>Aptos ExtraBold</vt:lpstr>
      <vt:lpstr>Arial</vt:lpstr>
      <vt:lpstr>Calibri</vt:lpstr>
      <vt:lpstr>Georgia</vt:lpstr>
      <vt:lpstr>Lato</vt:lpstr>
      <vt:lpstr>Montserrat Light</vt:lpstr>
      <vt:lpstr>Light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65</cp:revision>
  <cp:lastPrinted>2025-09-25T21:12:48Z</cp:lastPrinted>
  <dcterms:created xsi:type="dcterms:W3CDTF">2020-09-24T23:08:57Z</dcterms:created>
  <dcterms:modified xsi:type="dcterms:W3CDTF">2026-09-30T00:03:19Z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