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6.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35"/>
  </p:notesMasterIdLst>
  <p:sldIdLst>
    <p:sldId id="2147481610" r:id="rId44"/>
    <p:sldId id="2147481611" r:id="rId45"/>
    <p:sldId id="2147481612" r:id="rId46"/>
    <p:sldId id="2147481613" r:id="rId47"/>
    <p:sldId id="2147481617" r:id="rId51"/>
    <p:sldId id="2147481618" r:id="rId52"/>
    <p:sldId id="2147481626" r:id="rId60"/>
    <p:sldId id="2147481627" r:id="rId61"/>
    <p:sldId id="2147481619" r:id="rId53"/>
    <p:sldId id="256" r:id="rId11"/>
    <p:sldId id="2147481581" r:id="rId13"/>
    <p:sldId id="2147481620" r:id="rId54"/>
    <p:sldId id="2147481621" r:id="rId55"/>
    <p:sldId id="2147481628" r:id="rId62"/>
    <p:sldId id="2147481622" r:id="rId56"/>
    <p:sldId id="2147481614" r:id="rId48"/>
    <p:sldId id="2147481604" r:id="rId17"/>
    <p:sldId id="2147481605" r:id="rId18"/>
    <p:sldId id="261" r:id="rId19"/>
    <p:sldId id="335" r:id="rId22"/>
    <p:sldId id="334" r:id="rId23"/>
    <p:sldId id="2147473812" r:id="rId24"/>
    <p:sldId id="2147481607" r:id="rId25"/>
    <p:sldId id="274" r:id="rId27"/>
    <p:sldId id="281" r:id="rId28"/>
    <p:sldId id="275" r:id="rId29"/>
    <p:sldId id="2147481606" r:id="rId30"/>
    <p:sldId id="260" r:id="rId31"/>
    <p:sldId id="268" r:id="rId32"/>
    <p:sldId id="269" r:id="rId33"/>
    <p:sldId id="2147481615" r:id="rId49"/>
    <p:sldId id="2147481629" r:id="rId63"/>
    <p:sldId id="2147481631" r:id="rId65"/>
    <p:sldId id="2147481616" r:id="rId50"/>
    <p:sldId id="2147481623" r:id="rId57"/>
    <p:sldId id="2147481582" r:id="rId12"/>
    <p:sldId id="2147481624" r:id="rId58"/>
    <p:sldId id="2147481625" r:id="rId59"/>
    <p:sldId id="2147481630" r:id="rId64"/>
    <p:sldId id="2147481602" r:id="rId15"/>
    <p:sldId id="262" r:id="rId20"/>
    <p:sldId id="263" r:id="rId21"/>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470"/>
            <p14:sldId id="2147481526"/>
            <p14:sldId id="2147481597"/>
            <p14:sldId id="2147481586"/>
            <p14:sldId id="256"/>
            <p14:sldId id="2147481582"/>
            <p14:sldId id="2147481581"/>
            <p14:sldId id="2147481601"/>
            <p14:sldId id="2147481602"/>
            <p14:sldId id="2147481598"/>
            <p14:sldId id="2147481604"/>
            <p14:sldId id="2147481605"/>
            <p14:sldId id="261"/>
            <p14:sldId id="262"/>
            <p14:sldId id="263"/>
            <p14:sldId id="335"/>
            <p14:sldId id="334"/>
            <p14:sldId id="2147473812"/>
            <p14:sldId id="2147481607"/>
            <p14:sldId id="2147481608"/>
            <p14:sldId id="274"/>
            <p14:sldId id="281"/>
            <p14:sldId id="275"/>
            <p14:sldId id="2147481606"/>
            <p14:sldId id="260"/>
            <p14:sldId id="268"/>
            <p14:sldId id="269"/>
            <p14:sldId id="2147481584"/>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155" d="100"/>
          <a:sy n="155" d="100"/>
        </p:scale>
        <p:origin x="3078"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5"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5" Type="http://schemas.openxmlformats.org/officeDocument/2006/relationships/notesMaster" Target="notesMasters/notes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 Id="rId42" Type="http://schemas.microsoft.com/office/2018/10/relationships/authors" Target="authors.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42.xml"/><Relationship Id="rId57" Type="http://schemas.openxmlformats.org/officeDocument/2006/relationships/slide" Target="slides/slide43.xml"/><Relationship Id="rId58" Type="http://schemas.openxmlformats.org/officeDocument/2006/relationships/slide" Target="slides/slide44.xml"/><Relationship Id="rId59" Type="http://schemas.openxmlformats.org/officeDocument/2006/relationships/slide" Target="slides/slide45.xml"/><Relationship Id="rId60" Type="http://schemas.openxmlformats.org/officeDocument/2006/relationships/slide" Target="slides/slide46.xml"/><Relationship Id="rId61" Type="http://schemas.openxmlformats.org/officeDocument/2006/relationships/slide" Target="slides/slide47.xml"/><Relationship Id="rId62" Type="http://schemas.openxmlformats.org/officeDocument/2006/relationships/slide" Target="slides/slide48.xml"/><Relationship Id="rId63" Type="http://schemas.openxmlformats.org/officeDocument/2006/relationships/slide" Target="slides/slide49.xml"/><Relationship Id="rId64" Type="http://schemas.openxmlformats.org/officeDocument/2006/relationships/slide" Target="slides/slide50.xml"/><Relationship Id="rId65" Type="http://schemas.openxmlformats.org/officeDocument/2006/relationships/slide" Target="slides/slide51.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3.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11.xlsx"/><Relationship Id="rId4" Type="http://schemas.openxmlformats.org/officeDocument/2006/relationships/chartUserShapes" Target="../drawings/drawing1.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Universities per 1,000,000 people</c:v>
                </c:pt>
              </c:strCache>
            </c:strRef>
          </c:tx>
          <c:spPr>
            <a:ln w="28575" cap="rnd">
              <a:noFill/>
              <a:round/>
            </a:ln>
            <a:effectLst/>
          </c:spPr>
          <c:marker>
            <c:symbol val="circle"/>
            <c:size val="12"/>
            <c:spPr>
              <a:solidFill>
                <a:schemeClr val="accent1"/>
              </a:solidFill>
              <a:ln w="19050">
                <a:solidFill>
                  <a:schemeClr val="tx1"/>
                </a:solidFill>
              </a:ln>
              <a:effectLst/>
            </c:spPr>
          </c:marker>
          <c:dPt>
            <c:idx val="0"/>
            <c:marker>
              <c:symbol val="circle"/>
              <c:size val="18"/>
              <c:spPr>
                <a:solidFill>
                  <a:srgbClr val="C8102E"/>
                </a:solidFill>
                <a:ln w="19050">
                  <a:solidFill>
                    <a:schemeClr val="tx1"/>
                  </a:solidFill>
                </a:ln>
                <a:effectLst/>
              </c:spPr>
            </c:marker>
            <c:bubble3D val="0"/>
            <c:extLst>
              <c:ext xmlns:c16="http://schemas.microsoft.com/office/drawing/2014/chart" uri="{C3380CC4-5D6E-409C-BE32-E72D297353CC}">
                <c16:uniqueId val="{00000002-FC97-46A8-AE8B-FCDE6A4CF2F3}"/>
              </c:ext>
            </c:extLst>
          </c:dPt>
          <c:dLbls>
            <c:dLbl>
              <c:idx val="0"/>
              <c:tx>
                <c:rich>
                  <a:bodyPr rot="0" spcFirstLastPara="1" vertOverflow="ellipsis" vert="horz" wrap="square" lIns="38100" tIns="19050" rIns="38100" bIns="19050" anchor="ctr" anchorCtr="1">
                    <a:spAutoFit/>
                  </a:bodyPr>
                  <a:lstStyle/>
                  <a:p>
                    <a:pPr>
                      <a:defRPr sz="1800" b="1" i="0" u="none" strike="noStrike" kern="1200" baseline="0">
                        <a:solidFill>
                          <a:schemeClr val="bg2"/>
                        </a:solidFill>
                        <a:latin typeface="+mn-lt"/>
                        <a:ea typeface="+mn-ea"/>
                        <a:cs typeface="+mn-cs"/>
                      </a:defRPr>
                    </a:pPr>
                    <a:fld id="{9263AC00-37A7-4012-8DED-057884D59126}" type="CELLRANGE">
                      <a:rPr lang="en-US"/>
                      <a:pPr>
                        <a:defRPr sz="1800" b="1">
                          <a:solidFill>
                            <a:schemeClr val="bg2"/>
                          </a:solidFill>
                        </a:defRPr>
                      </a:pPr>
                      <a:t>[CELLRANGE]</a:t>
                    </a:fld>
                    <a:endParaRPr lang="en-US"/>
                  </a:p>
                </c:rich>
              </c:tx>
              <c:spPr>
                <a:noFill/>
                <a:ln>
                  <a:noFill/>
                </a:ln>
                <a:effectLst/>
              </c:spPr>
              <c:txPr>
                <a:bodyPr rot="0" spcFirstLastPara="1" vertOverflow="ellipsis" vert="horz" wrap="square" lIns="38100" tIns="19050" rIns="38100" bIns="19050" anchor="ctr" anchorCtr="1">
                  <a:spAutoFit/>
                </a:bodyPr>
                <a:lstStyle/>
                <a:p>
                  <a:pPr>
                    <a:defRPr sz="1800" b="1" i="0" u="none" strike="noStrike" kern="1200" baseline="0">
                      <a:solidFill>
                        <a:schemeClr val="bg2"/>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2-FC97-46A8-AE8B-FCDE6A4CF2F3}"/>
                </c:ext>
              </c:extLst>
            </c:dLbl>
            <c:dLbl>
              <c:idx val="1"/>
              <c:tx>
                <c:rich>
                  <a:bodyPr/>
                  <a:lstStyle/>
                  <a:p>
                    <a:fld id="{6815E577-FD42-4461-94B8-1011C643789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3F25-4604-9E55-58D55DA1226A}"/>
                </c:ext>
              </c:extLst>
            </c:dLbl>
            <c:dLbl>
              <c:idx val="2"/>
              <c:tx>
                <c:rich>
                  <a:bodyPr/>
                  <a:lstStyle/>
                  <a:p>
                    <a:fld id="{A657BDF6-D31F-48E6-8808-8A87DE1B85A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3F25-4604-9E55-58D55DA1226A}"/>
                </c:ext>
              </c:extLst>
            </c:dLbl>
            <c:dLbl>
              <c:idx val="3"/>
              <c:tx>
                <c:rich>
                  <a:bodyPr/>
                  <a:lstStyle/>
                  <a:p>
                    <a:fld id="{C3ED590F-DA57-418D-BA29-FFE306445BF7}"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2-3F25-4604-9E55-58D55DA1226A}"/>
                </c:ext>
              </c:extLst>
            </c:dLbl>
            <c:dLbl>
              <c:idx val="4"/>
              <c:tx>
                <c:rich>
                  <a:bodyPr/>
                  <a:lstStyle/>
                  <a:p>
                    <a:fld id="{61B30873-2A17-42E9-B7FD-595BF4CEF332}"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3-3F25-4604-9E55-58D55DA1226A}"/>
                </c:ext>
              </c:extLst>
            </c:dLbl>
            <c:dLbl>
              <c:idx val="5"/>
              <c:tx>
                <c:rich>
                  <a:bodyPr/>
                  <a:lstStyle/>
                  <a:p>
                    <a:fld id="{05D368EA-CF93-41A3-AA33-DDEAC623BDE2}"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3F25-4604-9E55-58D55DA1226A}"/>
                </c:ext>
              </c:extLst>
            </c:dLbl>
            <c:dLbl>
              <c:idx val="6"/>
              <c:tx>
                <c:rich>
                  <a:bodyPr/>
                  <a:lstStyle/>
                  <a:p>
                    <a:fld id="{CD36A054-5BB3-49E6-B6B8-4BB5456B351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5-3F25-4604-9E55-58D55DA1226A}"/>
                </c:ext>
              </c:extLst>
            </c:dLbl>
            <c:dLbl>
              <c:idx val="7"/>
              <c:tx>
                <c:rich>
                  <a:bodyPr/>
                  <a:lstStyle/>
                  <a:p>
                    <a:fld id="{DC3E9B59-DC66-44F7-A3F3-89164E4A84E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6-3F25-4604-9E55-58D55DA1226A}"/>
                </c:ext>
              </c:extLst>
            </c:dLbl>
            <c:dLbl>
              <c:idx val="8"/>
              <c:tx>
                <c:rich>
                  <a:bodyPr/>
                  <a:lstStyle/>
                  <a:p>
                    <a:fld id="{67563708-F7C7-416F-BD5E-48EC278EDF7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7-3F25-4604-9E55-58D55DA1226A}"/>
                </c:ext>
              </c:extLst>
            </c:dLbl>
            <c:dLbl>
              <c:idx val="9"/>
              <c:tx>
                <c:rich>
                  <a:bodyPr/>
                  <a:lstStyle/>
                  <a:p>
                    <a:fld id="{B2295A57-6A3A-415F-946F-FC9716B9641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8-3F25-4604-9E55-58D55DA1226A}"/>
                </c:ext>
              </c:extLst>
            </c:dLbl>
            <c:dLbl>
              <c:idx val="10"/>
              <c:tx>
                <c:rich>
                  <a:bodyPr/>
                  <a:lstStyle/>
                  <a:p>
                    <a:fld id="{76A44EC2-762D-4E66-8F72-96E7EB6F16E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9-3F25-4604-9E55-58D55DA1226A}"/>
                </c:ext>
              </c:extLst>
            </c:dLbl>
            <c:dLbl>
              <c:idx val="11"/>
              <c:tx>
                <c:rich>
                  <a:bodyPr/>
                  <a:lstStyle/>
                  <a:p>
                    <a:fld id="{EA08DCF7-640B-4E24-834B-176E4AED1C0E}"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A-3F25-4604-9E55-58D55DA1226A}"/>
                </c:ext>
              </c:extLst>
            </c:dLbl>
            <c:dLbl>
              <c:idx val="12"/>
              <c:tx>
                <c:rich>
                  <a:bodyPr/>
                  <a:lstStyle/>
                  <a:p>
                    <a:fld id="{F7F3B9FE-39CA-4D33-A138-A2F0F9231F8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B-3F25-4604-9E55-58D55DA1226A}"/>
                </c:ext>
              </c:extLst>
            </c:dLbl>
            <c:dLbl>
              <c:idx val="13"/>
              <c:tx>
                <c:rich>
                  <a:bodyPr/>
                  <a:lstStyle/>
                  <a:p>
                    <a:fld id="{78F9B09A-5428-4A5A-A1C0-C79CC50699D1}"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C-3F25-4604-9E55-58D55DA1226A}"/>
                </c:ext>
              </c:extLst>
            </c:dLbl>
            <c:dLbl>
              <c:idx val="14"/>
              <c:tx>
                <c:rich>
                  <a:bodyPr/>
                  <a:lstStyle/>
                  <a:p>
                    <a:fld id="{E3CB8AE1-D068-48ED-80C0-1EBB191B4358}"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D-3F25-4604-9E55-58D55DA1226A}"/>
                </c:ext>
              </c:extLst>
            </c:dLbl>
            <c:dLbl>
              <c:idx val="15"/>
              <c:tx>
                <c:rich>
                  <a:bodyPr/>
                  <a:lstStyle/>
                  <a:p>
                    <a:fld id="{F79020C7-9F82-458D-AEE8-7354E322B6F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E-3F25-4604-9E55-58D55DA1226A}"/>
                </c:ext>
              </c:extLst>
            </c:dLbl>
            <c:dLbl>
              <c:idx val="16"/>
              <c:tx>
                <c:rich>
                  <a:bodyPr/>
                  <a:lstStyle/>
                  <a:p>
                    <a:fld id="{C88DCC8B-6F5A-43B3-BE3D-9D77A1D8C08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3F25-4604-9E55-58D55DA1226A}"/>
                </c:ext>
              </c:extLst>
            </c:dLbl>
            <c:dLbl>
              <c:idx val="17"/>
              <c:tx>
                <c:rich>
                  <a:bodyPr/>
                  <a:lstStyle/>
                  <a:p>
                    <a:fld id="{935F0F4E-8D1E-46A1-A93F-01E72203853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0-3F25-4604-9E55-58D55DA1226A}"/>
                </c:ext>
              </c:extLst>
            </c:dLbl>
            <c:dLbl>
              <c:idx val="18"/>
              <c:tx>
                <c:rich>
                  <a:bodyPr/>
                  <a:lstStyle/>
                  <a:p>
                    <a:fld id="{45128EEF-4329-4AED-9A1A-9C9AD4E6743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1-3F25-4604-9E55-58D55DA1226A}"/>
                </c:ext>
              </c:extLst>
            </c:dLbl>
            <c:dLbl>
              <c:idx val="19"/>
              <c:tx>
                <c:rich>
                  <a:bodyPr/>
                  <a:lstStyle/>
                  <a:p>
                    <a:fld id="{4809F291-11BF-49F2-AE21-F23AC105CA1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2-3F25-4604-9E55-58D55DA1226A}"/>
                </c:ext>
              </c:extLst>
            </c:dLbl>
            <c:dLbl>
              <c:idx val="20"/>
              <c:tx>
                <c:rich>
                  <a:bodyPr/>
                  <a:lstStyle/>
                  <a:p>
                    <a:fld id="{012CBE99-106F-4607-B6A6-EB0AF3E3E18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3-3F25-4604-9E55-58D55DA1226A}"/>
                </c:ext>
              </c:extLst>
            </c:dLbl>
            <c:dLbl>
              <c:idx val="21"/>
              <c:tx>
                <c:rich>
                  <a:bodyPr/>
                  <a:lstStyle/>
                  <a:p>
                    <a:fld id="{C2C31676-CBFF-4E1D-BF50-21434F94A37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4-3F25-4604-9E55-58D55DA1226A}"/>
                </c:ext>
              </c:extLst>
            </c:dLbl>
            <c:dLbl>
              <c:idx val="22"/>
              <c:tx>
                <c:rich>
                  <a:bodyPr/>
                  <a:lstStyle/>
                  <a:p>
                    <a:fld id="{099C3E6C-3DDF-4731-9570-78724389FD70}"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5-3F25-4604-9E55-58D55DA1226A}"/>
                </c:ext>
              </c:extLst>
            </c:dLbl>
            <c:dLbl>
              <c:idx val="23"/>
              <c:tx>
                <c:rich>
                  <a:bodyPr/>
                  <a:lstStyle/>
                  <a:p>
                    <a:fld id="{FD708D48-CD05-4C41-812D-20DE8E64254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6-3F25-4604-9E55-58D55DA1226A}"/>
                </c:ext>
              </c:extLst>
            </c:dLbl>
            <c:dLbl>
              <c:idx val="24"/>
              <c:tx>
                <c:rich>
                  <a:bodyPr/>
                  <a:lstStyle/>
                  <a:p>
                    <a:fld id="{B2BD2B2C-3901-4152-98D6-3FEBC802E8E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7-3F25-4604-9E55-58D55DA1226A}"/>
                </c:ext>
              </c:extLst>
            </c:dLbl>
            <c:dLbl>
              <c:idx val="25"/>
              <c:tx>
                <c:rich>
                  <a:bodyPr/>
                  <a:lstStyle/>
                  <a:p>
                    <a:fld id="{9741D2CD-13B7-486B-8411-660DFAB3651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8-3F25-4604-9E55-58D55DA1226A}"/>
                </c:ext>
              </c:extLst>
            </c:dLbl>
            <c:dLbl>
              <c:idx val="26"/>
              <c:tx>
                <c:rich>
                  <a:bodyPr/>
                  <a:lstStyle/>
                  <a:p>
                    <a:fld id="{B62492F6-B116-402A-8B85-F72CFB98611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9-3F25-4604-9E55-58D55DA1226A}"/>
                </c:ext>
              </c:extLst>
            </c:dLbl>
            <c:dLbl>
              <c:idx val="27"/>
              <c:tx>
                <c:rich>
                  <a:bodyPr/>
                  <a:lstStyle/>
                  <a:p>
                    <a:fld id="{721F3BF6-26D9-46F8-8ECB-902B8251149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A-3F25-4604-9E55-58D55DA1226A}"/>
                </c:ext>
              </c:extLst>
            </c:dLbl>
            <c:dLbl>
              <c:idx val="28"/>
              <c:tx>
                <c:rich>
                  <a:bodyPr/>
                  <a:lstStyle/>
                  <a:p>
                    <a:fld id="{08A5AE27-4DBA-43E8-9B7F-22A3B636E13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B-3F25-4604-9E55-58D55DA1226A}"/>
                </c:ext>
              </c:extLst>
            </c:dLbl>
            <c:dLbl>
              <c:idx val="29"/>
              <c:tx>
                <c:rich>
                  <a:bodyPr/>
                  <a:lstStyle/>
                  <a:p>
                    <a:fld id="{5AB4BEB6-058A-486C-9017-9AF7C5D2683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C-3F25-4604-9E55-58D55DA1226A}"/>
                </c:ext>
              </c:extLst>
            </c:dLbl>
            <c:dLbl>
              <c:idx val="30"/>
              <c:tx>
                <c:rich>
                  <a:bodyPr/>
                  <a:lstStyle/>
                  <a:p>
                    <a:fld id="{9EAB16FA-8619-431B-8958-79C265973FE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D-3F25-4604-9E55-58D55DA1226A}"/>
                </c:ext>
              </c:extLst>
            </c:dLbl>
            <c:dLbl>
              <c:idx val="31"/>
              <c:tx>
                <c:rich>
                  <a:bodyPr/>
                  <a:lstStyle/>
                  <a:p>
                    <a:fld id="{79821CE6-73E3-4EF9-B24A-A9A34FD5300F}"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E-3F25-4604-9E55-58D55DA1226A}"/>
                </c:ext>
              </c:extLst>
            </c:dLbl>
            <c:dLbl>
              <c:idx val="32"/>
              <c:tx>
                <c:rich>
                  <a:bodyPr/>
                  <a:lstStyle/>
                  <a:p>
                    <a:fld id="{BCF96E9C-8756-47ED-9F9E-DDD8A89185B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1F-3F25-4604-9E55-58D55DA1226A}"/>
                </c:ext>
              </c:extLst>
            </c:dLbl>
            <c:dLbl>
              <c:idx val="33"/>
              <c:tx>
                <c:rich>
                  <a:bodyPr/>
                  <a:lstStyle/>
                  <a:p>
                    <a:fld id="{4ABB629C-962C-4705-A178-D7573EC899E8}"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0-3F25-4604-9E55-58D55DA1226A}"/>
                </c:ext>
              </c:extLst>
            </c:dLbl>
            <c:dLbl>
              <c:idx val="34"/>
              <c:tx>
                <c:rich>
                  <a:bodyPr/>
                  <a:lstStyle/>
                  <a:p>
                    <a:fld id="{DD16BC23-8AE5-4AC2-AB94-847BC59F1FA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1-3F25-4604-9E55-58D55DA1226A}"/>
                </c:ext>
              </c:extLst>
            </c:dLbl>
            <c:dLbl>
              <c:idx val="35"/>
              <c:tx>
                <c:rich>
                  <a:bodyPr/>
                  <a:lstStyle/>
                  <a:p>
                    <a:fld id="{B3DF6C9C-FB36-4F07-BEB9-BB939653B6D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2-3F25-4604-9E55-58D55DA1226A}"/>
                </c:ext>
              </c:extLst>
            </c:dLbl>
            <c:dLbl>
              <c:idx val="36"/>
              <c:tx>
                <c:rich>
                  <a:bodyPr/>
                  <a:lstStyle/>
                  <a:p>
                    <a:fld id="{46872D40-4951-4560-83FF-AB62471E3F9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3-3F25-4604-9E55-58D55DA1226A}"/>
                </c:ext>
              </c:extLst>
            </c:dLbl>
            <c:dLbl>
              <c:idx val="37"/>
              <c:tx>
                <c:rich>
                  <a:bodyPr/>
                  <a:lstStyle/>
                  <a:p>
                    <a:fld id="{28472AE9-282D-4927-86A6-D00FD5380A5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4-3F25-4604-9E55-58D55DA1226A}"/>
                </c:ext>
              </c:extLst>
            </c:dLbl>
            <c:dLbl>
              <c:idx val="38"/>
              <c:tx>
                <c:rich>
                  <a:bodyPr/>
                  <a:lstStyle/>
                  <a:p>
                    <a:fld id="{2385D002-2074-4118-978A-5D3E23A607C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5-3F25-4604-9E55-58D55DA1226A}"/>
                </c:ext>
              </c:extLst>
            </c:dLbl>
            <c:dLbl>
              <c:idx val="39"/>
              <c:tx>
                <c:rich>
                  <a:bodyPr/>
                  <a:lstStyle/>
                  <a:p>
                    <a:fld id="{88687B48-BEE6-4FB2-AEB3-96B0798A968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6-3F25-4604-9E55-58D55DA1226A}"/>
                </c:ext>
              </c:extLst>
            </c:dLbl>
            <c:dLbl>
              <c:idx val="40"/>
              <c:tx>
                <c:rich>
                  <a:bodyPr/>
                  <a:lstStyle/>
                  <a:p>
                    <a:fld id="{C5BDC615-A324-4BC6-9D76-B53808F80EB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7-3F25-4604-9E55-58D55DA1226A}"/>
                </c:ext>
              </c:extLst>
            </c:dLbl>
            <c:dLbl>
              <c:idx val="41"/>
              <c:tx>
                <c:rich>
                  <a:bodyPr/>
                  <a:lstStyle/>
                  <a:p>
                    <a:fld id="{D4FF0090-C732-4D41-BCA0-B3E1C341877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8-3F25-4604-9E55-58D55DA1226A}"/>
                </c:ext>
              </c:extLst>
            </c:dLbl>
            <c:dLbl>
              <c:idx val="42"/>
              <c:tx>
                <c:rich>
                  <a:bodyPr/>
                  <a:lstStyle/>
                  <a:p>
                    <a:fld id="{2F182B0D-7F53-440F-9898-230D9A524741}"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9-3F25-4604-9E55-58D55DA1226A}"/>
                </c:ext>
              </c:extLst>
            </c:dLbl>
            <c:dLbl>
              <c:idx val="43"/>
              <c:tx>
                <c:rich>
                  <a:bodyPr/>
                  <a:lstStyle/>
                  <a:p>
                    <a:fld id="{F110E62E-A318-494C-8928-C671728EE30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A-3F25-4604-9E55-58D55DA1226A}"/>
                </c:ext>
              </c:extLst>
            </c:dLbl>
            <c:dLbl>
              <c:idx val="44"/>
              <c:tx>
                <c:rich>
                  <a:bodyPr/>
                  <a:lstStyle/>
                  <a:p>
                    <a:fld id="{CF0899CB-3CD7-4F08-A6F0-18086C657D47}"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B-3F25-4604-9E55-58D55DA1226A}"/>
                </c:ext>
              </c:extLst>
            </c:dLbl>
            <c:dLbl>
              <c:idx val="45"/>
              <c:tx>
                <c:rich>
                  <a:bodyPr/>
                  <a:lstStyle/>
                  <a:p>
                    <a:fld id="{4C5DCC53-4CF2-421F-9C9C-106FEE31EF8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C-3F25-4604-9E55-58D55DA1226A}"/>
                </c:ext>
              </c:extLst>
            </c:dLbl>
            <c:dLbl>
              <c:idx val="46"/>
              <c:tx>
                <c:rich>
                  <a:bodyPr/>
                  <a:lstStyle/>
                  <a:p>
                    <a:fld id="{71F3A800-7939-47E7-A0F9-5CE6887A051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D-3F25-4604-9E55-58D55DA1226A}"/>
                </c:ext>
              </c:extLst>
            </c:dLbl>
            <c:dLbl>
              <c:idx val="47"/>
              <c:tx>
                <c:rich>
                  <a:bodyPr/>
                  <a:lstStyle/>
                  <a:p>
                    <a:fld id="{3F4F1ACF-600E-45ED-8A99-CA55E71ADB9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E-3F25-4604-9E55-58D55DA1226A}"/>
                </c:ext>
              </c:extLst>
            </c:dLbl>
            <c:dLbl>
              <c:idx val="48"/>
              <c:tx>
                <c:rich>
                  <a:bodyPr/>
                  <a:lstStyle/>
                  <a:p>
                    <a:fld id="{37F8BA18-EDA7-4EDC-94C6-64E816A9D78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F-3F25-4604-9E55-58D55DA1226A}"/>
                </c:ext>
              </c:extLst>
            </c:dLbl>
            <c:dLbl>
              <c:idx val="49"/>
              <c:tx>
                <c:rich>
                  <a:bodyPr/>
                  <a:lstStyle/>
                  <a:p>
                    <a:fld id="{51E06149-44EB-4E47-AF19-0770BA508CB4}"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0-3F25-4604-9E55-58D55DA1226A}"/>
                </c:ext>
              </c:extLst>
            </c:dLbl>
            <c:dLbl>
              <c:idx val="50"/>
              <c:tx>
                <c:rich>
                  <a:bodyPr/>
                  <a:lstStyle/>
                  <a:p>
                    <a:fld id="{3030A8A4-7594-40D8-9294-793D342EB64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1-3F25-4604-9E55-58D55DA1226A}"/>
                </c:ext>
              </c:extLst>
            </c:dLbl>
            <c:dLbl>
              <c:idx val="51"/>
              <c:tx>
                <c:rich>
                  <a:bodyPr/>
                  <a:lstStyle/>
                  <a:p>
                    <a:fld id="{3DF0548A-82DB-4797-9033-06050B02433B}"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2-3F25-4604-9E55-58D55DA1226A}"/>
                </c:ext>
              </c:extLst>
            </c:dLbl>
            <c:dLbl>
              <c:idx val="52"/>
              <c:tx>
                <c:rich>
                  <a:bodyPr/>
                  <a:lstStyle/>
                  <a:p>
                    <a:fld id="{C40781D8-4AC5-4B6A-9B7D-457EF4B69AE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3-3F25-4604-9E55-58D55DA1226A}"/>
                </c:ext>
              </c:extLst>
            </c:dLbl>
            <c:dLbl>
              <c:idx val="53"/>
              <c:tx>
                <c:rich>
                  <a:bodyPr/>
                  <a:lstStyle/>
                  <a:p>
                    <a:fld id="{E5F7AA80-A752-4BC3-BC6D-747ACA6F0C7A}"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4-3F25-4604-9E55-58D55DA1226A}"/>
                </c:ext>
              </c:extLst>
            </c:dLbl>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bg2"/>
                    </a:solidFill>
                    <a:latin typeface="+mn-lt"/>
                    <a:ea typeface="+mn-ea"/>
                    <a:cs typeface="+mn-cs"/>
                  </a:defRPr>
                </a:pPr>
                <a:endParaRPr lang="en-US"/>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0"/>
              </c:ext>
            </c:extLst>
          </c:dLbls>
          <c:xVal>
            <c:numRef>
              <c:f>Sheet1!$A$2:$A$55</c:f>
              <c:numCache>
                <c:formatCode>#,##0</c:formatCode>
                <c:ptCount val="54"/>
                <c:pt idx="0">
                  <c:v>340110988</c:v>
                </c:pt>
                <c:pt idx="1">
                  <c:v>51751065</c:v>
                </c:pt>
                <c:pt idx="2">
                  <c:v>123975371</c:v>
                </c:pt>
                <c:pt idx="3">
                  <c:v>68551653</c:v>
                </c:pt>
                <c:pt idx="4">
                  <c:v>35557673</c:v>
                </c:pt>
                <c:pt idx="5">
                  <c:v>83516593</c:v>
                </c:pt>
                <c:pt idx="6">
                  <c:v>41288599</c:v>
                </c:pt>
                <c:pt idx="7">
                  <c:v>36559233</c:v>
                </c:pt>
                <c:pt idx="8">
                  <c:v>69226000</c:v>
                </c:pt>
                <c:pt idx="9">
                  <c:v>85518661</c:v>
                </c:pt>
                <c:pt idx="10">
                  <c:v>143533851</c:v>
                </c:pt>
                <c:pt idx="11">
                  <c:v>27196812</c:v>
                </c:pt>
                <c:pt idx="12">
                  <c:v>91567738</c:v>
                </c:pt>
                <c:pt idx="13">
                  <c:v>48848840</c:v>
                </c:pt>
                <c:pt idx="14">
                  <c:v>37860221</c:v>
                </c:pt>
                <c:pt idx="15">
                  <c:v>34217848</c:v>
                </c:pt>
                <c:pt idx="16">
                  <c:v>52886363</c:v>
                </c:pt>
                <c:pt idx="17">
                  <c:v>45696159</c:v>
                </c:pt>
                <c:pt idx="18">
                  <c:v>35300280</c:v>
                </c:pt>
                <c:pt idx="19">
                  <c:v>58952704</c:v>
                </c:pt>
                <c:pt idx="20">
                  <c:v>28405543</c:v>
                </c:pt>
                <c:pt idx="21">
                  <c:v>130861007</c:v>
                </c:pt>
                <c:pt idx="22">
                  <c:v>46042015</c:v>
                </c:pt>
                <c:pt idx="23">
                  <c:v>115843670</c:v>
                </c:pt>
                <c:pt idx="24">
                  <c:v>42647492</c:v>
                </c:pt>
                <c:pt idx="25">
                  <c:v>71668011</c:v>
                </c:pt>
                <c:pt idx="26">
                  <c:v>34427414</c:v>
                </c:pt>
                <c:pt idx="27">
                  <c:v>211998573</c:v>
                </c:pt>
                <c:pt idx="28">
                  <c:v>56432944</c:v>
                </c:pt>
                <c:pt idx="29">
                  <c:v>38081173</c:v>
                </c:pt>
                <c:pt idx="30">
                  <c:v>50448963</c:v>
                </c:pt>
                <c:pt idx="31">
                  <c:v>283487931</c:v>
                </c:pt>
                <c:pt idx="32">
                  <c:v>36361859</c:v>
                </c:pt>
                <c:pt idx="33">
                  <c:v>46814308</c:v>
                </c:pt>
                <c:pt idx="34">
                  <c:v>251269164</c:v>
                </c:pt>
                <c:pt idx="35">
                  <c:v>100987686</c:v>
                </c:pt>
                <c:pt idx="36">
                  <c:v>232679478</c:v>
                </c:pt>
                <c:pt idx="37">
                  <c:v>64007187</c:v>
                </c:pt>
                <c:pt idx="38">
                  <c:v>173562364</c:v>
                </c:pt>
                <c:pt idx="39">
                  <c:v>29651054</c:v>
                </c:pt>
                <c:pt idx="40">
                  <c:v>116538258</c:v>
                </c:pt>
                <c:pt idx="41">
                  <c:v>50015092</c:v>
                </c:pt>
                <c:pt idx="42">
                  <c:v>29123744</c:v>
                </c:pt>
                <c:pt idx="43">
                  <c:v>40583164</c:v>
                </c:pt>
                <c:pt idx="44">
                  <c:v>68560157</c:v>
                </c:pt>
                <c:pt idx="45">
                  <c:v>34631766</c:v>
                </c:pt>
                <c:pt idx="46">
                  <c:v>132059767</c:v>
                </c:pt>
                <c:pt idx="47">
                  <c:v>37885849</c:v>
                </c:pt>
                <c:pt idx="48">
                  <c:v>31964956</c:v>
                </c:pt>
                <c:pt idx="49">
                  <c:v>31934230</c:v>
                </c:pt>
                <c:pt idx="50">
                  <c:v>54500091</c:v>
                </c:pt>
                <c:pt idx="51">
                  <c:v>109276265</c:v>
                </c:pt>
                <c:pt idx="52">
                  <c:v>26498823</c:v>
                </c:pt>
                <c:pt idx="53">
                  <c:v>27032412</c:v>
                </c:pt>
              </c:numCache>
            </c:numRef>
          </c:xVal>
          <c:yVal>
            <c:numRef>
              <c:f>Sheet1!$B$2:$B$55</c:f>
              <c:numCache>
                <c:formatCode>#,##0.00</c:formatCode>
                <c:ptCount val="54"/>
                <c:pt idx="0">
                  <c:v>6.9065689815349334</c:v>
                </c:pt>
                <c:pt idx="1">
                  <c:v>4.7148788145712563</c:v>
                </c:pt>
                <c:pt idx="2">
                  <c:v>4.6138196271257783</c:v>
                </c:pt>
                <c:pt idx="3">
                  <c:v>4.3324994657678051</c:v>
                </c:pt>
                <c:pt idx="4">
                  <c:v>4.0497588242065223</c:v>
                </c:pt>
                <c:pt idx="5">
                  <c:v>3.8196002559635063</c:v>
                </c:pt>
                <c:pt idx="6">
                  <c:v>3.8025024777421006</c:v>
                </c:pt>
                <c:pt idx="7">
                  <c:v>3.7473433865529944</c:v>
                </c:pt>
                <c:pt idx="8">
                  <c:v>2.8168607170716204</c:v>
                </c:pt>
                <c:pt idx="9">
                  <c:v>2.245124020358551</c:v>
                </c:pt>
                <c:pt idx="10">
                  <c:v>2.1528022682259116</c:v>
                </c:pt>
                <c:pt idx="11">
                  <c:v>2.1326028947804621</c:v>
                </c:pt>
                <c:pt idx="12">
                  <c:v>2.1077292528510423</c:v>
                </c:pt>
                <c:pt idx="13">
                  <c:v>1.9857175728226097</c:v>
                </c:pt>
                <c:pt idx="14">
                  <c:v>1.9809710038406803</c:v>
                </c:pt>
                <c:pt idx="15">
                  <c:v>1.9580424812220802</c:v>
                </c:pt>
                <c:pt idx="16">
                  <c:v>1.9475720045260061</c:v>
                </c:pt>
                <c:pt idx="17">
                  <c:v>1.8819962526828566</c:v>
                </c:pt>
                <c:pt idx="18">
                  <c:v>1.7846883934065112</c:v>
                </c:pt>
                <c:pt idx="19">
                  <c:v>1.5775357819040836</c:v>
                </c:pt>
                <c:pt idx="20">
                  <c:v>1.3025626723629258</c:v>
                </c:pt>
                <c:pt idx="21">
                  <c:v>1.2685214931900992</c:v>
                </c:pt>
                <c:pt idx="22">
                  <c:v>1.0208067566113255</c:v>
                </c:pt>
                <c:pt idx="23">
                  <c:v>1.0186141374837312</c:v>
                </c:pt>
                <c:pt idx="24">
                  <c:v>0.93792150778760919</c:v>
                </c:pt>
                <c:pt idx="25">
                  <c:v>0.93486618457989579</c:v>
                </c:pt>
                <c:pt idx="26">
                  <c:v>0.90044520915802739</c:v>
                </c:pt>
                <c:pt idx="27">
                  <c:v>0.89623244775331579</c:v>
                </c:pt>
                <c:pt idx="28">
                  <c:v>0.86828714801765439</c:v>
                </c:pt>
                <c:pt idx="29">
                  <c:v>0.86656994520625719</c:v>
                </c:pt>
                <c:pt idx="30">
                  <c:v>0.69377045470686882</c:v>
                </c:pt>
                <c:pt idx="31">
                  <c:v>0.67727750991981384</c:v>
                </c:pt>
                <c:pt idx="32">
                  <c:v>0.6325309165298727</c:v>
                </c:pt>
                <c:pt idx="33">
                  <c:v>0.61946873165357907</c:v>
                </c:pt>
                <c:pt idx="34">
                  <c:v>0.54125224852501197</c:v>
                </c:pt>
                <c:pt idx="35">
                  <c:v>0.50501206652066466</c:v>
                </c:pt>
                <c:pt idx="36">
                  <c:v>0.49424212650159033</c:v>
                </c:pt>
                <c:pt idx="37">
                  <c:v>0.45307412119204676</c:v>
                </c:pt>
                <c:pt idx="38">
                  <c:v>0.43212133247966128</c:v>
                </c:pt>
                <c:pt idx="39">
                  <c:v>0.40470736723220702</c:v>
                </c:pt>
                <c:pt idx="40">
                  <c:v>0.37755841519443339</c:v>
                </c:pt>
                <c:pt idx="41">
                  <c:v>0.35989137038876184</c:v>
                </c:pt>
                <c:pt idx="42">
                  <c:v>0.34336244680628975</c:v>
                </c:pt>
                <c:pt idx="43">
                  <c:v>0.32032987866594137</c:v>
                </c:pt>
                <c:pt idx="44">
                  <c:v>0.29171461786471697</c:v>
                </c:pt>
                <c:pt idx="45">
                  <c:v>0.2310017918231487</c:v>
                </c:pt>
                <c:pt idx="46">
                  <c:v>0.22716986923049776</c:v>
                </c:pt>
                <c:pt idx="47">
                  <c:v>0.21116063678551852</c:v>
                </c:pt>
                <c:pt idx="48">
                  <c:v>0.18770556105254768</c:v>
                </c:pt>
                <c:pt idx="49">
                  <c:v>0.1252574431887038</c:v>
                </c:pt>
                <c:pt idx="50">
                  <c:v>9.1742966080552046E-2</c:v>
                </c:pt>
                <c:pt idx="51">
                  <c:v>9.1511180401343331E-2</c:v>
                </c:pt>
                <c:pt idx="52">
                  <c:v>3.7737525172344445E-2</c:v>
                </c:pt>
                <c:pt idx="53">
                  <c:v>3.699262944053975E-2</c:v>
                </c:pt>
              </c:numCache>
            </c:numRef>
          </c:yVal>
          <c:smooth val="0"/>
          <c:extLst>
            <c:ext xmlns:c15="http://schemas.microsoft.com/office/drawing/2012/chart" uri="{02D57815-91ED-43cb-92C2-25804820EDAC}">
              <c15:datalabelsRange>
                <c15:f>Sheet1!$D$2:$D$55</c15:f>
                <c15:dlblRangeCache>
                  <c:ptCount val="54"/>
                  <c:pt idx="0">
                    <c:v>USA</c:v>
                  </c:pt>
                  <c:pt idx="1">
                    <c:v>KOR</c:v>
                  </c:pt>
                  <c:pt idx="2">
                    <c:v>JPN</c:v>
                  </c:pt>
                  <c:pt idx="3">
                    <c:v>FRA</c:v>
                  </c:pt>
                  <c:pt idx="4">
                    <c:v>MYS</c:v>
                  </c:pt>
                  <c:pt idx="5">
                    <c:v>DEU</c:v>
                  </c:pt>
                  <c:pt idx="6">
                    <c:v>CAN</c:v>
                  </c:pt>
                  <c:pt idx="7">
                    <c:v>POL</c:v>
                  </c:pt>
                  <c:pt idx="8">
                    <c:v>GBR</c:v>
                  </c:pt>
                  <c:pt idx="9">
                    <c:v>TUR</c:v>
                  </c:pt>
                  <c:pt idx="10">
                    <c:v>RUS</c:v>
                  </c:pt>
                  <c:pt idx="11">
                    <c:v>AUS</c:v>
                  </c:pt>
                  <c:pt idx="12">
                    <c:v>IRN</c:v>
                  </c:pt>
                  <c:pt idx="13">
                    <c:v>ESP</c:v>
                  </c:pt>
                  <c:pt idx="14">
                    <c:v>UKR</c:v>
                  </c:pt>
                  <c:pt idx="15">
                    <c:v>PER</c:v>
                  </c:pt>
                  <c:pt idx="16">
                    <c:v>COL</c:v>
                  </c:pt>
                  <c:pt idx="17">
                    <c:v>ARG</c:v>
                  </c:pt>
                  <c:pt idx="18">
                    <c:v>SAU</c:v>
                  </c:pt>
                  <c:pt idx="19">
                    <c:v>ITA</c:v>
                  </c:pt>
                  <c:pt idx="20">
                    <c:v>VEN</c:v>
                  </c:pt>
                  <c:pt idx="21">
                    <c:v>MEX</c:v>
                  </c:pt>
                  <c:pt idx="22">
                    <c:v>IRQ</c:v>
                  </c:pt>
                  <c:pt idx="23">
                    <c:v>PHL</c:v>
                  </c:pt>
                  <c:pt idx="24">
                    <c:v>AFG</c:v>
                  </c:pt>
                  <c:pt idx="25">
                    <c:v>THA</c:v>
                  </c:pt>
                  <c:pt idx="26">
                    <c:v>GHA</c:v>
                  </c:pt>
                  <c:pt idx="27">
                    <c:v>BRA</c:v>
                  </c:pt>
                  <c:pt idx="28">
                    <c:v>KEN</c:v>
                  </c:pt>
                  <c:pt idx="29">
                    <c:v>MAR</c:v>
                  </c:pt>
                  <c:pt idx="30">
                    <c:v>SDN</c:v>
                  </c:pt>
                  <c:pt idx="31">
                    <c:v>IDN</c:v>
                  </c:pt>
                  <c:pt idx="32">
                    <c:v>UZB</c:v>
                  </c:pt>
                  <c:pt idx="33">
                    <c:v>DZA</c:v>
                  </c:pt>
                  <c:pt idx="34">
                    <c:v>PAK</c:v>
                  </c:pt>
                  <c:pt idx="35">
                    <c:v>VNM</c:v>
                  </c:pt>
                  <c:pt idx="36">
                    <c:v>NGA</c:v>
                  </c:pt>
                  <c:pt idx="37">
                    <c:v>ZAF</c:v>
                  </c:pt>
                  <c:pt idx="38">
                    <c:v>BGD</c:v>
                  </c:pt>
                  <c:pt idx="39">
                    <c:v>NPL</c:v>
                  </c:pt>
                  <c:pt idx="40">
                    <c:v>EGY</c:v>
                  </c:pt>
                  <c:pt idx="41">
                    <c:v>UGA</c:v>
                  </c:pt>
                  <c:pt idx="42">
                    <c:v>CMR</c:v>
                  </c:pt>
                  <c:pt idx="43">
                    <c:v>YEM</c:v>
                  </c:pt>
                  <c:pt idx="44">
                    <c:v>TZA</c:v>
                  </c:pt>
                  <c:pt idx="45">
                    <c:v>MOZ</c:v>
                  </c:pt>
                  <c:pt idx="46">
                    <c:v>ETH</c:v>
                  </c:pt>
                  <c:pt idx="47">
                    <c:v>AGO</c:v>
                  </c:pt>
                  <c:pt idx="48">
                    <c:v>MDG</c:v>
                  </c:pt>
                  <c:pt idx="49">
                    <c:v>CIV</c:v>
                  </c:pt>
                  <c:pt idx="50">
                    <c:v>MMR</c:v>
                  </c:pt>
                  <c:pt idx="51">
                    <c:v>COD</c:v>
                  </c:pt>
                  <c:pt idx="52">
                    <c:v>PRK</c:v>
                  </c:pt>
                  <c:pt idx="53">
                    <c:v>NER</c:v>
                  </c:pt>
                </c15:dlblRangeCache>
              </c15:datalabelsRange>
            </c:ext>
            <c:ext xmlns:c16="http://schemas.microsoft.com/office/drawing/2014/chart" uri="{C3380CC4-5D6E-409C-BE32-E72D297353CC}">
              <c16:uniqueId val="{00000000-FC97-46A8-AE8B-FCDE6A4CF2F3}"/>
            </c:ext>
          </c:extLst>
        </c:ser>
        <c:dLbls>
          <c:showLegendKey val="0"/>
          <c:showVal val="0"/>
          <c:showCatName val="0"/>
          <c:showSerName val="0"/>
          <c:showPercent val="0"/>
          <c:showBubbleSize val="0"/>
        </c:dLbls>
        <c:axId val="1110425424"/>
        <c:axId val="1110439824"/>
      </c:scatterChart>
      <c:valAx>
        <c:axId val="1110425424"/>
        <c:scaling>
          <c:orientation val="minMax"/>
          <c:max val="350000000"/>
          <c:min val="50000000"/>
        </c:scaling>
        <c:delete val="0"/>
        <c:axPos val="b"/>
        <c:numFmt formatCode="#,##0"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110439824"/>
        <c:crosses val="autoZero"/>
        <c:crossBetween val="midCat"/>
      </c:valAx>
      <c:valAx>
        <c:axId val="1110439824"/>
        <c:scaling>
          <c:orientation val="minMax"/>
          <c:max val="7"/>
        </c:scaling>
        <c:delete val="0"/>
        <c:axPos val="l"/>
        <c:numFmt formatCode="#,##0.00"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1104254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c:f>
              <c:numCache>
                <c:formatCode>General</c:formatCode>
                <c:ptCount val="11"/>
                <c:pt idx="0">
                  <c:v>2015</c:v>
                </c:pt>
                <c:pt idx="1">
                  <c:v>2016</c:v>
                </c:pt>
                <c:pt idx="2">
                  <c:v>2017</c:v>
                </c:pt>
                <c:pt idx="3">
                  <c:v>2018</c:v>
                </c:pt>
                <c:pt idx="4">
                  <c:v>2019</c:v>
                </c:pt>
                <c:pt idx="5">
                  <c:v>2020</c:v>
                </c:pt>
                <c:pt idx="6">
                  <c:v>2021</c:v>
                </c:pt>
                <c:pt idx="7">
                  <c:v>2022</c:v>
                </c:pt>
                <c:pt idx="8">
                  <c:v>2023</c:v>
                </c:pt>
                <c:pt idx="9">
                  <c:v>2024</c:v>
                </c:pt>
                <c:pt idx="10">
                  <c:v>2025</c:v>
                </c:pt>
              </c:numCache>
            </c:numRef>
          </c:cat>
          <c:val>
            <c:numRef>
              <c:f>Sheet1!$B$2:$B$12</c:f>
              <c:numCache>
                <c:formatCode>General</c:formatCode>
                <c:ptCount val="11"/>
                <c:pt idx="0">
                  <c:v>3</c:v>
                </c:pt>
                <c:pt idx="1">
                  <c:v>4</c:v>
                </c:pt>
                <c:pt idx="2">
                  <c:v>4</c:v>
                </c:pt>
                <c:pt idx="3">
                  <c:v>6</c:v>
                </c:pt>
                <c:pt idx="4">
                  <c:v>5</c:v>
                </c:pt>
                <c:pt idx="5">
                  <c:v>2</c:v>
                </c:pt>
                <c:pt idx="6">
                  <c:v>2</c:v>
                </c:pt>
                <c:pt idx="7">
                  <c:v>3</c:v>
                </c:pt>
                <c:pt idx="8">
                  <c:v>15</c:v>
                </c:pt>
                <c:pt idx="9">
                  <c:v>16</c:v>
                </c:pt>
                <c:pt idx="10">
                  <c:v>16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8"/>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bg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5335-4267-B8A0-8B82735AC67C}"/>
              </c:ext>
            </c:extLst>
          </c:dPt>
          <c:cat>
            <c:strRef>
              <c:f>Sheet1!$A$2:$A$5</c:f>
              <c:strCache>
                <c:ptCount val="4"/>
                <c:pt idx="0">
                  <c:v>p0</c:v>
                </c:pt>
                <c:pt idx="1">
                  <c:v>p1</c:v>
                </c:pt>
                <c:pt idx="2">
                  <c:v>p2</c:v>
                </c:pt>
                <c:pt idx="3">
                  <c:v>p3</c:v>
                </c:pt>
              </c:strCache>
            </c:strRef>
          </c:cat>
          <c:val>
            <c:numRef>
              <c:f>Sheet1!$B$2:$B$5</c:f>
              <c:numCache>
                <c:formatCode>General</c:formatCode>
                <c:ptCount val="4"/>
                <c:pt idx="0">
                  <c:v>1474</c:v>
                </c:pt>
                <c:pt idx="1">
                  <c:v>1638</c:v>
                </c:pt>
                <c:pt idx="2">
                  <c:v>1772</c:v>
                </c:pt>
                <c:pt idx="3">
                  <c:v>1782</c:v>
                </c:pt>
              </c:numCache>
            </c:numRef>
          </c:val>
          <c:smooth val="0"/>
          <c:extLst>
            <c:ext xmlns:c16="http://schemas.microsoft.com/office/drawing/2014/chart" uri="{C3380CC4-5D6E-409C-BE32-E72D297353CC}">
              <c16:uniqueId val="{00000001-5335-4267-B8A0-8B82735AC6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889.8"/>
          <c:min val="1366.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10B8-43B7-8C04-18173E04C150}"/>
              </c:ext>
            </c:extLst>
          </c:dPt>
          <c:cat>
            <c:strRef>
              <c:f>Sheet1!$A$2:$A$5</c:f>
              <c:strCache>
                <c:ptCount val="4"/>
                <c:pt idx="0">
                  <c:v>p0</c:v>
                </c:pt>
                <c:pt idx="1">
                  <c:v>p1</c:v>
                </c:pt>
                <c:pt idx="2">
                  <c:v>p2</c:v>
                </c:pt>
                <c:pt idx="3">
                  <c:v>p3</c:v>
                </c:pt>
              </c:strCache>
            </c:strRef>
          </c:cat>
          <c:val>
            <c:numRef>
              <c:f>Sheet1!$B$2:$B$5</c:f>
              <c:numCache>
                <c:formatCode>General</c:formatCode>
                <c:ptCount val="4"/>
                <c:pt idx="0">
                  <c:v>2063</c:v>
                </c:pt>
                <c:pt idx="1">
                  <c:v>2297</c:v>
                </c:pt>
                <c:pt idx="2">
                  <c:v>2442</c:v>
                </c:pt>
                <c:pt idx="3">
                  <c:v>2473</c:v>
                </c:pt>
              </c:numCache>
            </c:numRef>
          </c:val>
          <c:smooth val="0"/>
          <c:extLst>
            <c:ext xmlns:c16="http://schemas.microsoft.com/office/drawing/2014/chart" uri="{C3380CC4-5D6E-409C-BE32-E72D297353CC}">
              <c16:uniqueId val="{00000001-10B8-43B7-8C04-18173E04C15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616.5"/>
          <c:min val="191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BA5-4E96-BF12-160A8122BDC1}"/>
              </c:ext>
            </c:extLst>
          </c:dPt>
          <c:cat>
            <c:strRef>
              <c:f>Sheet1!$A$2:$A$5</c:f>
              <c:strCache>
                <c:ptCount val="4"/>
                <c:pt idx="0">
                  <c:v>p0</c:v>
                </c:pt>
                <c:pt idx="1">
                  <c:v>p1</c:v>
                </c:pt>
                <c:pt idx="2">
                  <c:v>p2</c:v>
                </c:pt>
                <c:pt idx="3">
                  <c:v>p3</c:v>
                </c:pt>
              </c:strCache>
            </c:strRef>
          </c:cat>
          <c:val>
            <c:numRef>
              <c:f>Sheet1!$B$2:$B$5</c:f>
              <c:numCache>
                <c:formatCode>General</c:formatCode>
                <c:ptCount val="4"/>
                <c:pt idx="0">
                  <c:v>1908</c:v>
                </c:pt>
                <c:pt idx="1">
                  <c:v>2162</c:v>
                </c:pt>
                <c:pt idx="2">
                  <c:v>2321</c:v>
                </c:pt>
                <c:pt idx="3">
                  <c:v>2353</c:v>
                </c:pt>
              </c:numCache>
            </c:numRef>
          </c:val>
          <c:smooth val="0"/>
          <c:extLst>
            <c:ext xmlns:c16="http://schemas.microsoft.com/office/drawing/2014/chart" uri="{C3380CC4-5D6E-409C-BE32-E72D297353CC}">
              <c16:uniqueId val="{00000001-6BA5-4E96-BF12-160A8122BDC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08.75"/>
          <c:min val="1752.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21E3-4BB7-85E9-E2032FC16804}"/>
              </c:ext>
            </c:extLst>
          </c:dPt>
          <c:cat>
            <c:strRef>
              <c:f>Sheet1!$A$2:$A$5</c:f>
              <c:strCache>
                <c:ptCount val="4"/>
                <c:pt idx="0">
                  <c:v>p0</c:v>
                </c:pt>
                <c:pt idx="1">
                  <c:v>p1</c:v>
                </c:pt>
                <c:pt idx="2">
                  <c:v>p2</c:v>
                </c:pt>
                <c:pt idx="3">
                  <c:v>p3</c:v>
                </c:pt>
              </c:strCache>
            </c:strRef>
          </c:cat>
          <c:val>
            <c:numRef>
              <c:f>Sheet1!$B$2:$B$5</c:f>
              <c:numCache>
                <c:formatCode>General</c:formatCode>
                <c:ptCount val="4"/>
                <c:pt idx="0">
                  <c:v>156</c:v>
                </c:pt>
                <c:pt idx="1">
                  <c:v>135</c:v>
                </c:pt>
                <c:pt idx="2">
                  <c:v>121</c:v>
                </c:pt>
                <c:pt idx="3">
                  <c:v>120</c:v>
                </c:pt>
              </c:numCache>
            </c:numRef>
          </c:val>
          <c:smooth val="0"/>
          <c:extLst>
            <c:ext xmlns:c16="http://schemas.microsoft.com/office/drawing/2014/chart" uri="{C3380CC4-5D6E-409C-BE32-E72D297353CC}">
              <c16:uniqueId val="{00000001-21E3-4BB7-85E9-E2032FC1680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68.6"/>
          <c:min val="107.4"/>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558-4A0B-BDDB-66600DAB8E93}"/>
              </c:ext>
            </c:extLst>
          </c:dPt>
          <c:cat>
            <c:strRef>
              <c:f>Sheet1!$A$2:$A$5</c:f>
              <c:strCache>
                <c:ptCount val="4"/>
                <c:pt idx="0">
                  <c:v>p0</c:v>
                </c:pt>
                <c:pt idx="1">
                  <c:v>p1</c:v>
                </c:pt>
                <c:pt idx="2">
                  <c:v>p2</c:v>
                </c:pt>
                <c:pt idx="3">
                  <c:v>p3</c:v>
                </c:pt>
              </c:strCache>
            </c:strRef>
          </c:cat>
          <c:val>
            <c:numRef>
              <c:f>Sheet1!$B$2:$B$5</c:f>
              <c:numCache>
                <c:formatCode>General</c:formatCode>
                <c:ptCount val="4"/>
                <c:pt idx="0">
                  <c:v>7.5</c:v>
                </c:pt>
                <c:pt idx="1">
                  <c:v>5.9</c:v>
                </c:pt>
                <c:pt idx="2">
                  <c:v>4.9000000000000004</c:v>
                </c:pt>
                <c:pt idx="3">
                  <c:v>4.9000000000000004</c:v>
                </c:pt>
              </c:numCache>
            </c:numRef>
          </c:val>
          <c:smooth val="0"/>
          <c:extLst>
            <c:ext xmlns:c16="http://schemas.microsoft.com/office/drawing/2014/chart" uri="{C3380CC4-5D6E-409C-BE32-E72D297353CC}">
              <c16:uniqueId val="{00000001-6558-4A0B-BDDB-66600DAB8E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8.41"/>
          <c:min val="3.9900000000000007"/>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7EAE-4D98-90D3-1A6D91A95292}"/>
              </c:ext>
            </c:extLst>
          </c:dPt>
          <c:cat>
            <c:strRef>
              <c:f>Sheet1!$A$2:$A$5</c:f>
              <c:strCache>
                <c:ptCount val="4"/>
                <c:pt idx="0">
                  <c:v>p0</c:v>
                </c:pt>
                <c:pt idx="1">
                  <c:v>p1</c:v>
                </c:pt>
                <c:pt idx="2">
                  <c:v>p2</c:v>
                </c:pt>
                <c:pt idx="3">
                  <c:v>p3</c:v>
                </c:pt>
              </c:strCache>
            </c:strRef>
          </c:cat>
          <c:val>
            <c:numRef>
              <c:f>Sheet1!$B$2:$B$5</c:f>
              <c:numCache>
                <c:formatCode>General</c:formatCode>
                <c:ptCount val="4"/>
                <c:pt idx="0">
                  <c:v>282</c:v>
                </c:pt>
                <c:pt idx="1">
                  <c:v>296</c:v>
                </c:pt>
                <c:pt idx="2">
                  <c:v>267</c:v>
                </c:pt>
                <c:pt idx="3">
                  <c:v>291</c:v>
                </c:pt>
              </c:numCache>
            </c:numRef>
          </c:val>
          <c:smooth val="0"/>
          <c:extLst>
            <c:ext xmlns:c16="http://schemas.microsoft.com/office/drawing/2014/chart" uri="{C3380CC4-5D6E-409C-BE32-E72D297353CC}">
              <c16:uniqueId val="{00000001-7EAE-4D98-90D3-1A6D91A9529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06.14999999999998"/>
          <c:min val="256.8500000000000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9023-490B-8300-3D05C1CDF626}"/>
              </c:ext>
            </c:extLst>
          </c:dPt>
          <c:cat>
            <c:strRef>
              <c:f>Sheet1!$A$2:$A$5</c:f>
              <c:strCache>
                <c:ptCount val="4"/>
                <c:pt idx="0">
                  <c:v>p0</c:v>
                </c:pt>
                <c:pt idx="1">
                  <c:v>p1</c:v>
                </c:pt>
                <c:pt idx="2">
                  <c:v>p2</c:v>
                </c:pt>
                <c:pt idx="3">
                  <c:v>p3</c:v>
                </c:pt>
              </c:strCache>
            </c:strRef>
          </c:cat>
          <c:val>
            <c:numRef>
              <c:f>Sheet1!$B$2:$B$5</c:f>
              <c:numCache>
                <c:formatCode>General</c:formatCode>
                <c:ptCount val="4"/>
                <c:pt idx="0">
                  <c:v>120</c:v>
                </c:pt>
                <c:pt idx="1">
                  <c:v>370</c:v>
                </c:pt>
                <c:pt idx="2">
                  <c:v>130</c:v>
                </c:pt>
                <c:pt idx="3">
                  <c:v>125</c:v>
                </c:pt>
              </c:numCache>
            </c:numRef>
          </c:val>
          <c:smooth val="0"/>
          <c:extLst>
            <c:ext xmlns:c16="http://schemas.microsoft.com/office/drawing/2014/chart" uri="{C3380CC4-5D6E-409C-BE32-E72D297353CC}">
              <c16:uniqueId val="{00000001-9023-490B-8300-3D05C1CDF626}"/>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457.5"/>
          <c:min val="3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BF85-45C6-B44D-ECFC0460F120}"/>
              </c:ext>
            </c:extLst>
          </c:dPt>
          <c:cat>
            <c:strRef>
              <c:f>Sheet1!$A$2:$A$5</c:f>
              <c:strCache>
                <c:ptCount val="4"/>
                <c:pt idx="0">
                  <c:v>p0</c:v>
                </c:pt>
                <c:pt idx="1">
                  <c:v>p1</c:v>
                </c:pt>
                <c:pt idx="2">
                  <c:v>p2</c:v>
                </c:pt>
                <c:pt idx="3">
                  <c:v>p3</c:v>
                </c:pt>
              </c:strCache>
            </c:strRef>
          </c:cat>
          <c:val>
            <c:numRef>
              <c:f>Sheet1!$B$2:$B$5</c:f>
              <c:numCache>
                <c:formatCode>General</c:formatCode>
                <c:ptCount val="4"/>
                <c:pt idx="0">
                  <c:v>3741</c:v>
                </c:pt>
                <c:pt idx="1">
                  <c:v>4110</c:v>
                </c:pt>
                <c:pt idx="2">
                  <c:v>4363</c:v>
                </c:pt>
                <c:pt idx="3">
                  <c:v>5050</c:v>
                </c:pt>
              </c:numCache>
            </c:numRef>
          </c:val>
          <c:smooth val="0"/>
          <c:extLst>
            <c:ext xmlns:c16="http://schemas.microsoft.com/office/drawing/2014/chart" uri="{C3380CC4-5D6E-409C-BE32-E72D297353CC}">
              <c16:uniqueId val="{00000001-BF85-45C6-B44D-ECFC0460F12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5508.15"/>
          <c:min val="3282.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0400-403D-8886-26E44EBEBBF3}"/>
              </c:ext>
            </c:extLst>
          </c:dPt>
          <c:cat>
            <c:strRef>
              <c:f>Sheet1!$A$2:$A$5</c:f>
              <c:strCache>
                <c:ptCount val="4"/>
                <c:pt idx="0">
                  <c:v>p0</c:v>
                </c:pt>
                <c:pt idx="1">
                  <c:v>p1</c:v>
                </c:pt>
                <c:pt idx="2">
                  <c:v>p2</c:v>
                </c:pt>
                <c:pt idx="3">
                  <c:v>p3</c:v>
                </c:pt>
              </c:strCache>
            </c:strRef>
          </c:cat>
          <c:val>
            <c:numRef>
              <c:f>Sheet1!$B$2:$B$5</c:f>
              <c:numCache>
                <c:formatCode>General</c:formatCode>
                <c:ptCount val="4"/>
                <c:pt idx="0">
                  <c:v>3.4</c:v>
                </c:pt>
                <c:pt idx="1">
                  <c:v>3.3</c:v>
                </c:pt>
                <c:pt idx="2">
                  <c:v>3.5</c:v>
                </c:pt>
                <c:pt idx="3">
                  <c:v>3.4</c:v>
                </c:pt>
              </c:numCache>
            </c:numRef>
          </c:val>
          <c:smooth val="0"/>
          <c:extLst>
            <c:ext xmlns:c16="http://schemas.microsoft.com/office/drawing/2014/chart" uri="{C3380CC4-5D6E-409C-BE32-E72D297353CC}">
              <c16:uniqueId val="{00000001-0400-403D-8886-26E44EBEBBF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5700000000000003"/>
          <c:min val="3.22999999999999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3F7D-4598-8EEE-156FA4B2C161}"/>
              </c:ext>
            </c:extLst>
          </c:dPt>
          <c:cat>
            <c:strRef>
              <c:f>Sheet1!$A$2:$A$5</c:f>
              <c:strCache>
                <c:ptCount val="4"/>
                <c:pt idx="0">
                  <c:v>p0</c:v>
                </c:pt>
                <c:pt idx="1">
                  <c:v>p1</c:v>
                </c:pt>
                <c:pt idx="2">
                  <c:v>p2</c:v>
                </c:pt>
                <c:pt idx="3">
                  <c:v>p3</c:v>
                </c:pt>
              </c:strCache>
            </c:strRef>
          </c:cat>
          <c:val>
            <c:numRef>
              <c:f>Sheet1!$B$2:$B$5</c:f>
              <c:numCache>
                <c:formatCode>General</c:formatCode>
                <c:ptCount val="4"/>
                <c:pt idx="0">
                  <c:v>1292</c:v>
                </c:pt>
                <c:pt idx="1">
                  <c:v>1257</c:v>
                </c:pt>
                <c:pt idx="2">
                  <c:v>1432</c:v>
                </c:pt>
                <c:pt idx="3">
                  <c:v>1954</c:v>
                </c:pt>
              </c:numCache>
            </c:numRef>
          </c:val>
          <c:smooth val="0"/>
          <c:extLst>
            <c:ext xmlns:c16="http://schemas.microsoft.com/office/drawing/2014/chart" uri="{C3380CC4-5D6E-409C-BE32-E72D297353CC}">
              <c16:uniqueId val="{00000001-3F7D-4598-8EEE-156FA4B2C1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197.9499999999998"/>
          <c:min val="1013.0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A72F-4EEB-9676-B95609204D61}"/>
              </c:ext>
            </c:extLst>
          </c:dPt>
          <c:cat>
            <c:strRef>
              <c:f>Sheet1!$A$2:$A$5</c:f>
              <c:strCache>
                <c:ptCount val="4"/>
                <c:pt idx="0">
                  <c:v>p0</c:v>
                </c:pt>
                <c:pt idx="1">
                  <c:v>p1</c:v>
                </c:pt>
                <c:pt idx="2">
                  <c:v>p2</c:v>
                </c:pt>
                <c:pt idx="3">
                  <c:v>p3</c:v>
                </c:pt>
              </c:strCache>
            </c:strRef>
          </c:cat>
          <c:val>
            <c:numRef>
              <c:f>Sheet1!$B$2:$B$5</c:f>
              <c:numCache>
                <c:formatCode>General</c:formatCode>
                <c:ptCount val="4"/>
                <c:pt idx="0">
                  <c:v>563</c:v>
                </c:pt>
                <c:pt idx="1">
                  <c:v>546</c:v>
                </c:pt>
                <c:pt idx="2">
                  <c:v>412</c:v>
                </c:pt>
                <c:pt idx="3">
                  <c:v>572</c:v>
                </c:pt>
              </c:numCache>
            </c:numRef>
          </c:val>
          <c:smooth val="0"/>
          <c:extLst>
            <c:ext xmlns:c16="http://schemas.microsoft.com/office/drawing/2014/chart" uri="{C3380CC4-5D6E-409C-BE32-E72D297353CC}">
              <c16:uniqueId val="{00000001-A72F-4EEB-9676-B95609204D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628"/>
          <c:min val="35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FA44-4DAE-A63A-1B1AC4627DB8}"/>
              </c:ext>
            </c:extLst>
          </c:dPt>
          <c:cat>
            <c:strRef>
              <c:f>Sheet1!$A$2:$A$5</c:f>
              <c:strCache>
                <c:ptCount val="4"/>
                <c:pt idx="0">
                  <c:v>p0</c:v>
                </c:pt>
                <c:pt idx="1">
                  <c:v>p1</c:v>
                </c:pt>
                <c:pt idx="2">
                  <c:v>p2</c:v>
                </c:pt>
                <c:pt idx="3">
                  <c:v>p3</c:v>
                </c:pt>
              </c:strCache>
            </c:strRef>
          </c:cat>
          <c:val>
            <c:numRef>
              <c:f>Sheet1!$B$2:$B$5</c:f>
              <c:numCache>
                <c:formatCode>General</c:formatCode>
                <c:ptCount val="4"/>
                <c:pt idx="0">
                  <c:v>1714</c:v>
                </c:pt>
                <c:pt idx="1">
                  <c:v>1906</c:v>
                </c:pt>
                <c:pt idx="2">
                  <c:v>2110</c:v>
                </c:pt>
                <c:pt idx="3">
                  <c:v>2343</c:v>
                </c:pt>
              </c:numCache>
            </c:numRef>
          </c:val>
          <c:smooth val="0"/>
          <c:extLst>
            <c:ext xmlns:c16="http://schemas.microsoft.com/office/drawing/2014/chart" uri="{C3380CC4-5D6E-409C-BE32-E72D297353CC}">
              <c16:uniqueId val="{00000001-FA44-4DAE-A63A-1B1AC4627DB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63.15"/>
          <c:min val="1493.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Net Tuition &amp; Fees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9D70-4E7C-90C7-4DADF39FEFB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9D70-4E7C-90C7-4DADF39FEFB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9D70-4E7C-90C7-4DADF39FEFB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1248</c:v>
                </c:pt>
                <c:pt idx="1">
                  <c:v>1474</c:v>
                </c:pt>
                <c:pt idx="2">
                  <c:v>1638</c:v>
                </c:pt>
                <c:pt idx="3">
                  <c:v>1772</c:v>
                </c:pt>
                <c:pt idx="4">
                  <c:v>1782</c:v>
                </c:pt>
              </c:numCache>
            </c:numRef>
          </c:val>
          <c:smooth val="0"/>
          <c:extLst>
            <c:ext xmlns:c16="http://schemas.microsoft.com/office/drawing/2014/chart" uri="{C3380CC4-5D6E-409C-BE32-E72D297353CC}">
              <c16:uniqueId val="{00000002-9D70-4E7C-90C7-4DADF39FEFB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835.4"/>
          <c:min val="1114.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Research Awards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212B-4C58-BFEE-0E98B2A17B7C}"/>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212B-4C58-BFEE-0E98B2A17B7C}"/>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212B-4C58-BFEE-0E98B2A17B7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232</c:v>
                </c:pt>
                <c:pt idx="1">
                  <c:v>282</c:v>
                </c:pt>
                <c:pt idx="2">
                  <c:v>296</c:v>
                </c:pt>
                <c:pt idx="3">
                  <c:v>267</c:v>
                </c:pt>
                <c:pt idx="4">
                  <c:v>291</c:v>
                </c:pt>
              </c:numCache>
            </c:numRef>
          </c:val>
          <c:smooth val="0"/>
          <c:extLst>
            <c:ext xmlns:c16="http://schemas.microsoft.com/office/drawing/2014/chart" uri="{C3380CC4-5D6E-409C-BE32-E72D297353CC}">
              <c16:uniqueId val="{00000002-212B-4C58-BFEE-0E98B2A17B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02.39999999999998"/>
          <c:min val="21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Philanthropy</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32CD-41DE-9A95-27CC7B738D7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32CD-41DE-9A95-27CC7B738D7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32CD-41DE-9A95-27CC7B738D7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99</c:v>
                </c:pt>
                <c:pt idx="1">
                  <c:v>120</c:v>
                </c:pt>
                <c:pt idx="2">
                  <c:v>370</c:v>
                </c:pt>
                <c:pt idx="3">
                  <c:v>130</c:v>
                </c:pt>
                <c:pt idx="4">
                  <c:v>125</c:v>
                </c:pt>
              </c:numCache>
            </c:numRef>
          </c:val>
          <c:smooth val="0"/>
          <c:extLst>
            <c:ext xmlns:c16="http://schemas.microsoft.com/office/drawing/2014/chart" uri="{C3380CC4-5D6E-409C-BE32-E72D297353CC}">
              <c16:uniqueId val="{00000002-32CD-41DE-9A95-27CC7B738D7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99.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Revenue</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178F-4D1B-AA44-A643A3DE9D93}"/>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78F-4D1B-AA44-A643A3DE9D93}"/>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78F-4D1B-AA44-A643A3DE9D9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1777</c:v>
                </c:pt>
                <c:pt idx="1">
                  <c:v>2063</c:v>
                </c:pt>
                <c:pt idx="2">
                  <c:v>2297</c:v>
                </c:pt>
                <c:pt idx="3">
                  <c:v>2442</c:v>
                </c:pt>
                <c:pt idx="4">
                  <c:v>2473</c:v>
                </c:pt>
              </c:numCache>
            </c:numRef>
          </c:val>
          <c:smooth val="0"/>
          <c:extLst>
            <c:ext xmlns:c16="http://schemas.microsoft.com/office/drawing/2014/chart" uri="{C3380CC4-5D6E-409C-BE32-E72D297353CC}">
              <c16:uniqueId val="{00000002-178F-4D1B-AA44-A643A3DE9D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542.6"/>
          <c:min val="1603"/>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Expenses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C357-4C85-806B-7E2E64513A5D}"/>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C357-4C85-806B-7E2E64513A5D}"/>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C357-4C85-806B-7E2E64513A5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1598</c:v>
                </c:pt>
                <c:pt idx="1">
                  <c:v>1908</c:v>
                </c:pt>
                <c:pt idx="2">
                  <c:v>2162</c:v>
                </c:pt>
                <c:pt idx="3">
                  <c:v>2321</c:v>
                </c:pt>
                <c:pt idx="4">
                  <c:v>2353</c:v>
                </c:pt>
              </c:numCache>
            </c:numRef>
          </c:val>
          <c:smooth val="0"/>
          <c:extLst>
            <c:ext xmlns:c16="http://schemas.microsoft.com/office/drawing/2014/chart" uri="{C3380CC4-5D6E-409C-BE32-E72D297353CC}">
              <c16:uniqueId val="{00000002-C357-4C85-806B-7E2E64513A5D}"/>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428.5"/>
          <c:min val="1409.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7EB9-4192-ACB3-7A5B2A54C285}"/>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7EB9-4192-ACB3-7A5B2A54C285}"/>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7EB9-4192-ACB3-7A5B2A54C28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180</c:v>
                </c:pt>
                <c:pt idx="1">
                  <c:v>156</c:v>
                </c:pt>
                <c:pt idx="2">
                  <c:v>135.19999999999999</c:v>
                </c:pt>
                <c:pt idx="3">
                  <c:v>120.7</c:v>
                </c:pt>
                <c:pt idx="4">
                  <c:v>120.1</c:v>
                </c:pt>
              </c:numCache>
            </c:numRef>
          </c:val>
          <c:smooth val="0"/>
          <c:extLst>
            <c:ext xmlns:c16="http://schemas.microsoft.com/office/drawing/2014/chart" uri="{C3380CC4-5D6E-409C-BE32-E72D297353CC}">
              <c16:uniqueId val="{00000002-7EB9-4192-ACB3-7A5B2A54C28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94.4"/>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D869-473F-81C2-A303C48DD544}"/>
              </c:ext>
            </c:extLst>
          </c:dPt>
          <c:dLbls>
            <c:dLbl>
              <c:idx val="0"/>
              <c:numFmt formatCode="0.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D869-473F-81C2-A303C48DD544}"/>
                </c:ext>
              </c:extLst>
            </c:dLbl>
            <c:dLbl>
              <c:idx val="4"/>
              <c:numFmt formatCode="0.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D869-473F-81C2-A303C48DD54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0.10073157006190209</c:v>
                </c:pt>
                <c:pt idx="1">
                  <c:v>7.4999999999999997E-2</c:v>
                </c:pt>
                <c:pt idx="2">
                  <c:v>5.8999999999999997E-2</c:v>
                </c:pt>
                <c:pt idx="3">
                  <c:v>4.9000000000000002E-2</c:v>
                </c:pt>
                <c:pt idx="4">
                  <c:v>4.9000000000000002E-2</c:v>
                </c:pt>
              </c:numCache>
            </c:numRef>
          </c:val>
          <c:smooth val="0"/>
          <c:extLst>
            <c:ext xmlns:c16="http://schemas.microsoft.com/office/drawing/2014/chart" uri="{C3380CC4-5D6E-409C-BE32-E72D297353CC}">
              <c16:uniqueId val="{00000002-D869-473F-81C2-A303C48DD54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0.1087900956668542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0.115</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4.9460762227609832E-2"/>
          <c:y val="0.10349034212645429"/>
          <c:w val="0.93805059108755817"/>
          <c:h val="0.61650179765270907"/>
        </c:manualLayout>
      </c:layout>
      <c:barChart>
        <c:barDir val="col"/>
        <c:grouping val="clustered"/>
        <c:varyColors val="1"/>
        <c:ser>
          <c:idx val="0"/>
          <c:order val="0"/>
          <c:tx>
            <c:strRef>
              <c:f>Sheet1!$B$1</c:f>
              <c:strCache>
                <c:ptCount val="1"/>
                <c:pt idx="0">
                  <c:v>FY25 EBIDA margin</c:v>
                </c:pt>
              </c:strCache>
            </c:strRef>
          </c:tx>
          <c:spPr>
            <a:solidFill>
              <a:srgbClr val="7F7F7F"/>
            </a:solidFill>
            <a:ln>
              <a:solidFill>
                <a:schemeClr val="bg1"/>
              </a:solidFill>
            </a:ln>
          </c:spPr>
          <c:invertIfNegative val="1"/>
          <c:dPt>
            <c:idx val="16"/>
            <c:invertIfNegative val="1"/>
            <c:bubble3D val="0"/>
            <c:spPr>
              <a:solidFill>
                <a:srgbClr val="C8102E"/>
              </a:solidFill>
              <a:ln>
                <a:solidFill>
                  <a:schemeClr val="bg1"/>
                </a:solidFill>
              </a:ln>
            </c:spPr>
            <c:extLst>
              <c:ext xmlns:c16="http://schemas.microsoft.com/office/drawing/2014/chart" uri="{C3380CC4-5D6E-409C-BE32-E72D297353CC}">
                <c16:uniqueId val="{00000001-F1A1-499D-BD85-758D35ED83C8}"/>
              </c:ext>
            </c:extLst>
          </c:dPt>
          <c:dLbls>
            <c:numFmt formatCode="#,##0.0" sourceLinked="0"/>
            <c:spPr>
              <a:noFill/>
              <a:ln>
                <a:noFill/>
              </a:ln>
              <a:effectLst/>
            </c:spPr>
            <c:txPr>
              <a:bodyPr/>
              <a:lstStyle/>
              <a:p>
                <a:pPr>
                  <a:defRPr sz="1400" b="1">
                    <a:solidFill>
                      <a:srgbClr val="000000"/>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Sheet1!$A$2:$A$23</c:f>
              <c:strCache>
                <c:ptCount val="22"/>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pt idx="21">
                  <c:v>Drexel †</c:v>
                </c:pt>
              </c:strCache>
            </c:strRef>
          </c:cat>
          <c:val>
            <c:numRef>
              <c:f>Sheet1!$B$2:$B$23</c:f>
              <c:numCache>
                <c:formatCode>General</c:formatCode>
                <c:ptCount val="22"/>
                <c:pt idx="0">
                  <c:v>9.9700000000000006</c:v>
                </c:pt>
                <c:pt idx="1">
                  <c:v>23.88</c:v>
                </c:pt>
                <c:pt idx="2">
                  <c:v>18.059999999999999</c:v>
                </c:pt>
                <c:pt idx="3">
                  <c:v>9.86</c:v>
                </c:pt>
                <c:pt idx="4">
                  <c:v>6.85</c:v>
                </c:pt>
                <c:pt idx="5">
                  <c:v>5.64</c:v>
                </c:pt>
                <c:pt idx="6">
                  <c:v>4.8600000000000003</c:v>
                </c:pt>
                <c:pt idx="7">
                  <c:v>9.85</c:v>
                </c:pt>
                <c:pt idx="8">
                  <c:v>7.15</c:v>
                </c:pt>
                <c:pt idx="9">
                  <c:v>2.94</c:v>
                </c:pt>
                <c:pt idx="10">
                  <c:v>18.260000000000002</c:v>
                </c:pt>
                <c:pt idx="11">
                  <c:v>14.96</c:v>
                </c:pt>
                <c:pt idx="12">
                  <c:v>11.39</c:v>
                </c:pt>
                <c:pt idx="13">
                  <c:v>10.5</c:v>
                </c:pt>
                <c:pt idx="14">
                  <c:v>9.66</c:v>
                </c:pt>
                <c:pt idx="15">
                  <c:v>9.07</c:v>
                </c:pt>
                <c:pt idx="16">
                  <c:v>9.4600000000000009</c:v>
                </c:pt>
                <c:pt idx="17">
                  <c:v>8.34</c:v>
                </c:pt>
                <c:pt idx="18">
                  <c:v>10.95</c:v>
                </c:pt>
                <c:pt idx="19">
                  <c:v>0.69</c:v>
                </c:pt>
                <c:pt idx="20">
                  <c:v>10.68</c:v>
                </c:pt>
                <c:pt idx="21">
                  <c:v>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bg1"/>
                    </a:solidFill>
                  </a:ln>
                </c14:spPr>
              </c14:invertSolidFillFmt>
            </c:ext>
            <c:ext xmlns:c16="http://schemas.microsoft.com/office/drawing/2014/chart" uri="{C3380CC4-5D6E-409C-BE32-E72D297353CC}">
              <c16:uniqueId val="{00000002-B892-41E2-91C4-A305EB5790DF}"/>
            </c:ext>
          </c:extLst>
        </c:ser>
        <c:dLbls>
          <c:dLblPos val="outEnd"/>
          <c:showLegendKey val="0"/>
          <c:showVal val="1"/>
          <c:showCatName val="0"/>
          <c:showSerName val="0"/>
          <c:showPercent val="0"/>
          <c:showBubbleSize val="0"/>
        </c:dLbls>
        <c:gapWidth val="45"/>
        <c:axId val="-2068027336"/>
        <c:axId val="-2113994440"/>
      </c:barChart>
      <c:lineChart>
        <c:grouping val="standard"/>
        <c:varyColors val="0"/>
        <c:ser>
          <c:idx val="2"/>
          <c:order val="1"/>
          <c:tx>
            <c:strRef>
              <c:f>Sheet1!$D$1</c:f>
              <c:strCache>
                <c:ptCount val="1"/>
                <c:pt idx="0">
                  <c:v>Moody’s broad A median — 11.5%</c:v>
                </c:pt>
              </c:strCache>
            </c:strRef>
          </c:tx>
          <c:spPr>
            <a:ln w="31750">
              <a:solidFill>
                <a:srgbClr val="000000"/>
              </a:solidFill>
              <a:prstDash val="dash"/>
            </a:ln>
          </c:spPr>
          <c:marker>
            <c:symbol val="none"/>
          </c:marker>
          <c:cat>
            <c:strRef>
              <c:f>Sheet1!$A$2:$A$22</c:f>
              <c:strCache>
                <c:ptCount val="21"/>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strCache>
            </c:strRef>
          </c:cat>
          <c:val>
            <c:numRef>
              <c:f>Sheet1!$D$2:$D$23</c:f>
              <c:numCache>
                <c:formatCode>General</c:formatCode>
                <c:ptCount val="22"/>
                <c:pt idx="0">
                  <c:v>11.5</c:v>
                </c:pt>
                <c:pt idx="1">
                  <c:v>11.5</c:v>
                </c:pt>
                <c:pt idx="2">
                  <c:v>11.5</c:v>
                </c:pt>
                <c:pt idx="3">
                  <c:v>11.5</c:v>
                </c:pt>
                <c:pt idx="4">
                  <c:v>11.5</c:v>
                </c:pt>
                <c:pt idx="5">
                  <c:v>11.5</c:v>
                </c:pt>
                <c:pt idx="6">
                  <c:v>11.5</c:v>
                </c:pt>
                <c:pt idx="7">
                  <c:v>11.5</c:v>
                </c:pt>
                <c:pt idx="8">
                  <c:v>11.5</c:v>
                </c:pt>
                <c:pt idx="9">
                  <c:v>11.5</c:v>
                </c:pt>
                <c:pt idx="10">
                  <c:v>11.5</c:v>
                </c:pt>
                <c:pt idx="11">
                  <c:v>11.5</c:v>
                </c:pt>
                <c:pt idx="12">
                  <c:v>11.5</c:v>
                </c:pt>
                <c:pt idx="13">
                  <c:v>11.5</c:v>
                </c:pt>
                <c:pt idx="14">
                  <c:v>11.5</c:v>
                </c:pt>
                <c:pt idx="15">
                  <c:v>11.5</c:v>
                </c:pt>
                <c:pt idx="16">
                  <c:v>11.5</c:v>
                </c:pt>
                <c:pt idx="17">
                  <c:v>11.5</c:v>
                </c:pt>
                <c:pt idx="18">
                  <c:v>11.5</c:v>
                </c:pt>
                <c:pt idx="19">
                  <c:v>11.5</c:v>
                </c:pt>
                <c:pt idx="20">
                  <c:v>11.5</c:v>
                </c:pt>
                <c:pt idx="21">
                  <c:v>11.5</c:v>
                </c:pt>
              </c:numCache>
            </c:numRef>
          </c:val>
          <c:smooth val="0"/>
          <c:extLst>
            <c:ext xmlns:c16="http://schemas.microsoft.com/office/drawing/2014/chart" uri="{C3380CC4-5D6E-409C-BE32-E72D297353CC}">
              <c16:uniqueId val="{00000003-B892-41E2-91C4-A305EB5790D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chemeClr val="bg1"/>
            </a:solidFill>
          </a:ln>
        </c:spPr>
        <c:txPr>
          <a:bodyPr/>
          <a:lstStyle/>
          <a:p>
            <a:pPr>
              <a:defRPr sz="1100">
                <a:solidFill>
                  <a:schemeClr val="bg1"/>
                </a:solidFill>
                <a:latin typeface="Lato"/>
              </a:defRPr>
            </a:pPr>
            <a:endParaRPr lang="en-US"/>
          </a:p>
        </c:txPr>
        <c:crossAx val="-2113994440"/>
        <c:crosses val="autoZero"/>
        <c:auto val="1"/>
        <c:lblAlgn val="ctr"/>
        <c:lblOffset val="100"/>
        <c:noMultiLvlLbl val="0"/>
      </c:catAx>
      <c:valAx>
        <c:axId val="-2113994440"/>
        <c:scaling>
          <c:orientation val="minMax"/>
          <c:max val="25"/>
          <c:min val="0"/>
        </c:scaling>
        <c:delete val="0"/>
        <c:axPos val="l"/>
        <c:numFmt formatCode="0.0&quot;%&quot;" sourceLinked="0"/>
        <c:majorTickMark val="out"/>
        <c:minorTickMark val="none"/>
        <c:tickLblPos val="nextTo"/>
        <c:spPr>
          <a:ln>
            <a:solidFill>
              <a:schemeClr val="bg1"/>
            </a:solidFill>
          </a:ln>
        </c:spPr>
        <c:txPr>
          <a:bodyPr/>
          <a:lstStyle/>
          <a:p>
            <a:pPr>
              <a:defRPr sz="1000">
                <a:solidFill>
                  <a:schemeClr val="bg1"/>
                </a:solidFill>
                <a:latin typeface="Lato"/>
              </a:defRPr>
            </a:pPr>
            <a:endParaRPr lang="en-US"/>
          </a:p>
        </c:txPr>
        <c:crossAx val="-2068027336"/>
        <c:crosses val="autoZero"/>
        <c:crossBetween val="between"/>
      </c:valAx>
    </c:plotArea>
    <c:legend>
      <c:legendPos val="t"/>
      <c:overlay val="0"/>
      <c:txPr>
        <a:bodyPr/>
        <a:lstStyle/>
        <a:p>
          <a:pPr>
            <a:defRPr sz="1000">
              <a:solidFill>
                <a:srgbClr val="49494D"/>
              </a:solidFill>
              <a:latin typeface="Lato"/>
            </a:defRPr>
          </a:pPr>
          <a:endParaRPr lang="en-US"/>
        </a:p>
      </c:txPr>
    </c:legend>
    <c:plotVisOnly val="1"/>
    <c:dispBlanksAs val="gap"/>
    <c:showDLblsOverMax val="1"/>
  </c:chart>
  <c:txPr>
    <a:bodyPr/>
    <a:lstStyle/>
    <a:p>
      <a:pPr>
        <a:defRPr sz="850">
          <a:latin typeface="Lato"/>
        </a:defRPr>
      </a:pPr>
      <a:endParaRPr lang="en-US"/>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Institutions</c:v>
                </c:pt>
              </c:strCache>
            </c:strRef>
          </c:tx>
          <c:spPr>
            <a:solidFill>
              <a:srgbClr val="000000"/>
            </a:solidFill>
          </c:spPr>
          <c:dPt>
            <c:idx val="14"/>
            <c:spPr>
              <a:solidFill>
                <a:srgbClr val="C8102E"/>
              </a:solidFill>
            </c:spPr>
          </c:dPt>
          <c:dPt>
            <c:idx val="15"/>
            <c:spPr>
              <a:solidFill>
                <a:srgbClr val="C8102E"/>
              </a:solidFill>
            </c:spPr>
          </c:dPt>
          <c:dPt>
            <c:idx val="16"/>
            <c:spPr>
              <a:solidFill>
                <a:srgbClr val="C8102E"/>
              </a:solidFill>
            </c:spPr>
          </c:dPt>
          <c:dLbls>
            <c:dLbl>
              <c:idx val="14"/>
              <c:tx>
                <c:rich>
                  <a:bodyPr/>
                  <a:lstStyle/>
                  <a:p>
                    <a:r>
                      <a:rPr sz="1100" b="1">
                        <a:solidFill>
                          <a:srgbClr val="C8102E"/>
                        </a:solidFill>
                        <a:latin typeface="Lato"/>
                      </a:rPr>
                      <a:t>4,495 peak</a:t>
                    </a:r>
                  </a:p>
                </c:rich>
              </c:tx>
              <c:dLblPos val="outEnd"/>
              <c:showLegendKey val="0"/>
              <c:showVal val="1"/>
              <c:showCatName val="0"/>
              <c:showSerName val="0"/>
              <c:showPercent val="0"/>
              <c:showBubbleSize val="0"/>
            </c:dLbl>
            <c:dLbl>
              <c:idx val="15"/>
              <c:tx>
                <c:rich>
                  <a:bodyPr/>
                  <a:lstStyle/>
                  <a:p>
                    <a:r>
                      <a:rPr sz="1100" b="1">
                        <a:solidFill>
                          <a:srgbClr val="C8102E"/>
                        </a:solidFill>
                        <a:latin typeface="Lato"/>
                      </a:rPr>
                      <a:t>4,313</a:t>
                    </a:r>
                  </a:p>
                </c:rich>
              </c:tx>
              <c:dLblPos val="outEnd"/>
              <c:showLegendKey val="0"/>
              <c:showVal val="1"/>
              <c:showCatName val="0"/>
              <c:showSerName val="0"/>
              <c:showPercent val="0"/>
              <c:showBubbleSize val="0"/>
            </c:dLbl>
            <c:dLbl>
              <c:idx val="16"/>
              <c:tx>
                <c:rich>
                  <a:bodyPr/>
                  <a:lstStyle/>
                  <a:p>
                    <a:r>
                      <a:rPr sz="1100" b="1">
                        <a:solidFill>
                          <a:srgbClr val="C8102E"/>
                        </a:solidFill>
                        <a:latin typeface="Lato"/>
                      </a:rPr>
                      <a:t>3,899 (−13%)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Sheet1!$A$2:$A$18</c:f>
              <c:strCache>
                <c:ptCount val="17"/>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2018</c:v>
                </c:pt>
                <c:pt idx="16">
                  <c:v>2022</c:v>
                </c:pt>
              </c:strCache>
            </c:strRef>
          </c:cat>
          <c:val>
            <c:numRef>
              <c:f>Sheet1!$B$2:$B$18</c:f>
              <c:numCache>
                <c:formatCode>General</c:formatCode>
                <c:ptCount val="17"/>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4182</c:v>
                </c:pt>
                <c:pt idx="14">
                  <c:v>4495</c:v>
                </c:pt>
                <c:pt idx="15">
                  <c:v>4313</c:v>
                </c:pt>
                <c:pt idx="16">
                  <c:v>3899</c:v>
                </c:pt>
              </c:numCache>
            </c:numRef>
          </c:val>
        </c:ser>
        <c:dLbls>
          <c:numFmt formatCode="#,##0" sourceLinked="0"/>
          <c:txPr>
            <a:bodyPr/>
            <a:lstStyle/>
            <a:p>
              <a:pPr>
                <a:defRPr sz="11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max val="50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1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Government</c:v>
                </c:pt>
              </c:strCache>
            </c:strRef>
          </c:tx>
          <c:spPr>
            <a:ln w="38100">
              <a:solidFill>
                <a:srgbClr val="C8102E"/>
              </a:solidFill>
            </a:ln>
          </c:spPr>
          <c:marker>
            <c:symbol val="none"/>
          </c:marker>
          <c:dLbls>
            <c:dLbl>
              <c:idx val="11"/>
              <c:tx>
                <c:rich>
                  <a:bodyPr/>
                  <a:lstStyle/>
                  <a:p>
                    <a:r>
                      <a:rPr sz="1100" b="1">
                        <a:solidFill>
                          <a:srgbClr val="C8102E"/>
                        </a:solidFill>
                        <a:latin typeface="Lato"/>
                      </a:rPr>
                      <a:t>1.9% (1964)</a:t>
                    </a:r>
                  </a:p>
                </c:rich>
              </c:tx>
              <c:dLblPos val="t"/>
              <c:showLegendKey val="0"/>
              <c:showVal val="1"/>
              <c:showCatName val="0"/>
              <c:showSerName val="0"/>
              <c:showPercent val="0"/>
              <c:showBubbleSize val="0"/>
            </c:dLbl>
            <c:dLbl>
              <c:idx val="69"/>
              <c:tx>
                <c:rich>
                  <a:bodyPr/>
                  <a:lstStyle/>
                  <a:p>
                    <a:r>
                      <a:rPr sz="1100" b="1">
                        <a:solidFill>
                          <a:srgbClr val="C8102E"/>
                        </a:solidFill>
                        <a:latin typeface="Lato"/>
                      </a:rPr>
                      <a:t>0.6%</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Sheet1!$A$2:$A$71</c:f>
              <c:strCache>
                <c:ptCount val="70"/>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strCache>
            </c:strRef>
          </c:cat>
          <c:val>
            <c:numRef>
              <c:f>Sheet1!$B$2:$B$71</c:f>
              <c:numCache>
                <c:formatCode>General</c:formatCode>
                <c:ptCount val="70"/>
                <c:pt idx="0">
                  <c:v>0.0070999999999999995</c:v>
                </c:pt>
                <c:pt idx="1">
                  <c:v>0.0079</c:v>
                </c:pt>
                <c:pt idx="2">
                  <c:v>0.008199999999999999</c:v>
                </c:pt>
                <c:pt idx="3">
                  <c:v>0.0111</c:v>
                </c:pt>
                <c:pt idx="4">
                  <c:v>0.0131</c:v>
                </c:pt>
                <c:pt idx="5">
                  <c:v>0.014499999999999999</c:v>
                </c:pt>
                <c:pt idx="6">
                  <c:v>0.015700000000000002</c:v>
                </c:pt>
                <c:pt idx="7">
                  <c:v>0.016399999999999998</c:v>
                </c:pt>
                <c:pt idx="8">
                  <c:v>0.0169</c:v>
                </c:pt>
                <c:pt idx="9">
                  <c:v>0.0168</c:v>
                </c:pt>
                <c:pt idx="10">
                  <c:v>0.0183</c:v>
                </c:pt>
                <c:pt idx="11">
                  <c:v>0.018600000000000002</c:v>
                </c:pt>
                <c:pt idx="12">
                  <c:v>0.0178</c:v>
                </c:pt>
                <c:pt idx="13">
                  <c:v>0.0174</c:v>
                </c:pt>
                <c:pt idx="14">
                  <c:v>0.0169</c:v>
                </c:pt>
                <c:pt idx="15">
                  <c:v>0.0159</c:v>
                </c:pt>
                <c:pt idx="16">
                  <c:v>0.015</c:v>
                </c:pt>
                <c:pt idx="17">
                  <c:v>0.013999999999999999</c:v>
                </c:pt>
                <c:pt idx="18">
                  <c:v>0.0131</c:v>
                </c:pt>
                <c:pt idx="19">
                  <c:v>0.0125</c:v>
                </c:pt>
                <c:pt idx="20">
                  <c:v>0.0116</c:v>
                </c:pt>
                <c:pt idx="21">
                  <c:v>0.011200000000000002</c:v>
                </c:pt>
                <c:pt idx="22">
                  <c:v>0.011000000000000001</c:v>
                </c:pt>
                <c:pt idx="23">
                  <c:v>0.0108</c:v>
                </c:pt>
                <c:pt idx="24">
                  <c:v>0.0106</c:v>
                </c:pt>
                <c:pt idx="25">
                  <c:v>0.010400000000000001</c:v>
                </c:pt>
                <c:pt idx="26">
                  <c:v>0.010400000000000001</c:v>
                </c:pt>
                <c:pt idx="27">
                  <c:v>0.0105</c:v>
                </c:pt>
                <c:pt idx="28">
                  <c:v>0.0105</c:v>
                </c:pt>
                <c:pt idx="29">
                  <c:v>0.0111</c:v>
                </c:pt>
                <c:pt idx="30">
                  <c:v>0.011399999999999999</c:v>
                </c:pt>
                <c:pt idx="31">
                  <c:v>0.0115</c:v>
                </c:pt>
                <c:pt idx="32">
                  <c:v>0.0121</c:v>
                </c:pt>
                <c:pt idx="33">
                  <c:v>0.011899999999999999</c:v>
                </c:pt>
                <c:pt idx="34">
                  <c:v>0.0121</c:v>
                </c:pt>
                <c:pt idx="35">
                  <c:v>0.0115</c:v>
                </c:pt>
                <c:pt idx="36">
                  <c:v>0.010700000000000001</c:v>
                </c:pt>
                <c:pt idx="37">
                  <c:v>0.0103</c:v>
                </c:pt>
                <c:pt idx="38">
                  <c:v>0.0099</c:v>
                </c:pt>
                <c:pt idx="39">
                  <c:v>0.009300000000000001</c:v>
                </c:pt>
                <c:pt idx="40">
                  <c:v>0.0088</c:v>
                </c:pt>
                <c:pt idx="41">
                  <c:v>0.0083</c:v>
                </c:pt>
                <c:pt idx="42">
                  <c:v>0.008199999999999999</c:v>
                </c:pt>
                <c:pt idx="43">
                  <c:v>0.0079</c:v>
                </c:pt>
                <c:pt idx="44">
                  <c:v>0.0075</c:v>
                </c:pt>
                <c:pt idx="45">
                  <c:v>0.0073</c:v>
                </c:pt>
                <c:pt idx="46">
                  <c:v>0.0069</c:v>
                </c:pt>
                <c:pt idx="47">
                  <c:v>0.006600000000000001</c:v>
                </c:pt>
                <c:pt idx="48">
                  <c:v>0.006999999999999999</c:v>
                </c:pt>
                <c:pt idx="49">
                  <c:v>0.0072</c:v>
                </c:pt>
                <c:pt idx="50">
                  <c:v>0.0074</c:v>
                </c:pt>
                <c:pt idx="51">
                  <c:v>0.0074</c:v>
                </c:pt>
                <c:pt idx="52">
                  <c:v>0.0073</c:v>
                </c:pt>
                <c:pt idx="53">
                  <c:v>0.0072</c:v>
                </c:pt>
                <c:pt idx="54">
                  <c:v>0.0073</c:v>
                </c:pt>
                <c:pt idx="55">
                  <c:v>0.008</c:v>
                </c:pt>
                <c:pt idx="56">
                  <c:v>0.0087</c:v>
                </c:pt>
                <c:pt idx="57">
                  <c:v>0.0084</c:v>
                </c:pt>
                <c:pt idx="58">
                  <c:v>0.008199999999999999</c:v>
                </c:pt>
                <c:pt idx="59">
                  <c:v>0.0076</c:v>
                </c:pt>
                <c:pt idx="60">
                  <c:v>0.0072</c:v>
                </c:pt>
                <c:pt idx="61">
                  <c:v>0.0068000000000000005</c:v>
                </c:pt>
                <c:pt idx="62">
                  <c:v>0.0066</c:v>
                </c:pt>
                <c:pt idx="63">
                  <c:v>0.0062</c:v>
                </c:pt>
                <c:pt idx="64">
                  <c:v>0.0062</c:v>
                </c:pt>
                <c:pt idx="65">
                  <c:v>0.0063</c:v>
                </c:pt>
                <c:pt idx="66">
                  <c:v>0.0063</c:v>
                </c:pt>
                <c:pt idx="67">
                  <c:v>0.0069</c:v>
                </c:pt>
                <c:pt idx="68">
                  <c:v>0.0063</c:v>
                </c:pt>
                <c:pt idx="69">
                  <c:v>0.0062</c:v>
                </c:pt>
              </c:numCache>
            </c:numRef>
          </c:val>
          <c:smooth val="0"/>
        </c:ser>
        <c:ser>
          <c:idx val="1"/>
          <c:order val="1"/>
          <c:tx>
            <c:strRef>
              <c:f>Sheet1!$C$1</c:f>
              <c:strCache>
                <c:ptCount val="1"/>
                <c:pt idx="0">
                  <c:v>Industry, universities and other nonprofits</c:v>
                </c:pt>
              </c:strCache>
            </c:strRef>
          </c:tx>
          <c:spPr>
            <a:ln w="38100">
              <a:solidFill>
                <a:srgbClr val="000000"/>
              </a:solidFill>
            </a:ln>
          </c:spPr>
          <c:marker>
            <c:symbol val="none"/>
          </c:marker>
          <c:dLbls>
            <c:dLbl>
              <c:idx val="69"/>
              <c:tx>
                <c:rich>
                  <a:bodyPr/>
                  <a:lstStyle/>
                  <a:p>
                    <a:r>
                      <a:rPr sz="1100" b="1">
                        <a:solidFill>
                          <a:srgbClr val="000000"/>
                        </a:solidFill>
                        <a:latin typeface="Lato"/>
                      </a:rPr>
                      <a:t>2.8%</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Sheet1!$A$2:$A$71</c:f>
              <c:strCache>
                <c:ptCount val="70"/>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strCache>
            </c:strRef>
          </c:cat>
          <c:val>
            <c:numRef>
              <c:f>Sheet1!$C$2:$C$71</c:f>
              <c:numCache>
                <c:formatCode>General</c:formatCode>
                <c:ptCount val="70"/>
                <c:pt idx="0">
                  <c:v>0.0061</c:v>
                </c:pt>
                <c:pt idx="1">
                  <c:v>0.006500000000000001</c:v>
                </c:pt>
                <c:pt idx="2">
                  <c:v>0.0063</c:v>
                </c:pt>
                <c:pt idx="3">
                  <c:v>0.0078000000000000005</c:v>
                </c:pt>
                <c:pt idx="4">
                  <c:v>0.0077</c:v>
                </c:pt>
                <c:pt idx="5">
                  <c:v>0.0082</c:v>
                </c:pt>
                <c:pt idx="6">
                  <c:v>0.0083</c:v>
                </c:pt>
                <c:pt idx="7">
                  <c:v>0.0088</c:v>
                </c:pt>
                <c:pt idx="8">
                  <c:v>0.009099999999999999</c:v>
                </c:pt>
                <c:pt idx="9">
                  <c:v>0.009099999999999999</c:v>
                </c:pt>
                <c:pt idx="10">
                  <c:v>0.0093</c:v>
                </c:pt>
                <c:pt idx="11">
                  <c:v>0.0093</c:v>
                </c:pt>
                <c:pt idx="12">
                  <c:v>0.0095</c:v>
                </c:pt>
                <c:pt idx="13">
                  <c:v>0.0097</c:v>
                </c:pt>
                <c:pt idx="14">
                  <c:v>0.0102</c:v>
                </c:pt>
                <c:pt idx="15">
                  <c:v>0.0103</c:v>
                </c:pt>
                <c:pt idx="16">
                  <c:v>0.0105</c:v>
                </c:pt>
                <c:pt idx="17">
                  <c:v>0.0105</c:v>
                </c:pt>
                <c:pt idx="18">
                  <c:v>0.0101</c:v>
                </c:pt>
                <c:pt idx="19">
                  <c:v>0.01</c:v>
                </c:pt>
                <c:pt idx="20">
                  <c:v>0.01</c:v>
                </c:pt>
                <c:pt idx="21">
                  <c:v>0.010400000000000001</c:v>
                </c:pt>
                <c:pt idx="22">
                  <c:v>0.0102</c:v>
                </c:pt>
                <c:pt idx="23">
                  <c:v>0.0102</c:v>
                </c:pt>
                <c:pt idx="24">
                  <c:v>0.0102</c:v>
                </c:pt>
                <c:pt idx="25">
                  <c:v>0.0103</c:v>
                </c:pt>
                <c:pt idx="26">
                  <c:v>0.010700000000000001</c:v>
                </c:pt>
                <c:pt idx="27">
                  <c:v>0.011600000000000001</c:v>
                </c:pt>
                <c:pt idx="28">
                  <c:v>0.012000000000000002</c:v>
                </c:pt>
                <c:pt idx="29">
                  <c:v>0.0131</c:v>
                </c:pt>
                <c:pt idx="30">
                  <c:v>0.0134</c:v>
                </c:pt>
                <c:pt idx="31">
                  <c:v>0.013800000000000002</c:v>
                </c:pt>
                <c:pt idx="32">
                  <c:v>0.014300000000000002</c:v>
                </c:pt>
                <c:pt idx="33">
                  <c:v>0.014300000000000002</c:v>
                </c:pt>
                <c:pt idx="34">
                  <c:v>0.014000000000000002</c:v>
                </c:pt>
                <c:pt idx="35">
                  <c:v>0.014100000000000001</c:v>
                </c:pt>
                <c:pt idx="36">
                  <c:v>0.014400000000000001</c:v>
                </c:pt>
                <c:pt idx="37">
                  <c:v>0.0152</c:v>
                </c:pt>
                <c:pt idx="38">
                  <c:v>0.0163</c:v>
                </c:pt>
                <c:pt idx="39">
                  <c:v>0.0161</c:v>
                </c:pt>
                <c:pt idx="40">
                  <c:v>0.0154</c:v>
                </c:pt>
                <c:pt idx="41">
                  <c:v>0.014900000000000002</c:v>
                </c:pt>
                <c:pt idx="42">
                  <c:v>0.0158</c:v>
                </c:pt>
                <c:pt idx="43">
                  <c:v>0.0166</c:v>
                </c:pt>
                <c:pt idx="44">
                  <c:v>0.017200000000000003</c:v>
                </c:pt>
                <c:pt idx="45">
                  <c:v>0.017599999999999998</c:v>
                </c:pt>
                <c:pt idx="46">
                  <c:v>0.018500000000000003</c:v>
                </c:pt>
                <c:pt idx="47">
                  <c:v>0.019500000000000003</c:v>
                </c:pt>
                <c:pt idx="48">
                  <c:v>0.0193</c:v>
                </c:pt>
                <c:pt idx="49">
                  <c:v>0.018199999999999997</c:v>
                </c:pt>
                <c:pt idx="50">
                  <c:v>0.018000000000000002</c:v>
                </c:pt>
                <c:pt idx="51">
                  <c:v>0.0174</c:v>
                </c:pt>
                <c:pt idx="52">
                  <c:v>0.0176</c:v>
                </c:pt>
                <c:pt idx="53">
                  <c:v>0.018099999999999998</c:v>
                </c:pt>
                <c:pt idx="54">
                  <c:v>0.0189</c:v>
                </c:pt>
                <c:pt idx="55">
                  <c:v>0.0195</c:v>
                </c:pt>
                <c:pt idx="56">
                  <c:v>0.0192</c:v>
                </c:pt>
                <c:pt idx="57">
                  <c:v>0.018699999999999998</c:v>
                </c:pt>
                <c:pt idx="58">
                  <c:v>0.0192</c:v>
                </c:pt>
                <c:pt idx="59">
                  <c:v>0.0191</c:v>
                </c:pt>
                <c:pt idx="60">
                  <c:v>0.0199</c:v>
                </c:pt>
                <c:pt idx="61">
                  <c:v>0.0204</c:v>
                </c:pt>
                <c:pt idx="62">
                  <c:v>0.0206</c:v>
                </c:pt>
                <c:pt idx="63">
                  <c:v>0.0216</c:v>
                </c:pt>
                <c:pt idx="64">
                  <c:v>0.0222</c:v>
                </c:pt>
                <c:pt idx="65">
                  <c:v>0.0231</c:v>
                </c:pt>
                <c:pt idx="66">
                  <c:v>0.0241</c:v>
                </c:pt>
                <c:pt idx="67">
                  <c:v>0.0267</c:v>
                </c:pt>
                <c:pt idx="68">
                  <c:v>0.027100000000000003</c:v>
                </c:pt>
                <c:pt idx="69">
                  <c:v>0.028200000000000003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0.032"/>
          <c:min val="0.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majorUnit val="0.004"/>
      </c:valAx>
    </c:plotArea>
    <c:legend>
      <c:legendPos val="t"/>
      <c:layout/>
      <c:overlay val="0"/>
      <c:txPr>
        <a:bodyPr/>
        <a:lstStyle/>
        <a:p>
          <a:pPr>
            <a:defRPr sz="1200"/>
          </a:pPr>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Pages</c:v>
                </c:pt>
              </c:strCache>
            </c:strRef>
          </c:tx>
          <c:spPr>
            <a:solidFill>
              <a:srgbClr val="000000"/>
            </a:solidFill>
          </c:spPr>
          <c:dPt>
            <c:idx val="0"/>
            <c:spPr>
              <a:solidFill>
                <a:srgbClr val="C8102E"/>
              </a:solidFill>
            </c:spPr>
          </c:dPt>
          <c:dPt>
            <c:idx val="73"/>
            <c:spPr>
              <a:solidFill>
                <a:srgbClr val="C8102E"/>
              </a:solidFill>
            </c:spPr>
          </c:dPt>
          <c:dLbls>
            <c:dLbl>
              <c:idx val="0"/>
              <c:tx>
                <c:rich>
                  <a:bodyPr/>
                  <a:lstStyle/>
                  <a:p>
                    <a:r>
                      <a:rPr sz="1100" b="1">
                        <a:solidFill>
                          <a:srgbClr val="C8102E"/>
                        </a:solidFill>
                        <a:latin typeface="Lato"/>
                      </a:rPr>
                      <a:t>9,745</a:t>
                    </a:r>
                  </a:p>
                </c:rich>
              </c:tx>
              <c:dLblPos val="outEnd"/>
              <c:showLegendKey val="0"/>
              <c:showVal val="1"/>
              <c:showCatName val="0"/>
              <c:showSerName val="0"/>
              <c:showPercent val="0"/>
              <c:showBubbleSize val="0"/>
            </c:dLbl>
            <c:dLbl>
              <c:idx val="73"/>
              <c:tx>
                <c:rich>
                  <a:bodyPr/>
                  <a:lstStyle/>
                  <a:p>
                    <a:r>
                      <a:rPr sz="1100" b="1">
                        <a:solidFill>
                          <a:srgbClr val="C8102E"/>
                        </a:solidFill>
                        <a:latin typeface="Lato"/>
                      </a:rPr>
                      <a:t>190,260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Sheet1!$A$2:$A$75</c:f>
              <c:strCache>
                <c:ptCount val="74"/>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strCache>
            </c:strRef>
          </c:cat>
          <c:val>
            <c:numRef>
              <c:f>Sheet1!$B$2:$B$75</c:f>
              <c:numCache>
                <c:formatCode>General</c:formatCode>
                <c:ptCount val="74"/>
                <c:pt idx="0">
                  <c:v>9745.0</c:v>
                </c:pt>
                <c:pt idx="1">
                  <c:v>15932.0</c:v>
                </c:pt>
                <c:pt idx="2">
                  <c:v>19232.0</c:v>
                </c:pt>
                <c:pt idx="3">
                  <c:v>18464.0</c:v>
                </c:pt>
                <c:pt idx="4">
                  <c:v>16502.0</c:v>
                </c:pt>
                <c:pt idx="5">
                  <c:v>17989.0</c:v>
                </c:pt>
                <c:pt idx="6">
                  <c:v>21651.0</c:v>
                </c:pt>
                <c:pt idx="7">
                  <c:v>19589.0</c:v>
                </c:pt>
                <c:pt idx="8">
                  <c:v>20643.0</c:v>
                </c:pt>
                <c:pt idx="9">
                  <c:v>21760.0</c:v>
                </c:pt>
                <c:pt idx="10">
                  <c:v>22877.0</c:v>
                </c:pt>
                <c:pt idx="11">
                  <c:v>25242.0</c:v>
                </c:pt>
                <c:pt idx="12">
                  <c:v>22863.0</c:v>
                </c:pt>
                <c:pt idx="13">
                  <c:v>25828.0</c:v>
                </c:pt>
                <c:pt idx="14">
                  <c:v>31584.0</c:v>
                </c:pt>
                <c:pt idx="15">
                  <c:v>34783.0</c:v>
                </c:pt>
                <c:pt idx="16">
                  <c:v>43118.0</c:v>
                </c:pt>
                <c:pt idx="17">
                  <c:v>50375.0</c:v>
                </c:pt>
                <c:pt idx="18">
                  <c:v>53513.0</c:v>
                </c:pt>
                <c:pt idx="19">
                  <c:v>52863.0</c:v>
                </c:pt>
                <c:pt idx="20">
                  <c:v>54834.0</c:v>
                </c:pt>
                <c:pt idx="21">
                  <c:v>56720.0</c:v>
                </c:pt>
                <c:pt idx="22">
                  <c:v>60632.0</c:v>
                </c:pt>
                <c:pt idx="23">
                  <c:v>64872.0</c:v>
                </c:pt>
                <c:pt idx="24">
                  <c:v>67860.0</c:v>
                </c:pt>
                <c:pt idx="25">
                  <c:v>71224.0</c:v>
                </c:pt>
                <c:pt idx="26">
                  <c:v>72740.0</c:v>
                </c:pt>
                <c:pt idx="27">
                  <c:v>84729.0</c:v>
                </c:pt>
                <c:pt idx="28">
                  <c:v>94151.0</c:v>
                </c:pt>
                <c:pt idx="29">
                  <c:v>98032.0</c:v>
                </c:pt>
                <c:pt idx="30">
                  <c:v>102195.0</c:v>
                </c:pt>
                <c:pt idx="31">
                  <c:v>107109.0</c:v>
                </c:pt>
                <c:pt idx="32">
                  <c:v>104938.0</c:v>
                </c:pt>
                <c:pt idx="33">
                  <c:v>105654.0</c:v>
                </c:pt>
                <c:pt idx="34">
                  <c:v>111830.0</c:v>
                </c:pt>
                <c:pt idx="35">
                  <c:v>105935.0</c:v>
                </c:pt>
                <c:pt idx="36">
                  <c:v>109509.0</c:v>
                </c:pt>
                <c:pt idx="37">
                  <c:v>114337.0</c:v>
                </c:pt>
                <c:pt idx="38">
                  <c:v>117480.0</c:v>
                </c:pt>
                <c:pt idx="39">
                  <c:v>122090.0</c:v>
                </c:pt>
                <c:pt idx="40">
                  <c:v>126893.0</c:v>
                </c:pt>
                <c:pt idx="41">
                  <c:v>125331.0</c:v>
                </c:pt>
                <c:pt idx="42">
                  <c:v>128344.0</c:v>
                </c:pt>
                <c:pt idx="43">
                  <c:v>132228.0</c:v>
                </c:pt>
                <c:pt idx="44">
                  <c:v>134196.0</c:v>
                </c:pt>
                <c:pt idx="45">
                  <c:v>138186.0</c:v>
                </c:pt>
                <c:pt idx="46">
                  <c:v>132112.0</c:v>
                </c:pt>
                <c:pt idx="47">
                  <c:v>131060.0</c:v>
                </c:pt>
                <c:pt idx="48">
                  <c:v>135127.0</c:v>
                </c:pt>
                <c:pt idx="49">
                  <c:v>134932.0</c:v>
                </c:pt>
                <c:pt idx="50">
                  <c:v>138049.0</c:v>
                </c:pt>
                <c:pt idx="51">
                  <c:v>141281.0</c:v>
                </c:pt>
                <c:pt idx="52">
                  <c:v>145099.0</c:v>
                </c:pt>
                <c:pt idx="53">
                  <c:v>144187.0</c:v>
                </c:pt>
                <c:pt idx="54">
                  <c:v>147639.0</c:v>
                </c:pt>
                <c:pt idx="55">
                  <c:v>151973.0</c:v>
                </c:pt>
                <c:pt idx="56">
                  <c:v>154107.0</c:v>
                </c:pt>
                <c:pt idx="57">
                  <c:v>156010.0</c:v>
                </c:pt>
                <c:pt idx="58">
                  <c:v>157974.0</c:v>
                </c:pt>
                <c:pt idx="59">
                  <c:v>163333.0</c:v>
                </c:pt>
                <c:pt idx="60">
                  <c:v>165494.0</c:v>
                </c:pt>
                <c:pt idx="61">
                  <c:v>169301.0</c:v>
                </c:pt>
                <c:pt idx="62">
                  <c:v>174545.0</c:v>
                </c:pt>
                <c:pt idx="63">
                  <c:v>175496.0</c:v>
                </c:pt>
                <c:pt idx="64">
                  <c:v>175274.0</c:v>
                </c:pt>
                <c:pt idx="65">
                  <c:v>178351.0</c:v>
                </c:pt>
                <c:pt idx="66">
                  <c:v>185131.0</c:v>
                </c:pt>
                <c:pt idx="67">
                  <c:v>186468.0</c:v>
                </c:pt>
                <c:pt idx="68">
                  <c:v>185544.0</c:v>
                </c:pt>
                <c:pt idx="69">
                  <c:v>186067.0</c:v>
                </c:pt>
                <c:pt idx="70">
                  <c:v>186644.0</c:v>
                </c:pt>
                <c:pt idx="71">
                  <c:v>188343.0</c:v>
                </c:pt>
                <c:pt idx="72">
                  <c:v>188380.0</c:v>
                </c:pt>
                <c:pt idx="73">
                  <c:v>190260.0</c:v>
                </c:pt>
              </c:numCache>
            </c:numRef>
          </c:val>
        </c:ser>
        <c:gapWidth val="2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max val="2000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50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High school degree / no four-year degree</c:v>
                </c:pt>
              </c:strCache>
            </c:strRef>
          </c:tx>
          <c:spPr>
            <a:solidFill>
              <a:srgbClr val="8C8C8C"/>
            </a:solidFill>
          </c:spPr>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ser>
        <c:ser>
          <c:idx val="1"/>
          <c:order val="1"/>
          <c:tx>
            <c:strRef>
              <c:f>Sheet1!$C$1</c:f>
              <c:strCache>
                <c:ptCount val="1"/>
                <c:pt idx="0">
                  <c:v>Four-year college degree</c:v>
                </c:pt>
              </c:strCache>
            </c:strRef>
          </c:tx>
          <c:spPr>
            <a:solidFill>
              <a:srgbClr val="C8102E"/>
            </a:solidFill>
          </c:spPr>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ser>
        <c:dLbls>
          <c:numFmt formatCode="&quot;$&quot;0" sourceLinked="0"/>
          <c:txPr>
            <a:bodyPr/>
            <a:lstStyle/>
            <a:p>
              <a:pPr>
                <a:defRPr sz="1200">
                  <a:latin typeface="Lato"/>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max val="1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20.0"/>
      </c:valAx>
    </c:plotArea>
    <c:legend>
      <c:legendPos val="t"/>
      <c:overlay val="0"/>
    </c:legend>
    <c:dispBlanksAs val="gap"/>
  </c:chart>
  <c:txPr>
    <a:bodyPr/>
    <a:lstStyle/>
    <a:p>
      <a:pPr>
        <a:defRPr sz="1200">
          <a:solidFill>
            <a:srgbClr val="000000"/>
          </a:solidFill>
          <a:latin typeface="Lato"/>
        </a:defRPr>
      </a:pPr>
      <a:endParaRPr lang="en-US"/>
    </a:p>
  </c:tx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sz="1100" b="1">
                        <a:solidFill>
                          <a:srgbClr val="C8102E"/>
                        </a:solidFill>
                        <a:latin typeface="Lato"/>
                      </a:rPr>
                      <a:t>92%</a:t>
                    </a:r>
                  </a:p>
                </c:rich>
              </c:tx>
              <c:dLblPos val="t"/>
              <c:showLegendKey val="0"/>
              <c:showVal val="1"/>
              <c:showCatName val="0"/>
              <c:showSerName val="0"/>
              <c:showPercent val="0"/>
              <c:showBubbleSize val="0"/>
            </c:dLbl>
            <c:dLbl>
              <c:idx val="44"/>
              <c:tx>
                <c:rich>
                  <a:bodyPr/>
                  <a:lstStyle/>
                  <a:p>
                    <a:r>
                      <a:rPr sz="1100" b="1">
                        <a:solidFill>
                          <a:srgbClr val="C8102E"/>
                        </a:solidFill>
                        <a:latin typeface="Lato"/>
                      </a:rPr>
                      <a:t>50%</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c:v>
                </c:pt>
                <c:pt idx="1">
                  <c:v>0.890999972820282</c:v>
                </c:pt>
                <c:pt idx="2">
                  <c:v>0.8960000276565552</c:v>
                </c:pt>
                <c:pt idx="3">
                  <c:v>0.8880000114440918</c:v>
                </c:pt>
                <c:pt idx="4">
                  <c:v>0.8989999890327454</c:v>
                </c:pt>
                <c:pt idx="5">
                  <c:v>0.8640000224113464</c:v>
                </c:pt>
                <c:pt idx="6">
                  <c:v>0.8579999804496765</c:v>
                </c:pt>
                <c:pt idx="7">
                  <c:v>0.8399999737739563</c:v>
                </c:pt>
                <c:pt idx="8">
                  <c:v>0.8209999799728394</c:v>
                </c:pt>
                <c:pt idx="9">
                  <c:v>0.7960000038146973</c:v>
                </c:pt>
                <c:pt idx="10">
                  <c:v>0.7850000262260437</c:v>
                </c:pt>
                <c:pt idx="11">
                  <c:v>0.7839999794960022</c:v>
                </c:pt>
                <c:pt idx="12">
                  <c:v>0.7400000095367432</c:v>
                </c:pt>
                <c:pt idx="13">
                  <c:v>0.7080000042915344</c:v>
                </c:pt>
                <c:pt idx="14">
                  <c:v>0.6819999814033508</c:v>
                </c:pt>
                <c:pt idx="15">
                  <c:v>0.6959999799728394</c:v>
                </c:pt>
                <c:pt idx="16">
                  <c:v>0.6740000247955322</c:v>
                </c:pt>
                <c:pt idx="17">
                  <c:v>0.6729999780654907</c:v>
                </c:pt>
                <c:pt idx="18">
                  <c:v>0.6710000038146973</c:v>
                </c:pt>
                <c:pt idx="19">
                  <c:v>0.652999997138977</c:v>
                </c:pt>
                <c:pt idx="20">
                  <c:v>0.6230000257492065</c:v>
                </c:pt>
                <c:pt idx="21">
                  <c:v>0.6010000109672546</c:v>
                </c:pt>
                <c:pt idx="22">
                  <c:v>0.5830000042915344</c:v>
                </c:pt>
                <c:pt idx="23">
                  <c:v>0.5759999752044678</c:v>
                </c:pt>
                <c:pt idx="24">
                  <c:v>0.5649999976158142</c:v>
                </c:pt>
                <c:pt idx="25">
                  <c:v>0.5929999947547913</c:v>
                </c:pt>
                <c:pt idx="26">
                  <c:v>0.574999988079071</c:v>
                </c:pt>
                <c:pt idx="27">
                  <c:v>0.578000009059906</c:v>
                </c:pt>
                <c:pt idx="28">
                  <c:v>0.6010000109672546</c:v>
                </c:pt>
                <c:pt idx="29">
                  <c:v>0.593999981880188</c:v>
                </c:pt>
                <c:pt idx="30">
                  <c:v>0.6100000143051147</c:v>
                </c:pt>
                <c:pt idx="31">
                  <c:v>0.6119999885559082</c:v>
                </c:pt>
                <c:pt idx="32">
                  <c:v>0.6079999804496765</c:v>
                </c:pt>
                <c:pt idx="33">
                  <c:v>0.5989999771118164</c:v>
                </c:pt>
                <c:pt idx="34">
                  <c:v>0.5799999833106995</c:v>
                </c:pt>
                <c:pt idx="35">
                  <c:v>0.5860000252723694</c:v>
                </c:pt>
                <c:pt idx="36">
                  <c:v>0.5490000247955322</c:v>
                </c:pt>
                <c:pt idx="37">
                  <c:v>0.5659999847412109</c:v>
                </c:pt>
                <c:pt idx="38">
                  <c:v>0.5569999814033508</c:v>
                </c:pt>
                <c:pt idx="39">
                  <c:v>0.5429999828338623</c:v>
                </c:pt>
                <c:pt idx="40">
                  <c:v>0.5</c:v>
                </c:pt>
                <c:pt idx="41">
                  <c:v>0.5320000052452087</c:v>
                </c:pt>
                <c:pt idx="42">
                  <c:v>0.5429999828338623</c:v>
                </c:pt>
                <c:pt idx="43">
                  <c:v>0.5270000100135803</c:v>
                </c:pt>
                <c:pt idx="44">
                  <c:v>0.503000020980835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1.0"/>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Median earnings</c:v>
                </c:pt>
              </c:strCache>
            </c:strRef>
          </c:tx>
          <c:spPr>
            <a:solidFill>
              <a:srgbClr val="000000"/>
            </a:solidFill>
          </c:spPr>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28756</c:v>
                </c:pt>
                <c:pt idx="1">
                  <c:v>37960</c:v>
                </c:pt>
                <c:pt idx="2">
                  <c:v>41704</c:v>
                </c:pt>
                <c:pt idx="3">
                  <c:v>44824</c:v>
                </c:pt>
                <c:pt idx="4">
                  <c:v>62296</c:v>
                </c:pt>
                <c:pt idx="5">
                  <c:v>74568</c:v>
                </c:pt>
                <c:pt idx="6">
                  <c:v>97968</c:v>
                </c:pt>
                <c:pt idx="7">
                  <c:v>94900</c:v>
                </c:pt>
              </c:numCache>
            </c:numRef>
          </c:val>
        </c:ser>
        <c:dLbls>
          <c:numFmt formatCode="&quot;$&quot;#,##0" sourceLinked="0"/>
          <c:txPr>
            <a:bodyPr/>
            <a:lstStyle/>
            <a:p>
              <a:pPr>
                <a:defRPr sz="10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1200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20000.0"/>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Unemployment rate</c:v>
                </c:pt>
              </c:strCache>
            </c:strRef>
          </c:tx>
          <c:spPr>
            <a:solidFill>
              <a:srgbClr val="C8102E"/>
            </a:solidFill>
          </c:spPr>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0.056</c:v>
                </c:pt>
                <c:pt idx="1">
                  <c:v>0.041</c:v>
                </c:pt>
                <c:pt idx="2">
                  <c:v>0.037</c:v>
                </c:pt>
                <c:pt idx="3">
                  <c:v>0.028</c:v>
                </c:pt>
                <c:pt idx="4">
                  <c:v>0.022</c:v>
                </c:pt>
                <c:pt idx="5">
                  <c:v>0.021</c:v>
                </c:pt>
                <c:pt idx="6">
                  <c:v>0.015</c:v>
                </c:pt>
                <c:pt idx="7">
                  <c:v>0.016</c:v>
                </c:pt>
              </c:numCache>
            </c:numRef>
          </c:val>
        </c:ser>
        <c:dLbls>
          <c:numFmt formatCode="0.0%" sourceLinked="0"/>
          <c:txPr>
            <a:bodyPr/>
            <a:lstStyle/>
            <a:p>
              <a:pPr>
                <a:defRPr sz="10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noMultiLvlLbl val="0"/>
      </c:catAx>
      <c:valAx>
        <c:axId val="-2113994440"/>
        <c:scaling>
          <c:max val="0.07"/>
          <c:min val="0.0"/>
        </c:scaling>
        <c:delete val="0"/>
        <c:axPos val="b"/>
        <c:majorGridlines>
          <c:spPr>
            <a:ln w="6350">
              <a:solidFill>
                <a:srgbClr val="D9D9D9"/>
              </a:solidFill>
            </a:ln>
          </c:spPr>
        </c:majorGridlines>
        <c:numFmt formatCode="0.0%" sourceLinked="0"/>
        <c:majorTickMark val="out"/>
        <c:minorTickMark val="none"/>
        <c:tickLblPos val="high"/>
        <c:spPr>
          <a:ln>
            <a:noFill/>
          </a:ln>
        </c:spPr>
        <c:crossAx val="-2068027336"/>
        <c:crosses val="autoZero"/>
        <c:majorUnit val="0.02"/>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sz="1100" b="1">
                        <a:solidFill>
                          <a:srgbClr val="000000"/>
                        </a:solidFill>
                        <a:latin typeface="Lato"/>
                      </a:rPr>
                      <a:t>100 (2025)</a:t>
                    </a:r>
                  </a:p>
                </c:rich>
              </c:tx>
              <c:dLblPos val="t"/>
              <c:showLegendKey val="0"/>
              <c:showVal val="1"/>
              <c:showCatName val="0"/>
              <c:showSerName val="0"/>
              <c:showPercent val="0"/>
              <c:showBubbleSize val="0"/>
            </c:dLbl>
            <c:dLbl>
              <c:idx val="17"/>
              <c:tx>
                <c:rich>
                  <a:bodyPr/>
                  <a:lstStyle/>
                  <a:p>
                    <a:r>
                      <a:rPr sz="1100" b="1">
                        <a:solidFill>
                          <a:srgbClr val="C8102E"/>
                        </a:solidFill>
                        <a:latin typeface="Lato"/>
                      </a:rPr>
                      <a:t>85 (2029)</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94.0</c:v>
                </c:pt>
                <c:pt idx="1">
                  <c:v>93.6</c:v>
                </c:pt>
                <c:pt idx="2">
                  <c:v>94.5</c:v>
                </c:pt>
                <c:pt idx="3">
                  <c:v>93.7</c:v>
                </c:pt>
                <c:pt idx="4">
                  <c:v>92.7</c:v>
                </c:pt>
                <c:pt idx="5">
                  <c:v>93.7</c:v>
                </c:pt>
                <c:pt idx="6">
                  <c:v>95.7</c:v>
                </c:pt>
                <c:pt idx="7">
                  <c:v>96.0</c:v>
                </c:pt>
                <c:pt idx="8">
                  <c:v>93.9</c:v>
                </c:pt>
                <c:pt idx="9">
                  <c:v>93.4</c:v>
                </c:pt>
                <c:pt idx="10">
                  <c:v>96.0</c:v>
                </c:pt>
                <c:pt idx="11">
                  <c:v>95.9</c:v>
                </c:pt>
                <c:pt idx="12">
                  <c:v>96.7</c:v>
                </c:pt>
                <c:pt idx="13">
                  <c:v>100.0</c:v>
                </c:pt>
                <c:pt idx="14">
                  <c:v>98.2</c:v>
                </c:pt>
                <c:pt idx="15">
                  <c:v>95.3</c:v>
                </c:pt>
                <c:pt idx="16">
                  <c:v>91.3</c:v>
                </c:pt>
                <c:pt idx="17">
                  <c:v>85.2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max val="105.0"/>
          <c:min val="8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5.0"/>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Faculty</c:v>
                </c:pt>
              </c:strCache>
            </c:strRef>
          </c:tx>
          <c:spPr>
            <a:ln w="44450">
              <a:solidFill>
                <a:srgbClr val="C8102E"/>
              </a:solidFill>
            </a:ln>
          </c:spPr>
          <c:marker>
            <c:symbol val="none"/>
          </c:marker>
          <c:dLbls>
            <c:dLbl>
              <c:idx val="10"/>
              <c:tx>
                <c:rich>
                  <a:bodyPr/>
                  <a:lstStyle/>
                  <a:p>
                    <a:r>
                      <a:rPr sz="1100" b="1">
                        <a:solidFill>
                          <a:srgbClr val="C8102E"/>
                        </a:solidFill>
                        <a:latin typeface="Lato"/>
                      </a:rPr>
                      <a:t>44%</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0.22</c:v>
                </c:pt>
                <c:pt idx="1">
                  <c:v>0.33</c:v>
                </c:pt>
                <c:pt idx="2">
                  <c:v>0.27</c:v>
                </c:pt>
                <c:pt idx="3">
                  <c:v>0.32</c:v>
                </c:pt>
                <c:pt idx="4">
                  <c:v>0.44</c:v>
                </c:pt>
                <c:pt idx="5">
                  <c:v>0.32</c:v>
                </c:pt>
                <c:pt idx="6">
                  <c:v>0.31</c:v>
                </c:pt>
                <c:pt idx="7">
                  <c:v>0.5</c:v>
                </c:pt>
                <c:pt idx="8">
                  <c:v>0.28</c:v>
                </c:pt>
                <c:pt idx="9">
                  <c:v>0.45</c:v>
                </c:pt>
                <c:pt idx="10">
                  <c:v>0.44</c:v>
                </c:pt>
              </c:numCache>
            </c:numRef>
          </c:val>
          <c:smooth val="0"/>
        </c:ser>
        <c:ser>
          <c:idx val="1"/>
          <c:order val="1"/>
          <c:tx>
            <c:strRef>
              <c:f>Sheet1!$C$1</c:f>
              <c:strCache>
                <c:ptCount val="1"/>
                <c:pt idx="0">
                  <c:v>Trustees</c:v>
                </c:pt>
              </c:strCache>
            </c:strRef>
          </c:tx>
          <c:spPr>
            <a:ln w="28575">
              <a:solidFill>
                <a:srgbClr val="000000"/>
              </a:solidFill>
            </a:ln>
          </c:spPr>
          <c:marker>
            <c:symbol val="none"/>
          </c:marker>
          <c:dLbls>
            <c:dLbl>
              <c:idx val="10"/>
              <c:tx>
                <c:rich>
                  <a:bodyPr/>
                  <a:lstStyle/>
                  <a:p>
                    <a:r>
                      <a:rPr sz="1100" b="1">
                        <a:solidFill>
                          <a:srgbClr val="000000"/>
                        </a:solidFill>
                        <a:latin typeface="Lato"/>
                      </a:rPr>
                      <a:t>91%</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0.67</c:v>
                </c:pt>
                <c:pt idx="1">
                  <c:v>0.79</c:v>
                </c:pt>
                <c:pt idx="2">
                  <c:v>0.74</c:v>
                </c:pt>
                <c:pt idx="3">
                  <c:v>0.77</c:v>
                </c:pt>
                <c:pt idx="4">
                  <c:v>0.78</c:v>
                </c:pt>
                <c:pt idx="5">
                  <c:v>0.78</c:v>
                </c:pt>
                <c:pt idx="6">
                  <c:v>0.87</c:v>
                </c:pt>
                <c:pt idx="7">
                  <c:v>0.85</c:v>
                </c:pt>
                <c:pt idx="8">
                  <c:v>0.91</c:v>
                </c:pt>
                <c:pt idx="9">
                  <c:v>0.86</c:v>
                </c:pt>
                <c:pt idx="10">
                  <c:v>0.91</c:v>
                </c:pt>
              </c:numCache>
            </c:numRef>
          </c:val>
          <c:smooth val="0"/>
        </c:ser>
        <c:ser>
          <c:idx val="2"/>
          <c:order val="2"/>
          <c:tx>
            <c:strRef>
              <c:f>Sheet1!$D$1</c:f>
              <c:strCache>
                <c:ptCount val="1"/>
                <c:pt idx="0">
                  <c:v>Senior administrators</c:v>
                </c:pt>
              </c:strCache>
            </c:strRef>
          </c:tx>
          <c:spPr>
            <a:ln w="28575">
              <a:solidFill>
                <a:srgbClr val="8C8C8C"/>
              </a:solidFill>
            </a:ln>
          </c:spPr>
          <c:marker>
            <c:symbol val="none"/>
          </c:marker>
          <c:dLbls>
            <c:dLbl>
              <c:idx val="10"/>
              <c:tx>
                <c:rich>
                  <a:bodyPr/>
                  <a:lstStyle/>
                  <a:p>
                    <a:r>
                      <a:rPr sz="1100" b="1">
                        <a:solidFill>
                          <a:srgbClr val="595959"/>
                        </a:solidFill>
                        <a:latin typeface="Lato"/>
                      </a:rPr>
                      <a:t>95%</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0.75</c:v>
                </c:pt>
                <c:pt idx="1">
                  <c:v>0.88</c:v>
                </c:pt>
                <c:pt idx="2">
                  <c:v>0.86</c:v>
                </c:pt>
                <c:pt idx="3">
                  <c:v>0.85</c:v>
                </c:pt>
                <c:pt idx="4">
                  <c:v>0.8</c:v>
                </c:pt>
                <c:pt idx="5">
                  <c:v>0.9</c:v>
                </c:pt>
                <c:pt idx="6">
                  <c:v>0.93</c:v>
                </c:pt>
                <c:pt idx="7">
                  <c:v>0.9</c:v>
                </c:pt>
                <c:pt idx="8">
                  <c:v>0.91</c:v>
                </c:pt>
                <c:pt idx="9">
                  <c:v>0.91</c:v>
                </c:pt>
                <c:pt idx="10">
                  <c:v>0.95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noMultiLvlLbl val="0"/>
      </c:catAx>
      <c:valAx>
        <c:axId val="2140495176"/>
        <c:scaling>
          <c:max val="1.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0.2"/>
      </c:valAx>
    </c:plotArea>
    <c:legend>
      <c:legendPos val="t"/>
      <c:layout/>
      <c:overlay val="0"/>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2024 ($ billion)</c:v>
                </c:pt>
              </c:strCache>
            </c:strRef>
          </c:tx>
          <c:spPr>
            <a:solidFill>
              <a:srgbClr val="8C8C8C"/>
            </a:solidFill>
          </c:spPr>
          <c:dPt>
            <c:idx val="15"/>
            <c:spPr>
              <a:solidFill>
                <a:srgbClr val="C8102E"/>
              </a:solidFill>
            </c:spPr>
          </c:dPt>
          <c:dPt>
            <c:idx val="25"/>
            <c:spPr>
              <a:solidFill>
                <a:srgbClr val="C8102E"/>
              </a:solidFill>
            </c:spPr>
          </c:dPt>
          <c:cat>
            <c:strRef>
              <c:f>Sheet1!$A$2:$A$32</c:f>
              <c:strCache>
                <c:ptCount val="31"/>
                <c:pt idx="0">
                  <c:v>Wine and Spirits</c:v>
                </c:pt>
                <c:pt idx="1">
                  <c:v>Pet care</c:v>
                </c:pt>
                <c:pt idx="2">
                  <c:v>Beer</c:v>
                </c:pt>
                <c:pt idx="3">
                  <c:v>Lottery tickets</c:v>
                </c:pt>
                <c:pt idx="4">
                  <c:v>Soft drinks</c:v>
                </c:pt>
                <c:pt idx="5">
                  <c:v>Tobacco</c:v>
                </c:pt>
                <c:pt idx="6">
                  <c:v>Bottled water</c:v>
                </c:pt>
                <c:pt idx="7">
                  <c:v>Beauty and personal care</c:v>
                </c:pt>
                <c:pt idx="8">
                  <c:v>Coffee</c:v>
                </c:pt>
                <c:pt idx="9">
                  <c:v>Video games</c:v>
                </c:pt>
                <c:pt idx="10">
                  <c:v>Gambling (non-lottery)</c:v>
                </c:pt>
                <c:pt idx="11">
                  <c:v>Child care</c:v>
                </c:pt>
                <c:pt idx="12">
                  <c:v>Lawn care</c:v>
                </c:pt>
                <c:pt idx="13">
                  <c:v>Sporting events</c:v>
                </c:pt>
                <c:pt idx="14">
                  <c:v>Pizza</c:v>
                </c:pt>
                <c:pt idx="15">
                  <c:v>NIH</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NSF</c:v>
                </c:pt>
                <c:pt idx="26">
                  <c:v>Perfume</c:v>
                </c:pt>
                <c:pt idx="27">
                  <c:v>Baggage fees</c:v>
                </c:pt>
                <c:pt idx="28">
                  <c:v>Valentine's flowers</c:v>
                </c:pt>
                <c:pt idx="29">
                  <c:v>Tattoos</c:v>
                </c:pt>
                <c:pt idx="30">
                  <c:v>Twinkies</c:v>
                </c:pt>
              </c:strCache>
            </c:strRef>
          </c:cat>
          <c:val>
            <c:numRef>
              <c:f>Sheet1!$B$2:$B$32</c:f>
              <c:numCache>
                <c:formatCode>General</c:formatCode>
                <c:ptCount val="31"/>
                <c:pt idx="0">
                  <c:v>159.4</c:v>
                </c:pt>
                <c:pt idx="1">
                  <c:v>150.6</c:v>
                </c:pt>
                <c:pt idx="2">
                  <c:v>129.3</c:v>
                </c:pt>
                <c:pt idx="3">
                  <c:v>113.0</c:v>
                </c:pt>
                <c:pt idx="4">
                  <c:v>109.5</c:v>
                </c:pt>
                <c:pt idx="5">
                  <c:v>107.5</c:v>
                </c:pt>
                <c:pt idx="6">
                  <c:v>98.5</c:v>
                </c:pt>
                <c:pt idx="7">
                  <c:v>91.4</c:v>
                </c:pt>
                <c:pt idx="8">
                  <c:v>88.6</c:v>
                </c:pt>
                <c:pt idx="9">
                  <c:v>78.0</c:v>
                </c:pt>
                <c:pt idx="10">
                  <c:v>67.0</c:v>
                </c:pt>
                <c:pt idx="11">
                  <c:v>62.0</c:v>
                </c:pt>
                <c:pt idx="12">
                  <c:v>59.0</c:v>
                </c:pt>
                <c:pt idx="13">
                  <c:v>49.8</c:v>
                </c:pt>
                <c:pt idx="14">
                  <c:v>49.0</c:v>
                </c:pt>
                <c:pt idx="15">
                  <c:v>47.0</c:v>
                </c:pt>
                <c:pt idx="16">
                  <c:v>35.6</c:v>
                </c:pt>
                <c:pt idx="17">
                  <c:v>23.2</c:v>
                </c:pt>
                <c:pt idx="18">
                  <c:v>22.0</c:v>
                </c:pt>
                <c:pt idx="19">
                  <c:v>16.0</c:v>
                </c:pt>
                <c:pt idx="20">
                  <c:v>15.0</c:v>
                </c:pt>
                <c:pt idx="21">
                  <c:v>13.9</c:v>
                </c:pt>
                <c:pt idx="22">
                  <c:v>12.0</c:v>
                </c:pt>
                <c:pt idx="23">
                  <c:v>10.2</c:v>
                </c:pt>
                <c:pt idx="24">
                  <c:v>9.0</c:v>
                </c:pt>
                <c:pt idx="25">
                  <c:v>9.0</c:v>
                </c:pt>
                <c:pt idx="26">
                  <c:v>8.9</c:v>
                </c:pt>
                <c:pt idx="27">
                  <c:v>7.0</c:v>
                </c:pt>
                <c:pt idx="28">
                  <c:v>3.0</c:v>
                </c:pt>
                <c:pt idx="29">
                  <c:v>2.0</c:v>
                </c:pt>
                <c:pt idx="30">
                  <c:v>1.0</c:v>
                </c:pt>
              </c:numCache>
            </c:numRef>
          </c:val>
        </c:ser>
        <c:dLbls>
          <c:numFmt formatCode="&quot;$&quot;0" sourceLinked="0"/>
          <c:txPr>
            <a:bodyPr/>
            <a:lstStyle/>
            <a:p>
              <a:pPr>
                <a:defRPr sz="900">
                  <a:latin typeface="Lato"/>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800"/>
            </a:pPr>
          </a:p>
        </c:txPr>
        <c:crossAx val="-2113994440"/>
        <c:crosses val="autoZero"/>
        <c:auto val="1"/>
        <c:lblAlgn val="ctr"/>
        <c:lblOffset val="100"/>
        <c:tickLblSkip val="1"/>
        <c:tickMarkSkip val="1"/>
        <c:noMultiLvlLbl val="0"/>
      </c:catAx>
      <c:valAx>
        <c:axId val="-2113994440"/>
        <c:scaling>
          <c:max val="180.0"/>
          <c:min val="0.0"/>
        </c:scaling>
        <c:delete val="0"/>
        <c:axPos val="b"/>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majorUnit val="20.0"/>
      </c:valAx>
    </c:plotArea>
    <c:dispBlanksAs val="gap"/>
  </c:chart>
  <c:txPr>
    <a:bodyPr/>
    <a:lstStyle/>
    <a:p>
      <a:pPr>
        <a:defRPr sz="800">
          <a:solidFill>
            <a:srgbClr val="000000"/>
          </a:solidFill>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American Gaming Association, American Pet Products, Bureau of Transportation Statistics, Fortune Business Insights, IBIS World, Mordor Intelligence, NASPL, NIH, NRF, NSF, Responsible Lending, Statista, Yahoo Finance, Yum! Brands.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Moody's “A” (single-A, blue) and “Aa” (double-A, green)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each institution’s audited FY2025 consolidated financial statements, without-donor-restrictions operating column; EBIDA = operating result + depreciation (and amortization) + interest, over total operating revenues and other support. FYE varies: Aug 31 for NYU, Emory, Northwestern; May 31 for Boston College, Miami, Villanova; June 30 for the rest. Health-system consolidators (†) blend academic and clinical margins and are not like-for-like. Syracuse discloses depreciation and interest only combined. USC is shown before its $55.5M insurance recovery; with it, 3.7%. Medians: Moody’s 24 June 2026 private-university medians, FY2025 — comprehensive n=61, broad A n=70.</a:t>
            </a:r>
          </a:p>
        </p:txBody>
      </p:sp>
      <p:sp>
        <p:nvSpPr>
          <p:cNvPr id="4" name="Slide Number Placeholder 3"/>
          <p:cNvSpPr>
            <a:spLocks noGrp="1"/>
          </p:cNvSpPr>
          <p:nvPr>
            <p:ph type="sldNum" idx="5" sz="quarter"/>
          </p:nvPr>
        </p:nvSpPr>
        <p:spPr/>
      </p:sp>
    </p:spTree>
  </p:cSld>
  <p:clrMapOvr>
    <a:masterClrMapping/>
  </p:clrMapOvr>
</p:note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slideLayout16.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6510528"/>
            <a:ext cx="2331720" cy="256032"/>
          </a:xfrm>
          <a:prstGeom prst="rect">
            <a:avLst/>
          </a:prstGeom>
          <a:noFill/>
        </p:spPr>
        <p:txBody>
          <a:bodyPr wrap="none" lIns="0" rIns="0" tIns="0" bIns="0" anchor="ctr">
            <a:spAutoFit/>
          </a:bodyPr>
          <a:lstStyle/>
          <a:p>
            <a:pPr algn="r"/>
            <a:r>
              <a:rPr sz="900" b="1">
                <a:solidFill>
                  <a:srgbClr val="000000"/>
                </a:solidFill>
                <a:latin typeface="Lato"/>
              </a:rPr>
              <a:t>Northeastern University</a:t>
            </a:r>
          </a:p>
        </p:txBody>
      </p:sp>
      <p:sp>
        <p:nvSpPr>
          <p:cNvPr id="4" name="TextBox 3"/>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a:t>
            </a:fld>
          </a:p>
        </p:txBody>
      </p:sp>
      <p:pic>
        <p:nvPicPr>
          <p:cNvPr id="5" name="Picture 4" descr="monogram-red.png"/>
          <p:cNvPicPr>
            <a:picLocks noChangeAspect="1"/>
          </p:cNvPicPr>
          <p:nvPr/>
        </p:nvPicPr>
        <p:blipFill>
          <a:blip r:embed="rId2"/>
          <a:srcRect l="12000" r="12000" t="20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6"/>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2.png"/><Relationship Id="rId3" Type="http://schemas.openxmlformats.org/officeDocument/2006/relationships/image" Target="../media/image22.gif"/><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7.gif"/><Relationship Id="rId8" Type="http://schemas.openxmlformats.org/officeDocument/2006/relationships/image" Target="../media/image36.png"/><Relationship Id="rId9" Type="http://schemas.openxmlformats.org/officeDocument/2006/relationships/image" Target="../media/image37.gif"/><Relationship Id="rId10" Type="http://schemas.openxmlformats.org/officeDocument/2006/relationships/image" Target="../media/image38.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39.png"/><Relationship Id="rId14" Type="http://schemas.openxmlformats.org/officeDocument/2006/relationships/image" Target="../media/image40.png"/><Relationship Id="rId15" Type="http://schemas.openxmlformats.org/officeDocument/2006/relationships/image" Target="../media/image30.png"/><Relationship Id="rId16" Type="http://schemas.openxmlformats.org/officeDocument/2006/relationships/image" Target="../media/image41.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31.png"/><Relationship Id="rId20" Type="http://schemas.openxmlformats.org/officeDocument/2006/relationships/image" Target="../media/image44.png"/><Relationship Id="rId21" Type="http://schemas.openxmlformats.org/officeDocument/2006/relationships/image" Target="../media/image45.png"/><Relationship Id="rId22" Type="http://schemas.openxmlformats.org/officeDocument/2006/relationships/image" Target="../media/image46.png"/><Relationship Id="rId23" Type="http://schemas.openxmlformats.org/officeDocument/2006/relationships/image" Target="../media/image47.png"/><Relationship Id="rId24" Type="http://schemas.openxmlformats.org/officeDocument/2006/relationships/image" Target="../media/image48.png"/><Relationship Id="rId25" Type="http://schemas.openxmlformats.org/officeDocument/2006/relationships/image" Target="../media/image49.jpeg"/><Relationship Id="rId26"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image" Target="../media/image52.png"/><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52.png"/><Relationship Id="rId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52.png"/><Relationship Id="rId4"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52.png"/><Relationship Id="rId4"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2.png"/><Relationship Id="rId4" Type="http://schemas.openxmlformats.org/officeDocument/2006/relationships/chart" Target="../charts/chart8.xml"/><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7.png"/><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2.xml"/><Relationship Id="rId3" Type="http://schemas.openxmlformats.org/officeDocument/2006/relationships/image" Target="../media/image57.png"/><Relationship Id="rId4"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chart" Target="../charts/chart13.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8.png"/><Relationship Id="rId3" Type="http://schemas.openxmlformats.org/officeDocument/2006/relationships/chart" Target="../charts/chart14.xml"/><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chart" Target="../charts/chart18.xml"/><Relationship Id="rId5" Type="http://schemas.openxmlformats.org/officeDocument/2006/relationships/chart" Target="../charts/chart19.xml"/><Relationship Id="rId6" Type="http://schemas.openxmlformats.org/officeDocument/2006/relationships/chart" Target="../charts/chart20.xml"/><Relationship Id="rId7" Type="http://schemas.openxmlformats.org/officeDocument/2006/relationships/chart" Target="../charts/chart21.xml"/><Relationship Id="rId8" Type="http://schemas.openxmlformats.org/officeDocument/2006/relationships/chart" Target="../charts/chart22.xml"/><Relationship Id="rId9" Type="http://schemas.openxmlformats.org/officeDocument/2006/relationships/chart" Target="../charts/chart23.xml"/><Relationship Id="rId10" Type="http://schemas.openxmlformats.org/officeDocument/2006/relationships/chart" Target="../charts/chart24.xml"/><Relationship Id="rId11" Type="http://schemas.openxmlformats.org/officeDocument/2006/relationships/chart" Target="../charts/chart25.xml"/><Relationship Id="rId12" Type="http://schemas.openxmlformats.org/officeDocument/2006/relationships/chart" Target="../charts/chart26.xml"/><Relationship Id="rId13" Type="http://schemas.openxmlformats.org/officeDocument/2006/relationships/chart" Target="../charts/chart27.xml"/><Relationship Id="rId1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image" Target="../media/image61.png"/><Relationship Id="rId5"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7.xml"/><Relationship Id="rId3" Type="http://schemas.openxmlformats.org/officeDocument/2006/relationships/image" Target="../media/image61.png"/><Relationship Id="rId4"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chart" Target="../charts/chart38.xml"/><Relationship Id="rId4"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9.xml"/><Relationship Id="rId3" Type="http://schemas.openxmlformats.org/officeDocument/2006/relationships/image" Target="../media/image6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0.xml"/><Relationship Id="rId3" Type="http://schemas.openxmlformats.org/officeDocument/2006/relationships/image" Target="../media/image62.png"/><Relationship Id="rId4"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0.xml"/><Relationship Id="rId3" Type="http://schemas.openxmlformats.org/officeDocument/2006/relationships/chart" Target="../charts/chart5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2.xml"/><Relationship Id="rId3" Type="http://schemas.openxmlformats.org/officeDocument/2006/relationships/image" Target="../media/image6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4.xml"/><Relationship Id="rId3" Type="http://schemas.openxmlformats.org/officeDocument/2006/relationships/notesSlide" Target="../notesSlides/notesSlide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457200" y="1097280"/>
            <a:ext cx="8229600" cy="50292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Four-year c</a:t>
            </a:r>
            <a:r>
              <a:rPr kumimoji="0" lang="en-US" sz="1400" b="0" i="0" u="none" strike="noStrike" kern="1200" cap="none" spc="0" normalizeH="0" baseline="0" noProof="0" dirty="0" err="1">
                <a:ln>
                  <a:noFill/>
                </a:ln>
                <a:solidFill>
                  <a:srgbClr val="595959"/>
                </a:solidFill>
                <a:effectLst/>
                <a:uLnTx/>
                <a:uFillTx/>
                <a:latin typeface="Lato" panose="020B0604020202020204" pitchFamily="34" charset="0"/>
                <a:ea typeface="+mn-ea"/>
                <a:cs typeface="Arial" panose="020B0604020202020204" pitchFamily="34" charset="0"/>
              </a:rPr>
              <a:t>olleges</a:t>
            </a: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/universities by country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World Bank; HIPI university list</a:t>
            </a:r>
          </a:p>
        </p:txBody>
      </p:sp>
    </p:spTree>
    <p:extLst>
      <p:ext uri="{BB962C8B-B14F-4D97-AF65-F5344CB8AC3E}">
        <p14:creationId xmlns:p14="http://schemas.microsoft.com/office/powerpoint/2010/main" val="25181382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676480C-FA3F-C2DD-11B3-0362AF17677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9E9974E-EE41-6236-9F2D-8E0081790BB4}"/>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And we have more colleges/universities per capita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than any other country with </a:t>
            </a: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50 million people</a:t>
            </a: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a:t>
            </a:r>
          </a:p>
        </p:txBody>
      </p:sp>
      <p:sp>
        <p:nvSpPr>
          <p:cNvPr id="9" name="TextBox 8">
            <a:extLst>
              <a:ext uri="{FF2B5EF4-FFF2-40B4-BE49-F238E27FC236}">
                <a16:creationId xmlns:a16="http://schemas.microsoft.com/office/drawing/2014/main" id="{FA3686BA-0486-08E9-D207-2F652586A3A1}"/>
              </a:ext>
            </a:extLst>
          </p:cNvPr>
          <p:cNvSpPr txBox="1"/>
          <p:nvPr/>
        </p:nvSpPr>
        <p:spPr>
          <a:xfrm>
            <a:off x="457200" y="1097280"/>
            <a:ext cx="8229600" cy="50292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Colleges/universities per 1 million population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(for countries with ≥ 50 million population</a:t>
            </a:r>
            <a:r>
              <a:rPr kumimoji="0" lang="en-US" sz="1400" b="0" i="0" u="none" strike="noStrike" kern="1200" cap="none" spc="0" normalizeH="0" baseline="30000" noProof="0" dirty="0">
                <a:ln>
                  <a:noFill/>
                </a:ln>
                <a:solidFill>
                  <a:srgbClr val="595959"/>
                </a:solidFill>
                <a:effectLst/>
                <a:uLnTx/>
                <a:uFillTx/>
                <a:latin typeface="Lato" panose="020B0604020202020204" pitchFamily="34" charset="0"/>
                <a:ea typeface="+mn-ea"/>
                <a:cs typeface="Arial" panose="020B0604020202020204" pitchFamily="34" charset="0"/>
              </a:rPr>
              <a:t>(1)</a:t>
            </a: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 n=29 </a:t>
            </a:r>
          </a:p>
        </p:txBody>
      </p:sp>
      <p:graphicFrame>
        <p:nvGraphicFramePr>
          <p:cNvPr id="5" name="Chart 4">
            <a:extLst>
              <a:ext uri="{FF2B5EF4-FFF2-40B4-BE49-F238E27FC236}">
                <a16:creationId xmlns:a16="http://schemas.microsoft.com/office/drawing/2014/main" id="{98A1994E-BDA6-DF08-32B5-DDF9B39A1455}"/>
              </a:ext>
            </a:extLst>
          </p:cNvPr>
          <p:cNvGraphicFramePr/>
          <p:nvPr>
            <p:extLst>
              <p:ext uri="{D42A27DB-BD31-4B8C-83A1-F6EECF244321}">
                <p14:modId xmlns:p14="http://schemas.microsoft.com/office/powerpoint/2010/main" val="3626445056"/>
              </p:ext>
            </p:extLst>
          </p:nvPr>
        </p:nvGraphicFramePr>
        <p:xfrm>
          <a:off x="199299" y="1626210"/>
          <a:ext cx="11777548" cy="4613225"/>
        </p:xfrm>
        <a:graphic>
          <a:graphicData uri="http://schemas.openxmlformats.org/drawingml/2006/chart">
            <c:chart xmlns:c="http://schemas.openxmlformats.org/drawingml/2006/chart" xmlns:r="http://schemas.openxmlformats.org/officeDocument/2006/relationships" r:id="rId2"/>
          </a:graphicData>
        </a:graphic>
      </p:graphicFrame>
      <p:cxnSp>
        <p:nvCxnSpPr>
          <p:cNvPr id="8" name="Straight Connector 7">
            <a:extLst>
              <a:ext uri="{FF2B5EF4-FFF2-40B4-BE49-F238E27FC236}">
                <a16:creationId xmlns:a16="http://schemas.microsoft.com/office/drawing/2014/main" id="{B5D89301-92B4-A208-2343-F2DF5B4D99E2}"/>
              </a:ext>
            </a:extLst>
          </p:cNvPr>
          <p:cNvCxnSpPr>
            <a:cxnSpLocks/>
          </p:cNvCxnSpPr>
          <p:nvPr/>
        </p:nvCxnSpPr>
        <p:spPr>
          <a:xfrm>
            <a:off x="762000" y="4966443"/>
            <a:ext cx="10596282" cy="0"/>
          </a:xfrm>
          <a:prstGeom prst="line">
            <a:avLst/>
          </a:prstGeom>
          <a:ln w="28575">
            <a:solidFill>
              <a:srgbClr val="7F7F7F"/>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46291BAC-5FD7-3F0A-9E6F-36D9AD909EC1}"/>
              </a:ext>
            </a:extLst>
          </p:cNvPr>
          <p:cNvSpPr txBox="1"/>
          <p:nvPr/>
        </p:nvSpPr>
        <p:spPr>
          <a:xfrm>
            <a:off x="9675283" y="4527631"/>
            <a:ext cx="158639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F7F7F"/>
                </a:solidFill>
                <a:effectLst/>
                <a:uLnTx/>
                <a:uFillTx/>
                <a:latin typeface="Lato"/>
                <a:ea typeface="+mn-ea"/>
                <a:cs typeface="+mn-cs"/>
              </a:rPr>
              <a:t>Average = 1.64</a:t>
            </a:r>
          </a:p>
        </p:txBody>
      </p:sp>
      <p:sp>
        <p:nvSpPr>
          <p:cNvPr id="4" name="TextBox 3">
            <a:extLst>
              <a:ext uri="{FF2B5EF4-FFF2-40B4-BE49-F238E27FC236}">
                <a16:creationId xmlns:a16="http://schemas.microsoft.com/office/drawing/2014/main" id="{EF51B739-192D-7CC1-80BA-A9BC2B063900}"/>
              </a:ext>
            </a:extLst>
          </p:cNvPr>
          <p:cNvSpPr txBox="1"/>
          <p:nvPr/>
        </p:nvSpPr>
        <p:spPr>
          <a:xfrm>
            <a:off x="10709167" y="1957904"/>
            <a:ext cx="551754"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C8102E"/>
                </a:solidFill>
                <a:effectLst/>
                <a:uLnTx/>
                <a:uFillTx/>
                <a:latin typeface="Lato"/>
                <a:ea typeface="+mn-ea"/>
                <a:cs typeface="+mn-cs"/>
              </a:rPr>
              <a:t>6.91</a:t>
            </a:r>
          </a:p>
        </p:txBody>
      </p:sp>
      <p:sp>
        <p:nvSpPr>
          <p:cNvPr id="6" name="TextBox 5">
            <a:extLst>
              <a:ext uri="{FF2B5EF4-FFF2-40B4-BE49-F238E27FC236}">
                <a16:creationId xmlns:a16="http://schemas.microsoft.com/office/drawing/2014/main" id="{F06CFFC5-D6DA-E7D4-833D-D7BDD85EC3E3}"/>
              </a:ext>
            </a:extLst>
          </p:cNvPr>
          <p:cNvSpPr txBox="1"/>
          <p:nvPr/>
        </p:nvSpPr>
        <p:spPr>
          <a:xfrm>
            <a:off x="701727" y="2729676"/>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4.71</a:t>
            </a:r>
          </a:p>
        </p:txBody>
      </p:sp>
      <p:sp>
        <p:nvSpPr>
          <p:cNvPr id="7" name="TextBox 6">
            <a:extLst>
              <a:ext uri="{FF2B5EF4-FFF2-40B4-BE49-F238E27FC236}">
                <a16:creationId xmlns:a16="http://schemas.microsoft.com/office/drawing/2014/main" id="{24E31C5A-30A7-6768-21AC-72FACB1B1255}"/>
              </a:ext>
            </a:extLst>
          </p:cNvPr>
          <p:cNvSpPr txBox="1"/>
          <p:nvPr/>
        </p:nvSpPr>
        <p:spPr>
          <a:xfrm>
            <a:off x="1286334" y="2966934"/>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4.33</a:t>
            </a:r>
          </a:p>
        </p:txBody>
      </p:sp>
      <p:sp>
        <p:nvSpPr>
          <p:cNvPr id="12" name="TextBox 11">
            <a:extLst>
              <a:ext uri="{FF2B5EF4-FFF2-40B4-BE49-F238E27FC236}">
                <a16:creationId xmlns:a16="http://schemas.microsoft.com/office/drawing/2014/main" id="{47DD313B-6748-E0F4-CF40-5B654AFD58DF}"/>
              </a:ext>
            </a:extLst>
          </p:cNvPr>
          <p:cNvSpPr txBox="1"/>
          <p:nvPr/>
        </p:nvSpPr>
        <p:spPr>
          <a:xfrm>
            <a:off x="3130344" y="2774502"/>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4.61</a:t>
            </a:r>
          </a:p>
        </p:txBody>
      </p:sp>
      <p:sp>
        <p:nvSpPr>
          <p:cNvPr id="14" name="TextBox 13">
            <a:extLst>
              <a:ext uri="{FF2B5EF4-FFF2-40B4-BE49-F238E27FC236}">
                <a16:creationId xmlns:a16="http://schemas.microsoft.com/office/drawing/2014/main" id="{CC279619-ED30-A2F8-A5EC-9D413C316FA3}"/>
              </a:ext>
            </a:extLst>
          </p:cNvPr>
          <p:cNvSpPr txBox="1"/>
          <p:nvPr/>
        </p:nvSpPr>
        <p:spPr>
          <a:xfrm>
            <a:off x="1711799" y="3674268"/>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3.82</a:t>
            </a:r>
          </a:p>
        </p:txBody>
      </p:sp>
      <p:sp>
        <p:nvSpPr>
          <p:cNvPr id="15" name="TextBox 14">
            <a:extLst>
              <a:ext uri="{FF2B5EF4-FFF2-40B4-BE49-F238E27FC236}">
                <a16:creationId xmlns:a16="http://schemas.microsoft.com/office/drawing/2014/main" id="{07403E55-7C02-5804-B38D-C9FC49342ACE}"/>
              </a:ext>
            </a:extLst>
          </p:cNvPr>
          <p:cNvSpPr txBox="1"/>
          <p:nvPr/>
        </p:nvSpPr>
        <p:spPr>
          <a:xfrm>
            <a:off x="3845399" y="4174572"/>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2.15</a:t>
            </a:r>
          </a:p>
        </p:txBody>
      </p:sp>
      <p:sp>
        <p:nvSpPr>
          <p:cNvPr id="16" name="TextBox 15">
            <a:extLst>
              <a:ext uri="{FF2B5EF4-FFF2-40B4-BE49-F238E27FC236}">
                <a16:creationId xmlns:a16="http://schemas.microsoft.com/office/drawing/2014/main" id="{BCA9D6A8-BDC4-D43D-6FBA-C856A6DEC3F6}"/>
              </a:ext>
            </a:extLst>
          </p:cNvPr>
          <p:cNvSpPr txBox="1"/>
          <p:nvPr/>
        </p:nvSpPr>
        <p:spPr>
          <a:xfrm>
            <a:off x="1178496" y="3844467"/>
            <a:ext cx="50366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Lato"/>
                <a:ea typeface="+mn-ea"/>
                <a:cs typeface="+mn-cs"/>
              </a:rPr>
              <a:t>2.82</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World Bank; HIPI university list</a:t>
            </a:r>
          </a:p>
        </p:txBody>
      </p:sp>
      <p:sp>
        <p:nvSpPr>
          <p:cNvPr id="18" name="TextBox 17"/>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Excludes India (population = 1,451 million; college count = 474; colleges/million population = 0.33) and China (population = 1,409 million; college count = 398; colleges/million population = 0.28).</a:t>
            </a:r>
          </a:p>
        </p:txBody>
      </p:sp>
    </p:spTree>
    <p:extLst>
      <p:ext uri="{BB962C8B-B14F-4D97-AF65-F5344CB8AC3E}">
        <p14:creationId xmlns:p14="http://schemas.microsoft.com/office/powerpoint/2010/main" val="3620278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76 college closures since 2015 – and the pace is ramping up</a:t>
            </a:r>
          </a:p>
        </p:txBody>
      </p:sp>
      <p:graphicFrame>
        <p:nvGraphicFramePr>
          <p:cNvPr id="7" name="Chart 6">
            <a:extLst>
              <a:ext uri="{FF2B5EF4-FFF2-40B4-BE49-F238E27FC236}">
                <a16:creationId xmlns:a16="http://schemas.microsoft.com/office/drawing/2014/main" id="{9679DFC2-0AA5-0A25-79F3-4CC65DD850F7}"/>
              </a:ext>
            </a:extLst>
          </p:cNvPr>
          <p:cNvGraphicFramePr/>
          <p:nvPr/>
        </p:nvGraphicFramePr>
        <p:xfrm>
          <a:off x="9179096" y="5297557"/>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838886" y="4989780"/>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Tree>
    <p:extLst>
      <p:ext uri="{BB962C8B-B14F-4D97-AF65-F5344CB8AC3E}">
        <p14:creationId xmlns:p14="http://schemas.microsoft.com/office/powerpoint/2010/main" val="1732461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DBE0AF-FD87-2B8B-C07E-9B52E478739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8A061832-7CCF-EF2C-040E-5FE9CD565679}"/>
              </a:ext>
            </a:extLst>
          </p:cNvPr>
          <p:cNvCxnSpPr>
            <a:cxnSpLocks/>
          </p:cNvCxnSpPr>
          <p:nvPr/>
        </p:nvCxnSpPr>
        <p:spPr>
          <a:xfrm flipH="1">
            <a:off x="10364095"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F80C400-AD03-42AF-E6F2-8E1A1C1ED62E}"/>
              </a:ext>
            </a:extLst>
          </p:cNvPr>
          <p:cNvCxnSpPr>
            <a:cxnSpLocks/>
          </p:cNvCxnSpPr>
          <p:nvPr/>
        </p:nvCxnSpPr>
        <p:spPr>
          <a:xfrm flipH="1">
            <a:off x="637507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6DEEA0-B242-41C7-E22E-C14C92843220}"/>
              </a:ext>
            </a:extLst>
          </p:cNvPr>
          <p:cNvCxnSpPr>
            <a:cxnSpLocks/>
          </p:cNvCxnSpPr>
          <p:nvPr/>
        </p:nvCxnSpPr>
        <p:spPr>
          <a:xfrm flipH="1">
            <a:off x="8775287"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E87235C-BD67-CDA5-A0BC-98913928D313}"/>
              </a:ext>
            </a:extLst>
          </p:cNvPr>
          <p:cNvCxnSpPr>
            <a:cxnSpLocks/>
          </p:cNvCxnSpPr>
          <p:nvPr/>
        </p:nvCxnSpPr>
        <p:spPr>
          <a:xfrm flipH="1">
            <a:off x="153770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BE330B98-251B-F745-57F1-4D9E8C9AC202}"/>
              </a:ext>
            </a:extLst>
          </p:cNvPr>
          <p:cNvCxnSpPr>
            <a:cxnSpLocks/>
          </p:cNvCxnSpPr>
          <p:nvPr/>
        </p:nvCxnSpPr>
        <p:spPr>
          <a:xfrm flipH="1">
            <a:off x="996540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F8C7F67-4F21-06F9-9BC2-72E2BEAB165B}"/>
              </a:ext>
            </a:extLst>
          </p:cNvPr>
          <p:cNvCxnSpPr>
            <a:cxnSpLocks/>
          </p:cNvCxnSpPr>
          <p:nvPr/>
        </p:nvCxnSpPr>
        <p:spPr>
          <a:xfrm flipH="1">
            <a:off x="677519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5D9939-EA82-5A2A-6631-B34567E7166F}"/>
              </a:ext>
            </a:extLst>
          </p:cNvPr>
          <p:cNvCxnSpPr>
            <a:cxnSpLocks/>
          </p:cNvCxnSpPr>
          <p:nvPr/>
        </p:nvCxnSpPr>
        <p:spPr>
          <a:xfrm flipH="1">
            <a:off x="5932778"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7B8D8F5-EAF8-9099-AC5B-9597ED8A85A9}"/>
              </a:ext>
            </a:extLst>
          </p:cNvPr>
          <p:cNvCxnSpPr>
            <a:cxnSpLocks/>
          </p:cNvCxnSpPr>
          <p:nvPr/>
        </p:nvCxnSpPr>
        <p:spPr>
          <a:xfrm flipH="1">
            <a:off x="5548133"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9FB0238A-DD5C-6BBE-6DE9-94C5BFD7042A}"/>
              </a:ext>
            </a:extLst>
          </p:cNvPr>
          <p:cNvCxnSpPr>
            <a:cxnSpLocks/>
          </p:cNvCxnSpPr>
          <p:nvPr/>
        </p:nvCxnSpPr>
        <p:spPr>
          <a:xfrm>
            <a:off x="1925635" y="2702710"/>
            <a:ext cx="20034"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3" name="Oval 352">
            <a:extLst>
              <a:ext uri="{FF2B5EF4-FFF2-40B4-BE49-F238E27FC236}">
                <a16:creationId xmlns:a16="http://schemas.microsoft.com/office/drawing/2014/main" id="{D1CAE7F5-319F-F92F-E424-04FD42DBA192}"/>
              </a:ext>
            </a:extLst>
          </p:cNvPr>
          <p:cNvSpPr/>
          <p:nvPr/>
        </p:nvSpPr>
        <p:spPr>
          <a:xfrm>
            <a:off x="1807644"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2" name="Oval 351">
            <a:extLst>
              <a:ext uri="{FF2B5EF4-FFF2-40B4-BE49-F238E27FC236}">
                <a16:creationId xmlns:a16="http://schemas.microsoft.com/office/drawing/2014/main" id="{000EFC07-D71D-03C7-A011-F156FCD187BF}"/>
              </a:ext>
            </a:extLst>
          </p:cNvPr>
          <p:cNvSpPr/>
          <p:nvPr/>
        </p:nvSpPr>
        <p:spPr>
          <a:xfrm>
            <a:off x="9832531" y="360236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 name="Straight Connector 13">
            <a:extLst>
              <a:ext uri="{FF2B5EF4-FFF2-40B4-BE49-F238E27FC236}">
                <a16:creationId xmlns:a16="http://schemas.microsoft.com/office/drawing/2014/main" id="{7C26A69B-5997-BF94-7CAF-6D6E35547C7E}"/>
              </a:ext>
            </a:extLst>
          </p:cNvPr>
          <p:cNvCxnSpPr>
            <a:cxnSpLocks/>
          </p:cNvCxnSpPr>
          <p:nvPr/>
        </p:nvCxnSpPr>
        <p:spPr>
          <a:xfrm flipH="1">
            <a:off x="393716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12B6284-1735-7195-67F5-CC271C7F5337}"/>
              </a:ext>
            </a:extLst>
          </p:cNvPr>
          <p:cNvCxnSpPr>
            <a:cxnSpLocks/>
          </p:cNvCxnSpPr>
          <p:nvPr/>
        </p:nvCxnSpPr>
        <p:spPr>
          <a:xfrm flipH="1">
            <a:off x="272015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1">
            <a:extLst>
              <a:ext uri="{FF2B5EF4-FFF2-40B4-BE49-F238E27FC236}">
                <a16:creationId xmlns:a16="http://schemas.microsoft.com/office/drawing/2014/main" id="{D0D425B4-EB65-8EE6-DD86-ABA688DA68E1}"/>
              </a:ext>
            </a:extLst>
          </p:cNvPr>
          <p:cNvSpPr txBox="1">
            <a:spLocks/>
          </p:cNvSpPr>
          <p:nvPr/>
        </p:nvSpPr>
        <p:spPr>
          <a:xfrm>
            <a:off x="457200" y="224945"/>
            <a:ext cx="10149840" cy="825050"/>
          </a:xfrm>
          <a:prstGeom prst="rect">
            <a:avLst/>
          </a:prstGeom>
        </p:spPr>
        <p:txBody>
          <a:bodyPr vert="horz" lIns="91440" tIns="45720" rIns="91440" bIns="45720" rtlCol="0" anchor="ctr" wrap="square">
            <a:noAutofit/>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l" defTabSz="914172" rtl="0" eaLnBrk="1" fontAlgn="auto" latinLnBrk="0" hangingPunct="1">
              <a:lnSpc>
                <a:spcPct val="90000"/>
              </a:lnSpc>
              <a:spcBef>
                <a:spcPct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itchFamily="2" charset="77"/>
                <a:ea typeface="+mj-ea"/>
                <a:cs typeface="+mj-cs"/>
              </a:rPr>
              <a:t>Varying peer responses to federal actions</a:t>
            </a:r>
            <a:br>
              <a:rPr kumimoji="0" lang="en-US" sz="2400" b="1" i="0"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600" b="0" i="1" u="none" strike="noStrike" kern="1200" cap="none" spc="0" normalizeH="0" baseline="0" noProof="0" dirty="0">
                <a:ln>
                  <a:noFill/>
                </a:ln>
                <a:solidFill>
                  <a:srgbClr val="000000"/>
                </a:solidFill>
                <a:effectLst/>
                <a:uLnTx/>
                <a:uFillTx/>
                <a:latin typeface="Lato" pitchFamily="2" charset="77"/>
                <a:ea typeface="+mj-ea"/>
                <a:cs typeface="+mj-cs"/>
              </a:rPr>
              <a:t>Peer institutions have taken multiple steps to mitigate funding cuts, EOs, and endowment taxation</a:t>
            </a:r>
          </a:p>
        </p:txBody>
      </p:sp>
      <p:pic>
        <p:nvPicPr>
          <p:cNvPr id="58" name="Picture 22">
            <a:extLst>
              <a:ext uri="{FF2B5EF4-FFF2-40B4-BE49-F238E27FC236}">
                <a16:creationId xmlns:a16="http://schemas.microsoft.com/office/drawing/2014/main" id="{277AC3D8-5E74-32BF-E13B-A2F09B63F10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426919" y="1276771"/>
            <a:ext cx="396490" cy="205060"/>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78" descr="http://content.sportslogos.net/logos/33/800/full/2580.gif">
            <a:extLst>
              <a:ext uri="{FF2B5EF4-FFF2-40B4-BE49-F238E27FC236}">
                <a16:creationId xmlns:a16="http://schemas.microsoft.com/office/drawing/2014/main" id="{510E0992-5E70-6466-0F13-2D40C212577F}"/>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3351846" y="1245908"/>
            <a:ext cx="365760" cy="32743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7" name="Table 66">
            <a:extLst>
              <a:ext uri="{FF2B5EF4-FFF2-40B4-BE49-F238E27FC236}">
                <a16:creationId xmlns:a16="http://schemas.microsoft.com/office/drawing/2014/main" id="{C7ACC221-DD79-742E-72E3-4C7C6675338A}"/>
              </a:ext>
            </a:extLst>
          </p:cNvPr>
          <p:cNvGraphicFramePr>
            <a:graphicFrameLocks noGrp="1"/>
          </p:cNvGraphicFramePr>
          <p:nvPr/>
        </p:nvGraphicFramePr>
        <p:xfrm>
          <a:off x="1316954" y="2031888"/>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1217471073"/>
                    </a:ext>
                  </a:extLst>
                </a:gridCol>
                <a:gridCol w="402336">
                  <a:extLst>
                    <a:ext uri="{9D8B030D-6E8A-4147-A177-3AD203B41FA5}">
                      <a16:colId xmlns:a16="http://schemas.microsoft.com/office/drawing/2014/main" val="3721799941"/>
                    </a:ext>
                  </a:extLst>
                </a:gridCol>
                <a:gridCol w="402336">
                  <a:extLst>
                    <a:ext uri="{9D8B030D-6E8A-4147-A177-3AD203B41FA5}">
                      <a16:colId xmlns:a16="http://schemas.microsoft.com/office/drawing/2014/main" val="3963487280"/>
                    </a:ext>
                  </a:extLst>
                </a:gridCol>
                <a:gridCol w="402336">
                  <a:extLst>
                    <a:ext uri="{9D8B030D-6E8A-4147-A177-3AD203B41FA5}">
                      <a16:colId xmlns:a16="http://schemas.microsoft.com/office/drawing/2014/main" val="3273303342"/>
                    </a:ext>
                  </a:extLst>
                </a:gridCol>
                <a:gridCol w="402336">
                  <a:extLst>
                    <a:ext uri="{9D8B030D-6E8A-4147-A177-3AD203B41FA5}">
                      <a16:colId xmlns:a16="http://schemas.microsoft.com/office/drawing/2014/main" val="655990254"/>
                    </a:ext>
                  </a:extLst>
                </a:gridCol>
                <a:gridCol w="402336">
                  <a:extLst>
                    <a:ext uri="{9D8B030D-6E8A-4147-A177-3AD203B41FA5}">
                      <a16:colId xmlns:a16="http://schemas.microsoft.com/office/drawing/2014/main" val="1126211103"/>
                    </a:ext>
                  </a:extLst>
                </a:gridCol>
                <a:gridCol w="402336">
                  <a:extLst>
                    <a:ext uri="{9D8B030D-6E8A-4147-A177-3AD203B41FA5}">
                      <a16:colId xmlns:a16="http://schemas.microsoft.com/office/drawing/2014/main" val="3106119493"/>
                    </a:ext>
                  </a:extLst>
                </a:gridCol>
                <a:gridCol w="402336">
                  <a:extLst>
                    <a:ext uri="{9D8B030D-6E8A-4147-A177-3AD203B41FA5}">
                      <a16:colId xmlns:a16="http://schemas.microsoft.com/office/drawing/2014/main" val="3191713148"/>
                    </a:ext>
                  </a:extLst>
                </a:gridCol>
                <a:gridCol w="402336">
                  <a:extLst>
                    <a:ext uri="{9D8B030D-6E8A-4147-A177-3AD203B41FA5}">
                      <a16:colId xmlns:a16="http://schemas.microsoft.com/office/drawing/2014/main" val="2418067580"/>
                    </a:ext>
                  </a:extLst>
                </a:gridCol>
                <a:gridCol w="402336">
                  <a:extLst>
                    <a:ext uri="{9D8B030D-6E8A-4147-A177-3AD203B41FA5}">
                      <a16:colId xmlns:a16="http://schemas.microsoft.com/office/drawing/2014/main" val="3137580327"/>
                    </a:ext>
                  </a:extLst>
                </a:gridCol>
                <a:gridCol w="402336">
                  <a:extLst>
                    <a:ext uri="{9D8B030D-6E8A-4147-A177-3AD203B41FA5}">
                      <a16:colId xmlns:a16="http://schemas.microsoft.com/office/drawing/2014/main" val="73105574"/>
                    </a:ext>
                  </a:extLst>
                </a:gridCol>
                <a:gridCol w="402336">
                  <a:extLst>
                    <a:ext uri="{9D8B030D-6E8A-4147-A177-3AD203B41FA5}">
                      <a16:colId xmlns:a16="http://schemas.microsoft.com/office/drawing/2014/main" val="1504946575"/>
                    </a:ext>
                  </a:extLst>
                </a:gridCol>
                <a:gridCol w="402336">
                  <a:extLst>
                    <a:ext uri="{9D8B030D-6E8A-4147-A177-3AD203B41FA5}">
                      <a16:colId xmlns:a16="http://schemas.microsoft.com/office/drawing/2014/main" val="3371090021"/>
                    </a:ext>
                  </a:extLst>
                </a:gridCol>
                <a:gridCol w="402336">
                  <a:extLst>
                    <a:ext uri="{9D8B030D-6E8A-4147-A177-3AD203B41FA5}">
                      <a16:colId xmlns:a16="http://schemas.microsoft.com/office/drawing/2014/main" val="2641895684"/>
                    </a:ext>
                  </a:extLst>
                </a:gridCol>
                <a:gridCol w="402336">
                  <a:extLst>
                    <a:ext uri="{9D8B030D-6E8A-4147-A177-3AD203B41FA5}">
                      <a16:colId xmlns:a16="http://schemas.microsoft.com/office/drawing/2014/main" val="3354512810"/>
                    </a:ext>
                  </a:extLst>
                </a:gridCol>
                <a:gridCol w="402336">
                  <a:extLst>
                    <a:ext uri="{9D8B030D-6E8A-4147-A177-3AD203B41FA5}">
                      <a16:colId xmlns:a16="http://schemas.microsoft.com/office/drawing/2014/main" val="2093702538"/>
                    </a:ext>
                  </a:extLst>
                </a:gridCol>
                <a:gridCol w="402336">
                  <a:extLst>
                    <a:ext uri="{9D8B030D-6E8A-4147-A177-3AD203B41FA5}">
                      <a16:colId xmlns:a16="http://schemas.microsoft.com/office/drawing/2014/main" val="2656000854"/>
                    </a:ext>
                  </a:extLst>
                </a:gridCol>
                <a:gridCol w="402336">
                  <a:extLst>
                    <a:ext uri="{9D8B030D-6E8A-4147-A177-3AD203B41FA5}">
                      <a16:colId xmlns:a16="http://schemas.microsoft.com/office/drawing/2014/main" val="995811764"/>
                    </a:ext>
                  </a:extLst>
                </a:gridCol>
                <a:gridCol w="402336">
                  <a:extLst>
                    <a:ext uri="{9D8B030D-6E8A-4147-A177-3AD203B41FA5}">
                      <a16:colId xmlns:a16="http://schemas.microsoft.com/office/drawing/2014/main" val="2382333075"/>
                    </a:ext>
                  </a:extLst>
                </a:gridCol>
                <a:gridCol w="402336">
                  <a:extLst>
                    <a:ext uri="{9D8B030D-6E8A-4147-A177-3AD203B41FA5}">
                      <a16:colId xmlns:a16="http://schemas.microsoft.com/office/drawing/2014/main" val="3188520021"/>
                    </a:ext>
                  </a:extLst>
                </a:gridCol>
                <a:gridCol w="402336">
                  <a:extLst>
                    <a:ext uri="{9D8B030D-6E8A-4147-A177-3AD203B41FA5}">
                      <a16:colId xmlns:a16="http://schemas.microsoft.com/office/drawing/2014/main" val="1816065508"/>
                    </a:ext>
                  </a:extLst>
                </a:gridCol>
                <a:gridCol w="402336">
                  <a:extLst>
                    <a:ext uri="{9D8B030D-6E8A-4147-A177-3AD203B41FA5}">
                      <a16:colId xmlns:a16="http://schemas.microsoft.com/office/drawing/2014/main" val="2858969405"/>
                    </a:ext>
                  </a:extLst>
                </a:gridCol>
                <a:gridCol w="402336">
                  <a:extLst>
                    <a:ext uri="{9D8B030D-6E8A-4147-A177-3AD203B41FA5}">
                      <a16:colId xmlns:a16="http://schemas.microsoft.com/office/drawing/2014/main" val="795978337"/>
                    </a:ext>
                  </a:extLst>
                </a:gridCol>
                <a:gridCol w="402336">
                  <a:extLst>
                    <a:ext uri="{9D8B030D-6E8A-4147-A177-3AD203B41FA5}">
                      <a16:colId xmlns:a16="http://schemas.microsoft.com/office/drawing/2014/main" val="3466575170"/>
                    </a:ext>
                  </a:extLst>
                </a:gridCol>
                <a:gridCol w="402336">
                  <a:extLst>
                    <a:ext uri="{9D8B030D-6E8A-4147-A177-3AD203B41FA5}">
                      <a16:colId xmlns:a16="http://schemas.microsoft.com/office/drawing/2014/main" val="546262350"/>
                    </a:ext>
                  </a:extLst>
                </a:gridCol>
              </a:tblGrid>
              <a:tr h="274320">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$53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$22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889487310"/>
                  </a:ext>
                </a:extLst>
              </a:tr>
            </a:tbl>
          </a:graphicData>
        </a:graphic>
      </p:graphicFrame>
      <p:graphicFrame>
        <p:nvGraphicFramePr>
          <p:cNvPr id="68" name="Table 67">
            <a:extLst>
              <a:ext uri="{FF2B5EF4-FFF2-40B4-BE49-F238E27FC236}">
                <a16:creationId xmlns:a16="http://schemas.microsoft.com/office/drawing/2014/main" id="{162F1CFA-B7FC-A6E8-C0EC-3172B38BE85F}"/>
              </a:ext>
            </a:extLst>
          </p:cNvPr>
          <p:cNvGraphicFramePr>
            <a:graphicFrameLocks noGrp="1"/>
          </p:cNvGraphicFramePr>
          <p:nvPr/>
        </p:nvGraphicFramePr>
        <p:xfrm>
          <a:off x="440100" y="3009375"/>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Hiring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69" name="Table 68">
            <a:extLst>
              <a:ext uri="{FF2B5EF4-FFF2-40B4-BE49-F238E27FC236}">
                <a16:creationId xmlns:a16="http://schemas.microsoft.com/office/drawing/2014/main" id="{F49B9D2F-86D0-36BB-BA82-29E198F15B3C}"/>
              </a:ext>
            </a:extLst>
          </p:cNvPr>
          <p:cNvGraphicFramePr>
            <a:graphicFrameLocks noGrp="1"/>
          </p:cNvGraphicFramePr>
          <p:nvPr/>
        </p:nvGraphicFramePr>
        <p:xfrm>
          <a:off x="440100" y="355280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Salary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0" name="Table 69">
            <a:extLst>
              <a:ext uri="{FF2B5EF4-FFF2-40B4-BE49-F238E27FC236}">
                <a16:creationId xmlns:a16="http://schemas.microsoft.com/office/drawing/2014/main" id="{F6A63DB6-944C-6C59-6DC7-45A2F0434C86}"/>
              </a:ext>
            </a:extLst>
          </p:cNvPr>
          <p:cNvGraphicFramePr>
            <a:graphicFrameLocks noGrp="1"/>
          </p:cNvGraphicFramePr>
          <p:nvPr/>
        </p:nvGraphicFramePr>
        <p:xfrm>
          <a:off x="444683" y="4133092"/>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Budget Reductions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1" name="Table 70">
            <a:extLst>
              <a:ext uri="{FF2B5EF4-FFF2-40B4-BE49-F238E27FC236}">
                <a16:creationId xmlns:a16="http://schemas.microsoft.com/office/drawing/2014/main" id="{9FE9AE9D-35D0-6391-CA25-0BEA4F9BB833}"/>
              </a:ext>
            </a:extLst>
          </p:cNvPr>
          <p:cNvGraphicFramePr>
            <a:graphicFrameLocks noGrp="1"/>
          </p:cNvGraphicFramePr>
          <p:nvPr/>
        </p:nvGraphicFramePr>
        <p:xfrm>
          <a:off x="444683" y="470032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err="1">
                          <a:solidFill>
                            <a:schemeClr val="bg1"/>
                          </a:solidFill>
                          <a:latin typeface="Lato" panose="020B0604020202020204" pitchFamily="34" charset="0"/>
                          <a:cs typeface="Arial" panose="020B0604020202020204" pitchFamily="34" charset="0"/>
                        </a:rPr>
                        <a:t>CapEx</a:t>
                      </a:r>
                      <a:r>
                        <a:rPr lang="en-US" sz="1050" b="1" dirty="0">
                          <a:solidFill>
                            <a:schemeClr val="bg1"/>
                          </a:solidFill>
                          <a:latin typeface="Lato" panose="020B0604020202020204" pitchFamily="34" charset="0"/>
                          <a:cs typeface="Arial" panose="020B0604020202020204" pitchFamily="34" charset="0"/>
                        </a:rPr>
                        <a:t>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2" name="Table 71">
            <a:extLst>
              <a:ext uri="{FF2B5EF4-FFF2-40B4-BE49-F238E27FC236}">
                <a16:creationId xmlns:a16="http://schemas.microsoft.com/office/drawing/2014/main" id="{61D8FB36-A093-054E-25D4-1E730A9E9850}"/>
              </a:ext>
            </a:extLst>
          </p:cNvPr>
          <p:cNvGraphicFramePr>
            <a:graphicFrameLocks noGrp="1"/>
          </p:cNvGraphicFramePr>
          <p:nvPr/>
        </p:nvGraphicFramePr>
        <p:xfrm>
          <a:off x="435083" y="5252455"/>
          <a:ext cx="914400" cy="51435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Graduate Program Impacts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3" name="Table 72">
            <a:extLst>
              <a:ext uri="{FF2B5EF4-FFF2-40B4-BE49-F238E27FC236}">
                <a16:creationId xmlns:a16="http://schemas.microsoft.com/office/drawing/2014/main" id="{B16AB196-D41C-72E2-0332-FB1457568AF4}"/>
              </a:ext>
            </a:extLst>
          </p:cNvPr>
          <p:cNvGraphicFramePr>
            <a:graphicFrameLocks noGrp="1"/>
          </p:cNvGraphicFramePr>
          <p:nvPr/>
        </p:nvGraphicFramePr>
        <p:xfrm>
          <a:off x="1316954" y="1694725"/>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3366727930"/>
                    </a:ext>
                  </a:extLst>
                </a:gridCol>
                <a:gridCol w="402336">
                  <a:extLst>
                    <a:ext uri="{9D8B030D-6E8A-4147-A177-3AD203B41FA5}">
                      <a16:colId xmlns:a16="http://schemas.microsoft.com/office/drawing/2014/main" val="2098882434"/>
                    </a:ext>
                  </a:extLst>
                </a:gridCol>
                <a:gridCol w="402336">
                  <a:extLst>
                    <a:ext uri="{9D8B030D-6E8A-4147-A177-3AD203B41FA5}">
                      <a16:colId xmlns:a16="http://schemas.microsoft.com/office/drawing/2014/main" val="2577283830"/>
                    </a:ext>
                  </a:extLst>
                </a:gridCol>
                <a:gridCol w="402336">
                  <a:extLst>
                    <a:ext uri="{9D8B030D-6E8A-4147-A177-3AD203B41FA5}">
                      <a16:colId xmlns:a16="http://schemas.microsoft.com/office/drawing/2014/main" val="1698402314"/>
                    </a:ext>
                  </a:extLst>
                </a:gridCol>
                <a:gridCol w="402336">
                  <a:extLst>
                    <a:ext uri="{9D8B030D-6E8A-4147-A177-3AD203B41FA5}">
                      <a16:colId xmlns:a16="http://schemas.microsoft.com/office/drawing/2014/main" val="1150464436"/>
                    </a:ext>
                  </a:extLst>
                </a:gridCol>
                <a:gridCol w="402336">
                  <a:extLst>
                    <a:ext uri="{9D8B030D-6E8A-4147-A177-3AD203B41FA5}">
                      <a16:colId xmlns:a16="http://schemas.microsoft.com/office/drawing/2014/main" val="357585251"/>
                    </a:ext>
                  </a:extLst>
                </a:gridCol>
                <a:gridCol w="402336">
                  <a:extLst>
                    <a:ext uri="{9D8B030D-6E8A-4147-A177-3AD203B41FA5}">
                      <a16:colId xmlns:a16="http://schemas.microsoft.com/office/drawing/2014/main" val="3436109549"/>
                    </a:ext>
                  </a:extLst>
                </a:gridCol>
                <a:gridCol w="402336">
                  <a:extLst>
                    <a:ext uri="{9D8B030D-6E8A-4147-A177-3AD203B41FA5}">
                      <a16:colId xmlns:a16="http://schemas.microsoft.com/office/drawing/2014/main" val="3059888493"/>
                    </a:ext>
                  </a:extLst>
                </a:gridCol>
                <a:gridCol w="402336">
                  <a:extLst>
                    <a:ext uri="{9D8B030D-6E8A-4147-A177-3AD203B41FA5}">
                      <a16:colId xmlns:a16="http://schemas.microsoft.com/office/drawing/2014/main" val="231828248"/>
                    </a:ext>
                  </a:extLst>
                </a:gridCol>
                <a:gridCol w="402336">
                  <a:extLst>
                    <a:ext uri="{9D8B030D-6E8A-4147-A177-3AD203B41FA5}">
                      <a16:colId xmlns:a16="http://schemas.microsoft.com/office/drawing/2014/main" val="1442598195"/>
                    </a:ext>
                  </a:extLst>
                </a:gridCol>
                <a:gridCol w="402336">
                  <a:extLst>
                    <a:ext uri="{9D8B030D-6E8A-4147-A177-3AD203B41FA5}">
                      <a16:colId xmlns:a16="http://schemas.microsoft.com/office/drawing/2014/main" val="2218046626"/>
                    </a:ext>
                  </a:extLst>
                </a:gridCol>
                <a:gridCol w="402336">
                  <a:extLst>
                    <a:ext uri="{9D8B030D-6E8A-4147-A177-3AD203B41FA5}">
                      <a16:colId xmlns:a16="http://schemas.microsoft.com/office/drawing/2014/main" val="3942148956"/>
                    </a:ext>
                  </a:extLst>
                </a:gridCol>
                <a:gridCol w="402336">
                  <a:extLst>
                    <a:ext uri="{9D8B030D-6E8A-4147-A177-3AD203B41FA5}">
                      <a16:colId xmlns:a16="http://schemas.microsoft.com/office/drawing/2014/main" val="2368816920"/>
                    </a:ext>
                  </a:extLst>
                </a:gridCol>
                <a:gridCol w="402336">
                  <a:extLst>
                    <a:ext uri="{9D8B030D-6E8A-4147-A177-3AD203B41FA5}">
                      <a16:colId xmlns:a16="http://schemas.microsoft.com/office/drawing/2014/main" val="1195966348"/>
                    </a:ext>
                  </a:extLst>
                </a:gridCol>
                <a:gridCol w="402336">
                  <a:extLst>
                    <a:ext uri="{9D8B030D-6E8A-4147-A177-3AD203B41FA5}">
                      <a16:colId xmlns:a16="http://schemas.microsoft.com/office/drawing/2014/main" val="1404368841"/>
                    </a:ext>
                  </a:extLst>
                </a:gridCol>
                <a:gridCol w="402336">
                  <a:extLst>
                    <a:ext uri="{9D8B030D-6E8A-4147-A177-3AD203B41FA5}">
                      <a16:colId xmlns:a16="http://schemas.microsoft.com/office/drawing/2014/main" val="27775497"/>
                    </a:ext>
                  </a:extLst>
                </a:gridCol>
                <a:gridCol w="402336">
                  <a:extLst>
                    <a:ext uri="{9D8B030D-6E8A-4147-A177-3AD203B41FA5}">
                      <a16:colId xmlns:a16="http://schemas.microsoft.com/office/drawing/2014/main" val="1604726318"/>
                    </a:ext>
                  </a:extLst>
                </a:gridCol>
                <a:gridCol w="402336">
                  <a:extLst>
                    <a:ext uri="{9D8B030D-6E8A-4147-A177-3AD203B41FA5}">
                      <a16:colId xmlns:a16="http://schemas.microsoft.com/office/drawing/2014/main" val="4124560193"/>
                    </a:ext>
                  </a:extLst>
                </a:gridCol>
                <a:gridCol w="402336">
                  <a:extLst>
                    <a:ext uri="{9D8B030D-6E8A-4147-A177-3AD203B41FA5}">
                      <a16:colId xmlns:a16="http://schemas.microsoft.com/office/drawing/2014/main" val="697317155"/>
                    </a:ext>
                  </a:extLst>
                </a:gridCol>
                <a:gridCol w="402336">
                  <a:extLst>
                    <a:ext uri="{9D8B030D-6E8A-4147-A177-3AD203B41FA5}">
                      <a16:colId xmlns:a16="http://schemas.microsoft.com/office/drawing/2014/main" val="2448743457"/>
                    </a:ext>
                  </a:extLst>
                </a:gridCol>
                <a:gridCol w="402336">
                  <a:extLst>
                    <a:ext uri="{9D8B030D-6E8A-4147-A177-3AD203B41FA5}">
                      <a16:colId xmlns:a16="http://schemas.microsoft.com/office/drawing/2014/main" val="2052985718"/>
                    </a:ext>
                  </a:extLst>
                </a:gridCol>
                <a:gridCol w="402336">
                  <a:extLst>
                    <a:ext uri="{9D8B030D-6E8A-4147-A177-3AD203B41FA5}">
                      <a16:colId xmlns:a16="http://schemas.microsoft.com/office/drawing/2014/main" val="3462503137"/>
                    </a:ext>
                  </a:extLst>
                </a:gridCol>
                <a:gridCol w="402336">
                  <a:extLst>
                    <a:ext uri="{9D8B030D-6E8A-4147-A177-3AD203B41FA5}">
                      <a16:colId xmlns:a16="http://schemas.microsoft.com/office/drawing/2014/main" val="2622585511"/>
                    </a:ext>
                  </a:extLst>
                </a:gridCol>
                <a:gridCol w="402336">
                  <a:extLst>
                    <a:ext uri="{9D8B030D-6E8A-4147-A177-3AD203B41FA5}">
                      <a16:colId xmlns:a16="http://schemas.microsoft.com/office/drawing/2014/main" val="4077840197"/>
                    </a:ext>
                  </a:extLst>
                </a:gridCol>
                <a:gridCol w="402336">
                  <a:extLst>
                    <a:ext uri="{9D8B030D-6E8A-4147-A177-3AD203B41FA5}">
                      <a16:colId xmlns:a16="http://schemas.microsoft.com/office/drawing/2014/main" val="979228763"/>
                    </a:ext>
                  </a:extLst>
                </a:gridCol>
              </a:tblGrid>
              <a:tr h="274320">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$404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$139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$470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$103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$858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$488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$356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$646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$567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$732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$269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$127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263575597"/>
                  </a:ext>
                </a:extLst>
              </a:tr>
            </a:tbl>
          </a:graphicData>
        </a:graphic>
      </p:graphicFrame>
      <p:graphicFrame>
        <p:nvGraphicFramePr>
          <p:cNvPr id="74" name="Table 73">
            <a:extLst>
              <a:ext uri="{FF2B5EF4-FFF2-40B4-BE49-F238E27FC236}">
                <a16:creationId xmlns:a16="http://schemas.microsoft.com/office/drawing/2014/main" id="{4ABA5ACF-AA1C-8FC6-E877-C05DF27AC4C9}"/>
              </a:ext>
            </a:extLst>
          </p:cNvPr>
          <p:cNvGraphicFramePr>
            <a:graphicFrameLocks noGrp="1"/>
          </p:cNvGraphicFramePr>
          <p:nvPr/>
        </p:nvGraphicFramePr>
        <p:xfrm>
          <a:off x="440100" y="1693554"/>
          <a:ext cx="876854" cy="250600"/>
        </p:xfrm>
        <a:graphic>
          <a:graphicData uri="http://schemas.openxmlformats.org/drawingml/2006/table">
            <a:tbl>
              <a:tblPr firstRow="1" bandRow="1">
                <a:tableStyleId>{5C22544A-7EE6-4342-B048-85BDC9FD1C3A}</a:tableStyleId>
              </a:tblPr>
              <a:tblGrid>
                <a:gridCol w="876854">
                  <a:extLst>
                    <a:ext uri="{9D8B030D-6E8A-4147-A177-3AD203B41FA5}">
                      <a16:colId xmlns:a16="http://schemas.microsoft.com/office/drawing/2014/main" val="2886319902"/>
                    </a:ext>
                  </a:extLst>
                </a:gridCol>
              </a:tblGrid>
              <a:tr h="278445">
                <a:tc>
                  <a:txBody>
                    <a:bodyPr/>
                    <a:lstStyle/>
                    <a:p>
                      <a:pPr algn="ctr"/>
                      <a:r>
                        <a:rPr lang="en-US" sz="700" b="1" i="1" kern="1200" dirty="0">
                          <a:solidFill>
                            <a:schemeClr val="bg1"/>
                          </a:solidFill>
                          <a:latin typeface="Lato" panose="020B0604020202020204" pitchFamily="34" charset="0"/>
                          <a:ea typeface="+mn-ea"/>
                          <a:cs typeface="Arial" panose="020B0604020202020204" pitchFamily="34" charset="0"/>
                        </a:rPr>
                        <a:t>NIH Funding (‘24)</a:t>
                      </a:r>
                    </a:p>
                  </a:txBody>
                  <a:tcPr marL="45720" marR="4572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graphicFrame>
        <p:nvGraphicFramePr>
          <p:cNvPr id="75" name="Table 74">
            <a:extLst>
              <a:ext uri="{FF2B5EF4-FFF2-40B4-BE49-F238E27FC236}">
                <a16:creationId xmlns:a16="http://schemas.microsoft.com/office/drawing/2014/main" id="{F0FA1C2C-18AA-6C5C-8D51-622FDEEE2FA7}"/>
              </a:ext>
            </a:extLst>
          </p:cNvPr>
          <p:cNvGraphicFramePr>
            <a:graphicFrameLocks noGrp="1"/>
          </p:cNvGraphicFramePr>
          <p:nvPr/>
        </p:nvGraphicFramePr>
        <p:xfrm>
          <a:off x="435082" y="2031855"/>
          <a:ext cx="914399" cy="246888"/>
        </p:xfrm>
        <a:graphic>
          <a:graphicData uri="http://schemas.openxmlformats.org/drawingml/2006/table">
            <a:tbl>
              <a:tblPr firstRow="1" bandRow="1">
                <a:tableStyleId>{5C22544A-7EE6-4342-B048-85BDC9FD1C3A}</a:tableStyleId>
              </a:tblPr>
              <a:tblGrid>
                <a:gridCol w="914399">
                  <a:extLst>
                    <a:ext uri="{9D8B030D-6E8A-4147-A177-3AD203B41FA5}">
                      <a16:colId xmlns:a16="http://schemas.microsoft.com/office/drawing/2014/main" val="2886319902"/>
                    </a:ext>
                  </a:extLst>
                </a:gridCol>
              </a:tblGrid>
              <a:tr h="274320">
                <a:tc>
                  <a:txBody>
                    <a:bodyPr/>
                    <a:lstStyle/>
                    <a:p>
                      <a:pPr algn="ctr"/>
                      <a:r>
                        <a:rPr lang="en-US" sz="1000" b="1" i="1" kern="1200" dirty="0">
                          <a:solidFill>
                            <a:srgbClr val="FFFFFF"/>
                          </a:solidFill>
                          <a:latin typeface="Lato" panose="020B0604020202020204" pitchFamily="34" charset="0"/>
                          <a:ea typeface="+mn-ea"/>
                          <a:cs typeface="Arial" panose="020B0604020202020204" pitchFamily="34" charset="0"/>
                        </a:rPr>
                        <a:t>Endowment</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sp>
        <p:nvSpPr>
          <p:cNvPr id="77" name="TextBox 76">
            <a:extLst>
              <a:ext uri="{FF2B5EF4-FFF2-40B4-BE49-F238E27FC236}">
                <a16:creationId xmlns:a16="http://schemas.microsoft.com/office/drawing/2014/main" id="{5A06EFFF-BE2E-A4EB-62AC-6D8186EE9D09}"/>
              </a:ext>
            </a:extLst>
          </p:cNvPr>
          <p:cNvSpPr txBox="1"/>
          <p:nvPr/>
        </p:nvSpPr>
        <p:spPr>
          <a:xfrm>
            <a:off x="386005" y="1901298"/>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million</a:t>
            </a:r>
          </a:p>
        </p:txBody>
      </p:sp>
      <p:sp>
        <p:nvSpPr>
          <p:cNvPr id="78" name="TextBox 77">
            <a:extLst>
              <a:ext uri="{FF2B5EF4-FFF2-40B4-BE49-F238E27FC236}">
                <a16:creationId xmlns:a16="http://schemas.microsoft.com/office/drawing/2014/main" id="{8D7E73F0-5C63-2EF1-A943-25C094A89151}"/>
              </a:ext>
            </a:extLst>
          </p:cNvPr>
          <p:cNvSpPr txBox="1"/>
          <p:nvPr/>
        </p:nvSpPr>
        <p:spPr>
          <a:xfrm>
            <a:off x="386004" y="2252652"/>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billion</a:t>
            </a:r>
          </a:p>
        </p:txBody>
      </p:sp>
      <p:sp>
        <p:nvSpPr>
          <p:cNvPr id="261" name="Oval 260">
            <a:extLst>
              <a:ext uri="{FF2B5EF4-FFF2-40B4-BE49-F238E27FC236}">
                <a16:creationId xmlns:a16="http://schemas.microsoft.com/office/drawing/2014/main" id="{806436F4-E73D-7988-37B5-0F57DD209C1B}"/>
              </a:ext>
            </a:extLst>
          </p:cNvPr>
          <p:cNvSpPr/>
          <p:nvPr/>
        </p:nvSpPr>
        <p:spPr>
          <a:xfrm>
            <a:off x="1023567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2" name="Oval 261">
            <a:extLst>
              <a:ext uri="{FF2B5EF4-FFF2-40B4-BE49-F238E27FC236}">
                <a16:creationId xmlns:a16="http://schemas.microsoft.com/office/drawing/2014/main" id="{DCC56065-655F-F172-FC09-7E5997DC30B4}"/>
              </a:ext>
            </a:extLst>
          </p:cNvPr>
          <p:cNvSpPr/>
          <p:nvPr/>
        </p:nvSpPr>
        <p:spPr>
          <a:xfrm>
            <a:off x="1023567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3" name="Oval 262">
            <a:extLst>
              <a:ext uri="{FF2B5EF4-FFF2-40B4-BE49-F238E27FC236}">
                <a16:creationId xmlns:a16="http://schemas.microsoft.com/office/drawing/2014/main" id="{D2BCDCF3-71B6-E96A-6922-4B60749C1702}"/>
              </a:ext>
            </a:extLst>
          </p:cNvPr>
          <p:cNvSpPr/>
          <p:nvPr/>
        </p:nvSpPr>
        <p:spPr>
          <a:xfrm>
            <a:off x="102356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4" name="Oval 263">
            <a:extLst>
              <a:ext uri="{FF2B5EF4-FFF2-40B4-BE49-F238E27FC236}">
                <a16:creationId xmlns:a16="http://schemas.microsoft.com/office/drawing/2014/main" id="{46951409-63E2-008B-0B97-87F59D9C8F20}"/>
              </a:ext>
            </a:extLst>
          </p:cNvPr>
          <p:cNvSpPr/>
          <p:nvPr/>
        </p:nvSpPr>
        <p:spPr>
          <a:xfrm>
            <a:off x="10235677"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5" name="Oval 264">
            <a:extLst>
              <a:ext uri="{FF2B5EF4-FFF2-40B4-BE49-F238E27FC236}">
                <a16:creationId xmlns:a16="http://schemas.microsoft.com/office/drawing/2014/main" id="{438B68B4-7C64-C675-4A73-6CCD2E91CEB8}"/>
              </a:ext>
            </a:extLst>
          </p:cNvPr>
          <p:cNvSpPr/>
          <p:nvPr/>
        </p:nvSpPr>
        <p:spPr>
          <a:xfrm>
            <a:off x="10235677"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48" name="Straight Connector 247">
            <a:extLst>
              <a:ext uri="{FF2B5EF4-FFF2-40B4-BE49-F238E27FC236}">
                <a16:creationId xmlns:a16="http://schemas.microsoft.com/office/drawing/2014/main" id="{DBE7CB18-6DAB-D978-4A8B-6A526AE4039F}"/>
              </a:ext>
            </a:extLst>
          </p:cNvPr>
          <p:cNvCxnSpPr>
            <a:cxnSpLocks/>
          </p:cNvCxnSpPr>
          <p:nvPr/>
        </p:nvCxnSpPr>
        <p:spPr>
          <a:xfrm flipH="1">
            <a:off x="10767457"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49" name="Oval 248">
            <a:extLst>
              <a:ext uri="{FF2B5EF4-FFF2-40B4-BE49-F238E27FC236}">
                <a16:creationId xmlns:a16="http://schemas.microsoft.com/office/drawing/2014/main" id="{7A61D202-6AEE-EA41-D47F-9F005FD432B4}"/>
              </a:ext>
            </a:extLst>
          </p:cNvPr>
          <p:cNvSpPr/>
          <p:nvPr/>
        </p:nvSpPr>
        <p:spPr>
          <a:xfrm>
            <a:off x="1063903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0" name="Oval 249">
            <a:extLst>
              <a:ext uri="{FF2B5EF4-FFF2-40B4-BE49-F238E27FC236}">
                <a16:creationId xmlns:a16="http://schemas.microsoft.com/office/drawing/2014/main" id="{3F928196-0B7C-3DD1-D1B7-22829294FF5A}"/>
              </a:ext>
            </a:extLst>
          </p:cNvPr>
          <p:cNvSpPr/>
          <p:nvPr/>
        </p:nvSpPr>
        <p:spPr>
          <a:xfrm>
            <a:off x="106390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1" name="Oval 250">
            <a:extLst>
              <a:ext uri="{FF2B5EF4-FFF2-40B4-BE49-F238E27FC236}">
                <a16:creationId xmlns:a16="http://schemas.microsoft.com/office/drawing/2014/main" id="{3EA91CAF-BE87-BD03-FD2A-336BB74B6559}"/>
              </a:ext>
            </a:extLst>
          </p:cNvPr>
          <p:cNvSpPr/>
          <p:nvPr/>
        </p:nvSpPr>
        <p:spPr>
          <a:xfrm>
            <a:off x="10639039"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2" name="Oval 251">
            <a:extLst>
              <a:ext uri="{FF2B5EF4-FFF2-40B4-BE49-F238E27FC236}">
                <a16:creationId xmlns:a16="http://schemas.microsoft.com/office/drawing/2014/main" id="{45B7BC11-E955-3F05-DF7C-4180B233FEA5}"/>
              </a:ext>
            </a:extLst>
          </p:cNvPr>
          <p:cNvSpPr/>
          <p:nvPr/>
        </p:nvSpPr>
        <p:spPr>
          <a:xfrm>
            <a:off x="10235677" y="258226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3" name="Oval 252">
            <a:extLst>
              <a:ext uri="{FF2B5EF4-FFF2-40B4-BE49-F238E27FC236}">
                <a16:creationId xmlns:a16="http://schemas.microsoft.com/office/drawing/2014/main" id="{46A4064E-1219-26AB-79FA-33D613738961}"/>
              </a:ext>
            </a:extLst>
          </p:cNvPr>
          <p:cNvSpPr/>
          <p:nvPr/>
        </p:nvSpPr>
        <p:spPr>
          <a:xfrm>
            <a:off x="1063903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4" name="Oval 243">
            <a:extLst>
              <a:ext uri="{FF2B5EF4-FFF2-40B4-BE49-F238E27FC236}">
                <a16:creationId xmlns:a16="http://schemas.microsoft.com/office/drawing/2014/main" id="{1DE07E14-5FBC-9DB0-B114-5F85305461FF}"/>
              </a:ext>
            </a:extLst>
          </p:cNvPr>
          <p:cNvSpPr/>
          <p:nvPr/>
        </p:nvSpPr>
        <p:spPr>
          <a:xfrm>
            <a:off x="9832531"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5" name="Oval 244">
            <a:extLst>
              <a:ext uri="{FF2B5EF4-FFF2-40B4-BE49-F238E27FC236}">
                <a16:creationId xmlns:a16="http://schemas.microsoft.com/office/drawing/2014/main" id="{927F8A39-C25D-0114-B9A3-C8468E31183C}"/>
              </a:ext>
            </a:extLst>
          </p:cNvPr>
          <p:cNvSpPr/>
          <p:nvPr/>
        </p:nvSpPr>
        <p:spPr>
          <a:xfrm>
            <a:off x="983253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6" name="Oval 245">
            <a:extLst>
              <a:ext uri="{FF2B5EF4-FFF2-40B4-BE49-F238E27FC236}">
                <a16:creationId xmlns:a16="http://schemas.microsoft.com/office/drawing/2014/main" id="{CDCA74F0-1DC3-DFED-6FC2-EBAED541E349}"/>
              </a:ext>
            </a:extLst>
          </p:cNvPr>
          <p:cNvSpPr/>
          <p:nvPr/>
        </p:nvSpPr>
        <p:spPr>
          <a:xfrm>
            <a:off x="9832531"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7" name="Oval 246">
            <a:extLst>
              <a:ext uri="{FF2B5EF4-FFF2-40B4-BE49-F238E27FC236}">
                <a16:creationId xmlns:a16="http://schemas.microsoft.com/office/drawing/2014/main" id="{6ECBC468-8313-D6EB-FC1A-067C5E184DF7}"/>
              </a:ext>
            </a:extLst>
          </p:cNvPr>
          <p:cNvSpPr/>
          <p:nvPr/>
        </p:nvSpPr>
        <p:spPr>
          <a:xfrm>
            <a:off x="983253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30" name="Straight Connector 229">
            <a:extLst>
              <a:ext uri="{FF2B5EF4-FFF2-40B4-BE49-F238E27FC236}">
                <a16:creationId xmlns:a16="http://schemas.microsoft.com/office/drawing/2014/main" id="{13F116ED-38AA-35C0-85A8-BE73C7BC7DBD}"/>
              </a:ext>
            </a:extLst>
          </p:cNvPr>
          <p:cNvCxnSpPr>
            <a:cxnSpLocks/>
          </p:cNvCxnSpPr>
          <p:nvPr/>
        </p:nvCxnSpPr>
        <p:spPr>
          <a:xfrm>
            <a:off x="3144932" y="2823152"/>
            <a:ext cx="17935"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31" name="Oval 230">
            <a:extLst>
              <a:ext uri="{FF2B5EF4-FFF2-40B4-BE49-F238E27FC236}">
                <a16:creationId xmlns:a16="http://schemas.microsoft.com/office/drawing/2014/main" id="{3DCA81F3-1290-9EC8-2061-1929A0A68DE6}"/>
              </a:ext>
            </a:extLst>
          </p:cNvPr>
          <p:cNvSpPr/>
          <p:nvPr/>
        </p:nvSpPr>
        <p:spPr>
          <a:xfrm>
            <a:off x="30226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2" name="Oval 231">
            <a:extLst>
              <a:ext uri="{FF2B5EF4-FFF2-40B4-BE49-F238E27FC236}">
                <a16:creationId xmlns:a16="http://schemas.microsoft.com/office/drawing/2014/main" id="{EA6A0883-DB94-8B2C-5213-1263855D9AF6}"/>
              </a:ext>
            </a:extLst>
          </p:cNvPr>
          <p:cNvSpPr/>
          <p:nvPr/>
        </p:nvSpPr>
        <p:spPr>
          <a:xfrm>
            <a:off x="3023796"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3" name="Oval 232">
            <a:extLst>
              <a:ext uri="{FF2B5EF4-FFF2-40B4-BE49-F238E27FC236}">
                <a16:creationId xmlns:a16="http://schemas.microsoft.com/office/drawing/2014/main" id="{4A8D2929-E27A-BD35-1721-2C4999D2A179}"/>
              </a:ext>
            </a:extLst>
          </p:cNvPr>
          <p:cNvSpPr/>
          <p:nvPr/>
        </p:nvSpPr>
        <p:spPr>
          <a:xfrm>
            <a:off x="301617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4" name="Oval 233">
            <a:extLst>
              <a:ext uri="{FF2B5EF4-FFF2-40B4-BE49-F238E27FC236}">
                <a16:creationId xmlns:a16="http://schemas.microsoft.com/office/drawing/2014/main" id="{D5721286-554E-1EA7-688B-4A4634494BA5}"/>
              </a:ext>
            </a:extLst>
          </p:cNvPr>
          <p:cNvSpPr/>
          <p:nvPr/>
        </p:nvSpPr>
        <p:spPr>
          <a:xfrm>
            <a:off x="3016172" y="3050401"/>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5" name="Oval 234">
            <a:extLst>
              <a:ext uri="{FF2B5EF4-FFF2-40B4-BE49-F238E27FC236}">
                <a16:creationId xmlns:a16="http://schemas.microsoft.com/office/drawing/2014/main" id="{C4BA16FE-6384-07F2-6C9B-3FB8496658E8}"/>
              </a:ext>
            </a:extLst>
          </p:cNvPr>
          <p:cNvSpPr/>
          <p:nvPr/>
        </p:nvSpPr>
        <p:spPr>
          <a:xfrm>
            <a:off x="3022665"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94" name="Group 93">
            <a:extLst>
              <a:ext uri="{FF2B5EF4-FFF2-40B4-BE49-F238E27FC236}">
                <a16:creationId xmlns:a16="http://schemas.microsoft.com/office/drawing/2014/main" id="{EAF6A3F0-BF93-2370-4B58-D9BB2CBBFAA7}"/>
              </a:ext>
            </a:extLst>
          </p:cNvPr>
          <p:cNvGrpSpPr/>
          <p:nvPr/>
        </p:nvGrpSpPr>
        <p:grpSpPr>
          <a:xfrm>
            <a:off x="4599893" y="2702710"/>
            <a:ext cx="276029" cy="2941290"/>
            <a:chOff x="3950753" y="2986542"/>
            <a:chExt cx="276029" cy="3268101"/>
          </a:xfrm>
        </p:grpSpPr>
        <p:cxnSp>
          <p:nvCxnSpPr>
            <p:cNvPr id="218" name="Straight Connector 217">
              <a:extLst>
                <a:ext uri="{FF2B5EF4-FFF2-40B4-BE49-F238E27FC236}">
                  <a16:creationId xmlns:a16="http://schemas.microsoft.com/office/drawing/2014/main" id="{755ED8D4-3850-E559-B152-2937C59C2112}"/>
                </a:ext>
              </a:extLst>
            </p:cNvPr>
            <p:cNvCxnSpPr>
              <a:cxnSpLocks/>
            </p:cNvCxnSpPr>
            <p:nvPr/>
          </p:nvCxnSpPr>
          <p:spPr>
            <a:xfrm>
              <a:off x="4084040" y="2986542"/>
              <a:ext cx="11477"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6" name="Oval 355">
              <a:extLst>
                <a:ext uri="{FF2B5EF4-FFF2-40B4-BE49-F238E27FC236}">
                  <a16:creationId xmlns:a16="http://schemas.microsoft.com/office/drawing/2014/main" id="{98776BBB-B240-C518-1BC7-21FA4E96659A}"/>
                </a:ext>
              </a:extLst>
            </p:cNvPr>
            <p:cNvSpPr/>
            <p:nvPr/>
          </p:nvSpPr>
          <p:spPr>
            <a:xfrm>
              <a:off x="3950753"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0" name="Oval 219">
              <a:extLst>
                <a:ext uri="{FF2B5EF4-FFF2-40B4-BE49-F238E27FC236}">
                  <a16:creationId xmlns:a16="http://schemas.microsoft.com/office/drawing/2014/main" id="{25CEA483-862C-7600-77FE-4EAF2CBE9C11}"/>
                </a:ext>
              </a:extLst>
            </p:cNvPr>
            <p:cNvSpPr/>
            <p:nvPr/>
          </p:nvSpPr>
          <p:spPr>
            <a:xfrm>
              <a:off x="3959135"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2" name="Oval 221">
              <a:extLst>
                <a:ext uri="{FF2B5EF4-FFF2-40B4-BE49-F238E27FC236}">
                  <a16:creationId xmlns:a16="http://schemas.microsoft.com/office/drawing/2014/main" id="{8771B4D8-33E4-4A52-AE00-83B84F0AD1C0}"/>
                </a:ext>
              </a:extLst>
            </p:cNvPr>
            <p:cNvSpPr/>
            <p:nvPr/>
          </p:nvSpPr>
          <p:spPr>
            <a:xfrm>
              <a:off x="3951511"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3" name="Oval 222">
              <a:extLst>
                <a:ext uri="{FF2B5EF4-FFF2-40B4-BE49-F238E27FC236}">
                  <a16:creationId xmlns:a16="http://schemas.microsoft.com/office/drawing/2014/main" id="{02B03122-1C64-F937-C196-544C712DBDCA}"/>
                </a:ext>
              </a:extLst>
            </p:cNvPr>
            <p:cNvSpPr/>
            <p:nvPr/>
          </p:nvSpPr>
          <p:spPr>
            <a:xfrm>
              <a:off x="3958004" y="4645707"/>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7" name="Oval 356">
              <a:extLst>
                <a:ext uri="{FF2B5EF4-FFF2-40B4-BE49-F238E27FC236}">
                  <a16:creationId xmlns:a16="http://schemas.microsoft.com/office/drawing/2014/main" id="{26947FBF-B50E-BBF8-14AA-35B46C2D4C2D}"/>
                </a:ext>
              </a:extLst>
            </p:cNvPr>
            <p:cNvSpPr/>
            <p:nvPr/>
          </p:nvSpPr>
          <p:spPr>
            <a:xfrm>
              <a:off x="3956369" y="5986996"/>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5" name="Group 94">
            <a:extLst>
              <a:ext uri="{FF2B5EF4-FFF2-40B4-BE49-F238E27FC236}">
                <a16:creationId xmlns:a16="http://schemas.microsoft.com/office/drawing/2014/main" id="{90A01761-DB99-CBAB-12E0-E4AEC9CE86E6}"/>
              </a:ext>
            </a:extLst>
          </p:cNvPr>
          <p:cNvGrpSpPr/>
          <p:nvPr/>
        </p:nvGrpSpPr>
        <p:grpSpPr>
          <a:xfrm>
            <a:off x="5002469" y="2702710"/>
            <a:ext cx="276031" cy="2945066"/>
            <a:chOff x="4350965" y="2986542"/>
            <a:chExt cx="276031" cy="3272296"/>
          </a:xfrm>
        </p:grpSpPr>
        <p:cxnSp>
          <p:nvCxnSpPr>
            <p:cNvPr id="212" name="Straight Connector 211">
              <a:extLst>
                <a:ext uri="{FF2B5EF4-FFF2-40B4-BE49-F238E27FC236}">
                  <a16:creationId xmlns:a16="http://schemas.microsoft.com/office/drawing/2014/main" id="{78854B8B-1D74-C732-CF02-43769684AA4E}"/>
                </a:ext>
              </a:extLst>
            </p:cNvPr>
            <p:cNvCxnSpPr>
              <a:cxnSpLocks/>
            </p:cNvCxnSpPr>
            <p:nvPr/>
          </p:nvCxnSpPr>
          <p:spPr>
            <a:xfrm>
              <a:off x="4478147" y="2986542"/>
              <a:ext cx="17584"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8" name="Oval 357">
              <a:extLst>
                <a:ext uri="{FF2B5EF4-FFF2-40B4-BE49-F238E27FC236}">
                  <a16:creationId xmlns:a16="http://schemas.microsoft.com/office/drawing/2014/main" id="{D870C0A4-9DA0-DFEA-2BED-46646104AE35}"/>
                </a:ext>
              </a:extLst>
            </p:cNvPr>
            <p:cNvSpPr/>
            <p:nvPr/>
          </p:nvSpPr>
          <p:spPr>
            <a:xfrm>
              <a:off x="4350967"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9" name="Oval 358">
              <a:extLst>
                <a:ext uri="{FF2B5EF4-FFF2-40B4-BE49-F238E27FC236}">
                  <a16:creationId xmlns:a16="http://schemas.microsoft.com/office/drawing/2014/main" id="{D0D312D3-0675-87DA-A20C-B65B7D0AE37A}"/>
                </a:ext>
              </a:extLst>
            </p:cNvPr>
            <p:cNvSpPr/>
            <p:nvPr/>
          </p:nvSpPr>
          <p:spPr>
            <a:xfrm>
              <a:off x="4350965"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4" name="Oval 213">
              <a:extLst>
                <a:ext uri="{FF2B5EF4-FFF2-40B4-BE49-F238E27FC236}">
                  <a16:creationId xmlns:a16="http://schemas.microsoft.com/office/drawing/2014/main" id="{0EFC3F60-F59B-37AF-593C-7ED29F8DC9BC}"/>
                </a:ext>
              </a:extLst>
            </p:cNvPr>
            <p:cNvSpPr/>
            <p:nvPr/>
          </p:nvSpPr>
          <p:spPr>
            <a:xfrm>
              <a:off x="4359349"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5" name="Oval 214">
              <a:extLst>
                <a:ext uri="{FF2B5EF4-FFF2-40B4-BE49-F238E27FC236}">
                  <a16:creationId xmlns:a16="http://schemas.microsoft.com/office/drawing/2014/main" id="{706E6FE2-622A-8772-4AF2-E5A309CC8EB6}"/>
                </a:ext>
              </a:extLst>
            </p:cNvPr>
            <p:cNvSpPr/>
            <p:nvPr/>
          </p:nvSpPr>
          <p:spPr>
            <a:xfrm>
              <a:off x="4351724"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6" name="Oval 215">
              <a:extLst>
                <a:ext uri="{FF2B5EF4-FFF2-40B4-BE49-F238E27FC236}">
                  <a16:creationId xmlns:a16="http://schemas.microsoft.com/office/drawing/2014/main" id="{1C0DADCD-8679-FA30-BEDB-7F84A7A1E0C1}"/>
                </a:ext>
              </a:extLst>
            </p:cNvPr>
            <p:cNvSpPr/>
            <p:nvPr/>
          </p:nvSpPr>
          <p:spPr>
            <a:xfrm>
              <a:off x="435172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6" name="Group 95">
            <a:extLst>
              <a:ext uri="{FF2B5EF4-FFF2-40B4-BE49-F238E27FC236}">
                <a16:creationId xmlns:a16="http://schemas.microsoft.com/office/drawing/2014/main" id="{875DC5EB-564F-7DE3-49EF-AE29AAF42769}"/>
              </a:ext>
            </a:extLst>
          </p:cNvPr>
          <p:cNvGrpSpPr/>
          <p:nvPr/>
        </p:nvGrpSpPr>
        <p:grpSpPr>
          <a:xfrm>
            <a:off x="7820641" y="2823152"/>
            <a:ext cx="276031" cy="2824624"/>
            <a:chOff x="4751179" y="3120366"/>
            <a:chExt cx="276031" cy="3138472"/>
          </a:xfrm>
        </p:grpSpPr>
        <p:cxnSp>
          <p:nvCxnSpPr>
            <p:cNvPr id="206" name="Straight Connector 205">
              <a:extLst>
                <a:ext uri="{FF2B5EF4-FFF2-40B4-BE49-F238E27FC236}">
                  <a16:creationId xmlns:a16="http://schemas.microsoft.com/office/drawing/2014/main" id="{44BF1F38-A207-4A2C-7A7F-58D72AD40832}"/>
                </a:ext>
              </a:extLst>
            </p:cNvPr>
            <p:cNvCxnSpPr>
              <a:cxnSpLocks/>
            </p:cNvCxnSpPr>
            <p:nvPr/>
          </p:nvCxnSpPr>
          <p:spPr>
            <a:xfrm flipH="1">
              <a:off x="4885059" y="3120366"/>
              <a:ext cx="1990"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60" name="Oval 359">
              <a:extLst>
                <a:ext uri="{FF2B5EF4-FFF2-40B4-BE49-F238E27FC236}">
                  <a16:creationId xmlns:a16="http://schemas.microsoft.com/office/drawing/2014/main" id="{0971E5F1-E609-283F-EBCE-B79F96EA9C1E}"/>
                </a:ext>
              </a:extLst>
            </p:cNvPr>
            <p:cNvSpPr/>
            <p:nvPr/>
          </p:nvSpPr>
          <p:spPr>
            <a:xfrm>
              <a:off x="4751179"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7" name="Oval 206">
              <a:extLst>
                <a:ext uri="{FF2B5EF4-FFF2-40B4-BE49-F238E27FC236}">
                  <a16:creationId xmlns:a16="http://schemas.microsoft.com/office/drawing/2014/main" id="{B009C981-1247-28E9-BF9C-6A08542ECC9D}"/>
                </a:ext>
              </a:extLst>
            </p:cNvPr>
            <p:cNvSpPr/>
            <p:nvPr/>
          </p:nvSpPr>
          <p:spPr>
            <a:xfrm>
              <a:off x="4758434"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8" name="Oval 207">
              <a:extLst>
                <a:ext uri="{FF2B5EF4-FFF2-40B4-BE49-F238E27FC236}">
                  <a16:creationId xmlns:a16="http://schemas.microsoft.com/office/drawing/2014/main" id="{B9C4CB1C-34FD-925D-059F-55DF83E26FD5}"/>
                </a:ext>
              </a:extLst>
            </p:cNvPr>
            <p:cNvSpPr/>
            <p:nvPr/>
          </p:nvSpPr>
          <p:spPr>
            <a:xfrm>
              <a:off x="4759563"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9" name="Oval 208">
              <a:extLst>
                <a:ext uri="{FF2B5EF4-FFF2-40B4-BE49-F238E27FC236}">
                  <a16:creationId xmlns:a16="http://schemas.microsoft.com/office/drawing/2014/main" id="{5BB6019C-15DF-3008-B18D-0C84D45316EC}"/>
                </a:ext>
              </a:extLst>
            </p:cNvPr>
            <p:cNvSpPr/>
            <p:nvPr/>
          </p:nvSpPr>
          <p:spPr>
            <a:xfrm>
              <a:off x="4757381"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0" name="Oval 209">
              <a:extLst>
                <a:ext uri="{FF2B5EF4-FFF2-40B4-BE49-F238E27FC236}">
                  <a16:creationId xmlns:a16="http://schemas.microsoft.com/office/drawing/2014/main" id="{57ABEBFA-853F-80EF-9280-66E254361F81}"/>
                </a:ext>
              </a:extLst>
            </p:cNvPr>
            <p:cNvSpPr/>
            <p:nvPr/>
          </p:nvSpPr>
          <p:spPr>
            <a:xfrm>
              <a:off x="4751939" y="3372865"/>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cxnSp>
        <p:nvCxnSpPr>
          <p:cNvPr id="194" name="Straight Connector 193">
            <a:extLst>
              <a:ext uri="{FF2B5EF4-FFF2-40B4-BE49-F238E27FC236}">
                <a16:creationId xmlns:a16="http://schemas.microsoft.com/office/drawing/2014/main" id="{A2F58F54-F2D3-F111-B847-5C304E9EFA24}"/>
              </a:ext>
            </a:extLst>
          </p:cNvPr>
          <p:cNvCxnSpPr>
            <a:cxnSpLocks/>
          </p:cNvCxnSpPr>
          <p:nvPr/>
        </p:nvCxnSpPr>
        <p:spPr>
          <a:xfrm>
            <a:off x="4328288"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95" name="Oval 194">
            <a:extLst>
              <a:ext uri="{FF2B5EF4-FFF2-40B4-BE49-F238E27FC236}">
                <a16:creationId xmlns:a16="http://schemas.microsoft.com/office/drawing/2014/main" id="{3B91B974-6BF4-1AB6-EA36-C85F406EC8C1}"/>
              </a:ext>
            </a:extLst>
          </p:cNvPr>
          <p:cNvSpPr/>
          <p:nvPr/>
        </p:nvSpPr>
        <p:spPr>
          <a:xfrm>
            <a:off x="4195744"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6" name="Oval 195">
            <a:extLst>
              <a:ext uri="{FF2B5EF4-FFF2-40B4-BE49-F238E27FC236}">
                <a16:creationId xmlns:a16="http://schemas.microsoft.com/office/drawing/2014/main" id="{DF5D73E3-7F3E-984A-6327-89494D5D681B}"/>
              </a:ext>
            </a:extLst>
          </p:cNvPr>
          <p:cNvSpPr/>
          <p:nvPr/>
        </p:nvSpPr>
        <p:spPr>
          <a:xfrm>
            <a:off x="4195744"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7" name="Oval 196">
            <a:extLst>
              <a:ext uri="{FF2B5EF4-FFF2-40B4-BE49-F238E27FC236}">
                <a16:creationId xmlns:a16="http://schemas.microsoft.com/office/drawing/2014/main" id="{C9953085-4EBC-A37E-AFEE-F84E92EB293C}"/>
              </a:ext>
            </a:extLst>
          </p:cNvPr>
          <p:cNvSpPr/>
          <p:nvPr/>
        </p:nvSpPr>
        <p:spPr>
          <a:xfrm>
            <a:off x="419574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8" name="Oval 197">
            <a:extLst>
              <a:ext uri="{FF2B5EF4-FFF2-40B4-BE49-F238E27FC236}">
                <a16:creationId xmlns:a16="http://schemas.microsoft.com/office/drawing/2014/main" id="{C0303A26-6B6A-0B03-8D43-EA933E7F257A}"/>
              </a:ext>
            </a:extLst>
          </p:cNvPr>
          <p:cNvSpPr/>
          <p:nvPr/>
        </p:nvSpPr>
        <p:spPr>
          <a:xfrm>
            <a:off x="419574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9" name="Oval 198">
            <a:extLst>
              <a:ext uri="{FF2B5EF4-FFF2-40B4-BE49-F238E27FC236}">
                <a16:creationId xmlns:a16="http://schemas.microsoft.com/office/drawing/2014/main" id="{57105D1D-53EF-3BDB-5F22-522358C35E05}"/>
              </a:ext>
            </a:extLst>
          </p:cNvPr>
          <p:cNvSpPr/>
          <p:nvPr/>
        </p:nvSpPr>
        <p:spPr>
          <a:xfrm>
            <a:off x="419574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3" name="Oval 362">
            <a:extLst>
              <a:ext uri="{FF2B5EF4-FFF2-40B4-BE49-F238E27FC236}">
                <a16:creationId xmlns:a16="http://schemas.microsoft.com/office/drawing/2014/main" id="{9D2113B9-3AE7-B80A-2190-ECFFE6C6DA45}"/>
              </a:ext>
            </a:extLst>
          </p:cNvPr>
          <p:cNvSpPr/>
          <p:nvPr/>
        </p:nvSpPr>
        <p:spPr>
          <a:xfrm>
            <a:off x="419574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88" name="Straight Connector 187">
            <a:extLst>
              <a:ext uri="{FF2B5EF4-FFF2-40B4-BE49-F238E27FC236}">
                <a16:creationId xmlns:a16="http://schemas.microsoft.com/office/drawing/2014/main" id="{13AC8604-CA81-B2BB-EFE5-23FAC3BB2557}"/>
              </a:ext>
            </a:extLst>
          </p:cNvPr>
          <p:cNvCxnSpPr>
            <a:cxnSpLocks/>
          </p:cNvCxnSpPr>
          <p:nvPr/>
        </p:nvCxnSpPr>
        <p:spPr>
          <a:xfrm flipH="1">
            <a:off x="7574572" y="2823152"/>
            <a:ext cx="1579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89" name="Oval 188">
            <a:extLst>
              <a:ext uri="{FF2B5EF4-FFF2-40B4-BE49-F238E27FC236}">
                <a16:creationId xmlns:a16="http://schemas.microsoft.com/office/drawing/2014/main" id="{4F064854-3C10-CCD5-E443-8B9982DFDD3F}"/>
              </a:ext>
            </a:extLst>
          </p:cNvPr>
          <p:cNvSpPr/>
          <p:nvPr/>
        </p:nvSpPr>
        <p:spPr>
          <a:xfrm>
            <a:off x="744794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0" name="Oval 189">
            <a:extLst>
              <a:ext uri="{FF2B5EF4-FFF2-40B4-BE49-F238E27FC236}">
                <a16:creationId xmlns:a16="http://schemas.microsoft.com/office/drawing/2014/main" id="{3443D3BA-01AF-0607-AF9B-931FA43FABBF}"/>
              </a:ext>
            </a:extLst>
          </p:cNvPr>
          <p:cNvSpPr/>
          <p:nvPr/>
        </p:nvSpPr>
        <p:spPr>
          <a:xfrm>
            <a:off x="744907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1" name="Oval 190">
            <a:extLst>
              <a:ext uri="{FF2B5EF4-FFF2-40B4-BE49-F238E27FC236}">
                <a16:creationId xmlns:a16="http://schemas.microsoft.com/office/drawing/2014/main" id="{AA340C87-7C28-5004-9683-5B54AD7CC1FA}"/>
              </a:ext>
            </a:extLst>
          </p:cNvPr>
          <p:cNvSpPr/>
          <p:nvPr/>
        </p:nvSpPr>
        <p:spPr>
          <a:xfrm>
            <a:off x="744145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2" name="Oval 191">
            <a:extLst>
              <a:ext uri="{FF2B5EF4-FFF2-40B4-BE49-F238E27FC236}">
                <a16:creationId xmlns:a16="http://schemas.microsoft.com/office/drawing/2014/main" id="{5AA605C2-C5C3-8501-F77F-175413D23400}"/>
              </a:ext>
            </a:extLst>
          </p:cNvPr>
          <p:cNvSpPr/>
          <p:nvPr/>
        </p:nvSpPr>
        <p:spPr>
          <a:xfrm>
            <a:off x="7441452"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3" name="Oval 192">
            <a:extLst>
              <a:ext uri="{FF2B5EF4-FFF2-40B4-BE49-F238E27FC236}">
                <a16:creationId xmlns:a16="http://schemas.microsoft.com/office/drawing/2014/main" id="{73A3BA45-CA1F-F6E0-8CF1-40B101941F88}"/>
              </a:ext>
            </a:extLst>
          </p:cNvPr>
          <p:cNvSpPr/>
          <p:nvPr/>
        </p:nvSpPr>
        <p:spPr>
          <a:xfrm>
            <a:off x="744794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4" name="Oval 363">
            <a:extLst>
              <a:ext uri="{FF2B5EF4-FFF2-40B4-BE49-F238E27FC236}">
                <a16:creationId xmlns:a16="http://schemas.microsoft.com/office/drawing/2014/main" id="{79FD145C-6E61-7F0C-2EBE-B415AFD0721C}"/>
              </a:ext>
            </a:extLst>
          </p:cNvPr>
          <p:cNvSpPr/>
          <p:nvPr/>
        </p:nvSpPr>
        <p:spPr>
          <a:xfrm>
            <a:off x="6642073"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3" name="Oval 182">
            <a:extLst>
              <a:ext uri="{FF2B5EF4-FFF2-40B4-BE49-F238E27FC236}">
                <a16:creationId xmlns:a16="http://schemas.microsoft.com/office/drawing/2014/main" id="{13226D1C-9123-DC15-5243-176D74B25EC6}"/>
              </a:ext>
            </a:extLst>
          </p:cNvPr>
          <p:cNvSpPr/>
          <p:nvPr/>
        </p:nvSpPr>
        <p:spPr>
          <a:xfrm>
            <a:off x="6643710"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4" name="Oval 183">
            <a:extLst>
              <a:ext uri="{FF2B5EF4-FFF2-40B4-BE49-F238E27FC236}">
                <a16:creationId xmlns:a16="http://schemas.microsoft.com/office/drawing/2014/main" id="{88B13397-9A34-1F87-2F5F-D6DF414F0DDC}"/>
              </a:ext>
            </a:extLst>
          </p:cNvPr>
          <p:cNvSpPr/>
          <p:nvPr/>
        </p:nvSpPr>
        <p:spPr>
          <a:xfrm>
            <a:off x="66448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6" name="Oval 185">
            <a:extLst>
              <a:ext uri="{FF2B5EF4-FFF2-40B4-BE49-F238E27FC236}">
                <a16:creationId xmlns:a16="http://schemas.microsoft.com/office/drawing/2014/main" id="{9B680FD7-70C4-183E-6622-038B6F98B09F}"/>
              </a:ext>
            </a:extLst>
          </p:cNvPr>
          <p:cNvSpPr/>
          <p:nvPr/>
        </p:nvSpPr>
        <p:spPr>
          <a:xfrm>
            <a:off x="6637215"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7" name="Oval 186">
            <a:extLst>
              <a:ext uri="{FF2B5EF4-FFF2-40B4-BE49-F238E27FC236}">
                <a16:creationId xmlns:a16="http://schemas.microsoft.com/office/drawing/2014/main" id="{94B10E27-43D0-B26B-5E6E-DE190CDFBBF1}"/>
              </a:ext>
            </a:extLst>
          </p:cNvPr>
          <p:cNvSpPr/>
          <p:nvPr/>
        </p:nvSpPr>
        <p:spPr>
          <a:xfrm>
            <a:off x="6643708"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7" name="Oval 176">
            <a:extLst>
              <a:ext uri="{FF2B5EF4-FFF2-40B4-BE49-F238E27FC236}">
                <a16:creationId xmlns:a16="http://schemas.microsoft.com/office/drawing/2014/main" id="{4E6E90DF-22F1-77CB-FC84-CF33E30AB043}"/>
              </a:ext>
            </a:extLst>
          </p:cNvPr>
          <p:cNvSpPr/>
          <p:nvPr/>
        </p:nvSpPr>
        <p:spPr>
          <a:xfrm>
            <a:off x="2590328"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8" name="Oval 177">
            <a:extLst>
              <a:ext uri="{FF2B5EF4-FFF2-40B4-BE49-F238E27FC236}">
                <a16:creationId xmlns:a16="http://schemas.microsoft.com/office/drawing/2014/main" id="{55A945B1-7FA7-0570-949A-2EA8E6682A54}"/>
              </a:ext>
            </a:extLst>
          </p:cNvPr>
          <p:cNvSpPr/>
          <p:nvPr/>
        </p:nvSpPr>
        <p:spPr>
          <a:xfrm>
            <a:off x="259145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9" name="Oval 178">
            <a:extLst>
              <a:ext uri="{FF2B5EF4-FFF2-40B4-BE49-F238E27FC236}">
                <a16:creationId xmlns:a16="http://schemas.microsoft.com/office/drawing/2014/main" id="{C3228C05-E5C4-B65C-0379-9D9ED54634B9}"/>
              </a:ext>
            </a:extLst>
          </p:cNvPr>
          <p:cNvSpPr/>
          <p:nvPr/>
        </p:nvSpPr>
        <p:spPr>
          <a:xfrm>
            <a:off x="258383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0" name="Oval 179">
            <a:extLst>
              <a:ext uri="{FF2B5EF4-FFF2-40B4-BE49-F238E27FC236}">
                <a16:creationId xmlns:a16="http://schemas.microsoft.com/office/drawing/2014/main" id="{F2065D84-AD92-0434-D70D-E85CA2F13D6E}"/>
              </a:ext>
            </a:extLst>
          </p:cNvPr>
          <p:cNvSpPr/>
          <p:nvPr/>
        </p:nvSpPr>
        <p:spPr>
          <a:xfrm>
            <a:off x="2583833"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1" name="Oval 180">
            <a:extLst>
              <a:ext uri="{FF2B5EF4-FFF2-40B4-BE49-F238E27FC236}">
                <a16:creationId xmlns:a16="http://schemas.microsoft.com/office/drawing/2014/main" id="{11348BBB-BF4A-FD77-819E-EAE11FDB9952}"/>
              </a:ext>
            </a:extLst>
          </p:cNvPr>
          <p:cNvSpPr/>
          <p:nvPr/>
        </p:nvSpPr>
        <p:spPr>
          <a:xfrm>
            <a:off x="259032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70" name="Straight Connector 169">
            <a:extLst>
              <a:ext uri="{FF2B5EF4-FFF2-40B4-BE49-F238E27FC236}">
                <a16:creationId xmlns:a16="http://schemas.microsoft.com/office/drawing/2014/main" id="{3B2499C5-452C-4CBE-44D5-51F4DEF43440}"/>
              </a:ext>
            </a:extLst>
          </p:cNvPr>
          <p:cNvCxnSpPr>
            <a:cxnSpLocks/>
          </p:cNvCxnSpPr>
          <p:nvPr/>
        </p:nvCxnSpPr>
        <p:spPr>
          <a:xfrm>
            <a:off x="4503003" y="2303050"/>
            <a:ext cx="13883" cy="343105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37861D98-0972-A982-456D-F87F6D35EA44}"/>
              </a:ext>
            </a:extLst>
          </p:cNvPr>
          <p:cNvSpPr/>
          <p:nvPr/>
        </p:nvSpPr>
        <p:spPr>
          <a:xfrm>
            <a:off x="380428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2" name="Oval 171">
            <a:extLst>
              <a:ext uri="{FF2B5EF4-FFF2-40B4-BE49-F238E27FC236}">
                <a16:creationId xmlns:a16="http://schemas.microsoft.com/office/drawing/2014/main" id="{63EE6941-AE53-ADE6-FCD3-0D33CF606A6F}"/>
              </a:ext>
            </a:extLst>
          </p:cNvPr>
          <p:cNvSpPr/>
          <p:nvPr/>
        </p:nvSpPr>
        <p:spPr>
          <a:xfrm>
            <a:off x="380428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3" name="Oval 172">
            <a:extLst>
              <a:ext uri="{FF2B5EF4-FFF2-40B4-BE49-F238E27FC236}">
                <a16:creationId xmlns:a16="http://schemas.microsoft.com/office/drawing/2014/main" id="{FA2F4E0F-B667-CC4E-4416-20F960ED68BC}"/>
              </a:ext>
            </a:extLst>
          </p:cNvPr>
          <p:cNvSpPr/>
          <p:nvPr/>
        </p:nvSpPr>
        <p:spPr>
          <a:xfrm>
            <a:off x="380428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4" name="Oval 173">
            <a:extLst>
              <a:ext uri="{FF2B5EF4-FFF2-40B4-BE49-F238E27FC236}">
                <a16:creationId xmlns:a16="http://schemas.microsoft.com/office/drawing/2014/main" id="{A32A8EC4-91B5-D7DB-819A-29785F587406}"/>
              </a:ext>
            </a:extLst>
          </p:cNvPr>
          <p:cNvSpPr/>
          <p:nvPr/>
        </p:nvSpPr>
        <p:spPr>
          <a:xfrm>
            <a:off x="3804286"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5" name="Oval 174">
            <a:extLst>
              <a:ext uri="{FF2B5EF4-FFF2-40B4-BE49-F238E27FC236}">
                <a16:creationId xmlns:a16="http://schemas.microsoft.com/office/drawing/2014/main" id="{0C8633F0-37AA-5F8E-33D9-91260FFE3C86}"/>
              </a:ext>
            </a:extLst>
          </p:cNvPr>
          <p:cNvSpPr/>
          <p:nvPr/>
        </p:nvSpPr>
        <p:spPr>
          <a:xfrm>
            <a:off x="380428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5" name="Oval 364">
            <a:extLst>
              <a:ext uri="{FF2B5EF4-FFF2-40B4-BE49-F238E27FC236}">
                <a16:creationId xmlns:a16="http://schemas.microsoft.com/office/drawing/2014/main" id="{7FA2C10C-8A86-1DAA-413D-0FAA38DACD8F}"/>
              </a:ext>
            </a:extLst>
          </p:cNvPr>
          <p:cNvSpPr/>
          <p:nvPr/>
        </p:nvSpPr>
        <p:spPr>
          <a:xfrm>
            <a:off x="3804286"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5" name="Oval 164">
            <a:extLst>
              <a:ext uri="{FF2B5EF4-FFF2-40B4-BE49-F238E27FC236}">
                <a16:creationId xmlns:a16="http://schemas.microsoft.com/office/drawing/2014/main" id="{615AD3A2-583E-A5A3-C0B3-DB7B5AD175F2}"/>
              </a:ext>
            </a:extLst>
          </p:cNvPr>
          <p:cNvSpPr/>
          <p:nvPr/>
        </p:nvSpPr>
        <p:spPr>
          <a:xfrm>
            <a:off x="8642413"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6" name="Oval 165">
            <a:extLst>
              <a:ext uri="{FF2B5EF4-FFF2-40B4-BE49-F238E27FC236}">
                <a16:creationId xmlns:a16="http://schemas.microsoft.com/office/drawing/2014/main" id="{82C9B682-527C-BCBE-C835-F7507D8358C1}"/>
              </a:ext>
            </a:extLst>
          </p:cNvPr>
          <p:cNvSpPr/>
          <p:nvPr/>
        </p:nvSpPr>
        <p:spPr>
          <a:xfrm>
            <a:off x="8642413"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7" name="Oval 166">
            <a:extLst>
              <a:ext uri="{FF2B5EF4-FFF2-40B4-BE49-F238E27FC236}">
                <a16:creationId xmlns:a16="http://schemas.microsoft.com/office/drawing/2014/main" id="{F7F109ED-730B-E279-2108-908F5DF78B03}"/>
              </a:ext>
            </a:extLst>
          </p:cNvPr>
          <p:cNvSpPr/>
          <p:nvPr/>
        </p:nvSpPr>
        <p:spPr>
          <a:xfrm>
            <a:off x="8642413"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8" name="Oval 167">
            <a:extLst>
              <a:ext uri="{FF2B5EF4-FFF2-40B4-BE49-F238E27FC236}">
                <a16:creationId xmlns:a16="http://schemas.microsoft.com/office/drawing/2014/main" id="{134EB7F7-8834-1B90-EA10-747A8AAE6B23}"/>
              </a:ext>
            </a:extLst>
          </p:cNvPr>
          <p:cNvSpPr/>
          <p:nvPr/>
        </p:nvSpPr>
        <p:spPr>
          <a:xfrm>
            <a:off x="8642413"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9" name="Oval 168">
            <a:extLst>
              <a:ext uri="{FF2B5EF4-FFF2-40B4-BE49-F238E27FC236}">
                <a16:creationId xmlns:a16="http://schemas.microsoft.com/office/drawing/2014/main" id="{B5A78787-DB17-147C-3B28-80116C041156}"/>
              </a:ext>
            </a:extLst>
          </p:cNvPr>
          <p:cNvSpPr/>
          <p:nvPr/>
        </p:nvSpPr>
        <p:spPr>
          <a:xfrm>
            <a:off x="8642413"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58" name="Straight Connector 157">
            <a:extLst>
              <a:ext uri="{FF2B5EF4-FFF2-40B4-BE49-F238E27FC236}">
                <a16:creationId xmlns:a16="http://schemas.microsoft.com/office/drawing/2014/main" id="{A5D255BD-166C-3174-C090-9CD1A631B3E7}"/>
              </a:ext>
            </a:extLst>
          </p:cNvPr>
          <p:cNvCxnSpPr>
            <a:cxnSpLocks/>
          </p:cNvCxnSpPr>
          <p:nvPr/>
        </p:nvCxnSpPr>
        <p:spPr>
          <a:xfrm>
            <a:off x="7170684" y="2823152"/>
            <a:ext cx="263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9" name="Oval 158">
            <a:extLst>
              <a:ext uri="{FF2B5EF4-FFF2-40B4-BE49-F238E27FC236}">
                <a16:creationId xmlns:a16="http://schemas.microsoft.com/office/drawing/2014/main" id="{AA9710E7-017A-61D9-876C-A6AC0B08A532}"/>
              </a:ext>
            </a:extLst>
          </p:cNvPr>
          <p:cNvSpPr/>
          <p:nvPr/>
        </p:nvSpPr>
        <p:spPr>
          <a:xfrm>
            <a:off x="7050034"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0" name="Oval 159">
            <a:extLst>
              <a:ext uri="{FF2B5EF4-FFF2-40B4-BE49-F238E27FC236}">
                <a16:creationId xmlns:a16="http://schemas.microsoft.com/office/drawing/2014/main" id="{6C3709D3-EECC-B942-6A41-EB76D3F2F3D8}"/>
              </a:ext>
            </a:extLst>
          </p:cNvPr>
          <p:cNvSpPr/>
          <p:nvPr/>
        </p:nvSpPr>
        <p:spPr>
          <a:xfrm>
            <a:off x="7050034"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1" name="Oval 160">
            <a:extLst>
              <a:ext uri="{FF2B5EF4-FFF2-40B4-BE49-F238E27FC236}">
                <a16:creationId xmlns:a16="http://schemas.microsoft.com/office/drawing/2014/main" id="{D32E27E9-F142-ED94-BEE1-2022DFC2661F}"/>
              </a:ext>
            </a:extLst>
          </p:cNvPr>
          <p:cNvSpPr/>
          <p:nvPr/>
        </p:nvSpPr>
        <p:spPr>
          <a:xfrm>
            <a:off x="705003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2" name="Oval 161">
            <a:extLst>
              <a:ext uri="{FF2B5EF4-FFF2-40B4-BE49-F238E27FC236}">
                <a16:creationId xmlns:a16="http://schemas.microsoft.com/office/drawing/2014/main" id="{FC4A9212-4DA1-C21F-F9C7-236C08656328}"/>
              </a:ext>
            </a:extLst>
          </p:cNvPr>
          <p:cNvSpPr/>
          <p:nvPr/>
        </p:nvSpPr>
        <p:spPr>
          <a:xfrm>
            <a:off x="705003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3" name="Oval 162">
            <a:extLst>
              <a:ext uri="{FF2B5EF4-FFF2-40B4-BE49-F238E27FC236}">
                <a16:creationId xmlns:a16="http://schemas.microsoft.com/office/drawing/2014/main" id="{78BE8AAD-8227-EA25-9FB3-ADBD3CF79127}"/>
              </a:ext>
            </a:extLst>
          </p:cNvPr>
          <p:cNvSpPr/>
          <p:nvPr/>
        </p:nvSpPr>
        <p:spPr>
          <a:xfrm>
            <a:off x="705003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6" name="Oval 365">
            <a:extLst>
              <a:ext uri="{FF2B5EF4-FFF2-40B4-BE49-F238E27FC236}">
                <a16:creationId xmlns:a16="http://schemas.microsoft.com/office/drawing/2014/main" id="{9DD21BFB-0AF7-81BE-96C4-5F3D257A360D}"/>
              </a:ext>
            </a:extLst>
          </p:cNvPr>
          <p:cNvSpPr/>
          <p:nvPr/>
        </p:nvSpPr>
        <p:spPr>
          <a:xfrm>
            <a:off x="705003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105" name="Group 104">
            <a:extLst>
              <a:ext uri="{FF2B5EF4-FFF2-40B4-BE49-F238E27FC236}">
                <a16:creationId xmlns:a16="http://schemas.microsoft.com/office/drawing/2014/main" id="{C1D896C1-EED6-417D-AD6C-386CC72B131D}"/>
              </a:ext>
            </a:extLst>
          </p:cNvPr>
          <p:cNvGrpSpPr/>
          <p:nvPr/>
        </p:nvGrpSpPr>
        <p:grpSpPr>
          <a:xfrm>
            <a:off x="9036460" y="2801617"/>
            <a:ext cx="275272" cy="2846160"/>
            <a:chOff x="8353864" y="3096438"/>
            <a:chExt cx="275272" cy="3162400"/>
          </a:xfrm>
        </p:grpSpPr>
        <p:cxnSp>
          <p:nvCxnSpPr>
            <p:cNvPr id="152" name="Straight Connector 151">
              <a:extLst>
                <a:ext uri="{FF2B5EF4-FFF2-40B4-BE49-F238E27FC236}">
                  <a16:creationId xmlns:a16="http://schemas.microsoft.com/office/drawing/2014/main" id="{ED33D3D0-90A4-441B-382F-A8CCF60553BD}"/>
                </a:ext>
              </a:extLst>
            </p:cNvPr>
            <p:cNvCxnSpPr>
              <a:cxnSpLocks/>
            </p:cNvCxnSpPr>
            <p:nvPr/>
          </p:nvCxnSpPr>
          <p:spPr>
            <a:xfrm>
              <a:off x="8481937" y="3096438"/>
              <a:ext cx="13864"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3" name="Oval 152">
              <a:extLst>
                <a:ext uri="{FF2B5EF4-FFF2-40B4-BE49-F238E27FC236}">
                  <a16:creationId xmlns:a16="http://schemas.microsoft.com/office/drawing/2014/main" id="{194996D3-65AE-56E0-B3BE-0F13393D6B41}"/>
                </a:ext>
              </a:extLst>
            </p:cNvPr>
            <p:cNvSpPr/>
            <p:nvPr/>
          </p:nvSpPr>
          <p:spPr>
            <a:xfrm>
              <a:off x="8360360"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4" name="Oval 153">
              <a:extLst>
                <a:ext uri="{FF2B5EF4-FFF2-40B4-BE49-F238E27FC236}">
                  <a16:creationId xmlns:a16="http://schemas.microsoft.com/office/drawing/2014/main" id="{11AF7398-4839-4778-B4A0-38DFCCDCE7A4}"/>
                </a:ext>
              </a:extLst>
            </p:cNvPr>
            <p:cNvSpPr/>
            <p:nvPr/>
          </p:nvSpPr>
          <p:spPr>
            <a:xfrm>
              <a:off x="8361489"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5" name="Oval 154">
              <a:extLst>
                <a:ext uri="{FF2B5EF4-FFF2-40B4-BE49-F238E27FC236}">
                  <a16:creationId xmlns:a16="http://schemas.microsoft.com/office/drawing/2014/main" id="{93C90815-0F77-84D3-2505-C179CBD6212C}"/>
                </a:ext>
              </a:extLst>
            </p:cNvPr>
            <p:cNvSpPr/>
            <p:nvPr/>
          </p:nvSpPr>
          <p:spPr>
            <a:xfrm>
              <a:off x="8353864" y="599119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6" name="Oval 155">
              <a:extLst>
                <a:ext uri="{FF2B5EF4-FFF2-40B4-BE49-F238E27FC236}">
                  <a16:creationId xmlns:a16="http://schemas.microsoft.com/office/drawing/2014/main" id="{18124BAE-20B3-9CB9-C65A-BB888CDBDC11}"/>
                </a:ext>
              </a:extLst>
            </p:cNvPr>
            <p:cNvSpPr/>
            <p:nvPr/>
          </p:nvSpPr>
          <p:spPr>
            <a:xfrm>
              <a:off x="835386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7" name="Oval 156">
              <a:extLst>
                <a:ext uri="{FF2B5EF4-FFF2-40B4-BE49-F238E27FC236}">
                  <a16:creationId xmlns:a16="http://schemas.microsoft.com/office/drawing/2014/main" id="{7696FB2E-8CAA-55F3-3821-DB5D33E062B7}"/>
                </a:ext>
              </a:extLst>
            </p:cNvPr>
            <p:cNvSpPr/>
            <p:nvPr/>
          </p:nvSpPr>
          <p:spPr>
            <a:xfrm>
              <a:off x="8360358" y="4645707"/>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sp>
        <p:nvSpPr>
          <p:cNvPr id="367" name="Oval 366">
            <a:extLst>
              <a:ext uri="{FF2B5EF4-FFF2-40B4-BE49-F238E27FC236}">
                <a16:creationId xmlns:a16="http://schemas.microsoft.com/office/drawing/2014/main" id="{413E54BB-5A9F-8C37-41F7-9C6FEE45D9C2}"/>
              </a:ext>
            </a:extLst>
          </p:cNvPr>
          <p:cNvSpPr/>
          <p:nvPr/>
        </p:nvSpPr>
        <p:spPr>
          <a:xfrm>
            <a:off x="5803767"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8" name="Oval 367">
            <a:extLst>
              <a:ext uri="{FF2B5EF4-FFF2-40B4-BE49-F238E27FC236}">
                <a16:creationId xmlns:a16="http://schemas.microsoft.com/office/drawing/2014/main" id="{A205B6C8-1CB0-D1FC-D642-E46F0868565C}"/>
              </a:ext>
            </a:extLst>
          </p:cNvPr>
          <p:cNvSpPr/>
          <p:nvPr/>
        </p:nvSpPr>
        <p:spPr>
          <a:xfrm>
            <a:off x="5803767"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7" name="Oval 146">
            <a:extLst>
              <a:ext uri="{FF2B5EF4-FFF2-40B4-BE49-F238E27FC236}">
                <a16:creationId xmlns:a16="http://schemas.microsoft.com/office/drawing/2014/main" id="{77AF2AF8-6392-9833-CE36-46D2657846A6}"/>
              </a:ext>
            </a:extLst>
          </p:cNvPr>
          <p:cNvSpPr/>
          <p:nvPr/>
        </p:nvSpPr>
        <p:spPr>
          <a:xfrm>
            <a:off x="58037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9" name="Oval 148">
            <a:extLst>
              <a:ext uri="{FF2B5EF4-FFF2-40B4-BE49-F238E27FC236}">
                <a16:creationId xmlns:a16="http://schemas.microsoft.com/office/drawing/2014/main" id="{ADE5C13F-95B7-45F2-FCAB-DD6D06768EB5}"/>
              </a:ext>
            </a:extLst>
          </p:cNvPr>
          <p:cNvSpPr/>
          <p:nvPr/>
        </p:nvSpPr>
        <p:spPr>
          <a:xfrm>
            <a:off x="580376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0" name="Oval 149">
            <a:extLst>
              <a:ext uri="{FF2B5EF4-FFF2-40B4-BE49-F238E27FC236}">
                <a16:creationId xmlns:a16="http://schemas.microsoft.com/office/drawing/2014/main" id="{60CA9834-DC50-B64B-D342-E54983DFFBA3}"/>
              </a:ext>
            </a:extLst>
          </p:cNvPr>
          <p:cNvSpPr/>
          <p:nvPr/>
        </p:nvSpPr>
        <p:spPr>
          <a:xfrm>
            <a:off x="5803767"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0" name="Straight Connector 139">
            <a:extLst>
              <a:ext uri="{FF2B5EF4-FFF2-40B4-BE49-F238E27FC236}">
                <a16:creationId xmlns:a16="http://schemas.microsoft.com/office/drawing/2014/main" id="{58AADD3C-A1F9-8D6E-F35E-48B0378EBCAC}"/>
              </a:ext>
            </a:extLst>
          </p:cNvPr>
          <p:cNvCxnSpPr>
            <a:cxnSpLocks/>
          </p:cNvCxnSpPr>
          <p:nvPr/>
        </p:nvCxnSpPr>
        <p:spPr>
          <a:xfrm>
            <a:off x="3524436" y="2823152"/>
            <a:ext cx="317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26BE7F0B-5BB1-3DFA-7F14-92A94AA2ECC9}"/>
              </a:ext>
            </a:extLst>
          </p:cNvPr>
          <p:cNvSpPr/>
          <p:nvPr/>
        </p:nvSpPr>
        <p:spPr>
          <a:xfrm>
            <a:off x="3403260"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2" name="Oval 141">
            <a:extLst>
              <a:ext uri="{FF2B5EF4-FFF2-40B4-BE49-F238E27FC236}">
                <a16:creationId xmlns:a16="http://schemas.microsoft.com/office/drawing/2014/main" id="{472C00F6-DB0B-E4C8-D99A-FDEFA5894DD7}"/>
              </a:ext>
            </a:extLst>
          </p:cNvPr>
          <p:cNvSpPr/>
          <p:nvPr/>
        </p:nvSpPr>
        <p:spPr>
          <a:xfrm>
            <a:off x="3415022"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4" name="Oval 143">
            <a:extLst>
              <a:ext uri="{FF2B5EF4-FFF2-40B4-BE49-F238E27FC236}">
                <a16:creationId xmlns:a16="http://schemas.microsoft.com/office/drawing/2014/main" id="{508DC767-0436-9973-23E8-F7EA88EAF2B1}"/>
              </a:ext>
            </a:extLst>
          </p:cNvPr>
          <p:cNvSpPr/>
          <p:nvPr/>
        </p:nvSpPr>
        <p:spPr>
          <a:xfrm>
            <a:off x="340739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5" name="Oval 144">
            <a:extLst>
              <a:ext uri="{FF2B5EF4-FFF2-40B4-BE49-F238E27FC236}">
                <a16:creationId xmlns:a16="http://schemas.microsoft.com/office/drawing/2014/main" id="{3DAEE947-CE33-A2FD-065E-BAD6A7740A74}"/>
              </a:ext>
            </a:extLst>
          </p:cNvPr>
          <p:cNvSpPr/>
          <p:nvPr/>
        </p:nvSpPr>
        <p:spPr>
          <a:xfrm>
            <a:off x="341389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9" name="Oval 368">
            <a:extLst>
              <a:ext uri="{FF2B5EF4-FFF2-40B4-BE49-F238E27FC236}">
                <a16:creationId xmlns:a16="http://schemas.microsoft.com/office/drawing/2014/main" id="{D871B817-E526-7A8B-4C36-BBA6F0846E7A}"/>
              </a:ext>
            </a:extLst>
          </p:cNvPr>
          <p:cNvSpPr/>
          <p:nvPr/>
        </p:nvSpPr>
        <p:spPr>
          <a:xfrm>
            <a:off x="342272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5" name="Oval 134">
            <a:extLst>
              <a:ext uri="{FF2B5EF4-FFF2-40B4-BE49-F238E27FC236}">
                <a16:creationId xmlns:a16="http://schemas.microsoft.com/office/drawing/2014/main" id="{01F78938-C9F7-285F-B0BE-3542D14E54A2}"/>
              </a:ext>
            </a:extLst>
          </p:cNvPr>
          <p:cNvSpPr/>
          <p:nvPr/>
        </p:nvSpPr>
        <p:spPr>
          <a:xfrm>
            <a:off x="5417787"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6" name="Oval 135">
            <a:extLst>
              <a:ext uri="{FF2B5EF4-FFF2-40B4-BE49-F238E27FC236}">
                <a16:creationId xmlns:a16="http://schemas.microsoft.com/office/drawing/2014/main" id="{B0FBE8C0-6F35-DA78-6589-F37C2B916D9C}"/>
              </a:ext>
            </a:extLst>
          </p:cNvPr>
          <p:cNvSpPr/>
          <p:nvPr/>
        </p:nvSpPr>
        <p:spPr>
          <a:xfrm>
            <a:off x="541891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7" name="Oval 136">
            <a:extLst>
              <a:ext uri="{FF2B5EF4-FFF2-40B4-BE49-F238E27FC236}">
                <a16:creationId xmlns:a16="http://schemas.microsoft.com/office/drawing/2014/main" id="{59F03C49-D457-103C-9B69-4EB783448C76}"/>
              </a:ext>
            </a:extLst>
          </p:cNvPr>
          <p:cNvSpPr/>
          <p:nvPr/>
        </p:nvSpPr>
        <p:spPr>
          <a:xfrm>
            <a:off x="54221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8" name="Oval 137">
            <a:extLst>
              <a:ext uri="{FF2B5EF4-FFF2-40B4-BE49-F238E27FC236}">
                <a16:creationId xmlns:a16="http://schemas.microsoft.com/office/drawing/2014/main" id="{0CC16BAE-42CD-7CF6-4C36-194C78D829D8}"/>
              </a:ext>
            </a:extLst>
          </p:cNvPr>
          <p:cNvSpPr/>
          <p:nvPr/>
        </p:nvSpPr>
        <p:spPr>
          <a:xfrm>
            <a:off x="542217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9" name="Oval 138">
            <a:extLst>
              <a:ext uri="{FF2B5EF4-FFF2-40B4-BE49-F238E27FC236}">
                <a16:creationId xmlns:a16="http://schemas.microsoft.com/office/drawing/2014/main" id="{F44B56F9-76C8-FF76-EAB4-7EEDA28EF472}"/>
              </a:ext>
            </a:extLst>
          </p:cNvPr>
          <p:cNvSpPr/>
          <p:nvPr/>
        </p:nvSpPr>
        <p:spPr>
          <a:xfrm>
            <a:off x="541778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8" name="Straight Connector 127">
            <a:extLst>
              <a:ext uri="{FF2B5EF4-FFF2-40B4-BE49-F238E27FC236}">
                <a16:creationId xmlns:a16="http://schemas.microsoft.com/office/drawing/2014/main" id="{0872768F-B742-7883-EC46-6290798B4906}"/>
              </a:ext>
            </a:extLst>
          </p:cNvPr>
          <p:cNvCxnSpPr>
            <a:cxnSpLocks/>
          </p:cNvCxnSpPr>
          <p:nvPr/>
        </p:nvCxnSpPr>
        <p:spPr>
          <a:xfrm>
            <a:off x="11195706" y="2823152"/>
            <a:ext cx="1063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9107B9EE-D9C0-9E00-D4B7-9D31AA04F9E3}"/>
              </a:ext>
            </a:extLst>
          </p:cNvPr>
          <p:cNvSpPr/>
          <p:nvPr/>
        </p:nvSpPr>
        <p:spPr>
          <a:xfrm>
            <a:off x="11067202"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0" name="Oval 129">
            <a:extLst>
              <a:ext uri="{FF2B5EF4-FFF2-40B4-BE49-F238E27FC236}">
                <a16:creationId xmlns:a16="http://schemas.microsoft.com/office/drawing/2014/main" id="{E71C8B76-BFD0-E51F-1DAB-5EA79BDAD815}"/>
              </a:ext>
            </a:extLst>
          </p:cNvPr>
          <p:cNvSpPr/>
          <p:nvPr/>
        </p:nvSpPr>
        <p:spPr>
          <a:xfrm>
            <a:off x="11067202"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1" name="Oval 130">
            <a:extLst>
              <a:ext uri="{FF2B5EF4-FFF2-40B4-BE49-F238E27FC236}">
                <a16:creationId xmlns:a16="http://schemas.microsoft.com/office/drawing/2014/main" id="{6C3B429C-BCC2-E0D7-30DC-4220E8A99461}"/>
              </a:ext>
            </a:extLst>
          </p:cNvPr>
          <p:cNvSpPr/>
          <p:nvPr/>
        </p:nvSpPr>
        <p:spPr>
          <a:xfrm>
            <a:off x="1106720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2" name="Oval 131">
            <a:extLst>
              <a:ext uri="{FF2B5EF4-FFF2-40B4-BE49-F238E27FC236}">
                <a16:creationId xmlns:a16="http://schemas.microsoft.com/office/drawing/2014/main" id="{53C567E2-B58A-91E6-E180-069D3DA93BE6}"/>
              </a:ext>
            </a:extLst>
          </p:cNvPr>
          <p:cNvSpPr/>
          <p:nvPr/>
        </p:nvSpPr>
        <p:spPr>
          <a:xfrm>
            <a:off x="11067202"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3" name="Oval 132">
            <a:extLst>
              <a:ext uri="{FF2B5EF4-FFF2-40B4-BE49-F238E27FC236}">
                <a16:creationId xmlns:a16="http://schemas.microsoft.com/office/drawing/2014/main" id="{BF0AF3A3-5A35-151E-6BAC-AE2F2FB79866}"/>
              </a:ext>
            </a:extLst>
          </p:cNvPr>
          <p:cNvSpPr/>
          <p:nvPr/>
        </p:nvSpPr>
        <p:spPr>
          <a:xfrm>
            <a:off x="11067202"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2" name="Straight Connector 121">
            <a:extLst>
              <a:ext uri="{FF2B5EF4-FFF2-40B4-BE49-F238E27FC236}">
                <a16:creationId xmlns:a16="http://schemas.microsoft.com/office/drawing/2014/main" id="{6B275D0B-CC96-BECF-1186-FF85AA673419}"/>
              </a:ext>
            </a:extLst>
          </p:cNvPr>
          <p:cNvCxnSpPr>
            <a:cxnSpLocks/>
          </p:cNvCxnSpPr>
          <p:nvPr/>
        </p:nvCxnSpPr>
        <p:spPr>
          <a:xfrm>
            <a:off x="8361175"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3" name="Oval 122">
            <a:extLst>
              <a:ext uri="{FF2B5EF4-FFF2-40B4-BE49-F238E27FC236}">
                <a16:creationId xmlns:a16="http://schemas.microsoft.com/office/drawing/2014/main" id="{631A6E04-AAF7-7D0D-D36B-273C2DA3F0AF}"/>
              </a:ext>
            </a:extLst>
          </p:cNvPr>
          <p:cNvSpPr/>
          <p:nvPr/>
        </p:nvSpPr>
        <p:spPr>
          <a:xfrm>
            <a:off x="8228629"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4" name="Oval 123">
            <a:extLst>
              <a:ext uri="{FF2B5EF4-FFF2-40B4-BE49-F238E27FC236}">
                <a16:creationId xmlns:a16="http://schemas.microsoft.com/office/drawing/2014/main" id="{6C6769A0-2C3B-C1CF-DC4B-35DE9CFB5C36}"/>
              </a:ext>
            </a:extLst>
          </p:cNvPr>
          <p:cNvSpPr/>
          <p:nvPr/>
        </p:nvSpPr>
        <p:spPr>
          <a:xfrm>
            <a:off x="8228629"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5" name="Oval 124">
            <a:extLst>
              <a:ext uri="{FF2B5EF4-FFF2-40B4-BE49-F238E27FC236}">
                <a16:creationId xmlns:a16="http://schemas.microsoft.com/office/drawing/2014/main" id="{7C244ED5-C1AE-BC81-9840-A212D0165C07}"/>
              </a:ext>
            </a:extLst>
          </p:cNvPr>
          <p:cNvSpPr/>
          <p:nvPr/>
        </p:nvSpPr>
        <p:spPr>
          <a:xfrm>
            <a:off x="82286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6" name="Oval 125">
            <a:extLst>
              <a:ext uri="{FF2B5EF4-FFF2-40B4-BE49-F238E27FC236}">
                <a16:creationId xmlns:a16="http://schemas.microsoft.com/office/drawing/2014/main" id="{5B1070AF-C590-1479-04E4-F68C2BFD86AF}"/>
              </a:ext>
            </a:extLst>
          </p:cNvPr>
          <p:cNvSpPr/>
          <p:nvPr/>
        </p:nvSpPr>
        <p:spPr>
          <a:xfrm>
            <a:off x="822862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7" name="Oval 126">
            <a:extLst>
              <a:ext uri="{FF2B5EF4-FFF2-40B4-BE49-F238E27FC236}">
                <a16:creationId xmlns:a16="http://schemas.microsoft.com/office/drawing/2014/main" id="{56B739C6-6C49-D224-0D39-AD6FD2B2C605}"/>
              </a:ext>
            </a:extLst>
          </p:cNvPr>
          <p:cNvSpPr/>
          <p:nvPr/>
        </p:nvSpPr>
        <p:spPr>
          <a:xfrm>
            <a:off x="822862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7" name="Oval 116">
            <a:extLst>
              <a:ext uri="{FF2B5EF4-FFF2-40B4-BE49-F238E27FC236}">
                <a16:creationId xmlns:a16="http://schemas.microsoft.com/office/drawing/2014/main" id="{DBF92076-B71C-3022-6995-5A0A3A24EB41}"/>
              </a:ext>
            </a:extLst>
          </p:cNvPr>
          <p:cNvSpPr/>
          <p:nvPr/>
        </p:nvSpPr>
        <p:spPr>
          <a:xfrm>
            <a:off x="624665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8" name="Oval 117">
            <a:extLst>
              <a:ext uri="{FF2B5EF4-FFF2-40B4-BE49-F238E27FC236}">
                <a16:creationId xmlns:a16="http://schemas.microsoft.com/office/drawing/2014/main" id="{547200C2-E3CA-5F19-1EB9-AB1C2F4956DC}"/>
              </a:ext>
            </a:extLst>
          </p:cNvPr>
          <p:cNvSpPr/>
          <p:nvPr/>
        </p:nvSpPr>
        <p:spPr>
          <a:xfrm>
            <a:off x="6246656"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9" name="Oval 118">
            <a:extLst>
              <a:ext uri="{FF2B5EF4-FFF2-40B4-BE49-F238E27FC236}">
                <a16:creationId xmlns:a16="http://schemas.microsoft.com/office/drawing/2014/main" id="{7982CE77-6FA2-1DA1-D10B-BD78908E56ED}"/>
              </a:ext>
            </a:extLst>
          </p:cNvPr>
          <p:cNvSpPr/>
          <p:nvPr/>
        </p:nvSpPr>
        <p:spPr>
          <a:xfrm>
            <a:off x="624665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0" name="Oval 119">
            <a:extLst>
              <a:ext uri="{FF2B5EF4-FFF2-40B4-BE49-F238E27FC236}">
                <a16:creationId xmlns:a16="http://schemas.microsoft.com/office/drawing/2014/main" id="{1F9162B2-FD89-9AD5-D8A3-BACE8DDC1D0A}"/>
              </a:ext>
            </a:extLst>
          </p:cNvPr>
          <p:cNvSpPr/>
          <p:nvPr/>
        </p:nvSpPr>
        <p:spPr>
          <a:xfrm>
            <a:off x="6246656"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1" name="Oval 120">
            <a:extLst>
              <a:ext uri="{FF2B5EF4-FFF2-40B4-BE49-F238E27FC236}">
                <a16:creationId xmlns:a16="http://schemas.microsoft.com/office/drawing/2014/main" id="{D964E8FD-DF1F-030A-4508-C4A77C2D7060}"/>
              </a:ext>
            </a:extLst>
          </p:cNvPr>
          <p:cNvSpPr/>
          <p:nvPr/>
        </p:nvSpPr>
        <p:spPr>
          <a:xfrm>
            <a:off x="624665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3" name="TextBox 112">
            <a:extLst>
              <a:ext uri="{FF2B5EF4-FFF2-40B4-BE49-F238E27FC236}">
                <a16:creationId xmlns:a16="http://schemas.microsoft.com/office/drawing/2014/main" id="{5B580AE1-CBA1-E83D-BCEA-618A7BF354A2}"/>
              </a:ext>
            </a:extLst>
          </p:cNvPr>
          <p:cNvSpPr txBox="1"/>
          <p:nvPr/>
        </p:nvSpPr>
        <p:spPr>
          <a:xfrm>
            <a:off x="3472371" y="3847410"/>
            <a:ext cx="532681" cy="36009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 + 4% (Feb 26)</a:t>
            </a:r>
          </a:p>
        </p:txBody>
      </p:sp>
      <p:sp>
        <p:nvSpPr>
          <p:cNvPr id="114" name="TextBox 113">
            <a:extLst>
              <a:ext uri="{FF2B5EF4-FFF2-40B4-BE49-F238E27FC236}">
                <a16:creationId xmlns:a16="http://schemas.microsoft.com/office/drawing/2014/main" id="{FC1D417B-F88F-FFDC-647F-479B5F6B4EED}"/>
              </a:ext>
            </a:extLst>
          </p:cNvPr>
          <p:cNvSpPr txBox="1"/>
          <p:nvPr/>
        </p:nvSpPr>
        <p:spPr>
          <a:xfrm>
            <a:off x="5869976"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pic>
        <p:nvPicPr>
          <p:cNvPr id="268" name="Notre Dame" descr="Notre Dame Fighting Irish - Wikipedia">
            <a:extLst>
              <a:ext uri="{FF2B5EF4-FFF2-40B4-BE49-F238E27FC236}">
                <a16:creationId xmlns:a16="http://schemas.microsoft.com/office/drawing/2014/main" id="{971D08EA-3631-B1FF-8151-E97A0F35DE5C}"/>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800132" y="1239667"/>
            <a:ext cx="319460" cy="287514"/>
          </a:xfrm>
          <a:prstGeom prst="rect">
            <a:avLst/>
          </a:prstGeom>
          <a:noFill/>
          <a:extLst>
            <a:ext uri="{909E8E84-426E-40DD-AFC4-6F175D3DCCD1}">
              <a14:hiddenFill xmlns:a14="http://schemas.microsoft.com/office/drawing/2010/main">
                <a:solidFill>
                  <a:srgbClr val="FFFFFF"/>
                </a:solidFill>
              </a14:hiddenFill>
            </a:ext>
          </a:extLst>
        </p:spPr>
      </p:pic>
      <p:pic>
        <p:nvPicPr>
          <p:cNvPr id="269" name="Rice" descr="Image result for rice crest">
            <a:extLst>
              <a:ext uri="{FF2B5EF4-FFF2-40B4-BE49-F238E27FC236}">
                <a16:creationId xmlns:a16="http://schemas.microsoft.com/office/drawing/2014/main" id="{83E4516B-9805-46C3-80C2-70CB631B2F0C}"/>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8564392" y="1204456"/>
            <a:ext cx="457175" cy="365760"/>
          </a:xfrm>
          <a:prstGeom prst="rect">
            <a:avLst/>
          </a:prstGeom>
          <a:noFill/>
          <a:extLst>
            <a:ext uri="{909E8E84-426E-40DD-AFC4-6F175D3DCCD1}">
              <a14:hiddenFill xmlns:a14="http://schemas.microsoft.com/office/drawing/2010/main">
                <a:solidFill>
                  <a:srgbClr val="FFFFFF"/>
                </a:solidFill>
              </a14:hiddenFill>
            </a:ext>
          </a:extLst>
        </p:spPr>
      </p:pic>
      <p:grpSp>
        <p:nvGrpSpPr>
          <p:cNvPr id="281" name="Group 280">
            <a:extLst>
              <a:ext uri="{FF2B5EF4-FFF2-40B4-BE49-F238E27FC236}">
                <a16:creationId xmlns:a16="http://schemas.microsoft.com/office/drawing/2014/main" id="{90B6600A-0EC7-C79F-2927-6333BF032553}"/>
              </a:ext>
            </a:extLst>
          </p:cNvPr>
          <p:cNvGrpSpPr/>
          <p:nvPr/>
        </p:nvGrpSpPr>
        <p:grpSpPr>
          <a:xfrm>
            <a:off x="208656" y="5913850"/>
            <a:ext cx="5111088" cy="228524"/>
            <a:chOff x="246049" y="6540021"/>
            <a:chExt cx="5111088" cy="253916"/>
          </a:xfrm>
        </p:grpSpPr>
        <p:sp>
          <p:nvSpPr>
            <p:cNvPr id="282" name="Oval 281">
              <a:extLst>
                <a:ext uri="{FF2B5EF4-FFF2-40B4-BE49-F238E27FC236}">
                  <a16:creationId xmlns:a16="http://schemas.microsoft.com/office/drawing/2014/main" id="{B42548AB-1A50-1E13-F5BA-7F7DB40E715B}"/>
                </a:ext>
              </a:extLst>
            </p:cNvPr>
            <p:cNvSpPr/>
            <p:nvPr/>
          </p:nvSpPr>
          <p:spPr>
            <a:xfrm>
              <a:off x="246049" y="6570815"/>
              <a:ext cx="214840" cy="215413"/>
            </a:xfrm>
            <a:prstGeom prst="ellipse">
              <a:avLst/>
            </a:prstGeom>
            <a:solidFill>
              <a:schemeClr val="accent2">
                <a:lumMod val="60000"/>
                <a:lumOff val="4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3" name="TextBox 282">
              <a:extLst>
                <a:ext uri="{FF2B5EF4-FFF2-40B4-BE49-F238E27FC236}">
                  <a16:creationId xmlns:a16="http://schemas.microsoft.com/office/drawing/2014/main" id="{BDCAC290-9582-AFD5-FBD5-DA800600C19C}"/>
                </a:ext>
              </a:extLst>
            </p:cNvPr>
            <p:cNvSpPr txBox="1"/>
            <p:nvPr/>
          </p:nvSpPr>
          <p:spPr>
            <a:xfrm>
              <a:off x="491703" y="6540021"/>
              <a:ext cx="4865434"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“frost” / staff, layoffs expected, and/or expense reductions under review</a:t>
              </a:r>
            </a:p>
          </p:txBody>
        </p:sp>
      </p:grpSp>
      <p:grpSp>
        <p:nvGrpSpPr>
          <p:cNvPr id="284" name="Group 283">
            <a:extLst>
              <a:ext uri="{FF2B5EF4-FFF2-40B4-BE49-F238E27FC236}">
                <a16:creationId xmlns:a16="http://schemas.microsoft.com/office/drawing/2014/main" id="{7FA10906-AD22-AD6F-7F39-0FD90BFEBD30}"/>
              </a:ext>
            </a:extLst>
          </p:cNvPr>
          <p:cNvGrpSpPr/>
          <p:nvPr/>
        </p:nvGrpSpPr>
        <p:grpSpPr>
          <a:xfrm>
            <a:off x="5613132" y="5898614"/>
            <a:ext cx="4958560" cy="228524"/>
            <a:chOff x="5879459" y="6509229"/>
            <a:chExt cx="4958560" cy="253916"/>
          </a:xfrm>
        </p:grpSpPr>
        <p:sp>
          <p:nvSpPr>
            <p:cNvPr id="285" name="Oval 284">
              <a:extLst>
                <a:ext uri="{FF2B5EF4-FFF2-40B4-BE49-F238E27FC236}">
                  <a16:creationId xmlns:a16="http://schemas.microsoft.com/office/drawing/2014/main" id="{325BFC6F-3E0D-94F8-D160-EDA8A5E83627}"/>
                </a:ext>
              </a:extLst>
            </p:cNvPr>
            <p:cNvSpPr/>
            <p:nvPr/>
          </p:nvSpPr>
          <p:spPr>
            <a:xfrm>
              <a:off x="5879459" y="6540024"/>
              <a:ext cx="214840" cy="215413"/>
            </a:xfrm>
            <a:prstGeom prst="ellipse">
              <a:avLst/>
            </a:prstGeom>
            <a:solidFill>
              <a:srgbClr val="FFFFFF"/>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6" name="TextBox 285">
              <a:extLst>
                <a:ext uri="{FF2B5EF4-FFF2-40B4-BE49-F238E27FC236}">
                  <a16:creationId xmlns:a16="http://schemas.microsoft.com/office/drawing/2014/main" id="{862B3777-77AF-620C-4686-9D56FD258EDE}"/>
                </a:ext>
              </a:extLst>
            </p:cNvPr>
            <p:cNvSpPr txBox="1"/>
            <p:nvPr/>
          </p:nvSpPr>
          <p:spPr>
            <a:xfrm>
              <a:off x="6134487" y="6509229"/>
              <a:ext cx="4703532"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“freeze”, layoffs and/or expense reductions communicated/confirmed</a:t>
              </a:r>
            </a:p>
          </p:txBody>
        </p:sp>
      </p:grpSp>
      <p:sp>
        <p:nvSpPr>
          <p:cNvPr id="289" name="TextBox 288">
            <a:extLst>
              <a:ext uri="{FF2B5EF4-FFF2-40B4-BE49-F238E27FC236}">
                <a16:creationId xmlns:a16="http://schemas.microsoft.com/office/drawing/2014/main" id="{EEEA67B6-9EDF-1F4D-B1BA-4A04CF688971}"/>
              </a:ext>
            </a:extLst>
          </p:cNvPr>
          <p:cNvSpPr txBox="1"/>
          <p:nvPr/>
        </p:nvSpPr>
        <p:spPr>
          <a:xfrm>
            <a:off x="7053826"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0" name="TextBox 289">
            <a:extLst>
              <a:ext uri="{FF2B5EF4-FFF2-40B4-BE49-F238E27FC236}">
                <a16:creationId xmlns:a16="http://schemas.microsoft.com/office/drawing/2014/main" id="{46A885C6-5377-C14D-8521-3F2C0C65AEFE}"/>
              </a:ext>
            </a:extLst>
          </p:cNvPr>
          <p:cNvSpPr txBox="1"/>
          <p:nvPr/>
        </p:nvSpPr>
        <p:spPr>
          <a:xfrm>
            <a:off x="7454358" y="3078366"/>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1" name="TextBox 290">
            <a:extLst>
              <a:ext uri="{FF2B5EF4-FFF2-40B4-BE49-F238E27FC236}">
                <a16:creationId xmlns:a16="http://schemas.microsoft.com/office/drawing/2014/main" id="{ED2CEAE6-DB1C-FC4D-0004-5CE5D756D2D9}"/>
              </a:ext>
            </a:extLst>
          </p:cNvPr>
          <p:cNvSpPr txBox="1"/>
          <p:nvPr/>
        </p:nvSpPr>
        <p:spPr>
          <a:xfrm>
            <a:off x="10176072"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294" name="TextBox 293">
            <a:extLst>
              <a:ext uri="{FF2B5EF4-FFF2-40B4-BE49-F238E27FC236}">
                <a16:creationId xmlns:a16="http://schemas.microsoft.com/office/drawing/2014/main" id="{735A9A4A-3E63-D7EE-2DBB-A20F379546B6}"/>
              </a:ext>
            </a:extLst>
          </p:cNvPr>
          <p:cNvSpPr txBox="1"/>
          <p:nvPr/>
        </p:nvSpPr>
        <p:spPr>
          <a:xfrm>
            <a:off x="2969921"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5" name="TextBox 294">
            <a:extLst>
              <a:ext uri="{FF2B5EF4-FFF2-40B4-BE49-F238E27FC236}">
                <a16:creationId xmlns:a16="http://schemas.microsoft.com/office/drawing/2014/main" id="{38C751B3-D817-F4C7-5B47-1CB1749FD112}"/>
              </a:ext>
            </a:extLst>
          </p:cNvPr>
          <p:cNvSpPr txBox="1"/>
          <p:nvPr/>
        </p:nvSpPr>
        <p:spPr>
          <a:xfrm>
            <a:off x="4955298"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7" name="TextBox 296">
            <a:extLst>
              <a:ext uri="{FF2B5EF4-FFF2-40B4-BE49-F238E27FC236}">
                <a16:creationId xmlns:a16="http://schemas.microsoft.com/office/drawing/2014/main" id="{FCD0F29C-43CA-1180-6EB3-85580859FED9}"/>
              </a:ext>
            </a:extLst>
          </p:cNvPr>
          <p:cNvSpPr txBox="1"/>
          <p:nvPr/>
        </p:nvSpPr>
        <p:spPr>
          <a:xfrm>
            <a:off x="2541238" y="308294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8" name="TextBox 297">
            <a:extLst>
              <a:ext uri="{FF2B5EF4-FFF2-40B4-BE49-F238E27FC236}">
                <a16:creationId xmlns:a16="http://schemas.microsoft.com/office/drawing/2014/main" id="{40954602-7B06-9A3E-1C8D-32FF57BB307C}"/>
              </a:ext>
            </a:extLst>
          </p:cNvPr>
          <p:cNvSpPr txBox="1"/>
          <p:nvPr/>
        </p:nvSpPr>
        <p:spPr>
          <a:xfrm>
            <a:off x="5807559" y="3078365"/>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9" name="TextBox 298">
            <a:extLst>
              <a:ext uri="{FF2B5EF4-FFF2-40B4-BE49-F238E27FC236}">
                <a16:creationId xmlns:a16="http://schemas.microsoft.com/office/drawing/2014/main" id="{42CEF99D-67E6-E983-1240-6528458B4CB5}"/>
              </a:ext>
            </a:extLst>
          </p:cNvPr>
          <p:cNvSpPr txBox="1"/>
          <p:nvPr/>
        </p:nvSpPr>
        <p:spPr>
          <a:xfrm>
            <a:off x="6193107" y="3082703"/>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300" name="TextBox 299">
            <a:extLst>
              <a:ext uri="{FF2B5EF4-FFF2-40B4-BE49-F238E27FC236}">
                <a16:creationId xmlns:a16="http://schemas.microsoft.com/office/drawing/2014/main" id="{2EB41FAD-B5B7-CDEA-A540-91485DA21B87}"/>
              </a:ext>
            </a:extLst>
          </p:cNvPr>
          <p:cNvSpPr txBox="1"/>
          <p:nvPr/>
        </p:nvSpPr>
        <p:spPr>
          <a:xfrm>
            <a:off x="8237864"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01" name="TextBox 300">
            <a:extLst>
              <a:ext uri="{FF2B5EF4-FFF2-40B4-BE49-F238E27FC236}">
                <a16:creationId xmlns:a16="http://schemas.microsoft.com/office/drawing/2014/main" id="{C5ECF79A-01BB-2609-F786-AEA775124B10}"/>
              </a:ext>
            </a:extLst>
          </p:cNvPr>
          <p:cNvSpPr txBox="1"/>
          <p:nvPr/>
        </p:nvSpPr>
        <p:spPr>
          <a:xfrm>
            <a:off x="4546043"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pic>
        <p:nvPicPr>
          <p:cNvPr id="307" name="Picture 306" descr="Branded Merchandise - USC Brand and Identity Guidelines">
            <a:extLst>
              <a:ext uri="{FF2B5EF4-FFF2-40B4-BE49-F238E27FC236}">
                <a16:creationId xmlns:a16="http://schemas.microsoft.com/office/drawing/2014/main" id="{4FA9F787-B325-0CCD-48C6-7357EFA15E28}"/>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5396694" y="1276175"/>
            <a:ext cx="332499" cy="206385"/>
          </a:xfrm>
          <a:prstGeom prst="rect">
            <a:avLst/>
          </a:prstGeom>
          <a:noFill/>
          <a:extLst>
            <a:ext uri="{909E8E84-426E-40DD-AFC4-6F175D3DCCD1}">
              <a14:hiddenFill xmlns:a14="http://schemas.microsoft.com/office/drawing/2010/main">
                <a:solidFill>
                  <a:srgbClr val="FFFFFF"/>
                </a:solidFill>
              </a14:hiddenFill>
            </a:ext>
          </a:extLst>
        </p:spPr>
      </p:pic>
      <p:sp>
        <p:nvSpPr>
          <p:cNvPr id="308" name="TextBox 307">
            <a:extLst>
              <a:ext uri="{FF2B5EF4-FFF2-40B4-BE49-F238E27FC236}">
                <a16:creationId xmlns:a16="http://schemas.microsoft.com/office/drawing/2014/main" id="{B4FAE366-7268-9FB6-A556-A0634835468A}"/>
              </a:ext>
            </a:extLst>
          </p:cNvPr>
          <p:cNvSpPr txBox="1"/>
          <p:nvPr/>
        </p:nvSpPr>
        <p:spPr>
          <a:xfrm>
            <a:off x="3748285"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09" name="TextBox 308">
            <a:extLst>
              <a:ext uri="{FF2B5EF4-FFF2-40B4-BE49-F238E27FC236}">
                <a16:creationId xmlns:a16="http://schemas.microsoft.com/office/drawing/2014/main" id="{70FE8976-AF23-8ADE-D644-B59819833387}"/>
              </a:ext>
            </a:extLst>
          </p:cNvPr>
          <p:cNvSpPr txBox="1"/>
          <p:nvPr/>
        </p:nvSpPr>
        <p:spPr>
          <a:xfrm>
            <a:off x="5376407"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graphicFrame>
        <p:nvGraphicFramePr>
          <p:cNvPr id="310" name="Table 309">
            <a:extLst>
              <a:ext uri="{FF2B5EF4-FFF2-40B4-BE49-F238E27FC236}">
                <a16:creationId xmlns:a16="http://schemas.microsoft.com/office/drawing/2014/main" id="{ED46F291-746B-BD2B-960D-DC807A318F71}"/>
              </a:ext>
            </a:extLst>
          </p:cNvPr>
          <p:cNvGraphicFramePr>
            <a:graphicFrameLocks noGrp="1"/>
          </p:cNvGraphicFramePr>
          <p:nvPr/>
        </p:nvGraphicFramePr>
        <p:xfrm>
          <a:off x="437052" y="2523095"/>
          <a:ext cx="914400" cy="368377"/>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Layoffs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cxnSp>
        <p:nvCxnSpPr>
          <p:cNvPr id="254" name="Straight Connector 253">
            <a:extLst>
              <a:ext uri="{FF2B5EF4-FFF2-40B4-BE49-F238E27FC236}">
                <a16:creationId xmlns:a16="http://schemas.microsoft.com/office/drawing/2014/main" id="{77AD756A-88EF-C83F-F14C-ABA0F8BF2656}"/>
              </a:ext>
            </a:extLst>
          </p:cNvPr>
          <p:cNvCxnSpPr>
            <a:cxnSpLocks/>
          </p:cNvCxnSpPr>
          <p:nvPr/>
        </p:nvCxnSpPr>
        <p:spPr>
          <a:xfrm>
            <a:off x="2325821" y="2702710"/>
            <a:ext cx="10183"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55" name="Oval 254">
            <a:extLst>
              <a:ext uri="{FF2B5EF4-FFF2-40B4-BE49-F238E27FC236}">
                <a16:creationId xmlns:a16="http://schemas.microsoft.com/office/drawing/2014/main" id="{F1B2B677-287E-1D1E-ED55-764F9F7E2DB4}"/>
              </a:ext>
            </a:extLst>
          </p:cNvPr>
          <p:cNvSpPr/>
          <p:nvPr/>
        </p:nvSpPr>
        <p:spPr>
          <a:xfrm>
            <a:off x="219708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6" name="Oval 255">
            <a:extLst>
              <a:ext uri="{FF2B5EF4-FFF2-40B4-BE49-F238E27FC236}">
                <a16:creationId xmlns:a16="http://schemas.microsoft.com/office/drawing/2014/main" id="{06A7DC7E-2308-2885-3161-24420CD0511F}"/>
              </a:ext>
            </a:extLst>
          </p:cNvPr>
          <p:cNvSpPr/>
          <p:nvPr/>
        </p:nvSpPr>
        <p:spPr>
          <a:xfrm>
            <a:off x="219708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7" name="Oval 256">
            <a:extLst>
              <a:ext uri="{FF2B5EF4-FFF2-40B4-BE49-F238E27FC236}">
                <a16:creationId xmlns:a16="http://schemas.microsoft.com/office/drawing/2014/main" id="{A67D25D7-583E-5EAE-958B-54DAFAB58B97}"/>
              </a:ext>
            </a:extLst>
          </p:cNvPr>
          <p:cNvSpPr/>
          <p:nvPr/>
        </p:nvSpPr>
        <p:spPr>
          <a:xfrm>
            <a:off x="219708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8" name="Oval 257">
            <a:extLst>
              <a:ext uri="{FF2B5EF4-FFF2-40B4-BE49-F238E27FC236}">
                <a16:creationId xmlns:a16="http://schemas.microsoft.com/office/drawing/2014/main" id="{2717B00B-B362-547D-744B-93E0F1ECC013}"/>
              </a:ext>
            </a:extLst>
          </p:cNvPr>
          <p:cNvSpPr/>
          <p:nvPr/>
        </p:nvSpPr>
        <p:spPr>
          <a:xfrm>
            <a:off x="219708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9" name="Oval 258">
            <a:extLst>
              <a:ext uri="{FF2B5EF4-FFF2-40B4-BE49-F238E27FC236}">
                <a16:creationId xmlns:a16="http://schemas.microsoft.com/office/drawing/2014/main" id="{CE5341F1-44E9-6E3A-3F9A-AA2A532B8DE0}"/>
              </a:ext>
            </a:extLst>
          </p:cNvPr>
          <p:cNvSpPr/>
          <p:nvPr/>
        </p:nvSpPr>
        <p:spPr>
          <a:xfrm>
            <a:off x="219708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0" name="Oval 349">
            <a:extLst>
              <a:ext uri="{FF2B5EF4-FFF2-40B4-BE49-F238E27FC236}">
                <a16:creationId xmlns:a16="http://schemas.microsoft.com/office/drawing/2014/main" id="{62758392-0B8E-8D21-83BF-DCEB66E991FD}"/>
              </a:ext>
            </a:extLst>
          </p:cNvPr>
          <p:cNvSpPr/>
          <p:nvPr/>
        </p:nvSpPr>
        <p:spPr>
          <a:xfrm>
            <a:off x="219708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1" name="Oval 350">
            <a:extLst>
              <a:ext uri="{FF2B5EF4-FFF2-40B4-BE49-F238E27FC236}">
                <a16:creationId xmlns:a16="http://schemas.microsoft.com/office/drawing/2014/main" id="{F12FE961-42B5-40C1-979B-DD58C808D0EA}"/>
              </a:ext>
            </a:extLst>
          </p:cNvPr>
          <p:cNvSpPr/>
          <p:nvPr/>
        </p:nvSpPr>
        <p:spPr>
          <a:xfrm>
            <a:off x="219708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pic>
        <p:nvPicPr>
          <p:cNvPr id="275" name="Picture 12" descr="From the Editors: What Does the Brown University Seal Mean Anyway? – The  Bruin Club">
            <a:extLst>
              <a:ext uri="{FF2B5EF4-FFF2-40B4-BE49-F238E27FC236}">
                <a16:creationId xmlns:a16="http://schemas.microsoft.com/office/drawing/2014/main" id="{466D6A16-ACC9-E4FF-83A9-CE35FF44131D}"/>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2198343" y="1213794"/>
            <a:ext cx="265138" cy="365760"/>
          </a:xfrm>
          <a:prstGeom prst="rect">
            <a:avLst/>
          </a:prstGeom>
          <a:solidFill>
            <a:srgbClr val="C8102E"/>
          </a:solidFill>
          <a:ln>
            <a:solidFill>
              <a:schemeClr val="tx1"/>
            </a:solidFill>
          </a:ln>
        </p:spPr>
      </p:pic>
      <p:sp>
        <p:nvSpPr>
          <p:cNvPr id="292" name="TextBox 291">
            <a:extLst>
              <a:ext uri="{FF2B5EF4-FFF2-40B4-BE49-F238E27FC236}">
                <a16:creationId xmlns:a16="http://schemas.microsoft.com/office/drawing/2014/main" id="{788D656D-6648-FE07-2A6C-01479C76FDE9}"/>
              </a:ext>
            </a:extLst>
          </p:cNvPr>
          <p:cNvSpPr txBox="1"/>
          <p:nvPr/>
        </p:nvSpPr>
        <p:spPr>
          <a:xfrm>
            <a:off x="2143169"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1" name="Oval 310">
            <a:extLst>
              <a:ext uri="{FF2B5EF4-FFF2-40B4-BE49-F238E27FC236}">
                <a16:creationId xmlns:a16="http://schemas.microsoft.com/office/drawing/2014/main" id="{04F45A45-F76B-F283-F346-74ACDC580CDF}"/>
              </a:ext>
            </a:extLst>
          </p:cNvPr>
          <p:cNvSpPr/>
          <p:nvPr/>
        </p:nvSpPr>
        <p:spPr>
          <a:xfrm>
            <a:off x="219708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2" name="Oval 311">
            <a:extLst>
              <a:ext uri="{FF2B5EF4-FFF2-40B4-BE49-F238E27FC236}">
                <a16:creationId xmlns:a16="http://schemas.microsoft.com/office/drawing/2014/main" id="{262F5DF0-AFC1-232D-2AC4-90FBE52D0201}"/>
              </a:ext>
            </a:extLst>
          </p:cNvPr>
          <p:cNvSpPr/>
          <p:nvPr/>
        </p:nvSpPr>
        <p:spPr>
          <a:xfrm>
            <a:off x="10639039" y="3037223"/>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3" name="Oval 312">
            <a:extLst>
              <a:ext uri="{FF2B5EF4-FFF2-40B4-BE49-F238E27FC236}">
                <a16:creationId xmlns:a16="http://schemas.microsoft.com/office/drawing/2014/main" id="{C41E56A8-0FE8-7D45-F80A-85BACF3E01D1}"/>
              </a:ext>
            </a:extLst>
          </p:cNvPr>
          <p:cNvSpPr/>
          <p:nvPr/>
        </p:nvSpPr>
        <p:spPr>
          <a:xfrm>
            <a:off x="10639039"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4" name="Oval 313">
            <a:extLst>
              <a:ext uri="{FF2B5EF4-FFF2-40B4-BE49-F238E27FC236}">
                <a16:creationId xmlns:a16="http://schemas.microsoft.com/office/drawing/2014/main" id="{A32F1966-E5A6-BFDD-35CD-20BF1A453844}"/>
              </a:ext>
            </a:extLst>
          </p:cNvPr>
          <p:cNvSpPr/>
          <p:nvPr/>
        </p:nvSpPr>
        <p:spPr>
          <a:xfrm>
            <a:off x="9832531"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16" name="Oval 315">
            <a:extLst>
              <a:ext uri="{FF2B5EF4-FFF2-40B4-BE49-F238E27FC236}">
                <a16:creationId xmlns:a16="http://schemas.microsoft.com/office/drawing/2014/main" id="{877A33C4-68DE-D3C8-EBB8-D91143918852}"/>
              </a:ext>
            </a:extLst>
          </p:cNvPr>
          <p:cNvSpPr/>
          <p:nvPr/>
        </p:nvSpPr>
        <p:spPr>
          <a:xfrm>
            <a:off x="300841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7" name="Oval 316">
            <a:extLst>
              <a:ext uri="{FF2B5EF4-FFF2-40B4-BE49-F238E27FC236}">
                <a16:creationId xmlns:a16="http://schemas.microsoft.com/office/drawing/2014/main" id="{7197AFC4-4C53-BDB3-3C8A-9F37EA85446F}"/>
              </a:ext>
            </a:extLst>
          </p:cNvPr>
          <p:cNvSpPr/>
          <p:nvPr/>
        </p:nvSpPr>
        <p:spPr>
          <a:xfrm>
            <a:off x="4599357"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9" name="Oval 318">
            <a:extLst>
              <a:ext uri="{FF2B5EF4-FFF2-40B4-BE49-F238E27FC236}">
                <a16:creationId xmlns:a16="http://schemas.microsoft.com/office/drawing/2014/main" id="{3F552D0C-7FE6-F158-64B2-616D916B4480}"/>
              </a:ext>
            </a:extLst>
          </p:cNvPr>
          <p:cNvSpPr/>
          <p:nvPr/>
        </p:nvSpPr>
        <p:spPr>
          <a:xfrm>
            <a:off x="4998560"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0" name="Oval 319">
            <a:extLst>
              <a:ext uri="{FF2B5EF4-FFF2-40B4-BE49-F238E27FC236}">
                <a16:creationId xmlns:a16="http://schemas.microsoft.com/office/drawing/2014/main" id="{AF4AA077-C13C-DD40-03FE-F77E400538C7}"/>
              </a:ext>
            </a:extLst>
          </p:cNvPr>
          <p:cNvSpPr/>
          <p:nvPr/>
        </p:nvSpPr>
        <p:spPr>
          <a:xfrm>
            <a:off x="7833573"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1" name="Oval 320">
            <a:extLst>
              <a:ext uri="{FF2B5EF4-FFF2-40B4-BE49-F238E27FC236}">
                <a16:creationId xmlns:a16="http://schemas.microsoft.com/office/drawing/2014/main" id="{FB1025DE-422F-9799-1338-7190D6F88B49}"/>
              </a:ext>
            </a:extLst>
          </p:cNvPr>
          <p:cNvSpPr/>
          <p:nvPr/>
        </p:nvSpPr>
        <p:spPr>
          <a:xfrm>
            <a:off x="419574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3" name="Oval 322">
            <a:extLst>
              <a:ext uri="{FF2B5EF4-FFF2-40B4-BE49-F238E27FC236}">
                <a16:creationId xmlns:a16="http://schemas.microsoft.com/office/drawing/2014/main" id="{6147B0E1-4DA2-2738-E37B-123483A17015}"/>
              </a:ext>
            </a:extLst>
          </p:cNvPr>
          <p:cNvSpPr/>
          <p:nvPr/>
        </p:nvSpPr>
        <p:spPr>
          <a:xfrm>
            <a:off x="7454851"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4" name="Oval 323">
            <a:extLst>
              <a:ext uri="{FF2B5EF4-FFF2-40B4-BE49-F238E27FC236}">
                <a16:creationId xmlns:a16="http://schemas.microsoft.com/office/drawing/2014/main" id="{86DD435B-72B6-49B6-0116-A3A73E0E1849}"/>
              </a:ext>
            </a:extLst>
          </p:cNvPr>
          <p:cNvSpPr/>
          <p:nvPr/>
        </p:nvSpPr>
        <p:spPr>
          <a:xfrm>
            <a:off x="6649915"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5" name="Oval 324">
            <a:extLst>
              <a:ext uri="{FF2B5EF4-FFF2-40B4-BE49-F238E27FC236}">
                <a16:creationId xmlns:a16="http://schemas.microsoft.com/office/drawing/2014/main" id="{FE7D5CBF-E5F8-9C47-AACB-36EF274FB029}"/>
              </a:ext>
            </a:extLst>
          </p:cNvPr>
          <p:cNvSpPr/>
          <p:nvPr/>
        </p:nvSpPr>
        <p:spPr>
          <a:xfrm>
            <a:off x="380428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6" name="Oval 325">
            <a:extLst>
              <a:ext uri="{FF2B5EF4-FFF2-40B4-BE49-F238E27FC236}">
                <a16:creationId xmlns:a16="http://schemas.microsoft.com/office/drawing/2014/main" id="{193EB666-B5C8-FBE4-BC93-3322BD4B7E2B}"/>
              </a:ext>
            </a:extLst>
          </p:cNvPr>
          <p:cNvSpPr/>
          <p:nvPr/>
        </p:nvSpPr>
        <p:spPr>
          <a:xfrm>
            <a:off x="2595913"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7" name="Oval 326">
            <a:extLst>
              <a:ext uri="{FF2B5EF4-FFF2-40B4-BE49-F238E27FC236}">
                <a16:creationId xmlns:a16="http://schemas.microsoft.com/office/drawing/2014/main" id="{EF4D5BA0-3E6E-B0C2-E8F1-A14E48DF423E}"/>
              </a:ext>
            </a:extLst>
          </p:cNvPr>
          <p:cNvSpPr/>
          <p:nvPr/>
        </p:nvSpPr>
        <p:spPr>
          <a:xfrm>
            <a:off x="8642413"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8" name="Oval 327">
            <a:extLst>
              <a:ext uri="{FF2B5EF4-FFF2-40B4-BE49-F238E27FC236}">
                <a16:creationId xmlns:a16="http://schemas.microsoft.com/office/drawing/2014/main" id="{86022D0C-0DFD-A4BB-83BD-D9D7C000F448}"/>
              </a:ext>
            </a:extLst>
          </p:cNvPr>
          <p:cNvSpPr/>
          <p:nvPr/>
        </p:nvSpPr>
        <p:spPr>
          <a:xfrm>
            <a:off x="705003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9" name="Oval 328">
            <a:extLst>
              <a:ext uri="{FF2B5EF4-FFF2-40B4-BE49-F238E27FC236}">
                <a16:creationId xmlns:a16="http://schemas.microsoft.com/office/drawing/2014/main" id="{C9C5899F-BD2F-48BB-BB48-D753D6502E73}"/>
              </a:ext>
            </a:extLst>
          </p:cNvPr>
          <p:cNvSpPr/>
          <p:nvPr/>
        </p:nvSpPr>
        <p:spPr>
          <a:xfrm>
            <a:off x="580376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0" name="Oval 329">
            <a:extLst>
              <a:ext uri="{FF2B5EF4-FFF2-40B4-BE49-F238E27FC236}">
                <a16:creationId xmlns:a16="http://schemas.microsoft.com/office/drawing/2014/main" id="{A097C1AC-D9CD-95DB-E7C5-0F8E788174ED}"/>
              </a:ext>
            </a:extLst>
          </p:cNvPr>
          <p:cNvSpPr/>
          <p:nvPr/>
        </p:nvSpPr>
        <p:spPr>
          <a:xfrm>
            <a:off x="3385834"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1" name="Oval 330">
            <a:extLst>
              <a:ext uri="{FF2B5EF4-FFF2-40B4-BE49-F238E27FC236}">
                <a16:creationId xmlns:a16="http://schemas.microsoft.com/office/drawing/2014/main" id="{BC8FC4FD-32A9-6814-D42F-FE7122E9D392}"/>
              </a:ext>
            </a:extLst>
          </p:cNvPr>
          <p:cNvSpPr/>
          <p:nvPr/>
        </p:nvSpPr>
        <p:spPr>
          <a:xfrm>
            <a:off x="5413125"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2" name="Oval 331">
            <a:extLst>
              <a:ext uri="{FF2B5EF4-FFF2-40B4-BE49-F238E27FC236}">
                <a16:creationId xmlns:a16="http://schemas.microsoft.com/office/drawing/2014/main" id="{12AA6F62-9E96-8C2D-1A1D-330D03265D73}"/>
              </a:ext>
            </a:extLst>
          </p:cNvPr>
          <p:cNvSpPr/>
          <p:nvPr/>
        </p:nvSpPr>
        <p:spPr>
          <a:xfrm>
            <a:off x="11067202"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3" name="Oval 332">
            <a:extLst>
              <a:ext uri="{FF2B5EF4-FFF2-40B4-BE49-F238E27FC236}">
                <a16:creationId xmlns:a16="http://schemas.microsoft.com/office/drawing/2014/main" id="{847157D2-34FF-D592-D711-8839D7487917}"/>
              </a:ext>
            </a:extLst>
          </p:cNvPr>
          <p:cNvSpPr/>
          <p:nvPr/>
        </p:nvSpPr>
        <p:spPr>
          <a:xfrm>
            <a:off x="8228629"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34" name="Oval 333">
            <a:extLst>
              <a:ext uri="{FF2B5EF4-FFF2-40B4-BE49-F238E27FC236}">
                <a16:creationId xmlns:a16="http://schemas.microsoft.com/office/drawing/2014/main" id="{866EF242-510E-DA87-9DE5-B898B141F84A}"/>
              </a:ext>
            </a:extLst>
          </p:cNvPr>
          <p:cNvSpPr/>
          <p:nvPr/>
        </p:nvSpPr>
        <p:spPr>
          <a:xfrm>
            <a:off x="624665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6" name="Oval 335">
            <a:extLst>
              <a:ext uri="{FF2B5EF4-FFF2-40B4-BE49-F238E27FC236}">
                <a16:creationId xmlns:a16="http://schemas.microsoft.com/office/drawing/2014/main" id="{70A03304-3375-350A-2DD5-68C81B6BDA74}"/>
              </a:ext>
            </a:extLst>
          </p:cNvPr>
          <p:cNvSpPr/>
          <p:nvPr/>
        </p:nvSpPr>
        <p:spPr>
          <a:xfrm>
            <a:off x="9032779"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7" name="TextBox 336">
            <a:extLst>
              <a:ext uri="{FF2B5EF4-FFF2-40B4-BE49-F238E27FC236}">
                <a16:creationId xmlns:a16="http://schemas.microsoft.com/office/drawing/2014/main" id="{F1142A2F-9FD2-2A28-7489-735AEEF756A7}"/>
              </a:ext>
            </a:extLst>
          </p:cNvPr>
          <p:cNvSpPr txBox="1"/>
          <p:nvPr/>
        </p:nvSpPr>
        <p:spPr>
          <a:xfrm>
            <a:off x="4444313" y="2259206"/>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599 staff buyouts; layoffs August 2025</a:t>
            </a:r>
          </a:p>
        </p:txBody>
      </p:sp>
      <p:sp>
        <p:nvSpPr>
          <p:cNvPr id="338" name="TextBox 337">
            <a:extLst>
              <a:ext uri="{FF2B5EF4-FFF2-40B4-BE49-F238E27FC236}">
                <a16:creationId xmlns:a16="http://schemas.microsoft.com/office/drawing/2014/main" id="{C9468ED4-D4FA-0F71-6030-60CD6E726A1E}"/>
              </a:ext>
            </a:extLst>
          </p:cNvPr>
          <p:cNvSpPr txBox="1"/>
          <p:nvPr/>
        </p:nvSpPr>
        <p:spPr>
          <a:xfrm>
            <a:off x="4555570" y="2615665"/>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39" name="TextBox 338">
            <a:extLst>
              <a:ext uri="{FF2B5EF4-FFF2-40B4-BE49-F238E27FC236}">
                <a16:creationId xmlns:a16="http://schemas.microsoft.com/office/drawing/2014/main" id="{35506473-01B1-E1AA-8C05-0470FF0A924E}"/>
              </a:ext>
            </a:extLst>
          </p:cNvPr>
          <p:cNvSpPr txBox="1"/>
          <p:nvPr/>
        </p:nvSpPr>
        <p:spPr>
          <a:xfrm>
            <a:off x="2457954" y="2259206"/>
            <a:ext cx="544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425 staff positions eliminated</a:t>
            </a:r>
          </a:p>
        </p:txBody>
      </p:sp>
      <p:sp>
        <p:nvSpPr>
          <p:cNvPr id="340" name="TextBox 339">
            <a:extLst>
              <a:ext uri="{FF2B5EF4-FFF2-40B4-BE49-F238E27FC236}">
                <a16:creationId xmlns:a16="http://schemas.microsoft.com/office/drawing/2014/main" id="{8577B6D1-F537-6425-93AA-D19E9F71E950}"/>
              </a:ext>
            </a:extLst>
          </p:cNvPr>
          <p:cNvSpPr txBox="1"/>
          <p:nvPr/>
        </p:nvSpPr>
        <p:spPr>
          <a:xfrm>
            <a:off x="1019758" y="2266400"/>
            <a:ext cx="1137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of SEAS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 laid off</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October 2025</a:t>
            </a:r>
          </a:p>
        </p:txBody>
      </p:sp>
      <p:sp>
        <p:nvSpPr>
          <p:cNvPr id="201" name="Oval 200">
            <a:extLst>
              <a:ext uri="{FF2B5EF4-FFF2-40B4-BE49-F238E27FC236}">
                <a16:creationId xmlns:a16="http://schemas.microsoft.com/office/drawing/2014/main" id="{A7275E54-BAFD-4BEF-63F7-71A92765A238}"/>
              </a:ext>
            </a:extLst>
          </p:cNvPr>
          <p:cNvSpPr/>
          <p:nvPr/>
        </p:nvSpPr>
        <p:spPr>
          <a:xfrm>
            <a:off x="1413299"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02" name="Oval 201">
            <a:extLst>
              <a:ext uri="{FF2B5EF4-FFF2-40B4-BE49-F238E27FC236}">
                <a16:creationId xmlns:a16="http://schemas.microsoft.com/office/drawing/2014/main" id="{78814ED5-F066-4271-9D81-7800B8B016E5}"/>
              </a:ext>
            </a:extLst>
          </p:cNvPr>
          <p:cNvSpPr/>
          <p:nvPr/>
        </p:nvSpPr>
        <p:spPr>
          <a:xfrm>
            <a:off x="1413299"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3" name="Oval 202">
            <a:extLst>
              <a:ext uri="{FF2B5EF4-FFF2-40B4-BE49-F238E27FC236}">
                <a16:creationId xmlns:a16="http://schemas.microsoft.com/office/drawing/2014/main" id="{68D0287F-B77E-003D-19CF-10530802A611}"/>
              </a:ext>
            </a:extLst>
          </p:cNvPr>
          <p:cNvSpPr/>
          <p:nvPr/>
        </p:nvSpPr>
        <p:spPr>
          <a:xfrm>
            <a:off x="141329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4" name="Oval 203">
            <a:extLst>
              <a:ext uri="{FF2B5EF4-FFF2-40B4-BE49-F238E27FC236}">
                <a16:creationId xmlns:a16="http://schemas.microsoft.com/office/drawing/2014/main" id="{0D40D32D-D5D6-1C57-482D-FF9D0C16B5E2}"/>
              </a:ext>
            </a:extLst>
          </p:cNvPr>
          <p:cNvSpPr/>
          <p:nvPr/>
        </p:nvSpPr>
        <p:spPr>
          <a:xfrm>
            <a:off x="141329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5" name="Oval 204">
            <a:extLst>
              <a:ext uri="{FF2B5EF4-FFF2-40B4-BE49-F238E27FC236}">
                <a16:creationId xmlns:a16="http://schemas.microsoft.com/office/drawing/2014/main" id="{0DC04E17-3255-067A-B729-FFA5BF233333}"/>
              </a:ext>
            </a:extLst>
          </p:cNvPr>
          <p:cNvSpPr/>
          <p:nvPr/>
        </p:nvSpPr>
        <p:spPr>
          <a:xfrm>
            <a:off x="141329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1" name="Oval 360">
            <a:extLst>
              <a:ext uri="{FF2B5EF4-FFF2-40B4-BE49-F238E27FC236}">
                <a16:creationId xmlns:a16="http://schemas.microsoft.com/office/drawing/2014/main" id="{FC3E6F94-DF7C-5A6C-F41F-8566B11255F6}"/>
              </a:ext>
            </a:extLst>
          </p:cNvPr>
          <p:cNvSpPr/>
          <p:nvPr/>
        </p:nvSpPr>
        <p:spPr>
          <a:xfrm>
            <a:off x="141329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2" name="Oval 361">
            <a:extLst>
              <a:ext uri="{FF2B5EF4-FFF2-40B4-BE49-F238E27FC236}">
                <a16:creationId xmlns:a16="http://schemas.microsoft.com/office/drawing/2014/main" id="{1FF92304-30FA-8260-0132-2B19A1D13D31}"/>
              </a:ext>
            </a:extLst>
          </p:cNvPr>
          <p:cNvSpPr/>
          <p:nvPr/>
        </p:nvSpPr>
        <p:spPr>
          <a:xfrm>
            <a:off x="141329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6" name="TextBox 295">
            <a:extLst>
              <a:ext uri="{FF2B5EF4-FFF2-40B4-BE49-F238E27FC236}">
                <a16:creationId xmlns:a16="http://schemas.microsoft.com/office/drawing/2014/main" id="{5CCD07D1-34B3-A061-302D-6046E0AE7F35}"/>
              </a:ext>
            </a:extLst>
          </p:cNvPr>
          <p:cNvSpPr txBox="1"/>
          <p:nvPr/>
        </p:nvSpPr>
        <p:spPr>
          <a:xfrm>
            <a:off x="1360926" y="307897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22" name="Oval 321">
            <a:extLst>
              <a:ext uri="{FF2B5EF4-FFF2-40B4-BE49-F238E27FC236}">
                <a16:creationId xmlns:a16="http://schemas.microsoft.com/office/drawing/2014/main" id="{DAC6BAE3-777F-4A28-E2A5-307A670F55B1}"/>
              </a:ext>
            </a:extLst>
          </p:cNvPr>
          <p:cNvSpPr/>
          <p:nvPr/>
        </p:nvSpPr>
        <p:spPr>
          <a:xfrm>
            <a:off x="141329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41" name="TextBox 340">
            <a:extLst>
              <a:ext uri="{FF2B5EF4-FFF2-40B4-BE49-F238E27FC236}">
                <a16:creationId xmlns:a16="http://schemas.microsoft.com/office/drawing/2014/main" id="{2B3261E9-643D-CF1B-9CCC-74951D199F14}"/>
              </a:ext>
            </a:extLst>
          </p:cNvPr>
          <p:cNvSpPr txBox="1"/>
          <p:nvPr/>
        </p:nvSpPr>
        <p:spPr>
          <a:xfrm>
            <a:off x="1418906" y="2614797"/>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42" name="TextBox 341">
            <a:extLst>
              <a:ext uri="{FF2B5EF4-FFF2-40B4-BE49-F238E27FC236}">
                <a16:creationId xmlns:a16="http://schemas.microsoft.com/office/drawing/2014/main" id="{218EBA24-B1C9-7EF7-7CB9-6267C78A9D6D}"/>
              </a:ext>
            </a:extLst>
          </p:cNvPr>
          <p:cNvSpPr txBox="1"/>
          <p:nvPr/>
        </p:nvSpPr>
        <p:spPr>
          <a:xfrm>
            <a:off x="2761712"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June 2025</a:t>
            </a:r>
          </a:p>
        </p:txBody>
      </p:sp>
      <p:sp>
        <p:nvSpPr>
          <p:cNvPr id="343" name="TextBox 342">
            <a:extLst>
              <a:ext uri="{FF2B5EF4-FFF2-40B4-BE49-F238E27FC236}">
                <a16:creationId xmlns:a16="http://schemas.microsoft.com/office/drawing/2014/main" id="{5878E700-D80F-3A90-4ABB-0AA43524EFE1}"/>
              </a:ext>
            </a:extLst>
          </p:cNvPr>
          <p:cNvSpPr txBox="1"/>
          <p:nvPr/>
        </p:nvSpPr>
        <p:spPr>
          <a:xfrm>
            <a:off x="7119872" y="3928078"/>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$140M</a:t>
            </a:r>
          </a:p>
        </p:txBody>
      </p:sp>
      <p:sp>
        <p:nvSpPr>
          <p:cNvPr id="344" name="TextBox 343">
            <a:extLst>
              <a:ext uri="{FF2B5EF4-FFF2-40B4-BE49-F238E27FC236}">
                <a16:creationId xmlns:a16="http://schemas.microsoft.com/office/drawing/2014/main" id="{7B1F0E14-FCFB-69FA-D623-855ED5508EA7}"/>
              </a:ext>
            </a:extLst>
          </p:cNvPr>
          <p:cNvSpPr txBox="1"/>
          <p:nvPr/>
        </p:nvSpPr>
        <p:spPr>
          <a:xfrm>
            <a:off x="679724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360+ layoffs announced August 2025</a:t>
            </a:r>
          </a:p>
        </p:txBody>
      </p:sp>
      <p:sp>
        <p:nvSpPr>
          <p:cNvPr id="345" name="TextBox 344">
            <a:extLst>
              <a:ext uri="{FF2B5EF4-FFF2-40B4-BE49-F238E27FC236}">
                <a16:creationId xmlns:a16="http://schemas.microsoft.com/office/drawing/2014/main" id="{7611F646-3322-8985-C396-094FD6EB704F}"/>
              </a:ext>
            </a:extLst>
          </p:cNvPr>
          <p:cNvSpPr txBox="1"/>
          <p:nvPr/>
        </p:nvSpPr>
        <p:spPr>
          <a:xfrm>
            <a:off x="6322828" y="3417315"/>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Merit reduction</a:t>
            </a:r>
          </a:p>
        </p:txBody>
      </p:sp>
      <p:sp>
        <p:nvSpPr>
          <p:cNvPr id="346" name="TextBox 345">
            <a:extLst>
              <a:ext uri="{FF2B5EF4-FFF2-40B4-BE49-F238E27FC236}">
                <a16:creationId xmlns:a16="http://schemas.microsoft.com/office/drawing/2014/main" id="{75E6582F-EF21-3CE7-E445-76F23D18306A}"/>
              </a:ext>
            </a:extLst>
          </p:cNvPr>
          <p:cNvSpPr txBox="1"/>
          <p:nvPr/>
        </p:nvSpPr>
        <p:spPr>
          <a:xfrm>
            <a:off x="8800522" y="2259206"/>
            <a:ext cx="756925"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Reorganization announced, layoffs</a:t>
            </a:r>
          </a:p>
        </p:txBody>
      </p:sp>
      <p:sp>
        <p:nvSpPr>
          <p:cNvPr id="347" name="TextBox 346">
            <a:extLst>
              <a:ext uri="{FF2B5EF4-FFF2-40B4-BE49-F238E27FC236}">
                <a16:creationId xmlns:a16="http://schemas.microsoft.com/office/drawing/2014/main" id="{5FDA9C18-0FF8-B5A8-A884-F38CA5BA71F3}"/>
              </a:ext>
            </a:extLst>
          </p:cNvPr>
          <p:cNvSpPr txBox="1"/>
          <p:nvPr/>
        </p:nvSpPr>
        <p:spPr>
          <a:xfrm>
            <a:off x="5892916" y="4496560"/>
            <a:ext cx="579342"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 new campus buildings</a:t>
            </a:r>
          </a:p>
        </p:txBody>
      </p:sp>
      <p:sp>
        <p:nvSpPr>
          <p:cNvPr id="348" name="TextBox 347">
            <a:extLst>
              <a:ext uri="{FF2B5EF4-FFF2-40B4-BE49-F238E27FC236}">
                <a16:creationId xmlns:a16="http://schemas.microsoft.com/office/drawing/2014/main" id="{3936D18C-041E-F804-6414-1FAA703E056E}"/>
              </a:ext>
            </a:extLst>
          </p:cNvPr>
          <p:cNvSpPr txBox="1"/>
          <p:nvPr/>
        </p:nvSpPr>
        <p:spPr>
          <a:xfrm>
            <a:off x="8354555"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Voluntary Separation announced</a:t>
            </a:r>
          </a:p>
        </p:txBody>
      </p:sp>
      <p:sp>
        <p:nvSpPr>
          <p:cNvPr id="349" name="TextBox 348">
            <a:extLst>
              <a:ext uri="{FF2B5EF4-FFF2-40B4-BE49-F238E27FC236}">
                <a16:creationId xmlns:a16="http://schemas.microsoft.com/office/drawing/2014/main" id="{D7655BBD-FE76-DA56-C33D-13D51B5E8876}"/>
              </a:ext>
            </a:extLst>
          </p:cNvPr>
          <p:cNvSpPr txBox="1"/>
          <p:nvPr/>
        </p:nvSpPr>
        <p:spPr>
          <a:xfrm>
            <a:off x="4209476" y="3084300"/>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pic>
        <p:nvPicPr>
          <p:cNvPr id="12" name="Picture 11">
            <a:extLst>
              <a:ext uri="{FF2B5EF4-FFF2-40B4-BE49-F238E27FC236}">
                <a16:creationId xmlns:a16="http://schemas.microsoft.com/office/drawing/2014/main" id="{6AC5B9CD-75A4-DC63-8B1E-2E394E304F17}"/>
              </a:ext>
            </a:extLst>
          </p:cNvPr>
          <p:cNvPicPr>
            <a:picLocks noChangeAspect="1"/>
          </p:cNvPicPr>
          <p:nvPr/>
        </p:nvPicPr>
        <p:blipFill>
          <a:blip r:embed="rId8" cstate="email">
            <a:extLst>
              <a:ext uri="{28A0092B-C50C-407E-A947-70E740481C1C}">
                <a14:useLocalDpi xmlns:a14="http://schemas.microsoft.com/office/drawing/2010/main"/>
              </a:ext>
            </a:extLst>
          </a:blip>
          <a:srcRect/>
          <a:stretch>
            <a:fillRect/>
          </a:stretch>
        </p:blipFill>
        <p:spPr>
          <a:xfrm>
            <a:off x="6629791" y="1173117"/>
            <a:ext cx="310087" cy="435402"/>
          </a:xfrm>
          <a:prstGeom prst="rect">
            <a:avLst/>
          </a:prstGeom>
        </p:spPr>
      </p:pic>
      <p:pic>
        <p:nvPicPr>
          <p:cNvPr id="22" name="Picture 2" descr="http://www.ranklogos.com/wp-content/uploads/2012/06/stanford-university-500x500.gif">
            <a:extLst>
              <a:ext uri="{FF2B5EF4-FFF2-40B4-BE49-F238E27FC236}">
                <a16:creationId xmlns:a16="http://schemas.microsoft.com/office/drawing/2014/main" id="{B1AA631D-2760-6C24-EB10-F9A2FEEC9C0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7001473" y="1205559"/>
            <a:ext cx="363311" cy="363311"/>
          </a:xfrm>
          <a:prstGeom prst="ellipse">
            <a:avLst/>
          </a:prstGeom>
          <a:noFill/>
          <a:extLst>
            <a:ext uri="{909E8E84-426E-40DD-AFC4-6F175D3DCCD1}">
              <a14:hiddenFill xmlns:a14="http://schemas.microsoft.com/office/drawing/2010/main">
                <a:solidFill>
                  <a:srgbClr val="FFFFFF"/>
                </a:solidFill>
              </a14:hiddenFill>
            </a:ext>
          </a:extLst>
        </p:spPr>
      </p:pic>
      <p:sp>
        <p:nvSpPr>
          <p:cNvPr id="237" name="Oval 236">
            <a:extLst>
              <a:ext uri="{FF2B5EF4-FFF2-40B4-BE49-F238E27FC236}">
                <a16:creationId xmlns:a16="http://schemas.microsoft.com/office/drawing/2014/main" id="{E755AC14-EF9D-4A70-7605-FFD8D4356FB8}"/>
              </a:ext>
            </a:extLst>
          </p:cNvPr>
          <p:cNvSpPr/>
          <p:nvPr/>
        </p:nvSpPr>
        <p:spPr>
          <a:xfrm>
            <a:off x="1808325"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9" name="Oval 238">
            <a:extLst>
              <a:ext uri="{FF2B5EF4-FFF2-40B4-BE49-F238E27FC236}">
                <a16:creationId xmlns:a16="http://schemas.microsoft.com/office/drawing/2014/main" id="{817805EB-B9BA-208A-08B2-1DFF7E098934}"/>
              </a:ext>
            </a:extLst>
          </p:cNvPr>
          <p:cNvSpPr/>
          <p:nvPr/>
        </p:nvSpPr>
        <p:spPr>
          <a:xfrm>
            <a:off x="18018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0" name="Oval 239">
            <a:extLst>
              <a:ext uri="{FF2B5EF4-FFF2-40B4-BE49-F238E27FC236}">
                <a16:creationId xmlns:a16="http://schemas.microsoft.com/office/drawing/2014/main" id="{051B0604-EA9A-F4A8-F128-7602E9CEC1D4}"/>
              </a:ext>
            </a:extLst>
          </p:cNvPr>
          <p:cNvSpPr/>
          <p:nvPr/>
        </p:nvSpPr>
        <p:spPr>
          <a:xfrm>
            <a:off x="1801830"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1" name="Oval 240">
            <a:extLst>
              <a:ext uri="{FF2B5EF4-FFF2-40B4-BE49-F238E27FC236}">
                <a16:creationId xmlns:a16="http://schemas.microsoft.com/office/drawing/2014/main" id="{E3800FCC-D38E-CA7D-BD3D-0061F8058458}"/>
              </a:ext>
            </a:extLst>
          </p:cNvPr>
          <p:cNvSpPr/>
          <p:nvPr/>
        </p:nvSpPr>
        <p:spPr>
          <a:xfrm>
            <a:off x="1808323"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4" name="Oval 353">
            <a:extLst>
              <a:ext uri="{FF2B5EF4-FFF2-40B4-BE49-F238E27FC236}">
                <a16:creationId xmlns:a16="http://schemas.microsoft.com/office/drawing/2014/main" id="{152641E0-00FB-452E-695A-84EA23BF60EE}"/>
              </a:ext>
            </a:extLst>
          </p:cNvPr>
          <p:cNvSpPr/>
          <p:nvPr/>
        </p:nvSpPr>
        <p:spPr>
          <a:xfrm>
            <a:off x="1801070"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3" name="TextBox 292">
            <a:extLst>
              <a:ext uri="{FF2B5EF4-FFF2-40B4-BE49-F238E27FC236}">
                <a16:creationId xmlns:a16="http://schemas.microsoft.com/office/drawing/2014/main" id="{F7337068-037F-D661-D543-20F938644DCF}"/>
              </a:ext>
            </a:extLst>
          </p:cNvPr>
          <p:cNvSpPr txBox="1"/>
          <p:nvPr/>
        </p:nvSpPr>
        <p:spPr>
          <a:xfrm>
            <a:off x="1751342"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5" name="Oval 314">
            <a:extLst>
              <a:ext uri="{FF2B5EF4-FFF2-40B4-BE49-F238E27FC236}">
                <a16:creationId xmlns:a16="http://schemas.microsoft.com/office/drawing/2014/main" id="{390E13A0-0431-7287-C589-837639D6A263}"/>
              </a:ext>
            </a:extLst>
          </p:cNvPr>
          <p:cNvSpPr/>
          <p:nvPr/>
        </p:nvSpPr>
        <p:spPr>
          <a:xfrm>
            <a:off x="1805262"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cxnSp>
        <p:nvCxnSpPr>
          <p:cNvPr id="29" name="Straight Connector 28">
            <a:extLst>
              <a:ext uri="{FF2B5EF4-FFF2-40B4-BE49-F238E27FC236}">
                <a16:creationId xmlns:a16="http://schemas.microsoft.com/office/drawing/2014/main" id="{52C28E39-7083-A265-EEE9-ADE8B0CBF565}"/>
              </a:ext>
            </a:extLst>
          </p:cNvPr>
          <p:cNvCxnSpPr>
            <a:cxnSpLocks/>
          </p:cNvCxnSpPr>
          <p:nvPr/>
        </p:nvCxnSpPr>
        <p:spPr>
          <a:xfrm flipH="1">
            <a:off x="9554905" y="2746846"/>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A621FFEC-6386-3280-30F2-3A2AA46B8C5C}"/>
              </a:ext>
            </a:extLst>
          </p:cNvPr>
          <p:cNvSpPr/>
          <p:nvPr/>
        </p:nvSpPr>
        <p:spPr>
          <a:xfrm>
            <a:off x="9426487" y="360254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4" name="Oval 33">
            <a:extLst>
              <a:ext uri="{FF2B5EF4-FFF2-40B4-BE49-F238E27FC236}">
                <a16:creationId xmlns:a16="http://schemas.microsoft.com/office/drawing/2014/main" id="{530F00A8-498F-23B2-57E8-D52F254F6373}"/>
              </a:ext>
            </a:extLst>
          </p:cNvPr>
          <p:cNvSpPr/>
          <p:nvPr/>
        </p:nvSpPr>
        <p:spPr>
          <a:xfrm>
            <a:off x="9426487" y="47565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 name="Oval 34">
            <a:extLst>
              <a:ext uri="{FF2B5EF4-FFF2-40B4-BE49-F238E27FC236}">
                <a16:creationId xmlns:a16="http://schemas.microsoft.com/office/drawing/2014/main" id="{C9C3B8B2-9271-A666-9560-5818985999D8}"/>
              </a:ext>
            </a:extLst>
          </p:cNvPr>
          <p:cNvSpPr/>
          <p:nvPr/>
        </p:nvSpPr>
        <p:spPr>
          <a:xfrm>
            <a:off x="9426487" y="5406628"/>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 name="Oval 35">
            <a:extLst>
              <a:ext uri="{FF2B5EF4-FFF2-40B4-BE49-F238E27FC236}">
                <a16:creationId xmlns:a16="http://schemas.microsoft.com/office/drawing/2014/main" id="{EEE63959-10F3-3DCE-B4B6-573E1055E52F}"/>
              </a:ext>
            </a:extLst>
          </p:cNvPr>
          <p:cNvSpPr/>
          <p:nvPr/>
        </p:nvSpPr>
        <p:spPr>
          <a:xfrm>
            <a:off x="9426487" y="303923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8" name="Oval 37">
            <a:extLst>
              <a:ext uri="{FF2B5EF4-FFF2-40B4-BE49-F238E27FC236}">
                <a16:creationId xmlns:a16="http://schemas.microsoft.com/office/drawing/2014/main" id="{26A55160-B0E3-C5AD-A01D-8393FB88710C}"/>
              </a:ext>
            </a:extLst>
          </p:cNvPr>
          <p:cNvSpPr/>
          <p:nvPr/>
        </p:nvSpPr>
        <p:spPr>
          <a:xfrm>
            <a:off x="9426487" y="41885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9" name="TextBox 38">
            <a:extLst>
              <a:ext uri="{FF2B5EF4-FFF2-40B4-BE49-F238E27FC236}">
                <a16:creationId xmlns:a16="http://schemas.microsoft.com/office/drawing/2014/main" id="{9834F6CB-7AC0-2673-28A2-1E69923F069A}"/>
              </a:ext>
            </a:extLst>
          </p:cNvPr>
          <p:cNvSpPr txBox="1"/>
          <p:nvPr/>
        </p:nvSpPr>
        <p:spPr>
          <a:xfrm>
            <a:off x="9521022" y="3990601"/>
            <a:ext cx="509468" cy="2215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Potential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0" name="TextBox 39">
            <a:extLst>
              <a:ext uri="{FF2B5EF4-FFF2-40B4-BE49-F238E27FC236}">
                <a16:creationId xmlns:a16="http://schemas.microsoft.com/office/drawing/2014/main" id="{78DFD4B6-3AFC-9FF9-D2C8-611B18EAA034}"/>
              </a:ext>
            </a:extLst>
          </p:cNvPr>
          <p:cNvSpPr txBox="1"/>
          <p:nvPr/>
        </p:nvSpPr>
        <p:spPr>
          <a:xfrm>
            <a:off x="9433270" y="306609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1" name="Oval 40">
            <a:extLst>
              <a:ext uri="{FF2B5EF4-FFF2-40B4-BE49-F238E27FC236}">
                <a16:creationId xmlns:a16="http://schemas.microsoft.com/office/drawing/2014/main" id="{71DF76D5-177E-26A3-FC0A-B6B0325603A6}"/>
              </a:ext>
            </a:extLst>
          </p:cNvPr>
          <p:cNvSpPr/>
          <p:nvPr/>
        </p:nvSpPr>
        <p:spPr>
          <a:xfrm>
            <a:off x="942648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56" name="Rectangle 55">
            <a:extLst>
              <a:ext uri="{FF2B5EF4-FFF2-40B4-BE49-F238E27FC236}">
                <a16:creationId xmlns:a16="http://schemas.microsoft.com/office/drawing/2014/main" id="{C03A6AF0-812F-8FD6-25D0-4395459D7308}"/>
              </a:ext>
            </a:extLst>
          </p:cNvPr>
          <p:cNvSpPr/>
          <p:nvPr/>
        </p:nvSpPr>
        <p:spPr>
          <a:xfrm>
            <a:off x="11008572" y="1105820"/>
            <a:ext cx="386588" cy="4660985"/>
          </a:xfrm>
          <a:prstGeom prst="rect">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49" name="Rectangle 48">
            <a:extLst>
              <a:ext uri="{FF2B5EF4-FFF2-40B4-BE49-F238E27FC236}">
                <a16:creationId xmlns:a16="http://schemas.microsoft.com/office/drawing/2014/main" id="{414A7421-8B7C-8F53-BDAD-6C58541C1B33}"/>
              </a:ext>
            </a:extLst>
          </p:cNvPr>
          <p:cNvSpPr/>
          <p:nvPr/>
        </p:nvSpPr>
        <p:spPr>
          <a:xfrm>
            <a:off x="1316953" y="1138730"/>
            <a:ext cx="3256919" cy="527332"/>
          </a:xfrm>
          <a:prstGeom prst="rect">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Lato"/>
              <a:ea typeface="+mn-ea"/>
              <a:cs typeface="+mn-cs"/>
            </a:endParaRPr>
          </a:p>
        </p:txBody>
      </p:sp>
      <p:sp>
        <p:nvSpPr>
          <p:cNvPr id="53" name="Title 1">
            <a:extLst>
              <a:ext uri="{FF2B5EF4-FFF2-40B4-BE49-F238E27FC236}">
                <a16:creationId xmlns:a16="http://schemas.microsoft.com/office/drawing/2014/main" id="{125D4B3D-C4E0-CD10-80AE-619C3ED183D3}"/>
              </a:ext>
            </a:extLst>
          </p:cNvPr>
          <p:cNvSpPr txBox="1">
            <a:spLocks/>
          </p:cNvSpPr>
          <p:nvPr/>
        </p:nvSpPr>
        <p:spPr>
          <a:xfrm>
            <a:off x="1291720" y="914895"/>
            <a:ext cx="3233185" cy="310882"/>
          </a:xfrm>
          <a:prstGeom prst="rect">
            <a:avLst/>
          </a:prstGeom>
        </p:spPr>
        <p:txBody>
          <a:bodyPr vert="horz" lIns="91440" tIns="45720" rIns="91440" bIns="45720" rtlCol="0" anchor="ctr">
            <a:normAutofit fontScale="92500" lnSpcReduction="10000"/>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ctr" defTabSz="914172" rtl="0" eaLnBrk="1" fontAlgn="auto" latinLnBrk="0" hangingPunct="1">
              <a:lnSpc>
                <a:spcPct val="90000"/>
              </a:lnSpc>
              <a:spcBef>
                <a:spcPct val="0"/>
              </a:spcBef>
              <a:spcAft>
                <a:spcPts val="0"/>
              </a:spcAft>
              <a:buClrTx/>
              <a:buSzTx/>
              <a:buFontTx/>
              <a:buNone/>
              <a:tabLst/>
              <a:defRPr/>
            </a:pPr>
            <a:br>
              <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100" b="0" i="1" u="none" strike="noStrike" kern="1200" cap="none" spc="0" normalizeH="0" baseline="0" noProof="0" dirty="0">
                <a:ln>
                  <a:noFill/>
                </a:ln>
                <a:solidFill>
                  <a:srgbClr val="000000"/>
                </a:solidFill>
                <a:effectLst/>
                <a:uLnTx/>
                <a:uFillTx/>
                <a:latin typeface="Lato" pitchFamily="2" charset="77"/>
                <a:ea typeface="+mj-ea"/>
                <a:cs typeface="+mj-cs"/>
              </a:rPr>
              <a:t>Universities targeted by POTUS</a:t>
            </a:r>
          </a:p>
          <a:p>
            <a:pPr marL="0" marR="0" lvl="0" indent="0" algn="ctr" defTabSz="914172" rtl="0" eaLnBrk="1" fontAlgn="auto" latinLnBrk="0" hangingPunct="1">
              <a:lnSpc>
                <a:spcPct val="90000"/>
              </a:lnSpc>
              <a:spcBef>
                <a:spcPct val="0"/>
              </a:spcBef>
              <a:spcAft>
                <a:spcPts val="0"/>
              </a:spcAft>
              <a:buClrTx/>
              <a:buSzTx/>
              <a:buFontTx/>
              <a:buNone/>
              <a:tabLst/>
              <a:defRPr/>
            </a:pPr>
            <a:endPar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endParaRPr>
          </a:p>
        </p:txBody>
      </p:sp>
      <p:sp>
        <p:nvSpPr>
          <p:cNvPr id="6" name="TextBox 5">
            <a:extLst>
              <a:ext uri="{FF2B5EF4-FFF2-40B4-BE49-F238E27FC236}">
                <a16:creationId xmlns:a16="http://schemas.microsoft.com/office/drawing/2014/main" id="{9D8932F6-85E0-8573-F8D3-E6F6DB414900}"/>
              </a:ext>
            </a:extLst>
          </p:cNvPr>
          <p:cNvSpPr txBox="1"/>
          <p:nvPr/>
        </p:nvSpPr>
        <p:spPr>
          <a:xfrm>
            <a:off x="10238730"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7" name="TextBox 6">
            <a:extLst>
              <a:ext uri="{FF2B5EF4-FFF2-40B4-BE49-F238E27FC236}">
                <a16:creationId xmlns:a16="http://schemas.microsoft.com/office/drawing/2014/main" id="{9FC92E06-2F74-A797-119E-25EC66B950FD}"/>
              </a:ext>
            </a:extLst>
          </p:cNvPr>
          <p:cNvSpPr txBox="1"/>
          <p:nvPr/>
        </p:nvSpPr>
        <p:spPr>
          <a:xfrm>
            <a:off x="7523009" y="3968335"/>
            <a:ext cx="509468"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cuts</a:t>
            </a:r>
          </a:p>
        </p:txBody>
      </p:sp>
      <p:sp>
        <p:nvSpPr>
          <p:cNvPr id="15" name="TextBox 14">
            <a:extLst>
              <a:ext uri="{FF2B5EF4-FFF2-40B4-BE49-F238E27FC236}">
                <a16:creationId xmlns:a16="http://schemas.microsoft.com/office/drawing/2014/main" id="{AE14CE85-2A2A-58A0-3780-5253AB73CDCC}"/>
              </a:ext>
            </a:extLst>
          </p:cNvPr>
          <p:cNvSpPr txBox="1"/>
          <p:nvPr/>
        </p:nvSpPr>
        <p:spPr>
          <a:xfrm>
            <a:off x="7519676" y="4554709"/>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a:t>
            </a:r>
          </a:p>
        </p:txBody>
      </p:sp>
      <p:sp>
        <p:nvSpPr>
          <p:cNvPr id="27" name="TextBox 26">
            <a:extLst>
              <a:ext uri="{FF2B5EF4-FFF2-40B4-BE49-F238E27FC236}">
                <a16:creationId xmlns:a16="http://schemas.microsoft.com/office/drawing/2014/main" id="{BE155939-0FD3-1DB6-BE53-B7F91785BA0A}"/>
              </a:ext>
            </a:extLst>
          </p:cNvPr>
          <p:cNvSpPr txBox="1"/>
          <p:nvPr/>
        </p:nvSpPr>
        <p:spPr>
          <a:xfrm>
            <a:off x="6732155"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 cut</a:t>
            </a:r>
          </a:p>
        </p:txBody>
      </p:sp>
      <p:sp>
        <p:nvSpPr>
          <p:cNvPr id="28" name="TextBox 27">
            <a:extLst>
              <a:ext uri="{FF2B5EF4-FFF2-40B4-BE49-F238E27FC236}">
                <a16:creationId xmlns:a16="http://schemas.microsoft.com/office/drawing/2014/main" id="{466DB0CF-C829-0113-D080-90B35087EC5D}"/>
              </a:ext>
            </a:extLst>
          </p:cNvPr>
          <p:cNvSpPr txBox="1"/>
          <p:nvPr/>
        </p:nvSpPr>
        <p:spPr>
          <a:xfrm>
            <a:off x="6582642"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7" name="TextBox 36">
            <a:extLst>
              <a:ext uri="{FF2B5EF4-FFF2-40B4-BE49-F238E27FC236}">
                <a16:creationId xmlns:a16="http://schemas.microsoft.com/office/drawing/2014/main" id="{5DB04805-2EE4-3AD9-E5FF-A16BDFA0475C}"/>
              </a:ext>
            </a:extLst>
          </p:cNvPr>
          <p:cNvSpPr txBox="1"/>
          <p:nvPr/>
        </p:nvSpPr>
        <p:spPr>
          <a:xfrm>
            <a:off x="2660665" y="3930404"/>
            <a:ext cx="486544" cy="29084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 cut</a:t>
            </a:r>
          </a:p>
        </p:txBody>
      </p:sp>
      <p:sp>
        <p:nvSpPr>
          <p:cNvPr id="2" name="TextBox 1">
            <a:extLst>
              <a:ext uri="{FF2B5EF4-FFF2-40B4-BE49-F238E27FC236}">
                <a16:creationId xmlns:a16="http://schemas.microsoft.com/office/drawing/2014/main" id="{EDFBB0E7-47FB-BC8B-700B-96C2CCAF8E8F}"/>
              </a:ext>
            </a:extLst>
          </p:cNvPr>
          <p:cNvSpPr txBox="1"/>
          <p:nvPr/>
        </p:nvSpPr>
        <p:spPr>
          <a:xfrm>
            <a:off x="5183731" y="2278743"/>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1,000 layoffs  November 2025</a:t>
            </a:r>
          </a:p>
        </p:txBody>
      </p:sp>
      <p:sp>
        <p:nvSpPr>
          <p:cNvPr id="4" name="TextBox 3">
            <a:extLst>
              <a:ext uri="{FF2B5EF4-FFF2-40B4-BE49-F238E27FC236}">
                <a16:creationId xmlns:a16="http://schemas.microsoft.com/office/drawing/2014/main" id="{1CA8600B-B97C-D7AF-9E4A-B3889DBBF66A}"/>
              </a:ext>
            </a:extLst>
          </p:cNvPr>
          <p:cNvSpPr txBox="1"/>
          <p:nvPr/>
        </p:nvSpPr>
        <p:spPr>
          <a:xfrm>
            <a:off x="5483091" y="3896343"/>
            <a:ext cx="551968" cy="3323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Schools: 5% cut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Support units: 10% cut</a:t>
            </a:r>
          </a:p>
        </p:txBody>
      </p:sp>
      <p:sp>
        <p:nvSpPr>
          <p:cNvPr id="19" name="TextBox 18">
            <a:extLst>
              <a:ext uri="{FF2B5EF4-FFF2-40B4-BE49-F238E27FC236}">
                <a16:creationId xmlns:a16="http://schemas.microsoft.com/office/drawing/2014/main" id="{E1985CD5-6067-FFAD-0B0E-D0C01116C820}"/>
              </a:ext>
            </a:extLst>
          </p:cNvPr>
          <p:cNvSpPr txBox="1"/>
          <p:nvPr/>
        </p:nvSpPr>
        <p:spPr>
          <a:xfrm>
            <a:off x="10000845" y="2297481"/>
            <a:ext cx="746869"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240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July 2025</a:t>
            </a:r>
          </a:p>
        </p:txBody>
      </p:sp>
      <p:sp>
        <p:nvSpPr>
          <p:cNvPr id="50" name="TextBox 49">
            <a:extLst>
              <a:ext uri="{FF2B5EF4-FFF2-40B4-BE49-F238E27FC236}">
                <a16:creationId xmlns:a16="http://schemas.microsoft.com/office/drawing/2014/main" id="{5B8485B5-43DD-210E-8CE2-00F7BE24E997}"/>
              </a:ext>
            </a:extLst>
          </p:cNvPr>
          <p:cNvSpPr txBox="1"/>
          <p:nvPr/>
        </p:nvSpPr>
        <p:spPr>
          <a:xfrm>
            <a:off x="3883482" y="3998112"/>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p:txBody>
      </p:sp>
      <p:sp>
        <p:nvSpPr>
          <p:cNvPr id="55" name="TextBox 54">
            <a:extLst>
              <a:ext uri="{FF2B5EF4-FFF2-40B4-BE49-F238E27FC236}">
                <a16:creationId xmlns:a16="http://schemas.microsoft.com/office/drawing/2014/main" id="{272E4E3E-DC40-2CFF-BEA8-089D7953690D}"/>
              </a:ext>
            </a:extLst>
          </p:cNvPr>
          <p:cNvSpPr txBox="1"/>
          <p:nvPr/>
        </p:nvSpPr>
        <p:spPr>
          <a:xfrm>
            <a:off x="2267132" y="4024533"/>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sp>
        <p:nvSpPr>
          <p:cNvPr id="57" name="TextBox 56">
            <a:extLst>
              <a:ext uri="{FF2B5EF4-FFF2-40B4-BE49-F238E27FC236}">
                <a16:creationId xmlns:a16="http://schemas.microsoft.com/office/drawing/2014/main" id="{14DC9A8D-F0FF-B3F0-03C9-12A3E440F442}"/>
              </a:ext>
            </a:extLst>
          </p:cNvPr>
          <p:cNvSpPr txBox="1"/>
          <p:nvPr/>
        </p:nvSpPr>
        <p:spPr>
          <a:xfrm>
            <a:off x="2058627" y="2262545"/>
            <a:ext cx="541468" cy="332398"/>
          </a:xfrm>
          <a:prstGeom prst="rect">
            <a:avLst/>
          </a:prstGeom>
          <a:noFill/>
          <a:ln>
            <a:no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Sep 2025</a:t>
            </a:r>
          </a:p>
        </p:txBody>
      </p:sp>
      <p:sp>
        <p:nvSpPr>
          <p:cNvPr id="59" name="TextBox 58">
            <a:extLst>
              <a:ext uri="{FF2B5EF4-FFF2-40B4-BE49-F238E27FC236}">
                <a16:creationId xmlns:a16="http://schemas.microsoft.com/office/drawing/2014/main" id="{5F9B5CB6-B95A-5D06-04F7-11807AD700D0}"/>
              </a:ext>
            </a:extLst>
          </p:cNvPr>
          <p:cNvSpPr txBox="1"/>
          <p:nvPr/>
        </p:nvSpPr>
        <p:spPr>
          <a:xfrm>
            <a:off x="9786267" y="3073601"/>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1" name="TextBox 60">
            <a:extLst>
              <a:ext uri="{FF2B5EF4-FFF2-40B4-BE49-F238E27FC236}">
                <a16:creationId xmlns:a16="http://schemas.microsoft.com/office/drawing/2014/main" id="{6FB4B467-C4FC-6E79-3124-206B63AFC0AD}"/>
              </a:ext>
            </a:extLst>
          </p:cNvPr>
          <p:cNvSpPr txBox="1"/>
          <p:nvPr/>
        </p:nvSpPr>
        <p:spPr>
          <a:xfrm>
            <a:off x="9564671" y="2295501"/>
            <a:ext cx="756925"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75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 2025</a:t>
            </a:r>
          </a:p>
        </p:txBody>
      </p:sp>
      <p:sp>
        <p:nvSpPr>
          <p:cNvPr id="62" name="TextBox 61">
            <a:extLst>
              <a:ext uri="{FF2B5EF4-FFF2-40B4-BE49-F238E27FC236}">
                <a16:creationId xmlns:a16="http://schemas.microsoft.com/office/drawing/2014/main" id="{AA8D141C-1C72-62D2-AFFD-7D0F901C4208}"/>
              </a:ext>
            </a:extLst>
          </p:cNvPr>
          <p:cNvSpPr txBox="1"/>
          <p:nvPr/>
        </p:nvSpPr>
        <p:spPr>
          <a:xfrm>
            <a:off x="9924391"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$33M</a:t>
            </a:r>
          </a:p>
        </p:txBody>
      </p:sp>
      <p:sp>
        <p:nvSpPr>
          <p:cNvPr id="51" name="TextBox 50">
            <a:extLst>
              <a:ext uri="{FF2B5EF4-FFF2-40B4-BE49-F238E27FC236}">
                <a16:creationId xmlns:a16="http://schemas.microsoft.com/office/drawing/2014/main" id="{4B52AFA5-F54E-C1A4-DE6C-3660D7224873}"/>
              </a:ext>
            </a:extLst>
          </p:cNvPr>
          <p:cNvSpPr txBox="1"/>
          <p:nvPr/>
        </p:nvSpPr>
        <p:spPr>
          <a:xfrm>
            <a:off x="7950052" y="2231273"/>
            <a:ext cx="728803" cy="4154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316 layoffs + eliminated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 vacant positions</a:t>
            </a:r>
          </a:p>
        </p:txBody>
      </p:sp>
      <p:sp>
        <p:nvSpPr>
          <p:cNvPr id="52" name="TextBox 51">
            <a:extLst>
              <a:ext uri="{FF2B5EF4-FFF2-40B4-BE49-F238E27FC236}">
                <a16:creationId xmlns:a16="http://schemas.microsoft.com/office/drawing/2014/main" id="{62543348-BDE7-DFE4-8D03-14E724D81603}"/>
              </a:ext>
            </a:extLst>
          </p:cNvPr>
          <p:cNvSpPr txBox="1"/>
          <p:nvPr/>
        </p:nvSpPr>
        <p:spPr>
          <a:xfrm>
            <a:off x="9100814" y="3921735"/>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Reduce $100M in spending</a:t>
            </a:r>
          </a:p>
        </p:txBody>
      </p:sp>
      <p:sp>
        <p:nvSpPr>
          <p:cNvPr id="42" name="TextBox 41">
            <a:extLst>
              <a:ext uri="{FF2B5EF4-FFF2-40B4-BE49-F238E27FC236}">
                <a16:creationId xmlns:a16="http://schemas.microsoft.com/office/drawing/2014/main" id="{2391F7CD-1E91-F372-4CD5-E9921D4759A3}"/>
              </a:ext>
            </a:extLst>
          </p:cNvPr>
          <p:cNvSpPr txBox="1"/>
          <p:nvPr/>
        </p:nvSpPr>
        <p:spPr>
          <a:xfrm>
            <a:off x="6331468"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3" name="TextBox 42">
            <a:extLst>
              <a:ext uri="{FF2B5EF4-FFF2-40B4-BE49-F238E27FC236}">
                <a16:creationId xmlns:a16="http://schemas.microsoft.com/office/drawing/2014/main" id="{E2F92C61-6711-19EC-195B-0DEC693969A9}"/>
              </a:ext>
            </a:extLst>
          </p:cNvPr>
          <p:cNvSpPr txBox="1"/>
          <p:nvPr/>
        </p:nvSpPr>
        <p:spPr>
          <a:xfrm>
            <a:off x="3490160" y="5284018"/>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a:t>
            </a:r>
          </a:p>
        </p:txBody>
      </p:sp>
      <p:sp>
        <p:nvSpPr>
          <p:cNvPr id="44" name="TextBox 43">
            <a:extLst>
              <a:ext uri="{FF2B5EF4-FFF2-40B4-BE49-F238E27FC236}">
                <a16:creationId xmlns:a16="http://schemas.microsoft.com/office/drawing/2014/main" id="{AFA71DCE-3181-0587-9B02-FA779CD6D1D0}"/>
              </a:ext>
            </a:extLst>
          </p:cNvPr>
          <p:cNvSpPr txBox="1"/>
          <p:nvPr/>
        </p:nvSpPr>
        <p:spPr>
          <a:xfrm>
            <a:off x="9841664"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5" name="TextBox 44">
            <a:extLst>
              <a:ext uri="{FF2B5EF4-FFF2-40B4-BE49-F238E27FC236}">
                <a16:creationId xmlns:a16="http://schemas.microsoft.com/office/drawing/2014/main" id="{42353673-3F19-8390-D213-1660BB0968B0}"/>
              </a:ext>
            </a:extLst>
          </p:cNvPr>
          <p:cNvSpPr txBox="1"/>
          <p:nvPr/>
        </p:nvSpPr>
        <p:spPr>
          <a:xfrm>
            <a:off x="10302195"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$30M</a:t>
            </a:r>
          </a:p>
        </p:txBody>
      </p:sp>
      <p:sp>
        <p:nvSpPr>
          <p:cNvPr id="46" name="TextBox 45">
            <a:extLst>
              <a:ext uri="{FF2B5EF4-FFF2-40B4-BE49-F238E27FC236}">
                <a16:creationId xmlns:a16="http://schemas.microsoft.com/office/drawing/2014/main" id="{624E36B1-D047-CDF4-12C9-17D81C804B2B}"/>
              </a:ext>
            </a:extLst>
          </p:cNvPr>
          <p:cNvSpPr txBox="1"/>
          <p:nvPr/>
        </p:nvSpPr>
        <p:spPr>
          <a:xfrm>
            <a:off x="602416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 potential announced December 2025</a:t>
            </a:r>
          </a:p>
        </p:txBody>
      </p:sp>
      <p:sp>
        <p:nvSpPr>
          <p:cNvPr id="54" name="TextBox 53">
            <a:extLst>
              <a:ext uri="{FF2B5EF4-FFF2-40B4-BE49-F238E27FC236}">
                <a16:creationId xmlns:a16="http://schemas.microsoft.com/office/drawing/2014/main" id="{B6447103-6839-D0E2-E6B5-8FEC98B2B59B}"/>
              </a:ext>
            </a:extLst>
          </p:cNvPr>
          <p:cNvSpPr txBox="1"/>
          <p:nvPr/>
        </p:nvSpPr>
        <p:spPr>
          <a:xfrm>
            <a:off x="3359967"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3" name="TextBox 62">
            <a:extLst>
              <a:ext uri="{FF2B5EF4-FFF2-40B4-BE49-F238E27FC236}">
                <a16:creationId xmlns:a16="http://schemas.microsoft.com/office/drawing/2014/main" id="{23C69328-C277-1318-1F25-CE9EEEFA0F97}"/>
              </a:ext>
            </a:extLst>
          </p:cNvPr>
          <p:cNvSpPr txBox="1"/>
          <p:nvPr/>
        </p:nvSpPr>
        <p:spPr>
          <a:xfrm>
            <a:off x="1679680" y="2324176"/>
            <a:ext cx="544956"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180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a:t>
            </a:r>
          </a:p>
        </p:txBody>
      </p:sp>
      <p:sp>
        <p:nvSpPr>
          <p:cNvPr id="64" name="TextBox 63">
            <a:extLst>
              <a:ext uri="{FF2B5EF4-FFF2-40B4-BE49-F238E27FC236}">
                <a16:creationId xmlns:a16="http://schemas.microsoft.com/office/drawing/2014/main" id="{B8168C10-1698-CF3E-70BB-35292C1D43B7}"/>
              </a:ext>
            </a:extLst>
          </p:cNvPr>
          <p:cNvSpPr txBox="1"/>
          <p:nvPr/>
        </p:nvSpPr>
        <p:spPr>
          <a:xfrm>
            <a:off x="3188498"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Dec 2025</a:t>
            </a:r>
          </a:p>
        </p:txBody>
      </p:sp>
      <p:sp>
        <p:nvSpPr>
          <p:cNvPr id="65" name="TextBox 64">
            <a:extLst>
              <a:ext uri="{FF2B5EF4-FFF2-40B4-BE49-F238E27FC236}">
                <a16:creationId xmlns:a16="http://schemas.microsoft.com/office/drawing/2014/main" id="{784E3E1C-22EE-6569-012B-E8D9BB4666B6}"/>
              </a:ext>
            </a:extLst>
          </p:cNvPr>
          <p:cNvSpPr txBox="1"/>
          <p:nvPr/>
        </p:nvSpPr>
        <p:spPr>
          <a:xfrm>
            <a:off x="3894743"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Mar 2025</a:t>
            </a:r>
          </a:p>
        </p:txBody>
      </p:sp>
      <p:pic>
        <p:nvPicPr>
          <p:cNvPr id="66" name="Picture 2">
            <a:extLst>
              <a:ext uri="{FF2B5EF4-FFF2-40B4-BE49-F238E27FC236}">
                <a16:creationId xmlns:a16="http://schemas.microsoft.com/office/drawing/2014/main" id="{461D9C70-8725-DF64-DF6C-F69C0782752A}"/>
              </a:ext>
            </a:extLst>
          </p:cNvPr>
          <p:cNvPicPr>
            <a:picLocks noChangeAspect="1" noChangeArrowheads="1"/>
          </p:cNvPicPr>
          <p:nvPr/>
        </p:nvPicPr>
        <p:blipFill>
          <a:blip r:embed="rId10" cstate="email">
            <a:extLst>
              <a:ext uri="{28A0092B-C50C-407E-A947-70E740481C1C}">
                <a14:useLocalDpi xmlns:a14="http://schemas.microsoft.com/office/drawing/2010/main" val="0"/>
              </a:ext>
            </a:extLst>
          </a:blip>
          <a:srcRect/>
          <a:stretch>
            <a:fillRect/>
          </a:stretch>
        </p:blipFill>
        <p:spPr bwMode="auto">
          <a:xfrm>
            <a:off x="2947706" y="1240803"/>
            <a:ext cx="351303" cy="351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orthwestern University Logo, symbol, meaning, history, PNG, brand">
            <a:extLst>
              <a:ext uri="{FF2B5EF4-FFF2-40B4-BE49-F238E27FC236}">
                <a16:creationId xmlns:a16="http://schemas.microsoft.com/office/drawing/2014/main" id="{FF87622C-B0A2-4FB6-D5C6-C923E89C4F84}"/>
              </a:ext>
            </a:extLst>
          </p:cNvPr>
          <p:cNvPicPr>
            <a:picLocks noChangeAspect="1" noChangeArrowheads="1"/>
          </p:cNvPicPr>
          <p:nvPr/>
        </p:nvPicPr>
        <p:blipFill>
          <a:blip r:embed="rId11" cstate="email">
            <a:extLst>
              <a:ext uri="{28A0092B-C50C-407E-A947-70E740481C1C}">
                <a14:useLocalDpi xmlns:a14="http://schemas.microsoft.com/office/drawing/2010/main" val="0"/>
              </a:ext>
            </a:extLst>
          </a:blip>
          <a:srcRect/>
          <a:stretch>
            <a:fillRect/>
          </a:stretch>
        </p:blipFill>
        <p:spPr bwMode="auto">
          <a:xfrm>
            <a:off x="2396591" y="1232443"/>
            <a:ext cx="642127" cy="361196"/>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8" descr="The Harvard Veritas shield next to the adorned shield (with wreath).">
            <a:extLst>
              <a:ext uri="{FF2B5EF4-FFF2-40B4-BE49-F238E27FC236}">
                <a16:creationId xmlns:a16="http://schemas.microsoft.com/office/drawing/2014/main" id="{FB8D9A65-7D62-A8AA-958B-63CB4FE486D4}"/>
              </a:ext>
            </a:extLst>
          </p:cNvPr>
          <p:cNvPicPr>
            <a:picLocks noChangeAspect="1" noChangeArrowheads="1"/>
          </p:cNvPicPr>
          <p:nvPr/>
        </p:nvPicPr>
        <p:blipFill rotWithShape="1">
          <a:blip r:embed="rId12" cstate="email">
            <a:extLst>
              <a:ext uri="{28A0092B-C50C-407E-A947-70E740481C1C}">
                <a14:useLocalDpi xmlns:a14="http://schemas.microsoft.com/office/drawing/2010/main" val="0"/>
              </a:ext>
            </a:extLst>
          </a:blip>
          <a:srcRect r="58594"/>
          <a:stretch>
            <a:fillRect/>
          </a:stretch>
        </p:blipFill>
        <p:spPr bwMode="auto">
          <a:xfrm>
            <a:off x="1314259" y="1076654"/>
            <a:ext cx="382927" cy="6168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uke University Logo and symbol, meaning, history, PNG, brand">
            <a:extLst>
              <a:ext uri="{FF2B5EF4-FFF2-40B4-BE49-F238E27FC236}">
                <a16:creationId xmlns:a16="http://schemas.microsoft.com/office/drawing/2014/main" id="{D68510D6-93DC-DD09-1246-4486A6DE65AB}"/>
              </a:ext>
            </a:extLst>
          </p:cNvPr>
          <p:cNvPicPr>
            <a:picLocks noChangeAspect="1" noChangeArrowheads="1"/>
          </p:cNvPicPr>
          <p:nvPr/>
        </p:nvPicPr>
        <p:blipFill rotWithShape="1">
          <a:blip r:embed="rId13" cstate="email">
            <a:extLst>
              <a:ext uri="{28A0092B-C50C-407E-A947-70E740481C1C}">
                <a14:useLocalDpi xmlns:a14="http://schemas.microsoft.com/office/drawing/2010/main" val="0"/>
              </a:ext>
            </a:extLst>
          </a:blip>
          <a:srcRect r="54199"/>
          <a:stretch>
            <a:fillRect/>
          </a:stretch>
        </p:blipFill>
        <p:spPr bwMode="auto">
          <a:xfrm>
            <a:off x="4603717" y="1222713"/>
            <a:ext cx="322729" cy="396359"/>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18">
            <a:extLst>
              <a:ext uri="{FF2B5EF4-FFF2-40B4-BE49-F238E27FC236}">
                <a16:creationId xmlns:a16="http://schemas.microsoft.com/office/drawing/2014/main" id="{32BBD04A-E793-4815-7FA8-9DB7AF4677F5}"/>
              </a:ext>
            </a:extLst>
          </p:cNvPr>
          <p:cNvPicPr>
            <a:picLocks noChangeAspect="1" noChangeArrowheads="1"/>
          </p:cNvPicPr>
          <p:nvPr/>
        </p:nvPicPr>
        <p:blipFill>
          <a:blip r:embed="rId14" cstate="email">
            <a:extLst>
              <a:ext uri="{28A0092B-C50C-407E-A947-70E740481C1C}">
                <a14:useLocalDpi xmlns:a14="http://schemas.microsoft.com/office/drawing/2010/main" val="0"/>
              </a:ext>
            </a:extLst>
          </a:blip>
          <a:srcRect/>
          <a:stretch>
            <a:fillRect/>
          </a:stretch>
        </p:blipFill>
        <p:spPr bwMode="auto">
          <a:xfrm>
            <a:off x="1722391" y="1231489"/>
            <a:ext cx="411350" cy="327434"/>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hield of Princeton University">
            <a:extLst>
              <a:ext uri="{FF2B5EF4-FFF2-40B4-BE49-F238E27FC236}">
                <a16:creationId xmlns:a16="http://schemas.microsoft.com/office/drawing/2014/main" id="{33F71AF2-02A0-CF02-477C-A4261F655CA2}"/>
              </a:ext>
            </a:extLst>
          </p:cNvPr>
          <p:cNvPicPr>
            <a:picLocks noChangeAspect="1" noChangeArrowheads="1"/>
          </p:cNvPicPr>
          <p:nvPr/>
        </p:nvPicPr>
        <p:blipFill>
          <a:blip r:embed="rId15" cstate="email">
            <a:extLst>
              <a:ext uri="{28A0092B-C50C-407E-A947-70E740481C1C}">
                <a14:useLocalDpi xmlns:a14="http://schemas.microsoft.com/office/drawing/2010/main" val="0"/>
              </a:ext>
            </a:extLst>
          </a:blip>
          <a:srcRect/>
          <a:stretch>
            <a:fillRect/>
          </a:stretch>
        </p:blipFill>
        <p:spPr bwMode="auto">
          <a:xfrm>
            <a:off x="3765266" y="1195568"/>
            <a:ext cx="307927" cy="394147"/>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732DDF7A-463A-9F76-6EF7-9EB409956B47}"/>
              </a:ext>
            </a:extLst>
          </p:cNvPr>
          <p:cNvPicPr>
            <a:picLocks noChangeAspect="1" noChangeArrowheads="1"/>
          </p:cNvPicPr>
          <p:nvPr/>
        </p:nvPicPr>
        <p:blipFill>
          <a:blip r:embed="rId16" cstate="email">
            <a:extLst>
              <a:ext uri="{28A0092B-C50C-407E-A947-70E740481C1C}">
                <a14:useLocalDpi xmlns:a14="http://schemas.microsoft.com/office/drawing/2010/main" val="0"/>
              </a:ext>
            </a:extLst>
          </a:blip>
          <a:srcRect/>
          <a:stretch>
            <a:fillRect/>
          </a:stretch>
        </p:blipFill>
        <p:spPr bwMode="auto">
          <a:xfrm>
            <a:off x="8204387" y="1192905"/>
            <a:ext cx="391428" cy="391428"/>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The coat of arms of the University of Chicago">
            <a:extLst>
              <a:ext uri="{FF2B5EF4-FFF2-40B4-BE49-F238E27FC236}">
                <a16:creationId xmlns:a16="http://schemas.microsoft.com/office/drawing/2014/main" id="{E7811294-1AB8-BF57-A88C-C3A7F4577E0F}"/>
              </a:ext>
            </a:extLst>
          </p:cNvPr>
          <p:cNvPicPr>
            <a:picLocks noChangeAspect="1" noChangeArrowheads="1"/>
          </p:cNvPicPr>
          <p:nvPr/>
        </p:nvPicPr>
        <p:blipFill>
          <a:blip r:embed="rId17" cstate="email">
            <a:extLst>
              <a:ext uri="{28A0092B-C50C-407E-A947-70E740481C1C}">
                <a14:useLocalDpi xmlns:a14="http://schemas.microsoft.com/office/drawing/2010/main" val="0"/>
              </a:ext>
            </a:extLst>
          </a:blip>
          <a:srcRect/>
          <a:stretch>
            <a:fillRect/>
          </a:stretch>
        </p:blipFill>
        <p:spPr bwMode="auto">
          <a:xfrm>
            <a:off x="9047069" y="1199285"/>
            <a:ext cx="297517" cy="377251"/>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B268D083-735A-8696-A017-0B5D4F0CC2B6}"/>
              </a:ext>
            </a:extLst>
          </p:cNvPr>
          <p:cNvPicPr>
            <a:picLocks noChangeAspect="1" noChangeArrowheads="1"/>
          </p:cNvPicPr>
          <p:nvPr/>
        </p:nvPicPr>
        <p:blipFill>
          <a:blip r:embed="rId18" cstate="email">
            <a:extLst>
              <a:ext uri="{28A0092B-C50C-407E-A947-70E740481C1C}">
                <a14:useLocalDpi xmlns:a14="http://schemas.microsoft.com/office/drawing/2010/main" val="0"/>
              </a:ext>
            </a:extLst>
          </a:blip>
          <a:srcRect/>
          <a:stretch>
            <a:fillRect/>
          </a:stretch>
        </p:blipFill>
        <p:spPr bwMode="auto">
          <a:xfrm>
            <a:off x="9737467" y="1169851"/>
            <a:ext cx="442366" cy="442366"/>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0">
            <a:extLst>
              <a:ext uri="{FF2B5EF4-FFF2-40B4-BE49-F238E27FC236}">
                <a16:creationId xmlns:a16="http://schemas.microsoft.com/office/drawing/2014/main" id="{F49281B9-90FA-8A95-0042-35212EBB4845}"/>
              </a:ext>
            </a:extLst>
          </p:cNvPr>
          <p:cNvPicPr>
            <a:picLocks noChangeAspect="1" noChangeArrowheads="1"/>
          </p:cNvPicPr>
          <p:nvPr/>
        </p:nvPicPr>
        <p:blipFill>
          <a:blip r:embed="rId19" cstate="email">
            <a:extLst>
              <a:ext uri="{28A0092B-C50C-407E-A947-70E740481C1C}">
                <a14:useLocalDpi xmlns:a14="http://schemas.microsoft.com/office/drawing/2010/main" val="0"/>
              </a:ext>
            </a:extLst>
          </a:blip>
          <a:srcRect/>
          <a:stretch>
            <a:fillRect/>
          </a:stretch>
        </p:blipFill>
        <p:spPr bwMode="auto">
          <a:xfrm>
            <a:off x="4147060" y="1189593"/>
            <a:ext cx="344526" cy="461665"/>
          </a:xfrm>
          <a:prstGeom prst="rect">
            <a:avLst/>
          </a:prstGeom>
          <a:noFill/>
          <a:extLst>
            <a:ext uri="{909E8E84-426E-40DD-AFC4-6F175D3DCCD1}">
              <a14:hiddenFill xmlns:a14="http://schemas.microsoft.com/office/drawing/2010/main">
                <a:solidFill>
                  <a:srgbClr val="FFFFFF"/>
                </a:solidFill>
              </a14:hiddenFill>
            </a:ext>
          </a:extLst>
        </p:spPr>
      </p:pic>
      <p:pic>
        <p:nvPicPr>
          <p:cNvPr id="2072" name="Picture 24">
            <a:extLst>
              <a:ext uri="{FF2B5EF4-FFF2-40B4-BE49-F238E27FC236}">
                <a16:creationId xmlns:a16="http://schemas.microsoft.com/office/drawing/2014/main" id="{B8179F76-8C98-0198-1923-2B80D96E8EAB}"/>
              </a:ext>
            </a:extLst>
          </p:cNvPr>
          <p:cNvPicPr>
            <a:picLocks noChangeAspect="1" noChangeArrowheads="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10190852" y="1192615"/>
            <a:ext cx="396490" cy="396490"/>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a:extLst>
              <a:ext uri="{FF2B5EF4-FFF2-40B4-BE49-F238E27FC236}">
                <a16:creationId xmlns:a16="http://schemas.microsoft.com/office/drawing/2014/main" id="{90D56BDF-EB30-C783-6A88-B5DE0942B4F7}"/>
              </a:ext>
            </a:extLst>
          </p:cNvPr>
          <p:cNvPicPr>
            <a:picLocks noChangeAspect="1" noChangeArrowheads="1"/>
          </p:cNvPicPr>
          <p:nvPr/>
        </p:nvPicPr>
        <p:blipFill>
          <a:blip r:embed="rId21" cstate="email">
            <a:extLst>
              <a:ext uri="{28A0092B-C50C-407E-A947-70E740481C1C}">
                <a14:useLocalDpi xmlns:a14="http://schemas.microsoft.com/office/drawing/2010/main" val="0"/>
              </a:ext>
            </a:extLst>
          </a:blip>
          <a:srcRect/>
          <a:stretch>
            <a:fillRect/>
          </a:stretch>
        </p:blipFill>
        <p:spPr bwMode="auto">
          <a:xfrm>
            <a:off x="10639039" y="1202011"/>
            <a:ext cx="357105" cy="357105"/>
          </a:xfrm>
          <a:prstGeom prst="rect">
            <a:avLst/>
          </a:prstGeom>
          <a:noFill/>
          <a:extLst>
            <a:ext uri="{909E8E84-426E-40DD-AFC4-6F175D3DCCD1}">
              <a14:hiddenFill xmlns:a14="http://schemas.microsoft.com/office/drawing/2010/main">
                <a:solidFill>
                  <a:srgbClr val="FFFFFF"/>
                </a:solidFill>
              </a14:hiddenFill>
            </a:ext>
          </a:extLst>
        </p:spPr>
      </p:pic>
      <p:pic>
        <p:nvPicPr>
          <p:cNvPr id="2076" name="Picture 28">
            <a:extLst>
              <a:ext uri="{FF2B5EF4-FFF2-40B4-BE49-F238E27FC236}">
                <a16:creationId xmlns:a16="http://schemas.microsoft.com/office/drawing/2014/main" id="{0F5E4B34-1904-B4B8-12B5-5558E5272C83}"/>
              </a:ext>
            </a:extLst>
          </p:cNvPr>
          <p:cNvPicPr>
            <a:picLocks noChangeAspect="1" noChangeArrowheads="1"/>
          </p:cNvPicPr>
          <p:nvPr/>
        </p:nvPicPr>
        <p:blipFill>
          <a:blip r:embed="rId22" cstate="email">
            <a:extLst>
              <a:ext uri="{28A0092B-C50C-407E-A947-70E740481C1C}">
                <a14:useLocalDpi xmlns:a14="http://schemas.microsoft.com/office/drawing/2010/main" val="0"/>
              </a:ext>
            </a:extLst>
          </a:blip>
          <a:srcRect/>
          <a:stretch>
            <a:fillRect/>
          </a:stretch>
        </p:blipFill>
        <p:spPr bwMode="auto">
          <a:xfrm>
            <a:off x="6201183" y="1184657"/>
            <a:ext cx="351474" cy="369751"/>
          </a:xfrm>
          <a:prstGeom prst="rect">
            <a:avLst/>
          </a:prstGeom>
          <a:noFill/>
          <a:extLst>
            <a:ext uri="{909E8E84-426E-40DD-AFC4-6F175D3DCCD1}">
              <a14:hiddenFill xmlns:a14="http://schemas.microsoft.com/office/drawing/2010/main">
                <a:solidFill>
                  <a:srgbClr val="FFFFFF"/>
                </a:solidFill>
              </a14:hiddenFill>
            </a:ext>
          </a:extLst>
        </p:spPr>
      </p:pic>
      <p:pic>
        <p:nvPicPr>
          <p:cNvPr id="2082" name="Picture 34" descr="Emory University Office of Admission | Atlanta GA">
            <a:extLst>
              <a:ext uri="{FF2B5EF4-FFF2-40B4-BE49-F238E27FC236}">
                <a16:creationId xmlns:a16="http://schemas.microsoft.com/office/drawing/2014/main" id="{A48641CB-7A84-DD6A-3BB2-0D7F4064EDE0}"/>
              </a:ext>
            </a:extLst>
          </p:cNvPr>
          <p:cNvPicPr>
            <a:picLocks noChangeAspect="1" noChangeArrowheads="1"/>
          </p:cNvPicPr>
          <p:nvPr/>
        </p:nvPicPr>
        <p:blipFill>
          <a:blip r:embed="rId23"/>
          <a:srcRect/>
          <a:stretch/>
        </p:blipFill>
        <p:spPr bwMode="auto">
          <a:xfrm>
            <a:off x="4981705" y="1024102"/>
            <a:ext cx="429535" cy="767026"/>
          </a:xfrm>
          <a:prstGeom prst="rect">
            <a:avLst/>
          </a:prstGeom>
          <a:noFill/>
          <a:extLst>
            <a:ext uri="{909E8E84-426E-40DD-AFC4-6F175D3DCCD1}">
              <a14:hiddenFill xmlns:a14="http://schemas.microsoft.com/office/drawing/2010/main">
                <a:solidFill>
                  <a:srgbClr val="FFFFFF"/>
                </a:solidFill>
              </a14:hiddenFill>
            </a:ext>
          </a:extLst>
        </p:spPr>
      </p:pic>
      <p:pic>
        <p:nvPicPr>
          <p:cNvPr id="2088" name="Picture 40">
            <a:extLst>
              <a:ext uri="{FF2B5EF4-FFF2-40B4-BE49-F238E27FC236}">
                <a16:creationId xmlns:a16="http://schemas.microsoft.com/office/drawing/2014/main" id="{0D9F527B-1820-3C94-5A4B-C3561F197ED2}"/>
              </a:ext>
            </a:extLst>
          </p:cNvPr>
          <p:cNvPicPr>
            <a:picLocks noChangeAspect="1" noChangeArrowheads="1"/>
          </p:cNvPicPr>
          <p:nvPr/>
        </p:nvPicPr>
        <p:blipFill>
          <a:blip r:embed="rId24" cstate="email">
            <a:extLst>
              <a:ext uri="{28A0092B-C50C-407E-A947-70E740481C1C}">
                <a14:useLocalDpi xmlns:a14="http://schemas.microsoft.com/office/drawing/2010/main" val="0"/>
              </a:ext>
            </a:extLst>
          </a:blip>
          <a:srcRect/>
          <a:stretch>
            <a:fillRect/>
          </a:stretch>
        </p:blipFill>
        <p:spPr bwMode="auto">
          <a:xfrm>
            <a:off x="11003580" y="1243793"/>
            <a:ext cx="398669" cy="287329"/>
          </a:xfrm>
          <a:prstGeom prst="rect">
            <a:avLst/>
          </a:prstGeom>
          <a:noFill/>
          <a:extLst>
            <a:ext uri="{909E8E84-426E-40DD-AFC4-6F175D3DCCD1}">
              <a14:hiddenFill xmlns:a14="http://schemas.microsoft.com/office/drawing/2010/main">
                <a:solidFill>
                  <a:srgbClr val="FFFFFF"/>
                </a:solidFill>
              </a14:hiddenFill>
            </a:ext>
          </a:extLst>
        </p:spPr>
      </p:pic>
      <p:pic>
        <p:nvPicPr>
          <p:cNvPr id="2092" name="Picture 44" descr="Visual Identity - Georgetown University">
            <a:extLst>
              <a:ext uri="{FF2B5EF4-FFF2-40B4-BE49-F238E27FC236}">
                <a16:creationId xmlns:a16="http://schemas.microsoft.com/office/drawing/2014/main" id="{BE24DB14-4EF0-E7CB-0D23-5A9C6A745197}"/>
              </a:ext>
            </a:extLst>
          </p:cNvPr>
          <p:cNvPicPr>
            <a:picLocks noChangeAspect="1" noChangeArrowheads="1"/>
          </p:cNvPicPr>
          <p:nvPr/>
        </p:nvPicPr>
        <p:blipFill>
          <a:blip r:embed="rId25" cstate="email">
            <a:extLst>
              <a:ext uri="{28A0092B-C50C-407E-A947-70E740481C1C}">
                <a14:useLocalDpi xmlns:a14="http://schemas.microsoft.com/office/drawing/2010/main" val="0"/>
              </a:ext>
            </a:extLst>
          </a:blip>
          <a:srcRect/>
          <a:stretch>
            <a:fillRect/>
          </a:stretch>
        </p:blipFill>
        <p:spPr bwMode="auto">
          <a:xfrm>
            <a:off x="7859269" y="1218156"/>
            <a:ext cx="289648" cy="340762"/>
          </a:xfrm>
          <a:prstGeom prst="rect">
            <a:avLst/>
          </a:prstGeom>
          <a:noFill/>
          <a:extLst>
            <a:ext uri="{909E8E84-426E-40DD-AFC4-6F175D3DCCD1}">
              <a14:hiddenFill xmlns:a14="http://schemas.microsoft.com/office/drawing/2010/main">
                <a:solidFill>
                  <a:srgbClr val="FFFFFF"/>
                </a:solidFill>
              </a14:hiddenFill>
            </a:ext>
          </a:extLst>
        </p:spPr>
      </p:pic>
      <p:pic>
        <p:nvPicPr>
          <p:cNvPr id="2096" name="Picture 48" descr="Dartmouth College shield transparent PNG - StickPNG">
            <a:extLst>
              <a:ext uri="{FF2B5EF4-FFF2-40B4-BE49-F238E27FC236}">
                <a16:creationId xmlns:a16="http://schemas.microsoft.com/office/drawing/2014/main" id="{E6D7E769-0483-CA34-BD84-70293E495D31}"/>
              </a:ext>
            </a:extLst>
          </p:cNvPr>
          <p:cNvPicPr>
            <a:picLocks noChangeAspect="1" noChangeArrowheads="1"/>
          </p:cNvPicPr>
          <p:nvPr/>
        </p:nvPicPr>
        <p:blipFill>
          <a:blip r:embed="rId26" cstate="email">
            <a:extLst>
              <a:ext uri="{28A0092B-C50C-407E-A947-70E740481C1C}">
                <a14:useLocalDpi xmlns:a14="http://schemas.microsoft.com/office/drawing/2010/main" val="0"/>
              </a:ext>
            </a:extLst>
          </a:blip>
          <a:srcRect/>
          <a:stretch>
            <a:fillRect/>
          </a:stretch>
        </p:blipFill>
        <p:spPr bwMode="auto">
          <a:xfrm>
            <a:off x="9383529" y="1205565"/>
            <a:ext cx="345160" cy="3690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3871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4"/>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4"/>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75529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$100M</a:t>
            </a:r>
          </a:p>
        </p:txBody>
      </p:sp>
      <p:cxnSp>
        <p:nvCxnSpPr>
          <p:cNvPr id="11" name="Connector 10"/>
          <p:cNvCxnSpPr/>
          <p:nvPr/>
        </p:nvCxnSpPr>
        <p:spPr>
          <a:xfrm>
            <a:off x="3016066"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58866"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$200M</a:t>
            </a:r>
          </a:p>
        </p:txBody>
      </p:sp>
      <p:cxnSp>
        <p:nvCxnSpPr>
          <p:cNvPr id="13" name="Connector 12"/>
          <p:cNvCxnSpPr/>
          <p:nvPr/>
        </p:nvCxnSpPr>
        <p:spPr>
          <a:xfrm>
            <a:off x="5400258"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943058"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$500M</a:t>
            </a:r>
          </a:p>
        </p:txBody>
      </p:sp>
      <p:cxnSp>
        <p:nvCxnSpPr>
          <p:cNvPr id="15" name="Connector 14"/>
          <p:cNvCxnSpPr/>
          <p:nvPr/>
        </p:nvCxnSpPr>
        <p:spPr>
          <a:xfrm>
            <a:off x="7203830"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6630"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$1B</a:t>
            </a:r>
          </a:p>
        </p:txBody>
      </p:sp>
      <p:cxnSp>
        <p:nvCxnSpPr>
          <p:cNvPr id="17" name="Connector 16"/>
          <p:cNvCxnSpPr/>
          <p:nvPr/>
        </p:nvCxnSpPr>
        <p:spPr>
          <a:xfrm>
            <a:off x="9007402"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50202"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$2B</a:t>
            </a:r>
          </a:p>
        </p:txBody>
      </p:sp>
      <p:cxnSp>
        <p:nvCxnSpPr>
          <p:cNvPr id="19" name="Connector 18"/>
          <p:cNvCxnSpPr/>
          <p:nvPr/>
        </p:nvCxnSpPr>
        <p:spPr>
          <a:xfrm>
            <a:off x="10810974"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35377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$4B</a:t>
            </a:r>
          </a:p>
        </p:txBody>
      </p:sp>
      <p:sp>
        <p:nvSpPr>
          <p:cNvPr id="21" name="TextBox 20"/>
          <p:cNvSpPr txBox="1"/>
          <p:nvPr/>
        </p:nvSpPr>
        <p:spPr>
          <a:xfrm>
            <a:off x="1212494" y="5704027"/>
            <a:ext cx="10179100" cy="201168"/>
          </a:xfrm>
          <a:prstGeom prst="rect">
            <a:avLst/>
          </a:prstGeom>
          <a:noFill/>
        </p:spPr>
        <p:txBody>
          <a:bodyPr wrap="square" lIns="0" tIns="0" rIns="0" bIns="0" anchor="t">
            <a:spAutoFit/>
          </a:bodyPr>
          <a:lstStyle/>
          <a:p>
            <a:pPr algn="ctr"/>
            <a:r>
              <a:rPr sz="1100" b="0" i="0">
                <a:solidFill>
                  <a:srgbClr val="6B6B70"/>
                </a:solidFill>
                <a:latin typeface="Lato"/>
              </a:rPr>
              <a:t>FY 2024 total R&amp;D expenditures (log scale)</a:t>
            </a:r>
          </a:p>
        </p:txBody>
      </p:sp>
      <p:cxnSp>
        <p:nvCxnSpPr>
          <p:cNvPr id="22" name="Connector 21"/>
          <p:cNvCxnSpPr/>
          <p:nvPr/>
        </p:nvCxnSpPr>
        <p:spPr>
          <a:xfrm>
            <a:off x="5360256" y="1419148"/>
            <a:ext cx="0" cy="4010559"/>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5"/>
          <a:stretch>
            <a:fillRect/>
          </a:stretch>
        </p:blipFill>
        <p:spPr>
          <a:xfrm>
            <a:off x="3269894" y="1876348"/>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6"/>
          <a:stretch>
            <a:fillRect/>
          </a:stretch>
        </p:blipFill>
        <p:spPr>
          <a:xfrm>
            <a:off x="10084003" y="1876348"/>
            <a:ext cx="1234440" cy="823989"/>
          </a:xfrm>
          <a:prstGeom prst="rect">
            <a:avLst/>
          </a:prstGeom>
        </p:spPr>
      </p:pic>
      <p:pic>
        <p:nvPicPr>
          <p:cNvPr id="28" name="Picture 27" descr="whale_Picture_28.png"/>
          <p:cNvPicPr>
            <a:picLocks noChangeAspect="1"/>
          </p:cNvPicPr>
          <p:nvPr/>
        </p:nvPicPr>
        <p:blipFill>
          <a:blip r:embed="rId7"/>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8"/>
          <a:stretch>
            <a:fillRect/>
          </a:stretch>
        </p:blipFill>
        <p:spPr>
          <a:xfrm>
            <a:off x="10084003" y="447873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82880"/>
          </a:xfrm>
          <a:prstGeom prst="rect">
            <a:avLst/>
          </a:prstGeom>
          <a:noFill/>
        </p:spPr>
        <p:txBody>
          <a:bodyPr wrap="square" lIns="0" tIns="0" rIns="0" bIns="0" anchor="t">
            <a:spAutoFit/>
          </a:bodyPr>
          <a:lstStyle/>
          <a:p>
            <a:pPr algn="l"/>
            <a:r>
              <a:rPr sz="1000" b="0" i="1">
                <a:solidFill>
                  <a:srgbClr val="6B6B70"/>
                </a:solidFill>
                <a:latin typeface="Lato"/>
              </a:rPr>
              <a:t>Median $492M</a:t>
            </a:r>
          </a:p>
        </p:txBody>
      </p:sp>
      <p:sp>
        <p:nvSpPr>
          <p:cNvPr id="33" name="TextBox 32"/>
          <p:cNvSpPr txBox="1"/>
          <p:nvPr/>
        </p:nvSpPr>
        <p:spPr>
          <a:xfrm>
            <a:off x="9517075" y="3627629"/>
            <a:ext cx="1828800" cy="182880"/>
          </a:xfrm>
          <a:prstGeom prst="rect">
            <a:avLst/>
          </a:prstGeom>
          <a:noFill/>
        </p:spPr>
        <p:txBody>
          <a:bodyPr wrap="square" lIns="0" tIns="0" rIns="0" bIns="0" anchor="t">
            <a:spAutoFit/>
          </a:bodyPr>
          <a:lstStyle/>
          <a:p>
            <a:pPr algn="r"/>
            <a:r>
              <a:rPr sz="1000" b="0" i="1">
                <a:solidFill>
                  <a:srgbClr val="6B6B7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5"/>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Tree>
    <p:extLst>
      <p:ext uri="{BB962C8B-B14F-4D97-AF65-F5344CB8AC3E}">
        <p14:creationId xmlns:p14="http://schemas.microsoft.com/office/powerpoint/2010/main" val="3672233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Tree>
    <p:extLst>
      <p:ext uri="{BB962C8B-B14F-4D97-AF65-F5344CB8AC3E}">
        <p14:creationId xmlns:p14="http://schemas.microsoft.com/office/powerpoint/2010/main" val="3897025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chemeClr val="bg1"/>
                </a:solidFill>
                <a:latin typeface="Lato"/>
              </a:rPr>
              <a:t>Externally funded  </a:t>
            </a:r>
            <a:r>
              <a:rPr sz="850" b="0">
                <a:solidFill>
                  <a:schemeClr val="bg1"/>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chemeClr val="bg1"/>
                </a:solidFill>
                <a:latin typeface="Lato"/>
              </a:rPr>
              <a:t>London  </a:t>
            </a:r>
            <a:r>
              <a:rPr sz="850" b="0" dirty="0">
                <a:solidFill>
                  <a:schemeClr val="bg1"/>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chemeClr val="bg1"/>
                </a:solidFill>
                <a:latin typeface="Lato"/>
              </a:rPr>
              <a:t>Internally funded, all other  </a:t>
            </a:r>
            <a:r>
              <a:rPr sz="850" b="0">
                <a:solidFill>
                  <a:schemeClr val="bg1"/>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10252900" y="3547872"/>
            <a:ext cx="386143" cy="1088136"/>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10424160" y="4700016"/>
            <a:ext cx="1417320" cy="646331"/>
          </a:xfrm>
          <a:prstGeom prst="rect">
            <a:avLst/>
          </a:prstGeom>
          <a:noFill/>
        </p:spPr>
        <p:txBody>
          <a:bodyPr wrap="square" rtlCol="0">
            <a:spAutoFit/>
          </a:bodyPr>
          <a:lstStyle/>
          <a:p>
            <a:pPr algn="ctr"/>
            <a:r>
              <a:rPr lang="en-US" sz="1200" b="1" dirty="0">
                <a:solidFill>
                  <a:srgbClr val="000000"/>
                </a:solidFill>
              </a:rPr>
              <a:t>44%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533888" y="4727448"/>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chemeClr val="bg1"/>
                </a:solidFill>
                <a:latin typeface="Lato"/>
              </a:rPr>
              <a:t>Oakland campus  </a:t>
            </a:r>
            <a:r>
              <a:rPr sz="850" b="0" dirty="0">
                <a:solidFill>
                  <a:schemeClr val="bg1"/>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staff headcount files, September 2026; full methodology in speaker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CONSOLIDATED OVERVIEW</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Financial Dashboard</a:t>
            </a:r>
          </a:p>
        </p:txBody>
      </p:sp>
      <p:sp>
        <p:nvSpPr>
          <p:cNvPr id="4" name="Rectangle 3"/>
          <p:cNvSpPr/>
          <p:nvPr/>
        </p:nvSpPr>
        <p:spPr>
          <a:xfrm>
            <a:off x="502920" y="1207008"/>
            <a:ext cx="548640" cy="36576"/>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8961120" y="457200"/>
            <a:ext cx="2743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a:ln>
                  <a:noFill/>
                </a:ln>
                <a:solidFill>
                  <a:srgbClr val="6B6B70"/>
                </a:solidFill>
                <a:effectLst/>
                <a:uLnTx/>
                <a:uFillTx/>
                <a:latin typeface="Lato"/>
                <a:ea typeface="+mn-ea"/>
                <a:cs typeface="+mn-cs"/>
              </a:rPr>
              <a:t>$ in millions</a:t>
            </a:r>
          </a:p>
        </p:txBody>
      </p:sp>
      <p:sp>
        <p:nvSpPr>
          <p:cNvPr id="6" name="Rectangle 5"/>
          <p:cNvSpPr/>
          <p:nvPr/>
        </p:nvSpPr>
        <p:spPr>
          <a:xfrm>
            <a:off x="502920" y="1353312"/>
            <a:ext cx="11183112" cy="228600"/>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 name="TextBox 6"/>
          <p:cNvSpPr txBox="1"/>
          <p:nvPr/>
        </p:nvSpPr>
        <p:spPr>
          <a:xfrm>
            <a:off x="457200" y="1353312"/>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OPERATING RESULTS  ·  FY23–FY25 ACTUALS, FY26 BUDGET AND UNAUDITED</a:t>
            </a:r>
          </a:p>
        </p:txBody>
      </p:sp>
      <p:sp>
        <p:nvSpPr>
          <p:cNvPr id="8" name="TextBox 7"/>
          <p:cNvSpPr txBox="1"/>
          <p:nvPr/>
        </p:nvSpPr>
        <p:spPr>
          <a:xfrm>
            <a:off x="576072" y="1581912"/>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9" name="TextBox 8"/>
          <p:cNvSpPr txBox="1"/>
          <p:nvPr/>
        </p:nvSpPr>
        <p:spPr>
          <a:xfrm>
            <a:off x="2679192" y="1581912"/>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 name="TextBox 9"/>
          <p:cNvSpPr txBox="1"/>
          <p:nvPr/>
        </p:nvSpPr>
        <p:spPr>
          <a:xfrm>
            <a:off x="363931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1" name="TextBox 10"/>
          <p:cNvSpPr txBox="1"/>
          <p:nvPr/>
        </p:nvSpPr>
        <p:spPr>
          <a:xfrm>
            <a:off x="437083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2" name="TextBox 11"/>
          <p:cNvSpPr txBox="1"/>
          <p:nvPr/>
        </p:nvSpPr>
        <p:spPr>
          <a:xfrm>
            <a:off x="510235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3" name="TextBox 12"/>
          <p:cNvSpPr txBox="1"/>
          <p:nvPr/>
        </p:nvSpPr>
        <p:spPr>
          <a:xfrm>
            <a:off x="5833872" y="1581912"/>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4" name="TextBox 13"/>
          <p:cNvSpPr txBox="1"/>
          <p:nvPr/>
        </p:nvSpPr>
        <p:spPr>
          <a:xfrm>
            <a:off x="6702552" y="1581912"/>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5" name="TextBox 14"/>
          <p:cNvSpPr txBox="1"/>
          <p:nvPr/>
        </p:nvSpPr>
        <p:spPr>
          <a:xfrm>
            <a:off x="7754112" y="1581912"/>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FY26 BUDGET</a:t>
            </a:r>
          </a:p>
        </p:txBody>
      </p:sp>
      <p:sp>
        <p:nvSpPr>
          <p:cNvPr id="16" name="TextBox 15"/>
          <p:cNvSpPr txBox="1"/>
          <p:nvPr/>
        </p:nvSpPr>
        <p:spPr>
          <a:xfrm>
            <a:off x="9445752" y="1581912"/>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7" name="Connector 16"/>
          <p:cNvCxnSpPr/>
          <p:nvPr/>
        </p:nvCxnSpPr>
        <p:spPr>
          <a:xfrm>
            <a:off x="502920" y="1783080"/>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8" name="Rectangle 17"/>
          <p:cNvSpPr/>
          <p:nvPr/>
        </p:nvSpPr>
        <p:spPr>
          <a:xfrm>
            <a:off x="502920" y="1801368"/>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576072" y="180136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20" name="Chart 19"/>
          <p:cNvGraphicFramePr>
            <a:graphicFrameLocks noGrp="1"/>
          </p:cNvGraphicFramePr>
          <p:nvPr/>
        </p:nvGraphicFramePr>
        <p:xfrm>
          <a:off x="2651760" y="1819656"/>
          <a:ext cx="868680" cy="246888"/>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p:cNvSpPr txBox="1"/>
          <p:nvPr/>
        </p:nvSpPr>
        <p:spPr>
          <a:xfrm>
            <a:off x="363931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1,474</a:t>
            </a:r>
          </a:p>
        </p:txBody>
      </p:sp>
      <p:sp>
        <p:nvSpPr>
          <p:cNvPr id="22" name="TextBox 21"/>
          <p:cNvSpPr txBox="1"/>
          <p:nvPr/>
        </p:nvSpPr>
        <p:spPr>
          <a:xfrm>
            <a:off x="437083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1,638</a:t>
            </a:r>
          </a:p>
        </p:txBody>
      </p:sp>
      <p:sp>
        <p:nvSpPr>
          <p:cNvPr id="23" name="TextBox 22"/>
          <p:cNvSpPr txBox="1"/>
          <p:nvPr/>
        </p:nvSpPr>
        <p:spPr>
          <a:xfrm>
            <a:off x="510235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1,772</a:t>
            </a:r>
          </a:p>
        </p:txBody>
      </p:sp>
      <p:sp>
        <p:nvSpPr>
          <p:cNvPr id="24" name="TextBox 23"/>
          <p:cNvSpPr txBox="1"/>
          <p:nvPr/>
        </p:nvSpPr>
        <p:spPr>
          <a:xfrm>
            <a:off x="5833872" y="180136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1,858</a:t>
            </a:r>
          </a:p>
        </p:txBody>
      </p:sp>
      <p:sp>
        <p:nvSpPr>
          <p:cNvPr id="25" name="Rectangle 24"/>
          <p:cNvSpPr/>
          <p:nvPr/>
        </p:nvSpPr>
        <p:spPr>
          <a:xfrm>
            <a:off x="6684264" y="183337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6702552" y="180136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1,782</a:t>
            </a:r>
          </a:p>
        </p:txBody>
      </p:sp>
      <p:sp>
        <p:nvSpPr>
          <p:cNvPr id="27" name="Rounded Rectangle 26"/>
          <p:cNvSpPr/>
          <p:nvPr/>
        </p:nvSpPr>
        <p:spPr>
          <a:xfrm>
            <a:off x="7772400" y="1856232"/>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−76 (−4.1%)</a:t>
            </a:r>
          </a:p>
        </p:txBody>
      </p:sp>
      <p:sp>
        <p:nvSpPr>
          <p:cNvPr id="28" name="TextBox 27"/>
          <p:cNvSpPr txBox="1"/>
          <p:nvPr/>
        </p:nvSpPr>
        <p:spPr>
          <a:xfrm>
            <a:off x="9445752" y="1881544"/>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FY26 includes </a:t>
            </a:r>
            <a:r>
              <a:rPr kumimoji="0" sz="800" b="0" i="1" u="none" strike="noStrike" kern="1200" cap="none" spc="0" normalizeH="0" baseline="0" noProof="0">
                <a:ln>
                  <a:noFill/>
                </a:ln>
                <a:solidFill>
                  <a:srgbClr val="6B6B70"/>
                </a:solidFill>
                <a:effectLst/>
                <a:uLnTx/>
                <a:uFillTx/>
                <a:latin typeface="Lato"/>
                <a:ea typeface="+mn-ea"/>
                <a:cs typeface="+mn-cs"/>
              </a:rPr>
              <a:t>~</a:t>
            </a:r>
            <a:r>
              <a:rPr kumimoji="0" lang="en-US" sz="800" b="0" i="1" u="none" strike="noStrike" kern="1200" cap="none" spc="0" normalizeH="0" baseline="0" noProof="0">
                <a:ln>
                  <a:noFill/>
                </a:ln>
                <a:solidFill>
                  <a:srgbClr val="6B6B70"/>
                </a:solidFill>
                <a:effectLst/>
                <a:uLnTx/>
                <a:uFillTx/>
                <a:latin typeface="Lato"/>
                <a:ea typeface="+mn-ea"/>
                <a:cs typeface="+mn-cs"/>
              </a:rPr>
              <a:t>1,450</a:t>
            </a:r>
            <a:r>
              <a:rPr kumimoji="0" sz="800" b="0" i="1" u="none" strike="noStrike" kern="1200" cap="none" spc="0" normalizeH="0" baseline="0" noProof="0">
                <a:ln>
                  <a:noFill/>
                </a:ln>
                <a:solidFill>
                  <a:srgbClr val="6B6B70"/>
                </a:solidFill>
                <a:effectLst/>
                <a:uLnTx/>
                <a:uFillTx/>
                <a:latin typeface="Lato"/>
                <a:ea typeface="+mn-ea"/>
                <a:cs typeface="+mn-cs"/>
              </a:rPr>
              <a:t> </a:t>
            </a:r>
            <a:r>
              <a:rPr kumimoji="0" sz="800" b="0" i="1" u="none" strike="noStrike" kern="1200" cap="none" spc="0" normalizeH="0" baseline="0" noProof="0" dirty="0">
                <a:ln>
                  <a:noFill/>
                </a:ln>
                <a:solidFill>
                  <a:srgbClr val="6B6B70"/>
                </a:solidFill>
                <a:effectLst/>
                <a:uLnTx/>
                <a:uFillTx/>
                <a:latin typeface="Lato"/>
                <a:ea typeface="+mn-ea"/>
                <a:cs typeface="+mn-cs"/>
              </a:rPr>
              <a:t>MMC students</a:t>
            </a:r>
          </a:p>
        </p:txBody>
      </p:sp>
      <p:sp>
        <p:nvSpPr>
          <p:cNvPr id="29" name="TextBox 28"/>
          <p:cNvSpPr txBox="1"/>
          <p:nvPr/>
        </p:nvSpPr>
        <p:spPr>
          <a:xfrm>
            <a:off x="576072" y="208483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30" name="Chart 29"/>
          <p:cNvGraphicFramePr>
            <a:graphicFrameLocks noGrp="1"/>
          </p:cNvGraphicFramePr>
          <p:nvPr/>
        </p:nvGraphicFramePr>
        <p:xfrm>
          <a:off x="2651760" y="2103120"/>
          <a:ext cx="868680" cy="246888"/>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Box 30"/>
          <p:cNvSpPr txBox="1"/>
          <p:nvPr/>
        </p:nvSpPr>
        <p:spPr>
          <a:xfrm>
            <a:off x="363931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2,063</a:t>
            </a:r>
          </a:p>
        </p:txBody>
      </p:sp>
      <p:sp>
        <p:nvSpPr>
          <p:cNvPr id="32" name="TextBox 31"/>
          <p:cNvSpPr txBox="1"/>
          <p:nvPr/>
        </p:nvSpPr>
        <p:spPr>
          <a:xfrm>
            <a:off x="437083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2,297</a:t>
            </a:r>
          </a:p>
        </p:txBody>
      </p:sp>
      <p:sp>
        <p:nvSpPr>
          <p:cNvPr id="33" name="TextBox 32"/>
          <p:cNvSpPr txBox="1"/>
          <p:nvPr/>
        </p:nvSpPr>
        <p:spPr>
          <a:xfrm>
            <a:off x="510235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2,442</a:t>
            </a:r>
          </a:p>
        </p:txBody>
      </p:sp>
      <p:sp>
        <p:nvSpPr>
          <p:cNvPr id="34" name="TextBox 33"/>
          <p:cNvSpPr txBox="1"/>
          <p:nvPr/>
        </p:nvSpPr>
        <p:spPr>
          <a:xfrm>
            <a:off x="5833872" y="208483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2,582</a:t>
            </a:r>
          </a:p>
        </p:txBody>
      </p:sp>
      <p:sp>
        <p:nvSpPr>
          <p:cNvPr id="35" name="Rectangle 34"/>
          <p:cNvSpPr/>
          <p:nvPr/>
        </p:nvSpPr>
        <p:spPr>
          <a:xfrm>
            <a:off x="6684264" y="211683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6" name="TextBox 35"/>
          <p:cNvSpPr txBox="1"/>
          <p:nvPr/>
        </p:nvSpPr>
        <p:spPr>
          <a:xfrm>
            <a:off x="6702552" y="208483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2,473</a:t>
            </a:r>
          </a:p>
        </p:txBody>
      </p:sp>
      <p:sp>
        <p:nvSpPr>
          <p:cNvPr id="37" name="Rounded Rectangle 36"/>
          <p:cNvSpPr/>
          <p:nvPr/>
        </p:nvSpPr>
        <p:spPr>
          <a:xfrm>
            <a:off x="7772400" y="2139696"/>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−109 (−4.2%)</a:t>
            </a:r>
          </a:p>
        </p:txBody>
      </p:sp>
      <p:sp>
        <p:nvSpPr>
          <p:cNvPr id="38" name="TextBox 37"/>
          <p:cNvSpPr txBox="1"/>
          <p:nvPr/>
        </p:nvSpPr>
        <p:spPr>
          <a:xfrm>
            <a:off x="9445752" y="2084832"/>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39" name="Rectangle 38"/>
          <p:cNvSpPr/>
          <p:nvPr/>
        </p:nvSpPr>
        <p:spPr>
          <a:xfrm>
            <a:off x="502920" y="236829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0" name="TextBox 39"/>
          <p:cNvSpPr txBox="1"/>
          <p:nvPr/>
        </p:nvSpPr>
        <p:spPr>
          <a:xfrm>
            <a:off x="576072" y="236829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41" name="Chart 40"/>
          <p:cNvGraphicFramePr>
            <a:graphicFrameLocks noGrp="1"/>
          </p:cNvGraphicFramePr>
          <p:nvPr/>
        </p:nvGraphicFramePr>
        <p:xfrm>
          <a:off x="2651760" y="2386584"/>
          <a:ext cx="868680" cy="246888"/>
        </p:xfrm>
        <a:graphic>
          <a:graphicData uri="http://schemas.openxmlformats.org/drawingml/2006/chart">
            <c:chart xmlns:c="http://schemas.openxmlformats.org/drawingml/2006/chart" xmlns:r="http://schemas.openxmlformats.org/officeDocument/2006/relationships" r:id="rId4"/>
          </a:graphicData>
        </a:graphic>
      </p:graphicFrame>
      <p:sp>
        <p:nvSpPr>
          <p:cNvPr id="42" name="TextBox 41"/>
          <p:cNvSpPr txBox="1"/>
          <p:nvPr/>
        </p:nvSpPr>
        <p:spPr>
          <a:xfrm>
            <a:off x="363931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1,908</a:t>
            </a:r>
          </a:p>
        </p:txBody>
      </p:sp>
      <p:sp>
        <p:nvSpPr>
          <p:cNvPr id="43" name="TextBox 42"/>
          <p:cNvSpPr txBox="1"/>
          <p:nvPr/>
        </p:nvSpPr>
        <p:spPr>
          <a:xfrm>
            <a:off x="437083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2,162</a:t>
            </a:r>
          </a:p>
        </p:txBody>
      </p:sp>
      <p:sp>
        <p:nvSpPr>
          <p:cNvPr id="44" name="TextBox 43"/>
          <p:cNvSpPr txBox="1"/>
          <p:nvPr/>
        </p:nvSpPr>
        <p:spPr>
          <a:xfrm>
            <a:off x="510235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2,321</a:t>
            </a:r>
          </a:p>
        </p:txBody>
      </p:sp>
      <p:sp>
        <p:nvSpPr>
          <p:cNvPr id="45" name="TextBox 44"/>
          <p:cNvSpPr txBox="1"/>
          <p:nvPr/>
        </p:nvSpPr>
        <p:spPr>
          <a:xfrm>
            <a:off x="5833872" y="236829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2,469</a:t>
            </a:r>
          </a:p>
        </p:txBody>
      </p:sp>
      <p:sp>
        <p:nvSpPr>
          <p:cNvPr id="46" name="Rectangle 45"/>
          <p:cNvSpPr/>
          <p:nvPr/>
        </p:nvSpPr>
        <p:spPr>
          <a:xfrm>
            <a:off x="6684264" y="240030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7" name="TextBox 46"/>
          <p:cNvSpPr txBox="1"/>
          <p:nvPr/>
        </p:nvSpPr>
        <p:spPr>
          <a:xfrm>
            <a:off x="6702552" y="236829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2,353</a:t>
            </a:r>
          </a:p>
        </p:txBody>
      </p:sp>
      <p:sp>
        <p:nvSpPr>
          <p:cNvPr id="48" name="Rounded Rectangle 47"/>
          <p:cNvSpPr/>
          <p:nvPr/>
        </p:nvSpPr>
        <p:spPr>
          <a:xfrm>
            <a:off x="7772400" y="242316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−116 (−4.7%)</a:t>
            </a:r>
          </a:p>
        </p:txBody>
      </p:sp>
      <p:sp>
        <p:nvSpPr>
          <p:cNvPr id="49" name="TextBox 48"/>
          <p:cNvSpPr txBox="1"/>
          <p:nvPr/>
        </p:nvSpPr>
        <p:spPr>
          <a:xfrm>
            <a:off x="9445752" y="236829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50" name="TextBox 49"/>
          <p:cNvSpPr txBox="1"/>
          <p:nvPr/>
        </p:nvSpPr>
        <p:spPr>
          <a:xfrm>
            <a:off x="576072" y="265176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51" name="Chart 50"/>
          <p:cNvGraphicFramePr>
            <a:graphicFrameLocks noGrp="1"/>
          </p:cNvGraphicFramePr>
          <p:nvPr/>
        </p:nvGraphicFramePr>
        <p:xfrm>
          <a:off x="2651760" y="2670048"/>
          <a:ext cx="868680" cy="246888"/>
        </p:xfrm>
        <a:graphic>
          <a:graphicData uri="http://schemas.openxmlformats.org/drawingml/2006/chart">
            <c:chart xmlns:c="http://schemas.openxmlformats.org/drawingml/2006/chart" xmlns:r="http://schemas.openxmlformats.org/officeDocument/2006/relationships" r:id="rId5"/>
          </a:graphicData>
        </a:graphic>
      </p:graphicFrame>
      <p:sp>
        <p:nvSpPr>
          <p:cNvPr id="52" name="TextBox 51"/>
          <p:cNvSpPr txBox="1"/>
          <p:nvPr/>
        </p:nvSpPr>
        <p:spPr>
          <a:xfrm>
            <a:off x="363931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156</a:t>
            </a:r>
          </a:p>
        </p:txBody>
      </p:sp>
      <p:sp>
        <p:nvSpPr>
          <p:cNvPr id="53" name="TextBox 52"/>
          <p:cNvSpPr txBox="1"/>
          <p:nvPr/>
        </p:nvSpPr>
        <p:spPr>
          <a:xfrm>
            <a:off x="437083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135</a:t>
            </a:r>
          </a:p>
        </p:txBody>
      </p:sp>
      <p:sp>
        <p:nvSpPr>
          <p:cNvPr id="54" name="TextBox 53"/>
          <p:cNvSpPr txBox="1"/>
          <p:nvPr/>
        </p:nvSpPr>
        <p:spPr>
          <a:xfrm>
            <a:off x="510235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121</a:t>
            </a:r>
          </a:p>
        </p:txBody>
      </p:sp>
      <p:sp>
        <p:nvSpPr>
          <p:cNvPr id="55" name="TextBox 54"/>
          <p:cNvSpPr txBox="1"/>
          <p:nvPr/>
        </p:nvSpPr>
        <p:spPr>
          <a:xfrm>
            <a:off x="5833872" y="265176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112</a:t>
            </a:r>
          </a:p>
        </p:txBody>
      </p:sp>
      <p:sp>
        <p:nvSpPr>
          <p:cNvPr id="56" name="Rectangle 55"/>
          <p:cNvSpPr/>
          <p:nvPr/>
        </p:nvSpPr>
        <p:spPr>
          <a:xfrm>
            <a:off x="6684264" y="268376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7" name="TextBox 56"/>
          <p:cNvSpPr txBox="1"/>
          <p:nvPr/>
        </p:nvSpPr>
        <p:spPr>
          <a:xfrm>
            <a:off x="6702552" y="265176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120</a:t>
            </a:r>
          </a:p>
        </p:txBody>
      </p:sp>
      <p:sp>
        <p:nvSpPr>
          <p:cNvPr id="58" name="Rounded Rectangle 57"/>
          <p:cNvSpPr/>
          <p:nvPr/>
        </p:nvSpPr>
        <p:spPr>
          <a:xfrm>
            <a:off x="7772400" y="2706624"/>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+8 (+7.1%)</a:t>
            </a:r>
          </a:p>
        </p:txBody>
      </p:sp>
      <p:sp>
        <p:nvSpPr>
          <p:cNvPr id="59" name="TextBox 58"/>
          <p:cNvSpPr txBox="1"/>
          <p:nvPr/>
        </p:nvSpPr>
        <p:spPr>
          <a:xfrm>
            <a:off x="9445752" y="265176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60" name="Rectangle 59"/>
          <p:cNvSpPr/>
          <p:nvPr/>
        </p:nvSpPr>
        <p:spPr>
          <a:xfrm>
            <a:off x="502920" y="293522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576072" y="293522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62" name="Chart 61"/>
          <p:cNvGraphicFramePr>
            <a:graphicFrameLocks noGrp="1"/>
          </p:cNvGraphicFramePr>
          <p:nvPr/>
        </p:nvGraphicFramePr>
        <p:xfrm>
          <a:off x="2651760" y="2953512"/>
          <a:ext cx="868680" cy="246888"/>
        </p:xfrm>
        <a:graphic>
          <a:graphicData uri="http://schemas.openxmlformats.org/drawingml/2006/chart">
            <c:chart xmlns:c="http://schemas.openxmlformats.org/drawingml/2006/chart" xmlns:r="http://schemas.openxmlformats.org/officeDocument/2006/relationships" r:id="rId6"/>
          </a:graphicData>
        </a:graphic>
      </p:graphicFrame>
      <p:sp>
        <p:nvSpPr>
          <p:cNvPr id="63" name="TextBox 62"/>
          <p:cNvSpPr txBox="1"/>
          <p:nvPr/>
        </p:nvSpPr>
        <p:spPr>
          <a:xfrm>
            <a:off x="363931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7.5%</a:t>
            </a:r>
          </a:p>
        </p:txBody>
      </p:sp>
      <p:sp>
        <p:nvSpPr>
          <p:cNvPr id="64" name="TextBox 63"/>
          <p:cNvSpPr txBox="1"/>
          <p:nvPr/>
        </p:nvSpPr>
        <p:spPr>
          <a:xfrm>
            <a:off x="437083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5.9%</a:t>
            </a:r>
          </a:p>
        </p:txBody>
      </p:sp>
      <p:sp>
        <p:nvSpPr>
          <p:cNvPr id="65" name="TextBox 64"/>
          <p:cNvSpPr txBox="1"/>
          <p:nvPr/>
        </p:nvSpPr>
        <p:spPr>
          <a:xfrm>
            <a:off x="510235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4.9%</a:t>
            </a:r>
          </a:p>
        </p:txBody>
      </p:sp>
      <p:sp>
        <p:nvSpPr>
          <p:cNvPr id="66" name="TextBox 65"/>
          <p:cNvSpPr txBox="1"/>
          <p:nvPr/>
        </p:nvSpPr>
        <p:spPr>
          <a:xfrm>
            <a:off x="5833872" y="293522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4.4%</a:t>
            </a:r>
          </a:p>
        </p:txBody>
      </p:sp>
      <p:sp>
        <p:nvSpPr>
          <p:cNvPr id="67" name="Rectangle 66"/>
          <p:cNvSpPr/>
          <p:nvPr/>
        </p:nvSpPr>
        <p:spPr>
          <a:xfrm>
            <a:off x="6684264" y="296722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6702552" y="293522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4.9%</a:t>
            </a:r>
          </a:p>
        </p:txBody>
      </p:sp>
      <p:sp>
        <p:nvSpPr>
          <p:cNvPr id="69" name="Rounded Rectangle 68"/>
          <p:cNvSpPr/>
          <p:nvPr/>
        </p:nvSpPr>
        <p:spPr>
          <a:xfrm>
            <a:off x="7772400" y="2990088"/>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+0.5 pt</a:t>
            </a:r>
          </a:p>
        </p:txBody>
      </p:sp>
      <p:sp>
        <p:nvSpPr>
          <p:cNvPr id="70" name="TextBox 69"/>
          <p:cNvSpPr txBox="1"/>
          <p:nvPr/>
        </p:nvSpPr>
        <p:spPr>
          <a:xfrm>
            <a:off x="9445752" y="293522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0" name="TextBox 79"/>
          <p:cNvSpPr txBox="1"/>
          <p:nvPr/>
        </p:nvSpPr>
        <p:spPr>
          <a:xfrm>
            <a:off x="9445752" y="3228213"/>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1" name="Rectangle 80"/>
          <p:cNvSpPr/>
          <p:nvPr/>
        </p:nvSpPr>
        <p:spPr>
          <a:xfrm>
            <a:off x="502920" y="321640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2" name="TextBox 81"/>
          <p:cNvSpPr txBox="1"/>
          <p:nvPr/>
        </p:nvSpPr>
        <p:spPr>
          <a:xfrm>
            <a:off x="576072" y="321640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83" name="Chart 82"/>
          <p:cNvGraphicFramePr>
            <a:graphicFrameLocks noGrp="1"/>
          </p:cNvGraphicFramePr>
          <p:nvPr/>
        </p:nvGraphicFramePr>
        <p:xfrm>
          <a:off x="2651760" y="3234690"/>
          <a:ext cx="868680" cy="246888"/>
        </p:xfrm>
        <a:graphic>
          <a:graphicData uri="http://schemas.openxmlformats.org/drawingml/2006/chart">
            <c:chart xmlns:c="http://schemas.openxmlformats.org/drawingml/2006/chart" xmlns:r="http://schemas.openxmlformats.org/officeDocument/2006/relationships" r:id="rId7"/>
          </a:graphicData>
        </a:graphic>
      </p:graphicFrame>
      <p:sp>
        <p:nvSpPr>
          <p:cNvPr id="84" name="TextBox 83"/>
          <p:cNvSpPr txBox="1"/>
          <p:nvPr/>
        </p:nvSpPr>
        <p:spPr>
          <a:xfrm>
            <a:off x="363931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282</a:t>
            </a:r>
          </a:p>
        </p:txBody>
      </p:sp>
      <p:sp>
        <p:nvSpPr>
          <p:cNvPr id="85" name="TextBox 84"/>
          <p:cNvSpPr txBox="1"/>
          <p:nvPr/>
        </p:nvSpPr>
        <p:spPr>
          <a:xfrm>
            <a:off x="437083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296</a:t>
            </a:r>
          </a:p>
        </p:txBody>
      </p:sp>
      <p:sp>
        <p:nvSpPr>
          <p:cNvPr id="86" name="TextBox 85"/>
          <p:cNvSpPr txBox="1"/>
          <p:nvPr/>
        </p:nvSpPr>
        <p:spPr>
          <a:xfrm>
            <a:off x="510235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267</a:t>
            </a:r>
          </a:p>
        </p:txBody>
      </p:sp>
      <p:sp>
        <p:nvSpPr>
          <p:cNvPr id="87" name="TextBox 86"/>
          <p:cNvSpPr txBox="1"/>
          <p:nvPr/>
        </p:nvSpPr>
        <p:spPr>
          <a:xfrm>
            <a:off x="5833872" y="321640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250</a:t>
            </a:r>
          </a:p>
        </p:txBody>
      </p:sp>
      <p:sp>
        <p:nvSpPr>
          <p:cNvPr id="88" name="Rectangle 87"/>
          <p:cNvSpPr/>
          <p:nvPr/>
        </p:nvSpPr>
        <p:spPr>
          <a:xfrm>
            <a:off x="6684264" y="324840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9" name="TextBox 88"/>
          <p:cNvSpPr txBox="1"/>
          <p:nvPr/>
        </p:nvSpPr>
        <p:spPr>
          <a:xfrm>
            <a:off x="6702552" y="321640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291</a:t>
            </a:r>
          </a:p>
        </p:txBody>
      </p:sp>
      <p:sp>
        <p:nvSpPr>
          <p:cNvPr id="90" name="Rounded Rectangle 89"/>
          <p:cNvSpPr/>
          <p:nvPr/>
        </p:nvSpPr>
        <p:spPr>
          <a:xfrm>
            <a:off x="7772400" y="327126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+41 (+16.4%)</a:t>
            </a:r>
          </a:p>
        </p:txBody>
      </p:sp>
      <p:sp>
        <p:nvSpPr>
          <p:cNvPr id="92" name="TextBox 91"/>
          <p:cNvSpPr txBox="1"/>
          <p:nvPr/>
        </p:nvSpPr>
        <p:spPr>
          <a:xfrm>
            <a:off x="576072" y="349986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dirty="0">
                <a:ln>
                  <a:noFill/>
                </a:ln>
                <a:solidFill>
                  <a:srgbClr val="1A1A1A"/>
                </a:solidFill>
                <a:effectLst/>
                <a:uLnTx/>
                <a:uFillTx/>
                <a:latin typeface="Lato"/>
                <a:ea typeface="+mn-ea"/>
                <a:cs typeface="+mn-cs"/>
              </a:rPr>
              <a:t>Gifts &amp; Commitments</a:t>
            </a:r>
          </a:p>
        </p:txBody>
      </p:sp>
      <p:graphicFrame>
        <p:nvGraphicFramePr>
          <p:cNvPr id="93" name="Chart 92"/>
          <p:cNvGraphicFramePr>
            <a:graphicFrameLocks noGrp="1"/>
          </p:cNvGraphicFramePr>
          <p:nvPr/>
        </p:nvGraphicFramePr>
        <p:xfrm>
          <a:off x="2651760" y="3518154"/>
          <a:ext cx="868680" cy="246888"/>
        </p:xfrm>
        <a:graphic>
          <a:graphicData uri="http://schemas.openxmlformats.org/drawingml/2006/chart">
            <c:chart xmlns:c="http://schemas.openxmlformats.org/drawingml/2006/chart" xmlns:r="http://schemas.openxmlformats.org/officeDocument/2006/relationships" r:id="rId8"/>
          </a:graphicData>
        </a:graphic>
      </p:graphicFrame>
      <p:sp>
        <p:nvSpPr>
          <p:cNvPr id="94" name="TextBox 93"/>
          <p:cNvSpPr txBox="1"/>
          <p:nvPr/>
        </p:nvSpPr>
        <p:spPr>
          <a:xfrm>
            <a:off x="363931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5" name="TextBox 94"/>
          <p:cNvSpPr txBox="1"/>
          <p:nvPr/>
        </p:nvSpPr>
        <p:spPr>
          <a:xfrm>
            <a:off x="437083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370</a:t>
            </a:r>
          </a:p>
        </p:txBody>
      </p:sp>
      <p:sp>
        <p:nvSpPr>
          <p:cNvPr id="96" name="TextBox 95"/>
          <p:cNvSpPr txBox="1"/>
          <p:nvPr/>
        </p:nvSpPr>
        <p:spPr>
          <a:xfrm>
            <a:off x="510235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130</a:t>
            </a:r>
          </a:p>
        </p:txBody>
      </p:sp>
      <p:sp>
        <p:nvSpPr>
          <p:cNvPr id="97" name="TextBox 96"/>
          <p:cNvSpPr txBox="1"/>
          <p:nvPr/>
        </p:nvSpPr>
        <p:spPr>
          <a:xfrm>
            <a:off x="5833872" y="349986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8" name="Rectangle 97"/>
          <p:cNvSpPr/>
          <p:nvPr/>
        </p:nvSpPr>
        <p:spPr>
          <a:xfrm>
            <a:off x="6684264" y="353187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99" name="TextBox 98"/>
          <p:cNvSpPr txBox="1"/>
          <p:nvPr/>
        </p:nvSpPr>
        <p:spPr>
          <a:xfrm>
            <a:off x="6702552" y="349986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125</a:t>
            </a:r>
          </a:p>
        </p:txBody>
      </p:sp>
      <p:sp>
        <p:nvSpPr>
          <p:cNvPr id="100" name="Rounded Rectangle 99"/>
          <p:cNvSpPr/>
          <p:nvPr/>
        </p:nvSpPr>
        <p:spPr>
          <a:xfrm>
            <a:off x="7772400" y="355473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+5 (+4.2%)</a:t>
            </a:r>
          </a:p>
        </p:txBody>
      </p:sp>
      <p:sp>
        <p:nvSpPr>
          <p:cNvPr id="101" name="TextBox 100"/>
          <p:cNvSpPr txBox="1"/>
          <p:nvPr/>
        </p:nvSpPr>
        <p:spPr>
          <a:xfrm>
            <a:off x="9445752" y="349986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02" name="Rectangle 101"/>
          <p:cNvSpPr/>
          <p:nvPr/>
        </p:nvSpPr>
        <p:spPr>
          <a:xfrm>
            <a:off x="502920" y="3874770"/>
            <a:ext cx="11183112" cy="228600"/>
          </a:xfrm>
          <a:prstGeom prst="rect">
            <a:avLst/>
          </a:prstGeom>
          <a:solidFill>
            <a:srgbClr val="3A3A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3" name="TextBox 102"/>
          <p:cNvSpPr txBox="1"/>
          <p:nvPr/>
        </p:nvSpPr>
        <p:spPr>
          <a:xfrm>
            <a:off x="612648" y="3874770"/>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BALANCE SHEET &amp; LIQUIDITY  ·  AT FISCAL YEAR END</a:t>
            </a:r>
          </a:p>
        </p:txBody>
      </p:sp>
      <p:sp>
        <p:nvSpPr>
          <p:cNvPr id="104" name="TextBox 103"/>
          <p:cNvSpPr txBox="1"/>
          <p:nvPr/>
        </p:nvSpPr>
        <p:spPr>
          <a:xfrm>
            <a:off x="576072" y="4103370"/>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105" name="TextBox 104"/>
          <p:cNvSpPr txBox="1"/>
          <p:nvPr/>
        </p:nvSpPr>
        <p:spPr>
          <a:xfrm>
            <a:off x="2679192" y="4103370"/>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6" name="TextBox 105"/>
          <p:cNvSpPr txBox="1"/>
          <p:nvPr/>
        </p:nvSpPr>
        <p:spPr>
          <a:xfrm>
            <a:off x="363931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07" name="TextBox 106"/>
          <p:cNvSpPr txBox="1"/>
          <p:nvPr/>
        </p:nvSpPr>
        <p:spPr>
          <a:xfrm>
            <a:off x="437083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08" name="TextBox 107"/>
          <p:cNvSpPr txBox="1"/>
          <p:nvPr/>
        </p:nvSpPr>
        <p:spPr>
          <a:xfrm>
            <a:off x="510235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09" name="TextBox 108"/>
          <p:cNvSpPr txBox="1"/>
          <p:nvPr/>
        </p:nvSpPr>
        <p:spPr>
          <a:xfrm>
            <a:off x="5833872" y="4103370"/>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10" name="TextBox 109"/>
          <p:cNvSpPr txBox="1"/>
          <p:nvPr/>
        </p:nvSpPr>
        <p:spPr>
          <a:xfrm>
            <a:off x="6702552" y="4103370"/>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11" name="TextBox 110"/>
          <p:cNvSpPr txBox="1"/>
          <p:nvPr/>
        </p:nvSpPr>
        <p:spPr>
          <a:xfrm>
            <a:off x="7754112" y="4103370"/>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FY25</a:t>
            </a:r>
          </a:p>
        </p:txBody>
      </p:sp>
      <p:sp>
        <p:nvSpPr>
          <p:cNvPr id="112" name="TextBox 111"/>
          <p:cNvSpPr txBox="1"/>
          <p:nvPr/>
        </p:nvSpPr>
        <p:spPr>
          <a:xfrm>
            <a:off x="9445752" y="4103370"/>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13" name="Connector 112"/>
          <p:cNvCxnSpPr/>
          <p:nvPr/>
        </p:nvCxnSpPr>
        <p:spPr>
          <a:xfrm>
            <a:off x="502920" y="4304538"/>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14" name="Rectangle 113"/>
          <p:cNvSpPr/>
          <p:nvPr/>
        </p:nvSpPr>
        <p:spPr>
          <a:xfrm>
            <a:off x="502920" y="432282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15" name="TextBox 114"/>
          <p:cNvSpPr txBox="1"/>
          <p:nvPr/>
        </p:nvSpPr>
        <p:spPr>
          <a:xfrm>
            <a:off x="576072" y="432282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Assets</a:t>
            </a:r>
          </a:p>
        </p:txBody>
      </p:sp>
      <p:graphicFrame>
        <p:nvGraphicFramePr>
          <p:cNvPr id="116" name="Chart 115"/>
          <p:cNvGraphicFramePr>
            <a:graphicFrameLocks noGrp="1"/>
          </p:cNvGraphicFramePr>
          <p:nvPr/>
        </p:nvGraphicFramePr>
        <p:xfrm>
          <a:off x="2651760" y="4341114"/>
          <a:ext cx="868680" cy="246888"/>
        </p:xfrm>
        <a:graphic>
          <a:graphicData uri="http://schemas.openxmlformats.org/drawingml/2006/chart">
            <c:chart xmlns:c="http://schemas.openxmlformats.org/drawingml/2006/chart" xmlns:r="http://schemas.openxmlformats.org/officeDocument/2006/relationships" r:id="rId9"/>
          </a:graphicData>
        </a:graphic>
      </p:graphicFrame>
      <p:sp>
        <p:nvSpPr>
          <p:cNvPr id="117" name="TextBox 116"/>
          <p:cNvSpPr txBox="1"/>
          <p:nvPr/>
        </p:nvSpPr>
        <p:spPr>
          <a:xfrm>
            <a:off x="363931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3,741</a:t>
            </a:r>
          </a:p>
        </p:txBody>
      </p:sp>
      <p:sp>
        <p:nvSpPr>
          <p:cNvPr id="118" name="TextBox 117"/>
          <p:cNvSpPr txBox="1"/>
          <p:nvPr/>
        </p:nvSpPr>
        <p:spPr>
          <a:xfrm>
            <a:off x="437083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4,110</a:t>
            </a:r>
          </a:p>
        </p:txBody>
      </p:sp>
      <p:sp>
        <p:nvSpPr>
          <p:cNvPr id="119" name="TextBox 118"/>
          <p:cNvSpPr txBox="1"/>
          <p:nvPr/>
        </p:nvSpPr>
        <p:spPr>
          <a:xfrm>
            <a:off x="510235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4,363</a:t>
            </a:r>
          </a:p>
        </p:txBody>
      </p:sp>
      <p:sp>
        <p:nvSpPr>
          <p:cNvPr id="120" name="TextBox 119"/>
          <p:cNvSpPr txBox="1"/>
          <p:nvPr/>
        </p:nvSpPr>
        <p:spPr>
          <a:xfrm>
            <a:off x="5833872" y="432282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21" name="Rectangle 120"/>
          <p:cNvSpPr/>
          <p:nvPr/>
        </p:nvSpPr>
        <p:spPr>
          <a:xfrm>
            <a:off x="6684264" y="435483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22" name="TextBox 121"/>
          <p:cNvSpPr txBox="1"/>
          <p:nvPr/>
        </p:nvSpPr>
        <p:spPr>
          <a:xfrm>
            <a:off x="6702552" y="432282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5,050</a:t>
            </a:r>
          </a:p>
        </p:txBody>
      </p:sp>
      <p:sp>
        <p:nvSpPr>
          <p:cNvPr id="123" name="Rounded Rectangle 122"/>
          <p:cNvSpPr/>
          <p:nvPr/>
        </p:nvSpPr>
        <p:spPr>
          <a:xfrm>
            <a:off x="7772400" y="437769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+687 (+15.7%)</a:t>
            </a:r>
          </a:p>
        </p:txBody>
      </p:sp>
      <p:sp>
        <p:nvSpPr>
          <p:cNvPr id="124" name="TextBox 123"/>
          <p:cNvSpPr txBox="1"/>
          <p:nvPr/>
        </p:nvSpPr>
        <p:spPr>
          <a:xfrm>
            <a:off x="9445752" y="432282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includes $203M MMC</a:t>
            </a:r>
          </a:p>
        </p:txBody>
      </p:sp>
      <p:sp>
        <p:nvSpPr>
          <p:cNvPr id="125" name="TextBox 124"/>
          <p:cNvSpPr txBox="1"/>
          <p:nvPr/>
        </p:nvSpPr>
        <p:spPr>
          <a:xfrm>
            <a:off x="576072" y="460629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Debt Service Coverage</a:t>
            </a:r>
          </a:p>
        </p:txBody>
      </p:sp>
      <p:graphicFrame>
        <p:nvGraphicFramePr>
          <p:cNvPr id="126" name="Chart 125"/>
          <p:cNvGraphicFramePr>
            <a:graphicFrameLocks noGrp="1"/>
          </p:cNvGraphicFramePr>
          <p:nvPr/>
        </p:nvGraphicFramePr>
        <p:xfrm>
          <a:off x="2651760" y="4624578"/>
          <a:ext cx="868680" cy="246888"/>
        </p:xfrm>
        <a:graphic>
          <a:graphicData uri="http://schemas.openxmlformats.org/drawingml/2006/chart">
            <c:chart xmlns:c="http://schemas.openxmlformats.org/drawingml/2006/chart" xmlns:r="http://schemas.openxmlformats.org/officeDocument/2006/relationships" r:id="rId10"/>
          </a:graphicData>
        </a:graphic>
      </p:graphicFrame>
      <p:sp>
        <p:nvSpPr>
          <p:cNvPr id="127" name="TextBox 126"/>
          <p:cNvSpPr txBox="1"/>
          <p:nvPr/>
        </p:nvSpPr>
        <p:spPr>
          <a:xfrm>
            <a:off x="363931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3.4x</a:t>
            </a:r>
          </a:p>
        </p:txBody>
      </p:sp>
      <p:sp>
        <p:nvSpPr>
          <p:cNvPr id="128" name="TextBox 127"/>
          <p:cNvSpPr txBox="1"/>
          <p:nvPr/>
        </p:nvSpPr>
        <p:spPr>
          <a:xfrm>
            <a:off x="437083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3.3x</a:t>
            </a:r>
          </a:p>
        </p:txBody>
      </p:sp>
      <p:sp>
        <p:nvSpPr>
          <p:cNvPr id="129" name="TextBox 128"/>
          <p:cNvSpPr txBox="1"/>
          <p:nvPr/>
        </p:nvSpPr>
        <p:spPr>
          <a:xfrm>
            <a:off x="510235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3.5x</a:t>
            </a:r>
          </a:p>
        </p:txBody>
      </p:sp>
      <p:sp>
        <p:nvSpPr>
          <p:cNvPr id="130" name="TextBox 129"/>
          <p:cNvSpPr txBox="1"/>
          <p:nvPr/>
        </p:nvSpPr>
        <p:spPr>
          <a:xfrm>
            <a:off x="5833872" y="460629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31" name="Rectangle 130"/>
          <p:cNvSpPr/>
          <p:nvPr/>
        </p:nvSpPr>
        <p:spPr>
          <a:xfrm>
            <a:off x="6684264" y="463829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2" name="TextBox 131"/>
          <p:cNvSpPr txBox="1"/>
          <p:nvPr/>
        </p:nvSpPr>
        <p:spPr>
          <a:xfrm>
            <a:off x="6702552" y="460629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3.4x</a:t>
            </a:r>
          </a:p>
        </p:txBody>
      </p:sp>
      <p:sp>
        <p:nvSpPr>
          <p:cNvPr id="133" name="Rounded Rectangle 132"/>
          <p:cNvSpPr/>
          <p:nvPr/>
        </p:nvSpPr>
        <p:spPr>
          <a:xfrm>
            <a:off x="7772400" y="4661154"/>
            <a:ext cx="1508760" cy="173736"/>
          </a:xfrm>
          <a:prstGeom prst="roundRect">
            <a:avLst>
              <a:gd name="adj" fmla="val 50000"/>
            </a:avLst>
          </a:prstGeom>
          <a:solidFill>
            <a:srgbClr val="A4804A"/>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595959"/>
                </a:solidFill>
                <a:effectLst/>
                <a:uLnTx/>
                <a:uFillTx/>
                <a:latin typeface="Lato"/>
                <a:ea typeface="+mn-ea"/>
                <a:cs typeface="+mn-cs"/>
              </a:rPr>
              <a:t>▼ −0.1x (−2.9%)</a:t>
            </a:r>
          </a:p>
        </p:txBody>
      </p:sp>
      <p:sp>
        <p:nvSpPr>
          <p:cNvPr id="134" name="TextBox 133"/>
          <p:cNvSpPr txBox="1"/>
          <p:nvPr/>
        </p:nvSpPr>
        <p:spPr>
          <a:xfrm>
            <a:off x="9445752" y="460629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35" name="Rectangle 134"/>
          <p:cNvSpPr/>
          <p:nvPr/>
        </p:nvSpPr>
        <p:spPr>
          <a:xfrm>
            <a:off x="502920" y="488975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6" name="TextBox 135"/>
          <p:cNvSpPr txBox="1"/>
          <p:nvPr/>
        </p:nvSpPr>
        <p:spPr>
          <a:xfrm>
            <a:off x="576072" y="488975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Long-Term Debt</a:t>
            </a:r>
          </a:p>
        </p:txBody>
      </p:sp>
      <p:graphicFrame>
        <p:nvGraphicFramePr>
          <p:cNvPr id="137" name="Chart 136"/>
          <p:cNvGraphicFramePr>
            <a:graphicFrameLocks noGrp="1"/>
          </p:cNvGraphicFramePr>
          <p:nvPr/>
        </p:nvGraphicFramePr>
        <p:xfrm>
          <a:off x="2651760" y="4908042"/>
          <a:ext cx="868680" cy="246888"/>
        </p:xfrm>
        <a:graphic>
          <a:graphicData uri="http://schemas.openxmlformats.org/drawingml/2006/chart">
            <c:chart xmlns:c="http://schemas.openxmlformats.org/drawingml/2006/chart" xmlns:r="http://schemas.openxmlformats.org/officeDocument/2006/relationships" r:id="rId11"/>
          </a:graphicData>
        </a:graphic>
      </p:graphicFrame>
      <p:sp>
        <p:nvSpPr>
          <p:cNvPr id="138" name="TextBox 137"/>
          <p:cNvSpPr txBox="1"/>
          <p:nvPr/>
        </p:nvSpPr>
        <p:spPr>
          <a:xfrm>
            <a:off x="363931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1,292</a:t>
            </a:r>
          </a:p>
        </p:txBody>
      </p:sp>
      <p:sp>
        <p:nvSpPr>
          <p:cNvPr id="139" name="TextBox 138"/>
          <p:cNvSpPr txBox="1"/>
          <p:nvPr/>
        </p:nvSpPr>
        <p:spPr>
          <a:xfrm>
            <a:off x="437083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1,257</a:t>
            </a:r>
          </a:p>
        </p:txBody>
      </p:sp>
      <p:sp>
        <p:nvSpPr>
          <p:cNvPr id="140" name="TextBox 139"/>
          <p:cNvSpPr txBox="1"/>
          <p:nvPr/>
        </p:nvSpPr>
        <p:spPr>
          <a:xfrm>
            <a:off x="510235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1,432</a:t>
            </a:r>
          </a:p>
        </p:txBody>
      </p:sp>
      <p:sp>
        <p:nvSpPr>
          <p:cNvPr id="141" name="TextBox 140"/>
          <p:cNvSpPr txBox="1"/>
          <p:nvPr/>
        </p:nvSpPr>
        <p:spPr>
          <a:xfrm>
            <a:off x="5833872" y="488975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42" name="Rectangle 141"/>
          <p:cNvSpPr/>
          <p:nvPr/>
        </p:nvSpPr>
        <p:spPr>
          <a:xfrm>
            <a:off x="6684264" y="492175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43" name="TextBox 142"/>
          <p:cNvSpPr txBox="1"/>
          <p:nvPr/>
        </p:nvSpPr>
        <p:spPr>
          <a:xfrm>
            <a:off x="6702552" y="488975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1,954</a:t>
            </a:r>
          </a:p>
        </p:txBody>
      </p:sp>
      <p:sp>
        <p:nvSpPr>
          <p:cNvPr id="144" name="Rounded Rectangle 143"/>
          <p:cNvSpPr/>
          <p:nvPr/>
        </p:nvSpPr>
        <p:spPr>
          <a:xfrm>
            <a:off x="7772400" y="4944618"/>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+522 (+36.5%)</a:t>
            </a:r>
          </a:p>
        </p:txBody>
      </p:sp>
      <p:sp>
        <p:nvSpPr>
          <p:cNvPr id="145" name="TextBox 144"/>
          <p:cNvSpPr txBox="1"/>
          <p:nvPr/>
        </p:nvSpPr>
        <p:spPr>
          <a:xfrm>
            <a:off x="9445752" y="488975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 $39M MMC + $485M Series 2026 issuance</a:t>
            </a:r>
          </a:p>
        </p:txBody>
      </p:sp>
      <p:sp>
        <p:nvSpPr>
          <p:cNvPr id="146" name="TextBox 145"/>
          <p:cNvSpPr txBox="1"/>
          <p:nvPr/>
        </p:nvSpPr>
        <p:spPr>
          <a:xfrm>
            <a:off x="576072" y="517321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Cash &amp; Short-Term Inv.</a:t>
            </a:r>
          </a:p>
        </p:txBody>
      </p:sp>
      <p:graphicFrame>
        <p:nvGraphicFramePr>
          <p:cNvPr id="147" name="Chart 146"/>
          <p:cNvGraphicFramePr>
            <a:graphicFrameLocks noGrp="1"/>
          </p:cNvGraphicFramePr>
          <p:nvPr/>
        </p:nvGraphicFramePr>
        <p:xfrm>
          <a:off x="2651760" y="5191506"/>
          <a:ext cx="868680" cy="246888"/>
        </p:xfrm>
        <a:graphic>
          <a:graphicData uri="http://schemas.openxmlformats.org/drawingml/2006/chart">
            <c:chart xmlns:c="http://schemas.openxmlformats.org/drawingml/2006/chart" xmlns:r="http://schemas.openxmlformats.org/officeDocument/2006/relationships" r:id="rId12"/>
          </a:graphicData>
        </a:graphic>
      </p:graphicFrame>
      <p:sp>
        <p:nvSpPr>
          <p:cNvPr id="148" name="TextBox 147"/>
          <p:cNvSpPr txBox="1"/>
          <p:nvPr/>
        </p:nvSpPr>
        <p:spPr>
          <a:xfrm>
            <a:off x="363931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563</a:t>
            </a:r>
          </a:p>
        </p:txBody>
      </p:sp>
      <p:sp>
        <p:nvSpPr>
          <p:cNvPr id="149" name="TextBox 148"/>
          <p:cNvSpPr txBox="1"/>
          <p:nvPr/>
        </p:nvSpPr>
        <p:spPr>
          <a:xfrm>
            <a:off x="437083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546</a:t>
            </a:r>
          </a:p>
        </p:txBody>
      </p:sp>
      <p:sp>
        <p:nvSpPr>
          <p:cNvPr id="150" name="TextBox 149"/>
          <p:cNvSpPr txBox="1"/>
          <p:nvPr/>
        </p:nvSpPr>
        <p:spPr>
          <a:xfrm>
            <a:off x="510235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412</a:t>
            </a:r>
          </a:p>
        </p:txBody>
      </p:sp>
      <p:sp>
        <p:nvSpPr>
          <p:cNvPr id="151" name="TextBox 150"/>
          <p:cNvSpPr txBox="1"/>
          <p:nvPr/>
        </p:nvSpPr>
        <p:spPr>
          <a:xfrm>
            <a:off x="5833872" y="517321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52" name="Rectangle 151"/>
          <p:cNvSpPr/>
          <p:nvPr/>
        </p:nvSpPr>
        <p:spPr>
          <a:xfrm>
            <a:off x="6684264" y="520522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3" name="TextBox 152"/>
          <p:cNvSpPr txBox="1"/>
          <p:nvPr/>
        </p:nvSpPr>
        <p:spPr>
          <a:xfrm>
            <a:off x="6702552" y="517321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572</a:t>
            </a:r>
          </a:p>
        </p:txBody>
      </p:sp>
      <p:sp>
        <p:nvSpPr>
          <p:cNvPr id="154" name="Rounded Rectangle 153"/>
          <p:cNvSpPr/>
          <p:nvPr/>
        </p:nvSpPr>
        <p:spPr>
          <a:xfrm>
            <a:off x="7772400" y="5228082"/>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+160 (+38.8%)</a:t>
            </a:r>
          </a:p>
        </p:txBody>
      </p:sp>
      <p:sp>
        <p:nvSpPr>
          <p:cNvPr id="155" name="TextBox 154"/>
          <p:cNvSpPr txBox="1"/>
          <p:nvPr/>
        </p:nvSpPr>
        <p:spPr>
          <a:xfrm>
            <a:off x="9445752" y="5173218"/>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56" name="Rectangle 155"/>
          <p:cNvSpPr/>
          <p:nvPr/>
        </p:nvSpPr>
        <p:spPr>
          <a:xfrm>
            <a:off x="502920" y="545668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7" name="TextBox 156"/>
          <p:cNvSpPr txBox="1"/>
          <p:nvPr/>
        </p:nvSpPr>
        <p:spPr>
          <a:xfrm>
            <a:off x="576072" y="545668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Endowment</a:t>
            </a:r>
          </a:p>
        </p:txBody>
      </p:sp>
      <p:graphicFrame>
        <p:nvGraphicFramePr>
          <p:cNvPr id="158" name="Chart 157"/>
          <p:cNvGraphicFramePr>
            <a:graphicFrameLocks noGrp="1"/>
          </p:cNvGraphicFramePr>
          <p:nvPr/>
        </p:nvGraphicFramePr>
        <p:xfrm>
          <a:off x="2651760" y="5474970"/>
          <a:ext cx="868680" cy="246888"/>
        </p:xfrm>
        <a:graphic>
          <a:graphicData uri="http://schemas.openxmlformats.org/drawingml/2006/chart">
            <c:chart xmlns:c="http://schemas.openxmlformats.org/drawingml/2006/chart" xmlns:r="http://schemas.openxmlformats.org/officeDocument/2006/relationships" r:id="rId13"/>
          </a:graphicData>
        </a:graphic>
      </p:graphicFrame>
      <p:sp>
        <p:nvSpPr>
          <p:cNvPr id="159" name="TextBox 158"/>
          <p:cNvSpPr txBox="1"/>
          <p:nvPr/>
        </p:nvSpPr>
        <p:spPr>
          <a:xfrm>
            <a:off x="363931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1,714</a:t>
            </a:r>
          </a:p>
        </p:txBody>
      </p:sp>
      <p:sp>
        <p:nvSpPr>
          <p:cNvPr id="160" name="TextBox 159"/>
          <p:cNvSpPr txBox="1"/>
          <p:nvPr/>
        </p:nvSpPr>
        <p:spPr>
          <a:xfrm>
            <a:off x="437083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1,906</a:t>
            </a:r>
          </a:p>
        </p:txBody>
      </p:sp>
      <p:sp>
        <p:nvSpPr>
          <p:cNvPr id="161" name="TextBox 160"/>
          <p:cNvSpPr txBox="1"/>
          <p:nvPr/>
        </p:nvSpPr>
        <p:spPr>
          <a:xfrm>
            <a:off x="510235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2,110</a:t>
            </a:r>
          </a:p>
        </p:txBody>
      </p:sp>
      <p:sp>
        <p:nvSpPr>
          <p:cNvPr id="162" name="TextBox 161"/>
          <p:cNvSpPr txBox="1"/>
          <p:nvPr/>
        </p:nvSpPr>
        <p:spPr>
          <a:xfrm>
            <a:off x="5833872" y="545668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63" name="Rectangle 162"/>
          <p:cNvSpPr/>
          <p:nvPr/>
        </p:nvSpPr>
        <p:spPr>
          <a:xfrm>
            <a:off x="6684264" y="548868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64" name="TextBox 163"/>
          <p:cNvSpPr txBox="1"/>
          <p:nvPr/>
        </p:nvSpPr>
        <p:spPr>
          <a:xfrm>
            <a:off x="6702552" y="5517622"/>
            <a:ext cx="905256" cy="161583"/>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Lato"/>
                <a:ea typeface="+mn-ea"/>
                <a:cs typeface="+mn-cs"/>
              </a:rPr>
              <a:t>2,3</a:t>
            </a:r>
            <a:r>
              <a:rPr kumimoji="0" lang="en-US" sz="1050" b="1" i="0" u="none" strike="noStrike" kern="1200" cap="none" spc="0" normalizeH="0" baseline="0" noProof="0" dirty="0">
                <a:ln>
                  <a:noFill/>
                </a:ln>
                <a:solidFill>
                  <a:srgbClr val="000000"/>
                </a:solidFill>
                <a:effectLst/>
                <a:uLnTx/>
                <a:uFillTx/>
                <a:latin typeface="Lato"/>
                <a:ea typeface="+mn-ea"/>
                <a:cs typeface="+mn-cs"/>
              </a:rPr>
              <a:t>61</a:t>
            </a:r>
            <a:endParaRPr kumimoji="0" sz="1050" b="1" i="0" u="none" strike="noStrike" kern="1200" cap="none" spc="0" normalizeH="0" baseline="0" noProof="0" dirty="0">
              <a:ln>
                <a:noFill/>
              </a:ln>
              <a:solidFill>
                <a:srgbClr val="000000"/>
              </a:solidFill>
              <a:effectLst/>
              <a:uLnTx/>
              <a:uFillTx/>
              <a:latin typeface="Lato"/>
              <a:ea typeface="+mn-ea"/>
              <a:cs typeface="+mn-cs"/>
            </a:endParaRPr>
          </a:p>
        </p:txBody>
      </p:sp>
      <p:sp>
        <p:nvSpPr>
          <p:cNvPr id="165" name="Rounded Rectangle 164"/>
          <p:cNvSpPr/>
          <p:nvPr/>
        </p:nvSpPr>
        <p:spPr>
          <a:xfrm>
            <a:off x="7772400" y="551154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dirty="0">
                <a:ln>
                  <a:noFill/>
                </a:ln>
                <a:solidFill>
                  <a:srgbClr val="7F7F7F"/>
                </a:solidFill>
                <a:effectLst/>
                <a:uLnTx/>
                <a:uFillTx/>
                <a:latin typeface="Lato"/>
                <a:ea typeface="+mn-ea"/>
                <a:cs typeface="+mn-cs"/>
              </a:rPr>
              <a:t>▲ +2</a:t>
            </a:r>
            <a:r>
              <a:rPr kumimoji="0" lang="en-US" sz="850" b="1" i="0" u="none" strike="noStrike" kern="1200" cap="none" spc="0" normalizeH="0" baseline="0" noProof="0" dirty="0">
                <a:ln>
                  <a:noFill/>
                </a:ln>
                <a:solidFill>
                  <a:srgbClr val="7F7F7F"/>
                </a:solidFill>
                <a:effectLst/>
                <a:uLnTx/>
                <a:uFillTx/>
                <a:latin typeface="Lato"/>
                <a:ea typeface="+mn-ea"/>
                <a:cs typeface="+mn-cs"/>
              </a:rPr>
              <a:t>51</a:t>
            </a:r>
            <a:r>
              <a:rPr kumimoji="0" sz="850" b="1" i="0" u="none" strike="noStrike" kern="1200" cap="none" spc="0" normalizeH="0" baseline="0" noProof="0" dirty="0">
                <a:ln>
                  <a:noFill/>
                </a:ln>
                <a:solidFill>
                  <a:srgbClr val="7F7F7F"/>
                </a:solidFill>
                <a:effectLst/>
                <a:uLnTx/>
                <a:uFillTx/>
                <a:latin typeface="Lato"/>
                <a:ea typeface="+mn-ea"/>
                <a:cs typeface="+mn-cs"/>
              </a:rPr>
              <a:t> (+1</a:t>
            </a:r>
            <a:r>
              <a:rPr kumimoji="0" lang="en-US" sz="850" b="1" i="0" u="none" strike="noStrike" kern="1200" cap="none" spc="0" normalizeH="0" baseline="0" noProof="0" dirty="0">
                <a:ln>
                  <a:noFill/>
                </a:ln>
                <a:solidFill>
                  <a:srgbClr val="7F7F7F"/>
                </a:solidFill>
                <a:effectLst/>
                <a:uLnTx/>
                <a:uFillTx/>
                <a:latin typeface="Lato"/>
                <a:ea typeface="+mn-ea"/>
                <a:cs typeface="+mn-cs"/>
              </a:rPr>
              <a:t>1</a:t>
            </a:r>
            <a:r>
              <a:rPr kumimoji="0" sz="850" b="1" i="0" u="none" strike="noStrike" kern="1200" cap="none" spc="0" normalizeH="0" baseline="0" noProof="0" dirty="0">
                <a:ln>
                  <a:noFill/>
                </a:ln>
                <a:solidFill>
                  <a:srgbClr val="7F7F7F"/>
                </a:solidFill>
                <a:effectLst/>
                <a:uLnTx/>
                <a:uFillTx/>
                <a:latin typeface="Lato"/>
                <a:ea typeface="+mn-ea"/>
                <a:cs typeface="+mn-cs"/>
              </a:rPr>
              <a:t>.</a:t>
            </a:r>
            <a:r>
              <a:rPr kumimoji="0" lang="en-US" sz="850" b="1" i="0" u="none" strike="noStrike" kern="1200" cap="none" spc="0" normalizeH="0" baseline="0" noProof="0" dirty="0">
                <a:ln>
                  <a:noFill/>
                </a:ln>
                <a:solidFill>
                  <a:srgbClr val="7F7F7F"/>
                </a:solidFill>
                <a:effectLst/>
                <a:uLnTx/>
                <a:uFillTx/>
                <a:latin typeface="Lato"/>
                <a:ea typeface="+mn-ea"/>
                <a:cs typeface="+mn-cs"/>
              </a:rPr>
              <a:t>9</a:t>
            </a:r>
            <a:r>
              <a:rPr kumimoji="0" sz="850" b="1" i="0" u="none" strike="noStrike" kern="1200" cap="none" spc="0" normalizeH="0" baseline="0" noProof="0" dirty="0">
                <a:ln>
                  <a:noFill/>
                </a:ln>
                <a:solidFill>
                  <a:srgbClr val="7F7F7F"/>
                </a:solidFill>
                <a:effectLst/>
                <a:uLnTx/>
                <a:uFillTx/>
                <a:latin typeface="Lato"/>
                <a:ea typeface="+mn-ea"/>
                <a:cs typeface="+mn-cs"/>
              </a:rPr>
              <a:t>%)</a:t>
            </a:r>
          </a:p>
        </p:txBody>
      </p:sp>
      <p:sp>
        <p:nvSpPr>
          <p:cNvPr id="166" name="TextBox 165"/>
          <p:cNvSpPr txBox="1"/>
          <p:nvPr/>
        </p:nvSpPr>
        <p:spPr>
          <a:xfrm>
            <a:off x="9445752" y="5536858"/>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Based on preliminary 1</a:t>
            </a:r>
            <a:r>
              <a:rPr kumimoji="0" lang="en-US" sz="800" b="0" i="1" u="none" strike="noStrike" kern="1200" cap="none" spc="0" normalizeH="0" baseline="0" noProof="0" dirty="0">
                <a:ln>
                  <a:noFill/>
                </a:ln>
                <a:solidFill>
                  <a:srgbClr val="6B6B70"/>
                </a:solidFill>
                <a:effectLst/>
                <a:uLnTx/>
                <a:uFillTx/>
                <a:latin typeface="Lato"/>
                <a:ea typeface="+mn-ea"/>
                <a:cs typeface="+mn-cs"/>
              </a:rPr>
              <a:t>6</a:t>
            </a:r>
            <a:r>
              <a:rPr kumimoji="0" sz="800" b="0" i="1" u="none" strike="noStrike" kern="1200" cap="none" spc="0" normalizeH="0" baseline="0" noProof="0" dirty="0">
                <a:ln>
                  <a:noFill/>
                </a:ln>
                <a:solidFill>
                  <a:srgbClr val="6B6B70"/>
                </a:solidFill>
                <a:effectLst/>
                <a:uLnTx/>
                <a:uFillTx/>
                <a:latin typeface="Lato"/>
                <a:ea typeface="+mn-ea"/>
                <a:cs typeface="+mn-cs"/>
              </a:rPr>
              <a:t>% FY26 endowment return</a:t>
            </a:r>
          </a:p>
        </p:txBody>
      </p:sp>
      <p:cxnSp>
        <p:nvCxnSpPr>
          <p:cNvPr id="168" name="FY26 focus divider"/>
          <p:cNvCxnSpPr/>
          <p:nvPr/>
        </p:nvCxnSpPr>
        <p:spPr>
          <a:xfrm>
            <a:off x="5760720" y="1353312"/>
            <a:ext cx="0" cy="4672584"/>
          </a:xfrm>
          <a:prstGeom prst="line">
            <a:avLst/>
          </a:prstGeom>
          <a:ln w="15875">
            <a:solidFill>
              <a:srgbClr val="3A3A3F"/>
            </a:solidFill>
          </a:ln>
        </p:spPr>
        <p:style>
          <a:lnRef idx="2">
            <a:schemeClr val="accent1"/>
          </a:lnRef>
          <a:fillRef idx="0">
            <a:schemeClr val="accent1"/>
          </a:fillRef>
          <a:effectRef idx="0">
            <a:schemeClr val="accent1"/>
          </a:effectRef>
          <a:fontRef idx="minor">
            <a:schemeClr val="tx1"/>
          </a:fontRef>
        </p:style>
      </p:cxnSp>
      <p:cxnSp>
        <p:nvCxnSpPr>
          <p:cNvPr id="171" name="Margin rule (top)"/>
          <p:cNvCxnSpPr/>
          <p:nvPr/>
        </p:nvCxnSpPr>
        <p:spPr>
          <a:xfrm>
            <a:off x="530352" y="2651760"/>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cxnSp>
        <p:nvCxnSpPr>
          <p:cNvPr id="91" name="Margin rule (top)">
            <a:extLst>
              <a:ext uri="{FF2B5EF4-FFF2-40B4-BE49-F238E27FC236}">
                <a16:creationId xmlns:a16="http://schemas.microsoft.com/office/drawing/2014/main" id="{2F212761-1260-3FBE-9DD6-EDB42F875091}"/>
              </a:ext>
            </a:extLst>
          </p:cNvPr>
          <p:cNvCxnSpPr/>
          <p:nvPr/>
        </p:nvCxnSpPr>
        <p:spPr>
          <a:xfrm>
            <a:off x="530352" y="3209925"/>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sp>
        <p:nvSpPr>
          <p:cNvPr id="172" name="TextBox 17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
        <p:nvSpPr>
          <p:cNvPr id="173" name="TextBox 172"/>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Sparklines show FY23–FY25 actuals and FY26 unaudited (navy point). Chips: green = favorable, red = unfavorable, amber = essentially unchanged; operating rows vs. FY26 budget (expenses below budget = favorable), balance-sheet rows vs. FY25 (higher debt = unfavorable). Percent change in parentheses.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SEPTEMBER 2026 · $ IN MILLIONS UNLESS NOTED</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5-Year Financial Trend</a:t>
            </a: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 name="TextBox 9"/>
          <p:cNvSpPr txBox="1"/>
          <p:nvPr/>
        </p:nvSpPr>
        <p:spPr>
          <a:xfrm>
            <a:off x="50292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11" name="TextBox 10"/>
          <p:cNvSpPr txBox="1"/>
          <p:nvPr/>
        </p:nvSpPr>
        <p:spPr>
          <a:xfrm>
            <a:off x="414223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2" name="TextBox 11"/>
          <p:cNvSpPr txBox="1"/>
          <p:nvPr/>
        </p:nvSpPr>
        <p:spPr>
          <a:xfrm>
            <a:off x="499262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13" name="Connector 12"/>
          <p:cNvCxnSpPr/>
          <p:nvPr/>
        </p:nvCxnSpPr>
        <p:spPr>
          <a:xfrm>
            <a:off x="50292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2920" y="300837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292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16" name="Chart 15"/>
          <p:cNvGraphicFramePr>
            <a:graphicFrameLocks noGrp="1"/>
          </p:cNvGraphicFramePr>
          <p:nvPr/>
        </p:nvGraphicFramePr>
        <p:xfrm>
          <a:off x="502920" y="1865376"/>
          <a:ext cx="3520440" cy="822960"/>
        </p:xfrm>
        <a:graphic>
          <a:graphicData uri="http://schemas.openxmlformats.org/drawingml/2006/chart">
            <c:chart xmlns:c="http://schemas.openxmlformats.org/drawingml/2006/chart" xmlns:r="http://schemas.openxmlformats.org/officeDocument/2006/relationships" r:id="rId2"/>
          </a:graphicData>
        </a:graphic>
      </p:graphicFrame>
      <p:sp>
        <p:nvSpPr>
          <p:cNvPr id="17" name="TextBox 16"/>
          <p:cNvSpPr txBox="1"/>
          <p:nvPr/>
        </p:nvSpPr>
        <p:spPr>
          <a:xfrm>
            <a:off x="94183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18" name="Rectangle 17"/>
          <p:cNvSpPr/>
          <p:nvPr/>
        </p:nvSpPr>
        <p:spPr>
          <a:xfrm>
            <a:off x="414223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414223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1,858</a:t>
            </a:r>
          </a:p>
        </p:txBody>
      </p:sp>
      <p:sp>
        <p:nvSpPr>
          <p:cNvPr id="20" name="Rectangle 19"/>
          <p:cNvSpPr/>
          <p:nvPr/>
        </p:nvSpPr>
        <p:spPr>
          <a:xfrm>
            <a:off x="512978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1" name="TextBox 20"/>
          <p:cNvSpPr txBox="1"/>
          <p:nvPr/>
        </p:nvSpPr>
        <p:spPr>
          <a:xfrm>
            <a:off x="512978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1,782</a:t>
            </a:r>
          </a:p>
        </p:txBody>
      </p:sp>
      <p:sp>
        <p:nvSpPr>
          <p:cNvPr id="22" name="TextBox 21"/>
          <p:cNvSpPr txBox="1"/>
          <p:nvPr/>
        </p:nvSpPr>
        <p:spPr>
          <a:xfrm>
            <a:off x="512978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−76 vs. budget</a:t>
            </a:r>
          </a:p>
        </p:txBody>
      </p:sp>
      <p:cxnSp>
        <p:nvCxnSpPr>
          <p:cNvPr id="32" name="Connector 31"/>
          <p:cNvCxnSpPr/>
          <p:nvPr/>
        </p:nvCxnSpPr>
        <p:spPr>
          <a:xfrm>
            <a:off x="502920" y="444398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9067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34" name="Chart 33"/>
          <p:cNvGraphicFramePr>
            <a:graphicFrameLocks noGrp="1"/>
          </p:cNvGraphicFramePr>
          <p:nvPr/>
        </p:nvGraphicFramePr>
        <p:xfrm>
          <a:off x="502920" y="3273552"/>
          <a:ext cx="3520440" cy="822960"/>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941832" y="3310128"/>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36" name="Rectangle 35"/>
          <p:cNvSpPr/>
          <p:nvPr/>
        </p:nvSpPr>
        <p:spPr>
          <a:xfrm>
            <a:off x="4142232" y="334670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7" name="TextBox 36"/>
          <p:cNvSpPr txBox="1"/>
          <p:nvPr/>
        </p:nvSpPr>
        <p:spPr>
          <a:xfrm>
            <a:off x="4142232" y="334670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250</a:t>
            </a:r>
          </a:p>
        </p:txBody>
      </p:sp>
      <p:sp>
        <p:nvSpPr>
          <p:cNvPr id="38" name="Rectangle 37"/>
          <p:cNvSpPr/>
          <p:nvPr/>
        </p:nvSpPr>
        <p:spPr>
          <a:xfrm>
            <a:off x="5129784" y="334670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9" name="TextBox 38"/>
          <p:cNvSpPr txBox="1"/>
          <p:nvPr/>
        </p:nvSpPr>
        <p:spPr>
          <a:xfrm>
            <a:off x="5129784" y="339242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291</a:t>
            </a:r>
          </a:p>
        </p:txBody>
      </p:sp>
      <p:sp>
        <p:nvSpPr>
          <p:cNvPr id="40" name="TextBox 39"/>
          <p:cNvSpPr txBox="1"/>
          <p:nvPr/>
        </p:nvSpPr>
        <p:spPr>
          <a:xfrm>
            <a:off x="5129784" y="369417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+41 vs. budget</a:t>
            </a:r>
          </a:p>
        </p:txBody>
      </p:sp>
      <p:cxnSp>
        <p:nvCxnSpPr>
          <p:cNvPr id="41" name="Connector 40"/>
          <p:cNvCxnSpPr/>
          <p:nvPr/>
        </p:nvCxnSpPr>
        <p:spPr>
          <a:xfrm>
            <a:off x="50292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2920" y="452628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Gifts &amp; Commitments</a:t>
            </a:r>
          </a:p>
        </p:txBody>
      </p:sp>
      <p:graphicFrame>
        <p:nvGraphicFramePr>
          <p:cNvPr id="43" name="Chart 42"/>
          <p:cNvGraphicFramePr>
            <a:graphicFrameLocks noGrp="1"/>
          </p:cNvGraphicFramePr>
          <p:nvPr/>
        </p:nvGraphicFramePr>
        <p:xfrm>
          <a:off x="502920" y="4709160"/>
          <a:ext cx="3520440" cy="822960"/>
        </p:xfrm>
        <a:graphic>
          <a:graphicData uri="http://schemas.openxmlformats.org/drawingml/2006/chart">
            <c:chart xmlns:c="http://schemas.openxmlformats.org/drawingml/2006/chart" xmlns:r="http://schemas.openxmlformats.org/officeDocument/2006/relationships" r:id="rId4"/>
          </a:graphicData>
        </a:graphic>
      </p:graphicFrame>
      <p:sp>
        <p:nvSpPr>
          <p:cNvPr id="44" name="TextBox 43"/>
          <p:cNvSpPr txBox="1"/>
          <p:nvPr/>
        </p:nvSpPr>
        <p:spPr>
          <a:xfrm>
            <a:off x="941832" y="4745736"/>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45" name="Rectangle 44"/>
          <p:cNvSpPr/>
          <p:nvPr/>
        </p:nvSpPr>
        <p:spPr>
          <a:xfrm>
            <a:off x="4142232" y="478231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6" name="TextBox 45"/>
          <p:cNvSpPr txBox="1"/>
          <p:nvPr/>
        </p:nvSpPr>
        <p:spPr>
          <a:xfrm>
            <a:off x="4142232" y="478231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120</a:t>
            </a:r>
          </a:p>
        </p:txBody>
      </p:sp>
      <p:sp>
        <p:nvSpPr>
          <p:cNvPr id="47" name="Rectangle 46"/>
          <p:cNvSpPr/>
          <p:nvPr/>
        </p:nvSpPr>
        <p:spPr>
          <a:xfrm>
            <a:off x="5129784" y="478231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8" name="TextBox 47"/>
          <p:cNvSpPr txBox="1"/>
          <p:nvPr/>
        </p:nvSpPr>
        <p:spPr>
          <a:xfrm>
            <a:off x="5129784" y="482803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125</a:t>
            </a:r>
          </a:p>
        </p:txBody>
      </p:sp>
      <p:sp>
        <p:nvSpPr>
          <p:cNvPr id="49" name="TextBox 48"/>
          <p:cNvSpPr txBox="1"/>
          <p:nvPr/>
        </p:nvSpPr>
        <p:spPr>
          <a:xfrm>
            <a:off x="5129784" y="512978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+5 vs. budget</a:t>
            </a:r>
          </a:p>
        </p:txBody>
      </p:sp>
      <p:sp>
        <p:nvSpPr>
          <p:cNvPr id="50" name="TextBox 49"/>
          <p:cNvSpPr txBox="1"/>
          <p:nvPr/>
        </p:nvSpPr>
        <p:spPr>
          <a:xfrm>
            <a:off x="626364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51" name="TextBox 50"/>
          <p:cNvSpPr txBox="1"/>
          <p:nvPr/>
        </p:nvSpPr>
        <p:spPr>
          <a:xfrm>
            <a:off x="990295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52" name="TextBox 51"/>
          <p:cNvSpPr txBox="1"/>
          <p:nvPr/>
        </p:nvSpPr>
        <p:spPr>
          <a:xfrm>
            <a:off x="1075334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53" name="Connector 52"/>
          <p:cNvCxnSpPr/>
          <p:nvPr/>
        </p:nvCxnSpPr>
        <p:spPr>
          <a:xfrm>
            <a:off x="626364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263640" y="2670048"/>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6364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56" name="Chart 55"/>
          <p:cNvGraphicFramePr>
            <a:graphicFrameLocks noGrp="1"/>
          </p:cNvGraphicFramePr>
          <p:nvPr/>
        </p:nvGraphicFramePr>
        <p:xfrm>
          <a:off x="6263640" y="1865376"/>
          <a:ext cx="3520440" cy="822960"/>
        </p:xfrm>
        <a:graphic>
          <a:graphicData uri="http://schemas.openxmlformats.org/drawingml/2006/chart">
            <c:chart xmlns:c="http://schemas.openxmlformats.org/drawingml/2006/chart" xmlns:r="http://schemas.openxmlformats.org/officeDocument/2006/relationships" r:id="rId5"/>
          </a:graphicData>
        </a:graphic>
      </p:graphicFrame>
      <p:sp>
        <p:nvSpPr>
          <p:cNvPr id="57" name="TextBox 56"/>
          <p:cNvSpPr txBox="1"/>
          <p:nvPr/>
        </p:nvSpPr>
        <p:spPr>
          <a:xfrm>
            <a:off x="670255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58" name="Rectangle 57"/>
          <p:cNvSpPr/>
          <p:nvPr/>
        </p:nvSpPr>
        <p:spPr>
          <a:xfrm>
            <a:off x="990295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9" name="TextBox 58"/>
          <p:cNvSpPr txBox="1"/>
          <p:nvPr/>
        </p:nvSpPr>
        <p:spPr>
          <a:xfrm>
            <a:off x="990295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2,582</a:t>
            </a:r>
          </a:p>
        </p:txBody>
      </p:sp>
      <p:sp>
        <p:nvSpPr>
          <p:cNvPr id="60" name="Rectangle 59"/>
          <p:cNvSpPr/>
          <p:nvPr/>
        </p:nvSpPr>
        <p:spPr>
          <a:xfrm>
            <a:off x="1089050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1089050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2,473</a:t>
            </a:r>
          </a:p>
        </p:txBody>
      </p:sp>
      <p:sp>
        <p:nvSpPr>
          <p:cNvPr id="62" name="TextBox 61"/>
          <p:cNvSpPr txBox="1"/>
          <p:nvPr/>
        </p:nvSpPr>
        <p:spPr>
          <a:xfrm>
            <a:off x="1089050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−109 vs. budget</a:t>
            </a:r>
          </a:p>
        </p:txBody>
      </p:sp>
      <p:cxnSp>
        <p:nvCxnSpPr>
          <p:cNvPr id="63" name="Connector 62"/>
          <p:cNvCxnSpPr/>
          <p:nvPr/>
        </p:nvCxnSpPr>
        <p:spPr>
          <a:xfrm>
            <a:off x="6263640" y="373989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263640" y="2752344"/>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65" name="Chart 64"/>
          <p:cNvGraphicFramePr>
            <a:graphicFrameLocks noGrp="1"/>
          </p:cNvGraphicFramePr>
          <p:nvPr/>
        </p:nvGraphicFramePr>
        <p:xfrm>
          <a:off x="6263640" y="2935224"/>
          <a:ext cx="3520440" cy="822960"/>
        </p:xfrm>
        <a:graphic>
          <a:graphicData uri="http://schemas.openxmlformats.org/drawingml/2006/chart">
            <c:chart xmlns:c="http://schemas.openxmlformats.org/drawingml/2006/chart" xmlns:r="http://schemas.openxmlformats.org/officeDocument/2006/relationships" r:id="rId6"/>
          </a:graphicData>
        </a:graphic>
      </p:graphicFrame>
      <p:sp>
        <p:nvSpPr>
          <p:cNvPr id="66" name="TextBox 65"/>
          <p:cNvSpPr txBox="1"/>
          <p:nvPr/>
        </p:nvSpPr>
        <p:spPr>
          <a:xfrm>
            <a:off x="6702552" y="2971800"/>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+10% CAGR FY22–26</a:t>
            </a:r>
          </a:p>
        </p:txBody>
      </p:sp>
      <p:sp>
        <p:nvSpPr>
          <p:cNvPr id="67" name="Rectangle 66"/>
          <p:cNvSpPr/>
          <p:nvPr/>
        </p:nvSpPr>
        <p:spPr>
          <a:xfrm>
            <a:off x="9902952" y="3008376"/>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9902952" y="3008376"/>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2,469</a:t>
            </a:r>
          </a:p>
        </p:txBody>
      </p:sp>
      <p:sp>
        <p:nvSpPr>
          <p:cNvPr id="69" name="Rectangle 68"/>
          <p:cNvSpPr/>
          <p:nvPr/>
        </p:nvSpPr>
        <p:spPr>
          <a:xfrm>
            <a:off x="10890504" y="3008376"/>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0" name="TextBox 69"/>
          <p:cNvSpPr txBox="1"/>
          <p:nvPr/>
        </p:nvSpPr>
        <p:spPr>
          <a:xfrm>
            <a:off x="10890504" y="3054096"/>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2,353</a:t>
            </a:r>
          </a:p>
        </p:txBody>
      </p:sp>
      <p:sp>
        <p:nvSpPr>
          <p:cNvPr id="71" name="TextBox 70"/>
          <p:cNvSpPr txBox="1"/>
          <p:nvPr/>
        </p:nvSpPr>
        <p:spPr>
          <a:xfrm>
            <a:off x="10890504" y="3355848"/>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−116 vs. budget</a:t>
            </a:r>
          </a:p>
        </p:txBody>
      </p:sp>
      <p:cxnSp>
        <p:nvCxnSpPr>
          <p:cNvPr id="72" name="Connector 71"/>
          <p:cNvCxnSpPr/>
          <p:nvPr/>
        </p:nvCxnSpPr>
        <p:spPr>
          <a:xfrm>
            <a:off x="6263640" y="480974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263640" y="382219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74" name="Chart 73"/>
          <p:cNvGraphicFramePr>
            <a:graphicFrameLocks noGrp="1"/>
          </p:cNvGraphicFramePr>
          <p:nvPr/>
        </p:nvGraphicFramePr>
        <p:xfrm>
          <a:off x="6263640" y="4005072"/>
          <a:ext cx="3520440" cy="822960"/>
        </p:xfrm>
        <a:graphic>
          <a:graphicData uri="http://schemas.openxmlformats.org/drawingml/2006/chart">
            <c:chart xmlns:c="http://schemas.openxmlformats.org/drawingml/2006/chart" xmlns:r="http://schemas.openxmlformats.org/officeDocument/2006/relationships" r:id="rId7"/>
          </a:graphicData>
        </a:graphic>
      </p:graphicFrame>
      <p:sp>
        <p:nvSpPr>
          <p:cNvPr id="75" name="Rectangle 74"/>
          <p:cNvSpPr/>
          <p:nvPr/>
        </p:nvSpPr>
        <p:spPr>
          <a:xfrm>
            <a:off x="9902952" y="407822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6" name="TextBox 75"/>
          <p:cNvSpPr txBox="1"/>
          <p:nvPr/>
        </p:nvSpPr>
        <p:spPr>
          <a:xfrm>
            <a:off x="9902952" y="407822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112</a:t>
            </a:r>
          </a:p>
        </p:txBody>
      </p:sp>
      <p:sp>
        <p:nvSpPr>
          <p:cNvPr id="77" name="Rectangle 76"/>
          <p:cNvSpPr/>
          <p:nvPr/>
        </p:nvSpPr>
        <p:spPr>
          <a:xfrm>
            <a:off x="10890504" y="407822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8" name="TextBox 77"/>
          <p:cNvSpPr txBox="1"/>
          <p:nvPr/>
        </p:nvSpPr>
        <p:spPr>
          <a:xfrm>
            <a:off x="10890504" y="412394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120</a:t>
            </a:r>
          </a:p>
        </p:txBody>
      </p:sp>
      <p:sp>
        <p:nvSpPr>
          <p:cNvPr id="79" name="TextBox 78"/>
          <p:cNvSpPr txBox="1"/>
          <p:nvPr/>
        </p:nvSpPr>
        <p:spPr>
          <a:xfrm>
            <a:off x="10890504" y="442569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+8 vs. budget</a:t>
            </a:r>
          </a:p>
        </p:txBody>
      </p:sp>
      <p:cxnSp>
        <p:nvCxnSpPr>
          <p:cNvPr id="80" name="Connector 79"/>
          <p:cNvCxnSpPr/>
          <p:nvPr/>
        </p:nvCxnSpPr>
        <p:spPr>
          <a:xfrm>
            <a:off x="626364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263640" y="489204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82" name="Chart 81"/>
          <p:cNvGraphicFramePr>
            <a:graphicFrameLocks noGrp="1"/>
          </p:cNvGraphicFramePr>
          <p:nvPr/>
        </p:nvGraphicFramePr>
        <p:xfrm>
          <a:off x="6263640" y="5074920"/>
          <a:ext cx="3520440" cy="822960"/>
        </p:xfrm>
        <a:graphic>
          <a:graphicData uri="http://schemas.openxmlformats.org/drawingml/2006/chart">
            <c:chart xmlns:c="http://schemas.openxmlformats.org/drawingml/2006/chart" xmlns:r="http://schemas.openxmlformats.org/officeDocument/2006/relationships" r:id="rId8"/>
          </a:graphicData>
        </a:graphic>
      </p:graphicFrame>
      <p:sp>
        <p:nvSpPr>
          <p:cNvPr id="83" name="Rectangle 82"/>
          <p:cNvSpPr/>
          <p:nvPr/>
        </p:nvSpPr>
        <p:spPr>
          <a:xfrm>
            <a:off x="9902952" y="514807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4" name="TextBox 83"/>
          <p:cNvSpPr txBox="1"/>
          <p:nvPr/>
        </p:nvSpPr>
        <p:spPr>
          <a:xfrm>
            <a:off x="9902952" y="514807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4.4%</a:t>
            </a:r>
          </a:p>
        </p:txBody>
      </p:sp>
      <p:sp>
        <p:nvSpPr>
          <p:cNvPr id="85" name="Rectangle 84"/>
          <p:cNvSpPr/>
          <p:nvPr/>
        </p:nvSpPr>
        <p:spPr>
          <a:xfrm>
            <a:off x="10890504" y="514807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6" name="TextBox 85"/>
          <p:cNvSpPr txBox="1"/>
          <p:nvPr/>
        </p:nvSpPr>
        <p:spPr>
          <a:xfrm>
            <a:off x="10890504" y="519379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4.9%</a:t>
            </a:r>
          </a:p>
        </p:txBody>
      </p:sp>
      <p:sp>
        <p:nvSpPr>
          <p:cNvPr id="87" name="TextBox 86"/>
          <p:cNvSpPr txBox="1"/>
          <p:nvPr/>
        </p:nvSpPr>
        <p:spPr>
          <a:xfrm>
            <a:off x="10890504" y="549554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+0.5 pt vs. budget</a:t>
            </a:r>
          </a:p>
        </p:txBody>
      </p:sp>
      <p:sp>
        <p:nvSpPr>
          <p:cNvPr id="88" name="TextBox 87"/>
          <p:cNvSpPr txBox="1"/>
          <p:nvPr/>
        </p:nvSpPr>
        <p:spPr>
          <a:xfrm>
            <a:off x="502920" y="5961888"/>
            <a:ext cx="11155680" cy="38404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reflects unaudited results. Sparklines show FY22–FY26 with FY26 unaudited as the final point; CAGR is compounded from FY22 to FY26. Tiles: green = favorable vs. FY26 budget, red = unfavorable. † Research Awards FY26 is a preliminary estimate. Same metric definitions and sources as the 20-year view.</a:t>
            </a:r>
          </a:p>
        </p:txBody>
      </p:sp>
      <p:sp>
        <p:nvSpPr>
          <p:cNvPr id="89" name="TextBox 8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Moody’s Ratings (June 24, 2026); Northeastern Financial Affairs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11.5%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2"/>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since FY21</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Moody’s Ratings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7744"/>
            <a:ext cx="10149840" cy="307777"/>
          </a:xfrm>
          <a:prstGeom prst="rect">
            <a:avLst/>
          </a:prstGeom>
          <a:noFill/>
        </p:spPr>
        <p:txBody>
          <a:bodyPr wrap="square" lIns="0" tIns="0" rIns="0" bIns="0">
            <a:noAutofit/>
          </a:bodyPr>
          <a:lstStyle/>
          <a:p>
            <a:pPr algn="l"/>
            <a:r>
              <a:rPr sz="2000" b="1" dirty="0">
                <a:solidFill>
                  <a:srgbClr val="000000"/>
                </a:solidFill>
                <a:latin typeface="Lato"/>
              </a:rPr>
              <a:t>On the same basis, </a:t>
            </a:r>
            <a:r>
              <a:rPr sz="2000" b="1" dirty="0" err="1">
                <a:solidFill>
                  <a:srgbClr val="000000"/>
                </a:solidFill>
                <a:latin typeface="Lato"/>
              </a:rPr>
              <a:t>Northeastern’s</a:t>
            </a:r>
            <a:r>
              <a:rPr sz="2000" b="1" dirty="0">
                <a:solidFill>
                  <a:srgbClr val="000000"/>
                </a:solidFill>
                <a:latin typeface="Lato"/>
              </a:rPr>
              <a:t> FY25 EBIDA margin ranks 13th of 22 </a:t>
            </a:r>
            <a:r>
              <a:rPr lang="en-US" sz="2000" b="1" dirty="0">
                <a:solidFill>
                  <a:srgbClr val="000000"/>
                </a:solidFill>
                <a:latin typeface="Lato"/>
              </a:rPr>
              <a:t>academic peers</a:t>
            </a:r>
            <a:endParaRPr sz="2000" b="1" dirty="0">
              <a:solidFill>
                <a:srgbClr val="000000"/>
              </a:solidFill>
              <a:latin typeface="Lato"/>
            </a:endParaRPr>
          </a:p>
        </p:txBody>
      </p:sp>
      <p:sp>
        <p:nvSpPr>
          <p:cNvPr id="3" name="TextBox 2"/>
          <p:cNvSpPr txBox="1"/>
          <p:nvPr/>
        </p:nvSpPr>
        <p:spPr>
          <a:xfrm>
            <a:off x="3099816" y="829425"/>
            <a:ext cx="5573911" cy="276999"/>
          </a:xfrm>
          <a:prstGeom prst="rect">
            <a:avLst/>
          </a:prstGeom>
          <a:noFill/>
        </p:spPr>
        <p:txBody>
          <a:bodyPr wrap="square" lIns="0" tIns="0" rIns="0" bIns="0">
            <a:spAutoFit/>
          </a:bodyPr>
          <a:lstStyle/>
          <a:p>
            <a:pPr algn="ctr"/>
            <a:r>
              <a:rPr lang="en-US" dirty="0">
                <a:solidFill>
                  <a:schemeClr val="bg1"/>
                </a:solidFill>
                <a:latin typeface="Lato"/>
              </a:rPr>
              <a:t>Peer FY25 EBIDA Margins</a:t>
            </a:r>
            <a:endParaRPr dirty="0">
              <a:solidFill>
                <a:schemeClr val="bg1"/>
              </a:solidFill>
              <a:latin typeface="Lato"/>
            </a:endParaRPr>
          </a:p>
        </p:txBody>
      </p:sp>
      <p:graphicFrame>
        <p:nvGraphicFramePr>
          <p:cNvPr id="4" name="Chart 3"/>
          <p:cNvGraphicFramePr>
            <a:graphicFrameLocks noGrp="1"/>
          </p:cNvGraphicFramePr>
          <p:nvPr/>
        </p:nvGraphicFramePr>
        <p:xfrm>
          <a:off x="502920" y="1203568"/>
          <a:ext cx="11186160" cy="4374272"/>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694008" y="5432880"/>
            <a:ext cx="10800000" cy="492443"/>
          </a:xfrm>
          <a:prstGeom prst="rect">
            <a:avLst/>
          </a:prstGeom>
          <a:solidFill>
            <a:srgbClr val="C8102E"/>
          </a:solidFill>
          <a:ln>
            <a:solidFill>
              <a:schemeClr val="bg1"/>
            </a:solidFill>
          </a:ln>
        </p:spPr>
        <p:txBody>
          <a:bodyPr wrap="square" lIns="0" tIns="0" rIns="0" bIns="0">
            <a:spAutoFit/>
          </a:bodyPr>
          <a:lstStyle/>
          <a:p>
            <a:pPr algn="ctr"/>
            <a:r>
              <a:rPr sz="1600" b="1" dirty="0">
                <a:solidFill>
                  <a:srgbClr val="FFFFFF"/>
                </a:solidFill>
                <a:latin typeface="Lato"/>
              </a:rPr>
              <a:t>Northeastern sits at 9.5% against a peer median of 9.8%, Moody’s comprehensive median of 10.3% and the broad A median of 11.5% — the A cohort being the one that matches </a:t>
            </a:r>
            <a:r>
              <a:rPr sz="1600" b="1" dirty="0" err="1">
                <a:solidFill>
                  <a:srgbClr val="FFFFFF"/>
                </a:solidFill>
                <a:latin typeface="Lato"/>
              </a:rPr>
              <a:t>Northeastern’s</a:t>
            </a:r>
            <a:r>
              <a:rPr sz="1600" b="1" dirty="0">
                <a:solidFill>
                  <a:srgbClr val="FFFFFF"/>
                </a:solidFill>
                <a:latin typeface="Lato"/>
              </a:rPr>
              <a:t> own A1 rating.</a:t>
            </a:r>
          </a:p>
        </p:txBody>
      </p:sp>
      <p:sp>
        <p:nvSpPr>
          <p:cNvPr id="9"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1" name="TextBox 10">
            <a:extLst>
              <a:ext uri="{FF2B5EF4-FFF2-40B4-BE49-F238E27FC236}">
                <a16:creationId xmlns:a16="http://schemas.microsoft.com/office/drawing/2014/main" id="{517BF540-0C1D-A854-6092-59C2EE39836E}"/>
              </a:ext>
            </a:extLst>
          </p:cNvPr>
          <p:cNvSpPr txBox="1"/>
          <p:nvPr/>
        </p:nvSpPr>
        <p:spPr>
          <a:xfrm>
            <a:off x="11298870" y="2971710"/>
            <a:ext cx="614271" cy="276999"/>
          </a:xfrm>
          <a:prstGeom prst="rect">
            <a:avLst/>
          </a:prstGeom>
          <a:noFill/>
        </p:spPr>
        <p:txBody>
          <a:bodyPr wrap="none" rtlCol="0">
            <a:spAutoFit/>
          </a:bodyPr>
          <a:lstStyle/>
          <a:p>
            <a:r>
              <a:rPr lang="en-US" sz="1200" dirty="0">
                <a:solidFill>
                  <a:srgbClr val="000000"/>
                </a:solidFill>
              </a:rPr>
              <a:t>11.5%</a:t>
            </a:r>
          </a:p>
        </p:txBody>
      </p:sp>
      <p:cxnSp>
        <p:nvCxnSpPr>
          <p:cNvPr id="12" name="Straight Connector 11">
            <a:extLst>
              <a:ext uri="{FF2B5EF4-FFF2-40B4-BE49-F238E27FC236}">
                <a16:creationId xmlns:a16="http://schemas.microsoft.com/office/drawing/2014/main" id="{04DAB528-F698-53BD-3CFB-B62C3CE9BB82}"/>
              </a:ext>
            </a:extLst>
          </p:cNvPr>
          <p:cNvCxnSpPr>
            <a:cxnSpLocks/>
          </p:cNvCxnSpPr>
          <p:nvPr/>
        </p:nvCxnSpPr>
        <p:spPr>
          <a:xfrm flipV="1">
            <a:off x="152908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676DD6F-58D9-DF50-33E7-7DF7536F30BE}"/>
              </a:ext>
            </a:extLst>
          </p:cNvPr>
          <p:cNvCxnSpPr>
            <a:cxnSpLocks/>
          </p:cNvCxnSpPr>
          <p:nvPr/>
        </p:nvCxnSpPr>
        <p:spPr>
          <a:xfrm flipV="1">
            <a:off x="4400296"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62A56A9-E79F-E1E9-C726-0C7333D71C4A}"/>
              </a:ext>
            </a:extLst>
          </p:cNvPr>
          <p:cNvCxnSpPr>
            <a:cxnSpLocks/>
          </p:cNvCxnSpPr>
          <p:nvPr/>
        </p:nvCxnSpPr>
        <p:spPr>
          <a:xfrm flipV="1">
            <a:off x="582676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D9AEEC-7651-4F5B-C848-733BF8A80DAD}"/>
              </a:ext>
            </a:extLst>
          </p:cNvPr>
          <p:cNvCxnSpPr>
            <a:cxnSpLocks/>
          </p:cNvCxnSpPr>
          <p:nvPr/>
        </p:nvCxnSpPr>
        <p:spPr>
          <a:xfrm flipV="1">
            <a:off x="867372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9DF7EE3-5C8F-D2C9-FA7C-D8B3B3A66179}"/>
              </a:ext>
            </a:extLst>
          </p:cNvPr>
          <p:cNvCxnSpPr>
            <a:cxnSpLocks/>
          </p:cNvCxnSpPr>
          <p:nvPr/>
        </p:nvCxnSpPr>
        <p:spPr>
          <a:xfrm flipV="1">
            <a:off x="963384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6272E02-90D5-4E60-D966-2460B9A608E6}"/>
              </a:ext>
            </a:extLst>
          </p:cNvPr>
          <p:cNvCxnSpPr>
            <a:cxnSpLocks/>
          </p:cNvCxnSpPr>
          <p:nvPr/>
        </p:nvCxnSpPr>
        <p:spPr>
          <a:xfrm flipV="1">
            <a:off x="10584823"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C749822-E163-8347-F3CC-BC6BC8D411A2}"/>
              </a:ext>
            </a:extLst>
          </p:cNvPr>
          <p:cNvSpPr txBox="1"/>
          <p:nvPr/>
        </p:nvSpPr>
        <p:spPr>
          <a:xfrm>
            <a:off x="1041446" y="1567064"/>
            <a:ext cx="487634" cy="307777"/>
          </a:xfrm>
          <a:prstGeom prst="rect">
            <a:avLst/>
          </a:prstGeom>
          <a:noFill/>
        </p:spPr>
        <p:txBody>
          <a:bodyPr wrap="none" rtlCol="0">
            <a:spAutoFit/>
          </a:bodyPr>
          <a:lstStyle/>
          <a:p>
            <a:r>
              <a:rPr lang="en-US" sz="1400" b="1" i="1" dirty="0" err="1">
                <a:solidFill>
                  <a:srgbClr val="000000"/>
                </a:solidFill>
              </a:rPr>
              <a:t>Aaa</a:t>
            </a:r>
            <a:endParaRPr lang="en-US" sz="1400" b="1" i="1" dirty="0">
              <a:solidFill>
                <a:srgbClr val="000000"/>
              </a:solidFill>
            </a:endParaRPr>
          </a:p>
        </p:txBody>
      </p:sp>
      <p:sp>
        <p:nvSpPr>
          <p:cNvPr id="27" name="TextBox 26">
            <a:extLst>
              <a:ext uri="{FF2B5EF4-FFF2-40B4-BE49-F238E27FC236}">
                <a16:creationId xmlns:a16="http://schemas.microsoft.com/office/drawing/2014/main" id="{CE0C9F17-FABE-0D85-F7A1-0523BB082CBD}"/>
              </a:ext>
            </a:extLst>
          </p:cNvPr>
          <p:cNvSpPr txBox="1"/>
          <p:nvPr/>
        </p:nvSpPr>
        <p:spPr>
          <a:xfrm>
            <a:off x="2727034" y="1567064"/>
            <a:ext cx="498855" cy="307777"/>
          </a:xfrm>
          <a:prstGeom prst="rect">
            <a:avLst/>
          </a:prstGeom>
          <a:noFill/>
        </p:spPr>
        <p:txBody>
          <a:bodyPr wrap="none" rtlCol="0">
            <a:spAutoFit/>
          </a:bodyPr>
          <a:lstStyle/>
          <a:p>
            <a:r>
              <a:rPr lang="en-US" sz="1400" b="1" i="1" dirty="0">
                <a:solidFill>
                  <a:srgbClr val="000000"/>
                </a:solidFill>
              </a:rPr>
              <a:t>Aa1</a:t>
            </a:r>
          </a:p>
        </p:txBody>
      </p:sp>
      <p:sp>
        <p:nvSpPr>
          <p:cNvPr id="28" name="TextBox 27">
            <a:extLst>
              <a:ext uri="{FF2B5EF4-FFF2-40B4-BE49-F238E27FC236}">
                <a16:creationId xmlns:a16="http://schemas.microsoft.com/office/drawing/2014/main" id="{03CD8BB1-645A-3842-C5BA-D01BE4279C90}"/>
              </a:ext>
            </a:extLst>
          </p:cNvPr>
          <p:cNvSpPr txBox="1"/>
          <p:nvPr/>
        </p:nvSpPr>
        <p:spPr>
          <a:xfrm>
            <a:off x="4891532" y="1567064"/>
            <a:ext cx="498855" cy="307777"/>
          </a:xfrm>
          <a:prstGeom prst="rect">
            <a:avLst/>
          </a:prstGeom>
          <a:noFill/>
        </p:spPr>
        <p:txBody>
          <a:bodyPr wrap="none" rtlCol="0">
            <a:spAutoFit/>
          </a:bodyPr>
          <a:lstStyle/>
          <a:p>
            <a:r>
              <a:rPr lang="en-US" sz="1400" b="1" i="1" dirty="0">
                <a:solidFill>
                  <a:srgbClr val="000000"/>
                </a:solidFill>
              </a:rPr>
              <a:t>Aa2</a:t>
            </a:r>
          </a:p>
        </p:txBody>
      </p:sp>
      <p:sp>
        <p:nvSpPr>
          <p:cNvPr id="29" name="TextBox 28">
            <a:extLst>
              <a:ext uri="{FF2B5EF4-FFF2-40B4-BE49-F238E27FC236}">
                <a16:creationId xmlns:a16="http://schemas.microsoft.com/office/drawing/2014/main" id="{0F31C291-DBA3-9997-AA98-B1D81AAF82CE}"/>
              </a:ext>
            </a:extLst>
          </p:cNvPr>
          <p:cNvSpPr txBox="1"/>
          <p:nvPr/>
        </p:nvSpPr>
        <p:spPr>
          <a:xfrm>
            <a:off x="7039773" y="1567064"/>
            <a:ext cx="498855" cy="307777"/>
          </a:xfrm>
          <a:prstGeom prst="rect">
            <a:avLst/>
          </a:prstGeom>
          <a:noFill/>
        </p:spPr>
        <p:txBody>
          <a:bodyPr wrap="none" rtlCol="0">
            <a:spAutoFit/>
          </a:bodyPr>
          <a:lstStyle/>
          <a:p>
            <a:r>
              <a:rPr lang="en-US" sz="1400" b="1" i="1" dirty="0">
                <a:solidFill>
                  <a:srgbClr val="000000"/>
                </a:solidFill>
              </a:rPr>
              <a:t>Aa3</a:t>
            </a:r>
          </a:p>
        </p:txBody>
      </p:sp>
      <p:sp>
        <p:nvSpPr>
          <p:cNvPr id="30" name="TextBox 29">
            <a:extLst>
              <a:ext uri="{FF2B5EF4-FFF2-40B4-BE49-F238E27FC236}">
                <a16:creationId xmlns:a16="http://schemas.microsoft.com/office/drawing/2014/main" id="{47C4FC26-7DC5-0161-C111-70D6673FF1E6}"/>
              </a:ext>
            </a:extLst>
          </p:cNvPr>
          <p:cNvSpPr txBox="1"/>
          <p:nvPr/>
        </p:nvSpPr>
        <p:spPr>
          <a:xfrm>
            <a:off x="8929579" y="1567064"/>
            <a:ext cx="405880" cy="307777"/>
          </a:xfrm>
          <a:prstGeom prst="rect">
            <a:avLst/>
          </a:prstGeom>
          <a:noFill/>
        </p:spPr>
        <p:txBody>
          <a:bodyPr wrap="none" rtlCol="0">
            <a:spAutoFit/>
          </a:bodyPr>
          <a:lstStyle/>
          <a:p>
            <a:r>
              <a:rPr lang="en-US" sz="1400" b="1" i="1" dirty="0">
                <a:solidFill>
                  <a:srgbClr val="000000"/>
                </a:solidFill>
              </a:rPr>
              <a:t>A1</a:t>
            </a:r>
          </a:p>
        </p:txBody>
      </p:sp>
      <p:sp>
        <p:nvSpPr>
          <p:cNvPr id="31" name="TextBox 30">
            <a:extLst>
              <a:ext uri="{FF2B5EF4-FFF2-40B4-BE49-F238E27FC236}">
                <a16:creationId xmlns:a16="http://schemas.microsoft.com/office/drawing/2014/main" id="{CD92FD62-EBD1-F19C-0B58-B130F3C0A3CD}"/>
              </a:ext>
            </a:extLst>
          </p:cNvPr>
          <p:cNvSpPr txBox="1"/>
          <p:nvPr/>
        </p:nvSpPr>
        <p:spPr>
          <a:xfrm>
            <a:off x="9922513" y="1567064"/>
            <a:ext cx="405880" cy="307777"/>
          </a:xfrm>
          <a:prstGeom prst="rect">
            <a:avLst/>
          </a:prstGeom>
          <a:noFill/>
        </p:spPr>
        <p:txBody>
          <a:bodyPr wrap="none" rtlCol="0">
            <a:spAutoFit/>
          </a:bodyPr>
          <a:lstStyle/>
          <a:p>
            <a:r>
              <a:rPr lang="en-US" sz="1400" b="1" i="1" dirty="0">
                <a:solidFill>
                  <a:srgbClr val="000000"/>
                </a:solidFill>
              </a:rPr>
              <a:t>A2</a:t>
            </a:r>
          </a:p>
        </p:txBody>
      </p:sp>
      <p:sp>
        <p:nvSpPr>
          <p:cNvPr id="32" name="TextBox 31">
            <a:extLst>
              <a:ext uri="{FF2B5EF4-FFF2-40B4-BE49-F238E27FC236}">
                <a16:creationId xmlns:a16="http://schemas.microsoft.com/office/drawing/2014/main" id="{B21C8DCD-A94A-82E6-B1BA-D01841C95B89}"/>
              </a:ext>
            </a:extLst>
          </p:cNvPr>
          <p:cNvSpPr txBox="1"/>
          <p:nvPr/>
        </p:nvSpPr>
        <p:spPr>
          <a:xfrm>
            <a:off x="10946031" y="1567064"/>
            <a:ext cx="405880" cy="307777"/>
          </a:xfrm>
          <a:prstGeom prst="rect">
            <a:avLst/>
          </a:prstGeom>
          <a:noFill/>
        </p:spPr>
        <p:txBody>
          <a:bodyPr wrap="none" rtlCol="0">
            <a:spAutoFit/>
          </a:bodyPr>
          <a:lstStyle/>
          <a:p>
            <a:r>
              <a:rPr lang="en-US" sz="1400" b="1" i="1" dirty="0">
                <a:solidFill>
                  <a:srgbClr val="000000"/>
                </a:solidFill>
              </a:rPr>
              <a:t>Baa1</a:t>
            </a:r>
          </a:p>
        </p:txBody>
      </p:sp>
      <p:sp>
        <p:nvSpPr>
          <p:cNvPr id="33" name="TextBox 3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rIns="0" t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rIns="0" t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rIns="0" t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rIns="0" tIns="0" bIns="0" anchor="t">
            <a:spAutoFit/>
          </a:bodyPr>
          <a:lstStyle/>
          <a:p>
            <a:pPr algn="l"/>
            <a:r>
              <a:rPr sz="1600" b="0" i="0">
                <a:solidFill>
                  <a:srgbClr val="595959"/>
                </a:solidFill>
                <a:latin typeface="Lato"/>
              </a:rPr>
              <a:t>September 30,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−7.2%</a:t>
            </a:r>
          </a:p>
        </p:txBody>
      </p:sp>
      <p:sp>
        <p:nvSpPr>
          <p:cNvPr id="21" name="TextBox 20"/>
          <p:cNvSpPr txBox="1"/>
          <p:nvPr/>
        </p:nvSpPr>
        <p:spPr>
          <a:xfrm>
            <a:off x="9079077"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Degree-seeking enrollment</a:t>
            </a:r>
          </a:p>
        </p:txBody>
      </p:sp>
      <p:sp>
        <p:nvSpPr>
          <p:cNvPr id="22" name="TextBox 21"/>
          <p:cNvSpPr txBox="1"/>
          <p:nvPr/>
        </p:nvSpPr>
        <p:spPr>
          <a:xfrm>
            <a:off x="9079077"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FY25 to FY27 in the low scenario; professional graduate falls 22.8% while net tuition holds at +0.4%.</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93792"/>
            <a:ext cx="10881360" cy="685800"/>
          </a:xfrm>
          <a:prstGeom prst="rect">
            <a:avLst/>
          </a:prstGeom>
          <a:noFill/>
        </p:spPr>
        <p:txBody>
          <a:bodyPr wrap="square" lIns="0" rIns="0" t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Boston Globe (May 12, 2026); NSF HERD Survey FY24; Northeastern Financial Affairs (FY26 unaudited)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rIns="0" t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rIns="0" t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rIns="0" t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rIns="0" t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rIns="0" t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rIns="0" t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rIns="0" t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rIns="0" t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rIns="0" t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1</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The environment</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Pressures on higher education, and the forces behind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2</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Research momentum, enrollment, staffing and financial performance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3</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What to watch, and where Legal is likely to be engaged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Sector detail, value of a degree, economic mobility, peer responses and R&amp;D detail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1416"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2752"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1416"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Recent coverage, June–August 2026</a:t>
            </a:r>
          </a:p>
        </p:txBody>
      </p:sp>
      <p:sp>
        <p:nvSpPr>
          <p:cNvPr id="4" name="Rectangle 3"/>
          <p:cNvSpPr/>
          <p:nvPr/>
        </p:nvSpPr>
        <p:spPr>
          <a:xfrm>
            <a:off x="457200"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Boston Globe</a:t>
            </a:r>
          </a:p>
        </p:txBody>
      </p:sp>
      <p:cxnSp>
        <p:nvCxnSpPr>
          <p:cNvPr id="6" name="Connector 5"/>
          <p:cNvCxnSpPr/>
          <p:nvPr/>
        </p:nvCxnSpPr>
        <p:spPr>
          <a:xfrm>
            <a:off x="594360"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MAY 12, 2026</a:t>
            </a:r>
          </a:p>
        </p:txBody>
      </p:sp>
      <p:sp>
        <p:nvSpPr>
          <p:cNvPr id="8" name="TextBox 7"/>
          <p:cNvSpPr txBox="1"/>
          <p:nvPr/>
        </p:nvSpPr>
        <p:spPr>
          <a:xfrm>
            <a:off x="594360"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US colleges report 20 percent drop in foreign students over visa clampdown</a:t>
            </a:r>
          </a:p>
        </p:txBody>
      </p:sp>
      <p:sp>
        <p:nvSpPr>
          <p:cNvPr id="9" name="Rectangle 8"/>
          <p:cNvSpPr/>
          <p:nvPr/>
        </p:nvSpPr>
        <p:spPr>
          <a:xfrm>
            <a:off x="3331159"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68319"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Boston Globe</a:t>
            </a:r>
          </a:p>
        </p:txBody>
      </p:sp>
      <p:cxnSp>
        <p:nvCxnSpPr>
          <p:cNvPr id="11" name="Connector 10"/>
          <p:cNvCxnSpPr/>
          <p:nvPr/>
        </p:nvCxnSpPr>
        <p:spPr>
          <a:xfrm>
            <a:off x="3468319"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68319"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JULY 31, 2026</a:t>
            </a:r>
          </a:p>
        </p:txBody>
      </p:sp>
      <p:sp>
        <p:nvSpPr>
          <p:cNvPr id="13" name="TextBox 12"/>
          <p:cNvSpPr txBox="1"/>
          <p:nvPr/>
        </p:nvSpPr>
        <p:spPr>
          <a:xfrm>
            <a:off x="3468319"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New visa changes will upend international studies. Graduate programs are bracing for impact.</a:t>
            </a:r>
          </a:p>
        </p:txBody>
      </p:sp>
      <p:sp>
        <p:nvSpPr>
          <p:cNvPr id="14" name="Rectangle 13"/>
          <p:cNvSpPr/>
          <p:nvPr/>
        </p:nvSpPr>
        <p:spPr>
          <a:xfrm>
            <a:off x="6205118"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2278" y="1709928"/>
            <a:ext cx="2377440" cy="365760"/>
          </a:xfrm>
          <a:prstGeom prst="rect">
            <a:avLst/>
          </a:prstGeom>
          <a:noFill/>
        </p:spPr>
        <p:txBody>
          <a:bodyPr wrap="square" lIns="0" rIns="0" tIns="0" bIns="0" anchor="ctr">
            <a:spAutoFit/>
          </a:bodyPr>
          <a:lstStyle/>
          <a:p>
            <a:pPr algn="ctr"/>
            <a:r>
              <a:rPr sz="1200" b="1" i="0">
                <a:solidFill>
                  <a:srgbClr val="000000"/>
                </a:solidFill>
                <a:latin typeface="Georgia"/>
              </a:rPr>
              <a:t>San Francisco Chronicle</a:t>
            </a:r>
          </a:p>
        </p:txBody>
      </p:sp>
      <p:cxnSp>
        <p:nvCxnSpPr>
          <p:cNvPr id="16" name="Connector 15"/>
          <p:cNvCxnSpPr/>
          <p:nvPr/>
        </p:nvCxnSpPr>
        <p:spPr>
          <a:xfrm>
            <a:off x="6342278"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42278"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JULY 2026</a:t>
            </a:r>
          </a:p>
        </p:txBody>
      </p:sp>
      <p:sp>
        <p:nvSpPr>
          <p:cNvPr id="18" name="TextBox 17"/>
          <p:cNvSpPr txBox="1"/>
          <p:nvPr/>
        </p:nvSpPr>
        <p:spPr>
          <a:xfrm>
            <a:off x="6342278"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New student visa limits could ripple through Bay Area labs and campuses</a:t>
            </a:r>
          </a:p>
        </p:txBody>
      </p:sp>
      <p:sp>
        <p:nvSpPr>
          <p:cNvPr id="19" name="Rectangle 18"/>
          <p:cNvSpPr/>
          <p:nvPr/>
        </p:nvSpPr>
        <p:spPr>
          <a:xfrm>
            <a:off x="9079077"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6237"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INSIDE HIGHER ED</a:t>
            </a:r>
          </a:p>
        </p:txBody>
      </p:sp>
      <p:cxnSp>
        <p:nvCxnSpPr>
          <p:cNvPr id="21" name="Connector 20"/>
          <p:cNvCxnSpPr/>
          <p:nvPr/>
        </p:nvCxnSpPr>
        <p:spPr>
          <a:xfrm>
            <a:off x="9216237"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216237"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24, 2026</a:t>
            </a:r>
          </a:p>
        </p:txBody>
      </p:sp>
      <p:sp>
        <p:nvSpPr>
          <p:cNvPr id="23" name="TextBox 22"/>
          <p:cNvSpPr txBox="1"/>
          <p:nvPr/>
        </p:nvSpPr>
        <p:spPr>
          <a:xfrm>
            <a:off x="9216237"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International Student Rule Already Spurring Disenrollments</a:t>
            </a:r>
          </a:p>
        </p:txBody>
      </p:sp>
      <p:sp>
        <p:nvSpPr>
          <p:cNvPr id="24" name="Rectangle 23"/>
          <p:cNvSpPr/>
          <p:nvPr/>
        </p:nvSpPr>
        <p:spPr>
          <a:xfrm>
            <a:off x="457200"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INSIDE HIGHER ED</a:t>
            </a:r>
          </a:p>
        </p:txBody>
      </p:sp>
      <p:cxnSp>
        <p:nvCxnSpPr>
          <p:cNvPr id="26" name="Connector 25"/>
          <p:cNvCxnSpPr/>
          <p:nvPr/>
        </p:nvCxnSpPr>
        <p:spPr>
          <a:xfrm>
            <a:off x="594360"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94360"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6, 2026</a:t>
            </a:r>
          </a:p>
        </p:txBody>
      </p:sp>
      <p:sp>
        <p:nvSpPr>
          <p:cNvPr id="28" name="TextBox 27"/>
          <p:cNvSpPr txBox="1"/>
          <p:nvPr/>
        </p:nvSpPr>
        <p:spPr>
          <a:xfrm>
            <a:off x="594360"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Campus Cuts Hit Even Wealthy Institutions</a:t>
            </a:r>
          </a:p>
        </p:txBody>
      </p:sp>
      <p:sp>
        <p:nvSpPr>
          <p:cNvPr id="29" name="Rectangle 28"/>
          <p:cNvSpPr/>
          <p:nvPr/>
        </p:nvSpPr>
        <p:spPr>
          <a:xfrm>
            <a:off x="3331159"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68319"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Washington Post</a:t>
            </a:r>
          </a:p>
        </p:txBody>
      </p:sp>
      <p:cxnSp>
        <p:nvCxnSpPr>
          <p:cNvPr id="31" name="Connector 30"/>
          <p:cNvCxnSpPr/>
          <p:nvPr/>
        </p:nvCxnSpPr>
        <p:spPr>
          <a:xfrm>
            <a:off x="3468319"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468319"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JUNE 29, 2026</a:t>
            </a:r>
          </a:p>
        </p:txBody>
      </p:sp>
      <p:sp>
        <p:nvSpPr>
          <p:cNvPr id="33" name="TextBox 32"/>
          <p:cNvSpPr txBox="1"/>
          <p:nvPr/>
        </p:nvSpPr>
        <p:spPr>
          <a:xfrm>
            <a:off x="3468319"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U.S. colleges cut programs, report budget gaps after losing foreign students</a:t>
            </a:r>
          </a:p>
        </p:txBody>
      </p:sp>
      <p:sp>
        <p:nvSpPr>
          <p:cNvPr id="34" name="Rectangle 33"/>
          <p:cNvSpPr/>
          <p:nvPr/>
        </p:nvSpPr>
        <p:spPr>
          <a:xfrm>
            <a:off x="6205118"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2278"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CNBC</a:t>
            </a:r>
          </a:p>
        </p:txBody>
      </p:sp>
      <p:cxnSp>
        <p:nvCxnSpPr>
          <p:cNvPr id="36" name="Connector 35"/>
          <p:cNvCxnSpPr/>
          <p:nvPr/>
        </p:nvCxnSpPr>
        <p:spPr>
          <a:xfrm>
            <a:off x="6342278"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342278"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21, 2026</a:t>
            </a:r>
          </a:p>
        </p:txBody>
      </p:sp>
      <p:sp>
        <p:nvSpPr>
          <p:cNvPr id="38" name="TextBox 37"/>
          <p:cNvSpPr txBox="1"/>
          <p:nvPr/>
        </p:nvSpPr>
        <p:spPr>
          <a:xfrm>
            <a:off x="6342278"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International student enrollment falls amid tighter U.S. visa policies, reports show</a:t>
            </a:r>
          </a:p>
        </p:txBody>
      </p:sp>
      <p:sp>
        <p:nvSpPr>
          <p:cNvPr id="39" name="Rectangle 38"/>
          <p:cNvSpPr/>
          <p:nvPr/>
        </p:nvSpPr>
        <p:spPr>
          <a:xfrm>
            <a:off x="9079077"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16237" y="3858768"/>
            <a:ext cx="2377440" cy="365760"/>
          </a:xfrm>
          <a:prstGeom prst="rect">
            <a:avLst/>
          </a:prstGeom>
          <a:noFill/>
        </p:spPr>
        <p:txBody>
          <a:bodyPr wrap="square" lIns="0" rIns="0" tIns="0" bIns="0" anchor="ctr">
            <a:spAutoFit/>
          </a:bodyPr>
          <a:lstStyle/>
          <a:p>
            <a:pPr algn="ctr"/>
            <a:r>
              <a:rPr sz="1200" b="1" i="0">
                <a:solidFill>
                  <a:srgbClr val="000000"/>
                </a:solidFill>
                <a:latin typeface="Georgia"/>
              </a:rPr>
              <a:t>The Christian Science Monitor</a:t>
            </a:r>
          </a:p>
        </p:txBody>
      </p:sp>
      <p:cxnSp>
        <p:nvCxnSpPr>
          <p:cNvPr id="41" name="Connector 40"/>
          <p:cNvCxnSpPr/>
          <p:nvPr/>
        </p:nvCxnSpPr>
        <p:spPr>
          <a:xfrm>
            <a:off x="9216237"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9216237"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13, 2026</a:t>
            </a:r>
          </a:p>
        </p:txBody>
      </p:sp>
      <p:sp>
        <p:nvSpPr>
          <p:cNvPr id="43" name="TextBox 42"/>
          <p:cNvSpPr txBox="1"/>
          <p:nvPr/>
        </p:nvSpPr>
        <p:spPr>
          <a:xfrm>
            <a:off x="9216237"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As financial outlook darkens, colleges cut staff, programs ahead of new school year</a:t>
            </a:r>
          </a:p>
        </p:txBody>
      </p:sp>
      <p:sp>
        <p:nvSpPr>
          <p:cNvPr id="44" name="TextBox 43"/>
          <p:cNvSpPr txBox="1"/>
          <p:nvPr/>
        </p:nvSpPr>
        <p:spPr>
          <a:xfrm>
            <a:off x="457200" y="5897880"/>
            <a:ext cx="11247120" cy="274320"/>
          </a:xfrm>
          <a:prstGeom prst="rect">
            <a:avLst/>
          </a:prstGeom>
          <a:noFill/>
        </p:spPr>
        <p:txBody>
          <a:bodyPr wrap="square" lIns="0" rIns="0" t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45" name="TextBox 4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headlines as published by each outlet; NAFSA/JB International analysis as reported by Inside Higher Ed, August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sector grew eightfold from 1870 to 2010, then shrank 13% by 2022</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degree-granting institutions at the beginning of each decade, and 2018 and 2022</a:t>
            </a:r>
          </a:p>
        </p:txBody>
      </p:sp>
      <p:graphicFrame>
        <p:nvGraphicFramePr>
          <p:cNvPr id="4" name="Chart 3"/>
          <p:cNvGraphicFramePr>
            <a:graphicFrameLocks noGrp="1"/>
          </p:cNvGraphicFramePr>
          <p:nvPr/>
        </p:nvGraphicFramePr>
        <p:xfrm>
          <a:off x="457200" y="1554480"/>
          <a:ext cx="11274552" cy="448056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Department of Education, National Center for Education Statistics (2018 and 2022)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R&amp;D funding by source as a percent of GDP, 1953–2022</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National Science Board, Science and Engineering Indicators (NSF NCSES)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regulation has grown from 9,745 pages in 1950 to 190,260 in 2023, nearly twentyfold</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Total pages in the Code of Federal Regulations, 1950–2023. At one page a day, the full Code would take 521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The George Washington University Regulatory Studies Center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college earnings premium has grown from 28% in 1965 to 80% in 2014</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11274552" cy="3840480"/>
        </p:xfrm>
        <a:graphic>
          <a:graphicData uri="http://schemas.openxmlformats.org/drawingml/2006/chart">
            <c:chart xmlns:c="http://schemas.openxmlformats.org/drawingml/2006/chart" r:id="rId2"/>
          </a:graphicData>
        </a:graphic>
      </p:graphicFrame>
      <p:sp>
        <p:nvSpPr>
          <p:cNvPr id="5" name="TextBox 4"/>
          <p:cNvSpPr txBox="1"/>
          <p:nvPr/>
        </p:nvSpPr>
        <p:spPr>
          <a:xfrm>
            <a:off x="457200" y="1600200"/>
            <a:ext cx="1280160" cy="457200"/>
          </a:xfrm>
          <a:prstGeom prst="rect">
            <a:avLst/>
          </a:prstGeom>
          <a:noFill/>
        </p:spPr>
        <p:txBody>
          <a:bodyPr wrap="square" lIns="0" rIns="0" tIns="0" bIns="0" anchor="ctr">
            <a:spAutoFit/>
          </a:bodyPr>
          <a:lstStyle/>
          <a:p>
            <a:pPr algn="l"/>
            <a:r>
              <a:rPr sz="1100" b="1" i="0">
                <a:solidFill>
                  <a:srgbClr val="595959"/>
                </a:solidFill>
                <a:latin typeface="Lato"/>
              </a:rPr>
              <a:t>College premium</a:t>
            </a:r>
          </a:p>
        </p:txBody>
      </p:sp>
      <p:sp>
        <p:nvSpPr>
          <p:cNvPr id="6" name="TextBox 5"/>
          <p:cNvSpPr txBox="1"/>
          <p:nvPr/>
        </p:nvSpPr>
        <p:spPr>
          <a:xfrm>
            <a:off x="1645920"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28%</a:t>
            </a:r>
          </a:p>
        </p:txBody>
      </p:sp>
      <p:sp>
        <p:nvSpPr>
          <p:cNvPr id="7" name="TextBox 6"/>
          <p:cNvSpPr txBox="1"/>
          <p:nvPr/>
        </p:nvSpPr>
        <p:spPr>
          <a:xfrm>
            <a:off x="3383279"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27%</a:t>
            </a:r>
          </a:p>
        </p:txBody>
      </p:sp>
      <p:sp>
        <p:nvSpPr>
          <p:cNvPr id="8" name="TextBox 7"/>
          <p:cNvSpPr txBox="1"/>
          <p:nvPr/>
        </p:nvSpPr>
        <p:spPr>
          <a:xfrm>
            <a:off x="5120640"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33%</a:t>
            </a:r>
          </a:p>
        </p:txBody>
      </p:sp>
      <p:sp>
        <p:nvSpPr>
          <p:cNvPr id="9" name="TextBox 8"/>
          <p:cNvSpPr txBox="1"/>
          <p:nvPr/>
        </p:nvSpPr>
        <p:spPr>
          <a:xfrm>
            <a:off x="6857999"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46%</a:t>
            </a:r>
          </a:p>
        </p:txBody>
      </p:sp>
      <p:sp>
        <p:nvSpPr>
          <p:cNvPr id="10" name="TextBox 9"/>
          <p:cNvSpPr txBox="1"/>
          <p:nvPr/>
        </p:nvSpPr>
        <p:spPr>
          <a:xfrm>
            <a:off x="8595360"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62%</a:t>
            </a:r>
          </a:p>
        </p:txBody>
      </p:sp>
      <p:sp>
        <p:nvSpPr>
          <p:cNvPr id="11" name="TextBox 10"/>
          <p:cNvSpPr txBox="1"/>
          <p:nvPr/>
        </p:nvSpPr>
        <p:spPr>
          <a:xfrm>
            <a:off x="10332720" y="1600200"/>
            <a:ext cx="1280160" cy="457200"/>
          </a:xfrm>
          <a:prstGeom prst="rect">
            <a:avLst/>
          </a:prstGeom>
          <a:noFill/>
        </p:spPr>
        <p:txBody>
          <a:bodyPr wrap="square" lIns="0" rIns="0" tIns="0" bIns="0" anchor="ctr">
            <a:spAutoFit/>
          </a:bodyPr>
          <a:lstStyle/>
          <a:p>
            <a:pPr algn="ctr"/>
            <a:r>
              <a:rPr sz="2000" b="1" i="0">
                <a:solidFill>
                  <a:srgbClr val="C8102E"/>
                </a:solidFill>
                <a:latin typeface="Lato"/>
              </a:rPr>
              <a:t>80%</a:t>
            </a:r>
          </a:p>
        </p:txBody>
      </p:sp>
      <p:sp>
        <p:nvSpPr>
          <p:cNvPr id="12" name="TextBox 1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Brookings Institution tabulations of Census CPS ASEC, 1965–2014; includes those with no personal income; men and women ages 30–39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Post-secondary institutions by level and control, 2022</a:t>
            </a:r>
          </a:p>
        </p:txBody>
      </p:sp>
      <p:sp>
        <p:nvSpPr>
          <p:cNvPr id="4" name="TextBox 3"/>
          <p:cNvSpPr txBox="1"/>
          <p:nvPr/>
        </p:nvSpPr>
        <p:spPr>
          <a:xfrm>
            <a:off x="457200" y="1691640"/>
            <a:ext cx="3291840" cy="365760"/>
          </a:xfrm>
          <a:prstGeom prst="rect">
            <a:avLst/>
          </a:prstGeom>
          <a:noFill/>
        </p:spPr>
        <p:txBody>
          <a:bodyPr wrap="square" lIns="0" rIns="0" tIns="0" bIns="0" anchor="t">
            <a:spAutoFit/>
          </a:bodyPr>
          <a:lstStyle/>
          <a:p>
            <a:pPr algn="l"/>
            <a:r>
              <a:rPr sz="1300" b="1" i="0">
                <a:solidFill>
                  <a:srgbClr val="C8102E"/>
                </a:solidFill>
                <a:latin typeface="Lato"/>
              </a:rPr>
              <a:t>Institutions</a:t>
            </a:r>
          </a:p>
        </p:txBody>
      </p:sp>
      <p:sp>
        <p:nvSpPr>
          <p:cNvPr id="5" name="TextBox 4"/>
          <p:cNvSpPr txBox="1"/>
          <p:nvPr/>
        </p:nvSpPr>
        <p:spPr>
          <a:xfrm>
            <a:off x="3931920" y="1691640"/>
            <a:ext cx="2011680" cy="365760"/>
          </a:xfrm>
          <a:prstGeom prst="rect">
            <a:avLst/>
          </a:prstGeom>
          <a:noFill/>
        </p:spPr>
        <p:txBody>
          <a:bodyPr wrap="square" lIns="0" rIns="0" tIns="0" bIns="0" anchor="t">
            <a:spAutoFit/>
          </a:bodyPr>
          <a:lstStyle/>
          <a:p>
            <a:pPr algn="r"/>
            <a:r>
              <a:rPr sz="1300" b="1" i="0">
                <a:solidFill>
                  <a:srgbClr val="C8102E"/>
                </a:solidFill>
                <a:latin typeface="Lato"/>
              </a:rPr>
              <a:t>Public</a:t>
            </a:r>
          </a:p>
        </p:txBody>
      </p:sp>
      <p:sp>
        <p:nvSpPr>
          <p:cNvPr id="6" name="TextBox 5"/>
          <p:cNvSpPr txBox="1"/>
          <p:nvPr/>
        </p:nvSpPr>
        <p:spPr>
          <a:xfrm>
            <a:off x="6035040" y="1691640"/>
            <a:ext cx="2011680" cy="365760"/>
          </a:xfrm>
          <a:prstGeom prst="rect">
            <a:avLst/>
          </a:prstGeom>
          <a:noFill/>
        </p:spPr>
        <p:txBody>
          <a:bodyPr wrap="square" lIns="0" rIns="0" tIns="0" bIns="0" anchor="t">
            <a:spAutoFit/>
          </a:bodyPr>
          <a:lstStyle/>
          <a:p>
            <a:pPr algn="r"/>
            <a:r>
              <a:rPr sz="1300" b="1" i="0">
                <a:solidFill>
                  <a:srgbClr val="C8102E"/>
                </a:solidFill>
                <a:latin typeface="Lato"/>
              </a:rPr>
              <a:t>Private nonprofit</a:t>
            </a:r>
          </a:p>
        </p:txBody>
      </p:sp>
      <p:sp>
        <p:nvSpPr>
          <p:cNvPr id="7" name="TextBox 6"/>
          <p:cNvSpPr txBox="1"/>
          <p:nvPr/>
        </p:nvSpPr>
        <p:spPr>
          <a:xfrm>
            <a:off x="8138160" y="1691640"/>
            <a:ext cx="2011680" cy="365760"/>
          </a:xfrm>
          <a:prstGeom prst="rect">
            <a:avLst/>
          </a:prstGeom>
          <a:noFill/>
        </p:spPr>
        <p:txBody>
          <a:bodyPr wrap="square" lIns="0" rIns="0" tIns="0" bIns="0" anchor="t">
            <a:spAutoFit/>
          </a:bodyPr>
          <a:lstStyle/>
          <a:p>
            <a:pPr algn="r"/>
            <a:r>
              <a:rPr sz="1300" b="1" i="0">
                <a:solidFill>
                  <a:srgbClr val="C8102E"/>
                </a:solidFill>
                <a:latin typeface="Lato"/>
              </a:rPr>
              <a:t>Private for-profit</a:t>
            </a:r>
          </a:p>
        </p:txBody>
      </p:sp>
      <p:sp>
        <p:nvSpPr>
          <p:cNvPr id="8" name="TextBox 7"/>
          <p:cNvSpPr txBox="1"/>
          <p:nvPr/>
        </p:nvSpPr>
        <p:spPr>
          <a:xfrm>
            <a:off x="10241280" y="1691640"/>
            <a:ext cx="1490472" cy="365760"/>
          </a:xfrm>
          <a:prstGeom prst="rect">
            <a:avLst/>
          </a:prstGeom>
          <a:noFill/>
        </p:spPr>
        <p:txBody>
          <a:bodyPr wrap="square" lIns="0" rIns="0" tIns="0" bIns="0" anchor="t">
            <a:spAutoFit/>
          </a:bodyPr>
          <a:lstStyle/>
          <a:p>
            <a:pPr algn="r"/>
            <a:r>
              <a:rPr sz="1300" b="1" i="0">
                <a:solidFill>
                  <a:srgbClr val="C8102E"/>
                </a:solidFill>
                <a:latin typeface="Lato"/>
              </a:rPr>
              <a:t>Total</a:t>
            </a:r>
          </a:p>
        </p:txBody>
      </p:sp>
      <p:cxnSp>
        <p:nvCxnSpPr>
          <p:cNvPr id="9" name="Connector 8"/>
          <p:cNvCxnSpPr/>
          <p:nvPr/>
        </p:nvCxnSpPr>
        <p:spPr>
          <a:xfrm>
            <a:off x="457200" y="21031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2240280"/>
            <a:ext cx="3291840" cy="457200"/>
          </a:xfrm>
          <a:prstGeom prst="rect">
            <a:avLst/>
          </a:prstGeom>
          <a:noFill/>
        </p:spPr>
        <p:txBody>
          <a:bodyPr wrap="square" lIns="0" rIns="0" tIns="0" bIns="0" anchor="ctr">
            <a:spAutoFit/>
          </a:bodyPr>
          <a:lstStyle/>
          <a:p>
            <a:pPr algn="l"/>
            <a:r>
              <a:rPr sz="1600" b="1" i="0">
                <a:solidFill>
                  <a:srgbClr val="000000"/>
                </a:solidFill>
                <a:latin typeface="Lato"/>
              </a:rPr>
              <a:t>Four-year</a:t>
            </a:r>
          </a:p>
        </p:txBody>
      </p:sp>
      <p:sp>
        <p:nvSpPr>
          <p:cNvPr id="11" name="TextBox 10"/>
          <p:cNvSpPr txBox="1"/>
          <p:nvPr/>
        </p:nvSpPr>
        <p:spPr>
          <a:xfrm>
            <a:off x="3931920" y="2240280"/>
            <a:ext cx="2011680" cy="457200"/>
          </a:xfrm>
          <a:prstGeom prst="rect">
            <a:avLst/>
          </a:prstGeom>
          <a:noFill/>
        </p:spPr>
        <p:txBody>
          <a:bodyPr wrap="square" lIns="0" rIns="0" tIns="0" bIns="0" anchor="ctr">
            <a:spAutoFit/>
          </a:bodyPr>
          <a:lstStyle/>
          <a:p>
            <a:pPr algn="r"/>
            <a:r>
              <a:rPr sz="1600" b="0" i="0">
                <a:solidFill>
                  <a:srgbClr val="000000"/>
                </a:solidFill>
                <a:latin typeface="Lato"/>
              </a:rPr>
              <a:t>756 (29%)</a:t>
            </a:r>
          </a:p>
        </p:txBody>
      </p:sp>
      <p:sp>
        <p:nvSpPr>
          <p:cNvPr id="12" name="TextBox 11"/>
          <p:cNvSpPr txBox="1"/>
          <p:nvPr/>
        </p:nvSpPr>
        <p:spPr>
          <a:xfrm>
            <a:off x="6035040" y="2240280"/>
            <a:ext cx="2011680" cy="457200"/>
          </a:xfrm>
          <a:prstGeom prst="rect">
            <a:avLst/>
          </a:prstGeom>
          <a:noFill/>
        </p:spPr>
        <p:txBody>
          <a:bodyPr wrap="square" lIns="0" rIns="0" tIns="0" bIns="0" anchor="ctr">
            <a:spAutoFit/>
          </a:bodyPr>
          <a:lstStyle/>
          <a:p>
            <a:pPr algn="r"/>
            <a:r>
              <a:rPr sz="1600" b="0" i="0">
                <a:solidFill>
                  <a:srgbClr val="000000"/>
                </a:solidFill>
                <a:latin typeface="Lato"/>
              </a:rPr>
              <a:t>1,541 (59%)</a:t>
            </a:r>
          </a:p>
        </p:txBody>
      </p:sp>
      <p:sp>
        <p:nvSpPr>
          <p:cNvPr id="13" name="TextBox 12"/>
          <p:cNvSpPr txBox="1"/>
          <p:nvPr/>
        </p:nvSpPr>
        <p:spPr>
          <a:xfrm>
            <a:off x="8138160" y="2240280"/>
            <a:ext cx="2011680" cy="457200"/>
          </a:xfrm>
          <a:prstGeom prst="rect">
            <a:avLst/>
          </a:prstGeom>
          <a:noFill/>
        </p:spPr>
        <p:txBody>
          <a:bodyPr wrap="square" lIns="0" rIns="0" tIns="0" bIns="0" anchor="ctr">
            <a:spAutoFit/>
          </a:bodyPr>
          <a:lstStyle/>
          <a:p>
            <a:pPr algn="r"/>
            <a:r>
              <a:rPr sz="1600" b="0" i="0">
                <a:solidFill>
                  <a:srgbClr val="000000"/>
                </a:solidFill>
                <a:latin typeface="Lato"/>
              </a:rPr>
              <a:t>322 (12%)</a:t>
            </a:r>
          </a:p>
        </p:txBody>
      </p:sp>
      <p:sp>
        <p:nvSpPr>
          <p:cNvPr id="14" name="TextBox 13"/>
          <p:cNvSpPr txBox="1"/>
          <p:nvPr/>
        </p:nvSpPr>
        <p:spPr>
          <a:xfrm>
            <a:off x="10241280" y="2240280"/>
            <a:ext cx="1490472" cy="457200"/>
          </a:xfrm>
          <a:prstGeom prst="rect">
            <a:avLst/>
          </a:prstGeom>
          <a:noFill/>
        </p:spPr>
        <p:txBody>
          <a:bodyPr wrap="square" lIns="0" rIns="0" tIns="0" bIns="0" anchor="ctr">
            <a:spAutoFit/>
          </a:bodyPr>
          <a:lstStyle/>
          <a:p>
            <a:pPr algn="r"/>
            <a:r>
              <a:rPr sz="1600" b="1" i="0">
                <a:solidFill>
                  <a:srgbClr val="000000"/>
                </a:solidFill>
                <a:latin typeface="Lato"/>
              </a:rPr>
              <a:t>2,619</a:t>
            </a:r>
          </a:p>
        </p:txBody>
      </p:sp>
      <p:cxnSp>
        <p:nvCxnSpPr>
          <p:cNvPr id="15" name="Connector 14"/>
          <p:cNvCxnSpPr/>
          <p:nvPr/>
        </p:nvCxnSpPr>
        <p:spPr>
          <a:xfrm>
            <a:off x="457200" y="286207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2953512"/>
            <a:ext cx="3291840" cy="457200"/>
          </a:xfrm>
          <a:prstGeom prst="rect">
            <a:avLst/>
          </a:prstGeom>
          <a:noFill/>
        </p:spPr>
        <p:txBody>
          <a:bodyPr wrap="square" lIns="0" rIns="0" tIns="0" bIns="0" anchor="ctr">
            <a:spAutoFit/>
          </a:bodyPr>
          <a:lstStyle/>
          <a:p>
            <a:pPr algn="l"/>
            <a:r>
              <a:rPr sz="1600" b="1" i="0">
                <a:solidFill>
                  <a:srgbClr val="000000"/>
                </a:solidFill>
                <a:latin typeface="Lato"/>
              </a:rPr>
              <a:t>Two-year</a:t>
            </a:r>
          </a:p>
        </p:txBody>
      </p:sp>
      <p:sp>
        <p:nvSpPr>
          <p:cNvPr id="17" name="TextBox 16"/>
          <p:cNvSpPr txBox="1"/>
          <p:nvPr/>
        </p:nvSpPr>
        <p:spPr>
          <a:xfrm>
            <a:off x="3931920" y="2953512"/>
            <a:ext cx="2011680" cy="457200"/>
          </a:xfrm>
          <a:prstGeom prst="rect">
            <a:avLst/>
          </a:prstGeom>
          <a:noFill/>
        </p:spPr>
        <p:txBody>
          <a:bodyPr wrap="square" lIns="0" rIns="0" tIns="0" bIns="0" anchor="ctr">
            <a:spAutoFit/>
          </a:bodyPr>
          <a:lstStyle/>
          <a:p>
            <a:pPr algn="r"/>
            <a:r>
              <a:rPr sz="1600" b="0" i="0">
                <a:solidFill>
                  <a:srgbClr val="000000"/>
                </a:solidFill>
                <a:latin typeface="Lato"/>
              </a:rPr>
              <a:t>826 (64%)</a:t>
            </a:r>
          </a:p>
        </p:txBody>
      </p:sp>
      <p:sp>
        <p:nvSpPr>
          <p:cNvPr id="18" name="TextBox 17"/>
          <p:cNvSpPr txBox="1"/>
          <p:nvPr/>
        </p:nvSpPr>
        <p:spPr>
          <a:xfrm>
            <a:off x="6035040" y="2953512"/>
            <a:ext cx="2011680" cy="457200"/>
          </a:xfrm>
          <a:prstGeom prst="rect">
            <a:avLst/>
          </a:prstGeom>
          <a:noFill/>
        </p:spPr>
        <p:txBody>
          <a:bodyPr wrap="square" lIns="0" rIns="0" tIns="0" bIns="0" anchor="ctr">
            <a:spAutoFit/>
          </a:bodyPr>
          <a:lstStyle/>
          <a:p>
            <a:pPr algn="r"/>
            <a:r>
              <a:rPr sz="1600" b="0" i="0">
                <a:solidFill>
                  <a:srgbClr val="000000"/>
                </a:solidFill>
                <a:latin typeface="Lato"/>
              </a:rPr>
              <a:t>85 (7%)</a:t>
            </a:r>
          </a:p>
        </p:txBody>
      </p:sp>
      <p:sp>
        <p:nvSpPr>
          <p:cNvPr id="19" name="TextBox 18"/>
          <p:cNvSpPr txBox="1"/>
          <p:nvPr/>
        </p:nvSpPr>
        <p:spPr>
          <a:xfrm>
            <a:off x="8138160" y="2953512"/>
            <a:ext cx="2011680" cy="457200"/>
          </a:xfrm>
          <a:prstGeom prst="rect">
            <a:avLst/>
          </a:prstGeom>
          <a:noFill/>
        </p:spPr>
        <p:txBody>
          <a:bodyPr wrap="square" lIns="0" rIns="0" tIns="0" bIns="0" anchor="ctr">
            <a:spAutoFit/>
          </a:bodyPr>
          <a:lstStyle/>
          <a:p>
            <a:pPr algn="r"/>
            <a:r>
              <a:rPr sz="1600" b="0" i="0">
                <a:solidFill>
                  <a:srgbClr val="000000"/>
                </a:solidFill>
                <a:latin typeface="Lato"/>
              </a:rPr>
              <a:t>369 (29%)</a:t>
            </a:r>
          </a:p>
        </p:txBody>
      </p:sp>
      <p:sp>
        <p:nvSpPr>
          <p:cNvPr id="20" name="TextBox 19"/>
          <p:cNvSpPr txBox="1"/>
          <p:nvPr/>
        </p:nvSpPr>
        <p:spPr>
          <a:xfrm>
            <a:off x="10241280" y="2953512"/>
            <a:ext cx="1490472" cy="457200"/>
          </a:xfrm>
          <a:prstGeom prst="rect">
            <a:avLst/>
          </a:prstGeom>
          <a:noFill/>
        </p:spPr>
        <p:txBody>
          <a:bodyPr wrap="square" lIns="0" rIns="0" tIns="0" bIns="0" anchor="ctr">
            <a:spAutoFit/>
          </a:bodyPr>
          <a:lstStyle/>
          <a:p>
            <a:pPr algn="r"/>
            <a:r>
              <a:rPr sz="1600" b="1" i="0">
                <a:solidFill>
                  <a:srgbClr val="000000"/>
                </a:solidFill>
                <a:latin typeface="Lato"/>
              </a:rPr>
              <a:t>1,280</a:t>
            </a:r>
          </a:p>
        </p:txBody>
      </p:sp>
      <p:cxnSp>
        <p:nvCxnSpPr>
          <p:cNvPr id="21" name="Connector 20"/>
          <p:cNvCxnSpPr/>
          <p:nvPr/>
        </p:nvCxnSpPr>
        <p:spPr>
          <a:xfrm>
            <a:off x="457200" y="357530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3666744"/>
            <a:ext cx="3291840" cy="457200"/>
          </a:xfrm>
          <a:prstGeom prst="rect">
            <a:avLst/>
          </a:prstGeom>
          <a:noFill/>
        </p:spPr>
        <p:txBody>
          <a:bodyPr wrap="square" lIns="0" rIns="0" tIns="0" bIns="0" anchor="ctr">
            <a:spAutoFit/>
          </a:bodyPr>
          <a:lstStyle/>
          <a:p>
            <a:pPr algn="l"/>
            <a:r>
              <a:rPr sz="1600" b="1" i="0">
                <a:solidFill>
                  <a:srgbClr val="000000"/>
                </a:solidFill>
                <a:latin typeface="Lato"/>
              </a:rPr>
              <a:t>Degree-granting</a:t>
            </a:r>
          </a:p>
        </p:txBody>
      </p:sp>
      <p:sp>
        <p:nvSpPr>
          <p:cNvPr id="23" name="TextBox 22"/>
          <p:cNvSpPr txBox="1"/>
          <p:nvPr/>
        </p:nvSpPr>
        <p:spPr>
          <a:xfrm>
            <a:off x="3931920" y="3666744"/>
            <a:ext cx="2011680" cy="457200"/>
          </a:xfrm>
          <a:prstGeom prst="rect">
            <a:avLst/>
          </a:prstGeom>
          <a:noFill/>
        </p:spPr>
        <p:txBody>
          <a:bodyPr wrap="square" lIns="0" rIns="0" tIns="0" bIns="0" anchor="ctr">
            <a:spAutoFit/>
          </a:bodyPr>
          <a:lstStyle/>
          <a:p>
            <a:pPr algn="r"/>
            <a:r>
              <a:rPr sz="1600" b="0" i="0">
                <a:solidFill>
                  <a:srgbClr val="000000"/>
                </a:solidFill>
                <a:latin typeface="Lato"/>
              </a:rPr>
              <a:t>1,582 (40%)</a:t>
            </a:r>
          </a:p>
        </p:txBody>
      </p:sp>
      <p:sp>
        <p:nvSpPr>
          <p:cNvPr id="24" name="TextBox 23"/>
          <p:cNvSpPr txBox="1"/>
          <p:nvPr/>
        </p:nvSpPr>
        <p:spPr>
          <a:xfrm>
            <a:off x="6035040" y="3666744"/>
            <a:ext cx="2011680" cy="457200"/>
          </a:xfrm>
          <a:prstGeom prst="rect">
            <a:avLst/>
          </a:prstGeom>
          <a:noFill/>
        </p:spPr>
        <p:txBody>
          <a:bodyPr wrap="square" lIns="0" rIns="0" tIns="0" bIns="0" anchor="ctr">
            <a:spAutoFit/>
          </a:bodyPr>
          <a:lstStyle/>
          <a:p>
            <a:pPr algn="r"/>
            <a:r>
              <a:rPr sz="1600" b="0" i="0">
                <a:solidFill>
                  <a:srgbClr val="000000"/>
                </a:solidFill>
                <a:latin typeface="Lato"/>
              </a:rPr>
              <a:t>1,626 (42%)</a:t>
            </a:r>
          </a:p>
        </p:txBody>
      </p:sp>
      <p:sp>
        <p:nvSpPr>
          <p:cNvPr id="25" name="TextBox 24"/>
          <p:cNvSpPr txBox="1"/>
          <p:nvPr/>
        </p:nvSpPr>
        <p:spPr>
          <a:xfrm>
            <a:off x="8138160" y="3666744"/>
            <a:ext cx="2011680" cy="457200"/>
          </a:xfrm>
          <a:prstGeom prst="rect">
            <a:avLst/>
          </a:prstGeom>
          <a:noFill/>
        </p:spPr>
        <p:txBody>
          <a:bodyPr wrap="square" lIns="0" rIns="0" tIns="0" bIns="0" anchor="ctr">
            <a:spAutoFit/>
          </a:bodyPr>
          <a:lstStyle/>
          <a:p>
            <a:pPr algn="r"/>
            <a:r>
              <a:rPr sz="1600" b="0" i="0">
                <a:solidFill>
                  <a:srgbClr val="000000"/>
                </a:solidFill>
                <a:latin typeface="Lato"/>
              </a:rPr>
              <a:t>691 (18%)</a:t>
            </a:r>
          </a:p>
        </p:txBody>
      </p:sp>
      <p:sp>
        <p:nvSpPr>
          <p:cNvPr id="26" name="TextBox 25"/>
          <p:cNvSpPr txBox="1"/>
          <p:nvPr/>
        </p:nvSpPr>
        <p:spPr>
          <a:xfrm>
            <a:off x="10241280" y="3666744"/>
            <a:ext cx="1490472" cy="457200"/>
          </a:xfrm>
          <a:prstGeom prst="rect">
            <a:avLst/>
          </a:prstGeom>
          <a:noFill/>
        </p:spPr>
        <p:txBody>
          <a:bodyPr wrap="square" lIns="0" rIns="0" tIns="0" bIns="0" anchor="ctr">
            <a:spAutoFit/>
          </a:bodyPr>
          <a:lstStyle/>
          <a:p>
            <a:pPr algn="r"/>
            <a:r>
              <a:rPr sz="1600" b="1" i="0">
                <a:solidFill>
                  <a:srgbClr val="000000"/>
                </a:solidFill>
                <a:latin typeface="Lato"/>
              </a:rPr>
              <a:t>3,899</a:t>
            </a:r>
          </a:p>
        </p:txBody>
      </p:sp>
      <p:cxnSp>
        <p:nvCxnSpPr>
          <p:cNvPr id="27" name="Connector 26"/>
          <p:cNvCxnSpPr/>
          <p:nvPr/>
        </p:nvCxnSpPr>
        <p:spPr>
          <a:xfrm>
            <a:off x="457200" y="428853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7200" y="4379976"/>
            <a:ext cx="3291840" cy="457200"/>
          </a:xfrm>
          <a:prstGeom prst="rect">
            <a:avLst/>
          </a:prstGeom>
          <a:noFill/>
        </p:spPr>
        <p:txBody>
          <a:bodyPr wrap="square" lIns="0" rIns="0" tIns="0" bIns="0" anchor="ctr">
            <a:spAutoFit/>
          </a:bodyPr>
          <a:lstStyle/>
          <a:p>
            <a:pPr algn="l"/>
            <a:r>
              <a:rPr sz="1600" b="1" i="0">
                <a:solidFill>
                  <a:srgbClr val="000000"/>
                </a:solidFill>
                <a:latin typeface="Lato"/>
              </a:rPr>
              <a:t>Non-degree granting</a:t>
            </a:r>
          </a:p>
        </p:txBody>
      </p:sp>
      <p:sp>
        <p:nvSpPr>
          <p:cNvPr id="29" name="TextBox 28"/>
          <p:cNvSpPr txBox="1"/>
          <p:nvPr/>
        </p:nvSpPr>
        <p:spPr>
          <a:xfrm>
            <a:off x="3931920" y="4379976"/>
            <a:ext cx="2011680" cy="457200"/>
          </a:xfrm>
          <a:prstGeom prst="rect">
            <a:avLst/>
          </a:prstGeom>
          <a:noFill/>
        </p:spPr>
        <p:txBody>
          <a:bodyPr wrap="square" lIns="0" rIns="0" tIns="0" bIns="0" anchor="ctr">
            <a:spAutoFit/>
          </a:bodyPr>
          <a:lstStyle/>
          <a:p>
            <a:pPr algn="r"/>
            <a:r>
              <a:rPr sz="1600" b="0" i="0">
                <a:solidFill>
                  <a:srgbClr val="000000"/>
                </a:solidFill>
                <a:latin typeface="Lato"/>
              </a:rPr>
              <a:t>302 (15%)</a:t>
            </a:r>
          </a:p>
        </p:txBody>
      </p:sp>
      <p:sp>
        <p:nvSpPr>
          <p:cNvPr id="30" name="TextBox 29"/>
          <p:cNvSpPr txBox="1"/>
          <p:nvPr/>
        </p:nvSpPr>
        <p:spPr>
          <a:xfrm>
            <a:off x="6035040" y="4379976"/>
            <a:ext cx="2011680" cy="457200"/>
          </a:xfrm>
          <a:prstGeom prst="rect">
            <a:avLst/>
          </a:prstGeom>
          <a:noFill/>
        </p:spPr>
        <p:txBody>
          <a:bodyPr wrap="square" lIns="0" rIns="0" tIns="0" bIns="0" anchor="ctr">
            <a:spAutoFit/>
          </a:bodyPr>
          <a:lstStyle/>
          <a:p>
            <a:pPr algn="r"/>
            <a:r>
              <a:rPr sz="1600" b="0" i="0">
                <a:solidFill>
                  <a:srgbClr val="000000"/>
                </a:solidFill>
                <a:latin typeface="Lato"/>
              </a:rPr>
              <a:t>114 (6%)</a:t>
            </a:r>
          </a:p>
        </p:txBody>
      </p:sp>
      <p:sp>
        <p:nvSpPr>
          <p:cNvPr id="31" name="TextBox 30"/>
          <p:cNvSpPr txBox="1"/>
          <p:nvPr/>
        </p:nvSpPr>
        <p:spPr>
          <a:xfrm>
            <a:off x="8138160" y="4379976"/>
            <a:ext cx="2011680" cy="457200"/>
          </a:xfrm>
          <a:prstGeom prst="rect">
            <a:avLst/>
          </a:prstGeom>
          <a:noFill/>
        </p:spPr>
        <p:txBody>
          <a:bodyPr wrap="square" lIns="0" rIns="0" tIns="0" bIns="0" anchor="ctr">
            <a:spAutoFit/>
          </a:bodyPr>
          <a:lstStyle/>
          <a:p>
            <a:pPr algn="r"/>
            <a:r>
              <a:rPr sz="1600" b="0" i="0">
                <a:solidFill>
                  <a:srgbClr val="000000"/>
                </a:solidFill>
                <a:latin typeface="Lato"/>
              </a:rPr>
              <a:t>1,524 (79%)</a:t>
            </a:r>
          </a:p>
        </p:txBody>
      </p:sp>
      <p:sp>
        <p:nvSpPr>
          <p:cNvPr id="32" name="TextBox 31"/>
          <p:cNvSpPr txBox="1"/>
          <p:nvPr/>
        </p:nvSpPr>
        <p:spPr>
          <a:xfrm>
            <a:off x="10241280" y="4379976"/>
            <a:ext cx="1490472" cy="457200"/>
          </a:xfrm>
          <a:prstGeom prst="rect">
            <a:avLst/>
          </a:prstGeom>
          <a:noFill/>
        </p:spPr>
        <p:txBody>
          <a:bodyPr wrap="square" lIns="0" rIns="0" tIns="0" bIns="0" anchor="ctr">
            <a:spAutoFit/>
          </a:bodyPr>
          <a:lstStyle/>
          <a:p>
            <a:pPr algn="r"/>
            <a:r>
              <a:rPr sz="1600" b="1" i="0">
                <a:solidFill>
                  <a:srgbClr val="000000"/>
                </a:solidFill>
                <a:latin typeface="Lato"/>
              </a:rPr>
              <a:t>1,940</a:t>
            </a:r>
          </a:p>
        </p:txBody>
      </p:sp>
      <p:cxnSp>
        <p:nvCxnSpPr>
          <p:cNvPr id="33" name="Connector 32"/>
          <p:cNvCxnSpPr/>
          <p:nvPr/>
        </p:nvCxnSpPr>
        <p:spPr>
          <a:xfrm>
            <a:off x="457200" y="500176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57200" y="5093208"/>
            <a:ext cx="3291840" cy="457200"/>
          </a:xfrm>
          <a:prstGeom prst="rect">
            <a:avLst/>
          </a:prstGeom>
          <a:noFill/>
        </p:spPr>
        <p:txBody>
          <a:bodyPr wrap="square" lIns="0" rIns="0" tIns="0" bIns="0" anchor="ctr">
            <a:spAutoFit/>
          </a:bodyPr>
          <a:lstStyle/>
          <a:p>
            <a:pPr algn="l"/>
            <a:r>
              <a:rPr sz="1600" b="1" i="0">
                <a:solidFill>
                  <a:srgbClr val="000000"/>
                </a:solidFill>
                <a:latin typeface="Lato"/>
              </a:rPr>
              <a:t>All post-secondary</a:t>
            </a:r>
          </a:p>
        </p:txBody>
      </p:sp>
      <p:sp>
        <p:nvSpPr>
          <p:cNvPr id="35" name="TextBox 34"/>
          <p:cNvSpPr txBox="1"/>
          <p:nvPr/>
        </p:nvSpPr>
        <p:spPr>
          <a:xfrm>
            <a:off x="3931920" y="5093208"/>
            <a:ext cx="2011680" cy="457200"/>
          </a:xfrm>
          <a:prstGeom prst="rect">
            <a:avLst/>
          </a:prstGeom>
          <a:noFill/>
        </p:spPr>
        <p:txBody>
          <a:bodyPr wrap="square" lIns="0" rIns="0" tIns="0" bIns="0" anchor="ctr">
            <a:spAutoFit/>
          </a:bodyPr>
          <a:lstStyle/>
          <a:p>
            <a:pPr algn="r"/>
            <a:r>
              <a:rPr sz="1600" b="1" i="0">
                <a:solidFill>
                  <a:srgbClr val="000000"/>
                </a:solidFill>
                <a:latin typeface="Lato"/>
              </a:rPr>
              <a:t>1,884 (32%)</a:t>
            </a:r>
          </a:p>
        </p:txBody>
      </p:sp>
      <p:sp>
        <p:nvSpPr>
          <p:cNvPr id="36" name="TextBox 35"/>
          <p:cNvSpPr txBox="1"/>
          <p:nvPr/>
        </p:nvSpPr>
        <p:spPr>
          <a:xfrm>
            <a:off x="6035040" y="5093208"/>
            <a:ext cx="2011680" cy="457200"/>
          </a:xfrm>
          <a:prstGeom prst="rect">
            <a:avLst/>
          </a:prstGeom>
          <a:noFill/>
        </p:spPr>
        <p:txBody>
          <a:bodyPr wrap="square" lIns="0" rIns="0" tIns="0" bIns="0" anchor="ctr">
            <a:spAutoFit/>
          </a:bodyPr>
          <a:lstStyle/>
          <a:p>
            <a:pPr algn="r"/>
            <a:r>
              <a:rPr sz="1600" b="1" i="0">
                <a:solidFill>
                  <a:srgbClr val="000000"/>
                </a:solidFill>
                <a:latin typeface="Lato"/>
              </a:rPr>
              <a:t>1,740 (30%)</a:t>
            </a:r>
          </a:p>
        </p:txBody>
      </p:sp>
      <p:sp>
        <p:nvSpPr>
          <p:cNvPr id="37" name="TextBox 36"/>
          <p:cNvSpPr txBox="1"/>
          <p:nvPr/>
        </p:nvSpPr>
        <p:spPr>
          <a:xfrm>
            <a:off x="8138160" y="5093208"/>
            <a:ext cx="2011680" cy="457200"/>
          </a:xfrm>
          <a:prstGeom prst="rect">
            <a:avLst/>
          </a:prstGeom>
          <a:noFill/>
        </p:spPr>
        <p:txBody>
          <a:bodyPr wrap="square" lIns="0" rIns="0" tIns="0" bIns="0" anchor="ctr">
            <a:spAutoFit/>
          </a:bodyPr>
          <a:lstStyle/>
          <a:p>
            <a:pPr algn="r"/>
            <a:r>
              <a:rPr sz="1600" b="1" i="0">
                <a:solidFill>
                  <a:srgbClr val="000000"/>
                </a:solidFill>
                <a:latin typeface="Lato"/>
              </a:rPr>
              <a:t>2,215 (38%)</a:t>
            </a:r>
          </a:p>
        </p:txBody>
      </p:sp>
      <p:sp>
        <p:nvSpPr>
          <p:cNvPr id="38" name="TextBox 37"/>
          <p:cNvSpPr txBox="1"/>
          <p:nvPr/>
        </p:nvSpPr>
        <p:spPr>
          <a:xfrm>
            <a:off x="10241280" y="5093208"/>
            <a:ext cx="1490472" cy="457200"/>
          </a:xfrm>
          <a:prstGeom prst="rect">
            <a:avLst/>
          </a:prstGeom>
          <a:noFill/>
        </p:spPr>
        <p:txBody>
          <a:bodyPr wrap="square" lIns="0" rIns="0" tIns="0" bIns="0" anchor="ctr">
            <a:spAutoFit/>
          </a:bodyPr>
          <a:lstStyle/>
          <a:p>
            <a:pPr algn="r"/>
            <a:r>
              <a:rPr sz="1600" b="1" i="0">
                <a:solidFill>
                  <a:srgbClr val="000000"/>
                </a:solidFill>
                <a:latin typeface="Lato"/>
              </a:rPr>
              <a:t>5,839</a:t>
            </a:r>
          </a:p>
        </p:txBody>
      </p:sp>
      <p:cxnSp>
        <p:nvCxnSpPr>
          <p:cNvPr id="39" name="Connector 38"/>
          <p:cNvCxnSpPr/>
          <p:nvPr/>
        </p:nvCxnSpPr>
        <p:spPr>
          <a:xfrm>
            <a:off x="457200" y="5715000"/>
            <a:ext cx="11274552"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57200" y="5897880"/>
            <a:ext cx="11247120" cy="274320"/>
          </a:xfrm>
          <a:prstGeom prst="rect">
            <a:avLst/>
          </a:prstGeom>
          <a:noFill/>
        </p:spPr>
        <p:txBody>
          <a:bodyPr wrap="square" lIns="0" rIns="0" tIns="0" bIns="0" anchor="t">
            <a:spAutoFit/>
          </a:bodyPr>
          <a:lstStyle/>
          <a:p>
            <a:pPr algn="l"/>
            <a:r>
              <a:rPr sz="1200" b="0" i="0">
                <a:solidFill>
                  <a:srgbClr val="595959"/>
                </a:solidFill>
                <a:latin typeface="Lato"/>
              </a:rPr>
              <a:t>Four-year and two-year institutions sum to the 3,899 degree-granting institutions; degree-granting and non-degree sum to 5,839.</a:t>
            </a:r>
          </a:p>
        </p:txBody>
      </p:sp>
      <p:sp>
        <p:nvSpPr>
          <p:cNvPr id="41" name="TextBox 40"/>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Department of Education, National Center for Education Statistics (2022)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29768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The Equality of Opportunity Project (Chetty et 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Higher attainment means higher earnings and lower unemployment</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earnings and unemployment rate by educational attainment, 2018</a:t>
            </a:r>
          </a:p>
        </p:txBody>
      </p:sp>
      <p:sp>
        <p:nvSpPr>
          <p:cNvPr id="4" name="TextBox 3"/>
          <p:cNvSpPr txBox="1"/>
          <p:nvPr/>
        </p:nvSpPr>
        <p:spPr>
          <a:xfrm>
            <a:off x="457200" y="1600200"/>
            <a:ext cx="6675120" cy="274320"/>
          </a:xfrm>
          <a:prstGeom prst="rect">
            <a:avLst/>
          </a:prstGeom>
          <a:noFill/>
        </p:spPr>
        <p:txBody>
          <a:bodyPr wrap="square" lIns="0" rIns="0" tIns="0" bIns="0" anchor="t">
            <a:spAutoFit/>
          </a:bodyPr>
          <a:lstStyle/>
          <a:p>
            <a:pPr algn="l"/>
            <a:r>
              <a:rPr sz="1300" b="1" i="0">
                <a:solidFill>
                  <a:srgbClr val="000000"/>
                </a:solidFill>
                <a:latin typeface="Lato"/>
              </a:rPr>
              <a:t>Median earnings ($)</a:t>
            </a:r>
          </a:p>
        </p:txBody>
      </p:sp>
      <p:graphicFrame>
        <p:nvGraphicFramePr>
          <p:cNvPr id="5" name="Chart 4"/>
          <p:cNvGraphicFramePr>
            <a:graphicFrameLocks noGrp="1"/>
          </p:cNvGraphicFramePr>
          <p:nvPr/>
        </p:nvGraphicFramePr>
        <p:xfrm>
          <a:off x="457200" y="1874519"/>
          <a:ext cx="6766560" cy="4023360"/>
        </p:xfrm>
        <a:graphic>
          <a:graphicData uri="http://schemas.openxmlformats.org/drawingml/2006/chart">
            <c:chart xmlns:c="http://schemas.openxmlformats.org/drawingml/2006/chart" r:id="rId2"/>
          </a:graphicData>
        </a:graphic>
      </p:graphicFrame>
      <p:sp>
        <p:nvSpPr>
          <p:cNvPr id="6" name="TextBox 5"/>
          <p:cNvSpPr txBox="1"/>
          <p:nvPr/>
        </p:nvSpPr>
        <p:spPr>
          <a:xfrm>
            <a:off x="7589520" y="1600200"/>
            <a:ext cx="4114800" cy="274320"/>
          </a:xfrm>
          <a:prstGeom prst="rect">
            <a:avLst/>
          </a:prstGeom>
          <a:noFill/>
        </p:spPr>
        <p:txBody>
          <a:bodyPr wrap="square" lIns="0" rIns="0" t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589520" y="1874519"/>
          <a:ext cx="4142232" cy="4023360"/>
        </p:xfrm>
        <a:graphic>
          <a:graphicData uri="http://schemas.openxmlformats.org/drawingml/2006/chart">
            <c:chart xmlns:c="http://schemas.openxmlformats.org/drawingml/2006/chart" r:id="rId3"/>
          </a:graphicData>
        </a:graphic>
      </p:graphicFrame>
      <p:sp>
        <p:nvSpPr>
          <p:cNvPr id="8" name="TextBox 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Bureau of Labor Statistics, Current Population Survey, 2018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And the supporting regulatory and compliance regime is only making matters worse</a:t>
            </a:r>
          </a:p>
        </p:txBody>
      </p:sp>
      <p:sp>
        <p:nvSpPr>
          <p:cNvPr id="4" name="TextBox 3"/>
          <p:cNvSpPr txBox="1"/>
          <p:nvPr/>
        </p:nvSpPr>
        <p:spPr>
          <a:xfrm>
            <a:off x="457200" y="1691640"/>
            <a:ext cx="3611880" cy="365760"/>
          </a:xfrm>
          <a:prstGeom prst="rect">
            <a:avLst/>
          </a:prstGeom>
          <a:noFill/>
        </p:spPr>
        <p:txBody>
          <a:bodyPr wrap="square" lIns="0" rIns="0" t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210312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2286000"/>
            <a:ext cx="3611880" cy="3840480"/>
          </a:xfrm>
          <a:prstGeom prst="rect">
            <a:avLst/>
          </a:prstGeom>
          <a:noFill/>
        </p:spPr>
        <p:txBody>
          <a:bodyPr wrap="square" lIns="0" rIns="0" tIns="0" bIns="0">
            <a:spAutoFit/>
          </a:bodyPr>
          <a:lstStyle/>
          <a:p>
            <a:pPr marL="171450" indent="-171450">
              <a:spcAft>
                <a:spcPts val="400"/>
              </a:spcAft>
              <a:buChar char="•"/>
            </a:pPr>
            <a:r>
              <a:rPr sz="1400">
                <a:solidFill>
                  <a:srgbClr val="000000"/>
                </a:solidFill>
                <a:latin typeface="Lato"/>
              </a:rPr>
              <a:t>As a % of GDP, federal funding for research has declined by 21% since FY 2010.</a:t>
            </a:r>
          </a:p>
          <a:p>
            <a:pPr marL="171450" indent="-171450">
              <a:spcAft>
                <a:spcPts val="400"/>
              </a:spcAft>
              <a:buChar char="•"/>
            </a:pPr>
            <a:r>
              <a:rPr sz="1400">
                <a:solidFill>
                  <a:srgbClr val="000000"/>
                </a:solidFill>
                <a:latin typeface="Lato"/>
              </a:rPr>
              <a:t>Between 2003 and 2022, NIH real growth averaged 1.4%.</a:t>
            </a:r>
          </a:p>
          <a:p>
            <a:pPr marL="171450" indent="-171450">
              <a:spcAft>
                <a:spcPts val="400"/>
              </a:spcAft>
              <a:buChar char="•"/>
            </a:pPr>
            <a:r>
              <a:rPr sz="1400">
                <a:solidFill>
                  <a:srgbClr val="000000"/>
                </a:solidFill>
                <a:latin typeface="Lato"/>
              </a:rPr>
              <a:t>The proposed U.S. federal budget presents a potential for additional NIH and NSF research dollars.</a:t>
            </a:r>
          </a:p>
        </p:txBody>
      </p:sp>
      <p:sp>
        <p:nvSpPr>
          <p:cNvPr id="7" name="TextBox 6"/>
          <p:cNvSpPr txBox="1"/>
          <p:nvPr/>
        </p:nvSpPr>
        <p:spPr>
          <a:xfrm>
            <a:off x="4288536" y="1691640"/>
            <a:ext cx="3611880" cy="365760"/>
          </a:xfrm>
          <a:prstGeom prst="rect">
            <a:avLst/>
          </a:prstGeom>
          <a:noFill/>
        </p:spPr>
        <p:txBody>
          <a:bodyPr wrap="square" lIns="0" rIns="0" t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210312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2286000"/>
            <a:ext cx="3611880" cy="3840480"/>
          </a:xfrm>
          <a:prstGeom prst="rect">
            <a:avLst/>
          </a:prstGeom>
          <a:noFill/>
        </p:spPr>
        <p:txBody>
          <a:bodyPr wrap="square" lIns="0" rIns="0" tIns="0" bIns="0">
            <a:spAutoFit/>
          </a:bodyPr>
          <a:lstStyle/>
          <a:p>
            <a:pPr marL="171450" indent="-171450">
              <a:spcAft>
                <a:spcPts val="400"/>
              </a:spcAft>
              <a:buChar char="•"/>
            </a:pPr>
            <a:r>
              <a:rPr sz="1400">
                <a:solidFill>
                  <a:srgbClr val="000000"/>
                </a:solidFill>
                <a:latin typeface="Lato"/>
              </a:rPr>
              <a:t>Higher education costs continue to rise. Student debt has grown by an average of 13% each year over the past decade, making unfunded tuition increases an unsustainable business model.</a:t>
            </a:r>
          </a:p>
          <a:p>
            <a:pPr marL="171450" indent="-171450">
              <a:spcAft>
                <a:spcPts val="400"/>
              </a:spcAft>
              <a:buChar char="•"/>
            </a:pPr>
            <a:r>
              <a:rPr sz="1400">
                <a:solidFill>
                  <a:srgbClr val="000000"/>
                </a:solidFill>
                <a:latin typeface="Lato"/>
              </a:rPr>
              <a:t>333 universities and colleges closed from 2013 to 2022, with 57% of closures in the past four years.</a:t>
            </a:r>
          </a:p>
          <a:p>
            <a:pPr marL="171450" indent="-171450">
              <a:spcAft>
                <a:spcPts val="400"/>
              </a:spcAft>
              <a:buChar char="•"/>
            </a:pPr>
            <a:r>
              <a:rPr sz="1400">
                <a:solidFill>
                  <a:srgbClr val="000000"/>
                </a:solidFill>
                <a:latin typeface="Lato"/>
              </a:rPr>
              <a:t>Automation and AI are reshaping the job market. Six-year graduation rates averaged 64% nationally in 2022.</a:t>
            </a:r>
          </a:p>
        </p:txBody>
      </p:sp>
      <p:sp>
        <p:nvSpPr>
          <p:cNvPr id="10" name="TextBox 9"/>
          <p:cNvSpPr txBox="1"/>
          <p:nvPr/>
        </p:nvSpPr>
        <p:spPr>
          <a:xfrm>
            <a:off x="8119872" y="1691640"/>
            <a:ext cx="3611880" cy="365760"/>
          </a:xfrm>
          <a:prstGeom prst="rect">
            <a:avLst/>
          </a:prstGeom>
          <a:noFill/>
        </p:spPr>
        <p:txBody>
          <a:bodyPr wrap="square" lIns="0" rIns="0" t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210312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2286000"/>
            <a:ext cx="3611880" cy="3840480"/>
          </a:xfrm>
          <a:prstGeom prst="rect">
            <a:avLst/>
          </a:prstGeom>
          <a:noFill/>
        </p:spPr>
        <p:txBody>
          <a:bodyPr wrap="square" lIns="0" rIns="0" tIns="0" bIns="0">
            <a:spAutoFit/>
          </a:bodyPr>
          <a:lstStyle/>
          <a:p>
            <a:pPr marL="171450" indent="-171450">
              <a:spcAft>
                <a:spcPts val="400"/>
              </a:spcAft>
              <a:buChar char="•"/>
            </a:pPr>
            <a:r>
              <a:rPr sz="1400">
                <a:solidFill>
                  <a:srgbClr val="000000"/>
                </a:solidFill>
                <a:latin typeface="Lato"/>
              </a:rPr>
              <a:t>The U.S. health system faces its biggest change since the creation of Medicare and Medicaid 50 years ago.</a:t>
            </a:r>
          </a:p>
          <a:p>
            <a:pPr marL="171450" indent="-171450">
              <a:spcAft>
                <a:spcPts val="400"/>
              </a:spcAft>
              <a:buChar char="•"/>
            </a:pPr>
            <a:r>
              <a:rPr sz="1400">
                <a:solidFill>
                  <a:srgbClr val="000000"/>
                </a:solidFill>
                <a:latin typeface="Lato"/>
              </a:rPr>
              <a:t>All reform proposals aim to contain the share of GDP devoted to health care, leading to the need for structural transformation.</a:t>
            </a:r>
          </a:p>
          <a:p>
            <a:pPr marL="171450" indent="-171450">
              <a:spcAft>
                <a:spcPts val="400"/>
              </a:spcAft>
              <a:buChar char="•"/>
            </a:pPr>
            <a:r>
              <a:rPr sz="1400">
                <a:solidFill>
                  <a:srgbClr val="000000"/>
                </a:solidFill>
                <a:latin typeface="Lato"/>
              </a:rPr>
              <a:t>There is a fundamental shift from volume to value.</a:t>
            </a:r>
          </a:p>
        </p:txBody>
      </p:sp>
      <p:sp>
        <p:nvSpPr>
          <p:cNvPr id="13" name="TextBox 1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NIH and NSF funding trends; NCES (graduation rates, 2022)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rIns="0" t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r:id="rId2"/>
          </a:graphicData>
        </a:graphic>
      </p:graphicFrame>
      <p:sp>
        <p:nvSpPr>
          <p:cNvPr id="6" name="TextBox 5"/>
          <p:cNvSpPr txBox="1"/>
          <p:nvPr/>
        </p:nvSpPr>
        <p:spPr>
          <a:xfrm>
            <a:off x="7132320" y="1600200"/>
            <a:ext cx="4572000" cy="274320"/>
          </a:xfrm>
          <a:prstGeom prst="rect">
            <a:avLst/>
          </a:prstGeom>
          <a:noFill/>
        </p:spPr>
        <p:txBody>
          <a:bodyPr wrap="square" lIns="0" rIns="0" t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rIns="0" t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8872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10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rIns="0" t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8872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Demand for elite institutions is projected to drop by much less during 2025 to 2029.</a:t>
            </a:r>
          </a:p>
          <a:p>
            <a:pPr marL="171450" indent="-171450">
              <a:spcAft>
                <a:spcPts val="400"/>
              </a:spcAft>
              <a:buChar char="•"/>
            </a:pPr>
            <a:r>
              <a:rPr sz="11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rIns="0" t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Senator Lamar Alexander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Faculty are far less likely than administrators or trustees to see the financial challenge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Share who agree that each group is realistic and aware of the financial challenges confronting the institution (4 or 5 on a five-point scale)</a:t>
            </a:r>
          </a:p>
        </p:txBody>
      </p:sp>
      <p:graphicFrame>
        <p:nvGraphicFramePr>
          <p:cNvPr id="4" name="Chart 3"/>
          <p:cNvGraphicFramePr>
            <a:graphicFrameLocks noGrp="1"/>
          </p:cNvGraphicFramePr>
          <p:nvPr/>
        </p:nvGraphicFramePr>
        <p:xfrm>
          <a:off x="457200" y="1828800"/>
          <a:ext cx="11274552" cy="420624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Inside Higher Ed surveys of college and university business officers, 2013–2024; trustees not surveyed in 2013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2024 U.S. spending ($ billion);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American Gaming Association, American Pet Products, BTS, IBIS World, NIH, NSF and others; full list in speaker notes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rIns="0" t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rIns="0" t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rIns="0" t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810512"/>
            <a:ext cx="2103120" cy="731520"/>
          </a:xfrm>
          <a:prstGeom prst="rect">
            <a:avLst/>
          </a:prstGeom>
          <a:noFill/>
        </p:spPr>
        <p:txBody>
          <a:bodyPr wrap="square" lIns="0" rIns="0" t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rIns="0" tIns="0" bIns="0" anchor="t">
            <a:spAutoFit/>
          </a:bodyPr>
          <a:lstStyle/>
          <a:p>
            <a:pPr algn="l"/>
            <a:r>
              <a:rPr sz="1200" b="0" i="0">
                <a:solidFill>
                  <a:srgbClr val="000000"/>
                </a:solidFill>
                <a:latin typeface="Lato"/>
              </a:rPr>
              <a:t>Operating margin recovered to 4.0% in FY26 from 1.1% in FY25, still 320 bp below FY18. FY25 EBIDA margin of 9.5% sits below the 11.5% A-category median.</a:t>
            </a:r>
          </a:p>
        </p:txBody>
      </p:sp>
      <p:sp>
        <p:nvSpPr>
          <p:cNvPr id="9" name="TextBox 8"/>
          <p:cNvSpPr txBox="1"/>
          <p:nvPr/>
        </p:nvSpPr>
        <p:spPr>
          <a:xfrm>
            <a:off x="7406640" y="1810512"/>
            <a:ext cx="4297680" cy="777240"/>
          </a:xfrm>
          <a:prstGeom prst="rect">
            <a:avLst/>
          </a:prstGeom>
          <a:noFill/>
        </p:spPr>
        <p:txBody>
          <a:bodyPr wrap="square" lIns="0" rIns="0" tIns="0" bIns="0" anchor="t">
            <a:spAutoFit/>
          </a:bodyPr>
          <a:lstStyle/>
          <a:p>
            <a:pPr algn="l"/>
            <a:r>
              <a:rPr sz="1200" b="0" i="0">
                <a:solidFill>
                  <a:srgbClr val="000000"/>
                </a:solidFill>
                <a:latin typeface="Lato"/>
              </a:rPr>
              <a:t>Cost-reduction actions: workforce, vendor and lease commitments; consistency of external disclosures.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06624"/>
            <a:ext cx="2103120" cy="731520"/>
          </a:xfrm>
          <a:prstGeom prst="rect">
            <a:avLst/>
          </a:prstGeom>
          <a:noFill/>
        </p:spPr>
        <p:txBody>
          <a:bodyPr wrap="square" lIns="0" rIns="0" t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rIns="0" tIns="0" bIns="0" anchor="t">
            <a:spAutoFit/>
          </a:bodyPr>
          <a:lstStyle/>
          <a:p>
            <a:pPr algn="l"/>
            <a:r>
              <a:rPr sz="1200" b="0" i="0">
                <a:solidFill>
                  <a:srgbClr val="000000"/>
                </a:solidFill>
                <a:latin typeface="Lato"/>
              </a:rPr>
              <a:t>Degree-seeking enrollment down 7.2% FY25–FY27 (low scenario); professional graduate down 22.8%.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rIns="0" tIns="0" bIns="0" anchor="t">
            <a:spAutoFit/>
          </a:bodyPr>
          <a:lstStyle/>
          <a:p>
            <a:pPr algn="l"/>
            <a:r>
              <a:rPr sz="1200" b="0" i="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02736"/>
            <a:ext cx="2103120" cy="731520"/>
          </a:xfrm>
          <a:prstGeom prst="rect">
            <a:avLst/>
          </a:prstGeom>
          <a:noFill/>
        </p:spPr>
        <p:txBody>
          <a:bodyPr wrap="square" lIns="0" rIns="0" t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rIns="0" tIns="0" bIns="0" anchor="t">
            <a:spAutoFit/>
          </a:bodyPr>
          <a:lstStyle/>
          <a:p>
            <a:pPr algn="l"/>
            <a:r>
              <a:rPr sz="1200" b="0" i="0">
                <a:solidFill>
                  <a:srgbClr val="000000"/>
                </a:solidFill>
                <a:latin typeface="Lato"/>
              </a:rPr>
              <a:t>Research awards of $291M in FY26. Peers face funding cuts, executive orders and endowment taxation. Federal regulation is nearly 20 times its 1950 page count.</a:t>
            </a:r>
          </a:p>
        </p:txBody>
      </p:sp>
      <p:sp>
        <p:nvSpPr>
          <p:cNvPr id="17" name="TextBox 16"/>
          <p:cNvSpPr txBox="1"/>
          <p:nvPr/>
        </p:nvSpPr>
        <p:spPr>
          <a:xfrm>
            <a:off x="7406640" y="3602736"/>
            <a:ext cx="4297680" cy="777240"/>
          </a:xfrm>
          <a:prstGeom prst="rect">
            <a:avLst/>
          </a:prstGeom>
          <a:noFill/>
        </p:spPr>
        <p:txBody>
          <a:bodyPr wrap="square" lIns="0" rIns="0" tIns="0" bIns="0" anchor="t">
            <a:spAutoFit/>
          </a:bodyPr>
          <a:lstStyle/>
          <a:p>
            <a:pPr algn="l"/>
            <a:r>
              <a:rPr sz="1200" b="0" i="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2103120" cy="731520"/>
          </a:xfrm>
          <a:prstGeom prst="rect">
            <a:avLst/>
          </a:prstGeom>
          <a:noFill/>
        </p:spPr>
        <p:txBody>
          <a:bodyPr wrap="square" lIns="0" rIns="0" t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rIns="0" tIns="0" bIns="0" anchor="t">
            <a:spAutoFit/>
          </a:bodyPr>
          <a:lstStyle/>
          <a:p>
            <a:pPr algn="l"/>
            <a:r>
              <a:rPr sz="1200" b="0" i="0">
                <a:solidFill>
                  <a:srgbClr val="000000"/>
                </a:solidFill>
                <a:latin typeface="Lato"/>
              </a:rPr>
              <a:t>Full-time staff up 46% since FY20 to 4,179, down 312 in the past year. 92% of growth was internally funded.</a:t>
            </a:r>
          </a:p>
        </p:txBody>
      </p:sp>
      <p:sp>
        <p:nvSpPr>
          <p:cNvPr id="21" name="TextBox 20"/>
          <p:cNvSpPr txBox="1"/>
          <p:nvPr/>
        </p:nvSpPr>
        <p:spPr>
          <a:xfrm>
            <a:off x="7406640" y="4498848"/>
            <a:ext cx="4297680" cy="777240"/>
          </a:xfrm>
          <a:prstGeom prst="rect">
            <a:avLst/>
          </a:prstGeom>
          <a:noFill/>
        </p:spPr>
        <p:txBody>
          <a:bodyPr wrap="square" lIns="0" rIns="0" t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94960"/>
            <a:ext cx="2103120" cy="731520"/>
          </a:xfrm>
          <a:prstGeom prst="rect">
            <a:avLst/>
          </a:prstGeom>
          <a:noFill/>
        </p:spPr>
        <p:txBody>
          <a:bodyPr wrap="square" lIns="0" rIns="0" t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rIns="0" tIns="0" bIns="0" anchor="t">
            <a:spAutoFit/>
          </a:bodyPr>
          <a:lstStyle/>
          <a:p>
            <a:pPr algn="l"/>
            <a:r>
              <a:rPr sz="1200" b="0" i="0">
                <a:solidFill>
                  <a:srgbClr val="000000"/>
                </a:solidFill>
                <a:latin typeface="Lato"/>
              </a:rPr>
              <a:t>Long-term debt of $1,954M (from $1,432M in FY25, incl. $485M Series 2026). Debt service coverage 3.4x. Endowment $2,361M.</a:t>
            </a:r>
          </a:p>
        </p:txBody>
      </p:sp>
      <p:sp>
        <p:nvSpPr>
          <p:cNvPr id="25" name="TextBox 24"/>
          <p:cNvSpPr txBox="1"/>
          <p:nvPr/>
        </p:nvSpPr>
        <p:spPr>
          <a:xfrm>
            <a:off x="7406640" y="5394960"/>
            <a:ext cx="4297680" cy="777240"/>
          </a:xfrm>
          <a:prstGeom prst="rect">
            <a:avLst/>
          </a:prstGeom>
          <a:noFill/>
        </p:spPr>
        <p:txBody>
          <a:bodyPr wrap="square" lIns="0" rIns="0" t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2.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3.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17218</TotalTime>
  <Words>5044</Words>
  <Application>Microsoft Office PowerPoint</Application>
  <PresentationFormat>Widescreen</PresentationFormat>
  <Paragraphs>819</Paragraphs>
  <Slides>28</Slides>
  <Notes>9</Notes>
  <HiddenSlides>0</HiddenSlides>
  <MMClips>0</MMClips>
  <ScaleCrop>false</ScaleCrop>
  <HeadingPairs>
    <vt:vector size="6" baseType="variant">
      <vt:variant>
        <vt:lpstr>Fonts Used</vt:lpstr>
      </vt:variant>
      <vt:variant>
        <vt:i4>18</vt:i4>
      </vt:variant>
      <vt:variant>
        <vt:lpstr>Theme</vt:lpstr>
      </vt:variant>
      <vt:variant>
        <vt:i4>3</vt:i4>
      </vt:variant>
      <vt:variant>
        <vt:lpstr>Slide Titles</vt:lpstr>
      </vt:variant>
      <vt:variant>
        <vt:i4>28</vt:i4>
      </vt:variant>
    </vt:vector>
  </HeadingPairs>
  <TitlesOfParts>
    <vt:vector size="49" baseType="lpstr">
      <vt:lpstr>Abadi Extra Light</vt:lpstr>
      <vt:lpstr>Aptos</vt:lpstr>
      <vt:lpstr>Aptos Display</vt:lpstr>
      <vt:lpstr>Aptos ExtraBold</vt:lpstr>
      <vt:lpstr>Arial</vt:lpstr>
      <vt:lpstr>Calibri</vt:lpstr>
      <vt:lpstr>EB Garamond</vt:lpstr>
      <vt:lpstr>Georgia</vt:lpstr>
      <vt:lpstr>Georgia Pro Semibold</vt:lpstr>
      <vt:lpstr>Lato</vt:lpstr>
      <vt:lpstr>Lato Light</vt:lpstr>
      <vt:lpstr>Montserrat</vt:lpstr>
      <vt:lpstr>Montserrat Light</vt:lpstr>
      <vt:lpstr>Montserrat SemiBold</vt:lpstr>
      <vt:lpstr>Neue Haas Grotesk Text Pro</vt:lpstr>
      <vt:lpstr>Times New Roman</vt:lpstr>
      <vt:lpstr>Verdana</vt:lpstr>
      <vt:lpstr>Wingdings</vt:lpstr>
      <vt:lpstr>Light Theme</vt:lpstr>
      <vt:lpstr>1_Office Theme</vt:lpstr>
      <vt:lpstr>Office Theme</vt:lpstr>
      <vt:lpstr>Provost Team Financial Update</vt:lpstr>
      <vt:lpstr>A guide for our discussion today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63</cp:revision>
  <cp:lastPrinted>2025-09-25T21:12:48Z</cp:lastPrinted>
  <dcterms:created xsi:type="dcterms:W3CDTF">2020-09-24T23:08:57Z</dcterms:created>
  <dcterms:modified xsi:type="dcterms:W3CDTF">2026-09-29T20:31:53Z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