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5.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3.xml" ContentType="application/vnd.ms-office.chartstyle+xml"/>
  <Override PartName="/ppt/charts/style4.xml" ContentType="application/vnd.ms-office.chartstyle+xml"/>
  <Override PartName="/ppt/commentAuthors.xml" ContentType="application/vnd.openxmlformats-officedocument.presentationml.commentAuthors+xml"/>
  <Override PartName="/ppt/drawings/drawing1.xml" ContentType="application/vnd.openxmlformats-officedocument.drawingml.chartshap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6.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70" r:id="rId4"/>
  </p:sldMasterIdLst>
  <p:notesMasterIdLst>
    <p:notesMasterId r:id="rId35"/>
  </p:notesMasterIdLst>
  <p:sldIdLst>
    <p:sldId id="2147481610" r:id="rId44"/>
    <p:sldId id="2147481611" r:id="rId45"/>
    <p:sldId id="2147481612" r:id="rId46"/>
    <p:sldId id="2147481613" r:id="rId47"/>
    <p:sldId id="2147481617" r:id="rId51"/>
    <p:sldId id="2147481618" r:id="rId52"/>
    <p:sldId id="2147481632" r:id="rId66"/>
    <p:sldId id="2147481633" r:id="rId67"/>
    <p:sldId id="2147481627" r:id="rId61"/>
    <p:sldId id="2147481634" r:id="rId68"/>
    <p:sldId id="256" r:id="rId11"/>
    <p:sldId id="2147481581" r:id="rId13"/>
    <p:sldId id="2147481635" r:id="rId69"/>
    <p:sldId id="2147481636" r:id="rId70"/>
    <p:sldId id="2147481628" r:id="rId62"/>
    <p:sldId id="2147481637" r:id="rId71"/>
    <p:sldId id="2147481614" r:id="rId48"/>
    <p:sldId id="2147481604" r:id="rId17"/>
    <p:sldId id="2147481605" r:id="rId18"/>
    <p:sldId id="261" r:id="rId19"/>
    <p:sldId id="335" r:id="rId22"/>
    <p:sldId id="334" r:id="rId23"/>
    <p:sldId id="2147473812" r:id="rId24"/>
    <p:sldId id="2147481607" r:id="rId25"/>
    <p:sldId id="274" r:id="rId27"/>
    <p:sldId id="281" r:id="rId28"/>
    <p:sldId id="275" r:id="rId29"/>
    <p:sldId id="2147481606" r:id="rId30"/>
    <p:sldId id="260" r:id="rId31"/>
    <p:sldId id="268" r:id="rId32"/>
    <p:sldId id="269" r:id="rId33"/>
    <p:sldId id="2147481615" r:id="rId49"/>
    <p:sldId id="2147481629" r:id="rId63"/>
    <p:sldId id="2147481631" r:id="rId65"/>
    <p:sldId id="2147481616" r:id="rId50"/>
    <p:sldId id="2147481638" r:id="rId72"/>
    <p:sldId id="2147481639" r:id="rId73"/>
    <p:sldId id="2147481640" r:id="rId74"/>
    <p:sldId id="2147481641" r:id="rId75"/>
    <p:sldId id="2147481642" r:id="rId76"/>
    <p:sldId id="2147481602" r:id="rId15"/>
    <p:sldId id="262" r:id="rId20"/>
    <p:sldId id="263" r:id="rId21"/>
  </p:sldIdLst>
  <p:sldSz cx="12192000" cy="6858000"/>
  <p:notesSz cx="9296400" cy="6858000"/>
  <p:defaultText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2"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9" algn="l" defTabSz="91421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ight Template" id="{F60DF0C7-34DF-D54B-951E-19203FE59A53}">
          <p14:sldIdLst>
            <p14:sldId id="2147481470"/>
            <p14:sldId id="2147481526"/>
            <p14:sldId id="2147481597"/>
            <p14:sldId id="2147481586"/>
            <p14:sldId id="256"/>
            <p14:sldId id="2147481582"/>
            <p14:sldId id="2147481581"/>
            <p14:sldId id="2147481601"/>
            <p14:sldId id="2147481602"/>
            <p14:sldId id="2147481598"/>
            <p14:sldId id="2147481604"/>
            <p14:sldId id="2147481605"/>
            <p14:sldId id="261"/>
            <p14:sldId id="262"/>
            <p14:sldId id="263"/>
            <p14:sldId id="335"/>
            <p14:sldId id="334"/>
            <p14:sldId id="2147473812"/>
            <p14:sldId id="2147481607"/>
            <p14:sldId id="2147481608"/>
            <p14:sldId id="274"/>
            <p14:sldId id="281"/>
            <p14:sldId id="275"/>
            <p14:sldId id="2147481606"/>
            <p14:sldId id="260"/>
            <p14:sldId id="268"/>
            <p14:sldId id="269"/>
            <p14:sldId id="2147481584"/>
          </p14:sldIdLst>
        </p14:section>
      </p14:sectionLst>
    </p:ext>
    <p:ext uri="{EFAFB233-063F-42B5-8137-9DF3F51BA10A}">
      <p15:sldGuideLst xmlns:p15="http://schemas.microsoft.com/office/powerpoint/2012/main">
        <p15:guide id="35" pos="7680" userDrawn="1">
          <p15:clr>
            <a:srgbClr val="A4A3A4"/>
          </p15:clr>
        </p15:guide>
        <p15:guide id="52" pos="3828" userDrawn="1">
          <p15:clr>
            <a:srgbClr val="A4A3A4"/>
          </p15:clr>
        </p15:guide>
        <p15:guide id="55" userDrawn="1">
          <p15:clr>
            <a:srgbClr val="A4A3A4"/>
          </p15:clr>
        </p15:guide>
        <p15:guide id="56"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CAFF059-CA6E-75C1-90FA-F07F80AC6C9D}" name="Adams, Dylan J" initials="DA" userId="S::dylan.j.adams@vanderbilt.edu::c34471b3-d2d3-4ddd-9e40-7f879cbde7ea" providerId="AD"/>
  <p188:author id="{7C847F83-23C4-FD26-BBD2-BDCE259EACE3}" name="Sweet, Brett C." initials="BS" userId="S::brett.sweet@vanderbilt.edu::fb078a0d-4263-483a-a268-efecdb866e5b" providerId="AD"/>
  <p188:author id="{89D2DB94-875E-F183-D5EE-E243E61EC849}" name="Roy, Krishnendu" initials="KR" userId="S::krish.roy@vanderbilt.edu::a27cc28d-93f8-41ba-b8f0-ca4f451684c5" providerId="AD"/>
  <p188:author id="{CEEC76F3-F285-A8CA-0A47-6E630046FEA0}" name="Tiffiny Tung" initials="TT" userId="aXE65pDJqtp734YTiQWtpsfsp9zjOK8tHj+waUP5uD0="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dgers, Lauren P" initials="RLP" lastIdx="60" clrIdx="0">
    <p:extLst>
      <p:ext uri="{19B8F6BF-5375-455C-9EA6-DF929625EA0E}">
        <p15:presenceInfo xmlns:p15="http://schemas.microsoft.com/office/powerpoint/2012/main" userId="S::lauren.rodgers@Vanderbilt.Edu::d25ddd28-4bcd-432b-b247-1b9bf1c029fc" providerId="AD"/>
      </p:ext>
    </p:extLst>
  </p:cmAuthor>
  <p:cmAuthor id="2" name="McMillen, Michelle C" initials="MMC" lastIdx="1" clrIdx="1">
    <p:extLst>
      <p:ext uri="{19B8F6BF-5375-455C-9EA6-DF929625EA0E}">
        <p15:presenceInfo xmlns:p15="http://schemas.microsoft.com/office/powerpoint/2012/main" userId="S::michelle.mcmillen@vanderbilt.edu::52f17d12-cfa6-46fe-97e4-7993176bcb1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B49248"/>
    <a:srgbClr val="CC99FF"/>
    <a:srgbClr val="222222"/>
    <a:srgbClr val="303332"/>
    <a:srgbClr val="D8B769"/>
    <a:srgbClr val="5F4A20"/>
    <a:srgbClr val="F5F3EF"/>
    <a:srgbClr val="F5EFE2"/>
    <a:srgbClr val="E9CE8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5F6E05-F143-409C-B6B7-9C383B390CA0}" v="112" dt="2026-03-31T17:06:48.494"/>
    <p1510:client id="{C788CDA6-8947-4732-A627-D0A003B2ADCA}" v="26" dt="2026-04-01T14:03:08.08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0" autoAdjust="0"/>
    <p:restoredTop sz="94404" autoAdjust="0"/>
  </p:normalViewPr>
  <p:slideViewPr>
    <p:cSldViewPr snapToGrid="0">
      <p:cViewPr varScale="1">
        <p:scale>
          <a:sx n="155" d="100"/>
          <a:sy n="155" d="100"/>
        </p:scale>
        <p:origin x="3078" y="150"/>
      </p:cViewPr>
      <p:guideLst>
        <p:guide pos="7680"/>
        <p:guide pos="3828"/>
        <p:guide/>
        <p:guide orient="horz" pos="2160"/>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5.xml"/><Relationship Id="rId13" Type="http://schemas.openxmlformats.org/officeDocument/2006/relationships/slide" Target="slides/slide7.xml"/><Relationship Id="rId15" Type="http://schemas.openxmlformats.org/officeDocument/2006/relationships/slide" Target="slides/slide9.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5" Type="http://schemas.openxmlformats.org/officeDocument/2006/relationships/notesMaster" Target="notesMasters/notesMaster1.xml"/><Relationship Id="rId36" Type="http://schemas.openxmlformats.org/officeDocument/2006/relationships/commentAuthors" Target="commentAuthors.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 Id="rId42" Type="http://schemas.microsoft.com/office/2018/10/relationships/authors" Target="authors.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61" Type="http://schemas.openxmlformats.org/officeDocument/2006/relationships/slide" Target="slides/slide47.xml"/><Relationship Id="rId62" Type="http://schemas.openxmlformats.org/officeDocument/2006/relationships/slide" Target="slides/slide48.xml"/><Relationship Id="rId63" Type="http://schemas.openxmlformats.org/officeDocument/2006/relationships/slide" Target="slides/slide49.xml"/><Relationship Id="rId65" Type="http://schemas.openxmlformats.org/officeDocument/2006/relationships/slide" Target="slides/slide51.xml"/><Relationship Id="rId66" Type="http://schemas.openxmlformats.org/officeDocument/2006/relationships/slide" Target="slides/slide52.xml"/><Relationship Id="rId67" Type="http://schemas.openxmlformats.org/officeDocument/2006/relationships/slide" Target="slides/slide53.xml"/><Relationship Id="rId68" Type="http://schemas.openxmlformats.org/officeDocument/2006/relationships/slide" Target="slides/slide54.xml"/><Relationship Id="rId69" Type="http://schemas.openxmlformats.org/officeDocument/2006/relationships/slide" Target="slides/slide55.xml"/><Relationship Id="rId70" Type="http://schemas.openxmlformats.org/officeDocument/2006/relationships/slide" Target="slides/slide56.xml"/><Relationship Id="rId71" Type="http://schemas.openxmlformats.org/officeDocument/2006/relationships/slide" Target="slides/slide57.xml"/><Relationship Id="rId72" Type="http://schemas.openxmlformats.org/officeDocument/2006/relationships/slide" Target="slides/slide58.xml"/><Relationship Id="rId73" Type="http://schemas.openxmlformats.org/officeDocument/2006/relationships/slide" Target="slides/slide59.xml"/><Relationship Id="rId74" Type="http://schemas.openxmlformats.org/officeDocument/2006/relationships/slide" Target="slides/slide60.xml"/><Relationship Id="rId75" Type="http://schemas.openxmlformats.org/officeDocument/2006/relationships/slide" Target="slides/slide61.xml"/><Relationship Id="rId76" Type="http://schemas.openxmlformats.org/officeDocument/2006/relationships/slide" Target="slides/slide6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3.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11.xlsx"/><Relationship Id="rId4" Type="http://schemas.openxmlformats.org/officeDocument/2006/relationships/chartUserShapes" Target="../drawings/drawing1.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Universities (count) [numerator]</c:v>
                </c:pt>
              </c:strCache>
            </c:strRef>
          </c:tx>
          <c:spPr>
            <a:solidFill>
              <a:schemeClr val="accent1"/>
            </a:solidFill>
            <a:ln>
              <a:solidFill>
                <a:schemeClr val="tx1"/>
              </a:solidFill>
            </a:ln>
            <a:effectLst/>
          </c:spPr>
          <c:invertIfNegative val="0"/>
          <c:dPt>
            <c:idx val="0"/>
            <c:invertIfNegative val="0"/>
            <c:bubble3D val="0"/>
            <c:spPr>
              <a:solidFill>
                <a:srgbClr val="C8102E"/>
              </a:solidFill>
              <a:ln>
                <a:solidFill>
                  <a:schemeClr val="tx1"/>
                </a:solidFill>
              </a:ln>
              <a:effectLst/>
            </c:spPr>
            <c:extLst>
              <c:ext xmlns:c16="http://schemas.microsoft.com/office/drawing/2014/chart" uri="{C3380CC4-5D6E-409C-BE32-E72D297353CC}">
                <c16:uniqueId val="{00000005-ADCE-452D-A338-55A394B202CA}"/>
              </c:ext>
            </c:extLst>
          </c:dPt>
          <c:dPt>
            <c:idx val="2"/>
            <c:invertIfNegative val="0"/>
            <c:bubble3D val="0"/>
            <c:spPr>
              <a:solidFill>
                <a:srgbClr val="000000"/>
              </a:solidFill>
              <a:ln>
                <a:solidFill>
                  <a:schemeClr val="tx1"/>
                </a:solidFill>
              </a:ln>
              <a:effectLst/>
            </c:spPr>
            <c:extLst>
              <c:ext xmlns:c16="http://schemas.microsoft.com/office/drawing/2014/chart" uri="{C3380CC4-5D6E-409C-BE32-E72D297353CC}">
                <c16:uniqueId val="{00000003-ADCE-452D-A338-55A394B202CA}"/>
              </c:ext>
            </c:extLst>
          </c:dPt>
          <c:dPt>
            <c:idx val="3"/>
            <c:invertIfNegative val="0"/>
            <c:bubble3D val="0"/>
            <c:spPr>
              <a:solidFill>
                <a:srgbClr val="000000"/>
              </a:solidFill>
              <a:ln>
                <a:solidFill>
                  <a:schemeClr val="tx1"/>
                </a:solidFill>
              </a:ln>
              <a:effectLst/>
            </c:spPr>
            <c:extLst>
              <c:ext xmlns:c16="http://schemas.microsoft.com/office/drawing/2014/chart" uri="{C3380CC4-5D6E-409C-BE32-E72D297353CC}">
                <c16:uniqueId val="{00000004-ADCE-452D-A338-55A394B202CA}"/>
              </c:ext>
            </c:extLst>
          </c:dPt>
          <c:cat>
            <c:strRef>
              <c:f>Sheet1!$A$2:$A$37</c:f>
              <c:strCache>
                <c:ptCount val="36"/>
                <c:pt idx="0">
                  <c:v>USA</c:v>
                </c:pt>
                <c:pt idx="1">
                  <c:v>JPN</c:v>
                </c:pt>
                <c:pt idx="2">
                  <c:v>IND</c:v>
                </c:pt>
                <c:pt idx="3">
                  <c:v>CHN</c:v>
                </c:pt>
                <c:pt idx="4">
                  <c:v>DEU</c:v>
                </c:pt>
                <c:pt idx="5">
                  <c:v>RUS</c:v>
                </c:pt>
                <c:pt idx="6">
                  <c:v>FRA</c:v>
                </c:pt>
                <c:pt idx="7">
                  <c:v>KOR</c:v>
                </c:pt>
                <c:pt idx="8">
                  <c:v>GBR</c:v>
                </c:pt>
                <c:pt idx="9">
                  <c:v>IRN</c:v>
                </c:pt>
                <c:pt idx="10">
                  <c:v>IDN</c:v>
                </c:pt>
                <c:pt idx="11">
                  <c:v>TUR</c:v>
                </c:pt>
                <c:pt idx="12">
                  <c:v>BRA</c:v>
                </c:pt>
                <c:pt idx="13">
                  <c:v>MEX</c:v>
                </c:pt>
                <c:pt idx="14">
                  <c:v>CAN</c:v>
                </c:pt>
                <c:pt idx="15">
                  <c:v>MYS</c:v>
                </c:pt>
                <c:pt idx="16">
                  <c:v>POL</c:v>
                </c:pt>
                <c:pt idx="17">
                  <c:v>PAK</c:v>
                </c:pt>
                <c:pt idx="18">
                  <c:v>PHL</c:v>
                </c:pt>
                <c:pt idx="19">
                  <c:v>NGA</c:v>
                </c:pt>
                <c:pt idx="20">
                  <c:v>COL</c:v>
                </c:pt>
                <c:pt idx="21">
                  <c:v>ESP</c:v>
                </c:pt>
                <c:pt idx="22">
                  <c:v>ITA</c:v>
                </c:pt>
                <c:pt idx="23">
                  <c:v>ARG</c:v>
                </c:pt>
                <c:pt idx="24">
                  <c:v>CHE</c:v>
                </c:pt>
                <c:pt idx="25">
                  <c:v>BGD</c:v>
                </c:pt>
                <c:pt idx="26">
                  <c:v>UKR</c:v>
                </c:pt>
                <c:pt idx="27">
                  <c:v>THA</c:v>
                </c:pt>
                <c:pt idx="28">
                  <c:v>PER</c:v>
                </c:pt>
                <c:pt idx="29">
                  <c:v>PRT</c:v>
                </c:pt>
                <c:pt idx="30">
                  <c:v>CHL</c:v>
                </c:pt>
                <c:pt idx="31">
                  <c:v>SAU</c:v>
                </c:pt>
                <c:pt idx="32">
                  <c:v>ROU</c:v>
                </c:pt>
                <c:pt idx="33">
                  <c:v>AUS</c:v>
                </c:pt>
                <c:pt idx="34">
                  <c:v>VNM</c:v>
                </c:pt>
                <c:pt idx="35">
                  <c:v>BEL</c:v>
                </c:pt>
              </c:strCache>
            </c:strRef>
          </c:cat>
          <c:val>
            <c:numRef>
              <c:f>Sheet1!$B$2:$B$37</c:f>
              <c:numCache>
                <c:formatCode>#,##0</c:formatCode>
                <c:ptCount val="36"/>
                <c:pt idx="0">
                  <c:v>2349</c:v>
                </c:pt>
                <c:pt idx="1">
                  <c:v>572</c:v>
                </c:pt>
                <c:pt idx="2">
                  <c:v>474</c:v>
                </c:pt>
                <c:pt idx="3">
                  <c:v>398</c:v>
                </c:pt>
                <c:pt idx="4">
                  <c:v>319</c:v>
                </c:pt>
                <c:pt idx="5">
                  <c:v>309</c:v>
                </c:pt>
                <c:pt idx="6">
                  <c:v>297</c:v>
                </c:pt>
                <c:pt idx="7">
                  <c:v>244</c:v>
                </c:pt>
                <c:pt idx="8">
                  <c:v>195</c:v>
                </c:pt>
                <c:pt idx="9">
                  <c:v>193</c:v>
                </c:pt>
                <c:pt idx="10">
                  <c:v>192</c:v>
                </c:pt>
                <c:pt idx="11">
                  <c:v>192</c:v>
                </c:pt>
                <c:pt idx="12">
                  <c:v>190</c:v>
                </c:pt>
                <c:pt idx="13">
                  <c:v>166</c:v>
                </c:pt>
                <c:pt idx="14">
                  <c:v>157</c:v>
                </c:pt>
                <c:pt idx="15">
                  <c:v>144</c:v>
                </c:pt>
                <c:pt idx="16">
                  <c:v>137</c:v>
                </c:pt>
                <c:pt idx="17">
                  <c:v>136</c:v>
                </c:pt>
                <c:pt idx="18">
                  <c:v>118</c:v>
                </c:pt>
                <c:pt idx="19">
                  <c:v>115</c:v>
                </c:pt>
                <c:pt idx="20">
                  <c:v>103</c:v>
                </c:pt>
                <c:pt idx="21">
                  <c:v>97</c:v>
                </c:pt>
                <c:pt idx="22">
                  <c:v>93</c:v>
                </c:pt>
                <c:pt idx="23">
                  <c:v>86</c:v>
                </c:pt>
                <c:pt idx="24">
                  <c:v>76</c:v>
                </c:pt>
                <c:pt idx="25">
                  <c:v>75</c:v>
                </c:pt>
                <c:pt idx="26">
                  <c:v>75</c:v>
                </c:pt>
                <c:pt idx="27">
                  <c:v>67</c:v>
                </c:pt>
                <c:pt idx="28">
                  <c:v>67</c:v>
                </c:pt>
                <c:pt idx="29">
                  <c:v>66</c:v>
                </c:pt>
                <c:pt idx="30">
                  <c:v>65</c:v>
                </c:pt>
                <c:pt idx="31">
                  <c:v>63</c:v>
                </c:pt>
                <c:pt idx="32">
                  <c:v>62</c:v>
                </c:pt>
                <c:pt idx="33">
                  <c:v>58</c:v>
                </c:pt>
                <c:pt idx="34">
                  <c:v>51</c:v>
                </c:pt>
                <c:pt idx="35">
                  <c:v>51</c:v>
                </c:pt>
              </c:numCache>
            </c:numRef>
          </c:val>
          <c:extLst>
            <c:ext xmlns:c16="http://schemas.microsoft.com/office/drawing/2014/chart" uri="{C3380CC4-5D6E-409C-BE32-E72D297353CC}">
              <c16:uniqueId val="{00000000-ADCE-452D-A338-55A394B202CA}"/>
            </c:ext>
          </c:extLst>
        </c:ser>
        <c:dLbls>
          <c:showLegendKey val="0"/>
          <c:showVal val="0"/>
          <c:showCatName val="0"/>
          <c:showSerName val="0"/>
          <c:showPercent val="0"/>
          <c:showBubbleSize val="0"/>
        </c:dLbls>
        <c:gapWidth val="46"/>
        <c:overlap val="-27"/>
        <c:axId val="1071510320"/>
        <c:axId val="1071511280"/>
      </c:barChart>
      <c:catAx>
        <c:axId val="1071510320"/>
        <c:scaling>
          <c:orientation val="minMax"/>
        </c:scaling>
        <c:delete val="0"/>
        <c:axPos val="b"/>
        <c:numFmt formatCode="General" sourceLinked="1"/>
        <c:majorTickMark val="out"/>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1400" b="1" i="0" u="none" strike="noStrike" kern="1200" baseline="0">
                <a:solidFill>
                  <a:schemeClr val="bg2"/>
                </a:solidFill>
                <a:latin typeface="+mn-lt"/>
                <a:ea typeface="+mn-ea"/>
                <a:cs typeface="+mn-cs"/>
              </a:defRPr>
            </a:pPr>
            <a:endParaRPr lang="en-US"/>
          </a:p>
        </c:txPr>
        <c:crossAx val="1071511280"/>
        <c:crosses val="autoZero"/>
        <c:auto val="1"/>
        <c:lblAlgn val="ctr"/>
        <c:lblOffset val="100"/>
        <c:tickLblSkip val="1"/>
        <c:noMultiLvlLbl val="0"/>
      </c:catAx>
      <c:valAx>
        <c:axId val="1071511280"/>
        <c:scaling>
          <c:orientation val="minMax"/>
        </c:scaling>
        <c:delete val="0"/>
        <c:axPos val="l"/>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400" b="1" i="0" u="none" strike="noStrike" kern="1200" baseline="0">
                <a:solidFill>
                  <a:schemeClr val="bg2"/>
                </a:solidFill>
                <a:latin typeface="+mn-lt"/>
                <a:ea typeface="+mn-ea"/>
                <a:cs typeface="+mn-cs"/>
              </a:defRPr>
            </a:pPr>
            <a:endParaRPr lang="en-US"/>
          </a:p>
        </c:txPr>
        <c:crossAx val="1071510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604330708661415E-2"/>
          <c:y val="0.13031313592319291"/>
          <c:w val="0.93577066929133856"/>
          <c:h val="0.66278052167730839"/>
        </c:manualLayout>
      </c:layout>
      <c:barChart>
        <c:barDir val="col"/>
        <c:grouping val="clustered"/>
        <c:varyColors val="0"/>
        <c:ser>
          <c:idx val="0"/>
          <c:order val="0"/>
          <c:tx>
            <c:strRef>
              <c:f>Sheet1!$B$1</c:f>
              <c:strCache>
                <c:ptCount val="1"/>
                <c:pt idx="0">
                  <c:v>Count of College name</c:v>
                </c:pt>
              </c:strCache>
            </c:strRef>
          </c:tx>
          <c:spPr>
            <a:solidFill>
              <a:schemeClr val="tx1">
                <a:lumMod val="65000"/>
                <a:lumOff val="35000"/>
              </a:schemeClr>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1" u="none" strike="noStrike" kern="1200" baseline="0">
                    <a:solidFill>
                      <a:schemeClr val="tx1">
                        <a:lumMod val="75000"/>
                        <a:lumOff val="25000"/>
                      </a:schemeClr>
                    </a:solidFill>
                    <a:latin typeface="Lato"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Sheet1!$A$2:$A$12</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Sheet1!$B$2:$B$12</c:f>
              <c:numCache>
                <c:formatCode>General</c:formatCode>
                <c:ptCount val="11"/>
                <c:pt idx="0">
                  <c:v>3</c:v>
                </c:pt>
                <c:pt idx="1">
                  <c:v>4</c:v>
                </c:pt>
                <c:pt idx="2">
                  <c:v>4</c:v>
                </c:pt>
                <c:pt idx="3">
                  <c:v>6</c:v>
                </c:pt>
                <c:pt idx="4">
                  <c:v>5</c:v>
                </c:pt>
                <c:pt idx="5">
                  <c:v>2</c:v>
                </c:pt>
                <c:pt idx="6">
                  <c:v>2</c:v>
                </c:pt>
                <c:pt idx="7">
                  <c:v>3</c:v>
                </c:pt>
                <c:pt idx="8">
                  <c:v>15</c:v>
                </c:pt>
                <c:pt idx="9">
                  <c:v>16</c:v>
                </c:pt>
                <c:pt idx="10">
                  <c:v>16</c:v>
                </c:pt>
              </c:numCache>
            </c:numRef>
          </c:val>
          <c:extLst>
            <c:ext xmlns:c16="http://schemas.microsoft.com/office/drawing/2014/chart" uri="{C3380CC4-5D6E-409C-BE32-E72D297353CC}">
              <c16:uniqueId val="{00000000-BB0A-4706-B929-D227A9767ACC}"/>
            </c:ext>
          </c:extLst>
        </c:ser>
        <c:dLbls>
          <c:showLegendKey val="0"/>
          <c:showVal val="0"/>
          <c:showCatName val="0"/>
          <c:showSerName val="0"/>
          <c:showPercent val="0"/>
          <c:showBubbleSize val="0"/>
        </c:dLbls>
        <c:gapWidth val="59"/>
        <c:overlap val="-27"/>
        <c:axId val="953437343"/>
        <c:axId val="953439263"/>
      </c:barChart>
      <c:catAx>
        <c:axId val="953437343"/>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Lato" panose="020B0604020202020204" pitchFamily="34" charset="0"/>
                <a:ea typeface="+mn-ea"/>
                <a:cs typeface="Arial" panose="020B0604020202020204" pitchFamily="34" charset="0"/>
              </a:defRPr>
            </a:pPr>
            <a:endParaRPr lang="en-US"/>
          </a:p>
        </c:txPr>
        <c:crossAx val="953439263"/>
        <c:crosses val="autoZero"/>
        <c:auto val="1"/>
        <c:lblAlgn val="ctr"/>
        <c:lblOffset val="100"/>
        <c:noMultiLvlLbl val="0"/>
      </c:catAx>
      <c:valAx>
        <c:axId val="953439263"/>
        <c:scaling>
          <c:orientation val="minMax"/>
          <c:max val="16"/>
          <c:min val="0"/>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solidFill>
                <a:latin typeface="Lato" panose="020B0604020202020204" pitchFamily="34" charset="0"/>
                <a:ea typeface="+mn-ea"/>
                <a:cs typeface="Arial" panose="020B0604020202020204" pitchFamily="34" charset="0"/>
              </a:defRPr>
            </a:pPr>
            <a:endParaRPr lang="en-US"/>
          </a:p>
        </c:txPr>
        <c:crossAx val="953437343"/>
        <c:crosses val="autoZero"/>
        <c:crossBetween val="between"/>
        <c:majorUnit val="4"/>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5.5E-2"/>
          <c:y val="0.03"/>
          <c:w val="0.93500000000000005"/>
          <c:h val="0.86"/>
        </c:manualLayout>
      </c:layout>
      <c:barChart>
        <c:barDir val="col"/>
        <c:grouping val="clustered"/>
        <c:varyColors val="1"/>
        <c:ser>
          <c:idx val="0"/>
          <c:order val="0"/>
          <c:tx>
            <c:strRef>
              <c:f>Sheet1!$B$1</c:f>
              <c:strCache>
                <c:ptCount val="1"/>
                <c:pt idx="0">
                  <c:v>R&amp;D</c:v>
                </c:pt>
              </c:strCache>
            </c:strRef>
          </c:tx>
          <c:spPr>
            <a:solidFill>
              <a:srgbClr val="B8BBBD"/>
            </a:solidFill>
          </c:spPr>
          <c:invertIfNegative val="1"/>
          <c:dPt>
            <c:idx val="0"/>
            <c:invertIfNegative val="1"/>
            <c:bubble3D val="0"/>
            <c:spPr>
              <a:solidFill>
                <a:srgbClr val="000000"/>
              </a:solidFill>
            </c:spPr>
            <c:extLst>
              <c:ext xmlns:c16="http://schemas.microsoft.com/office/drawing/2014/chart" uri="{C3380CC4-5D6E-409C-BE32-E72D297353CC}">
                <c16:uniqueId val="{00000001-F512-4BA7-B525-0309C134ED20}"/>
              </c:ext>
            </c:extLst>
          </c:dPt>
          <c:dPt>
            <c:idx val="1"/>
            <c:invertIfNegative val="1"/>
            <c:bubble3D val="0"/>
            <c:spPr>
              <a:solidFill>
                <a:srgbClr val="000000"/>
              </a:solidFill>
            </c:spPr>
            <c:extLst>
              <c:ext xmlns:c16="http://schemas.microsoft.com/office/drawing/2014/chart" uri="{C3380CC4-5D6E-409C-BE32-E72D297353CC}">
                <c16:uniqueId val="{00000003-F512-4BA7-B525-0309C134ED20}"/>
              </c:ext>
            </c:extLst>
          </c:dPt>
          <c:dPt>
            <c:idx val="2"/>
            <c:invertIfNegative val="1"/>
            <c:bubble3D val="0"/>
            <c:spPr>
              <a:solidFill>
                <a:srgbClr val="000000"/>
              </a:solidFill>
            </c:spPr>
            <c:extLst>
              <c:ext xmlns:c16="http://schemas.microsoft.com/office/drawing/2014/chart" uri="{C3380CC4-5D6E-409C-BE32-E72D297353CC}">
                <c16:uniqueId val="{00000005-F512-4BA7-B525-0309C134ED20}"/>
              </c:ext>
            </c:extLst>
          </c:dPt>
          <c:dPt>
            <c:idx val="3"/>
            <c:invertIfNegative val="1"/>
            <c:bubble3D val="0"/>
            <c:spPr>
              <a:solidFill>
                <a:srgbClr val="000000"/>
              </a:solidFill>
            </c:spPr>
            <c:extLst>
              <c:ext xmlns:c16="http://schemas.microsoft.com/office/drawing/2014/chart" uri="{C3380CC4-5D6E-409C-BE32-E72D297353CC}">
                <c16:uniqueId val="{00000007-F512-4BA7-B525-0309C134ED20}"/>
              </c:ext>
            </c:extLst>
          </c:dPt>
          <c:dPt>
            <c:idx val="4"/>
            <c:invertIfNegative val="1"/>
            <c:bubble3D val="0"/>
            <c:spPr>
              <a:solidFill>
                <a:srgbClr val="000000"/>
              </a:solidFill>
            </c:spPr>
            <c:extLst>
              <c:ext xmlns:c16="http://schemas.microsoft.com/office/drawing/2014/chart" uri="{C3380CC4-5D6E-409C-BE32-E72D297353CC}">
                <c16:uniqueId val="{00000009-F512-4BA7-B525-0309C134ED20}"/>
              </c:ext>
            </c:extLst>
          </c:dPt>
          <c:dPt>
            <c:idx val="5"/>
            <c:invertIfNegative val="1"/>
            <c:bubble3D val="0"/>
            <c:spPr>
              <a:solidFill>
                <a:srgbClr val="000000"/>
              </a:solidFill>
            </c:spPr>
            <c:extLst>
              <c:ext xmlns:c16="http://schemas.microsoft.com/office/drawing/2014/chart" uri="{C3380CC4-5D6E-409C-BE32-E72D297353CC}">
                <c16:uniqueId val="{0000000B-F512-4BA7-B525-0309C134ED20}"/>
              </c:ext>
            </c:extLst>
          </c:dPt>
          <c:dPt>
            <c:idx val="6"/>
            <c:invertIfNegative val="1"/>
            <c:bubble3D val="0"/>
            <c:spPr>
              <a:solidFill>
                <a:srgbClr val="000000"/>
              </a:solidFill>
            </c:spPr>
            <c:extLst>
              <c:ext xmlns:c16="http://schemas.microsoft.com/office/drawing/2014/chart" uri="{C3380CC4-5D6E-409C-BE32-E72D297353CC}">
                <c16:uniqueId val="{0000000D-F512-4BA7-B525-0309C134ED20}"/>
              </c:ext>
            </c:extLst>
          </c:dPt>
          <c:dPt>
            <c:idx val="7"/>
            <c:invertIfNegative val="1"/>
            <c:bubble3D val="0"/>
            <c:spPr>
              <a:solidFill>
                <a:srgbClr val="000000"/>
              </a:solidFill>
            </c:spPr>
            <c:extLst>
              <c:ext xmlns:c16="http://schemas.microsoft.com/office/drawing/2014/chart" uri="{C3380CC4-5D6E-409C-BE32-E72D297353CC}">
                <c16:uniqueId val="{0000000F-F512-4BA7-B525-0309C134ED20}"/>
              </c:ext>
            </c:extLst>
          </c:dPt>
          <c:dPt>
            <c:idx val="8"/>
            <c:invertIfNegative val="1"/>
            <c:bubble3D val="0"/>
            <c:spPr>
              <a:solidFill>
                <a:srgbClr val="000000"/>
              </a:solidFill>
            </c:spPr>
            <c:extLst>
              <c:ext xmlns:c16="http://schemas.microsoft.com/office/drawing/2014/chart" uri="{C3380CC4-5D6E-409C-BE32-E72D297353CC}">
                <c16:uniqueId val="{00000011-F512-4BA7-B525-0309C134ED20}"/>
              </c:ext>
            </c:extLst>
          </c:dPt>
          <c:dPt>
            <c:idx val="9"/>
            <c:invertIfNegative val="1"/>
            <c:bubble3D val="0"/>
            <c:spPr>
              <a:solidFill>
                <a:srgbClr val="000000"/>
              </a:solidFill>
            </c:spPr>
            <c:extLst>
              <c:ext xmlns:c16="http://schemas.microsoft.com/office/drawing/2014/chart" uri="{C3380CC4-5D6E-409C-BE32-E72D297353CC}">
                <c16:uniqueId val="{00000013-F512-4BA7-B525-0309C134ED20}"/>
              </c:ext>
            </c:extLst>
          </c:dPt>
          <c:dPt>
            <c:idx val="10"/>
            <c:invertIfNegative val="1"/>
            <c:bubble3D val="0"/>
            <c:spPr>
              <a:solidFill>
                <a:srgbClr val="000000"/>
              </a:solidFill>
            </c:spPr>
            <c:extLst>
              <c:ext xmlns:c16="http://schemas.microsoft.com/office/drawing/2014/chart" uri="{C3380CC4-5D6E-409C-BE32-E72D297353CC}">
                <c16:uniqueId val="{00000015-F512-4BA7-B525-0309C134ED20}"/>
              </c:ext>
            </c:extLst>
          </c:dPt>
          <c:dPt>
            <c:idx val="11"/>
            <c:invertIfNegative val="1"/>
            <c:bubble3D val="0"/>
            <c:spPr>
              <a:solidFill>
                <a:srgbClr val="000000"/>
              </a:solidFill>
            </c:spPr>
            <c:extLst>
              <c:ext xmlns:c16="http://schemas.microsoft.com/office/drawing/2014/chart" uri="{C3380CC4-5D6E-409C-BE32-E72D297353CC}">
                <c16:uniqueId val="{00000017-F512-4BA7-B525-0309C134ED20}"/>
              </c:ext>
            </c:extLst>
          </c:dPt>
          <c:dPt>
            <c:idx val="12"/>
            <c:invertIfNegative val="1"/>
            <c:bubble3D val="0"/>
            <c:spPr>
              <a:solidFill>
                <a:srgbClr val="000000"/>
              </a:solidFill>
            </c:spPr>
            <c:extLst>
              <c:ext xmlns:c16="http://schemas.microsoft.com/office/drawing/2014/chart" uri="{C3380CC4-5D6E-409C-BE32-E72D297353CC}">
                <c16:uniqueId val="{00000019-F512-4BA7-B525-0309C134ED20}"/>
              </c:ext>
            </c:extLst>
          </c:dPt>
          <c:dPt>
            <c:idx val="13"/>
            <c:invertIfNegative val="1"/>
            <c:bubble3D val="0"/>
            <c:spPr>
              <a:solidFill>
                <a:srgbClr val="000000"/>
              </a:solidFill>
            </c:spPr>
            <c:extLst>
              <c:ext xmlns:c16="http://schemas.microsoft.com/office/drawing/2014/chart" uri="{C3380CC4-5D6E-409C-BE32-E72D297353CC}">
                <c16:uniqueId val="{0000001B-F512-4BA7-B525-0309C134ED20}"/>
              </c:ext>
            </c:extLst>
          </c:dPt>
          <c:dPt>
            <c:idx val="14"/>
            <c:invertIfNegative val="1"/>
            <c:bubble3D val="0"/>
            <c:extLst>
              <c:ext xmlns:c16="http://schemas.microsoft.com/office/drawing/2014/chart" uri="{C3380CC4-5D6E-409C-BE32-E72D297353CC}">
                <c16:uniqueId val="{0000001D-F512-4BA7-B525-0309C134ED20}"/>
              </c:ext>
            </c:extLst>
          </c:dPt>
          <c:dPt>
            <c:idx val="15"/>
            <c:invertIfNegative val="1"/>
            <c:bubble3D val="0"/>
            <c:spPr>
              <a:solidFill>
                <a:srgbClr val="000000"/>
              </a:solidFill>
            </c:spPr>
            <c:extLst>
              <c:ext xmlns:c16="http://schemas.microsoft.com/office/drawing/2014/chart" uri="{C3380CC4-5D6E-409C-BE32-E72D297353CC}">
                <c16:uniqueId val="{0000001F-F512-4BA7-B525-0309C134ED20}"/>
              </c:ext>
            </c:extLst>
          </c:dPt>
          <c:dPt>
            <c:idx val="16"/>
            <c:invertIfNegative val="1"/>
            <c:bubble3D val="0"/>
            <c:spPr>
              <a:solidFill>
                <a:srgbClr val="000000"/>
              </a:solidFill>
            </c:spPr>
            <c:extLst>
              <c:ext xmlns:c16="http://schemas.microsoft.com/office/drawing/2014/chart" uri="{C3380CC4-5D6E-409C-BE32-E72D297353CC}">
                <c16:uniqueId val="{00000021-F512-4BA7-B525-0309C134ED20}"/>
              </c:ext>
            </c:extLst>
          </c:dPt>
          <c:dPt>
            <c:idx val="17"/>
            <c:invertIfNegative val="1"/>
            <c:bubble3D val="0"/>
            <c:spPr>
              <a:solidFill>
                <a:srgbClr val="000000"/>
              </a:solidFill>
            </c:spPr>
            <c:extLst>
              <c:ext xmlns:c16="http://schemas.microsoft.com/office/drawing/2014/chart" uri="{C3380CC4-5D6E-409C-BE32-E72D297353CC}">
                <c16:uniqueId val="{00000023-F512-4BA7-B525-0309C134ED20}"/>
              </c:ext>
            </c:extLst>
          </c:dPt>
          <c:dPt>
            <c:idx val="18"/>
            <c:invertIfNegative val="1"/>
            <c:bubble3D val="0"/>
            <c:spPr>
              <a:solidFill>
                <a:srgbClr val="000000"/>
              </a:solidFill>
            </c:spPr>
            <c:extLst>
              <c:ext xmlns:c16="http://schemas.microsoft.com/office/drawing/2014/chart" uri="{C3380CC4-5D6E-409C-BE32-E72D297353CC}">
                <c16:uniqueId val="{00000025-F512-4BA7-B525-0309C134ED20}"/>
              </c:ext>
            </c:extLst>
          </c:dPt>
          <c:dPt>
            <c:idx val="19"/>
            <c:invertIfNegative val="1"/>
            <c:bubble3D val="0"/>
            <c:spPr>
              <a:solidFill>
                <a:srgbClr val="000000"/>
              </a:solidFill>
            </c:spPr>
            <c:extLst>
              <c:ext xmlns:c16="http://schemas.microsoft.com/office/drawing/2014/chart" uri="{C3380CC4-5D6E-409C-BE32-E72D297353CC}">
                <c16:uniqueId val="{00000027-F512-4BA7-B525-0309C134ED20}"/>
              </c:ext>
            </c:extLst>
          </c:dPt>
          <c:dPt>
            <c:idx val="20"/>
            <c:invertIfNegative val="1"/>
            <c:bubble3D val="0"/>
            <c:spPr>
              <a:solidFill>
                <a:srgbClr val="000000"/>
              </a:solidFill>
            </c:spPr>
            <c:extLst>
              <c:ext xmlns:c16="http://schemas.microsoft.com/office/drawing/2014/chart" uri="{C3380CC4-5D6E-409C-BE32-E72D297353CC}">
                <c16:uniqueId val="{00000029-F512-4BA7-B525-0309C134ED20}"/>
              </c:ext>
            </c:extLst>
          </c:dPt>
          <c:dPt>
            <c:idx val="21"/>
            <c:invertIfNegative val="1"/>
            <c:bubble3D val="0"/>
            <c:spPr>
              <a:solidFill>
                <a:srgbClr val="000000"/>
              </a:solidFill>
            </c:spPr>
            <c:extLst>
              <c:ext xmlns:c16="http://schemas.microsoft.com/office/drawing/2014/chart" uri="{C3380CC4-5D6E-409C-BE32-E72D297353CC}">
                <c16:uniqueId val="{0000002B-F512-4BA7-B525-0309C134ED20}"/>
              </c:ext>
            </c:extLst>
          </c:dPt>
          <c:dPt>
            <c:idx val="22"/>
            <c:invertIfNegative val="1"/>
            <c:bubble3D val="0"/>
            <c:extLst>
              <c:ext xmlns:c16="http://schemas.microsoft.com/office/drawing/2014/chart" uri="{C3380CC4-5D6E-409C-BE32-E72D297353CC}">
                <c16:uniqueId val="{0000002D-F512-4BA7-B525-0309C134ED20}"/>
              </c:ext>
            </c:extLst>
          </c:dPt>
          <c:dPt>
            <c:idx val="23"/>
            <c:invertIfNegative val="1"/>
            <c:bubble3D val="0"/>
            <c:spPr>
              <a:solidFill>
                <a:srgbClr val="000000"/>
              </a:solidFill>
            </c:spPr>
            <c:extLst>
              <c:ext xmlns:c16="http://schemas.microsoft.com/office/drawing/2014/chart" uri="{C3380CC4-5D6E-409C-BE32-E72D297353CC}">
                <c16:uniqueId val="{0000002F-F512-4BA7-B525-0309C134ED20}"/>
              </c:ext>
            </c:extLst>
          </c:dPt>
          <c:dPt>
            <c:idx val="24"/>
            <c:invertIfNegative val="1"/>
            <c:bubble3D val="0"/>
            <c:spPr>
              <a:solidFill>
                <a:srgbClr val="000000"/>
              </a:solidFill>
            </c:spPr>
            <c:extLst>
              <c:ext xmlns:c16="http://schemas.microsoft.com/office/drawing/2014/chart" uri="{C3380CC4-5D6E-409C-BE32-E72D297353CC}">
                <c16:uniqueId val="{00000031-F512-4BA7-B525-0309C134ED20}"/>
              </c:ext>
            </c:extLst>
          </c:dPt>
          <c:dPt>
            <c:idx val="25"/>
            <c:invertIfNegative val="1"/>
            <c:bubble3D val="0"/>
            <c:spPr>
              <a:solidFill>
                <a:srgbClr val="000000"/>
              </a:solidFill>
            </c:spPr>
            <c:extLst>
              <c:ext xmlns:c16="http://schemas.microsoft.com/office/drawing/2014/chart" uri="{C3380CC4-5D6E-409C-BE32-E72D297353CC}">
                <c16:uniqueId val="{00000033-F512-4BA7-B525-0309C134ED20}"/>
              </c:ext>
            </c:extLst>
          </c:dPt>
          <c:dPt>
            <c:idx val="26"/>
            <c:invertIfNegative val="1"/>
            <c:bubble3D val="0"/>
            <c:spPr>
              <a:solidFill>
                <a:srgbClr val="000000"/>
              </a:solidFill>
            </c:spPr>
            <c:extLst>
              <c:ext xmlns:c16="http://schemas.microsoft.com/office/drawing/2014/chart" uri="{C3380CC4-5D6E-409C-BE32-E72D297353CC}">
                <c16:uniqueId val="{00000035-F512-4BA7-B525-0309C134ED20}"/>
              </c:ext>
            </c:extLst>
          </c:dPt>
          <c:dPt>
            <c:idx val="27"/>
            <c:invertIfNegative val="1"/>
            <c:bubble3D val="0"/>
            <c:spPr>
              <a:solidFill>
                <a:srgbClr val="000000"/>
              </a:solidFill>
            </c:spPr>
            <c:extLst>
              <c:ext xmlns:c16="http://schemas.microsoft.com/office/drawing/2014/chart" uri="{C3380CC4-5D6E-409C-BE32-E72D297353CC}">
                <c16:uniqueId val="{00000037-F512-4BA7-B525-0309C134ED20}"/>
              </c:ext>
            </c:extLst>
          </c:dPt>
          <c:dPt>
            <c:idx val="28"/>
            <c:invertIfNegative val="1"/>
            <c:bubble3D val="0"/>
            <c:spPr>
              <a:solidFill>
                <a:srgbClr val="000000"/>
              </a:solidFill>
            </c:spPr>
            <c:extLst>
              <c:ext xmlns:c16="http://schemas.microsoft.com/office/drawing/2014/chart" uri="{C3380CC4-5D6E-409C-BE32-E72D297353CC}">
                <c16:uniqueId val="{00000039-F512-4BA7-B525-0309C134ED20}"/>
              </c:ext>
            </c:extLst>
          </c:dPt>
          <c:dPt>
            <c:idx val="29"/>
            <c:invertIfNegative val="1"/>
            <c:bubble3D val="0"/>
            <c:spPr>
              <a:solidFill>
                <a:srgbClr val="000000"/>
              </a:solidFill>
            </c:spPr>
            <c:extLst>
              <c:ext xmlns:c16="http://schemas.microsoft.com/office/drawing/2014/chart" uri="{C3380CC4-5D6E-409C-BE32-E72D297353CC}">
                <c16:uniqueId val="{0000003B-F512-4BA7-B525-0309C134ED20}"/>
              </c:ext>
            </c:extLst>
          </c:dPt>
          <c:dPt>
            <c:idx val="30"/>
            <c:invertIfNegative val="1"/>
            <c:bubble3D val="0"/>
            <c:spPr>
              <a:solidFill>
                <a:srgbClr val="000000"/>
              </a:solidFill>
            </c:spPr>
            <c:extLst>
              <c:ext xmlns:c16="http://schemas.microsoft.com/office/drawing/2014/chart" uri="{C3380CC4-5D6E-409C-BE32-E72D297353CC}">
                <c16:uniqueId val="{0000003D-F512-4BA7-B525-0309C134ED20}"/>
              </c:ext>
            </c:extLst>
          </c:dPt>
          <c:dPt>
            <c:idx val="31"/>
            <c:invertIfNegative val="1"/>
            <c:bubble3D val="0"/>
            <c:extLst>
              <c:ext xmlns:c16="http://schemas.microsoft.com/office/drawing/2014/chart" uri="{C3380CC4-5D6E-409C-BE32-E72D297353CC}">
                <c16:uniqueId val="{0000003F-F512-4BA7-B525-0309C134ED20}"/>
              </c:ext>
            </c:extLst>
          </c:dPt>
          <c:dPt>
            <c:idx val="32"/>
            <c:invertIfNegative val="1"/>
            <c:bubble3D val="0"/>
            <c:extLst>
              <c:ext xmlns:c16="http://schemas.microsoft.com/office/drawing/2014/chart" uri="{C3380CC4-5D6E-409C-BE32-E72D297353CC}">
                <c16:uniqueId val="{00000041-F512-4BA7-B525-0309C134ED20}"/>
              </c:ext>
            </c:extLst>
          </c:dPt>
          <c:dPt>
            <c:idx val="33"/>
            <c:invertIfNegative val="1"/>
            <c:bubble3D val="0"/>
            <c:spPr>
              <a:solidFill>
                <a:srgbClr val="000000"/>
              </a:solidFill>
            </c:spPr>
            <c:extLst>
              <c:ext xmlns:c16="http://schemas.microsoft.com/office/drawing/2014/chart" uri="{C3380CC4-5D6E-409C-BE32-E72D297353CC}">
                <c16:uniqueId val="{00000043-F512-4BA7-B525-0309C134ED20}"/>
              </c:ext>
            </c:extLst>
          </c:dPt>
          <c:dPt>
            <c:idx val="34"/>
            <c:invertIfNegative val="1"/>
            <c:bubble3D val="0"/>
            <c:spPr>
              <a:solidFill>
                <a:srgbClr val="000000"/>
              </a:solidFill>
            </c:spPr>
            <c:extLst>
              <c:ext xmlns:c16="http://schemas.microsoft.com/office/drawing/2014/chart" uri="{C3380CC4-5D6E-409C-BE32-E72D297353CC}">
                <c16:uniqueId val="{00000045-F512-4BA7-B525-0309C134ED20}"/>
              </c:ext>
            </c:extLst>
          </c:dPt>
          <c:dPt>
            <c:idx val="35"/>
            <c:invertIfNegative val="1"/>
            <c:bubble3D val="0"/>
            <c:spPr>
              <a:solidFill>
                <a:srgbClr val="000000"/>
              </a:solidFill>
            </c:spPr>
            <c:extLst>
              <c:ext xmlns:c16="http://schemas.microsoft.com/office/drawing/2014/chart" uri="{C3380CC4-5D6E-409C-BE32-E72D297353CC}">
                <c16:uniqueId val="{00000047-F512-4BA7-B525-0309C134ED20}"/>
              </c:ext>
            </c:extLst>
          </c:dPt>
          <c:dPt>
            <c:idx val="36"/>
            <c:invertIfNegative val="1"/>
            <c:bubble3D val="0"/>
            <c:extLst>
              <c:ext xmlns:c16="http://schemas.microsoft.com/office/drawing/2014/chart" uri="{C3380CC4-5D6E-409C-BE32-E72D297353CC}">
                <c16:uniqueId val="{00000049-F512-4BA7-B525-0309C134ED20}"/>
              </c:ext>
            </c:extLst>
          </c:dPt>
          <c:dPt>
            <c:idx val="37"/>
            <c:invertIfNegative val="1"/>
            <c:bubble3D val="0"/>
            <c:spPr>
              <a:solidFill>
                <a:srgbClr val="000000"/>
              </a:solidFill>
            </c:spPr>
            <c:extLst>
              <c:ext xmlns:c16="http://schemas.microsoft.com/office/drawing/2014/chart" uri="{C3380CC4-5D6E-409C-BE32-E72D297353CC}">
                <c16:uniqueId val="{0000004B-F512-4BA7-B525-0309C134ED20}"/>
              </c:ext>
            </c:extLst>
          </c:dPt>
          <c:dPt>
            <c:idx val="38"/>
            <c:invertIfNegative val="1"/>
            <c:bubble3D val="0"/>
            <c:extLst>
              <c:ext xmlns:c16="http://schemas.microsoft.com/office/drawing/2014/chart" uri="{C3380CC4-5D6E-409C-BE32-E72D297353CC}">
                <c16:uniqueId val="{0000004D-F512-4BA7-B525-0309C134ED20}"/>
              </c:ext>
            </c:extLst>
          </c:dPt>
          <c:dPt>
            <c:idx val="39"/>
            <c:invertIfNegative val="1"/>
            <c:bubble3D val="0"/>
            <c:spPr>
              <a:solidFill>
                <a:srgbClr val="000000"/>
              </a:solidFill>
            </c:spPr>
            <c:extLst>
              <c:ext xmlns:c16="http://schemas.microsoft.com/office/drawing/2014/chart" uri="{C3380CC4-5D6E-409C-BE32-E72D297353CC}">
                <c16:uniqueId val="{0000004F-F512-4BA7-B525-0309C134ED20}"/>
              </c:ext>
            </c:extLst>
          </c:dPt>
          <c:dPt>
            <c:idx val="40"/>
            <c:invertIfNegative val="1"/>
            <c:bubble3D val="0"/>
            <c:spPr>
              <a:solidFill>
                <a:srgbClr val="000000"/>
              </a:solidFill>
            </c:spPr>
            <c:extLst>
              <c:ext xmlns:c16="http://schemas.microsoft.com/office/drawing/2014/chart" uri="{C3380CC4-5D6E-409C-BE32-E72D297353CC}">
                <c16:uniqueId val="{00000051-F512-4BA7-B525-0309C134ED20}"/>
              </c:ext>
            </c:extLst>
          </c:dPt>
          <c:dPt>
            <c:idx val="41"/>
            <c:invertIfNegative val="1"/>
            <c:bubble3D val="0"/>
            <c:spPr>
              <a:solidFill>
                <a:srgbClr val="000000"/>
              </a:solidFill>
            </c:spPr>
            <c:extLst>
              <c:ext xmlns:c16="http://schemas.microsoft.com/office/drawing/2014/chart" uri="{C3380CC4-5D6E-409C-BE32-E72D297353CC}">
                <c16:uniqueId val="{00000053-F512-4BA7-B525-0309C134ED20}"/>
              </c:ext>
            </c:extLst>
          </c:dPt>
          <c:dPt>
            <c:idx val="42"/>
            <c:invertIfNegative val="1"/>
            <c:bubble3D val="0"/>
            <c:spPr>
              <a:solidFill>
                <a:srgbClr val="000000"/>
              </a:solidFill>
            </c:spPr>
            <c:extLst>
              <c:ext xmlns:c16="http://schemas.microsoft.com/office/drawing/2014/chart" uri="{C3380CC4-5D6E-409C-BE32-E72D297353CC}">
                <c16:uniqueId val="{00000055-F512-4BA7-B525-0309C134ED20}"/>
              </c:ext>
            </c:extLst>
          </c:dPt>
          <c:dPt>
            <c:idx val="43"/>
            <c:invertIfNegative val="1"/>
            <c:bubble3D val="0"/>
            <c:spPr>
              <a:solidFill>
                <a:srgbClr val="000000"/>
              </a:solidFill>
            </c:spPr>
            <c:extLst>
              <c:ext xmlns:c16="http://schemas.microsoft.com/office/drawing/2014/chart" uri="{C3380CC4-5D6E-409C-BE32-E72D297353CC}">
                <c16:uniqueId val="{00000057-F512-4BA7-B525-0309C134ED20}"/>
              </c:ext>
            </c:extLst>
          </c:dPt>
          <c:dPt>
            <c:idx val="44"/>
            <c:invertIfNegative val="1"/>
            <c:bubble3D val="0"/>
            <c:spPr>
              <a:solidFill>
                <a:srgbClr val="000000"/>
              </a:solidFill>
            </c:spPr>
            <c:extLst>
              <c:ext xmlns:c16="http://schemas.microsoft.com/office/drawing/2014/chart" uri="{C3380CC4-5D6E-409C-BE32-E72D297353CC}">
                <c16:uniqueId val="{00000059-F512-4BA7-B525-0309C134ED20}"/>
              </c:ext>
            </c:extLst>
          </c:dPt>
          <c:dPt>
            <c:idx val="45"/>
            <c:invertIfNegative val="1"/>
            <c:bubble3D val="0"/>
            <c:spPr>
              <a:solidFill>
                <a:srgbClr val="000000"/>
              </a:solidFill>
            </c:spPr>
            <c:extLst>
              <c:ext xmlns:c16="http://schemas.microsoft.com/office/drawing/2014/chart" uri="{C3380CC4-5D6E-409C-BE32-E72D297353CC}">
                <c16:uniqueId val="{0000005B-F512-4BA7-B525-0309C134ED20}"/>
              </c:ext>
            </c:extLst>
          </c:dPt>
          <c:dPt>
            <c:idx val="46"/>
            <c:invertIfNegative val="1"/>
            <c:bubble3D val="0"/>
            <c:spPr>
              <a:solidFill>
                <a:srgbClr val="000000"/>
              </a:solidFill>
            </c:spPr>
            <c:extLst>
              <c:ext xmlns:c16="http://schemas.microsoft.com/office/drawing/2014/chart" uri="{C3380CC4-5D6E-409C-BE32-E72D297353CC}">
                <c16:uniqueId val="{0000005D-F512-4BA7-B525-0309C134ED20}"/>
              </c:ext>
            </c:extLst>
          </c:dPt>
          <c:dPt>
            <c:idx val="47"/>
            <c:invertIfNegative val="1"/>
            <c:bubble3D val="0"/>
            <c:spPr>
              <a:solidFill>
                <a:srgbClr val="000000"/>
              </a:solidFill>
            </c:spPr>
            <c:extLst>
              <c:ext xmlns:c16="http://schemas.microsoft.com/office/drawing/2014/chart" uri="{C3380CC4-5D6E-409C-BE32-E72D297353CC}">
                <c16:uniqueId val="{0000005F-F512-4BA7-B525-0309C134ED20}"/>
              </c:ext>
            </c:extLst>
          </c:dPt>
          <c:dPt>
            <c:idx val="48"/>
            <c:invertIfNegative val="1"/>
            <c:bubble3D val="0"/>
            <c:spPr>
              <a:solidFill>
                <a:srgbClr val="000000"/>
              </a:solidFill>
            </c:spPr>
            <c:extLst>
              <c:ext xmlns:c16="http://schemas.microsoft.com/office/drawing/2014/chart" uri="{C3380CC4-5D6E-409C-BE32-E72D297353CC}">
                <c16:uniqueId val="{00000061-F512-4BA7-B525-0309C134ED20}"/>
              </c:ext>
            </c:extLst>
          </c:dPt>
          <c:dPt>
            <c:idx val="49"/>
            <c:invertIfNegative val="1"/>
            <c:bubble3D val="0"/>
            <c:spPr>
              <a:solidFill>
                <a:srgbClr val="000000"/>
              </a:solidFill>
            </c:spPr>
            <c:extLst>
              <c:ext xmlns:c16="http://schemas.microsoft.com/office/drawing/2014/chart" uri="{C3380CC4-5D6E-409C-BE32-E72D297353CC}">
                <c16:uniqueId val="{00000063-F512-4BA7-B525-0309C134ED20}"/>
              </c:ext>
            </c:extLst>
          </c:dPt>
          <c:dPt>
            <c:idx val="50"/>
            <c:invertIfNegative val="1"/>
            <c:bubble3D val="0"/>
            <c:extLst>
              <c:ext xmlns:c16="http://schemas.microsoft.com/office/drawing/2014/chart" uri="{C3380CC4-5D6E-409C-BE32-E72D297353CC}">
                <c16:uniqueId val="{00000065-F512-4BA7-B525-0309C134ED20}"/>
              </c:ext>
            </c:extLst>
          </c:dPt>
          <c:dPt>
            <c:idx val="51"/>
            <c:invertIfNegative val="1"/>
            <c:bubble3D val="0"/>
            <c:extLst>
              <c:ext xmlns:c16="http://schemas.microsoft.com/office/drawing/2014/chart" uri="{C3380CC4-5D6E-409C-BE32-E72D297353CC}">
                <c16:uniqueId val="{00000067-F512-4BA7-B525-0309C134ED20}"/>
              </c:ext>
            </c:extLst>
          </c:dPt>
          <c:dPt>
            <c:idx val="52"/>
            <c:invertIfNegative val="1"/>
            <c:bubble3D val="0"/>
            <c:spPr>
              <a:solidFill>
                <a:srgbClr val="000000"/>
              </a:solidFill>
            </c:spPr>
            <c:extLst>
              <c:ext xmlns:c16="http://schemas.microsoft.com/office/drawing/2014/chart" uri="{C3380CC4-5D6E-409C-BE32-E72D297353CC}">
                <c16:uniqueId val="{00000069-F512-4BA7-B525-0309C134ED20}"/>
              </c:ext>
            </c:extLst>
          </c:dPt>
          <c:dPt>
            <c:idx val="53"/>
            <c:invertIfNegative val="1"/>
            <c:bubble3D val="0"/>
            <c:spPr>
              <a:solidFill>
                <a:srgbClr val="000000"/>
              </a:solidFill>
            </c:spPr>
            <c:extLst>
              <c:ext xmlns:c16="http://schemas.microsoft.com/office/drawing/2014/chart" uri="{C3380CC4-5D6E-409C-BE32-E72D297353CC}">
                <c16:uniqueId val="{0000006B-F512-4BA7-B525-0309C134ED20}"/>
              </c:ext>
            </c:extLst>
          </c:dPt>
          <c:dPt>
            <c:idx val="54"/>
            <c:invertIfNegative val="1"/>
            <c:bubble3D val="0"/>
            <c:spPr>
              <a:solidFill>
                <a:srgbClr val="000000"/>
              </a:solidFill>
            </c:spPr>
            <c:extLst>
              <c:ext xmlns:c16="http://schemas.microsoft.com/office/drawing/2014/chart" uri="{C3380CC4-5D6E-409C-BE32-E72D297353CC}">
                <c16:uniqueId val="{0000006D-F512-4BA7-B525-0309C134ED20}"/>
              </c:ext>
            </c:extLst>
          </c:dPt>
          <c:dPt>
            <c:idx val="55"/>
            <c:invertIfNegative val="1"/>
            <c:bubble3D val="0"/>
            <c:spPr>
              <a:solidFill>
                <a:srgbClr val="000000"/>
              </a:solidFill>
            </c:spPr>
            <c:extLst>
              <c:ext xmlns:c16="http://schemas.microsoft.com/office/drawing/2014/chart" uri="{C3380CC4-5D6E-409C-BE32-E72D297353CC}">
                <c16:uniqueId val="{0000006F-F512-4BA7-B525-0309C134ED20}"/>
              </c:ext>
            </c:extLst>
          </c:dPt>
          <c:dPt>
            <c:idx val="56"/>
            <c:invertIfNegative val="1"/>
            <c:bubble3D val="0"/>
            <c:spPr>
              <a:solidFill>
                <a:srgbClr val="000000"/>
              </a:solidFill>
            </c:spPr>
            <c:extLst>
              <c:ext xmlns:c16="http://schemas.microsoft.com/office/drawing/2014/chart" uri="{C3380CC4-5D6E-409C-BE32-E72D297353CC}">
                <c16:uniqueId val="{00000071-F512-4BA7-B525-0309C134ED20}"/>
              </c:ext>
            </c:extLst>
          </c:dPt>
          <c:dPt>
            <c:idx val="57"/>
            <c:invertIfNegative val="1"/>
            <c:bubble3D val="0"/>
            <c:spPr>
              <a:solidFill>
                <a:srgbClr val="000000"/>
              </a:solidFill>
            </c:spPr>
            <c:extLst>
              <c:ext xmlns:c16="http://schemas.microsoft.com/office/drawing/2014/chart" uri="{C3380CC4-5D6E-409C-BE32-E72D297353CC}">
                <c16:uniqueId val="{00000073-F512-4BA7-B525-0309C134ED20}"/>
              </c:ext>
            </c:extLst>
          </c:dPt>
          <c:dPt>
            <c:idx val="58"/>
            <c:invertIfNegative val="1"/>
            <c:bubble3D val="0"/>
            <c:extLst>
              <c:ext xmlns:c16="http://schemas.microsoft.com/office/drawing/2014/chart" uri="{C3380CC4-5D6E-409C-BE32-E72D297353CC}">
                <c16:uniqueId val="{00000075-F512-4BA7-B525-0309C134ED20}"/>
              </c:ext>
            </c:extLst>
          </c:dPt>
          <c:dPt>
            <c:idx val="59"/>
            <c:invertIfNegative val="1"/>
            <c:bubble3D val="0"/>
            <c:spPr>
              <a:solidFill>
                <a:srgbClr val="000000"/>
              </a:solidFill>
            </c:spPr>
            <c:extLst>
              <c:ext xmlns:c16="http://schemas.microsoft.com/office/drawing/2014/chart" uri="{C3380CC4-5D6E-409C-BE32-E72D297353CC}">
                <c16:uniqueId val="{00000077-F512-4BA7-B525-0309C134ED20}"/>
              </c:ext>
            </c:extLst>
          </c:dPt>
          <c:dPt>
            <c:idx val="60"/>
            <c:invertIfNegative val="1"/>
            <c:bubble3D val="0"/>
            <c:spPr>
              <a:solidFill>
                <a:srgbClr val="000000"/>
              </a:solidFill>
            </c:spPr>
            <c:extLst>
              <c:ext xmlns:c16="http://schemas.microsoft.com/office/drawing/2014/chart" uri="{C3380CC4-5D6E-409C-BE32-E72D297353CC}">
                <c16:uniqueId val="{00000079-F512-4BA7-B525-0309C134ED20}"/>
              </c:ext>
            </c:extLst>
          </c:dPt>
          <c:dPt>
            <c:idx val="61"/>
            <c:invertIfNegative val="1"/>
            <c:bubble3D val="0"/>
            <c:extLst>
              <c:ext xmlns:c16="http://schemas.microsoft.com/office/drawing/2014/chart" uri="{C3380CC4-5D6E-409C-BE32-E72D297353CC}">
                <c16:uniqueId val="{0000007B-F512-4BA7-B525-0309C134ED20}"/>
              </c:ext>
            </c:extLst>
          </c:dPt>
          <c:dPt>
            <c:idx val="62"/>
            <c:invertIfNegative val="1"/>
            <c:bubble3D val="0"/>
            <c:spPr>
              <a:solidFill>
                <a:srgbClr val="000000"/>
              </a:solidFill>
            </c:spPr>
            <c:extLst>
              <c:ext xmlns:c16="http://schemas.microsoft.com/office/drawing/2014/chart" uri="{C3380CC4-5D6E-409C-BE32-E72D297353CC}">
                <c16:uniqueId val="{0000007D-F512-4BA7-B525-0309C134ED20}"/>
              </c:ext>
            </c:extLst>
          </c:dPt>
          <c:dPt>
            <c:idx val="63"/>
            <c:invertIfNegative val="1"/>
            <c:bubble3D val="0"/>
            <c:spPr>
              <a:solidFill>
                <a:srgbClr val="000000"/>
              </a:solidFill>
            </c:spPr>
            <c:extLst>
              <c:ext xmlns:c16="http://schemas.microsoft.com/office/drawing/2014/chart" uri="{C3380CC4-5D6E-409C-BE32-E72D297353CC}">
                <c16:uniqueId val="{0000007F-F512-4BA7-B525-0309C134ED20}"/>
              </c:ext>
            </c:extLst>
          </c:dPt>
          <c:dPt>
            <c:idx val="64"/>
            <c:invertIfNegative val="1"/>
            <c:bubble3D val="0"/>
            <c:spPr>
              <a:solidFill>
                <a:srgbClr val="000000"/>
              </a:solidFill>
            </c:spPr>
            <c:extLst>
              <c:ext xmlns:c16="http://schemas.microsoft.com/office/drawing/2014/chart" uri="{C3380CC4-5D6E-409C-BE32-E72D297353CC}">
                <c16:uniqueId val="{00000081-F512-4BA7-B525-0309C134ED20}"/>
              </c:ext>
            </c:extLst>
          </c:dPt>
          <c:dPt>
            <c:idx val="65"/>
            <c:invertIfNegative val="1"/>
            <c:bubble3D val="0"/>
            <c:spPr>
              <a:solidFill>
                <a:srgbClr val="000000"/>
              </a:solidFill>
            </c:spPr>
            <c:extLst>
              <c:ext xmlns:c16="http://schemas.microsoft.com/office/drawing/2014/chart" uri="{C3380CC4-5D6E-409C-BE32-E72D297353CC}">
                <c16:uniqueId val="{00000083-F512-4BA7-B525-0309C134ED20}"/>
              </c:ext>
            </c:extLst>
          </c:dPt>
          <c:dPt>
            <c:idx val="66"/>
            <c:invertIfNegative val="1"/>
            <c:bubble3D val="0"/>
            <c:spPr>
              <a:solidFill>
                <a:srgbClr val="000000"/>
              </a:solidFill>
            </c:spPr>
            <c:extLst>
              <c:ext xmlns:c16="http://schemas.microsoft.com/office/drawing/2014/chart" uri="{C3380CC4-5D6E-409C-BE32-E72D297353CC}">
                <c16:uniqueId val="{00000085-F512-4BA7-B525-0309C134ED20}"/>
              </c:ext>
            </c:extLst>
          </c:dPt>
          <c:dPt>
            <c:idx val="67"/>
            <c:invertIfNegative val="1"/>
            <c:bubble3D val="0"/>
            <c:spPr>
              <a:solidFill>
                <a:srgbClr val="000000"/>
              </a:solidFill>
            </c:spPr>
            <c:extLst>
              <c:ext xmlns:c16="http://schemas.microsoft.com/office/drawing/2014/chart" uri="{C3380CC4-5D6E-409C-BE32-E72D297353CC}">
                <c16:uniqueId val="{00000087-F512-4BA7-B525-0309C134ED20}"/>
              </c:ext>
            </c:extLst>
          </c:dPt>
          <c:dPt>
            <c:idx val="68"/>
            <c:invertIfNegative val="1"/>
            <c:bubble3D val="0"/>
            <c:spPr>
              <a:solidFill>
                <a:srgbClr val="000000"/>
              </a:solidFill>
            </c:spPr>
            <c:extLst>
              <c:ext xmlns:c16="http://schemas.microsoft.com/office/drawing/2014/chart" uri="{C3380CC4-5D6E-409C-BE32-E72D297353CC}">
                <c16:uniqueId val="{00000089-F512-4BA7-B525-0309C134ED20}"/>
              </c:ext>
            </c:extLst>
          </c:dPt>
          <c:dPt>
            <c:idx val="69"/>
            <c:invertIfNegative val="1"/>
            <c:bubble3D val="0"/>
            <c:spPr>
              <a:solidFill>
                <a:srgbClr val="000000"/>
              </a:solidFill>
            </c:spPr>
            <c:extLst>
              <c:ext xmlns:c16="http://schemas.microsoft.com/office/drawing/2014/chart" uri="{C3380CC4-5D6E-409C-BE32-E72D297353CC}">
                <c16:uniqueId val="{0000008B-F512-4BA7-B525-0309C134ED20}"/>
              </c:ext>
            </c:extLst>
          </c:dPt>
          <c:dPt>
            <c:idx val="70"/>
            <c:invertIfNegative val="1"/>
            <c:bubble3D val="0"/>
            <c:extLst>
              <c:ext xmlns:c16="http://schemas.microsoft.com/office/drawing/2014/chart" uri="{C3380CC4-5D6E-409C-BE32-E72D297353CC}">
                <c16:uniqueId val="{0000008D-F512-4BA7-B525-0309C134ED20}"/>
              </c:ext>
            </c:extLst>
          </c:dPt>
          <c:dPt>
            <c:idx val="71"/>
            <c:invertIfNegative val="1"/>
            <c:bubble3D val="0"/>
            <c:extLst>
              <c:ext xmlns:c16="http://schemas.microsoft.com/office/drawing/2014/chart" uri="{C3380CC4-5D6E-409C-BE32-E72D297353CC}">
                <c16:uniqueId val="{0000008F-F512-4BA7-B525-0309C134ED20}"/>
              </c:ext>
            </c:extLst>
          </c:dPt>
          <c:dPt>
            <c:idx val="72"/>
            <c:invertIfNegative val="1"/>
            <c:bubble3D val="0"/>
            <c:spPr>
              <a:solidFill>
                <a:srgbClr val="000000"/>
              </a:solidFill>
            </c:spPr>
            <c:extLst>
              <c:ext xmlns:c16="http://schemas.microsoft.com/office/drawing/2014/chart" uri="{C3380CC4-5D6E-409C-BE32-E72D297353CC}">
                <c16:uniqueId val="{00000091-F512-4BA7-B525-0309C134ED20}"/>
              </c:ext>
            </c:extLst>
          </c:dPt>
          <c:dPt>
            <c:idx val="73"/>
            <c:invertIfNegative val="1"/>
            <c:bubble3D val="0"/>
            <c:spPr>
              <a:solidFill>
                <a:srgbClr val="000000"/>
              </a:solidFill>
            </c:spPr>
            <c:extLst>
              <c:ext xmlns:c16="http://schemas.microsoft.com/office/drawing/2014/chart" uri="{C3380CC4-5D6E-409C-BE32-E72D297353CC}">
                <c16:uniqueId val="{00000093-F512-4BA7-B525-0309C134ED20}"/>
              </c:ext>
            </c:extLst>
          </c:dPt>
          <c:dPt>
            <c:idx val="74"/>
            <c:invertIfNegative val="1"/>
            <c:bubble3D val="0"/>
            <c:extLst>
              <c:ext xmlns:c16="http://schemas.microsoft.com/office/drawing/2014/chart" uri="{C3380CC4-5D6E-409C-BE32-E72D297353CC}">
                <c16:uniqueId val="{00000095-F512-4BA7-B525-0309C134ED20}"/>
              </c:ext>
            </c:extLst>
          </c:dPt>
          <c:dPt>
            <c:idx val="75"/>
            <c:invertIfNegative val="1"/>
            <c:bubble3D val="0"/>
            <c:extLst>
              <c:ext xmlns:c16="http://schemas.microsoft.com/office/drawing/2014/chart" uri="{C3380CC4-5D6E-409C-BE32-E72D297353CC}">
                <c16:uniqueId val="{00000097-F512-4BA7-B525-0309C134ED20}"/>
              </c:ext>
            </c:extLst>
          </c:dPt>
          <c:dPt>
            <c:idx val="76"/>
            <c:invertIfNegative val="1"/>
            <c:bubble3D val="0"/>
            <c:extLst>
              <c:ext xmlns:c16="http://schemas.microsoft.com/office/drawing/2014/chart" uri="{C3380CC4-5D6E-409C-BE32-E72D297353CC}">
                <c16:uniqueId val="{00000099-F512-4BA7-B525-0309C134ED20}"/>
              </c:ext>
            </c:extLst>
          </c:dPt>
          <c:dPt>
            <c:idx val="77"/>
            <c:invertIfNegative val="1"/>
            <c:bubble3D val="0"/>
            <c:extLst>
              <c:ext xmlns:c16="http://schemas.microsoft.com/office/drawing/2014/chart" uri="{C3380CC4-5D6E-409C-BE32-E72D297353CC}">
                <c16:uniqueId val="{0000009B-F512-4BA7-B525-0309C134ED20}"/>
              </c:ext>
            </c:extLst>
          </c:dPt>
          <c:dPt>
            <c:idx val="78"/>
            <c:invertIfNegative val="1"/>
            <c:bubble3D val="0"/>
            <c:spPr>
              <a:solidFill>
                <a:srgbClr val="000000"/>
              </a:solidFill>
            </c:spPr>
            <c:extLst>
              <c:ext xmlns:c16="http://schemas.microsoft.com/office/drawing/2014/chart" uri="{C3380CC4-5D6E-409C-BE32-E72D297353CC}">
                <c16:uniqueId val="{0000009D-F512-4BA7-B525-0309C134ED20}"/>
              </c:ext>
            </c:extLst>
          </c:dPt>
          <c:dPt>
            <c:idx val="79"/>
            <c:invertIfNegative val="1"/>
            <c:bubble3D val="0"/>
            <c:extLst>
              <c:ext xmlns:c16="http://schemas.microsoft.com/office/drawing/2014/chart" uri="{C3380CC4-5D6E-409C-BE32-E72D297353CC}">
                <c16:uniqueId val="{0000009F-F512-4BA7-B525-0309C134ED20}"/>
              </c:ext>
            </c:extLst>
          </c:dPt>
          <c:dPt>
            <c:idx val="80"/>
            <c:invertIfNegative val="1"/>
            <c:bubble3D val="0"/>
            <c:extLst>
              <c:ext xmlns:c16="http://schemas.microsoft.com/office/drawing/2014/chart" uri="{C3380CC4-5D6E-409C-BE32-E72D297353CC}">
                <c16:uniqueId val="{000000A1-F512-4BA7-B525-0309C134ED20}"/>
              </c:ext>
            </c:extLst>
          </c:dPt>
          <c:dPt>
            <c:idx val="81"/>
            <c:invertIfNegative val="1"/>
            <c:bubble3D val="0"/>
            <c:spPr>
              <a:solidFill>
                <a:srgbClr val="000000"/>
              </a:solidFill>
            </c:spPr>
            <c:extLst>
              <c:ext xmlns:c16="http://schemas.microsoft.com/office/drawing/2014/chart" uri="{C3380CC4-5D6E-409C-BE32-E72D297353CC}">
                <c16:uniqueId val="{000000A3-F512-4BA7-B525-0309C134ED20}"/>
              </c:ext>
            </c:extLst>
          </c:dPt>
          <c:dPt>
            <c:idx val="82"/>
            <c:invertIfNegative val="1"/>
            <c:bubble3D val="0"/>
            <c:extLst>
              <c:ext xmlns:c16="http://schemas.microsoft.com/office/drawing/2014/chart" uri="{C3380CC4-5D6E-409C-BE32-E72D297353CC}">
                <c16:uniqueId val="{000000A5-F512-4BA7-B525-0309C134ED20}"/>
              </c:ext>
            </c:extLst>
          </c:dPt>
          <c:dPt>
            <c:idx val="83"/>
            <c:invertIfNegative val="1"/>
            <c:bubble3D val="0"/>
            <c:spPr>
              <a:solidFill>
                <a:srgbClr val="000000"/>
              </a:solidFill>
            </c:spPr>
            <c:extLst>
              <c:ext xmlns:c16="http://schemas.microsoft.com/office/drawing/2014/chart" uri="{C3380CC4-5D6E-409C-BE32-E72D297353CC}">
                <c16:uniqueId val="{000000A7-F512-4BA7-B525-0309C134ED20}"/>
              </c:ext>
            </c:extLst>
          </c:dPt>
          <c:dPt>
            <c:idx val="84"/>
            <c:invertIfNegative val="1"/>
            <c:bubble3D val="0"/>
            <c:spPr>
              <a:solidFill>
                <a:srgbClr val="000000"/>
              </a:solidFill>
            </c:spPr>
            <c:extLst>
              <c:ext xmlns:c16="http://schemas.microsoft.com/office/drawing/2014/chart" uri="{C3380CC4-5D6E-409C-BE32-E72D297353CC}">
                <c16:uniqueId val="{000000A9-F512-4BA7-B525-0309C134ED20}"/>
              </c:ext>
            </c:extLst>
          </c:dPt>
          <c:dPt>
            <c:idx val="85"/>
            <c:invertIfNegative val="1"/>
            <c:bubble3D val="0"/>
            <c:spPr>
              <a:solidFill>
                <a:srgbClr val="000000"/>
              </a:solidFill>
            </c:spPr>
            <c:extLst>
              <c:ext xmlns:c16="http://schemas.microsoft.com/office/drawing/2014/chart" uri="{C3380CC4-5D6E-409C-BE32-E72D297353CC}">
                <c16:uniqueId val="{000000AB-F512-4BA7-B525-0309C134ED20}"/>
              </c:ext>
            </c:extLst>
          </c:dPt>
          <c:dPt>
            <c:idx val="86"/>
            <c:invertIfNegative val="1"/>
            <c:bubble3D val="0"/>
            <c:extLst>
              <c:ext xmlns:c16="http://schemas.microsoft.com/office/drawing/2014/chart" uri="{C3380CC4-5D6E-409C-BE32-E72D297353CC}">
                <c16:uniqueId val="{000000AD-F512-4BA7-B525-0309C134ED20}"/>
              </c:ext>
            </c:extLst>
          </c:dPt>
          <c:dPt>
            <c:idx val="87"/>
            <c:invertIfNegative val="1"/>
            <c:bubble3D val="0"/>
            <c:extLst>
              <c:ext xmlns:c16="http://schemas.microsoft.com/office/drawing/2014/chart" uri="{C3380CC4-5D6E-409C-BE32-E72D297353CC}">
                <c16:uniqueId val="{000000AF-F512-4BA7-B525-0309C134ED20}"/>
              </c:ext>
            </c:extLst>
          </c:dPt>
          <c:dPt>
            <c:idx val="88"/>
            <c:invertIfNegative val="1"/>
            <c:bubble3D val="0"/>
            <c:extLst>
              <c:ext xmlns:c16="http://schemas.microsoft.com/office/drawing/2014/chart" uri="{C3380CC4-5D6E-409C-BE32-E72D297353CC}">
                <c16:uniqueId val="{000000B1-F512-4BA7-B525-0309C134ED20}"/>
              </c:ext>
            </c:extLst>
          </c:dPt>
          <c:dPt>
            <c:idx val="89"/>
            <c:invertIfNegative val="1"/>
            <c:bubble3D val="0"/>
            <c:spPr>
              <a:solidFill>
                <a:srgbClr val="000000"/>
              </a:solidFill>
            </c:spPr>
            <c:extLst>
              <c:ext xmlns:c16="http://schemas.microsoft.com/office/drawing/2014/chart" uri="{C3380CC4-5D6E-409C-BE32-E72D297353CC}">
                <c16:uniqueId val="{000000B3-F512-4BA7-B525-0309C134ED20}"/>
              </c:ext>
            </c:extLst>
          </c:dPt>
          <c:dPt>
            <c:idx val="90"/>
            <c:invertIfNegative val="1"/>
            <c:bubble3D val="0"/>
            <c:spPr>
              <a:solidFill>
                <a:srgbClr val="000000"/>
              </a:solidFill>
            </c:spPr>
            <c:extLst>
              <c:ext xmlns:c16="http://schemas.microsoft.com/office/drawing/2014/chart" uri="{C3380CC4-5D6E-409C-BE32-E72D297353CC}">
                <c16:uniqueId val="{000000B5-F512-4BA7-B525-0309C134ED20}"/>
              </c:ext>
            </c:extLst>
          </c:dPt>
          <c:dPt>
            <c:idx val="91"/>
            <c:invertIfNegative val="1"/>
            <c:bubble3D val="0"/>
            <c:spPr>
              <a:solidFill>
                <a:srgbClr val="000000"/>
              </a:solidFill>
            </c:spPr>
            <c:extLst>
              <c:ext xmlns:c16="http://schemas.microsoft.com/office/drawing/2014/chart" uri="{C3380CC4-5D6E-409C-BE32-E72D297353CC}">
                <c16:uniqueId val="{000000B7-F512-4BA7-B525-0309C134ED20}"/>
              </c:ext>
            </c:extLst>
          </c:dPt>
          <c:dPt>
            <c:idx val="92"/>
            <c:invertIfNegative val="1"/>
            <c:bubble3D val="0"/>
            <c:spPr>
              <a:solidFill>
                <a:srgbClr val="000000"/>
              </a:solidFill>
            </c:spPr>
            <c:extLst>
              <c:ext xmlns:c16="http://schemas.microsoft.com/office/drawing/2014/chart" uri="{C3380CC4-5D6E-409C-BE32-E72D297353CC}">
                <c16:uniqueId val="{000000B9-F512-4BA7-B525-0309C134ED20}"/>
              </c:ext>
            </c:extLst>
          </c:dPt>
          <c:dPt>
            <c:idx val="93"/>
            <c:invertIfNegative val="1"/>
            <c:bubble3D val="0"/>
            <c:extLst>
              <c:ext xmlns:c16="http://schemas.microsoft.com/office/drawing/2014/chart" uri="{C3380CC4-5D6E-409C-BE32-E72D297353CC}">
                <c16:uniqueId val="{000000BB-F512-4BA7-B525-0309C134ED20}"/>
              </c:ext>
            </c:extLst>
          </c:dPt>
          <c:dPt>
            <c:idx val="94"/>
            <c:invertIfNegative val="1"/>
            <c:bubble3D val="0"/>
            <c:spPr>
              <a:solidFill>
                <a:srgbClr val="000000"/>
              </a:solidFill>
            </c:spPr>
            <c:extLst>
              <c:ext xmlns:c16="http://schemas.microsoft.com/office/drawing/2014/chart" uri="{C3380CC4-5D6E-409C-BE32-E72D297353CC}">
                <c16:uniqueId val="{000000BD-F512-4BA7-B525-0309C134ED20}"/>
              </c:ext>
            </c:extLst>
          </c:dPt>
          <c:dPt>
            <c:idx val="95"/>
            <c:invertIfNegative val="1"/>
            <c:bubble3D val="0"/>
            <c:spPr>
              <a:solidFill>
                <a:srgbClr val="000000"/>
              </a:solidFill>
            </c:spPr>
            <c:extLst>
              <c:ext xmlns:c16="http://schemas.microsoft.com/office/drawing/2014/chart" uri="{C3380CC4-5D6E-409C-BE32-E72D297353CC}">
                <c16:uniqueId val="{000000BF-F512-4BA7-B525-0309C134ED20}"/>
              </c:ext>
            </c:extLst>
          </c:dPt>
          <c:dPt>
            <c:idx val="96"/>
            <c:invertIfNegative val="1"/>
            <c:bubble3D val="0"/>
            <c:spPr>
              <a:solidFill>
                <a:srgbClr val="000000"/>
              </a:solidFill>
            </c:spPr>
            <c:extLst>
              <c:ext xmlns:c16="http://schemas.microsoft.com/office/drawing/2014/chart" uri="{C3380CC4-5D6E-409C-BE32-E72D297353CC}">
                <c16:uniqueId val="{000000C1-F512-4BA7-B525-0309C134ED20}"/>
              </c:ext>
            </c:extLst>
          </c:dPt>
          <c:dPt>
            <c:idx val="97"/>
            <c:invertIfNegative val="1"/>
            <c:bubble3D val="0"/>
            <c:spPr>
              <a:solidFill>
                <a:srgbClr val="000000"/>
              </a:solidFill>
            </c:spPr>
            <c:extLst>
              <c:ext xmlns:c16="http://schemas.microsoft.com/office/drawing/2014/chart" uri="{C3380CC4-5D6E-409C-BE32-E72D297353CC}">
                <c16:uniqueId val="{000000C3-F512-4BA7-B525-0309C134ED20}"/>
              </c:ext>
            </c:extLst>
          </c:dPt>
          <c:dPt>
            <c:idx val="98"/>
            <c:invertIfNegative val="1"/>
            <c:bubble3D val="0"/>
            <c:spPr>
              <a:solidFill>
                <a:srgbClr val="C8102E"/>
              </a:solidFill>
            </c:spPr>
            <c:extLst>
              <c:ext xmlns:c16="http://schemas.microsoft.com/office/drawing/2014/chart" uri="{C3380CC4-5D6E-409C-BE32-E72D297353CC}">
                <c16:uniqueId val="{000000C5-F512-4BA7-B525-0309C134ED20}"/>
              </c:ext>
            </c:extLst>
          </c:dPt>
          <c:dPt>
            <c:idx val="99"/>
            <c:invertIfNegative val="1"/>
            <c:bubble3D val="0"/>
            <c:extLst>
              <c:ext xmlns:c16="http://schemas.microsoft.com/office/drawing/2014/chart" uri="{C3380CC4-5D6E-409C-BE32-E72D297353CC}">
                <c16:uniqueId val="{000000C7-F512-4BA7-B525-0309C134ED20}"/>
              </c:ext>
            </c:extLst>
          </c:dPt>
          <c:dPt>
            <c:idx val="100"/>
            <c:invertIfNegative val="1"/>
            <c:bubble3D val="0"/>
            <c:spPr>
              <a:solidFill>
                <a:srgbClr val="000000"/>
              </a:solidFill>
            </c:spPr>
            <c:extLst>
              <c:ext xmlns:c16="http://schemas.microsoft.com/office/drawing/2014/chart" uri="{C3380CC4-5D6E-409C-BE32-E72D297353CC}">
                <c16:uniqueId val="{000000C9-F512-4BA7-B525-0309C134ED20}"/>
              </c:ext>
            </c:extLst>
          </c:dPt>
          <c:dPt>
            <c:idx val="101"/>
            <c:invertIfNegative val="1"/>
            <c:bubble3D val="0"/>
            <c:extLst>
              <c:ext xmlns:c16="http://schemas.microsoft.com/office/drawing/2014/chart" uri="{C3380CC4-5D6E-409C-BE32-E72D297353CC}">
                <c16:uniqueId val="{000000CB-F512-4BA7-B525-0309C134ED20}"/>
              </c:ext>
            </c:extLst>
          </c:dPt>
          <c:dPt>
            <c:idx val="102"/>
            <c:invertIfNegative val="1"/>
            <c:bubble3D val="0"/>
            <c:extLst>
              <c:ext xmlns:c16="http://schemas.microsoft.com/office/drawing/2014/chart" uri="{C3380CC4-5D6E-409C-BE32-E72D297353CC}">
                <c16:uniqueId val="{000000CD-F512-4BA7-B525-0309C134ED20}"/>
              </c:ext>
            </c:extLst>
          </c:dPt>
          <c:dPt>
            <c:idx val="103"/>
            <c:invertIfNegative val="1"/>
            <c:bubble3D val="0"/>
            <c:spPr>
              <a:solidFill>
                <a:srgbClr val="000000"/>
              </a:solidFill>
            </c:spPr>
            <c:extLst>
              <c:ext xmlns:c16="http://schemas.microsoft.com/office/drawing/2014/chart" uri="{C3380CC4-5D6E-409C-BE32-E72D297353CC}">
                <c16:uniqueId val="{000000CF-F512-4BA7-B525-0309C134ED20}"/>
              </c:ext>
            </c:extLst>
          </c:dPt>
          <c:dPt>
            <c:idx val="104"/>
            <c:invertIfNegative val="1"/>
            <c:bubble3D val="0"/>
            <c:spPr>
              <a:solidFill>
                <a:srgbClr val="000000"/>
              </a:solidFill>
            </c:spPr>
            <c:extLst>
              <c:ext xmlns:c16="http://schemas.microsoft.com/office/drawing/2014/chart" uri="{C3380CC4-5D6E-409C-BE32-E72D297353CC}">
                <c16:uniqueId val="{000000D1-F512-4BA7-B525-0309C134ED20}"/>
              </c:ext>
            </c:extLst>
          </c:dPt>
          <c:dPt>
            <c:idx val="105"/>
            <c:invertIfNegative val="1"/>
            <c:bubble3D val="0"/>
            <c:spPr>
              <a:solidFill>
                <a:srgbClr val="000000"/>
              </a:solidFill>
            </c:spPr>
            <c:extLst>
              <c:ext xmlns:c16="http://schemas.microsoft.com/office/drawing/2014/chart" uri="{C3380CC4-5D6E-409C-BE32-E72D297353CC}">
                <c16:uniqueId val="{000000D3-F512-4BA7-B525-0309C134ED20}"/>
              </c:ext>
            </c:extLst>
          </c:dPt>
          <c:dPt>
            <c:idx val="106"/>
            <c:invertIfNegative val="1"/>
            <c:bubble3D val="0"/>
            <c:spPr>
              <a:solidFill>
                <a:srgbClr val="000000"/>
              </a:solidFill>
            </c:spPr>
            <c:extLst>
              <c:ext xmlns:c16="http://schemas.microsoft.com/office/drawing/2014/chart" uri="{C3380CC4-5D6E-409C-BE32-E72D297353CC}">
                <c16:uniqueId val="{000000D5-F512-4BA7-B525-0309C134ED20}"/>
              </c:ext>
            </c:extLst>
          </c:dPt>
          <c:dPt>
            <c:idx val="107"/>
            <c:invertIfNegative val="1"/>
            <c:bubble3D val="0"/>
            <c:spPr>
              <a:solidFill>
                <a:srgbClr val="000000"/>
              </a:solidFill>
            </c:spPr>
            <c:extLst>
              <c:ext xmlns:c16="http://schemas.microsoft.com/office/drawing/2014/chart" uri="{C3380CC4-5D6E-409C-BE32-E72D297353CC}">
                <c16:uniqueId val="{000000D7-F512-4BA7-B525-0309C134ED20}"/>
              </c:ext>
            </c:extLst>
          </c:dPt>
          <c:dPt>
            <c:idx val="108"/>
            <c:invertIfNegative val="1"/>
            <c:bubble3D val="0"/>
            <c:extLst>
              <c:ext xmlns:c16="http://schemas.microsoft.com/office/drawing/2014/chart" uri="{C3380CC4-5D6E-409C-BE32-E72D297353CC}">
                <c16:uniqueId val="{000000D9-F512-4BA7-B525-0309C134ED20}"/>
              </c:ext>
            </c:extLst>
          </c:dPt>
          <c:dPt>
            <c:idx val="109"/>
            <c:invertIfNegative val="1"/>
            <c:bubble3D val="0"/>
            <c:extLst>
              <c:ext xmlns:c16="http://schemas.microsoft.com/office/drawing/2014/chart" uri="{C3380CC4-5D6E-409C-BE32-E72D297353CC}">
                <c16:uniqueId val="{000000DB-F512-4BA7-B525-0309C134ED20}"/>
              </c:ext>
            </c:extLst>
          </c:dPt>
          <c:dPt>
            <c:idx val="110"/>
            <c:invertIfNegative val="1"/>
            <c:bubble3D val="0"/>
            <c:extLst>
              <c:ext xmlns:c16="http://schemas.microsoft.com/office/drawing/2014/chart" uri="{C3380CC4-5D6E-409C-BE32-E72D297353CC}">
                <c16:uniqueId val="{000000DD-F512-4BA7-B525-0309C134ED20}"/>
              </c:ext>
            </c:extLst>
          </c:dPt>
          <c:dPt>
            <c:idx val="111"/>
            <c:invertIfNegative val="1"/>
            <c:bubble3D val="0"/>
            <c:spPr>
              <a:solidFill>
                <a:srgbClr val="000000"/>
              </a:solidFill>
            </c:spPr>
            <c:extLst>
              <c:ext xmlns:c16="http://schemas.microsoft.com/office/drawing/2014/chart" uri="{C3380CC4-5D6E-409C-BE32-E72D297353CC}">
                <c16:uniqueId val="{000000DF-F512-4BA7-B525-0309C134ED20}"/>
              </c:ext>
            </c:extLst>
          </c:dPt>
          <c:dPt>
            <c:idx val="112"/>
            <c:invertIfNegative val="1"/>
            <c:bubble3D val="0"/>
            <c:spPr>
              <a:solidFill>
                <a:srgbClr val="000000"/>
              </a:solidFill>
            </c:spPr>
            <c:extLst>
              <c:ext xmlns:c16="http://schemas.microsoft.com/office/drawing/2014/chart" uri="{C3380CC4-5D6E-409C-BE32-E72D297353CC}">
                <c16:uniqueId val="{000000E1-F512-4BA7-B525-0309C134ED20}"/>
              </c:ext>
            </c:extLst>
          </c:dPt>
          <c:dPt>
            <c:idx val="113"/>
            <c:invertIfNegative val="1"/>
            <c:bubble3D val="0"/>
            <c:extLst>
              <c:ext xmlns:c16="http://schemas.microsoft.com/office/drawing/2014/chart" uri="{C3380CC4-5D6E-409C-BE32-E72D297353CC}">
                <c16:uniqueId val="{000000E3-F512-4BA7-B525-0309C134ED20}"/>
              </c:ext>
            </c:extLst>
          </c:dPt>
          <c:dPt>
            <c:idx val="114"/>
            <c:invertIfNegative val="1"/>
            <c:bubble3D val="0"/>
            <c:extLst>
              <c:ext xmlns:c16="http://schemas.microsoft.com/office/drawing/2014/chart" uri="{C3380CC4-5D6E-409C-BE32-E72D297353CC}">
                <c16:uniqueId val="{000000E5-F512-4BA7-B525-0309C134ED20}"/>
              </c:ext>
            </c:extLst>
          </c:dPt>
          <c:dPt>
            <c:idx val="115"/>
            <c:invertIfNegative val="1"/>
            <c:bubble3D val="0"/>
            <c:spPr>
              <a:solidFill>
                <a:srgbClr val="000000"/>
              </a:solidFill>
            </c:spPr>
            <c:extLst>
              <c:ext xmlns:c16="http://schemas.microsoft.com/office/drawing/2014/chart" uri="{C3380CC4-5D6E-409C-BE32-E72D297353CC}">
                <c16:uniqueId val="{000000E7-F512-4BA7-B525-0309C134ED20}"/>
              </c:ext>
            </c:extLst>
          </c:dPt>
          <c:dPt>
            <c:idx val="116"/>
            <c:invertIfNegative val="1"/>
            <c:bubble3D val="0"/>
            <c:extLst>
              <c:ext xmlns:c16="http://schemas.microsoft.com/office/drawing/2014/chart" uri="{C3380CC4-5D6E-409C-BE32-E72D297353CC}">
                <c16:uniqueId val="{000000E9-F512-4BA7-B525-0309C134ED20}"/>
              </c:ext>
            </c:extLst>
          </c:dPt>
          <c:dPt>
            <c:idx val="117"/>
            <c:invertIfNegative val="1"/>
            <c:bubble3D val="0"/>
            <c:spPr>
              <a:solidFill>
                <a:srgbClr val="000000"/>
              </a:solidFill>
            </c:spPr>
            <c:extLst>
              <c:ext xmlns:c16="http://schemas.microsoft.com/office/drawing/2014/chart" uri="{C3380CC4-5D6E-409C-BE32-E72D297353CC}">
                <c16:uniqueId val="{000000EB-F512-4BA7-B525-0309C134ED20}"/>
              </c:ext>
            </c:extLst>
          </c:dPt>
          <c:dPt>
            <c:idx val="118"/>
            <c:invertIfNegative val="1"/>
            <c:bubble3D val="0"/>
            <c:spPr>
              <a:solidFill>
                <a:srgbClr val="000000"/>
              </a:solidFill>
            </c:spPr>
            <c:extLst>
              <c:ext xmlns:c16="http://schemas.microsoft.com/office/drawing/2014/chart" uri="{C3380CC4-5D6E-409C-BE32-E72D297353CC}">
                <c16:uniqueId val="{000000ED-F512-4BA7-B525-0309C134ED20}"/>
              </c:ext>
            </c:extLst>
          </c:dPt>
          <c:dPt>
            <c:idx val="119"/>
            <c:invertIfNegative val="1"/>
            <c:bubble3D val="0"/>
            <c:spPr>
              <a:solidFill>
                <a:srgbClr val="000000"/>
              </a:solidFill>
            </c:spPr>
            <c:extLst>
              <c:ext xmlns:c16="http://schemas.microsoft.com/office/drawing/2014/chart" uri="{C3380CC4-5D6E-409C-BE32-E72D297353CC}">
                <c16:uniqueId val="{000000EF-F512-4BA7-B525-0309C134ED20}"/>
              </c:ext>
            </c:extLst>
          </c:dPt>
          <c:dPt>
            <c:idx val="120"/>
            <c:invertIfNegative val="1"/>
            <c:bubble3D val="0"/>
            <c:extLst>
              <c:ext xmlns:c16="http://schemas.microsoft.com/office/drawing/2014/chart" uri="{C3380CC4-5D6E-409C-BE32-E72D297353CC}">
                <c16:uniqueId val="{000000F1-F512-4BA7-B525-0309C134ED20}"/>
              </c:ext>
            </c:extLst>
          </c:dPt>
          <c:dPt>
            <c:idx val="121"/>
            <c:invertIfNegative val="1"/>
            <c:bubble3D val="0"/>
            <c:spPr>
              <a:solidFill>
                <a:srgbClr val="000000"/>
              </a:solidFill>
            </c:spPr>
            <c:extLst>
              <c:ext xmlns:c16="http://schemas.microsoft.com/office/drawing/2014/chart" uri="{C3380CC4-5D6E-409C-BE32-E72D297353CC}">
                <c16:uniqueId val="{000000F3-F512-4BA7-B525-0309C134ED20}"/>
              </c:ext>
            </c:extLst>
          </c:dPt>
          <c:dPt>
            <c:idx val="122"/>
            <c:invertIfNegative val="1"/>
            <c:bubble3D val="0"/>
            <c:extLst>
              <c:ext xmlns:c16="http://schemas.microsoft.com/office/drawing/2014/chart" uri="{C3380CC4-5D6E-409C-BE32-E72D297353CC}">
                <c16:uniqueId val="{000000F5-F512-4BA7-B525-0309C134ED20}"/>
              </c:ext>
            </c:extLst>
          </c:dPt>
          <c:dPt>
            <c:idx val="123"/>
            <c:invertIfNegative val="1"/>
            <c:bubble3D val="0"/>
            <c:extLst>
              <c:ext xmlns:c16="http://schemas.microsoft.com/office/drawing/2014/chart" uri="{C3380CC4-5D6E-409C-BE32-E72D297353CC}">
                <c16:uniqueId val="{000000F7-F512-4BA7-B525-0309C134ED20}"/>
              </c:ext>
            </c:extLst>
          </c:dPt>
          <c:dPt>
            <c:idx val="124"/>
            <c:invertIfNegative val="1"/>
            <c:bubble3D val="0"/>
            <c:extLst>
              <c:ext xmlns:c16="http://schemas.microsoft.com/office/drawing/2014/chart" uri="{C3380CC4-5D6E-409C-BE32-E72D297353CC}">
                <c16:uniqueId val="{000000F9-F512-4BA7-B525-0309C134ED20}"/>
              </c:ext>
            </c:extLst>
          </c:dPt>
          <c:dPt>
            <c:idx val="125"/>
            <c:invertIfNegative val="1"/>
            <c:bubble3D val="0"/>
            <c:extLst>
              <c:ext xmlns:c16="http://schemas.microsoft.com/office/drawing/2014/chart" uri="{C3380CC4-5D6E-409C-BE32-E72D297353CC}">
                <c16:uniqueId val="{000000FB-F512-4BA7-B525-0309C134ED20}"/>
              </c:ext>
            </c:extLst>
          </c:dPt>
          <c:dPt>
            <c:idx val="126"/>
            <c:invertIfNegative val="1"/>
            <c:bubble3D val="0"/>
            <c:extLst>
              <c:ext xmlns:c16="http://schemas.microsoft.com/office/drawing/2014/chart" uri="{C3380CC4-5D6E-409C-BE32-E72D297353CC}">
                <c16:uniqueId val="{000000FD-F512-4BA7-B525-0309C134ED20}"/>
              </c:ext>
            </c:extLst>
          </c:dPt>
          <c:dPt>
            <c:idx val="127"/>
            <c:invertIfNegative val="1"/>
            <c:bubble3D val="0"/>
            <c:extLst>
              <c:ext xmlns:c16="http://schemas.microsoft.com/office/drawing/2014/chart" uri="{C3380CC4-5D6E-409C-BE32-E72D297353CC}">
                <c16:uniqueId val="{000000FF-F512-4BA7-B525-0309C134ED20}"/>
              </c:ext>
            </c:extLst>
          </c:dPt>
          <c:dPt>
            <c:idx val="128"/>
            <c:invertIfNegative val="1"/>
            <c:bubble3D val="0"/>
            <c:spPr>
              <a:solidFill>
                <a:srgbClr val="000000"/>
              </a:solidFill>
            </c:spPr>
            <c:extLst>
              <c:ext xmlns:c16="http://schemas.microsoft.com/office/drawing/2014/chart" uri="{C3380CC4-5D6E-409C-BE32-E72D297353CC}">
                <c16:uniqueId val="{00000101-F512-4BA7-B525-0309C134ED20}"/>
              </c:ext>
            </c:extLst>
          </c:dPt>
          <c:dPt>
            <c:idx val="129"/>
            <c:invertIfNegative val="1"/>
            <c:bubble3D val="0"/>
            <c:extLst>
              <c:ext xmlns:c16="http://schemas.microsoft.com/office/drawing/2014/chart" uri="{C3380CC4-5D6E-409C-BE32-E72D297353CC}">
                <c16:uniqueId val="{00000103-F512-4BA7-B525-0309C134ED20}"/>
              </c:ext>
            </c:extLst>
          </c:dPt>
          <c:dPt>
            <c:idx val="130"/>
            <c:invertIfNegative val="1"/>
            <c:bubble3D val="0"/>
            <c:spPr>
              <a:solidFill>
                <a:srgbClr val="000000"/>
              </a:solidFill>
            </c:spPr>
            <c:extLst>
              <c:ext xmlns:c16="http://schemas.microsoft.com/office/drawing/2014/chart" uri="{C3380CC4-5D6E-409C-BE32-E72D297353CC}">
                <c16:uniqueId val="{00000105-F512-4BA7-B525-0309C134ED20}"/>
              </c:ext>
            </c:extLst>
          </c:dPt>
          <c:dPt>
            <c:idx val="131"/>
            <c:invertIfNegative val="1"/>
            <c:bubble3D val="0"/>
            <c:spPr>
              <a:solidFill>
                <a:srgbClr val="000000"/>
              </a:solidFill>
            </c:spPr>
            <c:extLst>
              <c:ext xmlns:c16="http://schemas.microsoft.com/office/drawing/2014/chart" uri="{C3380CC4-5D6E-409C-BE32-E72D297353CC}">
                <c16:uniqueId val="{00000107-F512-4BA7-B525-0309C134ED20}"/>
              </c:ext>
            </c:extLst>
          </c:dPt>
          <c:dPt>
            <c:idx val="132"/>
            <c:invertIfNegative val="1"/>
            <c:bubble3D val="0"/>
            <c:spPr>
              <a:solidFill>
                <a:srgbClr val="000000"/>
              </a:solidFill>
            </c:spPr>
            <c:extLst>
              <c:ext xmlns:c16="http://schemas.microsoft.com/office/drawing/2014/chart" uri="{C3380CC4-5D6E-409C-BE32-E72D297353CC}">
                <c16:uniqueId val="{00000109-F512-4BA7-B525-0309C134ED20}"/>
              </c:ext>
            </c:extLst>
          </c:dPt>
          <c:dPt>
            <c:idx val="133"/>
            <c:invertIfNegative val="1"/>
            <c:bubble3D val="0"/>
            <c:extLst>
              <c:ext xmlns:c16="http://schemas.microsoft.com/office/drawing/2014/chart" uri="{C3380CC4-5D6E-409C-BE32-E72D297353CC}">
                <c16:uniqueId val="{0000010B-F512-4BA7-B525-0309C134ED20}"/>
              </c:ext>
            </c:extLst>
          </c:dPt>
          <c:dPt>
            <c:idx val="134"/>
            <c:invertIfNegative val="1"/>
            <c:bubble3D val="0"/>
            <c:extLst>
              <c:ext xmlns:c16="http://schemas.microsoft.com/office/drawing/2014/chart" uri="{C3380CC4-5D6E-409C-BE32-E72D297353CC}">
                <c16:uniqueId val="{0000010D-F512-4BA7-B525-0309C134ED20}"/>
              </c:ext>
            </c:extLst>
          </c:dPt>
          <c:dPt>
            <c:idx val="135"/>
            <c:invertIfNegative val="1"/>
            <c:bubble3D val="0"/>
            <c:spPr>
              <a:solidFill>
                <a:srgbClr val="000000"/>
              </a:solidFill>
            </c:spPr>
            <c:extLst>
              <c:ext xmlns:c16="http://schemas.microsoft.com/office/drawing/2014/chart" uri="{C3380CC4-5D6E-409C-BE32-E72D297353CC}">
                <c16:uniqueId val="{0000010F-F512-4BA7-B525-0309C134ED20}"/>
              </c:ext>
            </c:extLst>
          </c:dPt>
          <c:dPt>
            <c:idx val="136"/>
            <c:invertIfNegative val="1"/>
            <c:bubble3D val="0"/>
            <c:spPr>
              <a:solidFill>
                <a:srgbClr val="000000"/>
              </a:solidFill>
            </c:spPr>
            <c:extLst>
              <c:ext xmlns:c16="http://schemas.microsoft.com/office/drawing/2014/chart" uri="{C3380CC4-5D6E-409C-BE32-E72D297353CC}">
                <c16:uniqueId val="{00000111-F512-4BA7-B525-0309C134ED20}"/>
              </c:ext>
            </c:extLst>
          </c:dPt>
          <c:dPt>
            <c:idx val="137"/>
            <c:invertIfNegative val="1"/>
            <c:bubble3D val="0"/>
            <c:extLst>
              <c:ext xmlns:c16="http://schemas.microsoft.com/office/drawing/2014/chart" uri="{C3380CC4-5D6E-409C-BE32-E72D297353CC}">
                <c16:uniqueId val="{00000113-F512-4BA7-B525-0309C134ED20}"/>
              </c:ext>
            </c:extLst>
          </c:dPt>
          <c:dPt>
            <c:idx val="138"/>
            <c:invertIfNegative val="1"/>
            <c:bubble3D val="0"/>
            <c:extLst>
              <c:ext xmlns:c16="http://schemas.microsoft.com/office/drawing/2014/chart" uri="{C3380CC4-5D6E-409C-BE32-E72D297353CC}">
                <c16:uniqueId val="{00000115-F512-4BA7-B525-0309C134ED20}"/>
              </c:ext>
            </c:extLst>
          </c:dPt>
          <c:dPt>
            <c:idx val="139"/>
            <c:invertIfNegative val="1"/>
            <c:bubble3D val="0"/>
            <c:extLst>
              <c:ext xmlns:c16="http://schemas.microsoft.com/office/drawing/2014/chart" uri="{C3380CC4-5D6E-409C-BE32-E72D297353CC}">
                <c16:uniqueId val="{00000117-F512-4BA7-B525-0309C134ED20}"/>
              </c:ext>
            </c:extLst>
          </c:dPt>
          <c:dPt>
            <c:idx val="140"/>
            <c:invertIfNegative val="1"/>
            <c:bubble3D val="0"/>
            <c:extLst>
              <c:ext xmlns:c16="http://schemas.microsoft.com/office/drawing/2014/chart" uri="{C3380CC4-5D6E-409C-BE32-E72D297353CC}">
                <c16:uniqueId val="{00000119-F512-4BA7-B525-0309C134ED20}"/>
              </c:ext>
            </c:extLst>
          </c:dPt>
          <c:dPt>
            <c:idx val="141"/>
            <c:invertIfNegative val="1"/>
            <c:bubble3D val="0"/>
            <c:extLst>
              <c:ext xmlns:c16="http://schemas.microsoft.com/office/drawing/2014/chart" uri="{C3380CC4-5D6E-409C-BE32-E72D297353CC}">
                <c16:uniqueId val="{0000011B-F512-4BA7-B525-0309C134ED20}"/>
              </c:ext>
            </c:extLst>
          </c:dPt>
          <c:dPt>
            <c:idx val="142"/>
            <c:invertIfNegative val="1"/>
            <c:bubble3D val="0"/>
            <c:spPr>
              <a:solidFill>
                <a:srgbClr val="000000"/>
              </a:solidFill>
            </c:spPr>
            <c:extLst>
              <c:ext xmlns:c16="http://schemas.microsoft.com/office/drawing/2014/chart" uri="{C3380CC4-5D6E-409C-BE32-E72D297353CC}">
                <c16:uniqueId val="{0000011D-F512-4BA7-B525-0309C134ED20}"/>
              </c:ext>
            </c:extLst>
          </c:dPt>
          <c:dPt>
            <c:idx val="143"/>
            <c:invertIfNegative val="1"/>
            <c:bubble3D val="0"/>
            <c:spPr>
              <a:solidFill>
                <a:srgbClr val="000000"/>
              </a:solidFill>
            </c:spPr>
            <c:extLst>
              <c:ext xmlns:c16="http://schemas.microsoft.com/office/drawing/2014/chart" uri="{C3380CC4-5D6E-409C-BE32-E72D297353CC}">
                <c16:uniqueId val="{0000011F-F512-4BA7-B525-0309C134ED20}"/>
              </c:ext>
            </c:extLst>
          </c:dPt>
          <c:dPt>
            <c:idx val="144"/>
            <c:invertIfNegative val="1"/>
            <c:bubble3D val="0"/>
            <c:spPr>
              <a:solidFill>
                <a:srgbClr val="000000"/>
              </a:solidFill>
            </c:spPr>
            <c:extLst>
              <c:ext xmlns:c16="http://schemas.microsoft.com/office/drawing/2014/chart" uri="{C3380CC4-5D6E-409C-BE32-E72D297353CC}">
                <c16:uniqueId val="{00000121-F512-4BA7-B525-0309C134ED20}"/>
              </c:ext>
            </c:extLst>
          </c:dPt>
          <c:dPt>
            <c:idx val="145"/>
            <c:invertIfNegative val="1"/>
            <c:bubble3D val="0"/>
            <c:extLst>
              <c:ext xmlns:c16="http://schemas.microsoft.com/office/drawing/2014/chart" uri="{C3380CC4-5D6E-409C-BE32-E72D297353CC}">
                <c16:uniqueId val="{00000123-F512-4BA7-B525-0309C134ED20}"/>
              </c:ext>
            </c:extLst>
          </c:dPt>
          <c:dPt>
            <c:idx val="146"/>
            <c:invertIfNegative val="1"/>
            <c:bubble3D val="0"/>
            <c:extLst>
              <c:ext xmlns:c16="http://schemas.microsoft.com/office/drawing/2014/chart" uri="{C3380CC4-5D6E-409C-BE32-E72D297353CC}">
                <c16:uniqueId val="{00000125-F512-4BA7-B525-0309C134ED20}"/>
              </c:ext>
            </c:extLst>
          </c:dPt>
          <c:dPt>
            <c:idx val="147"/>
            <c:invertIfNegative val="1"/>
            <c:bubble3D val="0"/>
            <c:extLst>
              <c:ext xmlns:c16="http://schemas.microsoft.com/office/drawing/2014/chart" uri="{C3380CC4-5D6E-409C-BE32-E72D297353CC}">
                <c16:uniqueId val="{00000127-F512-4BA7-B525-0309C134ED20}"/>
              </c:ext>
            </c:extLst>
          </c:dPt>
          <c:dPt>
            <c:idx val="148"/>
            <c:invertIfNegative val="1"/>
            <c:bubble3D val="0"/>
            <c:extLst>
              <c:ext xmlns:c16="http://schemas.microsoft.com/office/drawing/2014/chart" uri="{C3380CC4-5D6E-409C-BE32-E72D297353CC}">
                <c16:uniqueId val="{00000129-F512-4BA7-B525-0309C134ED20}"/>
              </c:ext>
            </c:extLst>
          </c:dPt>
          <c:dPt>
            <c:idx val="149"/>
            <c:invertIfNegative val="1"/>
            <c:bubble3D val="0"/>
            <c:extLst>
              <c:ext xmlns:c16="http://schemas.microsoft.com/office/drawing/2014/chart" uri="{C3380CC4-5D6E-409C-BE32-E72D297353CC}">
                <c16:uniqueId val="{0000012B-F512-4BA7-B525-0309C134ED20}"/>
              </c:ext>
            </c:extLst>
          </c:dPt>
          <c:cat>
            <c:strRef>
              <c:f>Sheet1!$A$2:$A$151</c:f>
              <c:strCache>
                <c:ptCount val="1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strCache>
            </c:strRef>
          </c:cat>
          <c:val>
            <c:numRef>
              <c:f>Sheet1!$B$2:$B$151</c:f>
              <c:numCache>
                <c:formatCode>General</c:formatCode>
                <c:ptCount val="150"/>
                <c:pt idx="0">
                  <c:v>4.129264</c:v>
                </c:pt>
                <c:pt idx="1">
                  <c:v>2.1675040000000001</c:v>
                </c:pt>
                <c:pt idx="2">
                  <c:v>2.127637</c:v>
                </c:pt>
                <c:pt idx="3">
                  <c:v>2.1109610000000001</c:v>
                </c:pt>
                <c:pt idx="4">
                  <c:v>1.9332290000000001</c:v>
                </c:pt>
                <c:pt idx="5">
                  <c:v>1.8962270000000001</c:v>
                </c:pt>
                <c:pt idx="6">
                  <c:v>1.881289</c:v>
                </c:pt>
                <c:pt idx="7">
                  <c:v>1.6913020000000001</c:v>
                </c:pt>
                <c:pt idx="8">
                  <c:v>1.641961</c:v>
                </c:pt>
                <c:pt idx="9">
                  <c:v>1.613631</c:v>
                </c:pt>
                <c:pt idx="10">
                  <c:v>1.598751</c:v>
                </c:pt>
                <c:pt idx="11">
                  <c:v>1.5815699999999999</c:v>
                </c:pt>
                <c:pt idx="12">
                  <c:v>1.580756</c:v>
                </c:pt>
                <c:pt idx="13">
                  <c:v>1.53952</c:v>
                </c:pt>
                <c:pt idx="14">
                  <c:v>1.528637</c:v>
                </c:pt>
                <c:pt idx="15">
                  <c:v>1.5196940000000001</c:v>
                </c:pt>
                <c:pt idx="16">
                  <c:v>1.5046649999999999</c:v>
                </c:pt>
                <c:pt idx="17">
                  <c:v>1.500732</c:v>
                </c:pt>
                <c:pt idx="18">
                  <c:v>1.4945269999999999</c:v>
                </c:pt>
                <c:pt idx="19">
                  <c:v>1.449535</c:v>
                </c:pt>
                <c:pt idx="20">
                  <c:v>1.40971</c:v>
                </c:pt>
                <c:pt idx="21">
                  <c:v>1.3938250000000001</c:v>
                </c:pt>
                <c:pt idx="22">
                  <c:v>1.363321</c:v>
                </c:pt>
                <c:pt idx="23">
                  <c:v>1.3278700000000001</c:v>
                </c:pt>
                <c:pt idx="24">
                  <c:v>1.3029710000000001</c:v>
                </c:pt>
                <c:pt idx="25">
                  <c:v>1.2724930000000001</c:v>
                </c:pt>
                <c:pt idx="26">
                  <c:v>1.264197</c:v>
                </c:pt>
                <c:pt idx="27">
                  <c:v>1.2578590000000001</c:v>
                </c:pt>
                <c:pt idx="28">
                  <c:v>1.246507</c:v>
                </c:pt>
                <c:pt idx="29">
                  <c:v>1.243115</c:v>
                </c:pt>
                <c:pt idx="30">
                  <c:v>1.1439170000000001</c:v>
                </c:pt>
                <c:pt idx="31">
                  <c:v>1.126782</c:v>
                </c:pt>
                <c:pt idx="32">
                  <c:v>1.0655539999999999</c:v>
                </c:pt>
                <c:pt idx="33">
                  <c:v>1.0156000000000001</c:v>
                </c:pt>
                <c:pt idx="34">
                  <c:v>1.0124040000000001</c:v>
                </c:pt>
                <c:pt idx="35">
                  <c:v>1.005757</c:v>
                </c:pt>
                <c:pt idx="36">
                  <c:v>1.003271</c:v>
                </c:pt>
                <c:pt idx="37">
                  <c:v>0.93184800000000001</c:v>
                </c:pt>
                <c:pt idx="38">
                  <c:v>0.93151300000000004</c:v>
                </c:pt>
                <c:pt idx="39">
                  <c:v>0.90675099999999997</c:v>
                </c:pt>
                <c:pt idx="40">
                  <c:v>0.89698299999999997</c:v>
                </c:pt>
                <c:pt idx="41">
                  <c:v>0.88122599999999995</c:v>
                </c:pt>
                <c:pt idx="42">
                  <c:v>0.86929699999999999</c:v>
                </c:pt>
                <c:pt idx="43">
                  <c:v>0.86586799999999997</c:v>
                </c:pt>
                <c:pt idx="44">
                  <c:v>0.83679999999999999</c:v>
                </c:pt>
                <c:pt idx="45">
                  <c:v>0.81377200000000005</c:v>
                </c:pt>
                <c:pt idx="46">
                  <c:v>0.78927099999999994</c:v>
                </c:pt>
                <c:pt idx="47">
                  <c:v>0.78435500000000002</c:v>
                </c:pt>
                <c:pt idx="48">
                  <c:v>0.74164300000000005</c:v>
                </c:pt>
                <c:pt idx="49">
                  <c:v>0.73987800000000004</c:v>
                </c:pt>
                <c:pt idx="50">
                  <c:v>0.71792</c:v>
                </c:pt>
                <c:pt idx="51">
                  <c:v>0.71700399999999997</c:v>
                </c:pt>
                <c:pt idx="52">
                  <c:v>0.70332600000000001</c:v>
                </c:pt>
                <c:pt idx="53">
                  <c:v>0.68075300000000005</c:v>
                </c:pt>
                <c:pt idx="54">
                  <c:v>0.65746800000000005</c:v>
                </c:pt>
                <c:pt idx="55">
                  <c:v>0.65691600000000006</c:v>
                </c:pt>
                <c:pt idx="56">
                  <c:v>0.64494799999999997</c:v>
                </c:pt>
                <c:pt idx="57">
                  <c:v>0.64254599999999995</c:v>
                </c:pt>
                <c:pt idx="58">
                  <c:v>0.62811700000000004</c:v>
                </c:pt>
                <c:pt idx="59">
                  <c:v>0.56904999999999994</c:v>
                </c:pt>
                <c:pt idx="60">
                  <c:v>0.55901299999999998</c:v>
                </c:pt>
                <c:pt idx="61">
                  <c:v>0.55862400000000001</c:v>
                </c:pt>
                <c:pt idx="62">
                  <c:v>0.54610999999999998</c:v>
                </c:pt>
                <c:pt idx="63">
                  <c:v>0.54521399999999998</c:v>
                </c:pt>
                <c:pt idx="64">
                  <c:v>0.54188000000000003</c:v>
                </c:pt>
                <c:pt idx="65">
                  <c:v>0.53218100000000002</c:v>
                </c:pt>
                <c:pt idx="66">
                  <c:v>0.52765799999999996</c:v>
                </c:pt>
                <c:pt idx="67">
                  <c:v>0.52429499999999996</c:v>
                </c:pt>
                <c:pt idx="68">
                  <c:v>0.52189200000000002</c:v>
                </c:pt>
                <c:pt idx="69">
                  <c:v>0.50858000000000003</c:v>
                </c:pt>
                <c:pt idx="70">
                  <c:v>0.50526199999999999</c:v>
                </c:pt>
                <c:pt idx="71">
                  <c:v>0.50146800000000002</c:v>
                </c:pt>
                <c:pt idx="72">
                  <c:v>0.49237199999999998</c:v>
                </c:pt>
                <c:pt idx="73">
                  <c:v>0.47404299999999999</c:v>
                </c:pt>
                <c:pt idx="74">
                  <c:v>0.471605</c:v>
                </c:pt>
                <c:pt idx="75">
                  <c:v>0.46638600000000002</c:v>
                </c:pt>
                <c:pt idx="76">
                  <c:v>0.46578000000000003</c:v>
                </c:pt>
                <c:pt idx="77">
                  <c:v>0.46234700000000001</c:v>
                </c:pt>
                <c:pt idx="78">
                  <c:v>0.460733</c:v>
                </c:pt>
                <c:pt idx="79">
                  <c:v>0.45137899999999997</c:v>
                </c:pt>
                <c:pt idx="80">
                  <c:v>0.44517299999999999</c:v>
                </c:pt>
                <c:pt idx="81">
                  <c:v>0.43354500000000001</c:v>
                </c:pt>
                <c:pt idx="82">
                  <c:v>0.43143900000000002</c:v>
                </c:pt>
                <c:pt idx="83">
                  <c:v>0.41912300000000002</c:v>
                </c:pt>
                <c:pt idx="84">
                  <c:v>0.418429</c:v>
                </c:pt>
                <c:pt idx="85">
                  <c:v>0.40336899999999998</c:v>
                </c:pt>
                <c:pt idx="86">
                  <c:v>0.39355699999999999</c:v>
                </c:pt>
                <c:pt idx="87">
                  <c:v>0.39233299999999999</c:v>
                </c:pt>
                <c:pt idx="88">
                  <c:v>0.38694899999999999</c:v>
                </c:pt>
                <c:pt idx="89">
                  <c:v>0.38158199999999998</c:v>
                </c:pt>
                <c:pt idx="90">
                  <c:v>0.37659999999999999</c:v>
                </c:pt>
                <c:pt idx="91">
                  <c:v>0.37563099999999999</c:v>
                </c:pt>
                <c:pt idx="92">
                  <c:v>0.374504</c:v>
                </c:pt>
                <c:pt idx="93">
                  <c:v>0.37190400000000001</c:v>
                </c:pt>
                <c:pt idx="94">
                  <c:v>0.36078900000000003</c:v>
                </c:pt>
                <c:pt idx="95">
                  <c:v>0.36030899999999999</c:v>
                </c:pt>
                <c:pt idx="96">
                  <c:v>0.35487400000000002</c:v>
                </c:pt>
                <c:pt idx="97">
                  <c:v>0.34961599999999998</c:v>
                </c:pt>
                <c:pt idx="98">
                  <c:v>0.34689999999999999</c:v>
                </c:pt>
                <c:pt idx="99">
                  <c:v>0.34579100000000002</c:v>
                </c:pt>
                <c:pt idx="100">
                  <c:v>0.34451700000000002</c:v>
                </c:pt>
                <c:pt idx="101">
                  <c:v>0.34213199999999999</c:v>
                </c:pt>
                <c:pt idx="102">
                  <c:v>0.33853299999999997</c:v>
                </c:pt>
                <c:pt idx="103">
                  <c:v>0.32578499999999999</c:v>
                </c:pt>
                <c:pt idx="104">
                  <c:v>0.32099</c:v>
                </c:pt>
                <c:pt idx="105">
                  <c:v>0.31925799999999999</c:v>
                </c:pt>
                <c:pt idx="106">
                  <c:v>0.31499899999999997</c:v>
                </c:pt>
                <c:pt idx="107">
                  <c:v>0.31279099999999999</c:v>
                </c:pt>
                <c:pt idx="108">
                  <c:v>0.30824000000000001</c:v>
                </c:pt>
                <c:pt idx="109">
                  <c:v>0.30530000000000002</c:v>
                </c:pt>
                <c:pt idx="110">
                  <c:v>0.30344599999999999</c:v>
                </c:pt>
                <c:pt idx="111">
                  <c:v>0.29168899999999998</c:v>
                </c:pt>
                <c:pt idx="112">
                  <c:v>0.284943</c:v>
                </c:pt>
                <c:pt idx="113">
                  <c:v>0.28172999999999998</c:v>
                </c:pt>
                <c:pt idx="114">
                  <c:v>0.28169699999999998</c:v>
                </c:pt>
                <c:pt idx="115">
                  <c:v>0.278304</c:v>
                </c:pt>
                <c:pt idx="116">
                  <c:v>0.27768300000000001</c:v>
                </c:pt>
                <c:pt idx="117">
                  <c:v>0.27732899999999999</c:v>
                </c:pt>
                <c:pt idx="118">
                  <c:v>0.27588499999999999</c:v>
                </c:pt>
                <c:pt idx="119">
                  <c:v>0.27119799999999999</c:v>
                </c:pt>
                <c:pt idx="120">
                  <c:v>0.264961</c:v>
                </c:pt>
                <c:pt idx="121">
                  <c:v>0.25907200000000002</c:v>
                </c:pt>
                <c:pt idx="122">
                  <c:v>0.25792700000000002</c:v>
                </c:pt>
                <c:pt idx="123">
                  <c:v>0.25691900000000001</c:v>
                </c:pt>
                <c:pt idx="124">
                  <c:v>0.25488300000000003</c:v>
                </c:pt>
                <c:pt idx="125">
                  <c:v>0.25377</c:v>
                </c:pt>
                <c:pt idx="126">
                  <c:v>0.25253700000000001</c:v>
                </c:pt>
                <c:pt idx="127">
                  <c:v>0.24629499999999999</c:v>
                </c:pt>
                <c:pt idx="128">
                  <c:v>0.24623999999999999</c:v>
                </c:pt>
                <c:pt idx="129">
                  <c:v>0.241115</c:v>
                </c:pt>
                <c:pt idx="130">
                  <c:v>0.24107200000000001</c:v>
                </c:pt>
                <c:pt idx="131">
                  <c:v>0.23899599999999999</c:v>
                </c:pt>
                <c:pt idx="132">
                  <c:v>0.231596</c:v>
                </c:pt>
                <c:pt idx="133">
                  <c:v>0.230626</c:v>
                </c:pt>
                <c:pt idx="134">
                  <c:v>0.23022400000000001</c:v>
                </c:pt>
                <c:pt idx="135">
                  <c:v>0.22684199999999999</c:v>
                </c:pt>
                <c:pt idx="136">
                  <c:v>0.224969</c:v>
                </c:pt>
                <c:pt idx="137">
                  <c:v>0.22123499999999999</c:v>
                </c:pt>
                <c:pt idx="138">
                  <c:v>0.21842600000000001</c:v>
                </c:pt>
                <c:pt idx="139">
                  <c:v>0.19988500000000001</c:v>
                </c:pt>
                <c:pt idx="140">
                  <c:v>0.19886999999999999</c:v>
                </c:pt>
                <c:pt idx="141">
                  <c:v>0.19875000000000001</c:v>
                </c:pt>
                <c:pt idx="142">
                  <c:v>0.19742799999999999</c:v>
                </c:pt>
                <c:pt idx="143">
                  <c:v>0.194131</c:v>
                </c:pt>
                <c:pt idx="144">
                  <c:v>0.18991</c:v>
                </c:pt>
                <c:pt idx="145">
                  <c:v>0.18179500000000001</c:v>
                </c:pt>
                <c:pt idx="146">
                  <c:v>0.18160000000000001</c:v>
                </c:pt>
                <c:pt idx="147">
                  <c:v>0.174785</c:v>
                </c:pt>
                <c:pt idx="148">
                  <c:v>0.171741</c:v>
                </c:pt>
                <c:pt idx="149">
                  <c:v>0.17152800000000001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12C-F512-4BA7-B525-0309C134ED20}"/>
            </c:ext>
          </c:extLst>
        </c:ser>
        <c:dLbls>
          <c:showLegendKey val="0"/>
          <c:showVal val="0"/>
          <c:showCatName val="0"/>
          <c:showSerName val="0"/>
          <c:showPercent val="0"/>
          <c:showBubbleSize val="0"/>
        </c:dLbls>
        <c:gapWidth val="25"/>
        <c:axId val="-2068027336"/>
        <c:axId val="-2113994440"/>
      </c:barChart>
      <c:catAx>
        <c:axId val="-2068027336"/>
        <c:scaling>
          <c:orientation val="minMax"/>
        </c:scaling>
        <c:delete val="0"/>
        <c:axPos val="b"/>
        <c:numFmt formatCode="General" sourceLinked="0"/>
        <c:majorTickMark val="none"/>
        <c:minorTickMark val="none"/>
        <c:tickLblPos val="none"/>
        <c:spPr>
          <a:ln w="9525">
            <a:solidFill>
              <a:srgbClr val="8A8F98"/>
            </a:solidFill>
          </a:ln>
        </c:spPr>
        <c:txPr>
          <a:bodyPr/>
          <a:lstStyle/>
          <a:p>
            <a:pPr>
              <a:defRPr sz="1000">
                <a:solidFill>
                  <a:srgbClr val="6B6B70"/>
                </a:solidFill>
                <a:latin typeface="Lato"/>
              </a:defRPr>
            </a:pPr>
            <a:endParaRPr lang="en-US"/>
          </a:p>
        </c:txPr>
        <c:crossAx val="-2113994440"/>
        <c:crosses val="autoZero"/>
        <c:auto val="1"/>
        <c:lblAlgn val="ctr"/>
        <c:lblOffset val="100"/>
        <c:noMultiLvlLbl val="0"/>
      </c:catAx>
      <c:valAx>
        <c:axId val="-2113994440"/>
        <c:scaling>
          <c:orientation val="minMax"/>
          <c:max val="4.5"/>
          <c:min val="0"/>
        </c:scaling>
        <c:delete val="0"/>
        <c:axPos val="l"/>
        <c:majorGridlines>
          <c:spPr>
            <a:ln w="9525">
              <a:solidFill>
                <a:srgbClr val="E4E4E6"/>
              </a:solidFill>
            </a:ln>
          </c:spPr>
        </c:majorGridlines>
        <c:numFmt formatCode="&quot;$&quot;0&quot;B&quot;" sourceLinked="0"/>
        <c:majorTickMark val="none"/>
        <c:minorTickMark val="none"/>
        <c:tickLblPos val="nextTo"/>
        <c:spPr>
          <a:ln>
            <a:noFill/>
          </a:ln>
        </c:spPr>
        <c:txPr>
          <a:bodyPr/>
          <a:lstStyle/>
          <a:p>
            <a:pPr>
              <a:defRPr sz="1100">
                <a:solidFill>
                  <a:srgbClr val="6B6B70"/>
                </a:solidFill>
                <a:latin typeface="Lato"/>
              </a:defRPr>
            </a:pPr>
            <a:endParaRPr lang="en-US"/>
          </a:p>
        </c:txPr>
        <c:crossAx val="-2068027336"/>
        <c:crosses val="autoZero"/>
        <c:crossBetween val="between"/>
        <c:majorUnit val="1"/>
      </c:valAx>
    </c:plotArea>
    <c:plotVisOnly val="1"/>
    <c:dispBlanksAs val="gap"/>
    <c:showDLblsOverMax val="1"/>
  </c:chart>
  <c:txPr>
    <a:bodyPr/>
    <a:lstStyle/>
    <a:p>
      <a:pPr>
        <a:defRPr sz="1000">
          <a:latin typeface="La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5.5E-2"/>
          <c:y val="0.03"/>
          <c:w val="0.93500000000000005"/>
          <c:h val="0.6"/>
        </c:manualLayout>
      </c:layout>
      <c:barChart>
        <c:barDir val="col"/>
        <c:grouping val="clustered"/>
        <c:varyColors val="1"/>
        <c:ser>
          <c:idx val="0"/>
          <c:order val="0"/>
          <c:tx>
            <c:strRef>
              <c:f>Sheet1!$B$1</c:f>
              <c:strCache>
                <c:ptCount val="1"/>
                <c:pt idx="0">
                  <c:v>R&amp;D</c:v>
                </c:pt>
              </c:strCache>
            </c:strRef>
          </c:tx>
          <c:invertIfNegative val="1"/>
          <c:dPt>
            <c:idx val="0"/>
            <c:invertIfNegative val="1"/>
            <c:bubble3D val="0"/>
            <c:spPr>
              <a:solidFill>
                <a:srgbClr val="000000"/>
              </a:solidFill>
            </c:spPr>
            <c:extLst>
              <c:ext xmlns:c16="http://schemas.microsoft.com/office/drawing/2014/chart" uri="{C3380CC4-5D6E-409C-BE32-E72D297353CC}">
                <c16:uniqueId val="{00000001-20ED-4B97-8E6B-74497B686389}"/>
              </c:ext>
            </c:extLst>
          </c:dPt>
          <c:dPt>
            <c:idx val="1"/>
            <c:invertIfNegative val="1"/>
            <c:bubble3D val="0"/>
            <c:spPr>
              <a:solidFill>
                <a:srgbClr val="000000"/>
              </a:solidFill>
            </c:spPr>
            <c:extLst>
              <c:ext xmlns:c16="http://schemas.microsoft.com/office/drawing/2014/chart" uri="{C3380CC4-5D6E-409C-BE32-E72D297353CC}">
                <c16:uniqueId val="{00000003-20ED-4B97-8E6B-74497B686389}"/>
              </c:ext>
            </c:extLst>
          </c:dPt>
          <c:dPt>
            <c:idx val="2"/>
            <c:invertIfNegative val="1"/>
            <c:bubble3D val="0"/>
            <c:spPr>
              <a:solidFill>
                <a:srgbClr val="000000"/>
              </a:solidFill>
            </c:spPr>
            <c:extLst>
              <c:ext xmlns:c16="http://schemas.microsoft.com/office/drawing/2014/chart" uri="{C3380CC4-5D6E-409C-BE32-E72D297353CC}">
                <c16:uniqueId val="{00000005-20ED-4B97-8E6B-74497B686389}"/>
              </c:ext>
            </c:extLst>
          </c:dPt>
          <c:dPt>
            <c:idx val="3"/>
            <c:invertIfNegative val="1"/>
            <c:bubble3D val="0"/>
            <c:spPr>
              <a:solidFill>
                <a:srgbClr val="000000"/>
              </a:solidFill>
            </c:spPr>
            <c:extLst>
              <c:ext xmlns:c16="http://schemas.microsoft.com/office/drawing/2014/chart" uri="{C3380CC4-5D6E-409C-BE32-E72D297353CC}">
                <c16:uniqueId val="{00000007-20ED-4B97-8E6B-74497B686389}"/>
              </c:ext>
            </c:extLst>
          </c:dPt>
          <c:dPt>
            <c:idx val="4"/>
            <c:invertIfNegative val="1"/>
            <c:bubble3D val="0"/>
            <c:spPr>
              <a:solidFill>
                <a:srgbClr val="000000"/>
              </a:solidFill>
            </c:spPr>
            <c:extLst>
              <c:ext xmlns:c16="http://schemas.microsoft.com/office/drawing/2014/chart" uri="{C3380CC4-5D6E-409C-BE32-E72D297353CC}">
                <c16:uniqueId val="{00000009-20ED-4B97-8E6B-74497B686389}"/>
              </c:ext>
            </c:extLst>
          </c:dPt>
          <c:dPt>
            <c:idx val="5"/>
            <c:invertIfNegative val="1"/>
            <c:bubble3D val="0"/>
            <c:spPr>
              <a:solidFill>
                <a:srgbClr val="000000"/>
              </a:solidFill>
            </c:spPr>
            <c:extLst>
              <c:ext xmlns:c16="http://schemas.microsoft.com/office/drawing/2014/chart" uri="{C3380CC4-5D6E-409C-BE32-E72D297353CC}">
                <c16:uniqueId val="{0000000B-20ED-4B97-8E6B-74497B686389}"/>
              </c:ext>
            </c:extLst>
          </c:dPt>
          <c:dPt>
            <c:idx val="6"/>
            <c:invertIfNegative val="1"/>
            <c:bubble3D val="0"/>
            <c:spPr>
              <a:solidFill>
                <a:srgbClr val="000000"/>
              </a:solidFill>
            </c:spPr>
            <c:extLst>
              <c:ext xmlns:c16="http://schemas.microsoft.com/office/drawing/2014/chart" uri="{C3380CC4-5D6E-409C-BE32-E72D297353CC}">
                <c16:uniqueId val="{0000000D-20ED-4B97-8E6B-74497B686389}"/>
              </c:ext>
            </c:extLst>
          </c:dPt>
          <c:dPt>
            <c:idx val="7"/>
            <c:invertIfNegative val="1"/>
            <c:bubble3D val="0"/>
            <c:spPr>
              <a:solidFill>
                <a:srgbClr val="000000"/>
              </a:solidFill>
            </c:spPr>
            <c:extLst>
              <c:ext xmlns:c16="http://schemas.microsoft.com/office/drawing/2014/chart" uri="{C3380CC4-5D6E-409C-BE32-E72D297353CC}">
                <c16:uniqueId val="{0000000F-20ED-4B97-8E6B-74497B686389}"/>
              </c:ext>
            </c:extLst>
          </c:dPt>
          <c:dPt>
            <c:idx val="8"/>
            <c:invertIfNegative val="1"/>
            <c:bubble3D val="0"/>
            <c:spPr>
              <a:solidFill>
                <a:srgbClr val="000000"/>
              </a:solidFill>
            </c:spPr>
            <c:extLst>
              <c:ext xmlns:c16="http://schemas.microsoft.com/office/drawing/2014/chart" uri="{C3380CC4-5D6E-409C-BE32-E72D297353CC}">
                <c16:uniqueId val="{00000011-20ED-4B97-8E6B-74497B686389}"/>
              </c:ext>
            </c:extLst>
          </c:dPt>
          <c:dPt>
            <c:idx val="9"/>
            <c:invertIfNegative val="1"/>
            <c:bubble3D val="0"/>
            <c:spPr>
              <a:solidFill>
                <a:srgbClr val="000000"/>
              </a:solidFill>
            </c:spPr>
            <c:extLst>
              <c:ext xmlns:c16="http://schemas.microsoft.com/office/drawing/2014/chart" uri="{C3380CC4-5D6E-409C-BE32-E72D297353CC}">
                <c16:uniqueId val="{00000013-20ED-4B97-8E6B-74497B686389}"/>
              </c:ext>
            </c:extLst>
          </c:dPt>
          <c:dPt>
            <c:idx val="10"/>
            <c:invertIfNegative val="1"/>
            <c:bubble3D val="0"/>
            <c:spPr>
              <a:solidFill>
                <a:srgbClr val="000000"/>
              </a:solidFill>
            </c:spPr>
            <c:extLst>
              <c:ext xmlns:c16="http://schemas.microsoft.com/office/drawing/2014/chart" uri="{C3380CC4-5D6E-409C-BE32-E72D297353CC}">
                <c16:uniqueId val="{00000015-20ED-4B97-8E6B-74497B686389}"/>
              </c:ext>
            </c:extLst>
          </c:dPt>
          <c:dPt>
            <c:idx val="11"/>
            <c:invertIfNegative val="1"/>
            <c:bubble3D val="0"/>
            <c:spPr>
              <a:solidFill>
                <a:srgbClr val="000000"/>
              </a:solidFill>
            </c:spPr>
            <c:extLst>
              <c:ext xmlns:c16="http://schemas.microsoft.com/office/drawing/2014/chart" uri="{C3380CC4-5D6E-409C-BE32-E72D297353CC}">
                <c16:uniqueId val="{00000017-20ED-4B97-8E6B-74497B686389}"/>
              </c:ext>
            </c:extLst>
          </c:dPt>
          <c:dPt>
            <c:idx val="12"/>
            <c:invertIfNegative val="1"/>
            <c:bubble3D val="0"/>
            <c:spPr>
              <a:solidFill>
                <a:srgbClr val="000000"/>
              </a:solidFill>
            </c:spPr>
            <c:extLst>
              <c:ext xmlns:c16="http://schemas.microsoft.com/office/drawing/2014/chart" uri="{C3380CC4-5D6E-409C-BE32-E72D297353CC}">
                <c16:uniqueId val="{00000019-20ED-4B97-8E6B-74497B686389}"/>
              </c:ext>
            </c:extLst>
          </c:dPt>
          <c:dPt>
            <c:idx val="13"/>
            <c:invertIfNegative val="1"/>
            <c:bubble3D val="0"/>
            <c:spPr>
              <a:solidFill>
                <a:srgbClr val="000000"/>
              </a:solidFill>
            </c:spPr>
            <c:extLst>
              <c:ext xmlns:c16="http://schemas.microsoft.com/office/drawing/2014/chart" uri="{C3380CC4-5D6E-409C-BE32-E72D297353CC}">
                <c16:uniqueId val="{0000001B-20ED-4B97-8E6B-74497B686389}"/>
              </c:ext>
            </c:extLst>
          </c:dPt>
          <c:dPt>
            <c:idx val="14"/>
            <c:invertIfNegative val="1"/>
            <c:bubble3D val="0"/>
            <c:spPr>
              <a:solidFill>
                <a:srgbClr val="B8BBBD"/>
              </a:solidFill>
            </c:spPr>
            <c:extLst>
              <c:ext xmlns:c16="http://schemas.microsoft.com/office/drawing/2014/chart" uri="{C3380CC4-5D6E-409C-BE32-E72D297353CC}">
                <c16:uniqueId val="{0000001D-20ED-4B97-8E6B-74497B686389}"/>
              </c:ext>
            </c:extLst>
          </c:dPt>
          <c:dPt>
            <c:idx val="15"/>
            <c:invertIfNegative val="1"/>
            <c:bubble3D val="0"/>
            <c:spPr>
              <a:solidFill>
                <a:srgbClr val="000000"/>
              </a:solidFill>
            </c:spPr>
            <c:extLst>
              <c:ext xmlns:c16="http://schemas.microsoft.com/office/drawing/2014/chart" uri="{C3380CC4-5D6E-409C-BE32-E72D297353CC}">
                <c16:uniqueId val="{0000001F-20ED-4B97-8E6B-74497B686389}"/>
              </c:ext>
            </c:extLst>
          </c:dPt>
          <c:dPt>
            <c:idx val="16"/>
            <c:invertIfNegative val="1"/>
            <c:bubble3D val="0"/>
            <c:spPr>
              <a:solidFill>
                <a:srgbClr val="000000"/>
              </a:solidFill>
            </c:spPr>
            <c:extLst>
              <c:ext xmlns:c16="http://schemas.microsoft.com/office/drawing/2014/chart" uri="{C3380CC4-5D6E-409C-BE32-E72D297353CC}">
                <c16:uniqueId val="{00000021-20ED-4B97-8E6B-74497B686389}"/>
              </c:ext>
            </c:extLst>
          </c:dPt>
          <c:dPt>
            <c:idx val="17"/>
            <c:invertIfNegative val="1"/>
            <c:bubble3D val="0"/>
            <c:spPr>
              <a:solidFill>
                <a:srgbClr val="000000"/>
              </a:solidFill>
            </c:spPr>
            <c:extLst>
              <c:ext xmlns:c16="http://schemas.microsoft.com/office/drawing/2014/chart" uri="{C3380CC4-5D6E-409C-BE32-E72D297353CC}">
                <c16:uniqueId val="{00000023-20ED-4B97-8E6B-74497B686389}"/>
              </c:ext>
            </c:extLst>
          </c:dPt>
          <c:dPt>
            <c:idx val="18"/>
            <c:invertIfNegative val="1"/>
            <c:bubble3D val="0"/>
            <c:spPr>
              <a:solidFill>
                <a:srgbClr val="000000"/>
              </a:solidFill>
            </c:spPr>
            <c:extLst>
              <c:ext xmlns:c16="http://schemas.microsoft.com/office/drawing/2014/chart" uri="{C3380CC4-5D6E-409C-BE32-E72D297353CC}">
                <c16:uniqueId val="{00000025-20ED-4B97-8E6B-74497B686389}"/>
              </c:ext>
            </c:extLst>
          </c:dPt>
          <c:dPt>
            <c:idx val="19"/>
            <c:invertIfNegative val="1"/>
            <c:bubble3D val="0"/>
            <c:spPr>
              <a:solidFill>
                <a:srgbClr val="000000"/>
              </a:solidFill>
            </c:spPr>
            <c:extLst>
              <c:ext xmlns:c16="http://schemas.microsoft.com/office/drawing/2014/chart" uri="{C3380CC4-5D6E-409C-BE32-E72D297353CC}">
                <c16:uniqueId val="{00000027-20ED-4B97-8E6B-74497B686389}"/>
              </c:ext>
            </c:extLst>
          </c:dPt>
          <c:dPt>
            <c:idx val="20"/>
            <c:invertIfNegative val="1"/>
            <c:bubble3D val="0"/>
            <c:spPr>
              <a:solidFill>
                <a:srgbClr val="000000"/>
              </a:solidFill>
            </c:spPr>
            <c:extLst>
              <c:ext xmlns:c16="http://schemas.microsoft.com/office/drawing/2014/chart" uri="{C3380CC4-5D6E-409C-BE32-E72D297353CC}">
                <c16:uniqueId val="{00000029-20ED-4B97-8E6B-74497B686389}"/>
              </c:ext>
            </c:extLst>
          </c:dPt>
          <c:dPt>
            <c:idx val="21"/>
            <c:invertIfNegative val="1"/>
            <c:bubble3D val="0"/>
            <c:spPr>
              <a:solidFill>
                <a:srgbClr val="B8BBBD"/>
              </a:solidFill>
            </c:spPr>
            <c:extLst>
              <c:ext xmlns:c16="http://schemas.microsoft.com/office/drawing/2014/chart" uri="{C3380CC4-5D6E-409C-BE32-E72D297353CC}">
                <c16:uniqueId val="{0000002B-20ED-4B97-8E6B-74497B686389}"/>
              </c:ext>
            </c:extLst>
          </c:dPt>
          <c:dPt>
            <c:idx val="22"/>
            <c:invertIfNegative val="1"/>
            <c:bubble3D val="0"/>
            <c:spPr>
              <a:solidFill>
                <a:srgbClr val="B8BBBD"/>
              </a:solidFill>
            </c:spPr>
            <c:extLst>
              <c:ext xmlns:c16="http://schemas.microsoft.com/office/drawing/2014/chart" uri="{C3380CC4-5D6E-409C-BE32-E72D297353CC}">
                <c16:uniqueId val="{0000002D-20ED-4B97-8E6B-74497B686389}"/>
              </c:ext>
            </c:extLst>
          </c:dPt>
          <c:dPt>
            <c:idx val="23"/>
            <c:invertIfNegative val="1"/>
            <c:bubble3D val="0"/>
            <c:spPr>
              <a:solidFill>
                <a:srgbClr val="B8BBBD"/>
              </a:solidFill>
            </c:spPr>
            <c:extLst>
              <c:ext xmlns:c16="http://schemas.microsoft.com/office/drawing/2014/chart" uri="{C3380CC4-5D6E-409C-BE32-E72D297353CC}">
                <c16:uniqueId val="{0000002F-20ED-4B97-8E6B-74497B686389}"/>
              </c:ext>
            </c:extLst>
          </c:dPt>
          <c:dPt>
            <c:idx val="24"/>
            <c:invertIfNegative val="1"/>
            <c:bubble3D val="0"/>
            <c:spPr>
              <a:solidFill>
                <a:srgbClr val="000000"/>
              </a:solidFill>
            </c:spPr>
            <c:extLst>
              <c:ext xmlns:c16="http://schemas.microsoft.com/office/drawing/2014/chart" uri="{C3380CC4-5D6E-409C-BE32-E72D297353CC}">
                <c16:uniqueId val="{00000031-20ED-4B97-8E6B-74497B686389}"/>
              </c:ext>
            </c:extLst>
          </c:dPt>
          <c:dPt>
            <c:idx val="25"/>
            <c:invertIfNegative val="1"/>
            <c:bubble3D val="0"/>
            <c:spPr>
              <a:solidFill>
                <a:srgbClr val="B8BBBD"/>
              </a:solidFill>
            </c:spPr>
            <c:extLst>
              <c:ext xmlns:c16="http://schemas.microsoft.com/office/drawing/2014/chart" uri="{C3380CC4-5D6E-409C-BE32-E72D297353CC}">
                <c16:uniqueId val="{00000033-20ED-4B97-8E6B-74497B686389}"/>
              </c:ext>
            </c:extLst>
          </c:dPt>
          <c:dPt>
            <c:idx val="26"/>
            <c:invertIfNegative val="1"/>
            <c:bubble3D val="0"/>
            <c:spPr>
              <a:solidFill>
                <a:srgbClr val="000000"/>
              </a:solidFill>
            </c:spPr>
            <c:extLst>
              <c:ext xmlns:c16="http://schemas.microsoft.com/office/drawing/2014/chart" uri="{C3380CC4-5D6E-409C-BE32-E72D297353CC}">
                <c16:uniqueId val="{00000035-20ED-4B97-8E6B-74497B686389}"/>
              </c:ext>
            </c:extLst>
          </c:dPt>
          <c:dPt>
            <c:idx val="27"/>
            <c:invertIfNegative val="1"/>
            <c:bubble3D val="0"/>
            <c:spPr>
              <a:solidFill>
                <a:srgbClr val="000000"/>
              </a:solidFill>
            </c:spPr>
            <c:extLst>
              <c:ext xmlns:c16="http://schemas.microsoft.com/office/drawing/2014/chart" uri="{C3380CC4-5D6E-409C-BE32-E72D297353CC}">
                <c16:uniqueId val="{00000037-20ED-4B97-8E6B-74497B686389}"/>
              </c:ext>
            </c:extLst>
          </c:dPt>
          <c:dPt>
            <c:idx val="28"/>
            <c:invertIfNegative val="1"/>
            <c:bubble3D val="0"/>
            <c:spPr>
              <a:solidFill>
                <a:srgbClr val="000000"/>
              </a:solidFill>
            </c:spPr>
            <c:extLst>
              <c:ext xmlns:c16="http://schemas.microsoft.com/office/drawing/2014/chart" uri="{C3380CC4-5D6E-409C-BE32-E72D297353CC}">
                <c16:uniqueId val="{00000039-20ED-4B97-8E6B-74497B686389}"/>
              </c:ext>
            </c:extLst>
          </c:dPt>
          <c:dPt>
            <c:idx val="29"/>
            <c:invertIfNegative val="1"/>
            <c:bubble3D val="0"/>
            <c:spPr>
              <a:solidFill>
                <a:srgbClr val="000000"/>
              </a:solidFill>
            </c:spPr>
            <c:extLst>
              <c:ext xmlns:c16="http://schemas.microsoft.com/office/drawing/2014/chart" uri="{C3380CC4-5D6E-409C-BE32-E72D297353CC}">
                <c16:uniqueId val="{0000003B-20ED-4B97-8E6B-74497B686389}"/>
              </c:ext>
            </c:extLst>
          </c:dPt>
          <c:dPt>
            <c:idx val="30"/>
            <c:invertIfNegative val="1"/>
            <c:bubble3D val="0"/>
            <c:spPr>
              <a:solidFill>
                <a:srgbClr val="000000"/>
              </a:solidFill>
            </c:spPr>
            <c:extLst>
              <c:ext xmlns:c16="http://schemas.microsoft.com/office/drawing/2014/chart" uri="{C3380CC4-5D6E-409C-BE32-E72D297353CC}">
                <c16:uniqueId val="{0000003D-20ED-4B97-8E6B-74497B686389}"/>
              </c:ext>
            </c:extLst>
          </c:dPt>
          <c:dPt>
            <c:idx val="31"/>
            <c:invertIfNegative val="1"/>
            <c:bubble3D val="0"/>
            <c:spPr>
              <a:solidFill>
                <a:srgbClr val="000000"/>
              </a:solidFill>
            </c:spPr>
            <c:extLst>
              <c:ext xmlns:c16="http://schemas.microsoft.com/office/drawing/2014/chart" uri="{C3380CC4-5D6E-409C-BE32-E72D297353CC}">
                <c16:uniqueId val="{0000003F-20ED-4B97-8E6B-74497B686389}"/>
              </c:ext>
            </c:extLst>
          </c:dPt>
          <c:dPt>
            <c:idx val="32"/>
            <c:invertIfNegative val="1"/>
            <c:bubble3D val="0"/>
            <c:spPr>
              <a:solidFill>
                <a:srgbClr val="C8102E"/>
              </a:solidFill>
            </c:spPr>
            <c:extLst>
              <c:ext xmlns:c16="http://schemas.microsoft.com/office/drawing/2014/chart" uri="{C3380CC4-5D6E-409C-BE32-E72D297353CC}">
                <c16:uniqueId val="{00000041-20ED-4B97-8E6B-74497B686389}"/>
              </c:ext>
            </c:extLst>
          </c:dPt>
          <c:dPt>
            <c:idx val="33"/>
            <c:invertIfNegative val="1"/>
            <c:bubble3D val="0"/>
            <c:spPr>
              <a:solidFill>
                <a:srgbClr val="B8BBBD"/>
              </a:solidFill>
            </c:spPr>
            <c:extLst>
              <c:ext xmlns:c16="http://schemas.microsoft.com/office/drawing/2014/chart" uri="{C3380CC4-5D6E-409C-BE32-E72D297353CC}">
                <c16:uniqueId val="{00000043-20ED-4B97-8E6B-74497B686389}"/>
              </c:ext>
            </c:extLst>
          </c:dPt>
          <c:dPt>
            <c:idx val="34"/>
            <c:invertIfNegative val="1"/>
            <c:bubble3D val="0"/>
            <c:spPr>
              <a:solidFill>
                <a:srgbClr val="000000"/>
              </a:solidFill>
            </c:spPr>
            <c:extLst>
              <c:ext xmlns:c16="http://schemas.microsoft.com/office/drawing/2014/chart" uri="{C3380CC4-5D6E-409C-BE32-E72D297353CC}">
                <c16:uniqueId val="{00000045-20ED-4B97-8E6B-74497B686389}"/>
              </c:ext>
            </c:extLst>
          </c:dPt>
          <c:dPt>
            <c:idx val="35"/>
            <c:invertIfNegative val="1"/>
            <c:bubble3D val="0"/>
            <c:spPr>
              <a:solidFill>
                <a:srgbClr val="B8BBBD"/>
              </a:solidFill>
            </c:spPr>
            <c:extLst>
              <c:ext xmlns:c16="http://schemas.microsoft.com/office/drawing/2014/chart" uri="{C3380CC4-5D6E-409C-BE32-E72D297353CC}">
                <c16:uniqueId val="{00000047-20ED-4B97-8E6B-74497B686389}"/>
              </c:ext>
            </c:extLst>
          </c:dPt>
          <c:dPt>
            <c:idx val="36"/>
            <c:invertIfNegative val="1"/>
            <c:bubble3D val="0"/>
            <c:spPr>
              <a:solidFill>
                <a:srgbClr val="B8BBBD"/>
              </a:solidFill>
            </c:spPr>
            <c:extLst>
              <c:ext xmlns:c16="http://schemas.microsoft.com/office/drawing/2014/chart" uri="{C3380CC4-5D6E-409C-BE32-E72D297353CC}">
                <c16:uniqueId val="{00000049-20ED-4B97-8E6B-74497B686389}"/>
              </c:ext>
            </c:extLst>
          </c:dPt>
          <c:dPt>
            <c:idx val="37"/>
            <c:invertIfNegative val="1"/>
            <c:bubble3D val="0"/>
            <c:spPr>
              <a:solidFill>
                <a:srgbClr val="000000"/>
              </a:solidFill>
            </c:spPr>
            <c:extLst>
              <c:ext xmlns:c16="http://schemas.microsoft.com/office/drawing/2014/chart" uri="{C3380CC4-5D6E-409C-BE32-E72D297353CC}">
                <c16:uniqueId val="{0000004B-20ED-4B97-8E6B-74497B686389}"/>
              </c:ext>
            </c:extLst>
          </c:dPt>
          <c:dPt>
            <c:idx val="38"/>
            <c:invertIfNegative val="1"/>
            <c:bubble3D val="0"/>
            <c:spPr>
              <a:solidFill>
                <a:srgbClr val="B8BBBD"/>
              </a:solidFill>
            </c:spPr>
            <c:extLst>
              <c:ext xmlns:c16="http://schemas.microsoft.com/office/drawing/2014/chart" uri="{C3380CC4-5D6E-409C-BE32-E72D297353CC}">
                <c16:uniqueId val="{0000004D-20ED-4B97-8E6B-74497B686389}"/>
              </c:ext>
            </c:extLst>
          </c:dPt>
          <c:dPt>
            <c:idx val="39"/>
            <c:invertIfNegative val="1"/>
            <c:bubble3D val="0"/>
            <c:spPr>
              <a:solidFill>
                <a:srgbClr val="000000"/>
              </a:solidFill>
            </c:spPr>
            <c:extLst>
              <c:ext xmlns:c16="http://schemas.microsoft.com/office/drawing/2014/chart" uri="{C3380CC4-5D6E-409C-BE32-E72D297353CC}">
                <c16:uniqueId val="{0000004F-20ED-4B97-8E6B-74497B686389}"/>
              </c:ext>
            </c:extLst>
          </c:dPt>
          <c:dPt>
            <c:idx val="40"/>
            <c:invertIfNegative val="1"/>
            <c:bubble3D val="0"/>
            <c:spPr>
              <a:solidFill>
                <a:srgbClr val="000000"/>
              </a:solidFill>
            </c:spPr>
            <c:extLst>
              <c:ext xmlns:c16="http://schemas.microsoft.com/office/drawing/2014/chart" uri="{C3380CC4-5D6E-409C-BE32-E72D297353CC}">
                <c16:uniqueId val="{00000051-20ED-4B97-8E6B-74497B686389}"/>
              </c:ext>
            </c:extLst>
          </c:dPt>
          <c:dPt>
            <c:idx val="41"/>
            <c:invertIfNegative val="1"/>
            <c:bubble3D val="0"/>
            <c:spPr>
              <a:solidFill>
                <a:srgbClr val="B8BBBD"/>
              </a:solidFill>
            </c:spPr>
            <c:extLst>
              <c:ext xmlns:c16="http://schemas.microsoft.com/office/drawing/2014/chart" uri="{C3380CC4-5D6E-409C-BE32-E72D297353CC}">
                <c16:uniqueId val="{00000053-20ED-4B97-8E6B-74497B686389}"/>
              </c:ext>
            </c:extLst>
          </c:dPt>
          <c:dPt>
            <c:idx val="42"/>
            <c:invertIfNegative val="1"/>
            <c:bubble3D val="0"/>
            <c:spPr>
              <a:solidFill>
                <a:srgbClr val="B8BBBD"/>
              </a:solidFill>
            </c:spPr>
            <c:extLst>
              <c:ext xmlns:c16="http://schemas.microsoft.com/office/drawing/2014/chart" uri="{C3380CC4-5D6E-409C-BE32-E72D297353CC}">
                <c16:uniqueId val="{00000055-20ED-4B97-8E6B-74497B686389}"/>
              </c:ext>
            </c:extLst>
          </c:dPt>
          <c:dPt>
            <c:idx val="43"/>
            <c:invertIfNegative val="1"/>
            <c:bubble3D val="0"/>
            <c:spPr>
              <a:solidFill>
                <a:srgbClr val="000000"/>
              </a:solidFill>
            </c:spPr>
            <c:extLst>
              <c:ext xmlns:c16="http://schemas.microsoft.com/office/drawing/2014/chart" uri="{C3380CC4-5D6E-409C-BE32-E72D297353CC}">
                <c16:uniqueId val="{00000057-20ED-4B97-8E6B-74497B686389}"/>
              </c:ext>
            </c:extLst>
          </c:dPt>
          <c:dPt>
            <c:idx val="44"/>
            <c:invertIfNegative val="1"/>
            <c:bubble3D val="0"/>
            <c:spPr>
              <a:solidFill>
                <a:srgbClr val="B8BBBD"/>
              </a:solidFill>
            </c:spPr>
            <c:extLst>
              <c:ext xmlns:c16="http://schemas.microsoft.com/office/drawing/2014/chart" uri="{C3380CC4-5D6E-409C-BE32-E72D297353CC}">
                <c16:uniqueId val="{00000059-20ED-4B97-8E6B-74497B686389}"/>
              </c:ext>
            </c:extLst>
          </c:dPt>
          <c:dPt>
            <c:idx val="45"/>
            <c:invertIfNegative val="1"/>
            <c:bubble3D val="0"/>
            <c:spPr>
              <a:solidFill>
                <a:srgbClr val="B8BBBD"/>
              </a:solidFill>
            </c:spPr>
            <c:extLst>
              <c:ext xmlns:c16="http://schemas.microsoft.com/office/drawing/2014/chart" uri="{C3380CC4-5D6E-409C-BE32-E72D297353CC}">
                <c16:uniqueId val="{0000005B-20ED-4B97-8E6B-74497B686389}"/>
              </c:ext>
            </c:extLst>
          </c:dPt>
          <c:dPt>
            <c:idx val="46"/>
            <c:invertIfNegative val="1"/>
            <c:bubble3D val="0"/>
            <c:spPr>
              <a:solidFill>
                <a:srgbClr val="000000"/>
              </a:solidFill>
            </c:spPr>
            <c:extLst>
              <c:ext xmlns:c16="http://schemas.microsoft.com/office/drawing/2014/chart" uri="{C3380CC4-5D6E-409C-BE32-E72D297353CC}">
                <c16:uniqueId val="{0000005D-20ED-4B97-8E6B-74497B686389}"/>
              </c:ext>
            </c:extLst>
          </c:dPt>
          <c:dPt>
            <c:idx val="47"/>
            <c:invertIfNegative val="1"/>
            <c:bubble3D val="0"/>
            <c:spPr>
              <a:solidFill>
                <a:srgbClr val="B8BBBD"/>
              </a:solidFill>
            </c:spPr>
            <c:extLst>
              <c:ext xmlns:c16="http://schemas.microsoft.com/office/drawing/2014/chart" uri="{C3380CC4-5D6E-409C-BE32-E72D297353CC}">
                <c16:uniqueId val="{0000005F-20ED-4B97-8E6B-74497B686389}"/>
              </c:ext>
            </c:extLst>
          </c:dPt>
          <c:dPt>
            <c:idx val="48"/>
            <c:invertIfNegative val="1"/>
            <c:bubble3D val="0"/>
            <c:spPr>
              <a:solidFill>
                <a:srgbClr val="B8BBBD"/>
              </a:solidFill>
            </c:spPr>
            <c:extLst>
              <c:ext xmlns:c16="http://schemas.microsoft.com/office/drawing/2014/chart" uri="{C3380CC4-5D6E-409C-BE32-E72D297353CC}">
                <c16:uniqueId val="{00000061-20ED-4B97-8E6B-74497B686389}"/>
              </c:ext>
            </c:extLst>
          </c:dPt>
          <c:dPt>
            <c:idx val="49"/>
            <c:invertIfNegative val="1"/>
            <c:bubble3D val="0"/>
            <c:spPr>
              <a:solidFill>
                <a:srgbClr val="B8BBBD"/>
              </a:solidFill>
            </c:spPr>
            <c:extLst>
              <c:ext xmlns:c16="http://schemas.microsoft.com/office/drawing/2014/chart" uri="{C3380CC4-5D6E-409C-BE32-E72D297353CC}">
                <c16:uniqueId val="{00000063-20ED-4B97-8E6B-74497B686389}"/>
              </c:ext>
            </c:extLst>
          </c:dPt>
          <c:cat>
            <c:strRef>
              <c:f>Sheet1!$A$2:$A$51</c:f>
              <c:strCache>
                <c:ptCount val="50"/>
                <c:pt idx="0">
                  <c:v>Johns Hopkins U.</c:v>
                </c:pt>
                <c:pt idx="1">
                  <c:v>U. Pennsylvania</c:v>
                </c:pt>
                <c:pt idx="2">
                  <c:v>Stanford U.</c:v>
                </c:pt>
                <c:pt idx="3">
                  <c:v>Cornell U.</c:v>
                </c:pt>
                <c:pt idx="4">
                  <c:v>Duke U.</c:v>
                </c:pt>
                <c:pt idx="5">
                  <c:v>Yale U.</c:v>
                </c:pt>
                <c:pt idx="6">
                  <c:v>New York U.</c:v>
                </c:pt>
                <c:pt idx="7">
                  <c:v>Harvard U.</c:v>
                </c:pt>
                <c:pt idx="8">
                  <c:v>Columbia U.</c:v>
                </c:pt>
                <c:pt idx="9">
                  <c:v>Vanderbilt U.</c:v>
                </c:pt>
                <c:pt idx="10">
                  <c:v>U. Southern California</c:v>
                </c:pt>
                <c:pt idx="11">
                  <c:v>Northwestern U.</c:v>
                </c:pt>
                <c:pt idx="12">
                  <c:v>Emory U.</c:v>
                </c:pt>
                <c:pt idx="13">
                  <c:v>Washington U. St. Louis</c:v>
                </c:pt>
                <c:pt idx="14">
                  <c:v>MIT</c:v>
                </c:pt>
                <c:pt idx="15">
                  <c:v>Icahn Mount Sinai</c:v>
                </c:pt>
                <c:pt idx="16">
                  <c:v>Baylor C. of Medicine</c:v>
                </c:pt>
                <c:pt idx="17">
                  <c:v>Boston U.</c:v>
                </c:pt>
                <c:pt idx="18">
                  <c:v>U. Chicago</c:v>
                </c:pt>
                <c:pt idx="19">
                  <c:v>Case Western Reserve U.</c:v>
                </c:pt>
                <c:pt idx="20">
                  <c:v>U. Miami</c:v>
                </c:pt>
                <c:pt idx="21">
                  <c:v>Princeton U.</c:v>
                </c:pt>
                <c:pt idx="22">
                  <c:v>Carnegie Mellon U.</c:v>
                </c:pt>
                <c:pt idx="23">
                  <c:v>Scripps Research</c:v>
                </c:pt>
                <c:pt idx="24">
                  <c:v>U. Rochester</c:v>
                </c:pt>
                <c:pt idx="25">
                  <c:v>Caltech</c:v>
                </c:pt>
                <c:pt idx="26">
                  <c:v>Dartmouth</c:v>
                </c:pt>
                <c:pt idx="27">
                  <c:v>George Washington U.</c:v>
                </c:pt>
                <c:pt idx="28">
                  <c:v>Georgetown U.</c:v>
                </c:pt>
                <c:pt idx="29">
                  <c:v>Brown U.</c:v>
                </c:pt>
                <c:pt idx="30">
                  <c:v>Albert Einstein C. Med.</c:v>
                </c:pt>
                <c:pt idx="31">
                  <c:v>Medical C. Wisconsin</c:v>
                </c:pt>
                <c:pt idx="32">
                  <c:v>Northeastern U.</c:v>
                </c:pt>
                <c:pt idx="33">
                  <c:v>U. Notre Dame</c:v>
                </c:pt>
                <c:pt idx="34">
                  <c:v>Wake Forest U.</c:v>
                </c:pt>
                <c:pt idx="35">
                  <c:v>Woods Hole</c:v>
                </c:pt>
                <c:pt idx="36">
                  <c:v>Rockefeller U.</c:v>
                </c:pt>
                <c:pt idx="37">
                  <c:v>Tufts U.</c:v>
                </c:pt>
                <c:pt idx="38">
                  <c:v>Rice U.</c:v>
                </c:pt>
                <c:pt idx="39">
                  <c:v>Tulane U.</c:v>
                </c:pt>
                <c:pt idx="40">
                  <c:v>Thomas Jefferson U.</c:v>
                </c:pt>
                <c:pt idx="41">
                  <c:v>U. Dayton</c:v>
                </c:pt>
                <c:pt idx="42">
                  <c:v>Syracuse U.</c:v>
                </c:pt>
                <c:pt idx="43">
                  <c:v>Drexel U.</c:v>
                </c:pt>
                <c:pt idx="44">
                  <c:v>Brigham Young U.</c:v>
                </c:pt>
                <c:pt idx="45">
                  <c:v>Rensselaer Polytechnic</c:v>
                </c:pt>
                <c:pt idx="46">
                  <c:v>Rush U.</c:v>
                </c:pt>
                <c:pt idx="47">
                  <c:v>Baylor U.</c:v>
                </c:pt>
                <c:pt idx="48">
                  <c:v>Cold Spring Harbor Lab</c:v>
                </c:pt>
                <c:pt idx="49">
                  <c:v>Brandeis U.</c:v>
                </c:pt>
              </c:strCache>
            </c:strRef>
          </c:cat>
          <c:val>
            <c:numRef>
              <c:f>Sheet1!$B$2:$B$51</c:f>
              <c:numCache>
                <c:formatCode>General</c:formatCode>
                <c:ptCount val="50"/>
                <c:pt idx="0">
                  <c:v>4.129264</c:v>
                </c:pt>
                <c:pt idx="1">
                  <c:v>2.1675040000000001</c:v>
                </c:pt>
                <c:pt idx="2">
                  <c:v>1.641961</c:v>
                </c:pt>
                <c:pt idx="3">
                  <c:v>1.613631</c:v>
                </c:pt>
                <c:pt idx="4">
                  <c:v>1.580756</c:v>
                </c:pt>
                <c:pt idx="5">
                  <c:v>1.5196940000000001</c:v>
                </c:pt>
                <c:pt idx="6">
                  <c:v>1.500732</c:v>
                </c:pt>
                <c:pt idx="7">
                  <c:v>1.4945269999999999</c:v>
                </c:pt>
                <c:pt idx="8">
                  <c:v>1.449535</c:v>
                </c:pt>
                <c:pt idx="9">
                  <c:v>1.3278700000000001</c:v>
                </c:pt>
                <c:pt idx="10">
                  <c:v>1.264197</c:v>
                </c:pt>
                <c:pt idx="11">
                  <c:v>1.2578590000000001</c:v>
                </c:pt>
                <c:pt idx="12">
                  <c:v>1.246507</c:v>
                </c:pt>
                <c:pt idx="13">
                  <c:v>1.243115</c:v>
                </c:pt>
                <c:pt idx="14">
                  <c:v>1.0655539999999999</c:v>
                </c:pt>
                <c:pt idx="15">
                  <c:v>1.0156000000000001</c:v>
                </c:pt>
                <c:pt idx="16">
                  <c:v>0.88122599999999995</c:v>
                </c:pt>
                <c:pt idx="17">
                  <c:v>0.78435500000000002</c:v>
                </c:pt>
                <c:pt idx="18">
                  <c:v>0.68075300000000005</c:v>
                </c:pt>
                <c:pt idx="19">
                  <c:v>0.64254599999999995</c:v>
                </c:pt>
                <c:pt idx="20">
                  <c:v>0.55901299999999998</c:v>
                </c:pt>
                <c:pt idx="21">
                  <c:v>0.55862400000000001</c:v>
                </c:pt>
                <c:pt idx="22">
                  <c:v>0.50526199999999999</c:v>
                </c:pt>
                <c:pt idx="23">
                  <c:v>0.50146800000000002</c:v>
                </c:pt>
                <c:pt idx="24">
                  <c:v>0.49237199999999998</c:v>
                </c:pt>
                <c:pt idx="25">
                  <c:v>0.44517299999999999</c:v>
                </c:pt>
                <c:pt idx="26">
                  <c:v>0.418429</c:v>
                </c:pt>
                <c:pt idx="27">
                  <c:v>0.38158199999999998</c:v>
                </c:pt>
                <c:pt idx="28">
                  <c:v>0.37659999999999999</c:v>
                </c:pt>
                <c:pt idx="29">
                  <c:v>0.374504</c:v>
                </c:pt>
                <c:pt idx="30">
                  <c:v>0.36078900000000003</c:v>
                </c:pt>
                <c:pt idx="31">
                  <c:v>0.36030899999999999</c:v>
                </c:pt>
                <c:pt idx="32">
                  <c:v>0.34689999999999999</c:v>
                </c:pt>
                <c:pt idx="33">
                  <c:v>0.34579100000000002</c:v>
                </c:pt>
                <c:pt idx="34">
                  <c:v>0.34451700000000002</c:v>
                </c:pt>
                <c:pt idx="35">
                  <c:v>0.30824000000000001</c:v>
                </c:pt>
                <c:pt idx="36">
                  <c:v>0.30530000000000002</c:v>
                </c:pt>
                <c:pt idx="37">
                  <c:v>0.278304</c:v>
                </c:pt>
                <c:pt idx="38">
                  <c:v>0.27768300000000001</c:v>
                </c:pt>
                <c:pt idx="39">
                  <c:v>0.27588499999999999</c:v>
                </c:pt>
                <c:pt idx="40">
                  <c:v>0.27119799999999999</c:v>
                </c:pt>
                <c:pt idx="41">
                  <c:v>0.25253700000000001</c:v>
                </c:pt>
                <c:pt idx="42">
                  <c:v>0.19875000000000001</c:v>
                </c:pt>
                <c:pt idx="43">
                  <c:v>0.170205</c:v>
                </c:pt>
                <c:pt idx="44">
                  <c:v>0.15831899999999999</c:v>
                </c:pt>
                <c:pt idx="45">
                  <c:v>0.14024700000000001</c:v>
                </c:pt>
                <c:pt idx="46">
                  <c:v>0.139295</c:v>
                </c:pt>
                <c:pt idx="47">
                  <c:v>0.134876</c:v>
                </c:pt>
                <c:pt idx="48">
                  <c:v>0.126502</c:v>
                </c:pt>
                <c:pt idx="49">
                  <c:v>0.107059</c:v>
                </c:pt>
              </c:numCache>
            </c:numRef>
          </c:val>
          <c:extLst>
            <c:ext xmlns:c16="http://schemas.microsoft.com/office/drawing/2014/chart" uri="{C3380CC4-5D6E-409C-BE32-E72D297353CC}">
              <c16:uniqueId val="{00000064-20ED-4B97-8E6B-74497B686389}"/>
            </c:ext>
          </c:extLst>
        </c:ser>
        <c:dLbls>
          <c:showLegendKey val="0"/>
          <c:showVal val="0"/>
          <c:showCatName val="0"/>
          <c:showSerName val="0"/>
          <c:showPercent val="0"/>
          <c:showBubbleSize val="0"/>
        </c:dLbls>
        <c:gapWidth val="3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8A8F98"/>
            </a:solidFill>
          </a:ln>
        </c:spPr>
        <c:txPr>
          <a:bodyPr rot="-5400000" vert="horz"/>
          <a:lstStyle/>
          <a:p>
            <a:pPr>
              <a:defRPr sz="1000">
                <a:solidFill>
                  <a:srgbClr val="2B2B2B"/>
                </a:solidFill>
                <a:latin typeface="Lato"/>
              </a:defRPr>
            </a:pPr>
            <a:endParaRPr lang="en-US"/>
          </a:p>
        </c:txPr>
        <c:crossAx val="-2113994440"/>
        <c:crosses val="autoZero"/>
        <c:auto val="1"/>
        <c:lblAlgn val="ctr"/>
        <c:lblOffset val="100"/>
        <c:noMultiLvlLbl val="0"/>
      </c:catAx>
      <c:valAx>
        <c:axId val="-2113994440"/>
        <c:scaling>
          <c:orientation val="minMax"/>
          <c:max val="4.5"/>
          <c:min val="0"/>
        </c:scaling>
        <c:delete val="0"/>
        <c:axPos val="l"/>
        <c:majorGridlines>
          <c:spPr>
            <a:ln w="9525">
              <a:solidFill>
                <a:srgbClr val="E4E4E6"/>
              </a:solidFill>
            </a:ln>
          </c:spPr>
        </c:majorGridlines>
        <c:numFmt formatCode="&quot;$&quot;0&quot;B&quot;" sourceLinked="0"/>
        <c:majorTickMark val="none"/>
        <c:minorTickMark val="none"/>
        <c:tickLblPos val="nextTo"/>
        <c:spPr>
          <a:ln>
            <a:noFill/>
          </a:ln>
        </c:spPr>
        <c:txPr>
          <a:bodyPr/>
          <a:lstStyle/>
          <a:p>
            <a:pPr>
              <a:defRPr sz="1100">
                <a:solidFill>
                  <a:srgbClr val="6B6B70"/>
                </a:solidFill>
                <a:latin typeface="Lato"/>
              </a:defRPr>
            </a:pPr>
            <a:endParaRPr lang="en-US"/>
          </a:p>
        </c:txPr>
        <c:crossAx val="-2068027336"/>
        <c:crosses val="autoZero"/>
        <c:crossBetween val="between"/>
        <c:majorUnit val="1"/>
      </c:valAx>
    </c:plotArea>
    <c:plotVisOnly val="1"/>
    <c:dispBlanksAs val="gap"/>
    <c:showDLblsOverMax val="1"/>
  </c:chart>
  <c:txPr>
    <a:bodyPr/>
    <a:lstStyle/>
    <a:p>
      <a:pPr>
        <a:defRPr sz="1000">
          <a:latin typeface="Lato"/>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5.5E-2"/>
          <c:y val="0.04"/>
          <c:w val="0.93500000000000005"/>
          <c:h val="0.6"/>
        </c:manualLayout>
      </c:layout>
      <c:barChart>
        <c:barDir val="col"/>
        <c:grouping val="clustered"/>
        <c:varyColors val="1"/>
        <c:ser>
          <c:idx val="0"/>
          <c:order val="0"/>
          <c:tx>
            <c:strRef>
              <c:f>Sheet1!$B$1</c:f>
              <c:strCache>
                <c:ptCount val="1"/>
                <c:pt idx="0">
                  <c:v>CAGR</c:v>
                </c:pt>
              </c:strCache>
            </c:strRef>
          </c:tx>
          <c:invertIfNegative val="1"/>
          <c:dPt>
            <c:idx val="0"/>
            <c:invertIfNegative val="1"/>
            <c:bubble3D val="0"/>
            <c:spPr>
              <a:solidFill>
                <a:srgbClr val="B8BBBD"/>
              </a:solidFill>
            </c:spPr>
            <c:extLst>
              <c:ext xmlns:c16="http://schemas.microsoft.com/office/drawing/2014/chart" uri="{C3380CC4-5D6E-409C-BE32-E72D297353CC}">
                <c16:uniqueId val="{00000001-B482-4CF7-ADF5-76B0777DF0E6}"/>
              </c:ext>
            </c:extLst>
          </c:dPt>
          <c:dPt>
            <c:idx val="1"/>
            <c:invertIfNegative val="1"/>
            <c:bubble3D val="0"/>
            <c:spPr>
              <a:solidFill>
                <a:srgbClr val="B8BBBD"/>
              </a:solidFill>
            </c:spPr>
            <c:extLst>
              <c:ext xmlns:c16="http://schemas.microsoft.com/office/drawing/2014/chart" uri="{C3380CC4-5D6E-409C-BE32-E72D297353CC}">
                <c16:uniqueId val="{00000003-B482-4CF7-ADF5-76B0777DF0E6}"/>
              </c:ext>
            </c:extLst>
          </c:dPt>
          <c:dPt>
            <c:idx val="2"/>
            <c:invertIfNegative val="1"/>
            <c:bubble3D val="0"/>
            <c:spPr>
              <a:solidFill>
                <a:srgbClr val="C8102E"/>
              </a:solidFill>
            </c:spPr>
            <c:extLst>
              <c:ext xmlns:c16="http://schemas.microsoft.com/office/drawing/2014/chart" uri="{C3380CC4-5D6E-409C-BE32-E72D297353CC}">
                <c16:uniqueId val="{00000005-B482-4CF7-ADF5-76B0777DF0E6}"/>
              </c:ext>
            </c:extLst>
          </c:dPt>
          <c:dPt>
            <c:idx val="3"/>
            <c:invertIfNegative val="1"/>
            <c:bubble3D val="0"/>
            <c:spPr>
              <a:solidFill>
                <a:srgbClr val="B8BBBD"/>
              </a:solidFill>
            </c:spPr>
            <c:extLst>
              <c:ext xmlns:c16="http://schemas.microsoft.com/office/drawing/2014/chart" uri="{C3380CC4-5D6E-409C-BE32-E72D297353CC}">
                <c16:uniqueId val="{00000007-B482-4CF7-ADF5-76B0777DF0E6}"/>
              </c:ext>
            </c:extLst>
          </c:dPt>
          <c:dPt>
            <c:idx val="4"/>
            <c:invertIfNegative val="1"/>
            <c:bubble3D val="0"/>
            <c:spPr>
              <a:solidFill>
                <a:srgbClr val="000000"/>
              </a:solidFill>
            </c:spPr>
            <c:extLst>
              <c:ext xmlns:c16="http://schemas.microsoft.com/office/drawing/2014/chart" uri="{C3380CC4-5D6E-409C-BE32-E72D297353CC}">
                <c16:uniqueId val="{00000009-B482-4CF7-ADF5-76B0777DF0E6}"/>
              </c:ext>
            </c:extLst>
          </c:dPt>
          <c:dPt>
            <c:idx val="5"/>
            <c:invertIfNegative val="1"/>
            <c:bubble3D val="0"/>
            <c:spPr>
              <a:solidFill>
                <a:srgbClr val="000000"/>
              </a:solidFill>
            </c:spPr>
            <c:extLst>
              <c:ext xmlns:c16="http://schemas.microsoft.com/office/drawing/2014/chart" uri="{C3380CC4-5D6E-409C-BE32-E72D297353CC}">
                <c16:uniqueId val="{0000000B-B482-4CF7-ADF5-76B0777DF0E6}"/>
              </c:ext>
            </c:extLst>
          </c:dPt>
          <c:dPt>
            <c:idx val="6"/>
            <c:invertIfNegative val="1"/>
            <c:bubble3D val="0"/>
            <c:spPr>
              <a:solidFill>
                <a:srgbClr val="000000"/>
              </a:solidFill>
            </c:spPr>
            <c:extLst>
              <c:ext xmlns:c16="http://schemas.microsoft.com/office/drawing/2014/chart" uri="{C3380CC4-5D6E-409C-BE32-E72D297353CC}">
                <c16:uniqueId val="{0000000D-B482-4CF7-ADF5-76B0777DF0E6}"/>
              </c:ext>
            </c:extLst>
          </c:dPt>
          <c:dPt>
            <c:idx val="7"/>
            <c:invertIfNegative val="1"/>
            <c:bubble3D val="0"/>
            <c:spPr>
              <a:solidFill>
                <a:srgbClr val="000000"/>
              </a:solidFill>
            </c:spPr>
            <c:extLst>
              <c:ext xmlns:c16="http://schemas.microsoft.com/office/drawing/2014/chart" uri="{C3380CC4-5D6E-409C-BE32-E72D297353CC}">
                <c16:uniqueId val="{0000000F-B482-4CF7-ADF5-76B0777DF0E6}"/>
              </c:ext>
            </c:extLst>
          </c:dPt>
          <c:dPt>
            <c:idx val="8"/>
            <c:invertIfNegative val="1"/>
            <c:bubble3D val="0"/>
            <c:spPr>
              <a:solidFill>
                <a:srgbClr val="000000"/>
              </a:solidFill>
            </c:spPr>
            <c:extLst>
              <c:ext xmlns:c16="http://schemas.microsoft.com/office/drawing/2014/chart" uri="{C3380CC4-5D6E-409C-BE32-E72D297353CC}">
                <c16:uniqueId val="{00000011-B482-4CF7-ADF5-76B0777DF0E6}"/>
              </c:ext>
            </c:extLst>
          </c:dPt>
          <c:dPt>
            <c:idx val="9"/>
            <c:invertIfNegative val="1"/>
            <c:bubble3D val="0"/>
            <c:spPr>
              <a:solidFill>
                <a:srgbClr val="000000"/>
              </a:solidFill>
            </c:spPr>
            <c:extLst>
              <c:ext xmlns:c16="http://schemas.microsoft.com/office/drawing/2014/chart" uri="{C3380CC4-5D6E-409C-BE32-E72D297353CC}">
                <c16:uniqueId val="{00000013-B482-4CF7-ADF5-76B0777DF0E6}"/>
              </c:ext>
            </c:extLst>
          </c:dPt>
          <c:dPt>
            <c:idx val="10"/>
            <c:invertIfNegative val="1"/>
            <c:bubble3D val="0"/>
            <c:spPr>
              <a:solidFill>
                <a:srgbClr val="B8BBBD"/>
              </a:solidFill>
            </c:spPr>
            <c:extLst>
              <c:ext xmlns:c16="http://schemas.microsoft.com/office/drawing/2014/chart" uri="{C3380CC4-5D6E-409C-BE32-E72D297353CC}">
                <c16:uniqueId val="{00000015-B482-4CF7-ADF5-76B0777DF0E6}"/>
              </c:ext>
            </c:extLst>
          </c:dPt>
          <c:dPt>
            <c:idx val="11"/>
            <c:invertIfNegative val="1"/>
            <c:bubble3D val="0"/>
            <c:spPr>
              <a:solidFill>
                <a:srgbClr val="B8BBBD"/>
              </a:solidFill>
            </c:spPr>
            <c:extLst>
              <c:ext xmlns:c16="http://schemas.microsoft.com/office/drawing/2014/chart" uri="{C3380CC4-5D6E-409C-BE32-E72D297353CC}">
                <c16:uniqueId val="{00000017-B482-4CF7-ADF5-76B0777DF0E6}"/>
              </c:ext>
            </c:extLst>
          </c:dPt>
          <c:dPt>
            <c:idx val="12"/>
            <c:invertIfNegative val="1"/>
            <c:bubble3D val="0"/>
            <c:spPr>
              <a:solidFill>
                <a:srgbClr val="000000"/>
              </a:solidFill>
            </c:spPr>
            <c:extLst>
              <c:ext xmlns:c16="http://schemas.microsoft.com/office/drawing/2014/chart" uri="{C3380CC4-5D6E-409C-BE32-E72D297353CC}">
                <c16:uniqueId val="{00000019-B482-4CF7-ADF5-76B0777DF0E6}"/>
              </c:ext>
            </c:extLst>
          </c:dPt>
          <c:dPt>
            <c:idx val="13"/>
            <c:invertIfNegative val="1"/>
            <c:bubble3D val="0"/>
            <c:spPr>
              <a:solidFill>
                <a:srgbClr val="000000"/>
              </a:solidFill>
            </c:spPr>
            <c:extLst>
              <c:ext xmlns:c16="http://schemas.microsoft.com/office/drawing/2014/chart" uri="{C3380CC4-5D6E-409C-BE32-E72D297353CC}">
                <c16:uniqueId val="{0000001B-B482-4CF7-ADF5-76B0777DF0E6}"/>
              </c:ext>
            </c:extLst>
          </c:dPt>
          <c:dPt>
            <c:idx val="14"/>
            <c:invertIfNegative val="1"/>
            <c:bubble3D val="0"/>
            <c:spPr>
              <a:solidFill>
                <a:srgbClr val="000000"/>
              </a:solidFill>
            </c:spPr>
            <c:extLst>
              <c:ext xmlns:c16="http://schemas.microsoft.com/office/drawing/2014/chart" uri="{C3380CC4-5D6E-409C-BE32-E72D297353CC}">
                <c16:uniqueId val="{0000001D-B482-4CF7-ADF5-76B0777DF0E6}"/>
              </c:ext>
            </c:extLst>
          </c:dPt>
          <c:dPt>
            <c:idx val="15"/>
            <c:invertIfNegative val="1"/>
            <c:bubble3D val="0"/>
            <c:spPr>
              <a:solidFill>
                <a:srgbClr val="000000"/>
              </a:solidFill>
            </c:spPr>
            <c:extLst>
              <c:ext xmlns:c16="http://schemas.microsoft.com/office/drawing/2014/chart" uri="{C3380CC4-5D6E-409C-BE32-E72D297353CC}">
                <c16:uniqueId val="{0000001F-B482-4CF7-ADF5-76B0777DF0E6}"/>
              </c:ext>
            </c:extLst>
          </c:dPt>
          <c:dPt>
            <c:idx val="16"/>
            <c:invertIfNegative val="1"/>
            <c:bubble3D val="0"/>
            <c:spPr>
              <a:solidFill>
                <a:srgbClr val="000000"/>
              </a:solidFill>
            </c:spPr>
            <c:extLst>
              <c:ext xmlns:c16="http://schemas.microsoft.com/office/drawing/2014/chart" uri="{C3380CC4-5D6E-409C-BE32-E72D297353CC}">
                <c16:uniqueId val="{00000021-B482-4CF7-ADF5-76B0777DF0E6}"/>
              </c:ext>
            </c:extLst>
          </c:dPt>
          <c:dPt>
            <c:idx val="17"/>
            <c:invertIfNegative val="1"/>
            <c:bubble3D val="0"/>
            <c:spPr>
              <a:solidFill>
                <a:srgbClr val="B8BBBD"/>
              </a:solidFill>
            </c:spPr>
            <c:extLst>
              <c:ext xmlns:c16="http://schemas.microsoft.com/office/drawing/2014/chart" uri="{C3380CC4-5D6E-409C-BE32-E72D297353CC}">
                <c16:uniqueId val="{00000023-B482-4CF7-ADF5-76B0777DF0E6}"/>
              </c:ext>
            </c:extLst>
          </c:dPt>
          <c:dPt>
            <c:idx val="18"/>
            <c:invertIfNegative val="1"/>
            <c:bubble3D val="0"/>
            <c:spPr>
              <a:solidFill>
                <a:srgbClr val="000000"/>
              </a:solidFill>
            </c:spPr>
            <c:extLst>
              <c:ext xmlns:c16="http://schemas.microsoft.com/office/drawing/2014/chart" uri="{C3380CC4-5D6E-409C-BE32-E72D297353CC}">
                <c16:uniqueId val="{00000025-B482-4CF7-ADF5-76B0777DF0E6}"/>
              </c:ext>
            </c:extLst>
          </c:dPt>
          <c:dPt>
            <c:idx val="19"/>
            <c:invertIfNegative val="1"/>
            <c:bubble3D val="0"/>
            <c:spPr>
              <a:solidFill>
                <a:srgbClr val="000000"/>
              </a:solidFill>
            </c:spPr>
            <c:extLst>
              <c:ext xmlns:c16="http://schemas.microsoft.com/office/drawing/2014/chart" uri="{C3380CC4-5D6E-409C-BE32-E72D297353CC}">
                <c16:uniqueId val="{00000027-B482-4CF7-ADF5-76B0777DF0E6}"/>
              </c:ext>
            </c:extLst>
          </c:dPt>
          <c:dPt>
            <c:idx val="20"/>
            <c:invertIfNegative val="1"/>
            <c:bubble3D val="0"/>
            <c:spPr>
              <a:solidFill>
                <a:srgbClr val="000000"/>
              </a:solidFill>
            </c:spPr>
            <c:extLst>
              <c:ext xmlns:c16="http://schemas.microsoft.com/office/drawing/2014/chart" uri="{C3380CC4-5D6E-409C-BE32-E72D297353CC}">
                <c16:uniqueId val="{00000029-B482-4CF7-ADF5-76B0777DF0E6}"/>
              </c:ext>
            </c:extLst>
          </c:dPt>
          <c:dPt>
            <c:idx val="21"/>
            <c:invertIfNegative val="1"/>
            <c:bubble3D val="0"/>
            <c:spPr>
              <a:solidFill>
                <a:srgbClr val="B8BBBD"/>
              </a:solidFill>
            </c:spPr>
            <c:extLst>
              <c:ext xmlns:c16="http://schemas.microsoft.com/office/drawing/2014/chart" uri="{C3380CC4-5D6E-409C-BE32-E72D297353CC}">
                <c16:uniqueId val="{0000002B-B482-4CF7-ADF5-76B0777DF0E6}"/>
              </c:ext>
            </c:extLst>
          </c:dPt>
          <c:dPt>
            <c:idx val="22"/>
            <c:invertIfNegative val="1"/>
            <c:bubble3D val="0"/>
            <c:spPr>
              <a:solidFill>
                <a:srgbClr val="000000"/>
              </a:solidFill>
            </c:spPr>
            <c:extLst>
              <c:ext xmlns:c16="http://schemas.microsoft.com/office/drawing/2014/chart" uri="{C3380CC4-5D6E-409C-BE32-E72D297353CC}">
                <c16:uniqueId val="{0000002D-B482-4CF7-ADF5-76B0777DF0E6}"/>
              </c:ext>
            </c:extLst>
          </c:dPt>
          <c:dPt>
            <c:idx val="23"/>
            <c:invertIfNegative val="1"/>
            <c:bubble3D val="0"/>
            <c:spPr>
              <a:solidFill>
                <a:srgbClr val="000000"/>
              </a:solidFill>
            </c:spPr>
            <c:extLst>
              <c:ext xmlns:c16="http://schemas.microsoft.com/office/drawing/2014/chart" uri="{C3380CC4-5D6E-409C-BE32-E72D297353CC}">
                <c16:uniqueId val="{0000002F-B482-4CF7-ADF5-76B0777DF0E6}"/>
              </c:ext>
            </c:extLst>
          </c:dPt>
          <c:dPt>
            <c:idx val="24"/>
            <c:invertIfNegative val="1"/>
            <c:bubble3D val="0"/>
            <c:spPr>
              <a:solidFill>
                <a:srgbClr val="000000"/>
              </a:solidFill>
            </c:spPr>
            <c:extLst>
              <c:ext xmlns:c16="http://schemas.microsoft.com/office/drawing/2014/chart" uri="{C3380CC4-5D6E-409C-BE32-E72D297353CC}">
                <c16:uniqueId val="{00000031-B482-4CF7-ADF5-76B0777DF0E6}"/>
              </c:ext>
            </c:extLst>
          </c:dPt>
          <c:dPt>
            <c:idx val="25"/>
            <c:invertIfNegative val="1"/>
            <c:bubble3D val="0"/>
            <c:spPr>
              <a:solidFill>
                <a:srgbClr val="000000"/>
              </a:solidFill>
            </c:spPr>
            <c:extLst>
              <c:ext xmlns:c16="http://schemas.microsoft.com/office/drawing/2014/chart" uri="{C3380CC4-5D6E-409C-BE32-E72D297353CC}">
                <c16:uniqueId val="{00000033-B482-4CF7-ADF5-76B0777DF0E6}"/>
              </c:ext>
            </c:extLst>
          </c:dPt>
          <c:dPt>
            <c:idx val="26"/>
            <c:invertIfNegative val="1"/>
            <c:bubble3D val="0"/>
            <c:spPr>
              <a:solidFill>
                <a:srgbClr val="000000"/>
              </a:solidFill>
            </c:spPr>
            <c:extLst>
              <c:ext xmlns:c16="http://schemas.microsoft.com/office/drawing/2014/chart" uri="{C3380CC4-5D6E-409C-BE32-E72D297353CC}">
                <c16:uniqueId val="{00000035-B482-4CF7-ADF5-76B0777DF0E6}"/>
              </c:ext>
            </c:extLst>
          </c:dPt>
          <c:dPt>
            <c:idx val="27"/>
            <c:invertIfNegative val="1"/>
            <c:bubble3D val="0"/>
            <c:spPr>
              <a:solidFill>
                <a:srgbClr val="000000"/>
              </a:solidFill>
            </c:spPr>
            <c:extLst>
              <c:ext xmlns:c16="http://schemas.microsoft.com/office/drawing/2014/chart" uri="{C3380CC4-5D6E-409C-BE32-E72D297353CC}">
                <c16:uniqueId val="{00000037-B482-4CF7-ADF5-76B0777DF0E6}"/>
              </c:ext>
            </c:extLst>
          </c:dPt>
          <c:dPt>
            <c:idx val="28"/>
            <c:invertIfNegative val="1"/>
            <c:bubble3D val="0"/>
            <c:spPr>
              <a:solidFill>
                <a:srgbClr val="000000"/>
              </a:solidFill>
            </c:spPr>
            <c:extLst>
              <c:ext xmlns:c16="http://schemas.microsoft.com/office/drawing/2014/chart" uri="{C3380CC4-5D6E-409C-BE32-E72D297353CC}">
                <c16:uniqueId val="{00000039-B482-4CF7-ADF5-76B0777DF0E6}"/>
              </c:ext>
            </c:extLst>
          </c:dPt>
          <c:dPt>
            <c:idx val="29"/>
            <c:invertIfNegative val="1"/>
            <c:bubble3D val="0"/>
            <c:spPr>
              <a:solidFill>
                <a:srgbClr val="B8BBBD"/>
              </a:solidFill>
            </c:spPr>
            <c:extLst>
              <c:ext xmlns:c16="http://schemas.microsoft.com/office/drawing/2014/chart" uri="{C3380CC4-5D6E-409C-BE32-E72D297353CC}">
                <c16:uniqueId val="{0000003B-B482-4CF7-ADF5-76B0777DF0E6}"/>
              </c:ext>
            </c:extLst>
          </c:dPt>
          <c:dPt>
            <c:idx val="30"/>
            <c:invertIfNegative val="1"/>
            <c:bubble3D val="0"/>
            <c:spPr>
              <a:solidFill>
                <a:srgbClr val="000000"/>
              </a:solidFill>
            </c:spPr>
            <c:extLst>
              <c:ext xmlns:c16="http://schemas.microsoft.com/office/drawing/2014/chart" uri="{C3380CC4-5D6E-409C-BE32-E72D297353CC}">
                <c16:uniqueId val="{0000003D-B482-4CF7-ADF5-76B0777DF0E6}"/>
              </c:ext>
            </c:extLst>
          </c:dPt>
          <c:dPt>
            <c:idx val="31"/>
            <c:invertIfNegative val="1"/>
            <c:bubble3D val="0"/>
            <c:spPr>
              <a:solidFill>
                <a:srgbClr val="000000"/>
              </a:solidFill>
            </c:spPr>
            <c:extLst>
              <c:ext xmlns:c16="http://schemas.microsoft.com/office/drawing/2014/chart" uri="{C3380CC4-5D6E-409C-BE32-E72D297353CC}">
                <c16:uniqueId val="{0000003F-B482-4CF7-ADF5-76B0777DF0E6}"/>
              </c:ext>
            </c:extLst>
          </c:dPt>
          <c:dPt>
            <c:idx val="32"/>
            <c:invertIfNegative val="1"/>
            <c:bubble3D val="0"/>
            <c:spPr>
              <a:solidFill>
                <a:srgbClr val="000000"/>
              </a:solidFill>
            </c:spPr>
            <c:extLst>
              <c:ext xmlns:c16="http://schemas.microsoft.com/office/drawing/2014/chart" uri="{C3380CC4-5D6E-409C-BE32-E72D297353CC}">
                <c16:uniqueId val="{00000041-B482-4CF7-ADF5-76B0777DF0E6}"/>
              </c:ext>
            </c:extLst>
          </c:dPt>
          <c:dPt>
            <c:idx val="33"/>
            <c:invertIfNegative val="1"/>
            <c:bubble3D val="0"/>
            <c:spPr>
              <a:solidFill>
                <a:srgbClr val="000000"/>
              </a:solidFill>
            </c:spPr>
            <c:extLst>
              <c:ext xmlns:c16="http://schemas.microsoft.com/office/drawing/2014/chart" uri="{C3380CC4-5D6E-409C-BE32-E72D297353CC}">
                <c16:uniqueId val="{00000043-B482-4CF7-ADF5-76B0777DF0E6}"/>
              </c:ext>
            </c:extLst>
          </c:dPt>
          <c:dPt>
            <c:idx val="34"/>
            <c:invertIfNegative val="1"/>
            <c:bubble3D val="0"/>
            <c:spPr>
              <a:solidFill>
                <a:srgbClr val="B8BBBD"/>
              </a:solidFill>
            </c:spPr>
            <c:extLst>
              <c:ext xmlns:c16="http://schemas.microsoft.com/office/drawing/2014/chart" uri="{C3380CC4-5D6E-409C-BE32-E72D297353CC}">
                <c16:uniqueId val="{00000045-B482-4CF7-ADF5-76B0777DF0E6}"/>
              </c:ext>
            </c:extLst>
          </c:dPt>
          <c:dPt>
            <c:idx val="35"/>
            <c:invertIfNegative val="1"/>
            <c:bubble3D val="0"/>
            <c:spPr>
              <a:solidFill>
                <a:srgbClr val="000000"/>
              </a:solidFill>
            </c:spPr>
            <c:extLst>
              <c:ext xmlns:c16="http://schemas.microsoft.com/office/drawing/2014/chart" uri="{C3380CC4-5D6E-409C-BE32-E72D297353CC}">
                <c16:uniqueId val="{00000047-B482-4CF7-ADF5-76B0777DF0E6}"/>
              </c:ext>
            </c:extLst>
          </c:dPt>
          <c:dPt>
            <c:idx val="36"/>
            <c:invertIfNegative val="1"/>
            <c:bubble3D val="0"/>
            <c:spPr>
              <a:solidFill>
                <a:srgbClr val="B8BBBD"/>
              </a:solidFill>
            </c:spPr>
            <c:extLst>
              <c:ext xmlns:c16="http://schemas.microsoft.com/office/drawing/2014/chart" uri="{C3380CC4-5D6E-409C-BE32-E72D297353CC}">
                <c16:uniqueId val="{00000049-B482-4CF7-ADF5-76B0777DF0E6}"/>
              </c:ext>
            </c:extLst>
          </c:dPt>
          <c:dPt>
            <c:idx val="37"/>
            <c:invertIfNegative val="1"/>
            <c:bubble3D val="0"/>
            <c:spPr>
              <a:solidFill>
                <a:srgbClr val="000000"/>
              </a:solidFill>
            </c:spPr>
            <c:extLst>
              <c:ext xmlns:c16="http://schemas.microsoft.com/office/drawing/2014/chart" uri="{C3380CC4-5D6E-409C-BE32-E72D297353CC}">
                <c16:uniqueId val="{0000004B-B482-4CF7-ADF5-76B0777DF0E6}"/>
              </c:ext>
            </c:extLst>
          </c:dPt>
          <c:dPt>
            <c:idx val="38"/>
            <c:invertIfNegative val="1"/>
            <c:bubble3D val="0"/>
            <c:spPr>
              <a:solidFill>
                <a:srgbClr val="000000"/>
              </a:solidFill>
            </c:spPr>
            <c:extLst>
              <c:ext xmlns:c16="http://schemas.microsoft.com/office/drawing/2014/chart" uri="{C3380CC4-5D6E-409C-BE32-E72D297353CC}">
                <c16:uniqueId val="{0000004D-B482-4CF7-ADF5-76B0777DF0E6}"/>
              </c:ext>
            </c:extLst>
          </c:dPt>
          <c:dPt>
            <c:idx val="39"/>
            <c:invertIfNegative val="1"/>
            <c:bubble3D val="0"/>
            <c:spPr>
              <a:solidFill>
                <a:srgbClr val="000000"/>
              </a:solidFill>
            </c:spPr>
            <c:extLst>
              <c:ext xmlns:c16="http://schemas.microsoft.com/office/drawing/2014/chart" uri="{C3380CC4-5D6E-409C-BE32-E72D297353CC}">
                <c16:uniqueId val="{0000004F-B482-4CF7-ADF5-76B0777DF0E6}"/>
              </c:ext>
            </c:extLst>
          </c:dPt>
          <c:dPt>
            <c:idx val="40"/>
            <c:invertIfNegative val="1"/>
            <c:bubble3D val="0"/>
            <c:spPr>
              <a:solidFill>
                <a:srgbClr val="B8BBBD"/>
              </a:solidFill>
            </c:spPr>
            <c:extLst>
              <c:ext xmlns:c16="http://schemas.microsoft.com/office/drawing/2014/chart" uri="{C3380CC4-5D6E-409C-BE32-E72D297353CC}">
                <c16:uniqueId val="{00000051-B482-4CF7-ADF5-76B0777DF0E6}"/>
              </c:ext>
            </c:extLst>
          </c:dPt>
          <c:dPt>
            <c:idx val="41"/>
            <c:invertIfNegative val="1"/>
            <c:bubble3D val="0"/>
            <c:spPr>
              <a:solidFill>
                <a:srgbClr val="000000"/>
              </a:solidFill>
            </c:spPr>
            <c:extLst>
              <c:ext xmlns:c16="http://schemas.microsoft.com/office/drawing/2014/chart" uri="{C3380CC4-5D6E-409C-BE32-E72D297353CC}">
                <c16:uniqueId val="{00000053-B482-4CF7-ADF5-76B0777DF0E6}"/>
              </c:ext>
            </c:extLst>
          </c:dPt>
          <c:dPt>
            <c:idx val="42"/>
            <c:invertIfNegative val="1"/>
            <c:bubble3D val="0"/>
            <c:spPr>
              <a:solidFill>
                <a:srgbClr val="000000"/>
              </a:solidFill>
            </c:spPr>
            <c:extLst>
              <c:ext xmlns:c16="http://schemas.microsoft.com/office/drawing/2014/chart" uri="{C3380CC4-5D6E-409C-BE32-E72D297353CC}">
                <c16:uniqueId val="{00000055-B482-4CF7-ADF5-76B0777DF0E6}"/>
              </c:ext>
            </c:extLst>
          </c:dPt>
          <c:dPt>
            <c:idx val="43"/>
            <c:invertIfNegative val="1"/>
            <c:bubble3D val="0"/>
            <c:spPr>
              <a:solidFill>
                <a:srgbClr val="000000"/>
              </a:solidFill>
            </c:spPr>
            <c:extLst>
              <c:ext xmlns:c16="http://schemas.microsoft.com/office/drawing/2014/chart" uri="{C3380CC4-5D6E-409C-BE32-E72D297353CC}">
                <c16:uniqueId val="{00000057-B482-4CF7-ADF5-76B0777DF0E6}"/>
              </c:ext>
            </c:extLst>
          </c:dPt>
          <c:dPt>
            <c:idx val="44"/>
            <c:invertIfNegative val="1"/>
            <c:bubble3D val="0"/>
            <c:spPr>
              <a:solidFill>
                <a:srgbClr val="B8BBBD"/>
              </a:solidFill>
            </c:spPr>
            <c:extLst>
              <c:ext xmlns:c16="http://schemas.microsoft.com/office/drawing/2014/chart" uri="{C3380CC4-5D6E-409C-BE32-E72D297353CC}">
                <c16:uniqueId val="{00000059-B482-4CF7-ADF5-76B0777DF0E6}"/>
              </c:ext>
            </c:extLst>
          </c:dPt>
          <c:dPt>
            <c:idx val="45"/>
            <c:invertIfNegative val="1"/>
            <c:bubble3D val="0"/>
            <c:spPr>
              <a:solidFill>
                <a:srgbClr val="000000"/>
              </a:solidFill>
            </c:spPr>
            <c:extLst>
              <c:ext xmlns:c16="http://schemas.microsoft.com/office/drawing/2014/chart" uri="{C3380CC4-5D6E-409C-BE32-E72D297353CC}">
                <c16:uniqueId val="{0000005B-B482-4CF7-ADF5-76B0777DF0E6}"/>
              </c:ext>
            </c:extLst>
          </c:dPt>
          <c:dPt>
            <c:idx val="46"/>
            <c:invertIfNegative val="1"/>
            <c:bubble3D val="0"/>
            <c:spPr>
              <a:solidFill>
                <a:srgbClr val="B8BBBD"/>
              </a:solidFill>
            </c:spPr>
            <c:extLst>
              <c:ext xmlns:c16="http://schemas.microsoft.com/office/drawing/2014/chart" uri="{C3380CC4-5D6E-409C-BE32-E72D297353CC}">
                <c16:uniqueId val="{0000005D-B482-4CF7-ADF5-76B0777DF0E6}"/>
              </c:ext>
            </c:extLst>
          </c:dPt>
          <c:dPt>
            <c:idx val="47"/>
            <c:invertIfNegative val="1"/>
            <c:bubble3D val="0"/>
            <c:spPr>
              <a:solidFill>
                <a:srgbClr val="B8BBBD"/>
              </a:solidFill>
            </c:spPr>
            <c:extLst>
              <c:ext xmlns:c16="http://schemas.microsoft.com/office/drawing/2014/chart" uri="{C3380CC4-5D6E-409C-BE32-E72D297353CC}">
                <c16:uniqueId val="{0000005F-B482-4CF7-ADF5-76B0777DF0E6}"/>
              </c:ext>
            </c:extLst>
          </c:dPt>
          <c:dPt>
            <c:idx val="48"/>
            <c:invertIfNegative val="1"/>
            <c:bubble3D val="0"/>
            <c:spPr>
              <a:solidFill>
                <a:srgbClr val="B8BBBD"/>
              </a:solidFill>
            </c:spPr>
            <c:extLst>
              <c:ext xmlns:c16="http://schemas.microsoft.com/office/drawing/2014/chart" uri="{C3380CC4-5D6E-409C-BE32-E72D297353CC}">
                <c16:uniqueId val="{00000061-B482-4CF7-ADF5-76B0777DF0E6}"/>
              </c:ext>
            </c:extLst>
          </c:dPt>
          <c:dPt>
            <c:idx val="49"/>
            <c:invertIfNegative val="1"/>
            <c:bubble3D val="0"/>
            <c:spPr>
              <a:solidFill>
                <a:srgbClr val="B8BBBD"/>
              </a:solidFill>
            </c:spPr>
            <c:extLst>
              <c:ext xmlns:c16="http://schemas.microsoft.com/office/drawing/2014/chart" uri="{C3380CC4-5D6E-409C-BE32-E72D297353CC}">
                <c16:uniqueId val="{00000063-B482-4CF7-ADF5-76B0777DF0E6}"/>
              </c:ext>
            </c:extLst>
          </c:dPt>
          <c:dLbls>
            <c:numFmt formatCode="0.0%" sourceLinked="0"/>
            <c:spPr>
              <a:noFill/>
              <a:ln>
                <a:noFill/>
              </a:ln>
              <a:effectLst/>
            </c:spPr>
            <c:txPr>
              <a:bodyPr rot="-5400000" vert="horz"/>
              <a:lstStyle/>
              <a:p>
                <a:pPr>
                  <a:defRPr sz="800">
                    <a:solidFill>
                      <a:srgbClr val="2B2B2B"/>
                    </a:solidFill>
                    <a:latin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Sheet1!$A$2:$A$51</c:f>
              <c:strCache>
                <c:ptCount val="50"/>
                <c:pt idx="0">
                  <c:v>Baylor U.</c:v>
                </c:pt>
                <c:pt idx="1">
                  <c:v>Brigham Young U.</c:v>
                </c:pt>
                <c:pt idx="2">
                  <c:v>Northeastern U.</c:v>
                </c:pt>
                <c:pt idx="3">
                  <c:v>Brandeis U.</c:v>
                </c:pt>
                <c:pt idx="4">
                  <c:v>Vanderbilt U.</c:v>
                </c:pt>
                <c:pt idx="5">
                  <c:v>New York U.</c:v>
                </c:pt>
                <c:pt idx="6">
                  <c:v>Thomas Jefferson U.</c:v>
                </c:pt>
                <c:pt idx="7">
                  <c:v>Emory U.</c:v>
                </c:pt>
                <c:pt idx="8">
                  <c:v>Georgetown U.</c:v>
                </c:pt>
                <c:pt idx="9">
                  <c:v>U. Miami</c:v>
                </c:pt>
                <c:pt idx="10">
                  <c:v>U. Dayton</c:v>
                </c:pt>
                <c:pt idx="11">
                  <c:v>Rice U.</c:v>
                </c:pt>
                <c:pt idx="12">
                  <c:v>U. Chicago</c:v>
                </c:pt>
                <c:pt idx="13">
                  <c:v>Boston U.</c:v>
                </c:pt>
                <c:pt idx="14">
                  <c:v>Northwestern U.</c:v>
                </c:pt>
                <c:pt idx="15">
                  <c:v>Case Western Reserve U.</c:v>
                </c:pt>
                <c:pt idx="16">
                  <c:v>Brown U.</c:v>
                </c:pt>
                <c:pt idx="17">
                  <c:v>Princeton U.</c:v>
                </c:pt>
                <c:pt idx="18">
                  <c:v>Rush U.</c:v>
                </c:pt>
                <c:pt idx="19">
                  <c:v>Columbia U.</c:v>
                </c:pt>
                <c:pt idx="20">
                  <c:v>Wake Forest U.</c:v>
                </c:pt>
                <c:pt idx="21">
                  <c:v>U. Notre Dame</c:v>
                </c:pt>
                <c:pt idx="22">
                  <c:v>U. Pennsylvania</c:v>
                </c:pt>
                <c:pt idx="23">
                  <c:v>Medical C. Wisconsin</c:v>
                </c:pt>
                <c:pt idx="24">
                  <c:v>Yale U.</c:v>
                </c:pt>
                <c:pt idx="25">
                  <c:v>Johns Hopkins U.</c:v>
                </c:pt>
                <c:pt idx="26">
                  <c:v>George Washington U.</c:v>
                </c:pt>
                <c:pt idx="27">
                  <c:v>Cornell U.</c:v>
                </c:pt>
                <c:pt idx="28">
                  <c:v>Icahn Mount Sinai</c:v>
                </c:pt>
                <c:pt idx="29">
                  <c:v>Carnegie Mellon U.</c:v>
                </c:pt>
                <c:pt idx="30">
                  <c:v>Washington U. St. Louis</c:v>
                </c:pt>
                <c:pt idx="31">
                  <c:v>Tulane U.</c:v>
                </c:pt>
                <c:pt idx="32">
                  <c:v>U. Southern California</c:v>
                </c:pt>
                <c:pt idx="33">
                  <c:v>Stanford U.</c:v>
                </c:pt>
                <c:pt idx="34">
                  <c:v>Rensselaer Polytechnic</c:v>
                </c:pt>
                <c:pt idx="35">
                  <c:v>Baylor C. of Medicine</c:v>
                </c:pt>
                <c:pt idx="36">
                  <c:v>Woods Hole</c:v>
                </c:pt>
                <c:pt idx="37">
                  <c:v>Tufts U.</c:v>
                </c:pt>
                <c:pt idx="38">
                  <c:v>Dartmouth</c:v>
                </c:pt>
                <c:pt idx="39">
                  <c:v>Duke U.</c:v>
                </c:pt>
                <c:pt idx="40">
                  <c:v>Syracuse U.</c:v>
                </c:pt>
                <c:pt idx="41">
                  <c:v>U. Rochester</c:v>
                </c:pt>
                <c:pt idx="42">
                  <c:v>Albert Einstein C. Med.</c:v>
                </c:pt>
                <c:pt idx="43">
                  <c:v>Harvard U.</c:v>
                </c:pt>
                <c:pt idx="44">
                  <c:v>Scripps Research</c:v>
                </c:pt>
                <c:pt idx="45">
                  <c:v>Drexel U.</c:v>
                </c:pt>
                <c:pt idx="46">
                  <c:v>Caltech</c:v>
                </c:pt>
                <c:pt idx="47">
                  <c:v>MIT</c:v>
                </c:pt>
                <c:pt idx="48">
                  <c:v>Cold Spring Harbor Lab</c:v>
                </c:pt>
                <c:pt idx="49">
                  <c:v>Rockefeller U.</c:v>
                </c:pt>
              </c:strCache>
            </c:strRef>
          </c:cat>
          <c:val>
            <c:numRef>
              <c:f>Sheet1!$B$2:$B$51</c:f>
              <c:numCache>
                <c:formatCode>General</c:formatCode>
                <c:ptCount val="50"/>
                <c:pt idx="0">
                  <c:v>0.32278010981525096</c:v>
                </c:pt>
                <c:pt idx="1">
                  <c:v>0.31949290920497431</c:v>
                </c:pt>
                <c:pt idx="2">
                  <c:v>0.1352153097901676</c:v>
                </c:pt>
                <c:pt idx="3">
                  <c:v>0.1197168480903561</c:v>
                </c:pt>
                <c:pt idx="4">
                  <c:v>0.11315066725982947</c:v>
                </c:pt>
                <c:pt idx="5">
                  <c:v>9.9320486931313789E-2</c:v>
                </c:pt>
                <c:pt idx="6">
                  <c:v>9.7321323877283206E-2</c:v>
                </c:pt>
                <c:pt idx="7">
                  <c:v>9.4141234485542791E-2</c:v>
                </c:pt>
                <c:pt idx="8">
                  <c:v>9.3420148096362121E-2</c:v>
                </c:pt>
                <c:pt idx="9">
                  <c:v>9.1569268469406051E-2</c:v>
                </c:pt>
                <c:pt idx="10">
                  <c:v>8.8398264854375519E-2</c:v>
                </c:pt>
                <c:pt idx="11">
                  <c:v>8.7493901081361125E-2</c:v>
                </c:pt>
                <c:pt idx="12">
                  <c:v>8.1939614534928928E-2</c:v>
                </c:pt>
                <c:pt idx="13">
                  <c:v>7.9843812597798269E-2</c:v>
                </c:pt>
                <c:pt idx="14">
                  <c:v>7.9750055118804841E-2</c:v>
                </c:pt>
                <c:pt idx="15">
                  <c:v>7.9168171499534701E-2</c:v>
                </c:pt>
                <c:pt idx="16">
                  <c:v>7.8251859019109249E-2</c:v>
                </c:pt>
                <c:pt idx="17">
                  <c:v>7.6874784772242855E-2</c:v>
                </c:pt>
                <c:pt idx="18">
                  <c:v>7.669232665367165E-2</c:v>
                </c:pt>
                <c:pt idx="19">
                  <c:v>7.6297452898739238E-2</c:v>
                </c:pt>
                <c:pt idx="20">
                  <c:v>7.5937152571197597E-2</c:v>
                </c:pt>
                <c:pt idx="21">
                  <c:v>7.5702713668687638E-2</c:v>
                </c:pt>
                <c:pt idx="22">
                  <c:v>7.5500338134089295E-2</c:v>
                </c:pt>
                <c:pt idx="23">
                  <c:v>7.4722953204458875E-2</c:v>
                </c:pt>
                <c:pt idx="24">
                  <c:v>7.2228235550013009E-2</c:v>
                </c:pt>
                <c:pt idx="25">
                  <c:v>7.1949343036796343E-2</c:v>
                </c:pt>
                <c:pt idx="26">
                  <c:v>7.1789526622995536E-2</c:v>
                </c:pt>
                <c:pt idx="27">
                  <c:v>7.1112545432183261E-2</c:v>
                </c:pt>
                <c:pt idx="28">
                  <c:v>7.0552846832990124E-2</c:v>
                </c:pt>
                <c:pt idx="29">
                  <c:v>7.0312038916183317E-2</c:v>
                </c:pt>
                <c:pt idx="30">
                  <c:v>6.9815585290700977E-2</c:v>
                </c:pt>
                <c:pt idx="31">
                  <c:v>6.9749071731120882E-2</c:v>
                </c:pt>
                <c:pt idx="32">
                  <c:v>6.8033648324828055E-2</c:v>
                </c:pt>
                <c:pt idx="33">
                  <c:v>6.3993321690409388E-2</c:v>
                </c:pt>
                <c:pt idx="34">
                  <c:v>6.2160886134685178E-2</c:v>
                </c:pt>
                <c:pt idx="35">
                  <c:v>6.2132259222901443E-2</c:v>
                </c:pt>
                <c:pt idx="36">
                  <c:v>6.1100404919766538E-2</c:v>
                </c:pt>
                <c:pt idx="37">
                  <c:v>5.4658426736774013E-2</c:v>
                </c:pt>
                <c:pt idx="38">
                  <c:v>5.3121484339500258E-2</c:v>
                </c:pt>
                <c:pt idx="39">
                  <c:v>5.2054536428516762E-2</c:v>
                </c:pt>
                <c:pt idx="40">
                  <c:v>5.1843426895725075E-2</c:v>
                </c:pt>
                <c:pt idx="41">
                  <c:v>4.5606426364059427E-2</c:v>
                </c:pt>
                <c:pt idx="42">
                  <c:v>3.8406893703408995E-2</c:v>
                </c:pt>
                <c:pt idx="43">
                  <c:v>3.8089768331737828E-2</c:v>
                </c:pt>
                <c:pt idx="44">
                  <c:v>3.2318927868553837E-2</c:v>
                </c:pt>
                <c:pt idx="45">
                  <c:v>2.6306935781480911E-2</c:v>
                </c:pt>
                <c:pt idx="46">
                  <c:v>2.1665549951599417E-2</c:v>
                </c:pt>
                <c:pt idx="47">
                  <c:v>1.0873364682725484E-2</c:v>
                </c:pt>
                <c:pt idx="48">
                  <c:v>-4.2790187512764533E-4</c:v>
                </c:pt>
                <c:pt idx="49">
                  <c:v>-2.7562011506128359E-2</c:v>
                </c:pt>
              </c:numCache>
            </c:numRef>
          </c:val>
          <c:extLst>
            <c:ext xmlns:c16="http://schemas.microsoft.com/office/drawing/2014/chart" uri="{C3380CC4-5D6E-409C-BE32-E72D297353CC}">
              <c16:uniqueId val="{00000064-B482-4CF7-ADF5-76B0777DF0E6}"/>
            </c:ext>
          </c:extLst>
        </c:ser>
        <c:dLbls>
          <c:dLblPos val="outEnd"/>
          <c:showLegendKey val="0"/>
          <c:showVal val="1"/>
          <c:showCatName val="0"/>
          <c:showSerName val="0"/>
          <c:showPercent val="0"/>
          <c:showBubbleSize val="0"/>
        </c:dLbls>
        <c:gapWidth val="30"/>
        <c:axId val="-2068027336"/>
        <c:axId val="-2113994440"/>
      </c:barChart>
      <c:catAx>
        <c:axId val="-2068027336"/>
        <c:scaling>
          <c:orientation val="minMax"/>
        </c:scaling>
        <c:delete val="0"/>
        <c:axPos val="b"/>
        <c:numFmt formatCode="General" sourceLinked="0"/>
        <c:majorTickMark val="none"/>
        <c:minorTickMark val="none"/>
        <c:tickLblPos val="low"/>
        <c:spPr>
          <a:ln w="9525">
            <a:solidFill>
              <a:srgbClr val="8A8F98"/>
            </a:solidFill>
          </a:ln>
        </c:spPr>
        <c:txPr>
          <a:bodyPr rot="-5400000" vert="horz"/>
          <a:lstStyle/>
          <a:p>
            <a:pPr>
              <a:defRPr sz="1000">
                <a:solidFill>
                  <a:srgbClr val="2B2B2B"/>
                </a:solidFill>
                <a:latin typeface="Lato"/>
              </a:defRPr>
            </a:pPr>
            <a:endParaRPr lang="en-US"/>
          </a:p>
        </c:txPr>
        <c:crossAx val="-2113994440"/>
        <c:crosses val="autoZero"/>
        <c:auto val="1"/>
        <c:lblAlgn val="ctr"/>
        <c:lblOffset val="100"/>
        <c:noMultiLvlLbl val="0"/>
      </c:catAx>
      <c:valAx>
        <c:axId val="-2113994440"/>
        <c:scaling>
          <c:orientation val="minMax"/>
          <c:max val="0.35"/>
          <c:min val="-0.1"/>
        </c:scaling>
        <c:delete val="0"/>
        <c:axPos val="l"/>
        <c:majorGridlines>
          <c:spPr>
            <a:ln w="9525">
              <a:solidFill>
                <a:srgbClr val="E4E4E6"/>
              </a:solidFill>
            </a:ln>
          </c:spPr>
        </c:majorGridlines>
        <c:numFmt formatCode="0%" sourceLinked="0"/>
        <c:majorTickMark val="none"/>
        <c:minorTickMark val="none"/>
        <c:tickLblPos val="nextTo"/>
        <c:spPr>
          <a:ln>
            <a:noFill/>
          </a:ln>
        </c:spPr>
        <c:txPr>
          <a:bodyPr/>
          <a:lstStyle/>
          <a:p>
            <a:pPr>
              <a:defRPr sz="1100">
                <a:solidFill>
                  <a:srgbClr val="6B6B70"/>
                </a:solidFill>
                <a:latin typeface="Lato"/>
              </a:defRPr>
            </a:pPr>
            <a:endParaRPr lang="en-US"/>
          </a:p>
        </c:txPr>
        <c:crossAx val="-2068027336"/>
        <c:crosses val="autoZero"/>
        <c:crossBetween val="between"/>
        <c:majorUnit val="0.05"/>
      </c:valAx>
    </c:plotArea>
    <c:plotVisOnly val="1"/>
    <c:dispBlanksAs val="gap"/>
    <c:showDLblsOverMax val="1"/>
  </c:chart>
  <c:txPr>
    <a:bodyPr/>
    <a:lstStyle/>
    <a:p>
      <a:pPr>
        <a:defRPr sz="1000">
          <a:latin typeface="Lato"/>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2"/>
          <c:y val="0.02"/>
          <c:w val="0.6"/>
          <c:h val="0.88"/>
        </c:manualLayout>
      </c:layout>
      <c:lineChart>
        <c:grouping val="standard"/>
        <c:varyColors val="0"/>
        <c:ser>
          <c:idx val="0"/>
          <c:order val="0"/>
          <c:tx>
            <c:strRef>
              <c:f>Sheet1!$B$1</c:f>
              <c:strCache>
                <c:ptCount val="1"/>
                <c:pt idx="0">
                  <c:v>Northeastern U.</c:v>
                </c:pt>
              </c:strCache>
            </c:strRef>
          </c:tx>
          <c:spPr>
            <a:ln w="50800">
              <a:solidFill>
                <a:srgbClr val="C8102E"/>
              </a:solidFill>
            </a:ln>
          </c:spPr>
          <c:marker>
            <c:symbol val="circle"/>
            <c:size val="7"/>
            <c:spPr>
              <a:solidFill>
                <a:srgbClr val="C8102E"/>
              </a:solidFill>
              <a:ln>
                <a:solidFill>
                  <a:srgbClr val="C8102E"/>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Sheet1!$B$2:$B$12</c:f>
              <c:numCache>
                <c:formatCode>General</c:formatCode>
                <c:ptCount val="11"/>
                <c:pt idx="0">
                  <c:v>42</c:v>
                </c:pt>
                <c:pt idx="1">
                  <c:v>41</c:v>
                </c:pt>
                <c:pt idx="2">
                  <c:v>40</c:v>
                </c:pt>
                <c:pt idx="3">
                  <c:v>42</c:v>
                </c:pt>
                <c:pt idx="4">
                  <c:v>39</c:v>
                </c:pt>
                <c:pt idx="5">
                  <c:v>39</c:v>
                </c:pt>
                <c:pt idx="6">
                  <c:v>39</c:v>
                </c:pt>
                <c:pt idx="7">
                  <c:v>38</c:v>
                </c:pt>
                <c:pt idx="8">
                  <c:v>38</c:v>
                </c:pt>
                <c:pt idx="9">
                  <c:v>36</c:v>
                </c:pt>
                <c:pt idx="10">
                  <c:v>33</c:v>
                </c:pt>
              </c:numCache>
            </c:numRef>
          </c:val>
          <c:smooth val="0"/>
          <c:extLst>
            <c:ext xmlns:c16="http://schemas.microsoft.com/office/drawing/2014/chart" uri="{C3380CC4-5D6E-409C-BE32-E72D297353CC}">
              <c16:uniqueId val="{00000000-BAEA-4892-8386-4737637F203D}"/>
            </c:ext>
          </c:extLst>
        </c:ser>
        <c:ser>
          <c:idx val="1"/>
          <c:order val="1"/>
          <c:tx>
            <c:strRef>
              <c:f>Sheet1!$C$1</c:f>
              <c:strCache>
                <c:ptCount val="1"/>
                <c:pt idx="0">
                  <c:v>U. Notre Dame</c:v>
                </c:pt>
              </c:strCache>
            </c:strRef>
          </c:tx>
          <c:spPr>
            <a:ln w="22225">
              <a:solidFill>
                <a:srgbClr val="B8BBBD"/>
              </a:solidFill>
            </a:ln>
          </c:spPr>
          <c:marker>
            <c:symbol val="circle"/>
            <c:size val="5"/>
            <c:spPr>
              <a:solidFill>
                <a:srgbClr val="B8BBBD"/>
              </a:solidFill>
              <a:ln>
                <a:solidFill>
                  <a:srgbClr val="B8BBBD"/>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Sheet1!$C$2:$C$12</c:f>
              <c:numCache>
                <c:formatCode>General</c:formatCode>
                <c:ptCount val="11"/>
                <c:pt idx="0">
                  <c:v>34</c:v>
                </c:pt>
                <c:pt idx="1">
                  <c:v>34</c:v>
                </c:pt>
                <c:pt idx="2">
                  <c:v>33</c:v>
                </c:pt>
                <c:pt idx="3">
                  <c:v>32</c:v>
                </c:pt>
                <c:pt idx="4">
                  <c:v>34</c:v>
                </c:pt>
                <c:pt idx="5">
                  <c:v>34</c:v>
                </c:pt>
                <c:pt idx="6">
                  <c:v>36</c:v>
                </c:pt>
                <c:pt idx="7">
                  <c:v>36</c:v>
                </c:pt>
                <c:pt idx="8">
                  <c:v>33</c:v>
                </c:pt>
                <c:pt idx="9">
                  <c:v>34</c:v>
                </c:pt>
                <c:pt idx="10">
                  <c:v>34</c:v>
                </c:pt>
              </c:numCache>
            </c:numRef>
          </c:val>
          <c:smooth val="0"/>
          <c:extLst>
            <c:ext xmlns:c16="http://schemas.microsoft.com/office/drawing/2014/chart" uri="{C3380CC4-5D6E-409C-BE32-E72D297353CC}">
              <c16:uniqueId val="{00000001-BAEA-4892-8386-4737637F203D}"/>
            </c:ext>
          </c:extLst>
        </c:ser>
        <c:ser>
          <c:idx val="2"/>
          <c:order val="2"/>
          <c:tx>
            <c:strRef>
              <c:f>Sheet1!$D$1</c:f>
              <c:strCache>
                <c:ptCount val="1"/>
                <c:pt idx="0">
                  <c:v>Wake Forest U.</c:v>
                </c:pt>
              </c:strCache>
            </c:strRef>
          </c:tx>
          <c:spPr>
            <a:ln w="22225">
              <a:solidFill>
                <a:srgbClr val="B8BBBD"/>
              </a:solidFill>
            </a:ln>
          </c:spPr>
          <c:marker>
            <c:symbol val="circle"/>
            <c:size val="5"/>
            <c:spPr>
              <a:solidFill>
                <a:srgbClr val="B8BBBD"/>
              </a:solidFill>
              <a:ln>
                <a:solidFill>
                  <a:srgbClr val="B8BBBD"/>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Sheet1!$D$2:$D$12</c:f>
              <c:numCache>
                <c:formatCode>General</c:formatCode>
                <c:ptCount val="11"/>
                <c:pt idx="0">
                  <c:v>35</c:v>
                </c:pt>
                <c:pt idx="1">
                  <c:v>36</c:v>
                </c:pt>
                <c:pt idx="2">
                  <c:v>37</c:v>
                </c:pt>
                <c:pt idx="3">
                  <c:v>37</c:v>
                </c:pt>
                <c:pt idx="4">
                  <c:v>38</c:v>
                </c:pt>
                <c:pt idx="5">
                  <c:v>35</c:v>
                </c:pt>
                <c:pt idx="6">
                  <c:v>34</c:v>
                </c:pt>
                <c:pt idx="7">
                  <c:v>34</c:v>
                </c:pt>
                <c:pt idx="8">
                  <c:v>35</c:v>
                </c:pt>
                <c:pt idx="9">
                  <c:v>35</c:v>
                </c:pt>
                <c:pt idx="10">
                  <c:v>35</c:v>
                </c:pt>
              </c:numCache>
            </c:numRef>
          </c:val>
          <c:smooth val="0"/>
          <c:extLst>
            <c:ext xmlns:c16="http://schemas.microsoft.com/office/drawing/2014/chart" uri="{C3380CC4-5D6E-409C-BE32-E72D297353CC}">
              <c16:uniqueId val="{00000002-BAEA-4892-8386-4737637F203D}"/>
            </c:ext>
          </c:extLst>
        </c:ser>
        <c:ser>
          <c:idx val="3"/>
          <c:order val="3"/>
          <c:tx>
            <c:strRef>
              <c:f>Sheet1!$E$1</c:f>
              <c:strCache>
                <c:ptCount val="1"/>
                <c:pt idx="0">
                  <c:v>Woods Hole</c:v>
                </c:pt>
              </c:strCache>
            </c:strRef>
          </c:tx>
          <c:spPr>
            <a:ln w="22225">
              <a:solidFill>
                <a:srgbClr val="B8BBBD"/>
              </a:solidFill>
            </a:ln>
          </c:spPr>
          <c:marker>
            <c:symbol val="circle"/>
            <c:size val="5"/>
            <c:spPr>
              <a:solidFill>
                <a:srgbClr val="B8BBBD"/>
              </a:solidFill>
              <a:ln>
                <a:solidFill>
                  <a:srgbClr val="B8BBBD"/>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Sheet1!$E$2:$E$12</c:f>
              <c:numCache>
                <c:formatCode>General</c:formatCode>
                <c:ptCount val="11"/>
                <c:pt idx="0">
                  <c:v>31</c:v>
                </c:pt>
                <c:pt idx="1">
                  <c:v>31</c:v>
                </c:pt>
                <c:pt idx="2">
                  <c:v>32</c:v>
                </c:pt>
                <c:pt idx="3">
                  <c:v>36</c:v>
                </c:pt>
                <c:pt idx="4">
                  <c:v>36</c:v>
                </c:pt>
                <c:pt idx="5">
                  <c:v>36</c:v>
                </c:pt>
                <c:pt idx="6">
                  <c:v>35</c:v>
                </c:pt>
                <c:pt idx="7">
                  <c:v>35</c:v>
                </c:pt>
                <c:pt idx="8">
                  <c:v>36</c:v>
                </c:pt>
                <c:pt idx="9">
                  <c:v>37</c:v>
                </c:pt>
                <c:pt idx="10">
                  <c:v>36</c:v>
                </c:pt>
              </c:numCache>
            </c:numRef>
          </c:val>
          <c:smooth val="0"/>
          <c:extLst>
            <c:ext xmlns:c16="http://schemas.microsoft.com/office/drawing/2014/chart" uri="{C3380CC4-5D6E-409C-BE32-E72D297353CC}">
              <c16:uniqueId val="{00000003-BAEA-4892-8386-4737637F203D}"/>
            </c:ext>
          </c:extLst>
        </c:ser>
        <c:ser>
          <c:idx val="4"/>
          <c:order val="4"/>
          <c:tx>
            <c:strRef>
              <c:f>Sheet1!$F$1</c:f>
              <c:strCache>
                <c:ptCount val="1"/>
                <c:pt idx="0">
                  <c:v>Rockefeller U.</c:v>
                </c:pt>
              </c:strCache>
            </c:strRef>
          </c:tx>
          <c:spPr>
            <a:ln w="22225">
              <a:solidFill>
                <a:srgbClr val="B8BBBD"/>
              </a:solidFill>
            </a:ln>
          </c:spPr>
          <c:marker>
            <c:symbol val="circle"/>
            <c:size val="5"/>
            <c:spPr>
              <a:solidFill>
                <a:srgbClr val="B8BBBD"/>
              </a:solidFill>
              <a:ln>
                <a:solidFill>
                  <a:srgbClr val="B8BBBD"/>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Sheet1!$F$2:$F$12</c:f>
              <c:numCache>
                <c:formatCode>General</c:formatCode>
                <c:ptCount val="11"/>
                <c:pt idx="0">
                  <c:v>26</c:v>
                </c:pt>
                <c:pt idx="1">
                  <c:v>26</c:v>
                </c:pt>
                <c:pt idx="2">
                  <c:v>26</c:v>
                </c:pt>
                <c:pt idx="3">
                  <c:v>25</c:v>
                </c:pt>
                <c:pt idx="4">
                  <c:v>26</c:v>
                </c:pt>
                <c:pt idx="5">
                  <c:v>27</c:v>
                </c:pt>
                <c:pt idx="6">
                  <c:v>27</c:v>
                </c:pt>
                <c:pt idx="7">
                  <c:v>27</c:v>
                </c:pt>
                <c:pt idx="8">
                  <c:v>27</c:v>
                </c:pt>
                <c:pt idx="9">
                  <c:v>27</c:v>
                </c:pt>
                <c:pt idx="10">
                  <c:v>37</c:v>
                </c:pt>
              </c:numCache>
            </c:numRef>
          </c:val>
          <c:smooth val="0"/>
          <c:extLst>
            <c:ext xmlns:c16="http://schemas.microsoft.com/office/drawing/2014/chart" uri="{C3380CC4-5D6E-409C-BE32-E72D297353CC}">
              <c16:uniqueId val="{00000004-BAEA-4892-8386-4737637F203D}"/>
            </c:ext>
          </c:extLst>
        </c:ser>
        <c:ser>
          <c:idx val="5"/>
          <c:order val="5"/>
          <c:tx>
            <c:strRef>
              <c:f>Sheet1!$G$1</c:f>
              <c:strCache>
                <c:ptCount val="1"/>
                <c:pt idx="0">
                  <c:v>Tufts U.</c:v>
                </c:pt>
              </c:strCache>
            </c:strRef>
          </c:tx>
          <c:spPr>
            <a:ln w="22225">
              <a:solidFill>
                <a:srgbClr val="B8BBBD"/>
              </a:solidFill>
            </a:ln>
          </c:spPr>
          <c:marker>
            <c:symbol val="circle"/>
            <c:size val="5"/>
            <c:spPr>
              <a:solidFill>
                <a:srgbClr val="B8BBBD"/>
              </a:solidFill>
              <a:ln>
                <a:solidFill>
                  <a:srgbClr val="B8BBBD"/>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Sheet1!$G$2:$G$12</c:f>
              <c:numCache>
                <c:formatCode>General</c:formatCode>
                <c:ptCount val="11"/>
                <c:pt idx="0">
                  <c:v>37</c:v>
                </c:pt>
                <c:pt idx="1">
                  <c:v>37</c:v>
                </c:pt>
                <c:pt idx="2">
                  <c:v>35</c:v>
                </c:pt>
                <c:pt idx="3">
                  <c:v>31</c:v>
                </c:pt>
                <c:pt idx="4">
                  <c:v>35</c:v>
                </c:pt>
                <c:pt idx="5">
                  <c:v>37</c:v>
                </c:pt>
                <c:pt idx="6">
                  <c:v>37</c:v>
                </c:pt>
                <c:pt idx="7">
                  <c:v>37</c:v>
                </c:pt>
                <c:pt idx="8">
                  <c:v>39</c:v>
                </c:pt>
                <c:pt idx="9">
                  <c:v>41</c:v>
                </c:pt>
                <c:pt idx="10">
                  <c:v>38</c:v>
                </c:pt>
              </c:numCache>
            </c:numRef>
          </c:val>
          <c:smooth val="0"/>
          <c:extLst>
            <c:ext xmlns:c16="http://schemas.microsoft.com/office/drawing/2014/chart" uri="{C3380CC4-5D6E-409C-BE32-E72D297353CC}">
              <c16:uniqueId val="{00000005-BAEA-4892-8386-4737637F203D}"/>
            </c:ext>
          </c:extLst>
        </c:ser>
        <c:ser>
          <c:idx val="6"/>
          <c:order val="6"/>
          <c:tx>
            <c:strRef>
              <c:f>Sheet1!$H$1</c:f>
              <c:strCache>
                <c:ptCount val="1"/>
                <c:pt idx="0">
                  <c:v>Rice U.</c:v>
                </c:pt>
              </c:strCache>
            </c:strRef>
          </c:tx>
          <c:spPr>
            <a:ln w="22225">
              <a:solidFill>
                <a:srgbClr val="B8BBBD"/>
              </a:solidFill>
            </a:ln>
          </c:spPr>
          <c:marker>
            <c:symbol val="circle"/>
            <c:size val="5"/>
            <c:spPr>
              <a:solidFill>
                <a:srgbClr val="B8BBBD"/>
              </a:solidFill>
              <a:ln>
                <a:solidFill>
                  <a:srgbClr val="B8BBBD"/>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Sheet1!$H$2:$H$12</c:f>
              <c:numCache>
                <c:formatCode>General</c:formatCode>
                <c:ptCount val="11"/>
                <c:pt idx="0">
                  <c:v>39</c:v>
                </c:pt>
                <c:pt idx="1">
                  <c:v>39</c:v>
                </c:pt>
                <c:pt idx="2">
                  <c:v>39</c:v>
                </c:pt>
                <c:pt idx="3">
                  <c:v>39</c:v>
                </c:pt>
                <c:pt idx="4">
                  <c:v>40</c:v>
                </c:pt>
                <c:pt idx="5">
                  <c:v>40</c:v>
                </c:pt>
                <c:pt idx="6">
                  <c:v>40</c:v>
                </c:pt>
                <c:pt idx="7">
                  <c:v>39</c:v>
                </c:pt>
                <c:pt idx="8">
                  <c:v>41</c:v>
                </c:pt>
                <c:pt idx="9">
                  <c:v>40</c:v>
                </c:pt>
                <c:pt idx="10">
                  <c:v>39</c:v>
                </c:pt>
              </c:numCache>
            </c:numRef>
          </c:val>
          <c:smooth val="0"/>
          <c:extLst>
            <c:ext xmlns:c16="http://schemas.microsoft.com/office/drawing/2014/chart" uri="{C3380CC4-5D6E-409C-BE32-E72D297353CC}">
              <c16:uniqueId val="{00000006-BAEA-4892-8386-4737637F203D}"/>
            </c:ext>
          </c:extLst>
        </c:ser>
        <c:ser>
          <c:idx val="7"/>
          <c:order val="7"/>
          <c:tx>
            <c:strRef>
              <c:f>Sheet1!$I$1</c:f>
              <c:strCache>
                <c:ptCount val="1"/>
                <c:pt idx="0">
                  <c:v>Tulane U.</c:v>
                </c:pt>
              </c:strCache>
            </c:strRef>
          </c:tx>
          <c:spPr>
            <a:ln w="22225">
              <a:solidFill>
                <a:srgbClr val="B8BBBD"/>
              </a:solidFill>
            </a:ln>
          </c:spPr>
          <c:marker>
            <c:symbol val="circle"/>
            <c:size val="5"/>
            <c:spPr>
              <a:solidFill>
                <a:srgbClr val="B8BBBD"/>
              </a:solidFill>
              <a:ln>
                <a:solidFill>
                  <a:srgbClr val="B8BBBD"/>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Sheet1!$I$2:$I$12</c:f>
              <c:numCache>
                <c:formatCode>General</c:formatCode>
                <c:ptCount val="11"/>
                <c:pt idx="0">
                  <c:v>38</c:v>
                </c:pt>
                <c:pt idx="1">
                  <c:v>38</c:v>
                </c:pt>
                <c:pt idx="2">
                  <c:v>38</c:v>
                </c:pt>
                <c:pt idx="3">
                  <c:v>38</c:v>
                </c:pt>
                <c:pt idx="4">
                  <c:v>37</c:v>
                </c:pt>
                <c:pt idx="5">
                  <c:v>38</c:v>
                </c:pt>
                <c:pt idx="6">
                  <c:v>38</c:v>
                </c:pt>
                <c:pt idx="7">
                  <c:v>40</c:v>
                </c:pt>
                <c:pt idx="8">
                  <c:v>40</c:v>
                </c:pt>
                <c:pt idx="9">
                  <c:v>38</c:v>
                </c:pt>
                <c:pt idx="10">
                  <c:v>40</c:v>
                </c:pt>
              </c:numCache>
            </c:numRef>
          </c:val>
          <c:smooth val="0"/>
          <c:extLst>
            <c:ext xmlns:c16="http://schemas.microsoft.com/office/drawing/2014/chart" uri="{C3380CC4-5D6E-409C-BE32-E72D297353CC}">
              <c16:uniqueId val="{00000007-BAEA-4892-8386-4737637F203D}"/>
            </c:ext>
          </c:extLst>
        </c:ser>
        <c:ser>
          <c:idx val="8"/>
          <c:order val="8"/>
          <c:tx>
            <c:strRef>
              <c:f>Sheet1!$J$1</c:f>
              <c:strCache>
                <c:ptCount val="1"/>
                <c:pt idx="0">
                  <c:v>Thomas Jefferson U.</c:v>
                </c:pt>
              </c:strCache>
            </c:strRef>
          </c:tx>
          <c:spPr>
            <a:ln w="22225">
              <a:solidFill>
                <a:srgbClr val="B8BBBD"/>
              </a:solidFill>
            </a:ln>
          </c:spPr>
          <c:marker>
            <c:symbol val="circle"/>
            <c:size val="5"/>
            <c:spPr>
              <a:solidFill>
                <a:srgbClr val="B8BBBD"/>
              </a:solidFill>
              <a:ln>
                <a:solidFill>
                  <a:srgbClr val="B8BBBD"/>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Sheet1!$J$2:$J$12</c:f>
              <c:numCache>
                <c:formatCode>General</c:formatCode>
                <c:ptCount val="11"/>
                <c:pt idx="0">
                  <c:v>41</c:v>
                </c:pt>
                <c:pt idx="1">
                  <c:v>42</c:v>
                </c:pt>
                <c:pt idx="2">
                  <c:v>42</c:v>
                </c:pt>
                <c:pt idx="3">
                  <c:v>41</c:v>
                </c:pt>
                <c:pt idx="4">
                  <c:v>42</c:v>
                </c:pt>
                <c:pt idx="5">
                  <c:v>41</c:v>
                </c:pt>
                <c:pt idx="6">
                  <c:v>41</c:v>
                </c:pt>
                <c:pt idx="7">
                  <c:v>41</c:v>
                </c:pt>
                <c:pt idx="8">
                  <c:v>37</c:v>
                </c:pt>
                <c:pt idx="9">
                  <c:v>39</c:v>
                </c:pt>
                <c:pt idx="10">
                  <c:v>41</c:v>
                </c:pt>
              </c:numCache>
            </c:numRef>
          </c:val>
          <c:smooth val="0"/>
          <c:extLst>
            <c:ext xmlns:c16="http://schemas.microsoft.com/office/drawing/2014/chart" uri="{C3380CC4-5D6E-409C-BE32-E72D297353CC}">
              <c16:uniqueId val="{00000008-BAEA-4892-8386-4737637F203D}"/>
            </c:ext>
          </c:extLst>
        </c:ser>
        <c:ser>
          <c:idx val="9"/>
          <c:order val="9"/>
          <c:tx>
            <c:strRef>
              <c:f>Sheet1!$K$1</c:f>
              <c:strCache>
                <c:ptCount val="1"/>
                <c:pt idx="0">
                  <c:v>Drexel U.</c:v>
                </c:pt>
              </c:strCache>
            </c:strRef>
          </c:tx>
          <c:spPr>
            <a:ln w="22225">
              <a:solidFill>
                <a:srgbClr val="B8BBBD"/>
              </a:solidFill>
            </a:ln>
          </c:spPr>
          <c:marker>
            <c:symbol val="circle"/>
            <c:size val="5"/>
            <c:spPr>
              <a:solidFill>
                <a:srgbClr val="B8BBBD"/>
              </a:solidFill>
              <a:ln>
                <a:solidFill>
                  <a:srgbClr val="B8BBBD"/>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Sheet1!$K$2:$K$12</c:f>
              <c:numCache>
                <c:formatCode>General</c:formatCode>
                <c:ptCount val="11"/>
                <c:pt idx="0">
                  <c:v>40</c:v>
                </c:pt>
                <c:pt idx="1">
                  <c:v>40</c:v>
                </c:pt>
                <c:pt idx="2">
                  <c:v>41</c:v>
                </c:pt>
                <c:pt idx="3">
                  <c:v>43</c:v>
                </c:pt>
                <c:pt idx="4">
                  <c:v>41</c:v>
                </c:pt>
                <c:pt idx="5">
                  <c:v>44</c:v>
                </c:pt>
                <c:pt idx="6">
                  <c:v>44</c:v>
                </c:pt>
                <c:pt idx="7">
                  <c:v>43</c:v>
                </c:pt>
                <c:pt idx="8">
                  <c:v>44</c:v>
                </c:pt>
                <c:pt idx="9">
                  <c:v>44</c:v>
                </c:pt>
                <c:pt idx="10">
                  <c:v>44</c:v>
                </c:pt>
              </c:numCache>
            </c:numRef>
          </c:val>
          <c:smooth val="0"/>
          <c:extLst>
            <c:ext xmlns:c16="http://schemas.microsoft.com/office/drawing/2014/chart" uri="{C3380CC4-5D6E-409C-BE32-E72D297353CC}">
              <c16:uniqueId val="{00000009-BAEA-4892-8386-4737637F203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8A8F98"/>
            </a:solidFill>
          </a:ln>
        </c:spPr>
        <c:txPr>
          <a:bodyPr/>
          <a:lstStyle/>
          <a:p>
            <a:pPr>
              <a:defRPr sz="1100">
                <a:solidFill>
                  <a:srgbClr val="2B2B2B"/>
                </a:solidFill>
                <a:latin typeface="Lato"/>
              </a:defRPr>
            </a:pPr>
            <a:endParaRPr lang="en-US"/>
          </a:p>
        </c:txPr>
        <c:crossAx val="2140495176"/>
        <c:crosses val="max"/>
        <c:auto val="1"/>
        <c:lblAlgn val="ctr"/>
        <c:lblOffset val="100"/>
        <c:noMultiLvlLbl val="0"/>
      </c:catAx>
      <c:valAx>
        <c:axId val="2140495176"/>
        <c:scaling>
          <c:orientation val="maxMin"/>
          <c:max val="45"/>
          <c:min val="24"/>
        </c:scaling>
        <c:delete val="0"/>
        <c:axPos val="l"/>
        <c:majorGridlines>
          <c:spPr>
            <a:ln w="9525">
              <a:solidFill>
                <a:srgbClr val="E4E4E6"/>
              </a:solidFill>
            </a:ln>
          </c:spPr>
        </c:majorGridlines>
        <c:numFmt formatCode="&quot;#&quot;0" sourceLinked="0"/>
        <c:majorTickMark val="none"/>
        <c:minorTickMark val="none"/>
        <c:tickLblPos val="none"/>
        <c:spPr>
          <a:ln>
            <a:noFill/>
          </a:ln>
        </c:spPr>
        <c:txPr>
          <a:bodyPr/>
          <a:lstStyle/>
          <a:p>
            <a:pPr>
              <a:defRPr sz="1100">
                <a:solidFill>
                  <a:srgbClr val="6B6B70"/>
                </a:solidFill>
                <a:latin typeface="Lato"/>
              </a:defRPr>
            </a:pPr>
            <a:endParaRPr lang="en-US"/>
          </a:p>
        </c:txPr>
        <c:crossAx val="2118791784"/>
        <c:crosses val="autoZero"/>
        <c:crossBetween val="between"/>
        <c:majorUnit val="2"/>
      </c:valAx>
    </c:plotArea>
    <c:plotVisOnly val="1"/>
    <c:dispBlanksAs val="gap"/>
    <c:showDLblsOverMax val="0"/>
  </c:chart>
  <c:txPr>
    <a:bodyPr/>
    <a:lstStyle/>
    <a:p>
      <a:pPr>
        <a:defRPr sz="1000">
          <a:latin typeface="Lato"/>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06"/>
          <c:y val="0.02"/>
          <c:w val="0.92"/>
          <c:h val="0.86"/>
        </c:manualLayout>
      </c:layout>
      <c:scatterChart>
        <c:scatterStyle val="lineMarker"/>
        <c:varyColors val="0"/>
        <c:ser>
          <c:idx val="0"/>
          <c:order val="0"/>
          <c:tx>
            <c:strRef>
              <c:f>Sheet1!$B$1</c:f>
              <c:strCache>
                <c:ptCount val="1"/>
                <c:pt idx="0">
                  <c:v>others</c:v>
                </c:pt>
              </c:strCache>
            </c:strRef>
          </c:tx>
          <c:spPr>
            <a:ln w="47625">
              <a:noFill/>
            </a:ln>
          </c:spPr>
          <c:marker>
            <c:symbol val="circle"/>
            <c:size val="8"/>
            <c:spPr>
              <a:solidFill>
                <a:srgbClr val="3A3A3F"/>
              </a:solidFill>
              <a:ln>
                <a:solidFill>
                  <a:srgbClr val="FFFFFF"/>
                </a:solidFill>
              </a:ln>
            </c:spPr>
          </c:marker>
          <c:xVal>
            <c:numRef>
              <c:f>Sheet1!$A$2:$A$48</c:f>
              <c:numCache>
                <c:formatCode>General</c:formatCode>
                <c:ptCount val="47"/>
                <c:pt idx="0">
                  <c:v>4129.2640000000001</c:v>
                </c:pt>
                <c:pt idx="1">
                  <c:v>2167.5039999999999</c:v>
                </c:pt>
                <c:pt idx="2">
                  <c:v>1641.961</c:v>
                </c:pt>
                <c:pt idx="3">
                  <c:v>1613.6310000000001</c:v>
                </c:pt>
                <c:pt idx="4">
                  <c:v>1580.7560000000001</c:v>
                </c:pt>
                <c:pt idx="5">
                  <c:v>1519.694</c:v>
                </c:pt>
                <c:pt idx="6">
                  <c:v>1500.732</c:v>
                </c:pt>
                <c:pt idx="7">
                  <c:v>1494.527</c:v>
                </c:pt>
                <c:pt idx="8">
                  <c:v>1449.5350000000001</c:v>
                </c:pt>
                <c:pt idx="9">
                  <c:v>1327.87</c:v>
                </c:pt>
                <c:pt idx="10">
                  <c:v>1264.1969999999999</c:v>
                </c:pt>
                <c:pt idx="11">
                  <c:v>1257.8589999999999</c:v>
                </c:pt>
                <c:pt idx="12">
                  <c:v>1246.5070000000001</c:v>
                </c:pt>
                <c:pt idx="13">
                  <c:v>1243.115</c:v>
                </c:pt>
                <c:pt idx="14">
                  <c:v>1065.5540000000001</c:v>
                </c:pt>
                <c:pt idx="15">
                  <c:v>1015.6</c:v>
                </c:pt>
                <c:pt idx="16">
                  <c:v>881.226</c:v>
                </c:pt>
                <c:pt idx="17">
                  <c:v>784.35500000000002</c:v>
                </c:pt>
                <c:pt idx="18">
                  <c:v>680.75300000000004</c:v>
                </c:pt>
                <c:pt idx="19">
                  <c:v>642.54600000000005</c:v>
                </c:pt>
                <c:pt idx="20">
                  <c:v>559.01300000000003</c:v>
                </c:pt>
                <c:pt idx="21">
                  <c:v>558.62400000000002</c:v>
                </c:pt>
                <c:pt idx="22">
                  <c:v>505.262</c:v>
                </c:pt>
                <c:pt idx="23">
                  <c:v>501.46800000000002</c:v>
                </c:pt>
                <c:pt idx="24">
                  <c:v>492.37200000000001</c:v>
                </c:pt>
                <c:pt idx="25">
                  <c:v>445.173</c:v>
                </c:pt>
                <c:pt idx="26">
                  <c:v>418.42899999999997</c:v>
                </c:pt>
                <c:pt idx="27">
                  <c:v>381.58199999999999</c:v>
                </c:pt>
                <c:pt idx="28">
                  <c:v>376.6</c:v>
                </c:pt>
                <c:pt idx="29">
                  <c:v>374.50400000000002</c:v>
                </c:pt>
                <c:pt idx="30">
                  <c:v>360.30900000000003</c:v>
                </c:pt>
                <c:pt idx="31">
                  <c:v>345.791</c:v>
                </c:pt>
                <c:pt idx="32">
                  <c:v>344.517</c:v>
                </c:pt>
                <c:pt idx="33">
                  <c:v>308.24</c:v>
                </c:pt>
                <c:pt idx="34">
                  <c:v>305.3</c:v>
                </c:pt>
                <c:pt idx="35">
                  <c:v>278.30399999999997</c:v>
                </c:pt>
                <c:pt idx="36">
                  <c:v>277.68299999999999</c:v>
                </c:pt>
                <c:pt idx="37">
                  <c:v>275.88499999999999</c:v>
                </c:pt>
                <c:pt idx="38">
                  <c:v>271.19799999999998</c:v>
                </c:pt>
                <c:pt idx="39">
                  <c:v>252.53700000000001</c:v>
                </c:pt>
                <c:pt idx="40">
                  <c:v>198.75</c:v>
                </c:pt>
                <c:pt idx="41">
                  <c:v>170.20500000000001</c:v>
                </c:pt>
                <c:pt idx="42">
                  <c:v>158.31899999999999</c:v>
                </c:pt>
                <c:pt idx="43">
                  <c:v>140.24700000000001</c:v>
                </c:pt>
                <c:pt idx="44">
                  <c:v>139.29499999999999</c:v>
                </c:pt>
                <c:pt idx="45">
                  <c:v>126.502</c:v>
                </c:pt>
                <c:pt idx="46">
                  <c:v>107.059</c:v>
                </c:pt>
              </c:numCache>
            </c:numRef>
          </c:xVal>
          <c:yVal>
            <c:numRef>
              <c:f>Sheet1!$B$2:$B$48</c:f>
              <c:numCache>
                <c:formatCode>General</c:formatCode>
                <c:ptCount val="47"/>
                <c:pt idx="0">
                  <c:v>6.2953939596230635E-2</c:v>
                </c:pt>
                <c:pt idx="1">
                  <c:v>0.10096776388633821</c:v>
                </c:pt>
                <c:pt idx="2">
                  <c:v>5.5220546243955226E-2</c:v>
                </c:pt>
                <c:pt idx="3">
                  <c:v>6.2111211367757768E-2</c:v>
                </c:pt>
                <c:pt idx="4">
                  <c:v>4.3077171119743074E-2</c:v>
                </c:pt>
                <c:pt idx="5">
                  <c:v>6.9957816258395811E-2</c:v>
                </c:pt>
                <c:pt idx="6">
                  <c:v>0.11103679712373249</c:v>
                </c:pt>
                <c:pt idx="7">
                  <c:v>4.813410201728896E-2</c:v>
                </c:pt>
                <c:pt idx="8">
                  <c:v>4.9911163430377936E-2</c:v>
                </c:pt>
                <c:pt idx="9">
                  <c:v>6.8604332357538711E-2</c:v>
                </c:pt>
                <c:pt idx="10">
                  <c:v>6.2849494029934228E-2</c:v>
                </c:pt>
                <c:pt idx="11">
                  <c:v>6.9017485267081291E-2</c:v>
                </c:pt>
                <c:pt idx="12">
                  <c:v>8.3576004254983349E-2</c:v>
                </c:pt>
                <c:pt idx="13">
                  <c:v>6.4596822067163107E-2</c:v>
                </c:pt>
                <c:pt idx="14">
                  <c:v>1.6127367467030362E-2</c:v>
                </c:pt>
                <c:pt idx="15">
                  <c:v>8.1618105681389164E-2</c:v>
                </c:pt>
                <c:pt idx="16">
                  <c:v>5.9090512635068926E-2</c:v>
                </c:pt>
                <c:pt idx="17">
                  <c:v>7.8812235740196579E-2</c:v>
                </c:pt>
                <c:pt idx="18">
                  <c:v>5.7263806856458599E-2</c:v>
                </c:pt>
                <c:pt idx="19">
                  <c:v>4.3681246814267993E-2</c:v>
                </c:pt>
                <c:pt idx="20">
                  <c:v>4.9201889214637307E-2</c:v>
                </c:pt>
                <c:pt idx="21">
                  <c:v>6.6558307386942239E-2</c:v>
                </c:pt>
                <c:pt idx="22">
                  <c:v>7.237306405745092E-2</c:v>
                </c:pt>
                <c:pt idx="23">
                  <c:v>2.6454279267015712E-2</c:v>
                </c:pt>
                <c:pt idx="24">
                  <c:v>3.3713874471494432E-2</c:v>
                </c:pt>
                <c:pt idx="25">
                  <c:v>1.9447213940396502E-2</c:v>
                </c:pt>
                <c:pt idx="26">
                  <c:v>7.0051366556306283E-2</c:v>
                </c:pt>
                <c:pt idx="27">
                  <c:v>5.2849404206759987E-2</c:v>
                </c:pt>
                <c:pt idx="28">
                  <c:v>8.1066127413472522E-2</c:v>
                </c:pt>
                <c:pt idx="29">
                  <c:v>9.2590051156613562E-3</c:v>
                </c:pt>
                <c:pt idx="30">
                  <c:v>6.0783797059531519E-2</c:v>
                </c:pt>
                <c:pt idx="31">
                  <c:v>6.615379636519636E-2</c:v>
                </c:pt>
                <c:pt idx="32">
                  <c:v>6.9242301043524135E-2</c:v>
                </c:pt>
                <c:pt idx="33">
                  <c:v>3.4292732549794147E-2</c:v>
                </c:pt>
                <c:pt idx="34">
                  <c:v>-3.5547860584134172E-3</c:v>
                </c:pt>
                <c:pt idx="35">
                  <c:v>5.6371288463085145E-2</c:v>
                </c:pt>
                <c:pt idx="36">
                  <c:v>7.2009576128954533E-2</c:v>
                </c:pt>
                <c:pt idx="37">
                  <c:v>5.7438769200519602E-2</c:v>
                </c:pt>
                <c:pt idx="38">
                  <c:v>8.6429497117629595E-2</c:v>
                </c:pt>
                <c:pt idx="39">
                  <c:v>0.11260247217712394</c:v>
                </c:pt>
                <c:pt idx="40">
                  <c:v>0.11600362977605672</c:v>
                </c:pt>
                <c:pt idx="41">
                  <c:v>2.6393231724259447E-2</c:v>
                </c:pt>
                <c:pt idx="42">
                  <c:v>0.1532320308009254</c:v>
                </c:pt>
                <c:pt idx="43">
                  <c:v>2.8773280642371279E-2</c:v>
                </c:pt>
                <c:pt idx="44">
                  <c:v>5.6298003988048517E-2</c:v>
                </c:pt>
                <c:pt idx="45">
                  <c:v>5.1263343780436399E-2</c:v>
                </c:pt>
                <c:pt idx="46">
                  <c:v>3.6241126474933383E-2</c:v>
                </c:pt>
              </c:numCache>
            </c:numRef>
          </c:yVal>
          <c:smooth val="0"/>
          <c:extLst>
            <c:ext xmlns:c16="http://schemas.microsoft.com/office/drawing/2014/chart" uri="{C3380CC4-5D6E-409C-BE32-E72D297353CC}">
              <c16:uniqueId val="{00000000-86B8-454A-94DE-A0BFAFE55638}"/>
            </c:ext>
          </c:extLst>
        </c:ser>
        <c:ser>
          <c:idx val="1"/>
          <c:order val="1"/>
          <c:tx>
            <c:strRef>
              <c:f>Sheet1!$B$50</c:f>
              <c:strCache>
                <c:ptCount val="1"/>
                <c:pt idx="0">
                  <c:v>nu</c:v>
                </c:pt>
              </c:strCache>
            </c:strRef>
          </c:tx>
          <c:spPr>
            <a:ln w="47625">
              <a:noFill/>
            </a:ln>
          </c:spPr>
          <c:marker>
            <c:symbol val="circle"/>
            <c:size val="14"/>
            <c:spPr>
              <a:solidFill>
                <a:srgbClr val="C8102E"/>
              </a:solidFill>
              <a:ln>
                <a:solidFill>
                  <a:srgbClr val="FFFFFF"/>
                </a:solidFill>
              </a:ln>
            </c:spPr>
          </c:marker>
          <c:xVal>
            <c:numRef>
              <c:f>Sheet1!$A$51:$A$51</c:f>
              <c:numCache>
                <c:formatCode>General</c:formatCode>
                <c:ptCount val="1"/>
                <c:pt idx="0">
                  <c:v>346.9</c:v>
                </c:pt>
              </c:numCache>
            </c:numRef>
          </c:xVal>
          <c:yVal>
            <c:numRef>
              <c:f>Sheet1!$B$51:$B$51</c:f>
              <c:numCache>
                <c:formatCode>General</c:formatCode>
                <c:ptCount val="1"/>
                <c:pt idx="0">
                  <c:v>0.11553448870113647</c:v>
                </c:pt>
              </c:numCache>
            </c:numRef>
          </c:yVal>
          <c:smooth val="0"/>
          <c:extLst>
            <c:ext xmlns:c16="http://schemas.microsoft.com/office/drawing/2014/chart" uri="{C3380CC4-5D6E-409C-BE32-E72D297353CC}">
              <c16:uniqueId val="{00000001-86B8-454A-94DE-A0BFAFE55638}"/>
            </c:ext>
          </c:extLst>
        </c:ser>
        <c:dLbls>
          <c:showLegendKey val="0"/>
          <c:showVal val="0"/>
          <c:showCatName val="0"/>
          <c:showSerName val="0"/>
          <c:showPercent val="0"/>
          <c:showBubbleSize val="0"/>
        </c:dLbls>
        <c:axId val="-2128940872"/>
        <c:axId val="-2129643912"/>
      </c:scatterChart>
      <c:valAx>
        <c:axId val="-2128940872"/>
        <c:scaling>
          <c:logBase val="10"/>
          <c:orientation val="minMax"/>
          <c:max val="5000"/>
          <c:min val="100"/>
        </c:scaling>
        <c:delete val="0"/>
        <c:axPos val="b"/>
        <c:numFmt formatCode="&quot;$&quot;#,##0&quot;M&quot;" sourceLinked="0"/>
        <c:majorTickMark val="none"/>
        <c:minorTickMark val="none"/>
        <c:tickLblPos val="none"/>
        <c:spPr>
          <a:ln w="9525">
            <a:solidFill>
              <a:srgbClr val="8A8F98"/>
            </a:solidFill>
          </a:ln>
        </c:spPr>
        <c:txPr>
          <a:bodyPr/>
          <a:lstStyle/>
          <a:p>
            <a:pPr>
              <a:defRPr sz="1000">
                <a:solidFill>
                  <a:srgbClr val="6B6B70"/>
                </a:solidFill>
                <a:latin typeface="Lato"/>
              </a:defRPr>
            </a:pPr>
            <a:endParaRPr lang="en-US"/>
          </a:p>
        </c:txPr>
        <c:crossAx val="-2129643912"/>
        <c:crosses val="autoZero"/>
        <c:crossBetween val="midCat"/>
      </c:valAx>
      <c:valAx>
        <c:axId val="-2129643912"/>
        <c:scaling>
          <c:orientation val="minMax"/>
          <c:max val="0.16"/>
          <c:min val="-0.02"/>
        </c:scaling>
        <c:delete val="0"/>
        <c:axPos val="l"/>
        <c:majorGridlines>
          <c:spPr>
            <a:ln w="9525">
              <a:solidFill>
                <a:srgbClr val="E4E4E6"/>
              </a:solidFill>
            </a:ln>
          </c:spPr>
        </c:majorGridlines>
        <c:numFmt formatCode="0%" sourceLinked="0"/>
        <c:majorTickMark val="none"/>
        <c:minorTickMark val="none"/>
        <c:tickLblPos val="nextTo"/>
        <c:spPr>
          <a:ln>
            <a:noFill/>
          </a:ln>
        </c:spPr>
        <c:txPr>
          <a:bodyPr/>
          <a:lstStyle/>
          <a:p>
            <a:pPr>
              <a:defRPr sz="1100">
                <a:solidFill>
                  <a:srgbClr val="6B6B70"/>
                </a:solidFill>
                <a:latin typeface="Lato"/>
              </a:defRPr>
            </a:pPr>
            <a:endParaRPr lang="en-US"/>
          </a:p>
        </c:txPr>
        <c:crossAx val="-2128940872"/>
        <c:crosses val="autoZero"/>
        <c:crossBetween val="midCat"/>
        <c:majorUnit val="0.02"/>
      </c:valAx>
    </c:plotArea>
    <c:plotVisOnly val="1"/>
    <c:dispBlanksAs val="gap"/>
    <c:showDLblsOverMax val="0"/>
  </c:chart>
  <c:txPr>
    <a:bodyPr/>
    <a:lstStyle/>
    <a:p>
      <a:pPr>
        <a:defRPr sz="1000">
          <a:latin typeface="Lato"/>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stacked"/>
        <c:varyColors val="1"/>
        <c:ser>
          <c:idx val="0"/>
          <c:order val="0"/>
          <c:tx>
            <c:strRef>
              <c:f>Sheet1!$B$1</c:f>
              <c:strCache>
                <c:ptCount val="1"/>
                <c:pt idx="0">
                  <c:v>Undergraduate</c:v>
                </c:pt>
              </c:strCache>
            </c:strRef>
          </c:tx>
          <c:spPr>
            <a:solidFill>
              <a:srgbClr val="C8102E"/>
            </a:solidFill>
          </c:spPr>
          <c:invertIfNegative val="0"/>
          <c:dLbls>
            <c:numFmt formatCode="0.0," sourceLinked="0"/>
            <c:spPr>
              <a:noFill/>
              <a:ln>
                <a:noFill/>
              </a:ln>
              <a:effectLst/>
            </c:spPr>
            <c:txPr>
              <a:bodyPr/>
              <a:lstStyle/>
              <a:p>
                <a:pPr>
                  <a:defRPr sz="800" b="1">
                    <a:solidFill>
                      <a:srgbClr val="FFFFFF"/>
                    </a:solidFill>
                    <a:latin typeface="La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Sheet1!$B$2:$B$9</c:f>
              <c:numCache>
                <c:formatCode>General</c:formatCode>
                <c:ptCount val="8"/>
                <c:pt idx="0">
                  <c:v>18502</c:v>
                </c:pt>
                <c:pt idx="1">
                  <c:v>19055</c:v>
                </c:pt>
                <c:pt idx="2">
                  <c:v>20377</c:v>
                </c:pt>
                <c:pt idx="3">
                  <c:v>21256</c:v>
                </c:pt>
                <c:pt idx="4">
                  <c:v>22015</c:v>
                </c:pt>
                <c:pt idx="5">
                  <c:v>23293</c:v>
                </c:pt>
                <c:pt idx="6">
                  <c:v>23268</c:v>
                </c:pt>
                <c:pt idx="7">
                  <c:v>25103</c:v>
                </c:pt>
              </c:numCache>
            </c:numRef>
          </c:val>
          <c:extLst>
            <c:ext xmlns:c16="http://schemas.microsoft.com/office/drawing/2014/chart" uri="{C3380CC4-5D6E-409C-BE32-E72D297353CC}">
              <c16:uniqueId val="{00000000-3E99-7F4E-A054-20AF3D97CC17}"/>
            </c:ext>
          </c:extLst>
        </c:ser>
        <c:ser>
          <c:idx val="1"/>
          <c:order val="1"/>
          <c:tx>
            <c:strRef>
              <c:f>Sheet1!$C$1</c:f>
              <c:strCache>
                <c:ptCount val="1"/>
                <c:pt idx="0">
                  <c:v>Professional Graduate</c:v>
                </c:pt>
              </c:strCache>
            </c:strRef>
          </c:tx>
          <c:spPr>
            <a:solidFill>
              <a:srgbClr val="000000"/>
            </a:solidFill>
          </c:spPr>
          <c:invertIfNegative val="0"/>
          <c:dLbls>
            <c:numFmt formatCode="0.0," sourceLinked="0"/>
            <c:spPr>
              <a:noFill/>
              <a:ln>
                <a:noFill/>
              </a:ln>
              <a:effectLst/>
            </c:spPr>
            <c:txPr>
              <a:bodyPr/>
              <a:lstStyle/>
              <a:p>
                <a:pPr>
                  <a:defRPr sz="800" b="1">
                    <a:solidFill>
                      <a:srgbClr val="FFFFFF"/>
                    </a:solidFill>
                    <a:latin typeface="La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Sheet1!$C$2:$C$9</c:f>
              <c:numCache>
                <c:formatCode>General</c:formatCode>
                <c:ptCount val="8"/>
                <c:pt idx="0">
                  <c:v>17160</c:v>
                </c:pt>
                <c:pt idx="1">
                  <c:v>16604</c:v>
                </c:pt>
                <c:pt idx="2">
                  <c:v>19210</c:v>
                </c:pt>
                <c:pt idx="3">
                  <c:v>21855</c:v>
                </c:pt>
                <c:pt idx="4">
                  <c:v>23247</c:v>
                </c:pt>
                <c:pt idx="5">
                  <c:v>22798</c:v>
                </c:pt>
                <c:pt idx="6">
                  <c:v>21431</c:v>
                </c:pt>
                <c:pt idx="7">
                  <c:v>17607</c:v>
                </c:pt>
              </c:numCache>
            </c:numRef>
          </c:val>
          <c:extLst>
            <c:ext xmlns:c16="http://schemas.microsoft.com/office/drawing/2014/chart" uri="{C3380CC4-5D6E-409C-BE32-E72D297353CC}">
              <c16:uniqueId val="{00000001-3E99-7F4E-A054-20AF3D97CC17}"/>
            </c:ext>
          </c:extLst>
        </c:ser>
        <c:ser>
          <c:idx val="2"/>
          <c:order val="2"/>
          <c:tx>
            <c:strRef>
              <c:f>Sheet1!$D$1</c:f>
              <c:strCache>
                <c:ptCount val="1"/>
                <c:pt idx="0">
                  <c:v>JD/PhD</c:v>
                </c:pt>
              </c:strCache>
            </c:strRef>
          </c:tx>
          <c:spPr>
            <a:solidFill>
              <a:srgbClr val="9B9C9E"/>
            </a:solidFill>
          </c:spPr>
          <c:invertIfNegative val="0"/>
          <c:cat>
            <c:strRef>
              <c:f>Sheet1!$A$2:$A$9</c:f>
              <c:strCache>
                <c:ptCount val="8"/>
                <c:pt idx="0">
                  <c:v>FY20</c:v>
                </c:pt>
                <c:pt idx="1">
                  <c:v>FY21</c:v>
                </c:pt>
                <c:pt idx="2">
                  <c:v>FY22</c:v>
                </c:pt>
                <c:pt idx="3">
                  <c:v>FY23</c:v>
                </c:pt>
                <c:pt idx="4">
                  <c:v>FY24</c:v>
                </c:pt>
                <c:pt idx="5">
                  <c:v>FY25</c:v>
                </c:pt>
                <c:pt idx="6">
                  <c:v>FY26</c:v>
                </c:pt>
                <c:pt idx="7">
                  <c:v>FY27
(est)</c:v>
                </c:pt>
              </c:strCache>
            </c:strRef>
          </c:cat>
          <c:val>
            <c:numRef>
              <c:f>Sheet1!$D$2:$D$9</c:f>
              <c:numCache>
                <c:formatCode>General</c:formatCode>
                <c:ptCount val="8"/>
                <c:pt idx="0">
                  <c:v>2117</c:v>
                </c:pt>
                <c:pt idx="1">
                  <c:v>2166</c:v>
                </c:pt>
                <c:pt idx="2">
                  <c:v>2255</c:v>
                </c:pt>
                <c:pt idx="3">
                  <c:v>2357</c:v>
                </c:pt>
                <c:pt idx="4">
                  <c:v>2508</c:v>
                </c:pt>
                <c:pt idx="5">
                  <c:v>2721</c:v>
                </c:pt>
                <c:pt idx="6">
                  <c:v>2668</c:v>
                </c:pt>
                <c:pt idx="7">
                  <c:v>2590</c:v>
                </c:pt>
              </c:numCache>
            </c:numRef>
          </c:val>
          <c:extLst>
            <c:ext xmlns:c16="http://schemas.microsoft.com/office/drawing/2014/chart" uri="{C3380CC4-5D6E-409C-BE32-E72D297353CC}">
              <c16:uniqueId val="{00000002-3E99-7F4E-A054-20AF3D97CC17}"/>
            </c:ext>
          </c:extLst>
        </c:ser>
        <c:ser>
          <c:idx val="3"/>
          <c:order val="3"/>
          <c:tx>
            <c:strRef>
              <c:f>Sheet1!$E$1</c:f>
              <c:strCache>
                <c:ptCount val="1"/>
                <c:pt idx="0">
                  <c:v>Total</c:v>
                </c:pt>
              </c:strCache>
            </c:strRef>
          </c:tx>
          <c:spPr>
            <a:noFill/>
            <a:ln>
              <a:noFill/>
            </a:ln>
          </c:spPr>
          <c:invertIfNegative val="1"/>
          <c:dLbls>
            <c:dLbl>
              <c:idx val="0"/>
              <c:tx>
                <c:rich>
                  <a:bodyPr/>
                  <a:lstStyle/>
                  <a:p>
                    <a:r>
                      <a:rPr lang="en-US" sz="900" b="1">
                        <a:solidFill>
                          <a:srgbClr val="000000"/>
                        </a:solidFill>
                        <a:latin typeface="Lato"/>
                      </a:rPr>
                      <a:t>37.8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E99-7F4E-A054-20AF3D97CC17}"/>
                </c:ext>
              </c:extLst>
            </c:dLbl>
            <c:dLbl>
              <c:idx val="1"/>
              <c:tx>
                <c:rich>
                  <a:bodyPr/>
                  <a:lstStyle/>
                  <a:p>
                    <a:r>
                      <a:rPr lang="en-US" sz="900" b="1">
                        <a:solidFill>
                          <a:srgbClr val="000000"/>
                        </a:solidFill>
                        <a:latin typeface="Lato"/>
                      </a:rPr>
                      <a:t>37.8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E99-7F4E-A054-20AF3D97CC17}"/>
                </c:ext>
              </c:extLst>
            </c:dLbl>
            <c:dLbl>
              <c:idx val="2"/>
              <c:tx>
                <c:rich>
                  <a:bodyPr/>
                  <a:lstStyle/>
                  <a:p>
                    <a:r>
                      <a:rPr lang="en-US" sz="900" b="1">
                        <a:solidFill>
                          <a:srgbClr val="000000"/>
                        </a:solidFill>
                        <a:latin typeface="Lato"/>
                      </a:rPr>
                      <a:t>41.8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E99-7F4E-A054-20AF3D97CC17}"/>
                </c:ext>
              </c:extLst>
            </c:dLbl>
            <c:dLbl>
              <c:idx val="3"/>
              <c:tx>
                <c:rich>
                  <a:bodyPr/>
                  <a:lstStyle/>
                  <a:p>
                    <a:r>
                      <a:rPr lang="en-US" sz="900" b="1">
                        <a:solidFill>
                          <a:srgbClr val="000000"/>
                        </a:solidFill>
                        <a:latin typeface="Lato"/>
                      </a:rPr>
                      <a:t>45.5</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3E99-7F4E-A054-20AF3D97CC17}"/>
                </c:ext>
              </c:extLst>
            </c:dLbl>
            <c:dLbl>
              <c:idx val="4"/>
              <c:tx>
                <c:rich>
                  <a:bodyPr/>
                  <a:lstStyle/>
                  <a:p>
                    <a:r>
                      <a:rPr lang="en-US" sz="900" b="1">
                        <a:solidFill>
                          <a:srgbClr val="000000"/>
                        </a:solidFill>
                        <a:latin typeface="Lato"/>
                      </a:rPr>
                      <a:t>47.8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E99-7F4E-A054-20AF3D97CC17}"/>
                </c:ext>
              </c:extLst>
            </c:dLbl>
            <c:dLbl>
              <c:idx val="5"/>
              <c:tx>
                <c:rich>
                  <a:bodyPr/>
                  <a:lstStyle/>
                  <a:p>
                    <a:r>
                      <a:rPr lang="en-US" sz="900" b="1">
                        <a:solidFill>
                          <a:srgbClr val="000000"/>
                        </a:solidFill>
                        <a:latin typeface="Lato"/>
                      </a:rPr>
                      <a:t>48.8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3E99-7F4E-A054-20AF3D97CC17}"/>
                </c:ext>
              </c:extLst>
            </c:dLbl>
            <c:dLbl>
              <c:idx val="6"/>
              <c:tx>
                <c:rich>
                  <a:bodyPr/>
                  <a:lstStyle/>
                  <a:p>
                    <a:r>
                      <a:rPr lang="en-US" sz="900" b="1">
                        <a:solidFill>
                          <a:srgbClr val="000000"/>
                        </a:solidFill>
                        <a:latin typeface="Lato"/>
                      </a:rPr>
                      <a:t>47.4</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3E99-7F4E-A054-20AF3D97CC17}"/>
                </c:ext>
              </c:extLst>
            </c:dLbl>
            <c:dLbl>
              <c:idx val="7"/>
              <c:tx>
                <c:rich>
                  <a:bodyPr/>
                  <a:lstStyle/>
                  <a:p>
                    <a:r>
                      <a:rPr lang="en-US" sz="900" b="1">
                        <a:solidFill>
                          <a:srgbClr val="000000"/>
                        </a:solidFill>
                        <a:latin typeface="Lato"/>
                      </a:rPr>
                      <a:t>45.3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3E99-7F4E-A054-20AF3D97CC1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Sheet1!$E$2:$E$9</c:f>
              <c:numCache>
                <c:formatCode>General</c:formatCode>
                <c:ptCount val="8"/>
                <c:pt idx="0">
                  <c:v>5000</c:v>
                </c:pt>
                <c:pt idx="1">
                  <c:v>5000</c:v>
                </c:pt>
                <c:pt idx="2">
                  <c:v>5000</c:v>
                </c:pt>
                <c:pt idx="3">
                  <c:v>5000</c:v>
                </c:pt>
                <c:pt idx="4">
                  <c:v>5000</c:v>
                </c:pt>
                <c:pt idx="5">
                  <c:v>5000</c:v>
                </c:pt>
                <c:pt idx="6">
                  <c:v>5000</c:v>
                </c:pt>
                <c:pt idx="7">
                  <c:v>5000</c:v>
                </c:pt>
              </c:numCache>
            </c:numRef>
          </c:val>
          <c:extLst>
            <c:ext xmlns:c16="http://schemas.microsoft.com/office/drawing/2014/chart" uri="{C3380CC4-5D6E-409C-BE32-E72D297353CC}">
              <c16:uniqueId val="{0000000B-3E99-7F4E-A054-20AF3D97CC17}"/>
            </c:ext>
          </c:extLst>
        </c:ser>
        <c:dLbls>
          <c:showLegendKey val="0"/>
          <c:showVal val="0"/>
          <c:showCatName val="0"/>
          <c:showSerName val="0"/>
          <c:showPercent val="0"/>
          <c:showBubbleSize val="0"/>
        </c:dLbls>
        <c:gapWidth val="3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9B9C9E"/>
            </a:solidFill>
          </a:ln>
        </c:spPr>
        <c:txPr>
          <a:bodyPr rot="0" vert="horz"/>
          <a:lstStyle/>
          <a:p>
            <a:pPr>
              <a:defRPr sz="1000">
                <a:solidFill>
                  <a:srgbClr val="6E6F73"/>
                </a:solidFill>
                <a:latin typeface="Lato"/>
              </a:defRPr>
            </a:pPr>
            <a:endParaRPr lang="en-US"/>
          </a:p>
        </c:txPr>
        <c:crossAx val="2113994440"/>
        <c:crosses val="autoZero"/>
        <c:auto val="1"/>
        <c:lblAlgn val="ctr"/>
        <c:lblOffset val="100"/>
        <c:noMultiLvlLbl val="0"/>
      </c:catAx>
      <c:valAx>
        <c:axId val="2113994440"/>
        <c:scaling>
          <c:orientation val="minMax"/>
          <c:max val="60000"/>
          <c:min val="0"/>
        </c:scaling>
        <c:delete val="0"/>
        <c:axPos val="l"/>
        <c:majorGridlines>
          <c:spPr>
            <a:ln w="9525">
              <a:solidFill>
                <a:srgbClr val="E5E5EA"/>
              </a:solidFill>
            </a:ln>
          </c:spPr>
        </c:majorGridlines>
        <c:numFmt formatCode="0," sourceLinked="0"/>
        <c:majorTickMark val="out"/>
        <c:minorTickMark val="none"/>
        <c:tickLblPos val="nextTo"/>
        <c:spPr>
          <a:ln>
            <a:noFill/>
          </a:ln>
        </c:spPr>
        <c:txPr>
          <a:bodyPr/>
          <a:lstStyle/>
          <a:p>
            <a:pPr>
              <a:defRPr sz="1000">
                <a:solidFill>
                  <a:srgbClr val="6E6F73"/>
                </a:solidFill>
                <a:latin typeface="Lato"/>
              </a:defRPr>
            </a:pPr>
            <a:endParaRPr lang="en-US"/>
          </a:p>
        </c:txPr>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stacked"/>
        <c:varyColors val="1"/>
        <c:ser>
          <c:idx val="0"/>
          <c:order val="0"/>
          <c:tx>
            <c:strRef>
              <c:f>Sheet1!$B$1</c:f>
              <c:strCache>
                <c:ptCount val="1"/>
                <c:pt idx="0">
                  <c:v>Undergraduate</c:v>
                </c:pt>
              </c:strCache>
            </c:strRef>
          </c:tx>
          <c:spPr>
            <a:solidFill>
              <a:srgbClr val="C8102E"/>
            </a:solidFill>
          </c:spPr>
          <c:invertIfNegative val="0"/>
          <c:dLbls>
            <c:numFmt formatCode="#,##0" sourceLinked="0"/>
            <c:spPr>
              <a:noFill/>
              <a:ln>
                <a:noFill/>
              </a:ln>
              <a:effectLst/>
            </c:spPr>
            <c:txPr>
              <a:bodyPr/>
              <a:lstStyle/>
              <a:p>
                <a:pPr>
                  <a:defRPr sz="800" b="1">
                    <a:solidFill>
                      <a:srgbClr val="FFFFFF"/>
                    </a:solidFill>
                    <a:latin typeface="La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Sheet1!$B$2:$B$9</c:f>
              <c:numCache>
                <c:formatCode>General</c:formatCode>
                <c:ptCount val="8"/>
                <c:pt idx="0">
                  <c:v>623</c:v>
                </c:pt>
                <c:pt idx="1">
                  <c:v>670</c:v>
                </c:pt>
                <c:pt idx="2">
                  <c:v>775</c:v>
                </c:pt>
                <c:pt idx="3">
                  <c:v>869</c:v>
                </c:pt>
                <c:pt idx="4">
                  <c:v>994</c:v>
                </c:pt>
                <c:pt idx="5">
                  <c:v>1133</c:v>
                </c:pt>
                <c:pt idx="6">
                  <c:v>1192</c:v>
                </c:pt>
                <c:pt idx="7">
                  <c:v>1276</c:v>
                </c:pt>
              </c:numCache>
            </c:numRef>
          </c:val>
          <c:extLst>
            <c:ext xmlns:c16="http://schemas.microsoft.com/office/drawing/2014/chart" uri="{C3380CC4-5D6E-409C-BE32-E72D297353CC}">
              <c16:uniqueId val="{00000000-72F7-B748-A2E1-BEC3FF416083}"/>
            </c:ext>
          </c:extLst>
        </c:ser>
        <c:ser>
          <c:idx val="1"/>
          <c:order val="1"/>
          <c:tx>
            <c:strRef>
              <c:f>Sheet1!$C$1</c:f>
              <c:strCache>
                <c:ptCount val="1"/>
                <c:pt idx="0">
                  <c:v>Professional Graduate</c:v>
                </c:pt>
              </c:strCache>
            </c:strRef>
          </c:tx>
          <c:spPr>
            <a:solidFill>
              <a:srgbClr val="000000"/>
            </a:solidFill>
          </c:spPr>
          <c:invertIfNegative val="0"/>
          <c:dLbls>
            <c:numFmt formatCode="#,##0" sourceLinked="0"/>
            <c:spPr>
              <a:noFill/>
              <a:ln>
                <a:noFill/>
              </a:ln>
              <a:effectLst/>
            </c:spPr>
            <c:txPr>
              <a:bodyPr/>
              <a:lstStyle/>
              <a:p>
                <a:pPr>
                  <a:defRPr sz="800" b="1">
                    <a:solidFill>
                      <a:srgbClr val="FFFFFF"/>
                    </a:solidFill>
                    <a:latin typeface="La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Sheet1!$C$2:$C$9</c:f>
              <c:numCache>
                <c:formatCode>General</c:formatCode>
                <c:ptCount val="8"/>
                <c:pt idx="0">
                  <c:v>345</c:v>
                </c:pt>
                <c:pt idx="1">
                  <c:v>343</c:v>
                </c:pt>
                <c:pt idx="2">
                  <c:v>416</c:v>
                </c:pt>
                <c:pt idx="3">
                  <c:v>494</c:v>
                </c:pt>
                <c:pt idx="4">
                  <c:v>508</c:v>
                </c:pt>
                <c:pt idx="5">
                  <c:v>486</c:v>
                </c:pt>
                <c:pt idx="6">
                  <c:v>426</c:v>
                </c:pt>
                <c:pt idx="7">
                  <c:v>348</c:v>
                </c:pt>
              </c:numCache>
            </c:numRef>
          </c:val>
          <c:extLst>
            <c:ext xmlns:c16="http://schemas.microsoft.com/office/drawing/2014/chart" uri="{C3380CC4-5D6E-409C-BE32-E72D297353CC}">
              <c16:uniqueId val="{00000001-72F7-B748-A2E1-BEC3FF416083}"/>
            </c:ext>
          </c:extLst>
        </c:ser>
        <c:ser>
          <c:idx val="2"/>
          <c:order val="2"/>
          <c:tx>
            <c:strRef>
              <c:f>Sheet1!$D$1</c:f>
              <c:strCache>
                <c:ptCount val="1"/>
                <c:pt idx="0">
                  <c:v>JD/PhD</c:v>
                </c:pt>
              </c:strCache>
            </c:strRef>
          </c:tx>
          <c:spPr>
            <a:solidFill>
              <a:srgbClr val="9B9C9E"/>
            </a:solidFill>
          </c:spPr>
          <c:invertIfNegative val="0"/>
          <c:cat>
            <c:strRef>
              <c:f>Sheet1!$A$2:$A$9</c:f>
              <c:strCache>
                <c:ptCount val="8"/>
                <c:pt idx="0">
                  <c:v>FY20</c:v>
                </c:pt>
                <c:pt idx="1">
                  <c:v>FY21</c:v>
                </c:pt>
                <c:pt idx="2">
                  <c:v>FY22</c:v>
                </c:pt>
                <c:pt idx="3">
                  <c:v>FY23</c:v>
                </c:pt>
                <c:pt idx="4">
                  <c:v>FY24</c:v>
                </c:pt>
                <c:pt idx="5">
                  <c:v>FY25</c:v>
                </c:pt>
                <c:pt idx="6">
                  <c:v>FY26</c:v>
                </c:pt>
                <c:pt idx="7">
                  <c:v>FY27
(est)</c:v>
                </c:pt>
              </c:strCache>
            </c:strRef>
          </c:cat>
          <c:val>
            <c:numRef>
              <c:f>Sheet1!$D$2:$D$9</c:f>
              <c:numCache>
                <c:formatCode>General</c:formatCode>
                <c:ptCount val="8"/>
                <c:pt idx="0">
                  <c:v>17</c:v>
                </c:pt>
                <c:pt idx="1">
                  <c:v>17</c:v>
                </c:pt>
                <c:pt idx="2">
                  <c:v>18</c:v>
                </c:pt>
                <c:pt idx="3">
                  <c:v>18</c:v>
                </c:pt>
                <c:pt idx="4">
                  <c:v>19</c:v>
                </c:pt>
                <c:pt idx="5">
                  <c:v>20</c:v>
                </c:pt>
                <c:pt idx="6">
                  <c:v>22</c:v>
                </c:pt>
                <c:pt idx="7">
                  <c:v>22</c:v>
                </c:pt>
              </c:numCache>
            </c:numRef>
          </c:val>
          <c:extLst>
            <c:ext xmlns:c16="http://schemas.microsoft.com/office/drawing/2014/chart" uri="{C3380CC4-5D6E-409C-BE32-E72D297353CC}">
              <c16:uniqueId val="{00000002-72F7-B748-A2E1-BEC3FF416083}"/>
            </c:ext>
          </c:extLst>
        </c:ser>
        <c:ser>
          <c:idx val="3"/>
          <c:order val="3"/>
          <c:tx>
            <c:strRef>
              <c:f>Sheet1!$E$1</c:f>
              <c:strCache>
                <c:ptCount val="1"/>
                <c:pt idx="0">
                  <c:v>Total</c:v>
                </c:pt>
              </c:strCache>
            </c:strRef>
          </c:tx>
          <c:spPr>
            <a:noFill/>
            <a:ln>
              <a:noFill/>
            </a:ln>
          </c:spPr>
          <c:invertIfNegative val="1"/>
          <c:dLbls>
            <c:dLbl>
              <c:idx val="0"/>
              <c:tx>
                <c:rich>
                  <a:bodyPr/>
                  <a:lstStyle/>
                  <a:p>
                    <a:r>
                      <a:rPr lang="en-US" sz="800" b="1">
                        <a:solidFill>
                          <a:srgbClr val="000000"/>
                        </a:solidFill>
                        <a:latin typeface="Lato"/>
                      </a:rPr>
                      <a:t>985</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2F7-B748-A2E1-BEC3FF416083}"/>
                </c:ext>
              </c:extLst>
            </c:dLbl>
            <c:dLbl>
              <c:idx val="1"/>
              <c:tx>
                <c:rich>
                  <a:bodyPr/>
                  <a:lstStyle/>
                  <a:p>
                    <a:r>
                      <a:rPr lang="en-US" sz="800" b="1">
                        <a:solidFill>
                          <a:srgbClr val="000000"/>
                        </a:solidFill>
                        <a:latin typeface="Lato"/>
                      </a:rPr>
                      <a:t>1,030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2F7-B748-A2E1-BEC3FF416083}"/>
                </c:ext>
              </c:extLst>
            </c:dLbl>
            <c:dLbl>
              <c:idx val="2"/>
              <c:tx>
                <c:rich>
                  <a:bodyPr/>
                  <a:lstStyle/>
                  <a:p>
                    <a:r>
                      <a:rPr lang="en-US" sz="800" b="1">
                        <a:solidFill>
                          <a:srgbClr val="000000"/>
                        </a:solidFill>
                        <a:latin typeface="Lato"/>
                      </a:rPr>
                      <a:t>1,209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72F7-B748-A2E1-BEC3FF416083}"/>
                </c:ext>
              </c:extLst>
            </c:dLbl>
            <c:dLbl>
              <c:idx val="3"/>
              <c:tx>
                <c:rich>
                  <a:bodyPr/>
                  <a:lstStyle/>
                  <a:p>
                    <a:r>
                      <a:rPr lang="en-US" sz="800" b="1">
                        <a:solidFill>
                          <a:srgbClr val="000000"/>
                        </a:solidFill>
                        <a:latin typeface="Lato"/>
                      </a:rPr>
                      <a:t>1,382</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72F7-B748-A2E1-BEC3FF416083}"/>
                </c:ext>
              </c:extLst>
            </c:dLbl>
            <c:dLbl>
              <c:idx val="4"/>
              <c:tx>
                <c:rich>
                  <a:bodyPr/>
                  <a:lstStyle/>
                  <a:p>
                    <a:r>
                      <a:rPr lang="en-US" sz="800" b="1">
                        <a:solidFill>
                          <a:srgbClr val="000000"/>
                        </a:solidFill>
                        <a:latin typeface="Lato"/>
                      </a:rPr>
                      <a:t>1,521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2F7-B748-A2E1-BEC3FF416083}"/>
                </c:ext>
              </c:extLst>
            </c:dLbl>
            <c:dLbl>
              <c:idx val="5"/>
              <c:tx>
                <c:rich>
                  <a:bodyPr/>
                  <a:lstStyle/>
                  <a:p>
                    <a:r>
                      <a:rPr lang="en-US" sz="800" b="1">
                        <a:solidFill>
                          <a:srgbClr val="000000"/>
                        </a:solidFill>
                        <a:latin typeface="Lato"/>
                      </a:rPr>
                      <a:t>1,639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72F7-B748-A2E1-BEC3FF416083}"/>
                </c:ext>
              </c:extLst>
            </c:dLbl>
            <c:dLbl>
              <c:idx val="6"/>
              <c:tx>
                <c:rich>
                  <a:bodyPr/>
                  <a:lstStyle/>
                  <a:p>
                    <a:r>
                      <a:rPr lang="en-US" sz="800" b="1">
                        <a:solidFill>
                          <a:srgbClr val="000000"/>
                        </a:solidFill>
                        <a:latin typeface="Lato"/>
                      </a:rPr>
                      <a:t>1,641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72F7-B748-A2E1-BEC3FF416083}"/>
                </c:ext>
              </c:extLst>
            </c:dLbl>
            <c:dLbl>
              <c:idx val="7"/>
              <c:layout>
                <c:manualLayout>
                  <c:x val="3.7844383893430216E-3"/>
                  <c:y val="-9.4702636926084563E-3"/>
                </c:manualLayout>
              </c:layout>
              <c:tx>
                <c:rich>
                  <a:bodyPr/>
                  <a:lstStyle/>
                  <a:p>
                    <a:r>
                      <a:rPr lang="en-US" sz="800" b="1">
                        <a:solidFill>
                          <a:srgbClr val="000000"/>
                        </a:solidFill>
                        <a:latin typeface="Lato"/>
                      </a:rPr>
                      <a:t>1,646</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72F7-B748-A2E1-BEC3FF41608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Sheet1!$E$2:$E$9</c:f>
              <c:numCache>
                <c:formatCode>General</c:formatCode>
                <c:ptCount val="8"/>
                <c:pt idx="0">
                  <c:v>150</c:v>
                </c:pt>
                <c:pt idx="1">
                  <c:v>150</c:v>
                </c:pt>
                <c:pt idx="2">
                  <c:v>150</c:v>
                </c:pt>
                <c:pt idx="3">
                  <c:v>150</c:v>
                </c:pt>
                <c:pt idx="4">
                  <c:v>150</c:v>
                </c:pt>
                <c:pt idx="5">
                  <c:v>150</c:v>
                </c:pt>
                <c:pt idx="6">
                  <c:v>150</c:v>
                </c:pt>
                <c:pt idx="7">
                  <c:v>150</c:v>
                </c:pt>
              </c:numCache>
            </c:numRef>
          </c:val>
          <c:extLst>
            <c:ext xmlns:c16="http://schemas.microsoft.com/office/drawing/2014/chart" uri="{C3380CC4-5D6E-409C-BE32-E72D297353CC}">
              <c16:uniqueId val="{0000000B-72F7-B748-A2E1-BEC3FF416083}"/>
            </c:ext>
          </c:extLst>
        </c:ser>
        <c:dLbls>
          <c:showLegendKey val="0"/>
          <c:showVal val="0"/>
          <c:showCatName val="0"/>
          <c:showSerName val="0"/>
          <c:showPercent val="0"/>
          <c:showBubbleSize val="0"/>
        </c:dLbls>
        <c:gapWidth val="3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9B9C9E"/>
            </a:solidFill>
          </a:ln>
        </c:spPr>
        <c:txPr>
          <a:bodyPr rot="0" vert="horz"/>
          <a:lstStyle/>
          <a:p>
            <a:pPr>
              <a:defRPr sz="1000">
                <a:solidFill>
                  <a:srgbClr val="6E6F73"/>
                </a:solidFill>
                <a:latin typeface="Lato"/>
              </a:defRPr>
            </a:pPr>
            <a:endParaRPr lang="en-US"/>
          </a:p>
        </c:txPr>
        <c:crossAx val="2113994440"/>
        <c:crosses val="autoZero"/>
        <c:auto val="1"/>
        <c:lblAlgn val="ctr"/>
        <c:lblOffset val="100"/>
        <c:noMultiLvlLbl val="0"/>
      </c:catAx>
      <c:valAx>
        <c:axId val="2113994440"/>
        <c:scaling>
          <c:orientation val="minMax"/>
          <c:max val="1800"/>
          <c:min val="0"/>
        </c:scaling>
        <c:delete val="0"/>
        <c:axPos val="l"/>
        <c:majorGridlines>
          <c:spPr>
            <a:ln w="9525">
              <a:solidFill>
                <a:srgbClr val="E5E5EA"/>
              </a:solidFill>
            </a:ln>
          </c:spPr>
        </c:majorGridlines>
        <c:numFmt formatCode="#,##0" sourceLinked="0"/>
        <c:majorTickMark val="out"/>
        <c:minorTickMark val="none"/>
        <c:tickLblPos val="nextTo"/>
        <c:spPr>
          <a:ln>
            <a:noFill/>
          </a:ln>
        </c:spPr>
        <c:txPr>
          <a:bodyPr/>
          <a:lstStyle/>
          <a:p>
            <a:pPr>
              <a:defRPr sz="1000">
                <a:solidFill>
                  <a:srgbClr val="6E6F73"/>
                </a:solidFill>
                <a:latin typeface="Lato"/>
              </a:defRPr>
            </a:pPr>
            <a:endParaRPr lang="en-US"/>
          </a:p>
        </c:txPr>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Undergraduate</c:v>
                </c:pt>
              </c:strCache>
            </c:strRef>
          </c:tx>
          <c:spPr>
            <a:ln w="28575">
              <a:solidFill>
                <a:srgbClr val="C8102E"/>
              </a:solidFill>
            </a:ln>
          </c:spPr>
          <c:marker>
            <c:symbol val="circle"/>
            <c:size val="6"/>
            <c:spPr>
              <a:solidFill>
                <a:srgbClr val="C8102E"/>
              </a:solidFill>
              <a:ln>
                <a:solidFill>
                  <a:srgbClr val="C8102E"/>
                </a:solidFill>
              </a:ln>
            </c:spPr>
          </c:marker>
          <c:dLbls>
            <c:dLbl>
              <c:idx val="0"/>
              <c:tx>
                <c:rich>
                  <a:bodyPr/>
                  <a:lstStyle/>
                  <a:p>
                    <a:r>
                      <a:rPr lang="en-US" sz="1000" b="1">
                        <a:solidFill>
                          <a:srgbClr val="C8102E"/>
                        </a:solidFill>
                        <a:latin typeface="Lato"/>
                      </a:rPr>
                      <a:t>32%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B8C-D648-8CC4-78F282CADB58}"/>
                </c:ext>
              </c:extLst>
            </c:dLbl>
            <c:dLbl>
              <c:idx val="7"/>
              <c:tx>
                <c:rich>
                  <a:bodyPr/>
                  <a:lstStyle/>
                  <a:p>
                    <a:r>
                      <a:rPr lang="en-US" sz="1000" b="1">
                        <a:solidFill>
                          <a:srgbClr val="C8102E"/>
                        </a:solidFill>
                        <a:latin typeface="Lato"/>
                      </a:rPr>
                      <a:t>29.3%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B8C-D648-8CC4-78F282CADB5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Sheet1!$B$2:$B$9</c:f>
              <c:numCache>
                <c:formatCode>General</c:formatCode>
                <c:ptCount val="8"/>
                <c:pt idx="0">
                  <c:v>0.32</c:v>
                </c:pt>
                <c:pt idx="1">
                  <c:v>0.32500000000000001</c:v>
                </c:pt>
                <c:pt idx="2">
                  <c:v>0.34</c:v>
                </c:pt>
                <c:pt idx="3">
                  <c:v>0.316</c:v>
                </c:pt>
                <c:pt idx="4">
                  <c:v>0.29899999999999999</c:v>
                </c:pt>
                <c:pt idx="5">
                  <c:v>0.28799999999999998</c:v>
                </c:pt>
                <c:pt idx="6">
                  <c:v>0.29299999999999998</c:v>
                </c:pt>
                <c:pt idx="7">
                  <c:v>0.29299999999999998</c:v>
                </c:pt>
              </c:numCache>
            </c:numRef>
          </c:val>
          <c:smooth val="0"/>
          <c:extLst>
            <c:ext xmlns:c16="http://schemas.microsoft.com/office/drawing/2014/chart" uri="{C3380CC4-5D6E-409C-BE32-E72D297353CC}">
              <c16:uniqueId val="{00000002-EB8C-D648-8CC4-78F282CADB58}"/>
            </c:ext>
          </c:extLst>
        </c:ser>
        <c:ser>
          <c:idx val="1"/>
          <c:order val="1"/>
          <c:tx>
            <c:strRef>
              <c:f>Sheet1!$C$1</c:f>
              <c:strCache>
                <c:ptCount val="1"/>
                <c:pt idx="0">
                  <c:v>Professional Graduate</c:v>
                </c:pt>
              </c:strCache>
            </c:strRef>
          </c:tx>
          <c:spPr>
            <a:ln w="28575">
              <a:solidFill>
                <a:srgbClr val="000000"/>
              </a:solidFill>
            </a:ln>
          </c:spPr>
          <c:marker>
            <c:symbol val="circle"/>
            <c:size val="6"/>
            <c:spPr>
              <a:solidFill>
                <a:srgbClr val="000000"/>
              </a:solidFill>
              <a:ln>
                <a:solidFill>
                  <a:srgbClr val="000000"/>
                </a:solidFill>
              </a:ln>
            </c:spPr>
          </c:marker>
          <c:dLbls>
            <c:dLbl>
              <c:idx val="0"/>
              <c:tx>
                <c:rich>
                  <a:bodyPr/>
                  <a:lstStyle/>
                  <a:p>
                    <a:r>
                      <a:rPr lang="en-US" sz="1000" b="1">
                        <a:solidFill>
                          <a:srgbClr val="000000"/>
                        </a:solidFill>
                        <a:latin typeface="Lato"/>
                      </a:rPr>
                      <a:t>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B8C-D648-8CC4-78F282CADB58}"/>
                </c:ext>
              </c:extLst>
            </c:dLbl>
            <c:dLbl>
              <c:idx val="7"/>
              <c:tx>
                <c:rich>
                  <a:bodyPr/>
                  <a:lstStyle/>
                  <a:p>
                    <a:r>
                      <a:rPr lang="en-US" sz="1000" b="1">
                        <a:solidFill>
                          <a:srgbClr val="000000"/>
                        </a:solidFill>
                        <a:latin typeface="Lato"/>
                      </a:rPr>
                      <a:t>19%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EB8C-D648-8CC4-78F282CADB5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Sheet1!$C$2:$C$9</c:f>
              <c:numCache>
                <c:formatCode>General</c:formatCode>
                <c:ptCount val="8"/>
                <c:pt idx="0">
                  <c:v>7.4999999999999997E-2</c:v>
                </c:pt>
                <c:pt idx="1">
                  <c:v>0.113</c:v>
                </c:pt>
                <c:pt idx="2">
                  <c:v>8.5000000000000006E-2</c:v>
                </c:pt>
                <c:pt idx="3">
                  <c:v>8.6999999999999994E-2</c:v>
                </c:pt>
                <c:pt idx="4">
                  <c:v>0.11700000000000001</c:v>
                </c:pt>
                <c:pt idx="5">
                  <c:v>0.14899999999999999</c:v>
                </c:pt>
                <c:pt idx="6">
                  <c:v>0.193</c:v>
                </c:pt>
                <c:pt idx="7">
                  <c:v>0.19500000000000001</c:v>
                </c:pt>
              </c:numCache>
            </c:numRef>
          </c:val>
          <c:smooth val="0"/>
          <c:extLst>
            <c:ext xmlns:c16="http://schemas.microsoft.com/office/drawing/2014/chart" uri="{C3380CC4-5D6E-409C-BE32-E72D297353CC}">
              <c16:uniqueId val="{00000005-EB8C-D648-8CC4-78F282CADB58}"/>
            </c:ext>
          </c:extLst>
        </c:ser>
        <c:ser>
          <c:idx val="2"/>
          <c:order val="2"/>
          <c:tx>
            <c:strRef>
              <c:f>Sheet1!$D$1</c:f>
              <c:strCache>
                <c:ptCount val="1"/>
                <c:pt idx="0">
                  <c:v>JD/PhD</c:v>
                </c:pt>
              </c:strCache>
            </c:strRef>
          </c:tx>
          <c:spPr>
            <a:ln w="28575">
              <a:solidFill>
                <a:srgbClr val="9B9C9E"/>
              </a:solidFill>
            </a:ln>
          </c:spPr>
          <c:marker>
            <c:symbol val="circle"/>
            <c:size val="6"/>
            <c:spPr>
              <a:solidFill>
                <a:srgbClr val="9B9C9E"/>
              </a:solidFill>
              <a:ln>
                <a:solidFill>
                  <a:srgbClr val="9B9C9E"/>
                </a:solidFill>
              </a:ln>
            </c:spPr>
          </c:marker>
          <c:dLbls>
            <c:dLbl>
              <c:idx val="0"/>
              <c:tx>
                <c:rich>
                  <a:bodyPr/>
                  <a:lstStyle/>
                  <a:p>
                    <a:r>
                      <a:rPr lang="en-US" sz="1000" b="1">
                        <a:solidFill>
                          <a:srgbClr val="6E6F73"/>
                        </a:solidFill>
                        <a:latin typeface="Lato"/>
                      </a:rPr>
                      <a:t>70%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EB8C-D648-8CC4-78F282CADB58}"/>
                </c:ext>
              </c:extLst>
            </c:dLbl>
            <c:dLbl>
              <c:idx val="7"/>
              <c:tx>
                <c:rich>
                  <a:bodyPr/>
                  <a:lstStyle/>
                  <a:p>
                    <a:r>
                      <a:rPr lang="en-US" sz="1000" b="1">
                        <a:solidFill>
                          <a:srgbClr val="6E6F73"/>
                        </a:solidFill>
                        <a:latin typeface="Lato"/>
                      </a:rPr>
                      <a:t>80%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EB8C-D648-8CC4-78F282CADB5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Sheet1!$D$2:$D$9</c:f>
              <c:numCache>
                <c:formatCode>General</c:formatCode>
                <c:ptCount val="8"/>
                <c:pt idx="0">
                  <c:v>0.7</c:v>
                </c:pt>
                <c:pt idx="1">
                  <c:v>0.71</c:v>
                </c:pt>
                <c:pt idx="2">
                  <c:v>0.73</c:v>
                </c:pt>
                <c:pt idx="3">
                  <c:v>0.73</c:v>
                </c:pt>
                <c:pt idx="4">
                  <c:v>0.74</c:v>
                </c:pt>
                <c:pt idx="5">
                  <c:v>0.83</c:v>
                </c:pt>
                <c:pt idx="6">
                  <c:v>0.83</c:v>
                </c:pt>
                <c:pt idx="7">
                  <c:v>0.8</c:v>
                </c:pt>
              </c:numCache>
            </c:numRef>
          </c:val>
          <c:smooth val="0"/>
          <c:extLst>
            <c:ext xmlns:c16="http://schemas.microsoft.com/office/drawing/2014/chart" uri="{C3380CC4-5D6E-409C-BE32-E72D297353CC}">
              <c16:uniqueId val="{00000008-EB8C-D648-8CC4-78F282CADB5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9B9C9E"/>
            </a:solidFill>
          </a:ln>
        </c:spPr>
        <c:txPr>
          <a:bodyPr rot="0" vert="horz"/>
          <a:lstStyle/>
          <a:p>
            <a:pPr>
              <a:defRPr sz="1000">
                <a:solidFill>
                  <a:srgbClr val="6E6F73"/>
                </a:solidFill>
                <a:latin typeface="Lato"/>
              </a:defRPr>
            </a:pPr>
            <a:endParaRPr lang="en-US"/>
          </a:p>
        </c:txPr>
        <c:crossAx val="2140495176"/>
        <c:crosses val="autoZero"/>
        <c:auto val="1"/>
        <c:lblAlgn val="ctr"/>
        <c:lblOffset val="100"/>
        <c:noMultiLvlLbl val="0"/>
      </c:catAx>
      <c:valAx>
        <c:axId val="2140495176"/>
        <c:scaling>
          <c:orientation val="minMax"/>
          <c:max val="1"/>
          <c:min val="0"/>
        </c:scaling>
        <c:delete val="0"/>
        <c:axPos val="l"/>
        <c:majorGridlines>
          <c:spPr>
            <a:ln w="9525">
              <a:solidFill>
                <a:srgbClr val="E5E5EA"/>
              </a:solidFill>
            </a:ln>
          </c:spPr>
        </c:majorGridlines>
        <c:numFmt formatCode="0%" sourceLinked="0"/>
        <c:majorTickMark val="out"/>
        <c:minorTickMark val="none"/>
        <c:tickLblPos val="nextTo"/>
        <c:spPr>
          <a:ln>
            <a:noFill/>
          </a:ln>
        </c:spPr>
        <c:txPr>
          <a:bodyPr/>
          <a:lstStyle/>
          <a:p>
            <a:pPr>
              <a:defRPr sz="1000">
                <a:solidFill>
                  <a:srgbClr val="6E6F73"/>
                </a:solidFill>
                <a:latin typeface="Lato"/>
              </a:defRPr>
            </a:pPr>
            <a:endParaRPr lang="en-US"/>
          </a:p>
        </c:txPr>
        <c:crossAx val="2118791784"/>
        <c:crosses val="autoZero"/>
        <c:crossBetween val="between"/>
        <c:majorUnit val="0.2"/>
      </c:valAx>
    </c:plotArea>
    <c:plotVisOnly val="1"/>
    <c:dispBlanksAs val="gap"/>
    <c:showDLblsOverMax val="0"/>
  </c:chart>
  <c:txPr>
    <a:bodyPr/>
    <a:lstStyle/>
    <a:p>
      <a:pPr>
        <a:defRPr sz="1800">
          <a:latin typeface="Lato"/>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030489275986556"/>
          <c:y val="4.5175E-2"/>
          <c:w val="0.87865812029987944"/>
          <c:h val="0.71868600000000005"/>
        </c:manualLayout>
      </c:layout>
      <c:barChart>
        <c:barDir val="col"/>
        <c:grouping val="stacked"/>
        <c:varyColors val="1"/>
        <c:ser>
          <c:idx val="0"/>
          <c:order val="0"/>
          <c:tx>
            <c:strRef>
              <c:f>Sheet1!$B$1</c:f>
              <c:strCache>
                <c:ptCount val="1"/>
                <c:pt idx="0">
                  <c:v>Undergraduate</c:v>
                </c:pt>
              </c:strCache>
            </c:strRef>
          </c:tx>
          <c:spPr>
            <a:solidFill>
              <a:srgbClr val="C8102E"/>
            </a:solidFill>
            <a:ln>
              <a:noFill/>
            </a:ln>
          </c:spPr>
          <c:invertIfNegative val="1"/>
          <c:dLbls>
            <c:numFmt formatCode="#,##0" sourceLinked="0"/>
            <c:spPr>
              <a:noFill/>
              <a:ln>
                <a:noFill/>
              </a:ln>
            </c:spPr>
            <c:txPr>
              <a:bodyPr rot="0" spcFirstLastPara="1" vertOverflow="ellipsis" vert="horz" wrap="square" anchor="ctr" anchorCtr="1"/>
              <a:lstStyle/>
              <a:p>
                <a:pPr>
                  <a:defRPr sz="700" b="1">
                    <a:solidFill>
                      <a:srgbClr val="FFFFFF"/>
                    </a:solidFill>
                    <a:latin typeface="La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Sheet1!$B$2:$B$9</c:f>
              <c:numCache>
                <c:formatCode>General</c:formatCode>
                <c:ptCount val="8"/>
                <c:pt idx="0">
                  <c:v>18502</c:v>
                </c:pt>
                <c:pt idx="1">
                  <c:v>19055</c:v>
                </c:pt>
                <c:pt idx="2">
                  <c:v>20377</c:v>
                </c:pt>
                <c:pt idx="3">
                  <c:v>21256</c:v>
                </c:pt>
                <c:pt idx="4">
                  <c:v>22015</c:v>
                </c:pt>
                <c:pt idx="5">
                  <c:v>23293</c:v>
                </c:pt>
                <c:pt idx="6">
                  <c:v>23268</c:v>
                </c:pt>
                <c:pt idx="7">
                  <c:v>25103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01E-40E7-872C-1B1BD8862E8C}"/>
            </c:ext>
          </c:extLst>
        </c:ser>
        <c:ser>
          <c:idx val="1"/>
          <c:order val="1"/>
          <c:tx>
            <c:strRef>
              <c:f>Sheet1!$C$1</c:f>
              <c:strCache>
                <c:ptCount val="1"/>
                <c:pt idx="0">
                  <c:v>Professional Graduate</c:v>
                </c:pt>
              </c:strCache>
            </c:strRef>
          </c:tx>
          <c:spPr>
            <a:solidFill>
              <a:srgbClr val="000000"/>
            </a:solidFill>
            <a:ln>
              <a:noFill/>
            </a:ln>
          </c:spPr>
          <c:invertIfNegative val="1"/>
          <c:dLbls>
            <c:numFmt formatCode="#,##0" sourceLinked="0"/>
            <c:spPr>
              <a:noFill/>
              <a:ln>
                <a:noFill/>
              </a:ln>
            </c:spPr>
            <c:txPr>
              <a:bodyPr rot="0" spcFirstLastPara="1" vertOverflow="ellipsis" vert="horz" wrap="square" anchor="ctr" anchorCtr="1"/>
              <a:lstStyle/>
              <a:p>
                <a:pPr>
                  <a:defRPr sz="700" b="1">
                    <a:solidFill>
                      <a:srgbClr val="FFFFFF"/>
                    </a:solidFill>
                    <a:latin typeface="La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Sheet1!$C$2:$C$9</c:f>
              <c:numCache>
                <c:formatCode>General</c:formatCode>
                <c:ptCount val="8"/>
                <c:pt idx="0">
                  <c:v>17160</c:v>
                </c:pt>
                <c:pt idx="1">
                  <c:v>16604</c:v>
                </c:pt>
                <c:pt idx="2">
                  <c:v>19210</c:v>
                </c:pt>
                <c:pt idx="3">
                  <c:v>21855</c:v>
                </c:pt>
                <c:pt idx="4">
                  <c:v>23247</c:v>
                </c:pt>
                <c:pt idx="5">
                  <c:v>22798</c:v>
                </c:pt>
                <c:pt idx="6">
                  <c:v>21431</c:v>
                </c:pt>
                <c:pt idx="7">
                  <c:v>17607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B01E-40E7-872C-1B1BD8862E8C}"/>
            </c:ext>
          </c:extLst>
        </c:ser>
        <c:ser>
          <c:idx val="2"/>
          <c:order val="2"/>
          <c:tx>
            <c:strRef>
              <c:f>Sheet1!$D$1</c:f>
              <c:strCache>
                <c:ptCount val="1"/>
                <c:pt idx="0">
                  <c:v>JD/PhD</c:v>
                </c:pt>
              </c:strCache>
            </c:strRef>
          </c:tx>
          <c:spPr>
            <a:solidFill>
              <a:srgbClr val="9B9C9E"/>
            </a:solidFill>
            <a:ln>
              <a:noFill/>
            </a:ln>
          </c:spPr>
          <c:invertIfNegative val="1"/>
          <c:dLbls>
            <c:numFmt formatCode="#,##0" sourceLinked="0"/>
            <c:spPr>
              <a:noFill/>
              <a:ln>
                <a:noFill/>
              </a:ln>
            </c:spPr>
            <c:txPr>
              <a:bodyPr rot="0" spcFirstLastPara="1" vertOverflow="ellipsis" vert="horz" wrap="square" anchor="ctr" anchorCtr="1"/>
              <a:lstStyle/>
              <a:p>
                <a:pPr>
                  <a:defRPr sz="700" b="1">
                    <a:solidFill>
                      <a:srgbClr val="FFFFFF"/>
                    </a:solidFill>
                    <a:latin typeface="Lato"/>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FY20</c:v>
                </c:pt>
                <c:pt idx="1">
                  <c:v>FY21</c:v>
                </c:pt>
                <c:pt idx="2">
                  <c:v>FY22</c:v>
                </c:pt>
                <c:pt idx="3">
                  <c:v>FY23</c:v>
                </c:pt>
                <c:pt idx="4">
                  <c:v>FY24</c:v>
                </c:pt>
                <c:pt idx="5">
                  <c:v>FY25</c:v>
                </c:pt>
                <c:pt idx="6">
                  <c:v>FY26</c:v>
                </c:pt>
                <c:pt idx="7">
                  <c:v>FY27
(est)</c:v>
                </c:pt>
              </c:strCache>
            </c:strRef>
          </c:cat>
          <c:val>
            <c:numRef>
              <c:f>Sheet1!$D$2:$D$9</c:f>
              <c:numCache>
                <c:formatCode>General</c:formatCode>
                <c:ptCount val="8"/>
                <c:pt idx="0">
                  <c:v>2117</c:v>
                </c:pt>
                <c:pt idx="1">
                  <c:v>2166</c:v>
                </c:pt>
                <c:pt idx="2">
                  <c:v>2255</c:v>
                </c:pt>
                <c:pt idx="3">
                  <c:v>2357</c:v>
                </c:pt>
                <c:pt idx="4">
                  <c:v>2508</c:v>
                </c:pt>
                <c:pt idx="5">
                  <c:v>2721</c:v>
                </c:pt>
                <c:pt idx="6">
                  <c:v>2668</c:v>
                </c:pt>
                <c:pt idx="7">
                  <c:v>2590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B01E-40E7-872C-1B1BD8862E8C}"/>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b"/>
        <c:numFmt formatCode="General" sourceLinked="0"/>
        <c:majorTickMark val="out"/>
        <c:minorTickMark val="none"/>
        <c:tickLblPos val="nextTo"/>
        <c:spPr>
          <a:ln w="12700">
            <a:solidFill>
              <a:srgbClr val="000000"/>
            </a:solidFill>
          </a:ln>
        </c:spPr>
        <c:txPr>
          <a:bodyPr/>
          <a:lstStyle/>
          <a:p>
            <a:pPr>
              <a:defRPr sz="1100">
                <a:solidFill>
                  <a:srgbClr val="000000"/>
                </a:solidFill>
                <a:latin typeface="Lato"/>
              </a:defRPr>
            </a:pPr>
            <a:endParaRPr lang="en-US"/>
          </a:p>
        </c:txPr>
        <c:crossAx val="2113994440"/>
        <c:crosses val="autoZero"/>
        <c:auto val="1"/>
        <c:lblAlgn val="ctr"/>
        <c:lblOffset val="100"/>
        <c:noMultiLvlLbl val="0"/>
      </c:catAx>
      <c:valAx>
        <c:axId val="2113994440"/>
        <c:scaling>
          <c:orientation val="minMax"/>
          <c:max val="50000"/>
          <c:min val="0"/>
        </c:scaling>
        <c:delete val="0"/>
        <c:axPos val="l"/>
        <c:title>
          <c:tx>
            <c:rich>
              <a:bodyPr rot="-5400000" vert="horz"/>
              <a:lstStyle/>
              <a:p>
                <a:pPr>
                  <a:defRPr sz="1000" b="1">
                    <a:solidFill>
                      <a:srgbClr val="49494D"/>
                    </a:solidFill>
                    <a:latin typeface="Lato"/>
                  </a:defRPr>
                </a:pPr>
                <a:r>
                  <a:rPr lang="en-US" sz="1000" b="1">
                    <a:solidFill>
                      <a:srgbClr val="49494D"/>
                    </a:solidFill>
                    <a:latin typeface="Lato"/>
                  </a:rPr>
                  <a:t>Degree-seeking students</a:t>
                </a:r>
              </a:p>
            </c:rich>
          </c:tx>
          <c:overlay val="0"/>
        </c:title>
        <c:numFmt formatCode="#,##0" sourceLinked="0"/>
        <c:majorTickMark val="out"/>
        <c:minorTickMark val="none"/>
        <c:tickLblPos val="nextTo"/>
        <c:spPr>
          <a:ln w="12700">
            <a:solidFill>
              <a:srgbClr val="000000"/>
            </a:solidFill>
          </a:ln>
        </c:spPr>
        <c:txPr>
          <a:bodyPr/>
          <a:lstStyle/>
          <a:p>
            <a:pPr>
              <a:defRPr sz="1000">
                <a:solidFill>
                  <a:srgbClr val="000000"/>
                </a:solidFill>
                <a:latin typeface="Lato"/>
              </a:defRPr>
            </a:pPr>
            <a:endParaRPr lang="en-US"/>
          </a:p>
        </c:txPr>
        <c:crossAx val="2068027336"/>
        <c:crosses val="autoZero"/>
        <c:crossBetween val="between"/>
        <c:majorUnit val="10000"/>
      </c:valAx>
    </c:plotArea>
    <c:legend>
      <c:legendPos val="b"/>
      <c:overlay val="0"/>
      <c:txPr>
        <a:bodyPr/>
        <a:lstStyle/>
        <a:p>
          <a:pPr>
            <a:defRPr sz="1100">
              <a:solidFill>
                <a:srgbClr val="000000"/>
              </a:solidFill>
              <a:latin typeface="Lato"/>
            </a:defRPr>
          </a:pPr>
          <a:endParaRPr lang="en-US"/>
        </a:p>
      </c:txPr>
    </c:legend>
    <c:plotVisOnly val="1"/>
    <c:dispBlanksAs val="gap"/>
    <c:showDLblsOverMax val="1"/>
  </c:chart>
  <c:txPr>
    <a:bodyPr/>
    <a:lstStyle/>
    <a:p>
      <a:pPr>
        <a:defRPr sz="1800">
          <a:latin typeface="Lato"/>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PG Actuals / Forecast</c:v>
                </c:pt>
              </c:strCache>
            </c:strRef>
          </c:tx>
          <c:spPr>
            <a:ln w="28575" cap="rnd">
              <a:solidFill>
                <a:srgbClr val="000000"/>
              </a:solidFill>
              <a:round/>
            </a:ln>
            <a:effectLst/>
          </c:spPr>
          <c:marker>
            <c:symbol val="circle"/>
            <c:size val="12"/>
            <c:spPr>
              <a:solidFill>
                <a:srgbClr val="000000"/>
              </a:solidFill>
              <a:ln w="9525">
                <a:solidFill>
                  <a:srgbClr val="000000"/>
                </a:solidFill>
              </a:ln>
              <a:effectLst/>
            </c:spPr>
          </c:marker>
          <c:dPt>
            <c:idx val="3"/>
            <c:marker>
              <c:symbol val="circle"/>
              <c:size val="12"/>
              <c:spPr>
                <a:solidFill>
                  <a:srgbClr val="000000"/>
                </a:solidFill>
                <a:ln w="9525">
                  <a:solidFill>
                    <a:srgbClr val="000000"/>
                  </a:solidFill>
                </a:ln>
                <a:effectLst/>
              </c:spPr>
            </c:marker>
            <c:bubble3D val="0"/>
            <c:extLst>
              <c:ext xmlns:c16="http://schemas.microsoft.com/office/drawing/2014/chart" uri="{C3380CC4-5D6E-409C-BE32-E72D297353CC}">
                <c16:uniqueId val="{00000000-B09B-734A-BDEE-A0667942C02F}"/>
              </c:ext>
            </c:extLst>
          </c:dPt>
          <c:dPt>
            <c:idx val="4"/>
            <c:marker>
              <c:symbol val="circle"/>
              <c:size val="12"/>
              <c:spPr>
                <a:solidFill>
                  <a:srgbClr val="000000"/>
                </a:solidFill>
                <a:ln w="9525">
                  <a:solidFill>
                    <a:srgbClr val="000000"/>
                  </a:solidFill>
                </a:ln>
                <a:effectLst/>
              </c:spPr>
            </c:marker>
            <c:bubble3D val="0"/>
            <c:extLst>
              <c:ext xmlns:c16="http://schemas.microsoft.com/office/drawing/2014/chart" uri="{C3380CC4-5D6E-409C-BE32-E72D297353CC}">
                <c16:uniqueId val="{00000005-B09B-734A-BDEE-A0667942C02F}"/>
              </c:ext>
            </c:extLst>
          </c:dPt>
          <c:dPt>
            <c:idx val="5"/>
            <c:marker>
              <c:symbol val="circle"/>
              <c:size val="12"/>
              <c:spPr>
                <a:solidFill>
                  <a:srgbClr val="000000"/>
                </a:solidFill>
                <a:ln w="9525">
                  <a:solidFill>
                    <a:srgbClr val="000000"/>
                  </a:solidFill>
                </a:ln>
                <a:effectLst/>
              </c:spPr>
            </c:marker>
            <c:bubble3D val="0"/>
            <c:extLst>
              <c:ext xmlns:c16="http://schemas.microsoft.com/office/drawing/2014/chart" uri="{C3380CC4-5D6E-409C-BE32-E72D297353CC}">
                <c16:uniqueId val="{00000006-B09B-734A-BDEE-A0667942C02F}"/>
              </c:ext>
            </c:extLst>
          </c:dPt>
          <c:dPt>
            <c:idx val="6"/>
            <c:marker>
              <c:symbol val="circle"/>
              <c:size val="12"/>
              <c:spPr>
                <a:solidFill>
                  <a:srgbClr val="000000"/>
                </a:solidFill>
                <a:ln w="9525">
                  <a:solidFill>
                    <a:srgbClr val="000000"/>
                  </a:solidFill>
                </a:ln>
                <a:effectLst/>
              </c:spPr>
            </c:marker>
            <c:bubble3D val="0"/>
            <c:extLst>
              <c:ext xmlns:c16="http://schemas.microsoft.com/office/drawing/2014/chart" uri="{C3380CC4-5D6E-409C-BE32-E72D297353CC}">
                <c16:uniqueId val="{00000007-B09B-734A-BDEE-A0667942C02F}"/>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000000"/>
                    </a:solidFill>
                    <a:latin typeface="Lato"/>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FY23</c:v>
                </c:pt>
                <c:pt idx="1">
                  <c:v>FY24</c:v>
                </c:pt>
                <c:pt idx="2">
                  <c:v>FY25</c:v>
                </c:pt>
                <c:pt idx="3">
                  <c:v>FY26</c:v>
                </c:pt>
                <c:pt idx="4">
                  <c:v>FY27</c:v>
                </c:pt>
                <c:pt idx="5">
                  <c:v>FY28</c:v>
                </c:pt>
                <c:pt idx="6">
                  <c:v>FY29</c:v>
                </c:pt>
              </c:strCache>
            </c:strRef>
          </c:cat>
          <c:val>
            <c:numRef>
              <c:f>Sheet1!$B$2:$B$8</c:f>
              <c:numCache>
                <c:formatCode>#,##0</c:formatCode>
                <c:ptCount val="7"/>
                <c:pt idx="0">
                  <c:v>11030</c:v>
                </c:pt>
                <c:pt idx="1">
                  <c:v>10748</c:v>
                </c:pt>
                <c:pt idx="2">
                  <c:v>9822</c:v>
                </c:pt>
                <c:pt idx="3">
                  <c:v>8900</c:v>
                </c:pt>
              </c:numCache>
            </c:numRef>
          </c:val>
          <c:smooth val="0"/>
          <c:extLst>
            <c:ext xmlns:c16="http://schemas.microsoft.com/office/drawing/2014/chart" uri="{C3380CC4-5D6E-409C-BE32-E72D297353CC}">
              <c16:uniqueId val="{00000000-30DD-B74C-97B0-70A37442C61D}"/>
            </c:ext>
          </c:extLst>
        </c:ser>
        <c:ser>
          <c:idx val="1"/>
          <c:order val="1"/>
          <c:tx>
            <c:strRef>
              <c:f>Sheet1!$C$1</c:f>
              <c:strCache>
                <c:ptCount val="1"/>
                <c:pt idx="0">
                  <c:v>PG Low</c:v>
                </c:pt>
              </c:strCache>
            </c:strRef>
          </c:tx>
          <c:spPr>
            <a:ln w="28575" cap="rnd">
              <a:solidFill>
                <a:srgbClr val="C8102E"/>
              </a:solidFill>
              <a:round/>
            </a:ln>
            <a:effectLst/>
          </c:spPr>
          <c:marker>
            <c:symbol val="circle"/>
            <c:size val="5"/>
            <c:spPr>
              <a:solidFill>
                <a:srgbClr val="C8102E"/>
              </a:solidFill>
              <a:ln w="25400">
                <a:noFill/>
              </a:ln>
              <a:effectLst/>
            </c:spPr>
          </c:marker>
          <c:dPt>
            <c:idx val="3"/>
            <c:marker>
              <c:symbol val="circle"/>
              <c:size val="5"/>
              <c:spPr>
                <a:solidFill>
                  <a:srgbClr val="C8102E"/>
                </a:solidFill>
                <a:ln w="25400">
                  <a:noFill/>
                </a:ln>
                <a:effectLst/>
              </c:spPr>
            </c:marker>
            <c:bubble3D val="0"/>
            <c:extLst>
              <c:ext xmlns:c16="http://schemas.microsoft.com/office/drawing/2014/chart" uri="{C3380CC4-5D6E-409C-BE32-E72D297353CC}">
                <c16:uniqueId val="{00000003-70C5-4642-BA3F-9AEECB991F15}"/>
              </c:ext>
            </c:extLst>
          </c:dPt>
          <c:dLbls>
            <c:dLbl>
              <c:idx val="3"/>
              <c:delete val="1"/>
              <c:extLst>
                <c:ext xmlns:c15="http://schemas.microsoft.com/office/drawing/2012/chart" uri="{CE6537A1-D6FC-4f65-9D91-7224C49458BB}"/>
                <c:ext xmlns:c16="http://schemas.microsoft.com/office/drawing/2014/chart" uri="{C3380CC4-5D6E-409C-BE32-E72D297353CC}">
                  <c16:uniqueId val="{00000003-70C5-4642-BA3F-9AEECB991F15}"/>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C8102E"/>
                    </a:solidFill>
                    <a:latin typeface="Lato"/>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FY23</c:v>
                </c:pt>
                <c:pt idx="1">
                  <c:v>FY24</c:v>
                </c:pt>
                <c:pt idx="2">
                  <c:v>FY25</c:v>
                </c:pt>
                <c:pt idx="3">
                  <c:v>FY26</c:v>
                </c:pt>
                <c:pt idx="4">
                  <c:v>FY27</c:v>
                </c:pt>
                <c:pt idx="5">
                  <c:v>FY28</c:v>
                </c:pt>
                <c:pt idx="6">
                  <c:v>FY29</c:v>
                </c:pt>
              </c:strCache>
            </c:strRef>
          </c:cat>
          <c:val>
            <c:numRef>
              <c:f>Sheet1!$C$2:$C$8</c:f>
              <c:numCache>
                <c:formatCode>General</c:formatCode>
                <c:ptCount val="7"/>
                <c:pt idx="3" formatCode="#,##0">
                  <c:v>8900</c:v>
                </c:pt>
                <c:pt idx="4" formatCode="#,##0">
                  <c:v>8000</c:v>
                </c:pt>
                <c:pt idx="5" formatCode="#,##0">
                  <c:v>7900</c:v>
                </c:pt>
                <c:pt idx="6" formatCode="#,##0">
                  <c:v>7800</c:v>
                </c:pt>
              </c:numCache>
            </c:numRef>
          </c:val>
          <c:smooth val="0"/>
          <c:extLst>
            <c:ext xmlns:c16="http://schemas.microsoft.com/office/drawing/2014/chart" uri="{C3380CC4-5D6E-409C-BE32-E72D297353CC}">
              <c16:uniqueId val="{00000001-30DD-B74C-97B0-70A37442C61D}"/>
            </c:ext>
          </c:extLst>
        </c:ser>
        <c:ser>
          <c:idx val="2"/>
          <c:order val="2"/>
          <c:tx>
            <c:strRef>
              <c:f>Sheet1!$D$1</c:f>
              <c:strCache>
                <c:ptCount val="1"/>
                <c:pt idx="0">
                  <c:v>PG Medium</c:v>
                </c:pt>
              </c:strCache>
            </c:strRef>
          </c:tx>
          <c:spPr>
            <a:ln w="28575" cap="rnd">
              <a:solidFill>
                <a:srgbClr val="6E6F73"/>
              </a:solidFill>
              <a:round/>
            </a:ln>
            <a:effectLst/>
          </c:spPr>
          <c:marker>
            <c:symbol val="circle"/>
            <c:size val="5"/>
            <c:spPr>
              <a:solidFill>
                <a:srgbClr val="6E6F73"/>
              </a:solidFill>
              <a:ln w="9525">
                <a:noFill/>
              </a:ln>
              <a:effectLst/>
            </c:spPr>
          </c:marker>
          <c:dPt>
            <c:idx val="0"/>
            <c:marker>
              <c:symbol val="circle"/>
              <c:size val="5"/>
              <c:spPr>
                <a:solidFill>
                  <a:srgbClr val="6E6F73"/>
                </a:solidFill>
                <a:ln w="9525">
                  <a:noFill/>
                </a:ln>
                <a:effectLst/>
              </c:spPr>
            </c:marker>
            <c:bubble3D val="0"/>
            <c:extLst>
              <c:ext xmlns:c16="http://schemas.microsoft.com/office/drawing/2014/chart" uri="{C3380CC4-5D6E-409C-BE32-E72D297353CC}">
                <c16:uniqueId val="{00000007-70C5-4642-BA3F-9AEECB991F15}"/>
              </c:ext>
            </c:extLst>
          </c:dPt>
          <c:dPt>
            <c:idx val="3"/>
            <c:marker>
              <c:symbol val="circle"/>
              <c:size val="5"/>
              <c:spPr>
                <a:solidFill>
                  <a:srgbClr val="6E6F73"/>
                </a:solidFill>
                <a:ln w="9525">
                  <a:noFill/>
                </a:ln>
                <a:effectLst/>
              </c:spPr>
            </c:marker>
            <c:bubble3D val="0"/>
            <c:extLst>
              <c:ext xmlns:c16="http://schemas.microsoft.com/office/drawing/2014/chart" uri="{C3380CC4-5D6E-409C-BE32-E72D297353CC}">
                <c16:uniqueId val="{00000004-70C5-4642-BA3F-9AEECB991F15}"/>
              </c:ext>
            </c:extLst>
          </c:dPt>
          <c:cat>
            <c:strRef>
              <c:f>Sheet1!$A$2:$A$8</c:f>
              <c:strCache>
                <c:ptCount val="7"/>
                <c:pt idx="0">
                  <c:v>FY23</c:v>
                </c:pt>
                <c:pt idx="1">
                  <c:v>FY24</c:v>
                </c:pt>
                <c:pt idx="2">
                  <c:v>FY25</c:v>
                </c:pt>
                <c:pt idx="3">
                  <c:v>FY26</c:v>
                </c:pt>
                <c:pt idx="4">
                  <c:v>FY27</c:v>
                </c:pt>
                <c:pt idx="5">
                  <c:v>FY28</c:v>
                </c:pt>
                <c:pt idx="6">
                  <c:v>FY29</c:v>
                </c:pt>
              </c:strCache>
            </c:strRef>
          </c:cat>
          <c:val>
            <c:numRef>
              <c:f>Sheet1!$D$2:$D$8</c:f>
              <c:numCache>
                <c:formatCode>General</c:formatCode>
                <c:ptCount val="7"/>
                <c:pt idx="3" formatCode="#,##0">
                  <c:v>8900</c:v>
                </c:pt>
                <c:pt idx="4" formatCode="#,##0">
                  <c:v>8400</c:v>
                </c:pt>
                <c:pt idx="5" formatCode="#,##0">
                  <c:v>8300</c:v>
                </c:pt>
                <c:pt idx="6" formatCode="#,##0">
                  <c:v>8200</c:v>
                </c:pt>
              </c:numCache>
            </c:numRef>
          </c:val>
          <c:smooth val="0"/>
          <c:extLst>
            <c:ext xmlns:c16="http://schemas.microsoft.com/office/drawing/2014/chart" uri="{C3380CC4-5D6E-409C-BE32-E72D297353CC}">
              <c16:uniqueId val="{00000000-70C5-4642-BA3F-9AEECB991F15}"/>
            </c:ext>
          </c:extLst>
        </c:ser>
        <c:ser>
          <c:idx val="3"/>
          <c:order val="3"/>
          <c:tx>
            <c:strRef>
              <c:f>Sheet1!$E$1</c:f>
              <c:strCache>
                <c:ptCount val="1"/>
                <c:pt idx="0">
                  <c:v>PG High</c:v>
                </c:pt>
              </c:strCache>
            </c:strRef>
          </c:tx>
          <c:spPr>
            <a:ln w="28575" cap="rnd">
              <a:solidFill>
                <a:srgbClr val="E8A0AB"/>
              </a:solidFill>
              <a:round/>
            </a:ln>
            <a:effectLst/>
          </c:spPr>
          <c:marker>
            <c:symbol val="circle"/>
            <c:size val="5"/>
            <c:spPr>
              <a:solidFill>
                <a:srgbClr val="E8A0AB"/>
              </a:solidFill>
              <a:ln w="9525">
                <a:noFill/>
              </a:ln>
              <a:effectLst/>
            </c:spPr>
          </c:marker>
          <c:dPt>
            <c:idx val="3"/>
            <c:marker>
              <c:symbol val="circle"/>
              <c:size val="5"/>
              <c:spPr>
                <a:solidFill>
                  <a:srgbClr val="E8A0AB"/>
                </a:solidFill>
                <a:ln w="9525">
                  <a:noFill/>
                </a:ln>
                <a:effectLst/>
              </c:spPr>
            </c:marker>
            <c:bubble3D val="0"/>
            <c:extLst>
              <c:ext xmlns:c16="http://schemas.microsoft.com/office/drawing/2014/chart" uri="{C3380CC4-5D6E-409C-BE32-E72D297353CC}">
                <c16:uniqueId val="{00000002-70C5-4642-BA3F-9AEECB991F15}"/>
              </c:ext>
            </c:extLst>
          </c:dPt>
          <c:dLbls>
            <c:dLbl>
              <c:idx val="3"/>
              <c:delete val="1"/>
              <c:extLst>
                <c:ext xmlns:c15="http://schemas.microsoft.com/office/drawing/2012/chart" uri="{CE6537A1-D6FC-4f65-9D91-7224C49458BB}"/>
                <c:ext xmlns:c16="http://schemas.microsoft.com/office/drawing/2014/chart" uri="{C3380CC4-5D6E-409C-BE32-E72D297353CC}">
                  <c16:uniqueId val="{00000002-70C5-4642-BA3F-9AEECB991F15}"/>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6E6F73"/>
                    </a:solidFill>
                    <a:latin typeface="Lato"/>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FY23</c:v>
                </c:pt>
                <c:pt idx="1">
                  <c:v>FY24</c:v>
                </c:pt>
                <c:pt idx="2">
                  <c:v>FY25</c:v>
                </c:pt>
                <c:pt idx="3">
                  <c:v>FY26</c:v>
                </c:pt>
                <c:pt idx="4">
                  <c:v>FY27</c:v>
                </c:pt>
                <c:pt idx="5">
                  <c:v>FY28</c:v>
                </c:pt>
                <c:pt idx="6">
                  <c:v>FY29</c:v>
                </c:pt>
              </c:strCache>
            </c:strRef>
          </c:cat>
          <c:val>
            <c:numRef>
              <c:f>Sheet1!$E$2:$E$8</c:f>
              <c:numCache>
                <c:formatCode>General</c:formatCode>
                <c:ptCount val="7"/>
                <c:pt idx="3" formatCode="#,##0">
                  <c:v>8900</c:v>
                </c:pt>
                <c:pt idx="4" formatCode="#,##0">
                  <c:v>8600</c:v>
                </c:pt>
                <c:pt idx="5" formatCode="#,##0">
                  <c:v>8500</c:v>
                </c:pt>
                <c:pt idx="6" formatCode="#,##0">
                  <c:v>8400</c:v>
                </c:pt>
              </c:numCache>
            </c:numRef>
          </c:val>
          <c:smooth val="0"/>
          <c:extLst>
            <c:ext xmlns:c16="http://schemas.microsoft.com/office/drawing/2014/chart" uri="{C3380CC4-5D6E-409C-BE32-E72D297353CC}">
              <c16:uniqueId val="{00000001-70C5-4642-BA3F-9AEECB991F15}"/>
            </c:ext>
          </c:extLst>
        </c:ser>
        <c:dLbls>
          <c:showLegendKey val="0"/>
          <c:showVal val="0"/>
          <c:showCatName val="0"/>
          <c:showSerName val="0"/>
          <c:showPercent val="0"/>
          <c:showBubbleSize val="0"/>
        </c:dLbls>
        <c:marker val="1"/>
        <c:smooth val="0"/>
        <c:axId val="958791487"/>
        <c:axId val="958793199"/>
      </c:lineChart>
      <c:catAx>
        <c:axId val="95879148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Lato"/>
                <a:ea typeface="+mn-ea"/>
                <a:cs typeface="+mn-cs"/>
              </a:defRPr>
            </a:pPr>
            <a:endParaRPr lang="en-US"/>
          </a:p>
        </c:txPr>
        <c:crossAx val="958793199"/>
        <c:crosses val="autoZero"/>
        <c:auto val="1"/>
        <c:lblAlgn val="ctr"/>
        <c:lblOffset val="100"/>
        <c:noMultiLvlLbl val="0"/>
      </c:catAx>
      <c:valAx>
        <c:axId val="958793199"/>
        <c:scaling>
          <c:orientation val="minMax"/>
          <c:min val="5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Lato"/>
                <a:ea typeface="+mn-ea"/>
                <a:cs typeface="+mn-cs"/>
              </a:defRPr>
            </a:pPr>
            <a:endParaRPr lang="en-US"/>
          </a:p>
        </c:txPr>
        <c:crossAx val="958791487"/>
        <c:crosses val="autoZero"/>
        <c:crossBetween val="midCat"/>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Lato"/>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Lato"/>
        </a:defRPr>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8.7857317073170751E-2"/>
          <c:y val="5.8068783068783082E-2"/>
          <c:w val="0.89379756097560992"/>
          <c:h val="0.60304232804232816"/>
        </c:manualLayout>
      </c:layout>
      <c:barChart>
        <c:barDir val="col"/>
        <c:grouping val="stacked"/>
        <c:varyColors val="1"/>
        <c:ser>
          <c:idx val="0"/>
          <c:order val="0"/>
          <c:tx>
            <c:strRef>
              <c:f>Sheet1!$B$1</c:f>
              <c:strCache>
                <c:ptCount val="1"/>
                <c:pt idx="0">
                  <c:v>Internally funded, all other</c:v>
                </c:pt>
              </c:strCache>
            </c:strRef>
          </c:tx>
          <c:spPr>
            <a:solidFill>
              <a:srgbClr val="000000"/>
            </a:solidFill>
            <a:ln>
              <a:noFill/>
            </a:ln>
          </c:spPr>
          <c:invertIfNegative val="1"/>
          <c:dLbls>
            <c:numFmt formatCode="#,##0" sourceLinked="0"/>
            <c:spPr>
              <a:noFill/>
              <a:ln>
                <a:noFill/>
              </a:ln>
              <a:effectLst/>
            </c:spPr>
            <c:txPr>
              <a:bodyPr/>
              <a:lstStyle/>
              <a:p>
                <a:pPr>
                  <a:defRPr sz="11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FY20</c:v>
                </c:pt>
                <c:pt idx="1">
                  <c:v>FY21</c:v>
                </c:pt>
                <c:pt idx="2">
                  <c:v>FY22</c:v>
                </c:pt>
                <c:pt idx="3">
                  <c:v>FY23</c:v>
                </c:pt>
                <c:pt idx="4">
                  <c:v>FY24</c:v>
                </c:pt>
                <c:pt idx="5">
                  <c:v>FY25</c:v>
                </c:pt>
                <c:pt idx="6">
                  <c:v>FY26</c:v>
                </c:pt>
                <c:pt idx="7">
                  <c:v>FY27
(Aug)</c:v>
                </c:pt>
              </c:strCache>
            </c:strRef>
          </c:cat>
          <c:val>
            <c:numRef>
              <c:f>Sheet1!$B$2:$B$9</c:f>
              <c:numCache>
                <c:formatCode>General</c:formatCode>
                <c:ptCount val="8"/>
                <c:pt idx="0">
                  <c:v>2750</c:v>
                </c:pt>
                <c:pt idx="1">
                  <c:v>2931</c:v>
                </c:pt>
                <c:pt idx="2">
                  <c:v>2964</c:v>
                </c:pt>
                <c:pt idx="3">
                  <c:v>3289</c:v>
                </c:pt>
                <c:pt idx="4">
                  <c:v>3831</c:v>
                </c:pt>
                <c:pt idx="5">
                  <c:v>3925</c:v>
                </c:pt>
                <c:pt idx="6">
                  <c:v>3793</c:v>
                </c:pt>
                <c:pt idx="7">
                  <c:v>3552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4B7-4FD2-8A60-7863FA7BBF88}"/>
            </c:ext>
          </c:extLst>
        </c:ser>
        <c:ser>
          <c:idx val="1"/>
          <c:order val="1"/>
          <c:tx>
            <c:strRef>
              <c:f>Sheet1!$C$1</c:f>
              <c:strCache>
                <c:ptCount val="1"/>
                <c:pt idx="0">
                  <c:v>London</c:v>
                </c:pt>
              </c:strCache>
            </c:strRef>
          </c:tx>
          <c:spPr>
            <a:solidFill>
              <a:srgbClr val="000000"/>
            </a:solidFill>
            <a:ln>
              <a:noFill/>
            </a:ln>
          </c:spPr>
          <c:invertIfNegative val="1"/>
          <c:dLbls>
            <c:dLbl>
              <c:idx val="0"/>
              <c:delete val="1"/>
              <c:extLst>
                <c:ext xmlns:c15="http://schemas.microsoft.com/office/drawing/2012/chart" uri="{CE6537A1-D6FC-4f65-9D91-7224C49458BB}"/>
                <c:ext xmlns:c16="http://schemas.microsoft.com/office/drawing/2014/chart" uri="{C3380CC4-5D6E-409C-BE32-E72D297353CC}">
                  <c16:uniqueId val="{00000002-4621-4320-BE46-3285EDD7D318}"/>
                </c:ext>
              </c:extLst>
            </c:dLbl>
            <c:dLbl>
              <c:idx val="1"/>
              <c:delete val="1"/>
              <c:extLst>
                <c:ext xmlns:c15="http://schemas.microsoft.com/office/drawing/2012/chart" uri="{CE6537A1-D6FC-4f65-9D91-7224C49458BB}"/>
                <c:ext xmlns:c16="http://schemas.microsoft.com/office/drawing/2014/chart" uri="{C3380CC4-5D6E-409C-BE32-E72D297353CC}">
                  <c16:uniqueId val="{00000001-4621-4320-BE46-3285EDD7D318}"/>
                </c:ext>
              </c:extLst>
            </c:dLbl>
            <c:dLbl>
              <c:idx val="2"/>
              <c:delete val="1"/>
              <c:extLst>
                <c:ext xmlns:c15="http://schemas.microsoft.com/office/drawing/2012/chart" uri="{CE6537A1-D6FC-4f65-9D91-7224C49458BB}"/>
                <c:ext xmlns:c16="http://schemas.microsoft.com/office/drawing/2014/chart" uri="{C3380CC4-5D6E-409C-BE32-E72D297353CC}">
                  <c16:uniqueId val="{00000000-4621-4320-BE46-3285EDD7D318}"/>
                </c:ext>
              </c:extLst>
            </c:dLbl>
            <c:numFmt formatCode="#,##0;;;" sourceLinked="0"/>
            <c:spPr>
              <a:noFill/>
              <a:ln>
                <a:noFill/>
              </a:ln>
              <a:effectLst/>
            </c:spPr>
            <c:txPr>
              <a:bodyPr wrap="square" lIns="38100" tIns="19050" rIns="38100" bIns="19050" anchor="ctr">
                <a:spAutoFit/>
              </a:bodyPr>
              <a:lstStyle/>
              <a:p>
                <a:pPr>
                  <a:defRPr sz="8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FY20</c:v>
                </c:pt>
                <c:pt idx="1">
                  <c:v>FY21</c:v>
                </c:pt>
                <c:pt idx="2">
                  <c:v>FY22</c:v>
                </c:pt>
                <c:pt idx="3">
                  <c:v>FY23</c:v>
                </c:pt>
                <c:pt idx="4">
                  <c:v>FY24</c:v>
                </c:pt>
                <c:pt idx="5">
                  <c:v>FY25</c:v>
                </c:pt>
                <c:pt idx="6">
                  <c:v>FY26</c:v>
                </c:pt>
                <c:pt idx="7">
                  <c:v>FY27
(Aug)</c:v>
                </c:pt>
              </c:strCache>
            </c:strRef>
          </c:cat>
          <c:val>
            <c:numRef>
              <c:f>Sheet1!$C$2:$C$9</c:f>
              <c:numCache>
                <c:formatCode>General</c:formatCode>
                <c:ptCount val="8"/>
                <c:pt idx="0">
                  <c:v>0</c:v>
                </c:pt>
                <c:pt idx="1">
                  <c:v>0</c:v>
                </c:pt>
                <c:pt idx="2">
                  <c:v>0</c:v>
                </c:pt>
                <c:pt idx="3">
                  <c:v>0</c:v>
                </c:pt>
                <c:pt idx="4">
                  <c:v>0</c:v>
                </c:pt>
                <c:pt idx="5">
                  <c:v>0</c:v>
                </c:pt>
                <c:pt idx="6">
                  <c:v>216</c:v>
                </c:pt>
                <c:pt idx="7">
                  <c:v>182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4B7-4FD2-8A60-7863FA7BBF88}"/>
            </c:ext>
          </c:extLst>
        </c:ser>
        <c:ser>
          <c:idx val="2"/>
          <c:order val="2"/>
          <c:tx>
            <c:strRef>
              <c:f>Sheet1!$D$1</c:f>
              <c:strCache>
                <c:ptCount val="1"/>
                <c:pt idx="0">
                  <c:v>Oakland campus</c:v>
                </c:pt>
              </c:strCache>
            </c:strRef>
          </c:tx>
          <c:spPr>
            <a:solidFill>
              <a:srgbClr val="8C8080"/>
            </a:solidFill>
            <a:ln>
              <a:noFill/>
            </a:ln>
          </c:spPr>
          <c:invertIfNegative val="1"/>
          <c:dLbls>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621-4320-BE46-3285EDD7D318}"/>
                </c:ext>
              </c:extLst>
            </c:dLbl>
            <c:numFmt formatCode="#,##0" sourceLinked="0"/>
            <c:spPr>
              <a:noFill/>
              <a:ln>
                <a:noFill/>
              </a:ln>
              <a:effectLst/>
            </c:spPr>
            <c:txPr>
              <a:bodyPr wrap="square" lIns="38100" tIns="19050" rIns="38100" bIns="19050" anchor="ctr">
                <a:spAutoFit/>
              </a:bodyPr>
              <a:lstStyle/>
              <a:p>
                <a:pPr>
                  <a:defRPr sz="800"/>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Sheet1!$A$2:$A$9</c:f>
              <c:strCache>
                <c:ptCount val="8"/>
                <c:pt idx="0">
                  <c:v>FY20</c:v>
                </c:pt>
                <c:pt idx="1">
                  <c:v>FY21</c:v>
                </c:pt>
                <c:pt idx="2">
                  <c:v>FY22</c:v>
                </c:pt>
                <c:pt idx="3">
                  <c:v>FY23</c:v>
                </c:pt>
                <c:pt idx="4">
                  <c:v>FY24</c:v>
                </c:pt>
                <c:pt idx="5">
                  <c:v>FY25</c:v>
                </c:pt>
                <c:pt idx="6">
                  <c:v>FY26</c:v>
                </c:pt>
                <c:pt idx="7">
                  <c:v>FY27
(Aug)</c:v>
                </c:pt>
              </c:strCache>
            </c:strRef>
          </c:cat>
          <c:val>
            <c:numRef>
              <c:f>Sheet1!$D$2:$D$9</c:f>
              <c:numCache>
                <c:formatCode>General</c:formatCode>
                <c:ptCount val="8"/>
                <c:pt idx="0">
                  <c:v>0</c:v>
                </c:pt>
                <c:pt idx="1">
                  <c:v>0</c:v>
                </c:pt>
                <c:pt idx="2">
                  <c:v>0</c:v>
                </c:pt>
                <c:pt idx="3">
                  <c:v>219</c:v>
                </c:pt>
                <c:pt idx="4">
                  <c:v>267</c:v>
                </c:pt>
                <c:pt idx="5">
                  <c:v>295</c:v>
                </c:pt>
                <c:pt idx="6">
                  <c:v>265</c:v>
                </c:pt>
                <c:pt idx="7">
                  <c:v>218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4B7-4FD2-8A60-7863FA7BBF88}"/>
            </c:ext>
          </c:extLst>
        </c:ser>
        <c:ser>
          <c:idx val="3"/>
          <c:order val="3"/>
          <c:tx>
            <c:strRef>
              <c:f>Sheet1!$E$1</c:f>
              <c:strCache>
                <c:ptCount val="1"/>
                <c:pt idx="0">
                  <c:v>Externally funded  (Restricted, Research)</c:v>
                </c:pt>
              </c:strCache>
            </c:strRef>
          </c:tx>
          <c:spPr>
            <a:solidFill>
              <a:srgbClr val="C8102E"/>
            </a:solidFill>
            <a:ln>
              <a:noFill/>
            </a:ln>
          </c:spPr>
          <c:invertIfNegative val="1"/>
          <c:dLbls>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621-4320-BE46-3285EDD7D318}"/>
                </c:ext>
              </c:extLst>
            </c:dLbl>
            <c:numFmt formatCode="#,##0" sourceLinked="0"/>
            <c:spPr>
              <a:noFill/>
              <a:ln>
                <a:noFill/>
              </a:ln>
              <a:effectLst/>
            </c:spPr>
            <c:txPr>
              <a:bodyPr wrap="square" lIns="38100" tIns="19050" rIns="38100" bIns="19050" anchor="ctr">
                <a:spAutoFit/>
              </a:bodyPr>
              <a:lstStyle/>
              <a:p>
                <a:pPr>
                  <a:defRPr sz="800"/>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Sheet1!$A$2:$A$9</c:f>
              <c:strCache>
                <c:ptCount val="8"/>
                <c:pt idx="0">
                  <c:v>FY20</c:v>
                </c:pt>
                <c:pt idx="1">
                  <c:v>FY21</c:v>
                </c:pt>
                <c:pt idx="2">
                  <c:v>FY22</c:v>
                </c:pt>
                <c:pt idx="3">
                  <c:v>FY23</c:v>
                </c:pt>
                <c:pt idx="4">
                  <c:v>FY24</c:v>
                </c:pt>
                <c:pt idx="5">
                  <c:v>FY25</c:v>
                </c:pt>
                <c:pt idx="6">
                  <c:v>FY26</c:v>
                </c:pt>
                <c:pt idx="7">
                  <c:v>FY27
(Aug)</c:v>
                </c:pt>
              </c:strCache>
            </c:strRef>
          </c:cat>
          <c:val>
            <c:numRef>
              <c:f>Sheet1!$E$2:$E$9</c:f>
              <c:numCache>
                <c:formatCode>General</c:formatCode>
                <c:ptCount val="8"/>
                <c:pt idx="0">
                  <c:v>117</c:v>
                </c:pt>
                <c:pt idx="1">
                  <c:v>124</c:v>
                </c:pt>
                <c:pt idx="2">
                  <c:v>124</c:v>
                </c:pt>
                <c:pt idx="3">
                  <c:v>145</c:v>
                </c:pt>
                <c:pt idx="4">
                  <c:v>176</c:v>
                </c:pt>
                <c:pt idx="5">
                  <c:v>227</c:v>
                </c:pt>
                <c:pt idx="6">
                  <c:v>217</c:v>
                </c:pt>
                <c:pt idx="7">
                  <c:v>227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4B7-4FD2-8A60-7863FA7BBF88}"/>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b"/>
        <c:numFmt formatCode="General" sourceLinked="0"/>
        <c:majorTickMark val="out"/>
        <c:minorTickMark val="none"/>
        <c:tickLblPos val="nextTo"/>
        <c:spPr>
          <a:ln w="12700">
            <a:solidFill>
              <a:srgbClr val="000000"/>
            </a:solidFill>
          </a:ln>
        </c:spPr>
        <c:txPr>
          <a:bodyPr/>
          <a:lstStyle/>
          <a:p>
            <a:pPr>
              <a:defRPr>
                <a:solidFill>
                  <a:schemeClr val="bg1"/>
                </a:solidFill>
              </a:defRPr>
            </a:pPr>
            <a:endParaRPr lang="en-US"/>
          </a:p>
        </c:txPr>
        <c:crossAx val="2113994440"/>
        <c:crosses val="autoZero"/>
        <c:auto val="1"/>
        <c:lblAlgn val="ctr"/>
        <c:lblOffset val="100"/>
        <c:noMultiLvlLbl val="0"/>
      </c:catAx>
      <c:valAx>
        <c:axId val="2113994440"/>
        <c:scaling>
          <c:orientation val="minMax"/>
          <c:max val="5000"/>
          <c:min val="0"/>
        </c:scaling>
        <c:delete val="0"/>
        <c:axPos val="l"/>
        <c:title>
          <c:tx>
            <c:rich>
              <a:bodyPr rot="-5400000" vert="horz"/>
              <a:lstStyle/>
              <a:p>
                <a:pPr>
                  <a:defRPr sz="1000" b="1">
                    <a:solidFill>
                      <a:srgbClr val="49494D"/>
                    </a:solidFill>
                    <a:latin typeface="Lato"/>
                  </a:defRPr>
                </a:pPr>
                <a:r>
                  <a:rPr lang="en-US" sz="1000" b="1">
                    <a:solidFill>
                      <a:srgbClr val="49494D"/>
                    </a:solidFill>
                    <a:latin typeface="Lato"/>
                  </a:rPr>
                  <a:t>Staff</a:t>
                </a:r>
              </a:p>
            </c:rich>
          </c:tx>
          <c:overlay val="0"/>
        </c:title>
        <c:numFmt formatCode="#,##0" sourceLinked="0"/>
        <c:majorTickMark val="out"/>
        <c:minorTickMark val="none"/>
        <c:tickLblPos val="nextTo"/>
        <c:spPr>
          <a:ln w="12700">
            <a:solidFill>
              <a:srgbClr val="000000"/>
            </a:solidFill>
          </a:ln>
        </c:spPr>
        <c:txPr>
          <a:bodyPr/>
          <a:lstStyle/>
          <a:p>
            <a:pPr>
              <a:defRPr>
                <a:solidFill>
                  <a:schemeClr val="bg1"/>
                </a:solidFill>
              </a:defRPr>
            </a:pPr>
            <a:endParaRPr lang="en-US"/>
          </a:p>
        </c:txPr>
        <c:crossAx val="2068027336"/>
        <c:crosses val="autoZero"/>
        <c:crossBetween val="between"/>
        <c:majorUnit val="1000"/>
      </c:valAx>
    </c:plotArea>
    <c:legend>
      <c:legendPos val="b"/>
      <c:layout>
        <c:manualLayout>
          <c:xMode val="edge"/>
          <c:yMode val="edge"/>
          <c:x val="0.05"/>
          <c:y val="0.91455026455026456"/>
          <c:w val="0.9"/>
          <c:h val="7.4338624338624343E-2"/>
        </c:manualLayout>
      </c:layout>
      <c:overlay val="0"/>
      <c:txPr>
        <a:bodyPr/>
        <a:lstStyle/>
        <a:p>
          <a:pPr>
            <a:defRPr>
              <a:solidFill>
                <a:schemeClr val="bg1"/>
              </a:solidFill>
            </a:defRPr>
          </a:pPr>
          <a:endParaRPr lang="en-US"/>
        </a:p>
      </c:txPr>
    </c:legend>
    <c:plotVisOnly val="1"/>
    <c:dispBlanksAs val="gap"/>
    <c:showDLblsOverMax val="1"/>
  </c:chart>
  <c:txPr>
    <a:bodyPr/>
    <a:lstStyle/>
    <a:p>
      <a:pPr>
        <a:defRPr sz="12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5335-4267-B8A0-8B82735AC67C}"/>
              </c:ext>
            </c:extLst>
          </c:dPt>
          <c:cat>
            <c:strRef>
              <c:f>Sheet1!$A$2:$A$5</c:f>
              <c:strCache>
                <c:ptCount val="4"/>
                <c:pt idx="0">
                  <c:v>p0</c:v>
                </c:pt>
                <c:pt idx="1">
                  <c:v>p1</c:v>
                </c:pt>
                <c:pt idx="2">
                  <c:v>p2</c:v>
                </c:pt>
                <c:pt idx="3">
                  <c:v>p3</c:v>
                </c:pt>
              </c:strCache>
            </c:strRef>
          </c:cat>
          <c:val>
            <c:numRef>
              <c:f>Sheet1!$B$2:$B$5</c:f>
              <c:numCache>
                <c:formatCode>General</c:formatCode>
                <c:ptCount val="4"/>
                <c:pt idx="0">
                  <c:v>1474</c:v>
                </c:pt>
                <c:pt idx="1">
                  <c:v>1638</c:v>
                </c:pt>
                <c:pt idx="2">
                  <c:v>1772</c:v>
                </c:pt>
                <c:pt idx="3">
                  <c:v>1782</c:v>
                </c:pt>
              </c:numCache>
            </c:numRef>
          </c:val>
          <c:smooth val="0"/>
          <c:extLst>
            <c:ext xmlns:c16="http://schemas.microsoft.com/office/drawing/2014/chart" uri="{C3380CC4-5D6E-409C-BE32-E72D297353CC}">
              <c16:uniqueId val="{00000001-5335-4267-B8A0-8B82735AC67C}"/>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1889.8"/>
          <c:min val="1366.2"/>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10B8-43B7-8C04-18173E04C150}"/>
              </c:ext>
            </c:extLst>
          </c:dPt>
          <c:cat>
            <c:strRef>
              <c:f>Sheet1!$A$2:$A$5</c:f>
              <c:strCache>
                <c:ptCount val="4"/>
                <c:pt idx="0">
                  <c:v>p0</c:v>
                </c:pt>
                <c:pt idx="1">
                  <c:v>p1</c:v>
                </c:pt>
                <c:pt idx="2">
                  <c:v>p2</c:v>
                </c:pt>
                <c:pt idx="3">
                  <c:v>p3</c:v>
                </c:pt>
              </c:strCache>
            </c:strRef>
          </c:cat>
          <c:val>
            <c:numRef>
              <c:f>Sheet1!$B$2:$B$5</c:f>
              <c:numCache>
                <c:formatCode>General</c:formatCode>
                <c:ptCount val="4"/>
                <c:pt idx="0">
                  <c:v>2063</c:v>
                </c:pt>
                <c:pt idx="1">
                  <c:v>2297</c:v>
                </c:pt>
                <c:pt idx="2">
                  <c:v>2442</c:v>
                </c:pt>
                <c:pt idx="3">
                  <c:v>2473</c:v>
                </c:pt>
              </c:numCache>
            </c:numRef>
          </c:val>
          <c:smooth val="0"/>
          <c:extLst>
            <c:ext xmlns:c16="http://schemas.microsoft.com/office/drawing/2014/chart" uri="{C3380CC4-5D6E-409C-BE32-E72D297353CC}">
              <c16:uniqueId val="{00000001-10B8-43B7-8C04-18173E04C150}"/>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2616.5"/>
          <c:min val="1919.5"/>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6BA5-4E96-BF12-160A8122BDC1}"/>
              </c:ext>
            </c:extLst>
          </c:dPt>
          <c:cat>
            <c:strRef>
              <c:f>Sheet1!$A$2:$A$5</c:f>
              <c:strCache>
                <c:ptCount val="4"/>
                <c:pt idx="0">
                  <c:v>p0</c:v>
                </c:pt>
                <c:pt idx="1">
                  <c:v>p1</c:v>
                </c:pt>
                <c:pt idx="2">
                  <c:v>p2</c:v>
                </c:pt>
                <c:pt idx="3">
                  <c:v>p3</c:v>
                </c:pt>
              </c:strCache>
            </c:strRef>
          </c:cat>
          <c:val>
            <c:numRef>
              <c:f>Sheet1!$B$2:$B$5</c:f>
              <c:numCache>
                <c:formatCode>General</c:formatCode>
                <c:ptCount val="4"/>
                <c:pt idx="0">
                  <c:v>1908</c:v>
                </c:pt>
                <c:pt idx="1">
                  <c:v>2162</c:v>
                </c:pt>
                <c:pt idx="2">
                  <c:v>2321</c:v>
                </c:pt>
                <c:pt idx="3">
                  <c:v>2353</c:v>
                </c:pt>
              </c:numCache>
            </c:numRef>
          </c:val>
          <c:smooth val="0"/>
          <c:extLst>
            <c:ext xmlns:c16="http://schemas.microsoft.com/office/drawing/2014/chart" uri="{C3380CC4-5D6E-409C-BE32-E72D297353CC}">
              <c16:uniqueId val="{00000001-6BA5-4E96-BF12-160A8122BDC1}"/>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2508.75"/>
          <c:min val="1752.25"/>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21E3-4BB7-85E9-E2032FC16804}"/>
              </c:ext>
            </c:extLst>
          </c:dPt>
          <c:cat>
            <c:strRef>
              <c:f>Sheet1!$A$2:$A$5</c:f>
              <c:strCache>
                <c:ptCount val="4"/>
                <c:pt idx="0">
                  <c:v>p0</c:v>
                </c:pt>
                <c:pt idx="1">
                  <c:v>p1</c:v>
                </c:pt>
                <c:pt idx="2">
                  <c:v>p2</c:v>
                </c:pt>
                <c:pt idx="3">
                  <c:v>p3</c:v>
                </c:pt>
              </c:strCache>
            </c:strRef>
          </c:cat>
          <c:val>
            <c:numRef>
              <c:f>Sheet1!$B$2:$B$5</c:f>
              <c:numCache>
                <c:formatCode>General</c:formatCode>
                <c:ptCount val="4"/>
                <c:pt idx="0">
                  <c:v>156</c:v>
                </c:pt>
                <c:pt idx="1">
                  <c:v>135</c:v>
                </c:pt>
                <c:pt idx="2">
                  <c:v>121</c:v>
                </c:pt>
                <c:pt idx="3">
                  <c:v>120</c:v>
                </c:pt>
              </c:numCache>
            </c:numRef>
          </c:val>
          <c:smooth val="0"/>
          <c:extLst>
            <c:ext xmlns:c16="http://schemas.microsoft.com/office/drawing/2014/chart" uri="{C3380CC4-5D6E-409C-BE32-E72D297353CC}">
              <c16:uniqueId val="{00000001-21E3-4BB7-85E9-E2032FC16804}"/>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168.6"/>
          <c:min val="107.4"/>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6558-4A0B-BDDB-66600DAB8E93}"/>
              </c:ext>
            </c:extLst>
          </c:dPt>
          <c:cat>
            <c:strRef>
              <c:f>Sheet1!$A$2:$A$5</c:f>
              <c:strCache>
                <c:ptCount val="4"/>
                <c:pt idx="0">
                  <c:v>p0</c:v>
                </c:pt>
                <c:pt idx="1">
                  <c:v>p1</c:v>
                </c:pt>
                <c:pt idx="2">
                  <c:v>p2</c:v>
                </c:pt>
                <c:pt idx="3">
                  <c:v>p3</c:v>
                </c:pt>
              </c:strCache>
            </c:strRef>
          </c:cat>
          <c:val>
            <c:numRef>
              <c:f>Sheet1!$B$2:$B$5</c:f>
              <c:numCache>
                <c:formatCode>General</c:formatCode>
                <c:ptCount val="4"/>
                <c:pt idx="0">
                  <c:v>7.5</c:v>
                </c:pt>
                <c:pt idx="1">
                  <c:v>5.9</c:v>
                </c:pt>
                <c:pt idx="2">
                  <c:v>4.9000000000000004</c:v>
                </c:pt>
                <c:pt idx="3">
                  <c:v>4.9000000000000004</c:v>
                </c:pt>
              </c:numCache>
            </c:numRef>
          </c:val>
          <c:smooth val="0"/>
          <c:extLst>
            <c:ext xmlns:c16="http://schemas.microsoft.com/office/drawing/2014/chart" uri="{C3380CC4-5D6E-409C-BE32-E72D297353CC}">
              <c16:uniqueId val="{00000001-6558-4A0B-BDDB-66600DAB8E93}"/>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8.41"/>
          <c:min val="3.9900000000000007"/>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7EAE-4D98-90D3-1A6D91A95292}"/>
              </c:ext>
            </c:extLst>
          </c:dPt>
          <c:cat>
            <c:strRef>
              <c:f>Sheet1!$A$2:$A$5</c:f>
              <c:strCache>
                <c:ptCount val="4"/>
                <c:pt idx="0">
                  <c:v>p0</c:v>
                </c:pt>
                <c:pt idx="1">
                  <c:v>p1</c:v>
                </c:pt>
                <c:pt idx="2">
                  <c:v>p2</c:v>
                </c:pt>
                <c:pt idx="3">
                  <c:v>p3</c:v>
                </c:pt>
              </c:strCache>
            </c:strRef>
          </c:cat>
          <c:val>
            <c:numRef>
              <c:f>Sheet1!$B$2:$B$5</c:f>
              <c:numCache>
                <c:formatCode>General</c:formatCode>
                <c:ptCount val="4"/>
                <c:pt idx="0">
                  <c:v>282</c:v>
                </c:pt>
                <c:pt idx="1">
                  <c:v>296</c:v>
                </c:pt>
                <c:pt idx="2">
                  <c:v>267</c:v>
                </c:pt>
                <c:pt idx="3">
                  <c:v>291</c:v>
                </c:pt>
              </c:numCache>
            </c:numRef>
          </c:val>
          <c:smooth val="0"/>
          <c:extLst>
            <c:ext xmlns:c16="http://schemas.microsoft.com/office/drawing/2014/chart" uri="{C3380CC4-5D6E-409C-BE32-E72D297353CC}">
              <c16:uniqueId val="{00000001-7EAE-4D98-90D3-1A6D91A95292}"/>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306.14999999999998"/>
          <c:min val="256.85000000000002"/>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9023-490B-8300-3D05C1CDF626}"/>
              </c:ext>
            </c:extLst>
          </c:dPt>
          <c:cat>
            <c:strRef>
              <c:f>Sheet1!$A$2:$A$5</c:f>
              <c:strCache>
                <c:ptCount val="4"/>
                <c:pt idx="0">
                  <c:v>p0</c:v>
                </c:pt>
                <c:pt idx="1">
                  <c:v>p1</c:v>
                </c:pt>
                <c:pt idx="2">
                  <c:v>p2</c:v>
                </c:pt>
                <c:pt idx="3">
                  <c:v>p3</c:v>
                </c:pt>
              </c:strCache>
            </c:strRef>
          </c:cat>
          <c:val>
            <c:numRef>
              <c:f>Sheet1!$B$2:$B$5</c:f>
              <c:numCache>
                <c:formatCode>General</c:formatCode>
                <c:ptCount val="4"/>
                <c:pt idx="0">
                  <c:v>120</c:v>
                </c:pt>
                <c:pt idx="1">
                  <c:v>370</c:v>
                </c:pt>
                <c:pt idx="2">
                  <c:v>130</c:v>
                </c:pt>
                <c:pt idx="3">
                  <c:v>125</c:v>
                </c:pt>
              </c:numCache>
            </c:numRef>
          </c:val>
          <c:smooth val="0"/>
          <c:extLst>
            <c:ext xmlns:c16="http://schemas.microsoft.com/office/drawing/2014/chart" uri="{C3380CC4-5D6E-409C-BE32-E72D297353CC}">
              <c16:uniqueId val="{00000001-9023-490B-8300-3D05C1CDF62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457.5"/>
          <c:min val="32.5"/>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BF85-45C6-B44D-ECFC0460F120}"/>
              </c:ext>
            </c:extLst>
          </c:dPt>
          <c:cat>
            <c:strRef>
              <c:f>Sheet1!$A$2:$A$5</c:f>
              <c:strCache>
                <c:ptCount val="4"/>
                <c:pt idx="0">
                  <c:v>p0</c:v>
                </c:pt>
                <c:pt idx="1">
                  <c:v>p1</c:v>
                </c:pt>
                <c:pt idx="2">
                  <c:v>p2</c:v>
                </c:pt>
                <c:pt idx="3">
                  <c:v>p3</c:v>
                </c:pt>
              </c:strCache>
            </c:strRef>
          </c:cat>
          <c:val>
            <c:numRef>
              <c:f>Sheet1!$B$2:$B$5</c:f>
              <c:numCache>
                <c:formatCode>General</c:formatCode>
                <c:ptCount val="4"/>
                <c:pt idx="0">
                  <c:v>3741</c:v>
                </c:pt>
                <c:pt idx="1">
                  <c:v>4110</c:v>
                </c:pt>
                <c:pt idx="2">
                  <c:v>4363</c:v>
                </c:pt>
                <c:pt idx="3">
                  <c:v>5050</c:v>
                </c:pt>
              </c:numCache>
            </c:numRef>
          </c:val>
          <c:smooth val="0"/>
          <c:extLst>
            <c:ext xmlns:c16="http://schemas.microsoft.com/office/drawing/2014/chart" uri="{C3380CC4-5D6E-409C-BE32-E72D297353CC}">
              <c16:uniqueId val="{00000001-BF85-45C6-B44D-ECFC0460F120}"/>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5508.15"/>
          <c:min val="3282.85"/>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0400-403D-8886-26E44EBEBBF3}"/>
              </c:ext>
            </c:extLst>
          </c:dPt>
          <c:cat>
            <c:strRef>
              <c:f>Sheet1!$A$2:$A$5</c:f>
              <c:strCache>
                <c:ptCount val="4"/>
                <c:pt idx="0">
                  <c:v>p0</c:v>
                </c:pt>
                <c:pt idx="1">
                  <c:v>p1</c:v>
                </c:pt>
                <c:pt idx="2">
                  <c:v>p2</c:v>
                </c:pt>
                <c:pt idx="3">
                  <c:v>p3</c:v>
                </c:pt>
              </c:strCache>
            </c:strRef>
          </c:cat>
          <c:val>
            <c:numRef>
              <c:f>Sheet1!$B$2:$B$5</c:f>
              <c:numCache>
                <c:formatCode>General</c:formatCode>
                <c:ptCount val="4"/>
                <c:pt idx="0">
                  <c:v>3.4</c:v>
                </c:pt>
                <c:pt idx="1">
                  <c:v>3.3</c:v>
                </c:pt>
                <c:pt idx="2">
                  <c:v>3.5</c:v>
                </c:pt>
                <c:pt idx="3">
                  <c:v>3.4</c:v>
                </c:pt>
              </c:numCache>
            </c:numRef>
          </c:val>
          <c:smooth val="0"/>
          <c:extLst>
            <c:ext xmlns:c16="http://schemas.microsoft.com/office/drawing/2014/chart" uri="{C3380CC4-5D6E-409C-BE32-E72D297353CC}">
              <c16:uniqueId val="{00000001-0400-403D-8886-26E44EBEBBF3}"/>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3.5700000000000003"/>
          <c:min val="3.2299999999999995"/>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3F7D-4598-8EEE-156FA4B2C161}"/>
              </c:ext>
            </c:extLst>
          </c:dPt>
          <c:cat>
            <c:strRef>
              <c:f>Sheet1!$A$2:$A$5</c:f>
              <c:strCache>
                <c:ptCount val="4"/>
                <c:pt idx="0">
                  <c:v>p0</c:v>
                </c:pt>
                <c:pt idx="1">
                  <c:v>p1</c:v>
                </c:pt>
                <c:pt idx="2">
                  <c:v>p2</c:v>
                </c:pt>
                <c:pt idx="3">
                  <c:v>p3</c:v>
                </c:pt>
              </c:strCache>
            </c:strRef>
          </c:cat>
          <c:val>
            <c:numRef>
              <c:f>Sheet1!$B$2:$B$5</c:f>
              <c:numCache>
                <c:formatCode>General</c:formatCode>
                <c:ptCount val="4"/>
                <c:pt idx="0">
                  <c:v>1292</c:v>
                </c:pt>
                <c:pt idx="1">
                  <c:v>1257</c:v>
                </c:pt>
                <c:pt idx="2">
                  <c:v>1432</c:v>
                </c:pt>
                <c:pt idx="3">
                  <c:v>1954</c:v>
                </c:pt>
              </c:numCache>
            </c:numRef>
          </c:val>
          <c:smooth val="0"/>
          <c:extLst>
            <c:ext xmlns:c16="http://schemas.microsoft.com/office/drawing/2014/chart" uri="{C3380CC4-5D6E-409C-BE32-E72D297353CC}">
              <c16:uniqueId val="{00000001-3F7D-4598-8EEE-156FA4B2C161}"/>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2197.9499999999998"/>
          <c:min val="1013.05"/>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A72F-4EEB-9676-B95609204D61}"/>
              </c:ext>
            </c:extLst>
          </c:dPt>
          <c:cat>
            <c:strRef>
              <c:f>Sheet1!$A$2:$A$5</c:f>
              <c:strCache>
                <c:ptCount val="4"/>
                <c:pt idx="0">
                  <c:v>p0</c:v>
                </c:pt>
                <c:pt idx="1">
                  <c:v>p1</c:v>
                </c:pt>
                <c:pt idx="2">
                  <c:v>p2</c:v>
                </c:pt>
                <c:pt idx="3">
                  <c:v>p3</c:v>
                </c:pt>
              </c:strCache>
            </c:strRef>
          </c:cat>
          <c:val>
            <c:numRef>
              <c:f>Sheet1!$B$2:$B$5</c:f>
              <c:numCache>
                <c:formatCode>General</c:formatCode>
                <c:ptCount val="4"/>
                <c:pt idx="0">
                  <c:v>563</c:v>
                </c:pt>
                <c:pt idx="1">
                  <c:v>546</c:v>
                </c:pt>
                <c:pt idx="2">
                  <c:v>412</c:v>
                </c:pt>
                <c:pt idx="3">
                  <c:v>572</c:v>
                </c:pt>
              </c:numCache>
            </c:numRef>
          </c:val>
          <c:smooth val="0"/>
          <c:extLst>
            <c:ext xmlns:c16="http://schemas.microsoft.com/office/drawing/2014/chart" uri="{C3380CC4-5D6E-409C-BE32-E72D297353CC}">
              <c16:uniqueId val="{00000001-A72F-4EEB-9676-B95609204D61}"/>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628"/>
          <c:min val="356"/>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1"/>
          <c:w val="0.84"/>
          <c:h val="0.8"/>
        </c:manualLayout>
      </c:layout>
      <c:lineChart>
        <c:grouping val="standard"/>
        <c:varyColors val="0"/>
        <c:ser>
          <c:idx val="0"/>
          <c:order val="0"/>
          <c:tx>
            <c:strRef>
              <c:f>Sheet1!$B$1</c:f>
              <c:strCache>
                <c:ptCount val="1"/>
                <c:pt idx="0">
                  <c:v>trend</c:v>
                </c:pt>
              </c:strCache>
            </c:strRef>
          </c:tx>
          <c:spPr>
            <a:ln w="19050">
              <a:solidFill>
                <a:srgbClr val="8A8D8F"/>
              </a:solidFill>
            </a:ln>
          </c:spPr>
          <c:marker>
            <c:symbol val="none"/>
          </c:marker>
          <c:dPt>
            <c:idx val="3"/>
            <c:marker>
              <c:symbol val="circle"/>
              <c:size val="5"/>
              <c:spPr>
                <a:solidFill>
                  <a:srgbClr val="000000"/>
                </a:solidFill>
                <a:ln>
                  <a:solidFill>
                    <a:srgbClr val="000000"/>
                  </a:solidFill>
                </a:ln>
              </c:spPr>
            </c:marker>
            <c:bubble3D val="0"/>
            <c:extLst>
              <c:ext xmlns:c16="http://schemas.microsoft.com/office/drawing/2014/chart" uri="{C3380CC4-5D6E-409C-BE32-E72D297353CC}">
                <c16:uniqueId val="{00000000-FA44-4DAE-A63A-1B1AC4627DB8}"/>
              </c:ext>
            </c:extLst>
          </c:dPt>
          <c:cat>
            <c:strRef>
              <c:f>Sheet1!$A$2:$A$5</c:f>
              <c:strCache>
                <c:ptCount val="4"/>
                <c:pt idx="0">
                  <c:v>p0</c:v>
                </c:pt>
                <c:pt idx="1">
                  <c:v>p1</c:v>
                </c:pt>
                <c:pt idx="2">
                  <c:v>p2</c:v>
                </c:pt>
                <c:pt idx="3">
                  <c:v>p3</c:v>
                </c:pt>
              </c:strCache>
            </c:strRef>
          </c:cat>
          <c:val>
            <c:numRef>
              <c:f>Sheet1!$B$2:$B$5</c:f>
              <c:numCache>
                <c:formatCode>General</c:formatCode>
                <c:ptCount val="4"/>
                <c:pt idx="0">
                  <c:v>1714</c:v>
                </c:pt>
                <c:pt idx="1">
                  <c:v>1906</c:v>
                </c:pt>
                <c:pt idx="2">
                  <c:v>2110</c:v>
                </c:pt>
                <c:pt idx="3">
                  <c:v>2343</c:v>
                </c:pt>
              </c:numCache>
            </c:numRef>
          </c:val>
          <c:smooth val="0"/>
          <c:extLst>
            <c:ext xmlns:c16="http://schemas.microsoft.com/office/drawing/2014/chart" uri="{C3380CC4-5D6E-409C-BE32-E72D297353CC}">
              <c16:uniqueId val="{00000001-FA44-4DAE-A63A-1B1AC4627DB8}"/>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1"/>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2563.15"/>
          <c:min val="1493.85"/>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3"/>
          <c:y val="0.12"/>
          <c:w val="0.66"/>
          <c:h val="0.8"/>
        </c:manualLayout>
      </c:layout>
      <c:lineChart>
        <c:grouping val="standard"/>
        <c:varyColors val="0"/>
        <c:ser>
          <c:idx val="0"/>
          <c:order val="0"/>
          <c:tx>
            <c:strRef>
              <c:f>Sheet1!$B$1</c:f>
              <c:strCache>
                <c:ptCount val="1"/>
                <c:pt idx="0">
                  <c:v>Net Tuition &amp; Fees</c:v>
                </c:pt>
              </c:strCache>
            </c:strRef>
          </c:tx>
          <c:spPr>
            <a:ln w="22225">
              <a:solidFill>
                <a:srgbClr val="3A3A3F"/>
              </a:solidFill>
            </a:ln>
          </c:spPr>
          <c:marker>
            <c:symbol val="none"/>
          </c:marker>
          <c:dPt>
            <c:idx val="4"/>
            <c:marker>
              <c:symbol val="circle"/>
              <c:size val="6"/>
              <c:spPr>
                <a:solidFill>
                  <a:srgbClr val="C8102E"/>
                </a:solidFill>
                <a:ln>
                  <a:solidFill>
                    <a:srgbClr val="C8102E"/>
                  </a:solidFill>
                </a:ln>
              </c:spPr>
            </c:marker>
            <c:bubble3D val="0"/>
            <c:extLst>
              <c:ext xmlns:c16="http://schemas.microsoft.com/office/drawing/2014/chart" uri="{C3380CC4-5D6E-409C-BE32-E72D297353CC}">
                <c16:uniqueId val="{00000000-9D70-4E7C-90C7-4DADF39FEFB9}"/>
              </c:ext>
            </c:extLst>
          </c:dPt>
          <c:dLbls>
            <c:dLbl>
              <c:idx val="0"/>
              <c:numFmt formatCode="#,##0" sourceLinked="0"/>
              <c:spPr>
                <a:noFill/>
                <a:ln>
                  <a:noFill/>
                </a:ln>
              </c:spPr>
              <c:txPr>
                <a:bodyPr wrap="none"/>
                <a:lstStyle/>
                <a:p>
                  <a:pPr>
                    <a:defRPr sz="800" b="0">
                      <a:solidFill>
                        <a:srgbClr val="6B6B70"/>
                      </a:solidFill>
                      <a:latin typeface="Lato"/>
                    </a:defRPr>
                  </a:pPr>
                  <a:endParaRPr lang="en-US"/>
                </a:p>
              </c:txPr>
              <c:dLblPos val="l"/>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9D70-4E7C-90C7-4DADF39FEFB9}"/>
                </c:ext>
              </c:extLst>
            </c:dLbl>
            <c:dLbl>
              <c:idx val="4"/>
              <c:numFmt formatCode="#,##0" sourceLinked="0"/>
              <c:spPr>
                <a:noFill/>
                <a:ln>
                  <a:noFill/>
                </a:ln>
              </c:spPr>
              <c:txPr>
                <a:bodyPr wrap="none"/>
                <a:lstStyle/>
                <a:p>
                  <a:pPr>
                    <a:defRPr sz="900" b="1">
                      <a:solidFill>
                        <a:srgbClr val="1A1A1A"/>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9D70-4E7C-90C7-4DADF39FEFB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1248</c:v>
                </c:pt>
                <c:pt idx="1">
                  <c:v>1474</c:v>
                </c:pt>
                <c:pt idx="2">
                  <c:v>1638</c:v>
                </c:pt>
                <c:pt idx="3">
                  <c:v>1772</c:v>
                </c:pt>
                <c:pt idx="4">
                  <c:v>1782</c:v>
                </c:pt>
              </c:numCache>
            </c:numRef>
          </c:val>
          <c:smooth val="0"/>
          <c:extLst>
            <c:ext xmlns:c16="http://schemas.microsoft.com/office/drawing/2014/chart" uri="{C3380CC4-5D6E-409C-BE32-E72D297353CC}">
              <c16:uniqueId val="{00000002-9D70-4E7C-90C7-4DADF39FEFB9}"/>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one"/>
        <c:spPr>
          <a:ln w="6350">
            <a:solidFill>
              <a:srgbClr val="8A8D8F"/>
            </a:solidFill>
          </a:ln>
        </c:spPr>
        <c:crossAx val="2140495176"/>
        <c:crosses val="autoZero"/>
        <c:auto val="1"/>
        <c:lblAlgn val="ctr"/>
        <c:lblOffset val="100"/>
        <c:noMultiLvlLbl val="0"/>
      </c:catAx>
      <c:valAx>
        <c:axId val="2140495176"/>
        <c:scaling>
          <c:orientation val="minMax"/>
          <c:max val="1835.4"/>
          <c:min val="1114.5"/>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3"/>
          <c:y val="0.12"/>
          <c:w val="0.66"/>
          <c:h val="0.8"/>
        </c:manualLayout>
      </c:layout>
      <c:lineChart>
        <c:grouping val="standard"/>
        <c:varyColors val="0"/>
        <c:ser>
          <c:idx val="0"/>
          <c:order val="0"/>
          <c:tx>
            <c:strRef>
              <c:f>Sheet1!$B$1</c:f>
              <c:strCache>
                <c:ptCount val="1"/>
                <c:pt idx="0">
                  <c:v>Research Awards</c:v>
                </c:pt>
              </c:strCache>
            </c:strRef>
          </c:tx>
          <c:spPr>
            <a:ln w="22225">
              <a:solidFill>
                <a:srgbClr val="3A3A3F"/>
              </a:solidFill>
            </a:ln>
          </c:spPr>
          <c:marker>
            <c:symbol val="none"/>
          </c:marker>
          <c:dPt>
            <c:idx val="4"/>
            <c:marker>
              <c:symbol val="circle"/>
              <c:size val="6"/>
              <c:spPr>
                <a:solidFill>
                  <a:srgbClr val="C8102E"/>
                </a:solidFill>
                <a:ln>
                  <a:solidFill>
                    <a:srgbClr val="C8102E"/>
                  </a:solidFill>
                </a:ln>
              </c:spPr>
            </c:marker>
            <c:bubble3D val="0"/>
            <c:extLst>
              <c:ext xmlns:c16="http://schemas.microsoft.com/office/drawing/2014/chart" uri="{C3380CC4-5D6E-409C-BE32-E72D297353CC}">
                <c16:uniqueId val="{00000000-212B-4C58-BFEE-0E98B2A17B7C}"/>
              </c:ext>
            </c:extLst>
          </c:dPt>
          <c:dLbls>
            <c:dLbl>
              <c:idx val="0"/>
              <c:numFmt formatCode="#,##0" sourceLinked="0"/>
              <c:spPr>
                <a:noFill/>
                <a:ln>
                  <a:noFill/>
                </a:ln>
              </c:spPr>
              <c:txPr>
                <a:bodyPr wrap="none"/>
                <a:lstStyle/>
                <a:p>
                  <a:pPr>
                    <a:defRPr sz="800" b="0">
                      <a:solidFill>
                        <a:srgbClr val="6B6B70"/>
                      </a:solidFill>
                      <a:latin typeface="Lato"/>
                    </a:defRPr>
                  </a:pPr>
                  <a:endParaRPr lang="en-US"/>
                </a:p>
              </c:txPr>
              <c:dLblPos val="l"/>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12B-4C58-BFEE-0E98B2A17B7C}"/>
                </c:ext>
              </c:extLst>
            </c:dLbl>
            <c:dLbl>
              <c:idx val="4"/>
              <c:numFmt formatCode="#,##0" sourceLinked="0"/>
              <c:spPr>
                <a:noFill/>
                <a:ln>
                  <a:noFill/>
                </a:ln>
              </c:spPr>
              <c:txPr>
                <a:bodyPr wrap="none"/>
                <a:lstStyle/>
                <a:p>
                  <a:pPr>
                    <a:defRPr sz="900" b="1">
                      <a:solidFill>
                        <a:srgbClr val="1A1A1A"/>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12B-4C58-BFEE-0E98B2A17B7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232</c:v>
                </c:pt>
                <c:pt idx="1">
                  <c:v>282</c:v>
                </c:pt>
                <c:pt idx="2">
                  <c:v>296</c:v>
                </c:pt>
                <c:pt idx="3">
                  <c:v>267</c:v>
                </c:pt>
                <c:pt idx="4">
                  <c:v>291</c:v>
                </c:pt>
              </c:numCache>
            </c:numRef>
          </c:val>
          <c:smooth val="0"/>
          <c:extLst>
            <c:ext xmlns:c16="http://schemas.microsoft.com/office/drawing/2014/chart" uri="{C3380CC4-5D6E-409C-BE32-E72D297353CC}">
              <c16:uniqueId val="{00000002-212B-4C58-BFEE-0E98B2A17B7C}"/>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one"/>
        <c:spPr>
          <a:ln w="6350">
            <a:solidFill>
              <a:srgbClr val="8A8D8F"/>
            </a:solidFill>
          </a:ln>
        </c:spPr>
        <c:crossAx val="2140495176"/>
        <c:crosses val="autoZero"/>
        <c:auto val="1"/>
        <c:lblAlgn val="ctr"/>
        <c:lblOffset val="100"/>
        <c:noMultiLvlLbl val="0"/>
      </c:catAx>
      <c:valAx>
        <c:axId val="2140495176"/>
        <c:scaling>
          <c:orientation val="minMax"/>
          <c:max val="302.39999999999998"/>
          <c:min val="216"/>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3"/>
          <c:y val="0.12"/>
          <c:w val="0.66"/>
          <c:h val="0.8"/>
        </c:manualLayout>
      </c:layout>
      <c:lineChart>
        <c:grouping val="standard"/>
        <c:varyColors val="0"/>
        <c:ser>
          <c:idx val="0"/>
          <c:order val="0"/>
          <c:tx>
            <c:strRef>
              <c:f>Sheet1!$B$1</c:f>
              <c:strCache>
                <c:ptCount val="1"/>
                <c:pt idx="0">
                  <c:v>Philanthropy</c:v>
                </c:pt>
              </c:strCache>
            </c:strRef>
          </c:tx>
          <c:spPr>
            <a:ln w="22225">
              <a:solidFill>
                <a:srgbClr val="3A3A3F"/>
              </a:solidFill>
            </a:ln>
          </c:spPr>
          <c:marker>
            <c:symbol val="none"/>
          </c:marker>
          <c:dPt>
            <c:idx val="4"/>
            <c:marker>
              <c:symbol val="circle"/>
              <c:size val="6"/>
              <c:spPr>
                <a:solidFill>
                  <a:srgbClr val="C8102E"/>
                </a:solidFill>
                <a:ln>
                  <a:solidFill>
                    <a:srgbClr val="C8102E"/>
                  </a:solidFill>
                </a:ln>
              </c:spPr>
            </c:marker>
            <c:bubble3D val="0"/>
            <c:extLst>
              <c:ext xmlns:c16="http://schemas.microsoft.com/office/drawing/2014/chart" uri="{C3380CC4-5D6E-409C-BE32-E72D297353CC}">
                <c16:uniqueId val="{00000000-32CD-41DE-9A95-27CC7B738D79}"/>
              </c:ext>
            </c:extLst>
          </c:dPt>
          <c:dLbls>
            <c:dLbl>
              <c:idx val="0"/>
              <c:numFmt formatCode="#,##0" sourceLinked="0"/>
              <c:spPr>
                <a:noFill/>
                <a:ln>
                  <a:noFill/>
                </a:ln>
              </c:spPr>
              <c:txPr>
                <a:bodyPr wrap="none"/>
                <a:lstStyle/>
                <a:p>
                  <a:pPr>
                    <a:defRPr sz="800" b="0">
                      <a:solidFill>
                        <a:srgbClr val="6B6B70"/>
                      </a:solidFill>
                      <a:latin typeface="Lato"/>
                    </a:defRPr>
                  </a:pPr>
                  <a:endParaRPr lang="en-US"/>
                </a:p>
              </c:txPr>
              <c:dLblPos val="l"/>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2CD-41DE-9A95-27CC7B738D79}"/>
                </c:ext>
              </c:extLst>
            </c:dLbl>
            <c:dLbl>
              <c:idx val="4"/>
              <c:numFmt formatCode="#,##0" sourceLinked="0"/>
              <c:spPr>
                <a:noFill/>
                <a:ln>
                  <a:noFill/>
                </a:ln>
              </c:spPr>
              <c:txPr>
                <a:bodyPr wrap="none"/>
                <a:lstStyle/>
                <a:p>
                  <a:pPr>
                    <a:defRPr sz="900" b="1">
                      <a:solidFill>
                        <a:srgbClr val="1A1A1A"/>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2CD-41DE-9A95-27CC7B738D7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99</c:v>
                </c:pt>
                <c:pt idx="1">
                  <c:v>120</c:v>
                </c:pt>
                <c:pt idx="2">
                  <c:v>370</c:v>
                </c:pt>
                <c:pt idx="3">
                  <c:v>130</c:v>
                </c:pt>
                <c:pt idx="4">
                  <c:v>125</c:v>
                </c:pt>
              </c:numCache>
            </c:numRef>
          </c:val>
          <c:smooth val="0"/>
          <c:extLst>
            <c:ext xmlns:c16="http://schemas.microsoft.com/office/drawing/2014/chart" uri="{C3380CC4-5D6E-409C-BE32-E72D297353CC}">
              <c16:uniqueId val="{00000002-32CD-41DE-9A95-27CC7B738D79}"/>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one"/>
        <c:spPr>
          <a:ln w="6350">
            <a:solidFill>
              <a:srgbClr val="8A8D8F"/>
            </a:solidFill>
          </a:ln>
        </c:spPr>
        <c:crossAx val="2140495176"/>
        <c:crosses val="autoZero"/>
        <c:auto val="1"/>
        <c:lblAlgn val="ctr"/>
        <c:lblOffset val="100"/>
        <c:noMultiLvlLbl val="0"/>
      </c:catAx>
      <c:valAx>
        <c:axId val="2140495176"/>
        <c:scaling>
          <c:orientation val="minMax"/>
          <c:max val="399.6"/>
          <c:min val="0"/>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3"/>
          <c:y val="0.12"/>
          <c:w val="0.66"/>
          <c:h val="0.8"/>
        </c:manualLayout>
      </c:layout>
      <c:lineChart>
        <c:grouping val="standard"/>
        <c:varyColors val="0"/>
        <c:ser>
          <c:idx val="0"/>
          <c:order val="0"/>
          <c:tx>
            <c:strRef>
              <c:f>Sheet1!$B$1</c:f>
              <c:strCache>
                <c:ptCount val="1"/>
                <c:pt idx="0">
                  <c:v>Total Operating Revenue</c:v>
                </c:pt>
              </c:strCache>
            </c:strRef>
          </c:tx>
          <c:spPr>
            <a:ln w="22225">
              <a:solidFill>
                <a:srgbClr val="3A3A3F"/>
              </a:solidFill>
            </a:ln>
          </c:spPr>
          <c:marker>
            <c:symbol val="none"/>
          </c:marker>
          <c:dPt>
            <c:idx val="4"/>
            <c:marker>
              <c:symbol val="circle"/>
              <c:size val="6"/>
              <c:spPr>
                <a:solidFill>
                  <a:srgbClr val="C8102E"/>
                </a:solidFill>
                <a:ln>
                  <a:solidFill>
                    <a:srgbClr val="C8102E"/>
                  </a:solidFill>
                </a:ln>
              </c:spPr>
            </c:marker>
            <c:bubble3D val="0"/>
            <c:extLst>
              <c:ext xmlns:c16="http://schemas.microsoft.com/office/drawing/2014/chart" uri="{C3380CC4-5D6E-409C-BE32-E72D297353CC}">
                <c16:uniqueId val="{00000000-178F-4D1B-AA44-A643A3DE9D93}"/>
              </c:ext>
            </c:extLst>
          </c:dPt>
          <c:dLbls>
            <c:dLbl>
              <c:idx val="0"/>
              <c:numFmt formatCode="#,##0" sourceLinked="0"/>
              <c:spPr>
                <a:noFill/>
                <a:ln>
                  <a:noFill/>
                </a:ln>
              </c:spPr>
              <c:txPr>
                <a:bodyPr wrap="none"/>
                <a:lstStyle/>
                <a:p>
                  <a:pPr>
                    <a:defRPr sz="800" b="0">
                      <a:solidFill>
                        <a:srgbClr val="6B6B70"/>
                      </a:solidFill>
                      <a:latin typeface="Lato"/>
                    </a:defRPr>
                  </a:pPr>
                  <a:endParaRPr lang="en-US"/>
                </a:p>
              </c:txPr>
              <c:dLblPos val="l"/>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78F-4D1B-AA44-A643A3DE9D93}"/>
                </c:ext>
              </c:extLst>
            </c:dLbl>
            <c:dLbl>
              <c:idx val="4"/>
              <c:numFmt formatCode="#,##0" sourceLinked="0"/>
              <c:spPr>
                <a:noFill/>
                <a:ln>
                  <a:noFill/>
                </a:ln>
              </c:spPr>
              <c:txPr>
                <a:bodyPr wrap="none"/>
                <a:lstStyle/>
                <a:p>
                  <a:pPr>
                    <a:defRPr sz="900" b="1">
                      <a:solidFill>
                        <a:srgbClr val="1A1A1A"/>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78F-4D1B-AA44-A643A3DE9D9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1777</c:v>
                </c:pt>
                <c:pt idx="1">
                  <c:v>2063</c:v>
                </c:pt>
                <c:pt idx="2">
                  <c:v>2297</c:v>
                </c:pt>
                <c:pt idx="3">
                  <c:v>2442</c:v>
                </c:pt>
                <c:pt idx="4">
                  <c:v>2473</c:v>
                </c:pt>
              </c:numCache>
            </c:numRef>
          </c:val>
          <c:smooth val="0"/>
          <c:extLst>
            <c:ext xmlns:c16="http://schemas.microsoft.com/office/drawing/2014/chart" uri="{C3380CC4-5D6E-409C-BE32-E72D297353CC}">
              <c16:uniqueId val="{00000002-178F-4D1B-AA44-A643A3DE9D93}"/>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one"/>
        <c:spPr>
          <a:ln w="6350">
            <a:solidFill>
              <a:srgbClr val="8A8D8F"/>
            </a:solidFill>
          </a:ln>
        </c:spPr>
        <c:crossAx val="2140495176"/>
        <c:crosses val="autoZero"/>
        <c:auto val="1"/>
        <c:lblAlgn val="ctr"/>
        <c:lblOffset val="100"/>
        <c:noMultiLvlLbl val="0"/>
      </c:catAx>
      <c:valAx>
        <c:axId val="2140495176"/>
        <c:scaling>
          <c:orientation val="minMax"/>
          <c:max val="2542.6"/>
          <c:min val="1603"/>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3"/>
          <c:y val="0.12"/>
          <c:w val="0.66"/>
          <c:h val="0.8"/>
        </c:manualLayout>
      </c:layout>
      <c:lineChart>
        <c:grouping val="standard"/>
        <c:varyColors val="0"/>
        <c:ser>
          <c:idx val="0"/>
          <c:order val="0"/>
          <c:tx>
            <c:strRef>
              <c:f>Sheet1!$B$1</c:f>
              <c:strCache>
                <c:ptCount val="1"/>
                <c:pt idx="0">
                  <c:v>Total Operating Expenses</c:v>
                </c:pt>
              </c:strCache>
            </c:strRef>
          </c:tx>
          <c:spPr>
            <a:ln w="22225">
              <a:solidFill>
                <a:srgbClr val="3A3A3F"/>
              </a:solidFill>
            </a:ln>
          </c:spPr>
          <c:marker>
            <c:symbol val="none"/>
          </c:marker>
          <c:dPt>
            <c:idx val="4"/>
            <c:marker>
              <c:symbol val="circle"/>
              <c:size val="6"/>
              <c:spPr>
                <a:solidFill>
                  <a:srgbClr val="C8102E"/>
                </a:solidFill>
                <a:ln>
                  <a:solidFill>
                    <a:srgbClr val="C8102E"/>
                  </a:solidFill>
                </a:ln>
              </c:spPr>
            </c:marker>
            <c:bubble3D val="0"/>
            <c:extLst>
              <c:ext xmlns:c16="http://schemas.microsoft.com/office/drawing/2014/chart" uri="{C3380CC4-5D6E-409C-BE32-E72D297353CC}">
                <c16:uniqueId val="{00000000-C357-4C85-806B-7E2E64513A5D}"/>
              </c:ext>
            </c:extLst>
          </c:dPt>
          <c:dLbls>
            <c:dLbl>
              <c:idx val="0"/>
              <c:numFmt formatCode="#,##0" sourceLinked="0"/>
              <c:spPr>
                <a:noFill/>
                <a:ln>
                  <a:noFill/>
                </a:ln>
              </c:spPr>
              <c:txPr>
                <a:bodyPr wrap="none"/>
                <a:lstStyle/>
                <a:p>
                  <a:pPr>
                    <a:defRPr sz="800" b="0">
                      <a:solidFill>
                        <a:srgbClr val="6B6B70"/>
                      </a:solidFill>
                      <a:latin typeface="Lato"/>
                    </a:defRPr>
                  </a:pPr>
                  <a:endParaRPr lang="en-US"/>
                </a:p>
              </c:txPr>
              <c:dLblPos val="l"/>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357-4C85-806B-7E2E64513A5D}"/>
                </c:ext>
              </c:extLst>
            </c:dLbl>
            <c:dLbl>
              <c:idx val="4"/>
              <c:numFmt formatCode="#,##0" sourceLinked="0"/>
              <c:spPr>
                <a:noFill/>
                <a:ln>
                  <a:noFill/>
                </a:ln>
              </c:spPr>
              <c:txPr>
                <a:bodyPr wrap="none"/>
                <a:lstStyle/>
                <a:p>
                  <a:pPr>
                    <a:defRPr sz="900" b="1">
                      <a:solidFill>
                        <a:srgbClr val="1A1A1A"/>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357-4C85-806B-7E2E64513A5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1598</c:v>
                </c:pt>
                <c:pt idx="1">
                  <c:v>1908</c:v>
                </c:pt>
                <c:pt idx="2">
                  <c:v>2162</c:v>
                </c:pt>
                <c:pt idx="3">
                  <c:v>2321</c:v>
                </c:pt>
                <c:pt idx="4">
                  <c:v>2353</c:v>
                </c:pt>
              </c:numCache>
            </c:numRef>
          </c:val>
          <c:smooth val="0"/>
          <c:extLst>
            <c:ext xmlns:c16="http://schemas.microsoft.com/office/drawing/2014/chart" uri="{C3380CC4-5D6E-409C-BE32-E72D297353CC}">
              <c16:uniqueId val="{00000002-C357-4C85-806B-7E2E64513A5D}"/>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one"/>
        <c:spPr>
          <a:ln w="6350">
            <a:solidFill>
              <a:srgbClr val="8A8D8F"/>
            </a:solidFill>
          </a:ln>
        </c:spPr>
        <c:crossAx val="2140495176"/>
        <c:crosses val="autoZero"/>
        <c:auto val="1"/>
        <c:lblAlgn val="ctr"/>
        <c:lblOffset val="100"/>
        <c:noMultiLvlLbl val="0"/>
      </c:catAx>
      <c:valAx>
        <c:axId val="2140495176"/>
        <c:scaling>
          <c:orientation val="minMax"/>
          <c:max val="2428.5"/>
          <c:min val="1409.25"/>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3"/>
          <c:y val="0.12"/>
          <c:w val="0.66"/>
          <c:h val="0.8"/>
        </c:manualLayout>
      </c:layout>
      <c:lineChart>
        <c:grouping val="standard"/>
        <c:varyColors val="0"/>
        <c:ser>
          <c:idx val="0"/>
          <c:order val="0"/>
          <c:tx>
            <c:strRef>
              <c:f>Sheet1!$B$1</c:f>
              <c:strCache>
                <c:ptCount val="1"/>
                <c:pt idx="0">
                  <c:v>Operating Margin ($)</c:v>
                </c:pt>
              </c:strCache>
            </c:strRef>
          </c:tx>
          <c:spPr>
            <a:ln w="22225">
              <a:solidFill>
                <a:srgbClr val="3A3A3F"/>
              </a:solidFill>
            </a:ln>
          </c:spPr>
          <c:marker>
            <c:symbol val="none"/>
          </c:marker>
          <c:dPt>
            <c:idx val="4"/>
            <c:marker>
              <c:symbol val="circle"/>
              <c:size val="6"/>
              <c:spPr>
                <a:solidFill>
                  <a:srgbClr val="C8102E"/>
                </a:solidFill>
                <a:ln>
                  <a:solidFill>
                    <a:srgbClr val="C8102E"/>
                  </a:solidFill>
                </a:ln>
              </c:spPr>
            </c:marker>
            <c:bubble3D val="0"/>
            <c:extLst>
              <c:ext xmlns:c16="http://schemas.microsoft.com/office/drawing/2014/chart" uri="{C3380CC4-5D6E-409C-BE32-E72D297353CC}">
                <c16:uniqueId val="{00000000-7EB9-4192-ACB3-7A5B2A54C285}"/>
              </c:ext>
            </c:extLst>
          </c:dPt>
          <c:dLbls>
            <c:dLbl>
              <c:idx val="0"/>
              <c:numFmt formatCode="#,##0" sourceLinked="0"/>
              <c:spPr>
                <a:noFill/>
                <a:ln>
                  <a:noFill/>
                </a:ln>
              </c:spPr>
              <c:txPr>
                <a:bodyPr wrap="none"/>
                <a:lstStyle/>
                <a:p>
                  <a:pPr>
                    <a:defRPr sz="800" b="0">
                      <a:solidFill>
                        <a:srgbClr val="6B6B70"/>
                      </a:solidFill>
                      <a:latin typeface="Lato"/>
                    </a:defRPr>
                  </a:pPr>
                  <a:endParaRPr lang="en-US"/>
                </a:p>
              </c:txPr>
              <c:dLblPos val="l"/>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EB9-4192-ACB3-7A5B2A54C285}"/>
                </c:ext>
              </c:extLst>
            </c:dLbl>
            <c:dLbl>
              <c:idx val="4"/>
              <c:numFmt formatCode="#,##0" sourceLinked="0"/>
              <c:spPr>
                <a:noFill/>
                <a:ln>
                  <a:noFill/>
                </a:ln>
              </c:spPr>
              <c:txPr>
                <a:bodyPr wrap="none"/>
                <a:lstStyle/>
                <a:p>
                  <a:pPr>
                    <a:defRPr sz="900" b="1">
                      <a:solidFill>
                        <a:srgbClr val="1A1A1A"/>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EB9-4192-ACB3-7A5B2A54C28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180</c:v>
                </c:pt>
                <c:pt idx="1">
                  <c:v>156</c:v>
                </c:pt>
                <c:pt idx="2">
                  <c:v>135.19999999999999</c:v>
                </c:pt>
                <c:pt idx="3">
                  <c:v>120.7</c:v>
                </c:pt>
                <c:pt idx="4">
                  <c:v>120.1</c:v>
                </c:pt>
              </c:numCache>
            </c:numRef>
          </c:val>
          <c:smooth val="0"/>
          <c:extLst>
            <c:ext xmlns:c16="http://schemas.microsoft.com/office/drawing/2014/chart" uri="{C3380CC4-5D6E-409C-BE32-E72D297353CC}">
              <c16:uniqueId val="{00000002-7EB9-4192-ACB3-7A5B2A54C285}"/>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one"/>
        <c:spPr>
          <a:ln w="6350">
            <a:solidFill>
              <a:srgbClr val="8A8D8F"/>
            </a:solidFill>
          </a:ln>
        </c:spPr>
        <c:crossAx val="2140495176"/>
        <c:crosses val="autoZero"/>
        <c:auto val="1"/>
        <c:lblAlgn val="ctr"/>
        <c:lblOffset val="100"/>
        <c:noMultiLvlLbl val="0"/>
      </c:catAx>
      <c:valAx>
        <c:axId val="2140495176"/>
        <c:scaling>
          <c:orientation val="minMax"/>
          <c:max val="194.4"/>
          <c:min val="0"/>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3"/>
          <c:y val="0.12"/>
          <c:w val="0.66"/>
          <c:h val="0.8"/>
        </c:manualLayout>
      </c:layout>
      <c:lineChart>
        <c:grouping val="standard"/>
        <c:varyColors val="0"/>
        <c:ser>
          <c:idx val="0"/>
          <c:order val="0"/>
          <c:tx>
            <c:strRef>
              <c:f>Sheet1!$B$1</c:f>
              <c:strCache>
                <c:ptCount val="1"/>
                <c:pt idx="0">
                  <c:v>Operating Margin (%)</c:v>
                </c:pt>
              </c:strCache>
            </c:strRef>
          </c:tx>
          <c:spPr>
            <a:ln w="22225">
              <a:solidFill>
                <a:srgbClr val="3A3A3F"/>
              </a:solidFill>
            </a:ln>
          </c:spPr>
          <c:marker>
            <c:symbol val="none"/>
          </c:marker>
          <c:dPt>
            <c:idx val="4"/>
            <c:marker>
              <c:symbol val="circle"/>
              <c:size val="6"/>
              <c:spPr>
                <a:solidFill>
                  <a:srgbClr val="C8102E"/>
                </a:solidFill>
                <a:ln>
                  <a:solidFill>
                    <a:srgbClr val="C8102E"/>
                  </a:solidFill>
                </a:ln>
              </c:spPr>
            </c:marker>
            <c:bubble3D val="0"/>
            <c:extLst>
              <c:ext xmlns:c16="http://schemas.microsoft.com/office/drawing/2014/chart" uri="{C3380CC4-5D6E-409C-BE32-E72D297353CC}">
                <c16:uniqueId val="{00000000-D869-473F-81C2-A303C48DD544}"/>
              </c:ext>
            </c:extLst>
          </c:dPt>
          <c:dLbls>
            <c:dLbl>
              <c:idx val="0"/>
              <c:numFmt formatCode="0.0%" sourceLinked="0"/>
              <c:spPr>
                <a:noFill/>
                <a:ln>
                  <a:noFill/>
                </a:ln>
              </c:spPr>
              <c:txPr>
                <a:bodyPr wrap="none"/>
                <a:lstStyle/>
                <a:p>
                  <a:pPr>
                    <a:defRPr sz="800" b="0">
                      <a:solidFill>
                        <a:srgbClr val="6B6B70"/>
                      </a:solidFill>
                      <a:latin typeface="Lato"/>
                    </a:defRPr>
                  </a:pPr>
                  <a:endParaRPr lang="en-US"/>
                </a:p>
              </c:txPr>
              <c:dLblPos val="l"/>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869-473F-81C2-A303C48DD544}"/>
                </c:ext>
              </c:extLst>
            </c:dLbl>
            <c:dLbl>
              <c:idx val="4"/>
              <c:numFmt formatCode="0.0%" sourceLinked="0"/>
              <c:spPr>
                <a:noFill/>
                <a:ln>
                  <a:noFill/>
                </a:ln>
              </c:spPr>
              <c:txPr>
                <a:bodyPr wrap="none"/>
                <a:lstStyle/>
                <a:p>
                  <a:pPr>
                    <a:defRPr sz="900" b="1">
                      <a:solidFill>
                        <a:srgbClr val="1A1A1A"/>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869-473F-81C2-A303C48DD54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FY22</c:v>
                </c:pt>
                <c:pt idx="1">
                  <c:v>FY23</c:v>
                </c:pt>
                <c:pt idx="2">
                  <c:v>FY24</c:v>
                </c:pt>
                <c:pt idx="3">
                  <c:v>FY25</c:v>
                </c:pt>
                <c:pt idx="4">
                  <c:v>FY26</c:v>
                </c:pt>
              </c:strCache>
            </c:strRef>
          </c:cat>
          <c:val>
            <c:numRef>
              <c:f>Sheet1!$B$2:$B$6</c:f>
              <c:numCache>
                <c:formatCode>General</c:formatCode>
                <c:ptCount val="5"/>
                <c:pt idx="0">
                  <c:v>0.10073157006190209</c:v>
                </c:pt>
                <c:pt idx="1">
                  <c:v>7.4999999999999997E-2</c:v>
                </c:pt>
                <c:pt idx="2">
                  <c:v>5.8999999999999997E-2</c:v>
                </c:pt>
                <c:pt idx="3">
                  <c:v>4.9000000000000002E-2</c:v>
                </c:pt>
                <c:pt idx="4">
                  <c:v>4.9000000000000002E-2</c:v>
                </c:pt>
              </c:numCache>
            </c:numRef>
          </c:val>
          <c:smooth val="0"/>
          <c:extLst>
            <c:ext xmlns:c16="http://schemas.microsoft.com/office/drawing/2014/chart" uri="{C3380CC4-5D6E-409C-BE32-E72D297353CC}">
              <c16:uniqueId val="{00000002-D869-473F-81C2-A303C48DD544}"/>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one"/>
        <c:spPr>
          <a:ln w="6350">
            <a:solidFill>
              <a:srgbClr val="8A8D8F"/>
            </a:solidFill>
          </a:ln>
        </c:spPr>
        <c:crossAx val="2140495176"/>
        <c:crosses val="autoZero"/>
        <c:auto val="1"/>
        <c:lblAlgn val="ctr"/>
        <c:lblOffset val="100"/>
        <c:noMultiLvlLbl val="0"/>
      </c:catAx>
      <c:valAx>
        <c:axId val="2140495176"/>
        <c:scaling>
          <c:orientation val="minMax"/>
          <c:max val="0.10879009566685426"/>
          <c:min val="0"/>
        </c:scaling>
        <c:delete val="1"/>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2"/>
          <c:y val="0.05"/>
          <c:w val="0.84"/>
          <c:h val="0.8"/>
        </c:manualLayout>
      </c:layout>
      <c:barChart>
        <c:barDir val="col"/>
        <c:grouping val="clustered"/>
        <c:varyColors val="1"/>
        <c:ser>
          <c:idx val="0"/>
          <c:order val="0"/>
          <c:tx>
            <c:strRef>
              <c:f>Sheet1!$B$1</c:f>
              <c:strCache>
                <c:ptCount val="1"/>
                <c:pt idx="0">
                  <c:v>v</c:v>
                </c:pt>
              </c:strCache>
            </c:strRef>
          </c:tx>
          <c:spPr>
            <a:solidFill>
              <a:srgbClr val="8A8D8F"/>
            </a:solidFill>
          </c:spPr>
          <c:invertIfNegative val="1"/>
          <c:dPt>
            <c:idx val="0"/>
            <c:invertIfNegative val="1"/>
            <c:bubble3D val="0"/>
            <c:extLst>
              <c:ext xmlns:c16="http://schemas.microsoft.com/office/drawing/2014/chart" uri="{C3380CC4-5D6E-409C-BE32-E72D297353CC}">
                <c16:uniqueId val="{00000001-6926-4DCF-9407-97D2275E4078}"/>
              </c:ext>
            </c:extLst>
          </c:dPt>
          <c:dPt>
            <c:idx val="1"/>
            <c:invertIfNegative val="1"/>
            <c:bubble3D val="0"/>
            <c:extLst>
              <c:ext xmlns:c16="http://schemas.microsoft.com/office/drawing/2014/chart" uri="{C3380CC4-5D6E-409C-BE32-E72D297353CC}">
                <c16:uniqueId val="{00000003-6926-4DCF-9407-97D2275E4078}"/>
              </c:ext>
            </c:extLst>
          </c:dPt>
          <c:dPt>
            <c:idx val="2"/>
            <c:invertIfNegative val="1"/>
            <c:bubble3D val="0"/>
            <c:extLst>
              <c:ext xmlns:c16="http://schemas.microsoft.com/office/drawing/2014/chart" uri="{C3380CC4-5D6E-409C-BE32-E72D297353CC}">
                <c16:uniqueId val="{00000005-6926-4DCF-9407-97D2275E4078}"/>
              </c:ext>
            </c:extLst>
          </c:dPt>
          <c:dPt>
            <c:idx val="3"/>
            <c:invertIfNegative val="1"/>
            <c:bubble3D val="0"/>
            <c:extLst>
              <c:ext xmlns:c16="http://schemas.microsoft.com/office/drawing/2014/chart" uri="{C3380CC4-5D6E-409C-BE32-E72D297353CC}">
                <c16:uniqueId val="{00000007-6926-4DCF-9407-97D2275E4078}"/>
              </c:ext>
            </c:extLst>
          </c:dPt>
          <c:dPt>
            <c:idx val="4"/>
            <c:invertIfNegative val="1"/>
            <c:bubble3D val="0"/>
            <c:extLst>
              <c:ext xmlns:c16="http://schemas.microsoft.com/office/drawing/2014/chart" uri="{C3380CC4-5D6E-409C-BE32-E72D297353CC}">
                <c16:uniqueId val="{00000009-6926-4DCF-9407-97D2275E4078}"/>
              </c:ext>
            </c:extLst>
          </c:dPt>
          <c:dPt>
            <c:idx val="5"/>
            <c:invertIfNegative val="1"/>
            <c:bubble3D val="0"/>
            <c:spPr>
              <a:solidFill>
                <a:srgbClr val="000000"/>
              </a:solidFill>
            </c:spPr>
            <c:extLst>
              <c:ext xmlns:c16="http://schemas.microsoft.com/office/drawing/2014/chart" uri="{C3380CC4-5D6E-409C-BE32-E72D297353CC}">
                <c16:uniqueId val="{0000000B-6926-4DCF-9407-97D2275E4078}"/>
              </c:ext>
            </c:extLst>
          </c:dPt>
          <c:dLbls>
            <c:dLbl>
              <c:idx val="3"/>
              <c:layout>
                <c:manualLayout>
                  <c:x val="-6.8587105624143292E-3"/>
                  <c:y val="-2.264492753623188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926-4DCF-9407-97D2275E4078}"/>
                </c:ext>
              </c:extLst>
            </c:dLbl>
            <c:dLbl>
              <c:idx val="4"/>
              <c:layout>
                <c:manualLayout>
                  <c:x val="0"/>
                  <c:y val="-6.038647342995172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926-4DCF-9407-97D2275E4078}"/>
                </c:ext>
              </c:extLst>
            </c:dLbl>
            <c:dLbl>
              <c:idx val="5"/>
              <c:layout>
                <c:manualLayout>
                  <c:x val="0"/>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926-4DCF-9407-97D2275E4078}"/>
                </c:ext>
              </c:extLst>
            </c:dLbl>
            <c:numFmt formatCode="0%" sourceLinked="0"/>
            <c:spPr>
              <a:solidFill>
                <a:srgbClr val="FFFFFF"/>
              </a:solidFill>
              <a:ln>
                <a:noFill/>
              </a:ln>
            </c:spPr>
            <c:txPr>
              <a:bodyPr wrap="square" lIns="38100" tIns="19050" rIns="38100" bIns="19050" anchor="ctr">
                <a:spAutoFit/>
              </a:bodyPr>
              <a:lstStyle/>
              <a:p>
                <a:pPr>
                  <a:defRPr sz="1600" b="1">
                    <a:solidFill>
                      <a:srgbClr val="1A1A1A"/>
                    </a:solidFill>
                    <a:latin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FY21</c:v>
                </c:pt>
                <c:pt idx="1">
                  <c:v>FY22</c:v>
                </c:pt>
                <c:pt idx="2">
                  <c:v>FY23</c:v>
                </c:pt>
                <c:pt idx="3">
                  <c:v>FY24</c:v>
                </c:pt>
                <c:pt idx="4">
                  <c:v>FY25</c:v>
                </c:pt>
                <c:pt idx="5">
                  <c:v>FY26U</c:v>
                </c:pt>
              </c:strCache>
            </c:strRef>
          </c:cat>
          <c:val>
            <c:numRef>
              <c:f>Sheet1!$B$2:$B$7</c:f>
              <c:numCache>
                <c:formatCode>General</c:formatCode>
                <c:ptCount val="6"/>
                <c:pt idx="0">
                  <c:v>0.122</c:v>
                </c:pt>
                <c:pt idx="1">
                  <c:v>0.157</c:v>
                </c:pt>
                <c:pt idx="2">
                  <c:v>0.129</c:v>
                </c:pt>
                <c:pt idx="3">
                  <c:v>0.104</c:v>
                </c:pt>
                <c:pt idx="4">
                  <c:v>9.5000000000000001E-2</c:v>
                </c:pt>
                <c:pt idx="5">
                  <c:v>0.115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6926-4DCF-9407-97D2275E4078}"/>
            </c:ext>
          </c:extLst>
        </c:ser>
        <c:dLbls>
          <c:showLegendKey val="0"/>
          <c:showVal val="0"/>
          <c:showCatName val="0"/>
          <c:showSerName val="0"/>
          <c:showPercent val="0"/>
          <c:showBubbleSize val="0"/>
        </c:dLbls>
        <c:gapWidth val="40"/>
        <c:axId val="-2068027336"/>
        <c:axId val="-2113994440"/>
      </c:barChart>
      <c:lineChart>
        <c:grouping val="standard"/>
        <c:varyColors val="0"/>
        <c:ser>
          <c:idx val="1"/>
          <c:order val="1"/>
          <c:tx>
            <c:strRef>
              <c:f>Sheet1!$C$1</c:f>
              <c:strCache>
                <c:ptCount val="1"/>
                <c:pt idx="0">
                  <c:v>Moody's A median (FY25)</c:v>
                </c:pt>
              </c:strCache>
            </c:strRef>
          </c:tx>
          <c:spPr>
            <a:ln w="25400" cap="flat">
              <a:solidFill>
                <a:srgbClr val="000000"/>
              </a:solidFill>
              <a:prstDash val="solid"/>
            </a:ln>
          </c:spPr>
          <c:marker>
            <c:symbol val="none"/>
          </c:marker>
          <c:dLbls>
            <c:dLbl>
              <c:idx val="5"/>
              <c:layout>
                <c:manualLayout>
                  <c:x val="6.3799999999999996E-2"/>
                  <c:y val="3.3799999999999997E-2"/>
                </c:manualLayout>
              </c:layout>
              <c:numFmt formatCode="0%" sourceLinked="0"/>
              <c:spPr>
                <a:noFill/>
                <a:ln>
                  <a:noFill/>
                </a:ln>
              </c:spPr>
              <c:txPr>
                <a:bodyPr/>
                <a:lstStyle/>
                <a:p>
                  <a:pPr>
                    <a:defRPr sz="1400" b="1">
                      <a:solidFill>
                        <a:srgbClr val="000000"/>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15E-4D21-A36F-42B71225007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FY21</c:v>
                </c:pt>
                <c:pt idx="1">
                  <c:v>FY22</c:v>
                </c:pt>
                <c:pt idx="2">
                  <c:v>FY23</c:v>
                </c:pt>
                <c:pt idx="3">
                  <c:v>FY24</c:v>
                </c:pt>
                <c:pt idx="4">
                  <c:v>FY25</c:v>
                </c:pt>
                <c:pt idx="5">
                  <c:v>FY26U</c:v>
                </c:pt>
              </c:strCache>
            </c:strRef>
          </c:cat>
          <c:val>
            <c:numRef>
              <c:f>Sheet1!$C$2:$C$7</c:f>
              <c:numCache>
                <c:formatCode>0%</c:formatCode>
                <c:ptCount val="6"/>
                <c:pt idx="0">
                  <c:v>0.115</c:v>
                </c:pt>
                <c:pt idx="1">
                  <c:v>0.115</c:v>
                </c:pt>
                <c:pt idx="2">
                  <c:v>0.115</c:v>
                </c:pt>
                <c:pt idx="3">
                  <c:v>0.115</c:v>
                </c:pt>
                <c:pt idx="4">
                  <c:v>0.115</c:v>
                </c:pt>
                <c:pt idx="5">
                  <c:v>0.115</c:v>
                </c:pt>
              </c:numCache>
            </c:numRef>
          </c:val>
          <c:smooth val="0"/>
          <c:extLst>
            <c:ext xmlns:c16="http://schemas.microsoft.com/office/drawing/2014/chart" uri="{C3380CC4-5D6E-409C-BE32-E72D297353CC}">
              <c16:uniqueId val="{0000000D-115E-4D21-A36F-42B71225007E}"/>
            </c:ext>
          </c:extLst>
        </c:ser>
        <c:ser>
          <c:idx val="2"/>
          <c:order val="2"/>
          <c:tx>
            <c:strRef>
              <c:f>Sheet1!$D$1</c:f>
              <c:strCache>
                <c:ptCount val="1"/>
                <c:pt idx="0">
                  <c:v>Moody's Aa median (FY25)</c:v>
                </c:pt>
              </c:strCache>
            </c:strRef>
          </c:tx>
          <c:spPr>
            <a:ln w="19050">
              <a:solidFill>
                <a:srgbClr val="7F7F7F"/>
              </a:solidFill>
              <a:prstDash val="dash"/>
            </a:ln>
          </c:spPr>
          <c:marker>
            <c:symbol val="none"/>
          </c:marker>
          <c:dLbls>
            <c:dLbl>
              <c:idx val="5"/>
              <c:layout>
                <c:manualLayout>
                  <c:x val="6.3799999999999996E-2"/>
                  <c:y val="-3.3799999999999997E-2"/>
                </c:manualLayout>
              </c:layout>
              <c:numFmt formatCode="0.0%" sourceLinked="0"/>
              <c:spPr>
                <a:noFill/>
                <a:ln>
                  <a:noFill/>
                </a:ln>
              </c:spPr>
              <c:txPr>
                <a:bodyPr/>
                <a:lstStyle/>
                <a:p>
                  <a:pPr>
                    <a:defRPr sz="1400" b="1">
                      <a:solidFill>
                        <a:srgbClr val="7F7F7F"/>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15E-4D21-A36F-42B71225007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FY21</c:v>
                </c:pt>
                <c:pt idx="1">
                  <c:v>FY22</c:v>
                </c:pt>
                <c:pt idx="2">
                  <c:v>FY23</c:v>
                </c:pt>
                <c:pt idx="3">
                  <c:v>FY24</c:v>
                </c:pt>
                <c:pt idx="4">
                  <c:v>FY25</c:v>
                </c:pt>
                <c:pt idx="5">
                  <c:v>FY26U</c:v>
                </c:pt>
              </c:strCache>
            </c:strRef>
          </c:cat>
          <c:val>
            <c:numRef>
              <c:f>Sheet1!$D$2:$D$7</c:f>
              <c:numCache>
                <c:formatCode>0.0%</c:formatCode>
                <c:ptCount val="6"/>
                <c:pt idx="0">
                  <c:v>0.122</c:v>
                </c:pt>
                <c:pt idx="1">
                  <c:v>0.122</c:v>
                </c:pt>
                <c:pt idx="2">
                  <c:v>0.122</c:v>
                </c:pt>
                <c:pt idx="3">
                  <c:v>0.122</c:v>
                </c:pt>
                <c:pt idx="4">
                  <c:v>0.122</c:v>
                </c:pt>
                <c:pt idx="5">
                  <c:v>0.122</c:v>
                </c:pt>
              </c:numCache>
            </c:numRef>
          </c:val>
          <c:smooth val="0"/>
          <c:extLst>
            <c:ext xmlns:c16="http://schemas.microsoft.com/office/drawing/2014/chart" uri="{C3380CC4-5D6E-409C-BE32-E72D297353CC}">
              <c16:uniqueId val="{0000000D-115E-4D21-A36F-42B71225007E}"/>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spPr>
          <a:ln>
            <a:solidFill>
              <a:srgbClr val="8A8D8F"/>
            </a:solidFill>
          </a:ln>
        </c:spPr>
        <c:txPr>
          <a:bodyPr/>
          <a:lstStyle/>
          <a:p>
            <a:pPr>
              <a:defRPr sz="1400">
                <a:latin typeface="Lato"/>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2"/>
          <c:y val="0.05"/>
          <c:w val="0.84"/>
          <c:h val="0.8"/>
        </c:manualLayout>
      </c:layout>
      <c:barChart>
        <c:barDir val="col"/>
        <c:grouping val="clustered"/>
        <c:varyColors val="1"/>
        <c:ser>
          <c:idx val="0"/>
          <c:order val="0"/>
          <c:tx>
            <c:strRef>
              <c:f>Sheet1!$B$1</c:f>
              <c:strCache>
                <c:ptCount val="1"/>
                <c:pt idx="0">
                  <c:v>v</c:v>
                </c:pt>
              </c:strCache>
            </c:strRef>
          </c:tx>
          <c:spPr>
            <a:solidFill>
              <a:srgbClr val="8A8D8F"/>
            </a:solidFill>
          </c:spPr>
          <c:invertIfNegative val="1"/>
          <c:dPt>
            <c:idx val="0"/>
            <c:invertIfNegative val="1"/>
            <c:bubble3D val="0"/>
            <c:extLst>
              <c:ext xmlns:c16="http://schemas.microsoft.com/office/drawing/2014/chart" uri="{C3380CC4-5D6E-409C-BE32-E72D297353CC}">
                <c16:uniqueId val="{00000001-4FBD-4DA1-9C8A-535372E872BE}"/>
              </c:ext>
            </c:extLst>
          </c:dPt>
          <c:dPt>
            <c:idx val="1"/>
            <c:invertIfNegative val="1"/>
            <c:bubble3D val="0"/>
            <c:extLst>
              <c:ext xmlns:c16="http://schemas.microsoft.com/office/drawing/2014/chart" uri="{C3380CC4-5D6E-409C-BE32-E72D297353CC}">
                <c16:uniqueId val="{00000003-4FBD-4DA1-9C8A-535372E872BE}"/>
              </c:ext>
            </c:extLst>
          </c:dPt>
          <c:dPt>
            <c:idx val="2"/>
            <c:invertIfNegative val="1"/>
            <c:bubble3D val="0"/>
            <c:extLst>
              <c:ext xmlns:c16="http://schemas.microsoft.com/office/drawing/2014/chart" uri="{C3380CC4-5D6E-409C-BE32-E72D297353CC}">
                <c16:uniqueId val="{00000005-4FBD-4DA1-9C8A-535372E872BE}"/>
              </c:ext>
            </c:extLst>
          </c:dPt>
          <c:dPt>
            <c:idx val="3"/>
            <c:invertIfNegative val="1"/>
            <c:bubble3D val="0"/>
            <c:extLst>
              <c:ext xmlns:c16="http://schemas.microsoft.com/office/drawing/2014/chart" uri="{C3380CC4-5D6E-409C-BE32-E72D297353CC}">
                <c16:uniqueId val="{00000007-4FBD-4DA1-9C8A-535372E872BE}"/>
              </c:ext>
            </c:extLst>
          </c:dPt>
          <c:dPt>
            <c:idx val="4"/>
            <c:invertIfNegative val="1"/>
            <c:bubble3D val="0"/>
            <c:extLst>
              <c:ext xmlns:c16="http://schemas.microsoft.com/office/drawing/2014/chart" uri="{C3380CC4-5D6E-409C-BE32-E72D297353CC}">
                <c16:uniqueId val="{00000009-4FBD-4DA1-9C8A-535372E872BE}"/>
              </c:ext>
            </c:extLst>
          </c:dPt>
          <c:dPt>
            <c:idx val="5"/>
            <c:invertIfNegative val="1"/>
            <c:bubble3D val="0"/>
            <c:spPr>
              <a:solidFill>
                <a:srgbClr val="000000"/>
              </a:solidFill>
            </c:spPr>
            <c:extLst>
              <c:ext xmlns:c16="http://schemas.microsoft.com/office/drawing/2014/chart" uri="{C3380CC4-5D6E-409C-BE32-E72D297353CC}">
                <c16:uniqueId val="{0000000B-4FBD-4DA1-9C8A-535372E872BE}"/>
              </c:ext>
            </c:extLst>
          </c:dPt>
          <c:dLbls>
            <c:numFmt formatCode="0.0" sourceLinked="0"/>
            <c:spPr>
              <a:solidFill>
                <a:srgbClr val="FFFFFF"/>
              </a:solidFill>
              <a:ln>
                <a:noFill/>
              </a:ln>
            </c:spPr>
            <c:txPr>
              <a:bodyPr wrap="square" lIns="38100" tIns="19050" rIns="38100" bIns="19050" anchor="ctr">
                <a:spAutoFit/>
              </a:bodyPr>
              <a:lstStyle/>
              <a:p>
                <a:pPr>
                  <a:defRPr sz="1600" b="1">
                    <a:solidFill>
                      <a:srgbClr val="1A1A1A"/>
                    </a:solidFill>
                    <a:latin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FY21</c:v>
                </c:pt>
                <c:pt idx="1">
                  <c:v>FY22</c:v>
                </c:pt>
                <c:pt idx="2">
                  <c:v>FY23</c:v>
                </c:pt>
                <c:pt idx="3">
                  <c:v>FY24</c:v>
                </c:pt>
                <c:pt idx="4">
                  <c:v>FY25</c:v>
                </c:pt>
                <c:pt idx="5">
                  <c:v>FY26U</c:v>
                </c:pt>
              </c:strCache>
            </c:strRef>
          </c:cat>
          <c:val>
            <c:numRef>
              <c:f>Sheet1!$B$2:$B$7</c:f>
              <c:numCache>
                <c:formatCode>General</c:formatCode>
                <c:ptCount val="6"/>
                <c:pt idx="0">
                  <c:v>3</c:v>
                </c:pt>
                <c:pt idx="1">
                  <c:v>4.9000000000000004</c:v>
                </c:pt>
                <c:pt idx="2">
                  <c:v>3.9</c:v>
                </c:pt>
                <c:pt idx="3">
                  <c:v>3.8</c:v>
                </c:pt>
                <c:pt idx="4">
                  <c:v>3</c:v>
                </c:pt>
                <c:pt idx="5">
                  <c:v>3.4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4FBD-4DA1-9C8A-535372E872BE}"/>
            </c:ext>
          </c:extLst>
        </c:ser>
        <c:dLbls>
          <c:showLegendKey val="0"/>
          <c:showVal val="0"/>
          <c:showCatName val="0"/>
          <c:showSerName val="0"/>
          <c:showPercent val="0"/>
          <c:showBubbleSize val="0"/>
        </c:dLbls>
        <c:gapWidth val="40"/>
        <c:axId val="-2068027336"/>
        <c:axId val="-2113994440"/>
      </c:barChart>
      <c:lineChart>
        <c:grouping val="standard"/>
        <c:varyColors val="0"/>
        <c:ser>
          <c:idx val="1"/>
          <c:order val="1"/>
          <c:tx>
            <c:strRef>
              <c:f>Sheet1!$C$1</c:f>
              <c:strCache>
                <c:ptCount val="1"/>
                <c:pt idx="0">
                  <c:v>Moody's A median (FY25)</c:v>
                </c:pt>
              </c:strCache>
            </c:strRef>
          </c:tx>
          <c:spPr>
            <a:ln w="25400" cap="flat">
              <a:solidFill>
                <a:srgbClr val="000000"/>
              </a:solidFill>
              <a:prstDash val="solid"/>
            </a:ln>
          </c:spPr>
          <c:marker>
            <c:symbol val="none"/>
          </c:marker>
          <c:dLbls>
            <c:dLbl>
              <c:idx val="5"/>
              <c:layout>
                <c:manualLayout>
                  <c:x val="6.3799999999999996E-2"/>
                  <c:y val="2.2499999999999999E-2"/>
                </c:manualLayout>
              </c:layout>
              <c:numFmt formatCode="0.0" sourceLinked="0"/>
              <c:spPr>
                <a:noFill/>
                <a:ln>
                  <a:noFill/>
                </a:ln>
              </c:spPr>
              <c:txPr>
                <a:bodyPr/>
                <a:lstStyle/>
                <a:p>
                  <a:pPr>
                    <a:defRPr sz="1400" b="1">
                      <a:solidFill>
                        <a:srgbClr val="000000"/>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394-43CA-A0BF-568B942FCF4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FY21</c:v>
                </c:pt>
                <c:pt idx="1">
                  <c:v>FY22</c:v>
                </c:pt>
                <c:pt idx="2">
                  <c:v>FY23</c:v>
                </c:pt>
                <c:pt idx="3">
                  <c:v>FY24</c:v>
                </c:pt>
                <c:pt idx="4">
                  <c:v>FY25</c:v>
                </c:pt>
                <c:pt idx="5">
                  <c:v>FY26U</c:v>
                </c:pt>
              </c:strCache>
            </c:strRef>
          </c:cat>
          <c:val>
            <c:numRef>
              <c:f>Sheet1!$C$2:$C$7</c:f>
              <c:numCache>
                <c:formatCode>0.0</c:formatCode>
                <c:ptCount val="6"/>
                <c:pt idx="0">
                  <c:v>2.5299999999999998</c:v>
                </c:pt>
                <c:pt idx="1">
                  <c:v>2.5299999999999998</c:v>
                </c:pt>
                <c:pt idx="2">
                  <c:v>2.5299999999999998</c:v>
                </c:pt>
                <c:pt idx="3">
                  <c:v>2.5299999999999998</c:v>
                </c:pt>
                <c:pt idx="4">
                  <c:v>2.5299999999999998</c:v>
                </c:pt>
                <c:pt idx="5">
                  <c:v>2.5299999999999998</c:v>
                </c:pt>
              </c:numCache>
            </c:numRef>
          </c:val>
          <c:smooth val="0"/>
          <c:extLst>
            <c:ext xmlns:c16="http://schemas.microsoft.com/office/drawing/2014/chart" uri="{C3380CC4-5D6E-409C-BE32-E72D297353CC}">
              <c16:uniqueId val="{0000000D-2394-43CA-A0BF-568B942FCF4F}"/>
            </c:ext>
          </c:extLst>
        </c:ser>
        <c:ser>
          <c:idx val="2"/>
          <c:order val="2"/>
          <c:tx>
            <c:strRef>
              <c:f>Sheet1!$D$1</c:f>
              <c:strCache>
                <c:ptCount val="1"/>
                <c:pt idx="0">
                  <c:v>Moody's Aa median (FY25)</c:v>
                </c:pt>
              </c:strCache>
            </c:strRef>
          </c:tx>
          <c:spPr>
            <a:ln w="19050">
              <a:solidFill>
                <a:srgbClr val="7F7F7F"/>
              </a:solidFill>
              <a:prstDash val="dash"/>
            </a:ln>
          </c:spPr>
          <c:marker>
            <c:symbol val="none"/>
          </c:marker>
          <c:dLbls>
            <c:dLbl>
              <c:idx val="5"/>
              <c:layout>
                <c:manualLayout>
                  <c:x val="6.3799999999999996E-2"/>
                  <c:y val="-2.2499999999999999E-2"/>
                </c:manualLayout>
              </c:layout>
              <c:numFmt formatCode="0.0" sourceLinked="0"/>
              <c:spPr>
                <a:noFill/>
                <a:ln>
                  <a:noFill/>
                </a:ln>
              </c:spPr>
              <c:txPr>
                <a:bodyPr/>
                <a:lstStyle/>
                <a:p>
                  <a:pPr>
                    <a:defRPr sz="1400" b="1">
                      <a:solidFill>
                        <a:srgbClr val="7F7F7F"/>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394-43CA-A0BF-568B942FCF4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FY21</c:v>
                </c:pt>
                <c:pt idx="1">
                  <c:v>FY22</c:v>
                </c:pt>
                <c:pt idx="2">
                  <c:v>FY23</c:v>
                </c:pt>
                <c:pt idx="3">
                  <c:v>FY24</c:v>
                </c:pt>
                <c:pt idx="4">
                  <c:v>FY25</c:v>
                </c:pt>
                <c:pt idx="5">
                  <c:v>FY26U</c:v>
                </c:pt>
              </c:strCache>
            </c:strRef>
          </c:cat>
          <c:val>
            <c:numRef>
              <c:f>Sheet1!$D$2:$D$7</c:f>
              <c:numCache>
                <c:formatCode>0.0</c:formatCode>
                <c:ptCount val="6"/>
                <c:pt idx="0">
                  <c:v>3.17</c:v>
                </c:pt>
                <c:pt idx="1">
                  <c:v>3.17</c:v>
                </c:pt>
                <c:pt idx="2">
                  <c:v>3.17</c:v>
                </c:pt>
                <c:pt idx="3">
                  <c:v>3.17</c:v>
                </c:pt>
                <c:pt idx="4">
                  <c:v>3.17</c:v>
                </c:pt>
                <c:pt idx="5">
                  <c:v>3.17</c:v>
                </c:pt>
              </c:numCache>
            </c:numRef>
          </c:val>
          <c:smooth val="0"/>
          <c:extLst>
            <c:ext xmlns:c16="http://schemas.microsoft.com/office/drawing/2014/chart" uri="{C3380CC4-5D6E-409C-BE32-E72D297353CC}">
              <c16:uniqueId val="{0000000D-2394-43CA-A0BF-568B942FCF4F}"/>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spPr>
          <a:ln>
            <a:solidFill>
              <a:srgbClr val="8A8D8F"/>
            </a:solidFill>
          </a:ln>
        </c:spPr>
        <c:txPr>
          <a:bodyPr/>
          <a:lstStyle/>
          <a:p>
            <a:pPr>
              <a:defRPr sz="1400">
                <a:latin typeface="Lato"/>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4.2000000000000003E-2"/>
          <c:y val="0.02"/>
          <c:w val="0.90500000000000003"/>
          <c:h val="0.74"/>
        </c:manualLayout>
      </c:layout>
      <c:barChart>
        <c:barDir val="col"/>
        <c:grouping val="clustered"/>
        <c:varyColors val="1"/>
        <c:ser>
          <c:idx val="0"/>
          <c:order val="0"/>
          <c:tx>
            <c:strRef>
              <c:f>Sheet1!$B$1</c:f>
              <c:strCache>
                <c:ptCount val="1"/>
                <c:pt idx="0">
                  <c:v>EBIDA Margin</c:v>
                </c:pt>
              </c:strCache>
            </c:strRef>
          </c:tx>
          <c:spPr>
            <a:solidFill>
              <a:srgbClr val="8A8D8F"/>
            </a:solidFill>
          </c:spPr>
          <c:invertIfNegative val="1"/>
          <c:dPt>
            <c:idx val="0"/>
            <c:invertIfNegative val="1"/>
            <c:bubble3D val="0"/>
            <c:extLst>
              <c:ext xmlns:c16="http://schemas.microsoft.com/office/drawing/2014/chart" uri="{C3380CC4-5D6E-409C-BE32-E72D297353CC}">
                <c16:uniqueId val="{00000003-87B9-4134-9A27-9E524F56ACC7}"/>
              </c:ext>
            </c:extLst>
          </c:dPt>
          <c:dPt>
            <c:idx val="1"/>
            <c:invertIfNegative val="1"/>
            <c:bubble3D val="0"/>
            <c:extLst>
              <c:ext xmlns:c16="http://schemas.microsoft.com/office/drawing/2014/chart" uri="{C3380CC4-5D6E-409C-BE32-E72D297353CC}">
                <c16:uniqueId val="{00000005-87B9-4134-9A27-9E524F56ACC7}"/>
              </c:ext>
            </c:extLst>
          </c:dPt>
          <c:dPt>
            <c:idx val="2"/>
            <c:invertIfNegative val="1"/>
            <c:bubble3D val="0"/>
            <c:extLst>
              <c:ext xmlns:c16="http://schemas.microsoft.com/office/drawing/2014/chart" uri="{C3380CC4-5D6E-409C-BE32-E72D297353CC}">
                <c16:uniqueId val="{00000007-87B9-4134-9A27-9E524F56ACC7}"/>
              </c:ext>
            </c:extLst>
          </c:dPt>
          <c:dPt>
            <c:idx val="3"/>
            <c:invertIfNegative val="1"/>
            <c:bubble3D val="0"/>
            <c:extLst>
              <c:ext xmlns:c16="http://schemas.microsoft.com/office/drawing/2014/chart" uri="{C3380CC4-5D6E-409C-BE32-E72D297353CC}">
                <c16:uniqueId val="{00000009-87B9-4134-9A27-9E524F56ACC7}"/>
              </c:ext>
            </c:extLst>
          </c:dPt>
          <c:dPt>
            <c:idx val="4"/>
            <c:invertIfNegative val="1"/>
            <c:bubble3D val="0"/>
            <c:extLst>
              <c:ext xmlns:c16="http://schemas.microsoft.com/office/drawing/2014/chart" uri="{C3380CC4-5D6E-409C-BE32-E72D297353CC}">
                <c16:uniqueId val="{0000000B-87B9-4134-9A27-9E524F56ACC7}"/>
              </c:ext>
            </c:extLst>
          </c:dPt>
          <c:dPt>
            <c:idx val="5"/>
            <c:invertIfNegative val="1"/>
            <c:bubble3D val="0"/>
            <c:extLst>
              <c:ext xmlns:c16="http://schemas.microsoft.com/office/drawing/2014/chart" uri="{C3380CC4-5D6E-409C-BE32-E72D297353CC}">
                <c16:uniqueId val="{0000000D-87B9-4134-9A27-9E524F56ACC7}"/>
              </c:ext>
            </c:extLst>
          </c:dPt>
          <c:dPt>
            <c:idx val="6"/>
            <c:invertIfNegative val="1"/>
            <c:bubble3D val="0"/>
            <c:extLst>
              <c:ext xmlns:c16="http://schemas.microsoft.com/office/drawing/2014/chart" uri="{C3380CC4-5D6E-409C-BE32-E72D297353CC}">
                <c16:uniqueId val="{0000000F-87B9-4134-9A27-9E524F56ACC7}"/>
              </c:ext>
            </c:extLst>
          </c:dPt>
          <c:dPt>
            <c:idx val="7"/>
            <c:invertIfNegative val="1"/>
            <c:bubble3D val="0"/>
            <c:extLst>
              <c:ext xmlns:c16="http://schemas.microsoft.com/office/drawing/2014/chart" uri="{C3380CC4-5D6E-409C-BE32-E72D297353CC}">
                <c16:uniqueId val="{00000011-87B9-4134-9A27-9E524F56ACC7}"/>
              </c:ext>
            </c:extLst>
          </c:dPt>
          <c:dPt>
            <c:idx val="8"/>
            <c:invertIfNegative val="1"/>
            <c:bubble3D val="0"/>
            <c:extLst>
              <c:ext xmlns:c16="http://schemas.microsoft.com/office/drawing/2014/chart" uri="{C3380CC4-5D6E-409C-BE32-E72D297353CC}">
                <c16:uniqueId val="{00000013-87B9-4134-9A27-9E524F56ACC7}"/>
              </c:ext>
            </c:extLst>
          </c:dPt>
          <c:dPt>
            <c:idx val="9"/>
            <c:invertIfNegative val="1"/>
            <c:bubble3D val="0"/>
            <c:extLst>
              <c:ext xmlns:c16="http://schemas.microsoft.com/office/drawing/2014/chart" uri="{C3380CC4-5D6E-409C-BE32-E72D297353CC}">
                <c16:uniqueId val="{00000015-87B9-4134-9A27-9E524F56ACC7}"/>
              </c:ext>
            </c:extLst>
          </c:dPt>
          <c:dPt>
            <c:idx val="10"/>
            <c:invertIfNegative val="1"/>
            <c:bubble3D val="0"/>
            <c:extLst>
              <c:ext xmlns:c16="http://schemas.microsoft.com/office/drawing/2014/chart" uri="{C3380CC4-5D6E-409C-BE32-E72D297353CC}">
                <c16:uniqueId val="{00000017-87B9-4134-9A27-9E524F56ACC7}"/>
              </c:ext>
            </c:extLst>
          </c:dPt>
          <c:dPt>
            <c:idx val="11"/>
            <c:invertIfNegative val="1"/>
            <c:bubble3D val="0"/>
            <c:extLst>
              <c:ext xmlns:c16="http://schemas.microsoft.com/office/drawing/2014/chart" uri="{C3380CC4-5D6E-409C-BE32-E72D297353CC}">
                <c16:uniqueId val="{00000019-87B9-4134-9A27-9E524F56ACC7}"/>
              </c:ext>
            </c:extLst>
          </c:dPt>
          <c:dPt>
            <c:idx val="12"/>
            <c:invertIfNegative val="1"/>
            <c:bubble3D val="0"/>
            <c:extLst>
              <c:ext xmlns:c16="http://schemas.microsoft.com/office/drawing/2014/chart" uri="{C3380CC4-5D6E-409C-BE32-E72D297353CC}">
                <c16:uniqueId val="{0000001B-87B9-4134-9A27-9E524F56ACC7}"/>
              </c:ext>
            </c:extLst>
          </c:dPt>
          <c:dPt>
            <c:idx val="13"/>
            <c:invertIfNegative val="1"/>
            <c:bubble3D val="0"/>
            <c:extLst>
              <c:ext xmlns:c16="http://schemas.microsoft.com/office/drawing/2014/chart" uri="{C3380CC4-5D6E-409C-BE32-E72D297353CC}">
                <c16:uniqueId val="{0000001D-87B9-4134-9A27-9E524F56ACC7}"/>
              </c:ext>
            </c:extLst>
          </c:dPt>
          <c:dPt>
            <c:idx val="14"/>
            <c:invertIfNegative val="1"/>
            <c:bubble3D val="0"/>
            <c:extLst>
              <c:ext xmlns:c16="http://schemas.microsoft.com/office/drawing/2014/chart" uri="{C3380CC4-5D6E-409C-BE32-E72D297353CC}">
                <c16:uniqueId val="{0000001F-87B9-4134-9A27-9E524F56ACC7}"/>
              </c:ext>
            </c:extLst>
          </c:dPt>
          <c:dPt>
            <c:idx val="15"/>
            <c:invertIfNegative val="1"/>
            <c:bubble3D val="0"/>
            <c:spPr>
              <a:solidFill>
                <a:srgbClr val="000000"/>
              </a:solidFill>
            </c:spPr>
            <c:extLst>
              <c:ext xmlns:c16="http://schemas.microsoft.com/office/drawing/2014/chart" uri="{C3380CC4-5D6E-409C-BE32-E72D297353CC}">
                <c16:uniqueId val="{00000021-87B9-4134-9A27-9E524F56ACC7}"/>
              </c:ext>
            </c:extLst>
          </c:dPt>
          <c:dPt>
            <c:idx val="16"/>
            <c:invertIfNegative val="1"/>
            <c:bubble3D val="0"/>
            <c:extLst>
              <c:ext xmlns:c16="http://schemas.microsoft.com/office/drawing/2014/chart" uri="{C3380CC4-5D6E-409C-BE32-E72D297353CC}">
                <c16:uniqueId val="{00000023-87B9-4134-9A27-9E524F56ACC7}"/>
              </c:ext>
            </c:extLst>
          </c:dPt>
          <c:dPt>
            <c:idx val="17"/>
            <c:invertIfNegative val="1"/>
            <c:bubble3D val="0"/>
            <c:extLst>
              <c:ext xmlns:c16="http://schemas.microsoft.com/office/drawing/2014/chart" uri="{C3380CC4-5D6E-409C-BE32-E72D297353CC}">
                <c16:uniqueId val="{00000025-87B9-4134-9A27-9E524F56ACC7}"/>
              </c:ext>
            </c:extLst>
          </c:dPt>
          <c:dPt>
            <c:idx val="18"/>
            <c:invertIfNegative val="1"/>
            <c:bubble3D val="0"/>
            <c:extLst>
              <c:ext xmlns:c16="http://schemas.microsoft.com/office/drawing/2014/chart" uri="{C3380CC4-5D6E-409C-BE32-E72D297353CC}">
                <c16:uniqueId val="{00000027-87B9-4134-9A27-9E524F56ACC7}"/>
              </c:ext>
            </c:extLst>
          </c:dPt>
          <c:dPt>
            <c:idx val="19"/>
            <c:invertIfNegative val="1"/>
            <c:bubble3D val="0"/>
            <c:extLst>
              <c:ext xmlns:c16="http://schemas.microsoft.com/office/drawing/2014/chart" uri="{C3380CC4-5D6E-409C-BE32-E72D297353CC}">
                <c16:uniqueId val="{00000029-87B9-4134-9A27-9E524F56ACC7}"/>
              </c:ext>
            </c:extLst>
          </c:dPt>
          <c:dLbls>
            <c:numFmt formatCode="0.0%" sourceLinked="0"/>
            <c:spPr>
              <a:solidFill>
                <a:srgbClr val="FFFFFF"/>
              </a:solidFill>
              <a:ln>
                <a:noFill/>
              </a:ln>
            </c:spPr>
            <c:txPr>
              <a:bodyPr/>
              <a:lstStyle/>
              <a:p>
                <a:pPr>
                  <a:defRPr sz="1000" b="1">
                    <a:solidFill>
                      <a:srgbClr val="1A1A1A"/>
                    </a:solidFill>
                    <a:latin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Sheet1!$A$2:$A$21</c:f>
              <c:strCache>
                <c:ptCount val="20"/>
                <c:pt idx="0">
                  <c:v>Dartmouth</c:v>
                </c:pt>
                <c:pt idx="1">
                  <c:v>Vanderbilt</c:v>
                </c:pt>
                <c:pt idx="2">
                  <c:v>WashU</c:v>
                </c:pt>
                <c:pt idx="3">
                  <c:v>Duke</c:v>
                </c:pt>
                <c:pt idx="4">
                  <c:v>Cornell</c:v>
                </c:pt>
                <c:pt idx="5">
                  <c:v>Northwestern</c:v>
                </c:pt>
                <c:pt idx="6">
                  <c:v>NYU</c:v>
                </c:pt>
                <c:pt idx="7">
                  <c:v>Emory</c:v>
                </c:pt>
                <c:pt idx="8">
                  <c:v>USC</c:v>
                </c:pt>
                <c:pt idx="9">
                  <c:v>Syracuse</c:v>
                </c:pt>
                <c:pt idx="10">
                  <c:v>Boston College</c:v>
                </c:pt>
                <c:pt idx="11">
                  <c:v>Tufts</c:v>
                </c:pt>
                <c:pt idx="12">
                  <c:v>Boston Univ.</c:v>
                </c:pt>
                <c:pt idx="13">
                  <c:v>Case Western</c:v>
                </c:pt>
                <c:pt idx="14">
                  <c:v>Villanova</c:v>
                </c:pt>
                <c:pt idx="15">
                  <c:v>Northeastern</c:v>
                </c:pt>
                <c:pt idx="16">
                  <c:v>Tulane</c:v>
                </c:pt>
                <c:pt idx="17">
                  <c:v>Miami</c:v>
                </c:pt>
                <c:pt idx="18">
                  <c:v>George Washington</c:v>
                </c:pt>
                <c:pt idx="19">
                  <c:v>Georgetown</c:v>
                </c:pt>
              </c:strCache>
            </c:strRef>
          </c:cat>
          <c:val>
            <c:numRef>
              <c:f>Sheet1!$B$2:$B$21</c:f>
              <c:numCache>
                <c:formatCode>General</c:formatCode>
                <c:ptCount val="20"/>
                <c:pt idx="0">
                  <c:v>0.23899999999999999</c:v>
                </c:pt>
                <c:pt idx="1">
                  <c:v>0.18100000000000002</c:v>
                </c:pt>
                <c:pt idx="2">
                  <c:v>9.9000000000000005E-2</c:v>
                </c:pt>
                <c:pt idx="3">
                  <c:v>6.8000000000000005E-2</c:v>
                </c:pt>
                <c:pt idx="4">
                  <c:v>5.5999999999999994E-2</c:v>
                </c:pt>
                <c:pt idx="5">
                  <c:v>4.9000000000000002E-2</c:v>
                </c:pt>
                <c:pt idx="6">
                  <c:v>9.9000000000000005E-2</c:v>
                </c:pt>
                <c:pt idx="7">
                  <c:v>7.0999999999999994E-2</c:v>
                </c:pt>
                <c:pt idx="8">
                  <c:v>2.8999999999999998E-2</c:v>
                </c:pt>
                <c:pt idx="9">
                  <c:v>0.183</c:v>
                </c:pt>
                <c:pt idx="10">
                  <c:v>0.15</c:v>
                </c:pt>
                <c:pt idx="11">
                  <c:v>0.114</c:v>
                </c:pt>
                <c:pt idx="12">
                  <c:v>0.105</c:v>
                </c:pt>
                <c:pt idx="13">
                  <c:v>9.6999999999999989E-2</c:v>
                </c:pt>
                <c:pt idx="14">
                  <c:v>9.0999999999999998E-2</c:v>
                </c:pt>
                <c:pt idx="15">
                  <c:v>0.115</c:v>
                </c:pt>
                <c:pt idx="16">
                  <c:v>8.3000000000000004E-2</c:v>
                </c:pt>
                <c:pt idx="17">
                  <c:v>0.109</c:v>
                </c:pt>
                <c:pt idx="18">
                  <c:v>6.9999999999999993E-3</c:v>
                </c:pt>
                <c:pt idx="19">
                  <c:v>0.107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2C-87B9-4134-9A27-9E524F56ACC7}"/>
            </c:ext>
          </c:extLst>
        </c:ser>
        <c:dLbls>
          <c:showLegendKey val="0"/>
          <c:showVal val="0"/>
          <c:showCatName val="0"/>
          <c:showSerName val="0"/>
          <c:showPercent val="0"/>
          <c:showBubbleSize val="0"/>
        </c:dLbls>
        <c:gapWidth val="25"/>
        <c:axId val="-2068027336"/>
        <c:axId val="-2113994440"/>
      </c:barChart>
      <c:lineChart>
        <c:grouping val="standard"/>
        <c:varyColors val="0"/>
        <c:ser>
          <c:idx val="1"/>
          <c:order val="1"/>
          <c:tx>
            <c:strRef>
              <c:f>Sheet1!$C$1</c:f>
              <c:strCache>
                <c:ptCount val="1"/>
                <c:pt idx="0">
                  <c:v>Moody's A median</c:v>
                </c:pt>
              </c:strCache>
            </c:strRef>
          </c:tx>
          <c:spPr>
            <a:ln w="25400" cap="flat">
              <a:solidFill>
                <a:srgbClr val="000000"/>
              </a:solidFill>
              <a:prstDash val="solid"/>
            </a:ln>
          </c:spPr>
          <c:marker>
            <c:symbol val="none"/>
          </c:marker>
          <c:dLbls>
            <c:dLbl>
              <c:idx val="19"/>
              <c:layout>
                <c:manualLayout>
                  <c:x val="2.8000000000000001E-2"/>
                  <c:y val="0.03"/>
                </c:manualLayout>
              </c:layout>
              <c:numFmt formatCode="0.0%" sourceLinked="0"/>
              <c:spPr>
                <a:noFill/>
                <a:ln>
                  <a:noFill/>
                </a:ln>
              </c:spPr>
              <c:txPr>
                <a:bodyPr/>
                <a:lstStyle/>
                <a:p>
                  <a:pPr>
                    <a:defRPr sz="1100" b="1">
                      <a:solidFill>
                        <a:srgbClr val="000000"/>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87B9-4134-9A27-9E524F56ACC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Sheet1!$A$2:$A$21</c:f>
              <c:strCache>
                <c:ptCount val="20"/>
                <c:pt idx="0">
                  <c:v>Dartmouth</c:v>
                </c:pt>
                <c:pt idx="1">
                  <c:v>Vanderbilt</c:v>
                </c:pt>
                <c:pt idx="2">
                  <c:v>WashU</c:v>
                </c:pt>
                <c:pt idx="3">
                  <c:v>Duke</c:v>
                </c:pt>
                <c:pt idx="4">
                  <c:v>Cornell</c:v>
                </c:pt>
                <c:pt idx="5">
                  <c:v>Northwestern</c:v>
                </c:pt>
                <c:pt idx="6">
                  <c:v>NYU</c:v>
                </c:pt>
                <c:pt idx="7">
                  <c:v>Emory</c:v>
                </c:pt>
                <c:pt idx="8">
                  <c:v>USC</c:v>
                </c:pt>
                <c:pt idx="9">
                  <c:v>Syracuse</c:v>
                </c:pt>
                <c:pt idx="10">
                  <c:v>Boston College</c:v>
                </c:pt>
                <c:pt idx="11">
                  <c:v>Tufts</c:v>
                </c:pt>
                <c:pt idx="12">
                  <c:v>Boston Univ.</c:v>
                </c:pt>
                <c:pt idx="13">
                  <c:v>Case Western</c:v>
                </c:pt>
                <c:pt idx="14">
                  <c:v>Villanova</c:v>
                </c:pt>
                <c:pt idx="15">
                  <c:v>Northeastern</c:v>
                </c:pt>
                <c:pt idx="16">
                  <c:v>Tulane</c:v>
                </c:pt>
                <c:pt idx="17">
                  <c:v>Miami</c:v>
                </c:pt>
                <c:pt idx="18">
                  <c:v>George Washington</c:v>
                </c:pt>
                <c:pt idx="19">
                  <c:v>Georgetown</c:v>
                </c:pt>
              </c:strCache>
            </c:strRef>
          </c:cat>
          <c:val>
            <c:numRef>
              <c:f>Sheet1!$C$2:$C$21</c:f>
              <c:numCache>
                <c:formatCode>0.0%</c:formatCode>
                <c:ptCount val="20"/>
                <c:pt idx="0">
                  <c:v>0.115</c:v>
                </c:pt>
                <c:pt idx="1">
                  <c:v>0.115</c:v>
                </c:pt>
                <c:pt idx="2">
                  <c:v>0.115</c:v>
                </c:pt>
                <c:pt idx="3">
                  <c:v>0.115</c:v>
                </c:pt>
                <c:pt idx="4">
                  <c:v>0.115</c:v>
                </c:pt>
                <c:pt idx="5">
                  <c:v>0.115</c:v>
                </c:pt>
                <c:pt idx="6">
                  <c:v>0.115</c:v>
                </c:pt>
                <c:pt idx="7">
                  <c:v>0.115</c:v>
                </c:pt>
                <c:pt idx="8">
                  <c:v>0.115</c:v>
                </c:pt>
                <c:pt idx="9">
                  <c:v>0.115</c:v>
                </c:pt>
                <c:pt idx="10">
                  <c:v>0.115</c:v>
                </c:pt>
                <c:pt idx="11">
                  <c:v>0.115</c:v>
                </c:pt>
                <c:pt idx="12">
                  <c:v>0.115</c:v>
                </c:pt>
                <c:pt idx="13">
                  <c:v>0.115</c:v>
                </c:pt>
                <c:pt idx="14">
                  <c:v>0.115</c:v>
                </c:pt>
                <c:pt idx="15">
                  <c:v>0.115</c:v>
                </c:pt>
                <c:pt idx="16">
                  <c:v>0.115</c:v>
                </c:pt>
                <c:pt idx="17">
                  <c:v>0.115</c:v>
                </c:pt>
                <c:pt idx="18">
                  <c:v>0.115</c:v>
                </c:pt>
                <c:pt idx="19">
                  <c:v>0.115</c:v>
                </c:pt>
              </c:numCache>
            </c:numRef>
          </c:val>
          <c:smooth val="0"/>
          <c:extLst>
            <c:ext xmlns:c16="http://schemas.microsoft.com/office/drawing/2014/chart" uri="{C3380CC4-5D6E-409C-BE32-E72D297353CC}">
              <c16:uniqueId val="{0000002E-87B9-4134-9A27-9E524F56ACC7}"/>
            </c:ext>
          </c:extLst>
        </c:ser>
        <c:ser>
          <c:idx val="2"/>
          <c:order val="2"/>
          <c:tx>
            <c:strRef>
              <c:f>Sheet1!$D$1</c:f>
              <c:strCache>
                <c:ptCount val="1"/>
                <c:pt idx="0">
                  <c:v>Moody's Aa median (FY25)</c:v>
                </c:pt>
              </c:strCache>
            </c:strRef>
          </c:tx>
          <c:spPr>
            <a:ln w="19050">
              <a:solidFill>
                <a:srgbClr val="7F7F7F"/>
              </a:solidFill>
              <a:prstDash val="dash"/>
            </a:ln>
          </c:spPr>
          <c:marker>
            <c:symbol val="none"/>
          </c:marker>
          <c:dLbls>
            <c:dLbl>
              <c:idx val="19"/>
              <c:layout>
                <c:manualLayout>
                  <c:x val="2.8000000000000001E-2"/>
                  <c:y val="-0.03"/>
                </c:manualLayout>
              </c:layout>
              <c:numFmt formatCode="0.0%" sourceLinked="0"/>
              <c:spPr>
                <a:noFill/>
                <a:ln>
                  <a:noFill/>
                </a:ln>
              </c:spPr>
              <c:txPr>
                <a:bodyPr/>
                <a:lstStyle/>
                <a:p>
                  <a:pPr>
                    <a:defRPr sz="1100" b="1">
                      <a:solidFill>
                        <a:srgbClr val="7F7F7F"/>
                      </a:solidFill>
                      <a:latin typeface="Lato"/>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87B9-4134-9A27-9E524F56ACC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Sheet1!$A$2:$A$21</c:f>
              <c:strCache>
                <c:ptCount val="20"/>
                <c:pt idx="0">
                  <c:v>Dartmouth</c:v>
                </c:pt>
                <c:pt idx="1">
                  <c:v>Vanderbilt</c:v>
                </c:pt>
                <c:pt idx="2">
                  <c:v>WashU</c:v>
                </c:pt>
                <c:pt idx="3">
                  <c:v>Duke</c:v>
                </c:pt>
                <c:pt idx="4">
                  <c:v>Cornell</c:v>
                </c:pt>
                <c:pt idx="5">
                  <c:v>Northwestern</c:v>
                </c:pt>
                <c:pt idx="6">
                  <c:v>NYU</c:v>
                </c:pt>
                <c:pt idx="7">
                  <c:v>Emory</c:v>
                </c:pt>
                <c:pt idx="8">
                  <c:v>USC</c:v>
                </c:pt>
                <c:pt idx="9">
                  <c:v>Syracuse</c:v>
                </c:pt>
                <c:pt idx="10">
                  <c:v>Boston College</c:v>
                </c:pt>
                <c:pt idx="11">
                  <c:v>Tufts</c:v>
                </c:pt>
                <c:pt idx="12">
                  <c:v>Boston Univ.</c:v>
                </c:pt>
                <c:pt idx="13">
                  <c:v>Case Western</c:v>
                </c:pt>
                <c:pt idx="14">
                  <c:v>Villanova</c:v>
                </c:pt>
                <c:pt idx="15">
                  <c:v>Northeastern</c:v>
                </c:pt>
                <c:pt idx="16">
                  <c:v>Tulane</c:v>
                </c:pt>
                <c:pt idx="17">
                  <c:v>Miami</c:v>
                </c:pt>
                <c:pt idx="18">
                  <c:v>George Washington</c:v>
                </c:pt>
                <c:pt idx="19">
                  <c:v>Georgetown</c:v>
                </c:pt>
              </c:strCache>
            </c:strRef>
          </c:cat>
          <c:val>
            <c:numRef>
              <c:f>Sheet1!$D$2:$D$21</c:f>
              <c:numCache>
                <c:formatCode>0.0%</c:formatCode>
                <c:ptCount val="20"/>
                <c:pt idx="0">
                  <c:v>0.122</c:v>
                </c:pt>
                <c:pt idx="1">
                  <c:v>0.122</c:v>
                </c:pt>
                <c:pt idx="2">
                  <c:v>0.122</c:v>
                </c:pt>
                <c:pt idx="3">
                  <c:v>0.122</c:v>
                </c:pt>
                <c:pt idx="4">
                  <c:v>0.122</c:v>
                </c:pt>
                <c:pt idx="5">
                  <c:v>0.122</c:v>
                </c:pt>
                <c:pt idx="6">
                  <c:v>0.122</c:v>
                </c:pt>
                <c:pt idx="7">
                  <c:v>0.122</c:v>
                </c:pt>
                <c:pt idx="8">
                  <c:v>0.122</c:v>
                </c:pt>
                <c:pt idx="9">
                  <c:v>0.122</c:v>
                </c:pt>
                <c:pt idx="10">
                  <c:v>0.122</c:v>
                </c:pt>
                <c:pt idx="11">
                  <c:v>0.122</c:v>
                </c:pt>
                <c:pt idx="12">
                  <c:v>0.122</c:v>
                </c:pt>
                <c:pt idx="13">
                  <c:v>0.122</c:v>
                </c:pt>
                <c:pt idx="14">
                  <c:v>0.122</c:v>
                </c:pt>
                <c:pt idx="15">
                  <c:v>0.122</c:v>
                </c:pt>
                <c:pt idx="16">
                  <c:v>0.122</c:v>
                </c:pt>
                <c:pt idx="17">
                  <c:v>0.122</c:v>
                </c:pt>
                <c:pt idx="18">
                  <c:v>0.122</c:v>
                </c:pt>
                <c:pt idx="19">
                  <c:v>0.122</c:v>
                </c:pt>
              </c:numCache>
            </c:numRef>
          </c:val>
          <c:smooth val="0"/>
          <c:extLst>
            <c:ext xmlns:c16="http://schemas.microsoft.com/office/drawing/2014/chart" uri="{C3380CC4-5D6E-409C-BE32-E72D297353CC}">
              <c16:uniqueId val="{0000002E-87B9-4134-9A27-9E524F56ACC7}"/>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spPr>
          <a:ln>
            <a:solidFill>
              <a:srgbClr val="8A8D8F"/>
            </a:solidFill>
          </a:ln>
        </c:spPr>
        <c:txPr>
          <a:bodyPr rot="-2700000" vert="horz"/>
          <a:lstStyle/>
          <a:p>
            <a:pPr>
              <a:defRPr sz="1000">
                <a:solidFill>
                  <a:srgbClr val="2B2B2B"/>
                </a:solidFill>
                <a:latin typeface="Lato"/>
              </a:defRPr>
            </a:pPr>
            <a:endParaRPr lang="en-US"/>
          </a:p>
        </c:txPr>
        <c:crossAx val="-2113994440"/>
        <c:crosses val="autoZero"/>
        <c:auto val="1"/>
        <c:lblAlgn val="ctr"/>
        <c:lblOffset val="100"/>
        <c:noMultiLvlLbl val="0"/>
      </c:catAx>
      <c:valAx>
        <c:axId val="-2113994440"/>
        <c:scaling>
          <c:orientation val="minMax"/>
          <c:max val="0.25"/>
          <c:min val="0"/>
        </c:scaling>
        <c:delete val="0"/>
        <c:axPos val="l"/>
        <c:numFmt formatCode="0%" sourceLinked="0"/>
        <c:majorTickMark val="out"/>
        <c:minorTickMark val="none"/>
        <c:tickLblPos val="nextTo"/>
        <c:txPr>
          <a:bodyPr/>
          <a:lstStyle/>
          <a:p>
            <a:pPr>
              <a:defRPr sz="1000">
                <a:latin typeface="Lato"/>
              </a:defRPr>
            </a:pPr>
            <a:endParaRPr lang="en-US"/>
          </a:p>
        </c:txPr>
        <c:crossAx val="-2068027336"/>
        <c:crosses val="autoZero"/>
        <c:crossBetween val="between"/>
        <c:majorUnit val="0.05"/>
      </c:valAx>
    </c:plotArea>
    <c:plotVisOnly val="1"/>
    <c:dispBlanksAs val="gap"/>
    <c:showDLblsOverMax val="1"/>
  </c:chart>
  <c:txPr>
    <a:bodyPr/>
    <a:lstStyle/>
    <a:p>
      <a:pPr>
        <a:defRPr sz="1800"/>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Operating margin</c:v>
                </c:pt>
              </c:strCache>
            </c:strRef>
          </c:tx>
          <c:spPr>
            <a:ln w="34925">
              <a:solidFill>
                <a:srgbClr val="C8102E"/>
              </a:solidFill>
            </a:ln>
          </c:spPr>
          <c:marker>
            <c:symbol val="diamond"/>
            <c:size val="7"/>
            <c:spPr>
              <a:solidFill>
                <a:srgbClr val="C8102E"/>
              </a:solidFill>
              <a:ln>
                <a:solidFill>
                  <a:srgbClr val="FFFFFF"/>
                </a:solidFill>
              </a:ln>
            </c:spPr>
          </c:marker>
          <c:dLbls>
            <c:dLbl>
              <c:idx val="0"/>
              <c:layout>
                <c:manualLayout>
                  <c:x val="-5.2860558962604179E-2"/>
                  <c:y val="-6.940539130220169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082-45BB-BACC-F356CC0D3A85}"/>
                </c:ext>
              </c:extLst>
            </c:dLbl>
            <c:dLbl>
              <c:idx val="2"/>
              <c:layout>
                <c:manualLayout>
                  <c:x val="-2.1549054221147744E-2"/>
                  <c:y val="-5.82109733502336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082-45BB-BACC-F356CC0D3A85}"/>
                </c:ext>
              </c:extLst>
            </c:dLbl>
            <c:dLbl>
              <c:idx val="3"/>
              <c:layout>
                <c:manualLayout>
                  <c:x val="-4.3914414750759481E-2"/>
                  <c:y val="4.253878821747845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082-45BB-BACC-F356CC0D3A85}"/>
                </c:ext>
              </c:extLst>
            </c:dLbl>
            <c:dLbl>
              <c:idx val="5"/>
              <c:layout>
                <c:manualLayout>
                  <c:x val="-2.1549054221147744E-2"/>
                  <c:y val="-6.100957783822567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082-45BB-BACC-F356CC0D3A85}"/>
                </c:ext>
              </c:extLst>
            </c:dLbl>
            <c:dLbl>
              <c:idx val="6"/>
              <c:layout>
                <c:manualLayout>
                  <c:x val="-3.496827053891479E-2"/>
                  <c:y val="-6.100957783822567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082-45BB-BACC-F356CC0D3A85}"/>
                </c:ext>
              </c:extLst>
            </c:dLbl>
            <c:dLbl>
              <c:idx val="7"/>
              <c:layout>
                <c:manualLayout>
                  <c:x val="-4.3914414750759481E-2"/>
                  <c:y val="-8.33984137421616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082-45BB-BACC-F356CC0D3A85}"/>
                </c:ext>
              </c:extLst>
            </c:dLbl>
            <c:numFmt formatCode="0.0&quot;%&quot;" sourceLinked="0"/>
            <c:spPr>
              <a:noFill/>
              <a:ln>
                <a:noFill/>
              </a:ln>
              <a:effectLst/>
            </c:spPr>
            <c:txPr>
              <a:bodyPr/>
              <a:lstStyle/>
              <a:p>
                <a:pPr>
                  <a:defRPr sz="1800" b="1">
                    <a:solidFill>
                      <a:srgbClr val="C8102E"/>
                    </a:solidFill>
                    <a:latin typeface="Lato"/>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FY18</c:v>
                </c:pt>
                <c:pt idx="1">
                  <c:v>FY19</c:v>
                </c:pt>
                <c:pt idx="2">
                  <c:v>FY20</c:v>
                </c:pt>
                <c:pt idx="3">
                  <c:v>FY21</c:v>
                </c:pt>
                <c:pt idx="4">
                  <c:v>FY22</c:v>
                </c:pt>
                <c:pt idx="5">
                  <c:v>FY23</c:v>
                </c:pt>
                <c:pt idx="6">
                  <c:v>FY24</c:v>
                </c:pt>
                <c:pt idx="7">
                  <c:v>FY25</c:v>
                </c:pt>
                <c:pt idx="8">
                  <c:v>FY26 P</c:v>
                </c:pt>
              </c:strCache>
            </c:strRef>
          </c:cat>
          <c:val>
            <c:numRef>
              <c:f>Sheet1!$B$2:$B$10</c:f>
              <c:numCache>
                <c:formatCode>General</c:formatCode>
                <c:ptCount val="9"/>
                <c:pt idx="0">
                  <c:v>7.1679868469635766</c:v>
                </c:pt>
                <c:pt idx="1">
                  <c:v>9.4228476388832476</c:v>
                </c:pt>
                <c:pt idx="2">
                  <c:v>7.039807659472876</c:v>
                </c:pt>
                <c:pt idx="3">
                  <c:v>4.136086270454296</c:v>
                </c:pt>
                <c:pt idx="4">
                  <c:v>8.6333741137950906</c:v>
                </c:pt>
                <c:pt idx="5">
                  <c:v>4.9139554266335086</c:v>
                </c:pt>
                <c:pt idx="6">
                  <c:v>2.9658538372721428</c:v>
                </c:pt>
                <c:pt idx="7">
                  <c:v>1.1339842576010861</c:v>
                </c:pt>
                <c:pt idx="8">
                  <c:v>3.9691727327797008</c:v>
                </c:pt>
              </c:numCache>
            </c:numRef>
          </c:val>
          <c:smooth val="0"/>
          <c:extLst>
            <c:ext xmlns:c16="http://schemas.microsoft.com/office/drawing/2014/chart" uri="{C3380CC4-5D6E-409C-BE32-E72D297353CC}">
              <c16:uniqueId val="{00000000-7BFA-4CD0-AA73-1394C7A5AD57}"/>
            </c:ext>
          </c:extLst>
        </c:ser>
        <c:dLbls>
          <c:dLblPos val="t"/>
          <c:showLegendKey val="0"/>
          <c:showVal val="1"/>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nextTo"/>
        <c:spPr>
          <a:ln>
            <a:solidFill>
              <a:schemeClr val="bg1"/>
            </a:solidFill>
          </a:ln>
        </c:spPr>
        <c:txPr>
          <a:bodyPr/>
          <a:lstStyle/>
          <a:p>
            <a:pPr>
              <a:defRPr sz="1200">
                <a:solidFill>
                  <a:srgbClr val="49494D"/>
                </a:solidFill>
                <a:latin typeface="Lato"/>
              </a:defRPr>
            </a:pPr>
            <a:endParaRPr lang="en-US"/>
          </a:p>
        </c:txPr>
        <c:crossAx val="2140495176"/>
        <c:crosses val="autoZero"/>
        <c:auto val="1"/>
        <c:lblAlgn val="ctr"/>
        <c:lblOffset val="100"/>
        <c:noMultiLvlLbl val="0"/>
      </c:catAx>
      <c:valAx>
        <c:axId val="2140495176"/>
        <c:scaling>
          <c:orientation val="minMax"/>
          <c:max val="10"/>
          <c:min val="0"/>
        </c:scaling>
        <c:delete val="0"/>
        <c:axPos val="l"/>
        <c:majorGridlines>
          <c:spPr>
            <a:ln w="9525">
              <a:solidFill>
                <a:srgbClr val="E0E0E0"/>
              </a:solidFill>
            </a:ln>
          </c:spPr>
        </c:majorGridlines>
        <c:numFmt formatCode="0&quot;%&quot;" sourceLinked="0"/>
        <c:majorTickMark val="out"/>
        <c:minorTickMark val="none"/>
        <c:tickLblPos val="nextTo"/>
        <c:spPr>
          <a:ln>
            <a:solidFill>
              <a:schemeClr val="bg1"/>
            </a:solidFill>
          </a:ln>
        </c:spPr>
        <c:txPr>
          <a:bodyPr/>
          <a:lstStyle/>
          <a:p>
            <a:pPr>
              <a:defRPr sz="1200">
                <a:solidFill>
                  <a:srgbClr val="49494D"/>
                </a:solidFill>
                <a:latin typeface="Lato"/>
              </a:defRPr>
            </a:pPr>
            <a:endParaRPr lang="en-US"/>
          </a:p>
        </c:txPr>
        <c:crossAx val="2118791784"/>
        <c:crosses val="autoZero"/>
        <c:crossBetween val="between"/>
        <c:majorUnit val="2"/>
      </c:valAx>
    </c:plotArea>
    <c:plotVisOnly val="1"/>
    <c:dispBlanksAs val="gap"/>
    <c:showDLblsOverMax val="0"/>
  </c:chart>
  <c:txPr>
    <a:bodyPr/>
    <a:lstStyle/>
    <a:p>
      <a:pPr>
        <a:defRPr sz="1800"/>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Northeastern EBIDA margin</c:v>
                </c:pt>
              </c:strCache>
            </c:strRef>
          </c:tx>
          <c:spPr>
            <a:solidFill>
              <a:srgbClr val="C8102E"/>
            </a:solidFill>
          </c:spPr>
          <c:invertIfNegative val="1"/>
          <c:dLbls>
            <c:numFmt formatCode="0.0&quot;%&quot;" sourceLinked="0"/>
            <c:spPr>
              <a:noFill/>
              <a:ln>
                <a:noFill/>
              </a:ln>
              <a:effectLst/>
            </c:spPr>
            <c:txPr>
              <a:bodyPr/>
              <a:lstStyle/>
              <a:p>
                <a:pPr>
                  <a:defRPr sz="1100" b="1">
                    <a:solidFill>
                      <a:srgbClr val="FFFFFF"/>
                    </a:solidFill>
                    <a:latin typeface="Lato"/>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FY18</c:v>
                </c:pt>
                <c:pt idx="1">
                  <c:v>FY19</c:v>
                </c:pt>
                <c:pt idx="2">
                  <c:v>FY20</c:v>
                </c:pt>
                <c:pt idx="3">
                  <c:v>FY21</c:v>
                </c:pt>
                <c:pt idx="4">
                  <c:v>FY22</c:v>
                </c:pt>
                <c:pt idx="5">
                  <c:v>FY23</c:v>
                </c:pt>
                <c:pt idx="6">
                  <c:v>FY24</c:v>
                </c:pt>
                <c:pt idx="7">
                  <c:v>FY25</c:v>
                </c:pt>
                <c:pt idx="8">
                  <c:v>FY26 P</c:v>
                </c:pt>
              </c:strCache>
            </c:strRef>
          </c:cat>
          <c:val>
            <c:numRef>
              <c:f>Sheet1!$B$2:$B$10</c:f>
              <c:numCache>
                <c:formatCode>General</c:formatCode>
                <c:ptCount val="9"/>
                <c:pt idx="0">
                  <c:v>15.13</c:v>
                </c:pt>
                <c:pt idx="1">
                  <c:v>17.21</c:v>
                </c:pt>
                <c:pt idx="2">
                  <c:v>14.76</c:v>
                </c:pt>
                <c:pt idx="3">
                  <c:v>12.17</c:v>
                </c:pt>
                <c:pt idx="4">
                  <c:v>15.68</c:v>
                </c:pt>
                <c:pt idx="5">
                  <c:v>12.89</c:v>
                </c:pt>
                <c:pt idx="6">
                  <c:v>10.39</c:v>
                </c:pt>
                <c:pt idx="7">
                  <c:v>9.4600000000000009</c:v>
                </c:pt>
                <c:pt idx="8">
                  <c:v>12.986229433800183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985-413A-BB08-1E8B75F8DCB8}"/>
            </c:ext>
          </c:extLst>
        </c:ser>
        <c:dLbls>
          <c:dLblPos val="inEnd"/>
          <c:showLegendKey val="0"/>
          <c:showVal val="1"/>
          <c:showCatName val="0"/>
          <c:showSerName val="0"/>
          <c:showPercent val="0"/>
          <c:showBubbleSize val="0"/>
        </c:dLbls>
        <c:gapWidth val="60"/>
        <c:axId val="-2068027336"/>
        <c:axId val="-2113994440"/>
      </c:barChart>
      <c:lineChart>
        <c:grouping val="standard"/>
        <c:varyColors val="0"/>
        <c:ser>
          <c:idx val="1"/>
          <c:order val="1"/>
          <c:tx>
            <c:strRef>
              <c:f>Sheet1!$C$1</c:f>
              <c:strCache>
                <c:ptCount val="1"/>
                <c:pt idx="0">
                  <c:v>Moody's comprehensive median</c:v>
                </c:pt>
              </c:strCache>
            </c:strRef>
          </c:tx>
          <c:spPr>
            <a:ln w="25400">
              <a:solidFill>
                <a:srgbClr val="000000"/>
              </a:solidFill>
            </a:ln>
          </c:spPr>
          <c:marker>
            <c:symbol val="circle"/>
            <c:size val="5"/>
            <c:spPr>
              <a:solidFill>
                <a:srgbClr val="000000"/>
              </a:solidFill>
            </c:spPr>
          </c:marker>
          <c:cat>
            <c:strRef>
              <c:f>Sheet1!$A$2:$A$10</c:f>
              <c:strCache>
                <c:ptCount val="9"/>
                <c:pt idx="0">
                  <c:v>FY18</c:v>
                </c:pt>
                <c:pt idx="1">
                  <c:v>FY19</c:v>
                </c:pt>
                <c:pt idx="2">
                  <c:v>FY20</c:v>
                </c:pt>
                <c:pt idx="3">
                  <c:v>FY21</c:v>
                </c:pt>
                <c:pt idx="4">
                  <c:v>FY22</c:v>
                </c:pt>
                <c:pt idx="5">
                  <c:v>FY23</c:v>
                </c:pt>
                <c:pt idx="6">
                  <c:v>FY24</c:v>
                </c:pt>
                <c:pt idx="7">
                  <c:v>FY25</c:v>
                </c:pt>
                <c:pt idx="8">
                  <c:v>FY26 P</c:v>
                </c:pt>
              </c:strCache>
            </c:strRef>
          </c:cat>
          <c:val>
            <c:numRef>
              <c:f>Sheet1!$C$2:$C$10</c:f>
              <c:numCache>
                <c:formatCode>General</c:formatCode>
                <c:ptCount val="9"/>
                <c:pt idx="0">
                  <c:v>12.9</c:v>
                </c:pt>
                <c:pt idx="1">
                  <c:v>13</c:v>
                </c:pt>
                <c:pt idx="2">
                  <c:v>12.6</c:v>
                </c:pt>
                <c:pt idx="3">
                  <c:v>14.5</c:v>
                </c:pt>
                <c:pt idx="4">
                  <c:v>15.7</c:v>
                </c:pt>
                <c:pt idx="5">
                  <c:v>12.8</c:v>
                </c:pt>
                <c:pt idx="6">
                  <c:v>11.1</c:v>
                </c:pt>
                <c:pt idx="7">
                  <c:v>10.3</c:v>
                </c:pt>
              </c:numCache>
            </c:numRef>
          </c:val>
          <c:smooth val="0"/>
          <c:extLst>
            <c:ext xmlns:c16="http://schemas.microsoft.com/office/drawing/2014/chart" uri="{C3380CC4-5D6E-409C-BE32-E72D297353CC}">
              <c16:uniqueId val="{00000001-6985-413A-BB08-1E8B75F8DCB8}"/>
            </c:ext>
          </c:extLst>
        </c:ser>
        <c:ser>
          <c:idx val="2"/>
          <c:order val="2"/>
          <c:tx>
            <c:strRef>
              <c:f>Sheet1!$D$1</c:f>
              <c:strCache>
                <c:ptCount val="1"/>
                <c:pt idx="0">
                  <c:v>Moody's broad A median</c:v>
                </c:pt>
              </c:strCache>
            </c:strRef>
          </c:tx>
          <c:spPr>
            <a:ln w="28575">
              <a:solidFill>
                <a:srgbClr val="000000"/>
              </a:solidFill>
              <a:prstDash val="dash"/>
            </a:ln>
          </c:spPr>
          <c:marker>
            <c:symbol val="circle"/>
            <c:size val="6"/>
            <c:spPr>
              <a:solidFill>
                <a:srgbClr val="000000"/>
              </a:solidFill>
            </c:spPr>
          </c:marker>
          <c:dLbls>
            <c:spPr>
              <a:noFill/>
              <a:ln>
                <a:noFill/>
              </a:ln>
              <a:effectLst/>
            </c:spPr>
            <c:txPr>
              <a:bodyPr wrap="square" lIns="38100" tIns="19050" rIns="38100" bIns="19050" anchor="ctr">
                <a:spAutoFit/>
              </a:bodyPr>
              <a:lstStyle/>
              <a:p>
                <a:pPr>
                  <a:defRPr sz="1100" i="1">
                    <a:solidFill>
                      <a:srgbClr val="000000"/>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Sheet1!$A$2:$A$10</c:f>
              <c:strCache>
                <c:ptCount val="9"/>
                <c:pt idx="0">
                  <c:v>FY18</c:v>
                </c:pt>
                <c:pt idx="1">
                  <c:v>FY19</c:v>
                </c:pt>
                <c:pt idx="2">
                  <c:v>FY20</c:v>
                </c:pt>
                <c:pt idx="3">
                  <c:v>FY21</c:v>
                </c:pt>
                <c:pt idx="4">
                  <c:v>FY22</c:v>
                </c:pt>
                <c:pt idx="5">
                  <c:v>FY23</c:v>
                </c:pt>
                <c:pt idx="6">
                  <c:v>FY24</c:v>
                </c:pt>
                <c:pt idx="7">
                  <c:v>FY25</c:v>
                </c:pt>
                <c:pt idx="8">
                  <c:v>FY26 P</c:v>
                </c:pt>
              </c:strCache>
            </c:strRef>
          </c:cat>
          <c:val>
            <c:numRef>
              <c:f>Sheet1!$D$2:$D$10</c:f>
              <c:numCache>
                <c:formatCode>General</c:formatCode>
                <c:ptCount val="9"/>
                <c:pt idx="0">
                  <c:v>14.7</c:v>
                </c:pt>
                <c:pt idx="1">
                  <c:v>14.6</c:v>
                </c:pt>
                <c:pt idx="2">
                  <c:v>14.4</c:v>
                </c:pt>
                <c:pt idx="3">
                  <c:v>16.7</c:v>
                </c:pt>
                <c:pt idx="4">
                  <c:v>16.5</c:v>
                </c:pt>
                <c:pt idx="5">
                  <c:v>13.1</c:v>
                </c:pt>
                <c:pt idx="6">
                  <c:v>12.3</c:v>
                </c:pt>
                <c:pt idx="7">
                  <c:v>11.5</c:v>
                </c:pt>
              </c:numCache>
            </c:numRef>
          </c:val>
          <c:smooth val="0"/>
          <c:extLst>
            <c:ext xmlns:c16="http://schemas.microsoft.com/office/drawing/2014/chart" uri="{C3380CC4-5D6E-409C-BE32-E72D297353CC}">
              <c16:uniqueId val="{00000001-6985-413A-BB08-1E8B75F8DCB8}"/>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none"/>
        <c:minorTickMark val="none"/>
        <c:tickLblPos val="nextTo"/>
        <c:spPr>
          <a:ln>
            <a:solidFill>
              <a:srgbClr val="E0E0E0"/>
            </a:solidFill>
          </a:ln>
        </c:spPr>
        <c:txPr>
          <a:bodyPr/>
          <a:lstStyle/>
          <a:p>
            <a:pPr>
              <a:defRPr sz="1050">
                <a:solidFill>
                  <a:srgbClr val="49494D"/>
                </a:solidFill>
                <a:latin typeface="Lato"/>
              </a:defRPr>
            </a:pPr>
            <a:endParaRPr lang="en-US"/>
          </a:p>
        </c:txPr>
        <c:crossAx val="-2113994440"/>
        <c:crosses val="autoZero"/>
        <c:auto val="1"/>
        <c:lblAlgn val="ctr"/>
        <c:lblOffset val="100"/>
        <c:noMultiLvlLbl val="0"/>
      </c:catAx>
      <c:valAx>
        <c:axId val="-2113994440"/>
        <c:scaling>
          <c:orientation val="minMax"/>
          <c:max val="18"/>
          <c:min val="0"/>
        </c:scaling>
        <c:delete val="0"/>
        <c:axPos val="l"/>
        <c:majorGridlines>
          <c:spPr>
            <a:ln>
              <a:solidFill>
                <a:srgbClr val="ECECEC"/>
              </a:solidFill>
            </a:ln>
          </c:spPr>
        </c:majorGridlines>
        <c:numFmt formatCode="0&quot;%&quot;" sourceLinked="0"/>
        <c:majorTickMark val="none"/>
        <c:minorTickMark val="none"/>
        <c:tickLblPos val="nextTo"/>
        <c:spPr>
          <a:ln>
            <a:solidFill>
              <a:srgbClr val="E0E0E0"/>
            </a:solidFill>
          </a:ln>
        </c:spPr>
        <c:txPr>
          <a:bodyPr/>
          <a:lstStyle/>
          <a:p>
            <a:pPr>
              <a:defRPr sz="1100">
                <a:solidFill>
                  <a:srgbClr val="49494D"/>
                </a:solidFill>
                <a:latin typeface="Lato"/>
              </a:defRPr>
            </a:pPr>
            <a:endParaRPr lang="en-US"/>
          </a:p>
        </c:txPr>
        <c:crossAx val="-2068027336"/>
        <c:crosses val="autoZero"/>
        <c:crossBetween val="between"/>
      </c:valAx>
    </c:plotArea>
    <c:legend>
      <c:legendPos val="t"/>
      <c:overlay val="0"/>
      <c:txPr>
        <a:bodyPr/>
        <a:lstStyle/>
        <a:p>
          <a:pPr>
            <a:defRPr sz="1200">
              <a:solidFill>
                <a:srgbClr val="49494D"/>
              </a:solidFill>
            </a:defRPr>
          </a:pPr>
          <a:endParaRPr lang="en-US"/>
        </a:p>
      </c:txPr>
    </c:legend>
    <c:plotVisOnly val="1"/>
    <c:dispBlanksAs val="gap"/>
    <c:showDLblsOverMax val="1"/>
  </c:chart>
  <c:txPr>
    <a:bodyPr/>
    <a:lstStyle/>
    <a:p>
      <a:pPr>
        <a:defRPr sz="900">
          <a:latin typeface="Lato"/>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manualLayout>
          <c:layoutTarget val="inner"/>
          <c:xMode val="edge"/>
          <c:yMode val="edge"/>
          <c:x val="4.9460762227609832E-2"/>
          <c:y val="0.10349034212645429"/>
          <c:w val="0.93805059108755817"/>
          <c:h val="0.61650179765270907"/>
        </c:manualLayout>
      </c:layout>
      <c:barChart>
        <c:barDir val="col"/>
        <c:grouping val="clustered"/>
        <c:varyColors val="1"/>
        <c:ser>
          <c:idx val="0"/>
          <c:order val="0"/>
          <c:tx>
            <c:strRef>
              <c:f>Sheet1!$B$1</c:f>
              <c:strCache>
                <c:ptCount val="1"/>
                <c:pt idx="0">
                  <c:v>FY25 EBIDA margin</c:v>
                </c:pt>
              </c:strCache>
            </c:strRef>
          </c:tx>
          <c:spPr>
            <a:solidFill>
              <a:srgbClr val="7F7F7F"/>
            </a:solidFill>
            <a:ln>
              <a:solidFill>
                <a:schemeClr val="bg1"/>
              </a:solidFill>
            </a:ln>
          </c:spPr>
          <c:invertIfNegative val="1"/>
          <c:dPt>
            <c:idx val="16"/>
            <c:invertIfNegative val="1"/>
            <c:bubble3D val="0"/>
            <c:spPr>
              <a:solidFill>
                <a:srgbClr val="C8102E"/>
              </a:solidFill>
              <a:ln>
                <a:solidFill>
                  <a:schemeClr val="bg1"/>
                </a:solidFill>
              </a:ln>
            </c:spPr>
            <c:extLst>
              <c:ext xmlns:c16="http://schemas.microsoft.com/office/drawing/2014/chart" uri="{C3380CC4-5D6E-409C-BE32-E72D297353CC}">
                <c16:uniqueId val="{00000001-F1A1-499D-BD85-758D35ED83C8}"/>
              </c:ext>
            </c:extLst>
          </c:dPt>
          <c:dLbls>
            <c:numFmt formatCode="#,##0.0" sourceLinked="0"/>
            <c:spPr>
              <a:noFill/>
              <a:ln>
                <a:noFill/>
              </a:ln>
              <a:effectLst/>
            </c:spPr>
            <c:txPr>
              <a:bodyPr/>
              <a:lstStyle/>
              <a:p>
                <a:pPr>
                  <a:defRPr sz="1400" b="1">
                    <a:solidFill>
                      <a:srgbClr val="000000"/>
                    </a:solidFill>
                    <a:latin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Sheet1!$A$2:$A$23</c:f>
              <c:strCache>
                <c:ptCount val="22"/>
                <c:pt idx="0">
                  <c:v>Notre Dame</c:v>
                </c:pt>
                <c:pt idx="1">
                  <c:v>Dartmouth</c:v>
                </c:pt>
                <c:pt idx="2">
                  <c:v>Vanderbilt</c:v>
                </c:pt>
                <c:pt idx="3">
                  <c:v>WashU</c:v>
                </c:pt>
                <c:pt idx="4">
                  <c:v>Duke †</c:v>
                </c:pt>
                <c:pt idx="5">
                  <c:v>Cornell †</c:v>
                </c:pt>
                <c:pt idx="6">
                  <c:v>Northwestern</c:v>
                </c:pt>
                <c:pt idx="7">
                  <c:v>NYU †</c:v>
                </c:pt>
                <c:pt idx="8">
                  <c:v>Emory †</c:v>
                </c:pt>
                <c:pt idx="9">
                  <c:v>USC †</c:v>
                </c:pt>
                <c:pt idx="10">
                  <c:v>Syracuse</c:v>
                </c:pt>
                <c:pt idx="11">
                  <c:v>Boston College</c:v>
                </c:pt>
                <c:pt idx="12">
                  <c:v>Tufts</c:v>
                </c:pt>
                <c:pt idx="13">
                  <c:v>Boston Univ.</c:v>
                </c:pt>
                <c:pt idx="14">
                  <c:v>Case Western</c:v>
                </c:pt>
                <c:pt idx="15">
                  <c:v>Villanova</c:v>
                </c:pt>
                <c:pt idx="16">
                  <c:v>Northeastern</c:v>
                </c:pt>
                <c:pt idx="17">
                  <c:v>Tulane</c:v>
                </c:pt>
                <c:pt idx="18">
                  <c:v>Miami †</c:v>
                </c:pt>
                <c:pt idx="19">
                  <c:v>George Washington</c:v>
                </c:pt>
                <c:pt idx="20">
                  <c:v>Georgetown</c:v>
                </c:pt>
                <c:pt idx="21">
                  <c:v>Drexel †</c:v>
                </c:pt>
              </c:strCache>
            </c:strRef>
          </c:cat>
          <c:val>
            <c:numRef>
              <c:f>Sheet1!$B$2:$B$23</c:f>
              <c:numCache>
                <c:formatCode>General</c:formatCode>
                <c:ptCount val="22"/>
                <c:pt idx="0">
                  <c:v>9.9700000000000006</c:v>
                </c:pt>
                <c:pt idx="1">
                  <c:v>23.88</c:v>
                </c:pt>
                <c:pt idx="2">
                  <c:v>18.059999999999999</c:v>
                </c:pt>
                <c:pt idx="3">
                  <c:v>9.86</c:v>
                </c:pt>
                <c:pt idx="4">
                  <c:v>6.85</c:v>
                </c:pt>
                <c:pt idx="5">
                  <c:v>5.64</c:v>
                </c:pt>
                <c:pt idx="6">
                  <c:v>4.8600000000000003</c:v>
                </c:pt>
                <c:pt idx="7">
                  <c:v>9.85</c:v>
                </c:pt>
                <c:pt idx="8">
                  <c:v>7.15</c:v>
                </c:pt>
                <c:pt idx="9">
                  <c:v>2.94</c:v>
                </c:pt>
                <c:pt idx="10">
                  <c:v>18.260000000000002</c:v>
                </c:pt>
                <c:pt idx="11">
                  <c:v>14.96</c:v>
                </c:pt>
                <c:pt idx="12">
                  <c:v>11.39</c:v>
                </c:pt>
                <c:pt idx="13">
                  <c:v>10.5</c:v>
                </c:pt>
                <c:pt idx="14">
                  <c:v>9.66</c:v>
                </c:pt>
                <c:pt idx="15">
                  <c:v>9.07</c:v>
                </c:pt>
                <c:pt idx="16">
                  <c:v>9.4600000000000009</c:v>
                </c:pt>
                <c:pt idx="17">
                  <c:v>8.34</c:v>
                </c:pt>
                <c:pt idx="18">
                  <c:v>10.95</c:v>
                </c:pt>
                <c:pt idx="19">
                  <c:v>0.69</c:v>
                </c:pt>
                <c:pt idx="20">
                  <c:v>10.68</c:v>
                </c:pt>
                <c:pt idx="21">
                  <c:v>3.09</c:v>
                </c:pt>
              </c:numCache>
            </c:numRef>
          </c:val>
          <c:extLst>
            <c:ext xmlns:c14="http://schemas.microsoft.com/office/drawing/2007/8/2/chart" uri="{6F2FDCE9-48DA-4B69-8628-5D25D57E5C99}">
              <c14:invertSolidFillFmt>
                <c14:spPr xmlns:c14="http://schemas.microsoft.com/office/drawing/2007/8/2/chart">
                  <a:solidFill>
                    <a:srgbClr val="FFFFFF"/>
                  </a:solidFill>
                  <a:ln>
                    <a:solidFill>
                      <a:schemeClr val="bg1"/>
                    </a:solidFill>
                  </a:ln>
                </c14:spPr>
              </c14:invertSolidFillFmt>
            </c:ext>
            <c:ext xmlns:c16="http://schemas.microsoft.com/office/drawing/2014/chart" uri="{C3380CC4-5D6E-409C-BE32-E72D297353CC}">
              <c16:uniqueId val="{00000002-B892-41E2-91C4-A305EB5790DF}"/>
            </c:ext>
          </c:extLst>
        </c:ser>
        <c:dLbls>
          <c:dLblPos val="outEnd"/>
          <c:showLegendKey val="0"/>
          <c:showVal val="1"/>
          <c:showCatName val="0"/>
          <c:showSerName val="0"/>
          <c:showPercent val="0"/>
          <c:showBubbleSize val="0"/>
        </c:dLbls>
        <c:gapWidth val="45"/>
        <c:axId val="-2068027336"/>
        <c:axId val="-2113994440"/>
      </c:barChart>
      <c:lineChart>
        <c:grouping val="standard"/>
        <c:varyColors val="0"/>
        <c:ser>
          <c:idx val="2"/>
          <c:order val="1"/>
          <c:tx>
            <c:strRef>
              <c:f>Sheet1!$D$1</c:f>
              <c:strCache>
                <c:ptCount val="1"/>
                <c:pt idx="0">
                  <c:v>Moody’s broad A median — 11.5%</c:v>
                </c:pt>
              </c:strCache>
            </c:strRef>
          </c:tx>
          <c:spPr>
            <a:ln w="31750">
              <a:solidFill>
                <a:srgbClr val="000000"/>
              </a:solidFill>
              <a:prstDash val="dash"/>
            </a:ln>
          </c:spPr>
          <c:marker>
            <c:symbol val="none"/>
          </c:marker>
          <c:cat>
            <c:strRef>
              <c:f>Sheet1!$A$2:$A$22</c:f>
              <c:strCache>
                <c:ptCount val="21"/>
                <c:pt idx="0">
                  <c:v>Notre Dame</c:v>
                </c:pt>
                <c:pt idx="1">
                  <c:v>Dartmouth</c:v>
                </c:pt>
                <c:pt idx="2">
                  <c:v>Vanderbilt</c:v>
                </c:pt>
                <c:pt idx="3">
                  <c:v>WashU</c:v>
                </c:pt>
                <c:pt idx="4">
                  <c:v>Duke †</c:v>
                </c:pt>
                <c:pt idx="5">
                  <c:v>Cornell †</c:v>
                </c:pt>
                <c:pt idx="6">
                  <c:v>Northwestern</c:v>
                </c:pt>
                <c:pt idx="7">
                  <c:v>NYU †</c:v>
                </c:pt>
                <c:pt idx="8">
                  <c:v>Emory †</c:v>
                </c:pt>
                <c:pt idx="9">
                  <c:v>USC †</c:v>
                </c:pt>
                <c:pt idx="10">
                  <c:v>Syracuse</c:v>
                </c:pt>
                <c:pt idx="11">
                  <c:v>Boston College</c:v>
                </c:pt>
                <c:pt idx="12">
                  <c:v>Tufts</c:v>
                </c:pt>
                <c:pt idx="13">
                  <c:v>Boston Univ.</c:v>
                </c:pt>
                <c:pt idx="14">
                  <c:v>Case Western</c:v>
                </c:pt>
                <c:pt idx="15">
                  <c:v>Villanova</c:v>
                </c:pt>
                <c:pt idx="16">
                  <c:v>Northeastern</c:v>
                </c:pt>
                <c:pt idx="17">
                  <c:v>Tulane</c:v>
                </c:pt>
                <c:pt idx="18">
                  <c:v>Miami †</c:v>
                </c:pt>
                <c:pt idx="19">
                  <c:v>George Washington</c:v>
                </c:pt>
                <c:pt idx="20">
                  <c:v>Georgetown</c:v>
                </c:pt>
              </c:strCache>
            </c:strRef>
          </c:cat>
          <c:val>
            <c:numRef>
              <c:f>Sheet1!$D$2:$D$23</c:f>
              <c:numCache>
                <c:formatCode>General</c:formatCode>
                <c:ptCount val="22"/>
                <c:pt idx="0">
                  <c:v>11.5</c:v>
                </c:pt>
                <c:pt idx="1">
                  <c:v>11.5</c:v>
                </c:pt>
                <c:pt idx="2">
                  <c:v>11.5</c:v>
                </c:pt>
                <c:pt idx="3">
                  <c:v>11.5</c:v>
                </c:pt>
                <c:pt idx="4">
                  <c:v>11.5</c:v>
                </c:pt>
                <c:pt idx="5">
                  <c:v>11.5</c:v>
                </c:pt>
                <c:pt idx="6">
                  <c:v>11.5</c:v>
                </c:pt>
                <c:pt idx="7">
                  <c:v>11.5</c:v>
                </c:pt>
                <c:pt idx="8">
                  <c:v>11.5</c:v>
                </c:pt>
                <c:pt idx="9">
                  <c:v>11.5</c:v>
                </c:pt>
                <c:pt idx="10">
                  <c:v>11.5</c:v>
                </c:pt>
                <c:pt idx="11">
                  <c:v>11.5</c:v>
                </c:pt>
                <c:pt idx="12">
                  <c:v>11.5</c:v>
                </c:pt>
                <c:pt idx="13">
                  <c:v>11.5</c:v>
                </c:pt>
                <c:pt idx="14">
                  <c:v>11.5</c:v>
                </c:pt>
                <c:pt idx="15">
                  <c:v>11.5</c:v>
                </c:pt>
                <c:pt idx="16">
                  <c:v>11.5</c:v>
                </c:pt>
                <c:pt idx="17">
                  <c:v>11.5</c:v>
                </c:pt>
                <c:pt idx="18">
                  <c:v>11.5</c:v>
                </c:pt>
                <c:pt idx="19">
                  <c:v>11.5</c:v>
                </c:pt>
                <c:pt idx="20">
                  <c:v>11.5</c:v>
                </c:pt>
                <c:pt idx="21">
                  <c:v>11.5</c:v>
                </c:pt>
              </c:numCache>
            </c:numRef>
          </c:val>
          <c:smooth val="0"/>
          <c:extLst>
            <c:ext xmlns:c16="http://schemas.microsoft.com/office/drawing/2014/chart" uri="{C3380CC4-5D6E-409C-BE32-E72D297353CC}">
              <c16:uniqueId val="{00000003-B892-41E2-91C4-A305EB5790DF}"/>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none"/>
        <c:minorTickMark val="none"/>
        <c:tickLblPos val="nextTo"/>
        <c:spPr>
          <a:ln>
            <a:solidFill>
              <a:schemeClr val="bg1"/>
            </a:solidFill>
          </a:ln>
        </c:spPr>
        <c:txPr>
          <a:bodyPr/>
          <a:lstStyle/>
          <a:p>
            <a:pPr>
              <a:defRPr sz="1100">
                <a:solidFill>
                  <a:schemeClr val="bg1"/>
                </a:solidFill>
                <a:latin typeface="Lato"/>
              </a:defRPr>
            </a:pPr>
            <a:endParaRPr lang="en-US"/>
          </a:p>
        </c:txPr>
        <c:crossAx val="-2113994440"/>
        <c:crosses val="autoZero"/>
        <c:auto val="1"/>
        <c:lblAlgn val="ctr"/>
        <c:lblOffset val="100"/>
        <c:noMultiLvlLbl val="0"/>
      </c:catAx>
      <c:valAx>
        <c:axId val="-2113994440"/>
        <c:scaling>
          <c:orientation val="minMax"/>
          <c:max val="25"/>
          <c:min val="0"/>
        </c:scaling>
        <c:delete val="0"/>
        <c:axPos val="l"/>
        <c:numFmt formatCode="0.0&quot;%&quot;" sourceLinked="0"/>
        <c:majorTickMark val="out"/>
        <c:minorTickMark val="none"/>
        <c:tickLblPos val="nextTo"/>
        <c:spPr>
          <a:ln>
            <a:solidFill>
              <a:schemeClr val="bg1"/>
            </a:solidFill>
          </a:ln>
        </c:spPr>
        <c:txPr>
          <a:bodyPr/>
          <a:lstStyle/>
          <a:p>
            <a:pPr>
              <a:defRPr sz="1000">
                <a:solidFill>
                  <a:schemeClr val="bg1"/>
                </a:solidFill>
                <a:latin typeface="Lato"/>
              </a:defRPr>
            </a:pPr>
            <a:endParaRPr lang="en-US"/>
          </a:p>
        </c:txPr>
        <c:crossAx val="-2068027336"/>
        <c:crosses val="autoZero"/>
        <c:crossBetween val="between"/>
      </c:valAx>
    </c:plotArea>
    <c:legend>
      <c:legendPos val="t"/>
      <c:overlay val="0"/>
      <c:txPr>
        <a:bodyPr/>
        <a:lstStyle/>
        <a:p>
          <a:pPr>
            <a:defRPr sz="1000">
              <a:solidFill>
                <a:srgbClr val="49494D"/>
              </a:solidFill>
              <a:latin typeface="Lato"/>
            </a:defRPr>
          </a:pPr>
          <a:endParaRPr lang="en-US"/>
        </a:p>
      </c:txPr>
    </c:legend>
    <c:plotVisOnly val="1"/>
    <c:dispBlanksAs val="gap"/>
    <c:showDLblsOverMax val="1"/>
  </c:chart>
  <c:txPr>
    <a:bodyPr/>
    <a:lstStyle/>
    <a:p>
      <a:pPr>
        <a:defRPr sz="850">
          <a:latin typeface="Lato"/>
        </a:defRPr>
      </a:pPr>
      <a:endParaRPr lang="en-US"/>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Forecast</c:v>
                </c:pt>
              </c:strCache>
            </c:strRef>
          </c:tx>
          <c:spPr>
            <a:ln w="38100">
              <a:solidFill>
                <a:srgbClr val="000000"/>
              </a:solidFill>
            </a:ln>
          </c:spPr>
          <c:marker>
            <c:symbol val="none"/>
          </c:marker>
          <c:dLbls>
            <c:dLbl>
              <c:idx val="13"/>
              <c:tx>
                <c:rich>
                  <a:bodyPr/>
                  <a:lstStyle/>
                  <a:p>
                    <a:r>
                      <a:rPr sz="1100" b="1">
                        <a:solidFill>
                          <a:srgbClr val="000000"/>
                        </a:solidFill>
                        <a:latin typeface="Lato"/>
                      </a:rPr>
                      <a:t>100 (2025)</a:t>
                    </a:r>
                  </a:p>
                </c:rich>
              </c:tx>
              <c:dLblPos val="t"/>
              <c:showLegendKey val="0"/>
              <c:showVal val="1"/>
              <c:showCatName val="0"/>
              <c:showSerName val="0"/>
              <c:showPercent val="0"/>
              <c:showBubbleSize val="0"/>
            </c:dLbl>
            <c:dLbl>
              <c:idx val="17"/>
              <c:tx>
                <c:rich>
                  <a:bodyPr/>
                  <a:lstStyle/>
                  <a:p>
                    <a:r>
                      <a:rPr sz="1100" b="1">
                        <a:solidFill>
                          <a:srgbClr val="C8102E"/>
                        </a:solidFill>
                        <a:latin typeface="Lato"/>
                      </a:rPr>
                      <a:t>85 (2029)</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Sheet1!$A$2:$A$19</c:f>
              <c:strCache>
                <c:ptCount val="18"/>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pt idx="13">
                  <c:v>2025</c:v>
                </c:pt>
                <c:pt idx="14">
                  <c:v>2026</c:v>
                </c:pt>
                <c:pt idx="15">
                  <c:v>2027</c:v>
                </c:pt>
                <c:pt idx="16">
                  <c:v>2028</c:v>
                </c:pt>
                <c:pt idx="17">
                  <c:v>2029</c:v>
                </c:pt>
              </c:strCache>
            </c:strRef>
          </c:cat>
          <c:val>
            <c:numRef>
              <c:f>Sheet1!$B$2:$B$19</c:f>
              <c:numCache>
                <c:formatCode>General</c:formatCode>
                <c:ptCount val="18"/>
                <c:pt idx="0">
                  <c:v>94.0</c:v>
                </c:pt>
                <c:pt idx="1">
                  <c:v>93.6</c:v>
                </c:pt>
                <c:pt idx="2">
                  <c:v>94.5</c:v>
                </c:pt>
                <c:pt idx="3">
                  <c:v>93.7</c:v>
                </c:pt>
                <c:pt idx="4">
                  <c:v>92.7</c:v>
                </c:pt>
                <c:pt idx="5">
                  <c:v>93.7</c:v>
                </c:pt>
                <c:pt idx="6">
                  <c:v>95.7</c:v>
                </c:pt>
                <c:pt idx="7">
                  <c:v>96.0</c:v>
                </c:pt>
                <c:pt idx="8">
                  <c:v>93.9</c:v>
                </c:pt>
                <c:pt idx="9">
                  <c:v>93.4</c:v>
                </c:pt>
                <c:pt idx="10">
                  <c:v>96.0</c:v>
                </c:pt>
                <c:pt idx="11">
                  <c:v>95.9</c:v>
                </c:pt>
                <c:pt idx="12">
                  <c:v>96.7</c:v>
                </c:pt>
                <c:pt idx="13">
                  <c:v>100.0</c:v>
                </c:pt>
                <c:pt idx="14">
                  <c:v>98.2</c:v>
                </c:pt>
                <c:pt idx="15">
                  <c:v>95.3</c:v>
                </c:pt>
                <c:pt idx="16">
                  <c:v>91.3</c:v>
                </c:pt>
                <c:pt idx="17">
                  <c:v>85.2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000000"/>
            </a:solidFill>
          </a:ln>
        </c:spPr>
        <c:crossAx val="2140495176"/>
        <c:crosses val="autoZero"/>
        <c:auto val="1"/>
        <c:lblAlgn val="ctr"/>
        <c:lblOffset val="100"/>
        <c:tickLblSkip val="2"/>
        <c:tickMarkSkip val="2"/>
        <c:noMultiLvlLbl val="0"/>
      </c:catAx>
      <c:valAx>
        <c:axId val="2140495176"/>
        <c:scaling>
          <c:max val="105.0"/>
          <c:min val="80.0"/>
        </c:scaling>
        <c:delete val="0"/>
        <c:axPos val="l"/>
        <c:majorGridlines>
          <c:spPr>
            <a:ln w="6350">
              <a:solidFill>
                <a:srgbClr val="D9D9D9"/>
              </a:solidFill>
            </a:ln>
          </c:spPr>
        </c:majorGridlines>
        <c:numFmt formatCode="0" sourceLinked="0"/>
        <c:majorTickMark val="out"/>
        <c:minorTickMark val="none"/>
        <c:tickLblPos val="nextTo"/>
        <c:spPr>
          <a:ln>
            <a:noFill/>
          </a:ln>
        </c:spPr>
        <c:crossAx val="2118791784"/>
        <c:crosses val="autoZero"/>
        <c:majorUnit val="5.0"/>
      </c:valAx>
    </c:plotArea>
    <c:plotVisOnly val="1"/>
    <c:dispBlanksAs val="gap"/>
    <c:showDLblsOverMax val="0"/>
  </c:chart>
  <c:txPr>
    <a:bodyPr/>
    <a:lstStyle/>
    <a:p>
      <a:pPr>
        <a:defRPr sz="1100">
          <a:solidFill>
            <a:srgbClr val="000000"/>
          </a:solidFill>
          <a:latin typeface="Lato"/>
        </a:defRPr>
      </a:pPr>
      <a:endParaRPr lang="en-US"/>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Faculty</c:v>
                </c:pt>
              </c:strCache>
            </c:strRef>
          </c:tx>
          <c:spPr>
            <a:ln w="44450">
              <a:solidFill>
                <a:srgbClr val="C8102E"/>
              </a:solidFill>
            </a:ln>
          </c:spPr>
          <c:marker>
            <c:symbol val="none"/>
          </c:marker>
          <c:dLbls>
            <c:dLbl>
              <c:idx val="10"/>
              <c:tx>
                <c:rich>
                  <a:bodyPr/>
                  <a:lstStyle/>
                  <a:p>
                    <a:r>
                      <a:rPr sz="1100" b="1">
                        <a:solidFill>
                          <a:srgbClr val="C8102E"/>
                        </a:solidFill>
                        <a:latin typeface="Lato"/>
                      </a:rPr>
                      <a:t>44%</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Sheet1!$B$2:$B$12</c:f>
              <c:numCache>
                <c:formatCode>General</c:formatCode>
                <c:ptCount val="11"/>
                <c:pt idx="0">
                  <c:v>0.22</c:v>
                </c:pt>
                <c:pt idx="1">
                  <c:v>0.33</c:v>
                </c:pt>
                <c:pt idx="2">
                  <c:v>0.27</c:v>
                </c:pt>
                <c:pt idx="3">
                  <c:v>0.32</c:v>
                </c:pt>
                <c:pt idx="4">
                  <c:v>0.44</c:v>
                </c:pt>
                <c:pt idx="5">
                  <c:v>0.32</c:v>
                </c:pt>
                <c:pt idx="6">
                  <c:v>0.31</c:v>
                </c:pt>
                <c:pt idx="7">
                  <c:v>0.5</c:v>
                </c:pt>
                <c:pt idx="8">
                  <c:v>0.28</c:v>
                </c:pt>
                <c:pt idx="9">
                  <c:v>0.45</c:v>
                </c:pt>
                <c:pt idx="10">
                  <c:v>0.44</c:v>
                </c:pt>
              </c:numCache>
            </c:numRef>
          </c:val>
          <c:smooth val="0"/>
        </c:ser>
        <c:ser>
          <c:idx val="1"/>
          <c:order val="1"/>
          <c:tx>
            <c:strRef>
              <c:f>Sheet1!$C$1</c:f>
              <c:strCache>
                <c:ptCount val="1"/>
                <c:pt idx="0">
                  <c:v>Trustees</c:v>
                </c:pt>
              </c:strCache>
            </c:strRef>
          </c:tx>
          <c:spPr>
            <a:ln w="28575">
              <a:solidFill>
                <a:srgbClr val="000000"/>
              </a:solidFill>
            </a:ln>
          </c:spPr>
          <c:marker>
            <c:symbol val="none"/>
          </c:marker>
          <c:dLbls>
            <c:dLbl>
              <c:idx val="10"/>
              <c:tx>
                <c:rich>
                  <a:bodyPr/>
                  <a:lstStyle/>
                  <a:p>
                    <a:r>
                      <a:rPr sz="1100" b="1">
                        <a:solidFill>
                          <a:srgbClr val="000000"/>
                        </a:solidFill>
                        <a:latin typeface="Lato"/>
                      </a:rPr>
                      <a:t>91%</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Sheet1!$C$2:$C$12</c:f>
              <c:numCache>
                <c:formatCode>General</c:formatCode>
                <c:ptCount val="11"/>
                <c:pt idx="0">
                  <c:v>0.67</c:v>
                </c:pt>
                <c:pt idx="1">
                  <c:v>0.79</c:v>
                </c:pt>
                <c:pt idx="2">
                  <c:v>0.74</c:v>
                </c:pt>
                <c:pt idx="3">
                  <c:v>0.77</c:v>
                </c:pt>
                <c:pt idx="4">
                  <c:v>0.78</c:v>
                </c:pt>
                <c:pt idx="5">
                  <c:v>0.78</c:v>
                </c:pt>
                <c:pt idx="6">
                  <c:v>0.87</c:v>
                </c:pt>
                <c:pt idx="7">
                  <c:v>0.85</c:v>
                </c:pt>
                <c:pt idx="8">
                  <c:v>0.91</c:v>
                </c:pt>
                <c:pt idx="9">
                  <c:v>0.86</c:v>
                </c:pt>
                <c:pt idx="10">
                  <c:v>0.91</c:v>
                </c:pt>
              </c:numCache>
            </c:numRef>
          </c:val>
          <c:smooth val="0"/>
        </c:ser>
        <c:ser>
          <c:idx val="2"/>
          <c:order val="2"/>
          <c:tx>
            <c:strRef>
              <c:f>Sheet1!$D$1</c:f>
              <c:strCache>
                <c:ptCount val="1"/>
                <c:pt idx="0">
                  <c:v>Senior administrators</c:v>
                </c:pt>
              </c:strCache>
            </c:strRef>
          </c:tx>
          <c:spPr>
            <a:ln w="28575">
              <a:solidFill>
                <a:srgbClr val="8C8C8C"/>
              </a:solidFill>
            </a:ln>
          </c:spPr>
          <c:marker>
            <c:symbol val="none"/>
          </c:marker>
          <c:dLbls>
            <c:dLbl>
              <c:idx val="10"/>
              <c:tx>
                <c:rich>
                  <a:bodyPr/>
                  <a:lstStyle/>
                  <a:p>
                    <a:r>
                      <a:rPr sz="1100" b="1">
                        <a:solidFill>
                          <a:srgbClr val="595959"/>
                        </a:solidFill>
                        <a:latin typeface="Lato"/>
                      </a:rPr>
                      <a:t>95%</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Sheet1!$D$2:$D$12</c:f>
              <c:numCache>
                <c:formatCode>General</c:formatCode>
                <c:ptCount val="11"/>
                <c:pt idx="0">
                  <c:v>0.75</c:v>
                </c:pt>
                <c:pt idx="1">
                  <c:v>0.88</c:v>
                </c:pt>
                <c:pt idx="2">
                  <c:v>0.86</c:v>
                </c:pt>
                <c:pt idx="3">
                  <c:v>0.85</c:v>
                </c:pt>
                <c:pt idx="4">
                  <c:v>0.8</c:v>
                </c:pt>
                <c:pt idx="5">
                  <c:v>0.9</c:v>
                </c:pt>
                <c:pt idx="6">
                  <c:v>0.93</c:v>
                </c:pt>
                <c:pt idx="7">
                  <c:v>0.9</c:v>
                </c:pt>
                <c:pt idx="8">
                  <c:v>0.91</c:v>
                </c:pt>
                <c:pt idx="9">
                  <c:v>0.91</c:v>
                </c:pt>
                <c:pt idx="10">
                  <c:v>0.95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000000"/>
            </a:solidFill>
          </a:ln>
        </c:spPr>
        <c:crossAx val="2140495176"/>
        <c:crosses val="autoZero"/>
        <c:auto val="1"/>
        <c:lblAlgn val="ctr"/>
        <c:lblOffset val="100"/>
        <c:noMultiLvlLbl val="0"/>
      </c:catAx>
      <c:valAx>
        <c:axId val="2140495176"/>
        <c:scaling>
          <c:max val="1.0"/>
          <c:min val="0.0"/>
        </c:scaling>
        <c:delete val="0"/>
        <c:axPos val="l"/>
        <c:majorGridlines>
          <c:spPr>
            <a:ln w="6350">
              <a:solidFill>
                <a:srgbClr val="D9D9D9"/>
              </a:solidFill>
            </a:ln>
          </c:spPr>
        </c:majorGridlines>
        <c:numFmt formatCode="0%" sourceLinked="0"/>
        <c:majorTickMark val="out"/>
        <c:minorTickMark val="none"/>
        <c:tickLblPos val="nextTo"/>
        <c:spPr>
          <a:ln>
            <a:noFill/>
          </a:ln>
        </c:spPr>
        <c:crossAx val="2118791784"/>
        <c:crosses val="autoZero"/>
        <c:majorUnit val="0.2"/>
      </c:valAx>
    </c:plotArea>
    <c:legend>
      <c:legendPos val="t"/>
      <c:layout/>
      <c:overlay val="0"/>
    </c:legend>
    <c:plotVisOnly val="1"/>
    <c:dispBlanksAs val="gap"/>
    <c:showDLblsOverMax val="0"/>
  </c:chart>
  <c:txPr>
    <a:bodyPr/>
    <a:lstStyle/>
    <a:p>
      <a:pPr>
        <a:defRPr sz="1200">
          <a:solidFill>
            <a:srgbClr val="000000"/>
          </a:solidFill>
          <a:latin typeface="Lato"/>
        </a:defRPr>
      </a:pPr>
      <a:endParaRPr lang="en-US"/>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Institutions</c:v>
                </c:pt>
              </c:strCache>
            </c:strRef>
          </c:tx>
          <c:spPr>
            <a:solidFill>
              <a:srgbClr val="000000"/>
            </a:solidFill>
          </c:spPr>
          <c:dPt>
            <c:idx val="15"/>
            <c:spPr>
              <a:solidFill>
                <a:srgbClr val="C8102E"/>
              </a:solidFill>
            </c:spPr>
          </c:dPt>
          <c:dPt>
            <c:idx val="17"/>
            <c:spPr>
              <a:solidFill>
                <a:srgbClr val="C8102E"/>
              </a:solidFill>
            </c:spPr>
          </c:dPt>
          <c:dLbls>
            <c:dLbl>
              <c:idx val="15"/>
              <c:tx>
                <c:rich>
                  <a:bodyPr/>
                  <a:lstStyle/>
                  <a:p>
                    <a:r>
                      <a:rPr sz="1100" b="1">
                        <a:solidFill>
                          <a:srgbClr val="C8102E"/>
                        </a:solidFill>
                        <a:latin typeface="Lato"/>
                      </a:rPr>
                      <a:t>4,726 peak</a:t>
                    </a:r>
                  </a:p>
                </c:rich>
              </c:tx>
              <c:dLblPos val="outEnd"/>
              <c:showLegendKey val="0"/>
              <c:showVal val="1"/>
              <c:showCatName val="0"/>
              <c:showSerName val="0"/>
              <c:showPercent val="0"/>
              <c:showBubbleSize val="0"/>
            </c:dLbl>
            <c:dLbl>
              <c:idx val="17"/>
              <c:tx>
                <c:rich>
                  <a:bodyPr/>
                  <a:lstStyle/>
                  <a:p>
                    <a:r>
                      <a:rPr sz="1100" b="1">
                        <a:solidFill>
                          <a:srgbClr val="C8102E"/>
                        </a:solidFill>
                        <a:latin typeface="Lato"/>
                      </a:rPr>
                      <a:t>3,896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Sheet1!$A$2:$A$19</c:f>
              <c:strCache>
                <c:ptCount val="18"/>
                <c:pt idx="0">
                  <c:v>1870</c:v>
                </c:pt>
                <c:pt idx="1">
                  <c:v>1880</c:v>
                </c:pt>
                <c:pt idx="2">
                  <c:v>1890</c:v>
                </c:pt>
                <c:pt idx="3">
                  <c:v>1900</c:v>
                </c:pt>
                <c:pt idx="4">
                  <c:v>1910</c:v>
                </c:pt>
                <c:pt idx="5">
                  <c:v>1920</c:v>
                </c:pt>
                <c:pt idx="6">
                  <c:v>1930</c:v>
                </c:pt>
                <c:pt idx="7">
                  <c:v>1940</c:v>
                </c:pt>
                <c:pt idx="8">
                  <c:v>1950</c:v>
                </c:pt>
                <c:pt idx="9">
                  <c:v>1960</c:v>
                </c:pt>
                <c:pt idx="10">
                  <c:v>1970</c:v>
                </c:pt>
                <c:pt idx="11">
                  <c:v>1980</c:v>
                </c:pt>
                <c:pt idx="12">
                  <c:v>1990</c:v>
                </c:pt>
                <c:pt idx="13">
                  <c:v>2000</c:v>
                </c:pt>
                <c:pt idx="14">
                  <c:v>2010</c:v>
                </c:pt>
                <c:pt idx="15">
                  <c:v>2012–13</c:v>
                </c:pt>
                <c:pt idx="16">
                  <c:v>2018</c:v>
                </c:pt>
                <c:pt idx="17">
                  <c:v>2022–23</c:v>
                </c:pt>
              </c:strCache>
            </c:strRef>
          </c:cat>
          <c:val>
            <c:numRef>
              <c:f>Sheet1!$B$2:$B$19</c:f>
              <c:numCache>
                <c:formatCode>General</c:formatCode>
                <c:ptCount val="18"/>
                <c:pt idx="0">
                  <c:v>563</c:v>
                </c:pt>
                <c:pt idx="1">
                  <c:v>811</c:v>
                </c:pt>
                <c:pt idx="2">
                  <c:v>998</c:v>
                </c:pt>
                <c:pt idx="3">
                  <c:v>977</c:v>
                </c:pt>
                <c:pt idx="4">
                  <c:v>951</c:v>
                </c:pt>
                <c:pt idx="5">
                  <c:v>1041</c:v>
                </c:pt>
                <c:pt idx="6">
                  <c:v>1409</c:v>
                </c:pt>
                <c:pt idx="7">
                  <c:v>1708</c:v>
                </c:pt>
                <c:pt idx="8">
                  <c:v>1851</c:v>
                </c:pt>
                <c:pt idx="9">
                  <c:v>2004</c:v>
                </c:pt>
                <c:pt idx="10">
                  <c:v>2525</c:v>
                </c:pt>
                <c:pt idx="11">
                  <c:v>3152</c:v>
                </c:pt>
                <c:pt idx="12">
                  <c:v>3535</c:v>
                </c:pt>
                <c:pt idx="13">
                  <c:v>4084</c:v>
                </c:pt>
                <c:pt idx="14">
                  <c:v>4495</c:v>
                </c:pt>
                <c:pt idx="15">
                  <c:v>4726</c:v>
                </c:pt>
                <c:pt idx="16">
                  <c:v>4313</c:v>
                </c:pt>
                <c:pt idx="17">
                  <c:v>3896</c:v>
                </c:pt>
              </c:numCache>
            </c:numRef>
          </c:val>
        </c:ser>
        <c:dLbls>
          <c:numFmt formatCode="#,##0" sourceLinked="0"/>
          <c:txPr>
            <a:bodyPr/>
            <a:lstStyle/>
            <a:p>
              <a:pPr>
                <a:defRPr sz="1000">
                  <a:latin typeface="Lato"/>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000000"/>
            </a:solidFill>
          </a:ln>
        </c:spPr>
        <c:txPr>
          <a:bodyPr/>
          <a:lstStyle/>
          <a:p>
            <a:pPr>
              <a:defRPr sz="1000"/>
            </a:pPr>
          </a:p>
        </c:txPr>
        <c:crossAx val="-2113994440"/>
        <c:crosses val="autoZero"/>
        <c:auto val="1"/>
        <c:lblAlgn val="ctr"/>
        <c:lblOffset val="100"/>
        <c:noMultiLvlLbl val="0"/>
      </c:catAx>
      <c:valAx>
        <c:axId val="-2113994440"/>
        <c:scaling>
          <c:max val="5500.0"/>
          <c:min val="0.0"/>
        </c:scaling>
        <c:delete val="0"/>
        <c:axPos val="l"/>
        <c:majorGridlines>
          <c:spPr>
            <a:ln w="6350">
              <a:solidFill>
                <a:srgbClr val="D9D9D9"/>
              </a:solidFill>
            </a:ln>
          </c:spPr>
        </c:majorGridlines>
        <c:numFmt formatCode="#,##0" sourceLinked="0"/>
        <c:majorTickMark val="out"/>
        <c:minorTickMark val="none"/>
        <c:tickLblPos val="nextTo"/>
        <c:spPr>
          <a:ln>
            <a:noFill/>
          </a:ln>
        </c:spPr>
        <c:crossAx val="-2068027336"/>
        <c:crosses val="autoZero"/>
        <c:majorUnit val="1000.0"/>
      </c:valAx>
    </c:plotArea>
    <c:dispBlanksAs val="gap"/>
  </c:chart>
  <c:txPr>
    <a:bodyPr/>
    <a:lstStyle/>
    <a:p>
      <a:pPr>
        <a:defRPr sz="1200">
          <a:solidFill>
            <a:srgbClr val="000000"/>
          </a:solidFill>
          <a:latin typeface="Lato"/>
        </a:defRPr>
      </a:pPr>
      <a:endParaRPr lang="en-US"/>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Federal government</c:v>
                </c:pt>
              </c:strCache>
            </c:strRef>
          </c:tx>
          <c:spPr>
            <a:ln w="38100">
              <a:solidFill>
                <a:srgbClr val="C8102E"/>
              </a:solidFill>
            </a:ln>
          </c:spPr>
          <c:marker>
            <c:symbol val="none"/>
          </c:marker>
          <c:dLbls>
            <c:dLbl>
              <c:idx val="11"/>
              <c:tx>
                <c:rich>
                  <a:bodyPr/>
                  <a:lstStyle/>
                  <a:p>
                    <a:r>
                      <a:rPr sz="1100" b="1">
                        <a:solidFill>
                          <a:srgbClr val="C8102E"/>
                        </a:solidFill>
                        <a:latin typeface="Lato"/>
                      </a:rPr>
                      <a:t>1.9% (1964)</a:t>
                    </a:r>
                  </a:p>
                </c:rich>
              </c:tx>
              <c:dLblPos val="t"/>
              <c:showLegendKey val="0"/>
              <c:showVal val="1"/>
              <c:showCatName val="0"/>
              <c:showSerName val="0"/>
              <c:showPercent val="0"/>
              <c:showBubbleSize val="0"/>
            </c:dLbl>
            <c:dLbl>
              <c:idx val="71"/>
              <c:tx>
                <c:rich>
                  <a:bodyPr/>
                  <a:lstStyle/>
                  <a:p>
                    <a:r>
                      <a:rPr sz="1100" b="1">
                        <a:solidFill>
                          <a:srgbClr val="C8102E"/>
                        </a:solidFill>
                        <a:latin typeface="Lato"/>
                      </a:rPr>
                      <a:t>0.6%</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Sheet1!$A$2:$A$73</c:f>
              <c:strCache>
                <c:ptCount val="72"/>
                <c:pt idx="0">
                  <c:v>1953</c:v>
                </c:pt>
                <c:pt idx="1">
                  <c:v>1954</c:v>
                </c:pt>
                <c:pt idx="2">
                  <c:v>1955</c:v>
                </c:pt>
                <c:pt idx="3">
                  <c:v>1956</c:v>
                </c:pt>
                <c:pt idx="4">
                  <c:v>1957</c:v>
                </c:pt>
                <c:pt idx="5">
                  <c:v>1958</c:v>
                </c:pt>
                <c:pt idx="6">
                  <c:v>1959</c:v>
                </c:pt>
                <c:pt idx="7">
                  <c:v>1960</c:v>
                </c:pt>
                <c:pt idx="8">
                  <c:v>1961</c:v>
                </c:pt>
                <c:pt idx="9">
                  <c:v>1962</c:v>
                </c:pt>
                <c:pt idx="10">
                  <c:v>1963</c:v>
                </c:pt>
                <c:pt idx="11">
                  <c:v>1964</c:v>
                </c:pt>
                <c:pt idx="12">
                  <c:v>1965</c:v>
                </c:pt>
                <c:pt idx="13">
                  <c:v>1966</c:v>
                </c:pt>
                <c:pt idx="14">
                  <c:v>1967</c:v>
                </c:pt>
                <c:pt idx="15">
                  <c:v>1968</c:v>
                </c:pt>
                <c:pt idx="16">
                  <c:v>1969</c:v>
                </c:pt>
                <c:pt idx="17">
                  <c:v>1970</c:v>
                </c:pt>
                <c:pt idx="18">
                  <c:v>1971</c:v>
                </c:pt>
                <c:pt idx="19">
                  <c:v>1972</c:v>
                </c:pt>
                <c:pt idx="20">
                  <c:v>1973</c:v>
                </c:pt>
                <c:pt idx="21">
                  <c:v>1974</c:v>
                </c:pt>
                <c:pt idx="22">
                  <c:v>1975</c:v>
                </c:pt>
                <c:pt idx="23">
                  <c:v>1976</c:v>
                </c:pt>
                <c:pt idx="24">
                  <c:v>1977</c:v>
                </c:pt>
                <c:pt idx="25">
                  <c:v>1978</c:v>
                </c:pt>
                <c:pt idx="26">
                  <c:v>1979</c:v>
                </c:pt>
                <c:pt idx="27">
                  <c:v>1980</c:v>
                </c:pt>
                <c:pt idx="28">
                  <c:v>1981</c:v>
                </c:pt>
                <c:pt idx="29">
                  <c:v>1982</c:v>
                </c:pt>
                <c:pt idx="30">
                  <c:v>1983</c:v>
                </c:pt>
                <c:pt idx="31">
                  <c:v>1984</c:v>
                </c:pt>
                <c:pt idx="32">
                  <c:v>1985</c:v>
                </c:pt>
                <c:pt idx="33">
                  <c:v>1986</c:v>
                </c:pt>
                <c:pt idx="34">
                  <c:v>1987</c:v>
                </c:pt>
                <c:pt idx="35">
                  <c:v>1988</c:v>
                </c:pt>
                <c:pt idx="36">
                  <c:v>1989</c:v>
                </c:pt>
                <c:pt idx="37">
                  <c:v>1990</c:v>
                </c:pt>
                <c:pt idx="38">
                  <c:v>1991</c:v>
                </c:pt>
                <c:pt idx="39">
                  <c:v>1992</c:v>
                </c:pt>
                <c:pt idx="40">
                  <c:v>1993</c:v>
                </c:pt>
                <c:pt idx="41">
                  <c:v>1994</c:v>
                </c:pt>
                <c:pt idx="42">
                  <c:v>1995</c:v>
                </c:pt>
                <c:pt idx="43">
                  <c:v>1996</c:v>
                </c:pt>
                <c:pt idx="44">
                  <c:v>1997</c:v>
                </c:pt>
                <c:pt idx="45">
                  <c:v>1998</c:v>
                </c:pt>
                <c:pt idx="46">
                  <c:v>1999</c:v>
                </c:pt>
                <c:pt idx="47">
                  <c:v>2000</c:v>
                </c:pt>
                <c:pt idx="48">
                  <c:v>2001</c:v>
                </c:pt>
                <c:pt idx="49">
                  <c:v>2002</c:v>
                </c:pt>
                <c:pt idx="50">
                  <c:v>2003</c:v>
                </c:pt>
                <c:pt idx="51">
                  <c:v>2004</c:v>
                </c:pt>
                <c:pt idx="52">
                  <c:v>2005</c:v>
                </c:pt>
                <c:pt idx="53">
                  <c:v>2006</c:v>
                </c:pt>
                <c:pt idx="54">
                  <c:v>2007</c:v>
                </c:pt>
                <c:pt idx="55">
                  <c:v>2008</c:v>
                </c:pt>
                <c:pt idx="56">
                  <c:v>2009</c:v>
                </c:pt>
                <c:pt idx="57">
                  <c:v>2010</c:v>
                </c:pt>
                <c:pt idx="58">
                  <c:v>2011</c:v>
                </c:pt>
                <c:pt idx="59">
                  <c:v>2012</c:v>
                </c:pt>
                <c:pt idx="60">
                  <c:v>2013</c:v>
                </c:pt>
                <c:pt idx="61">
                  <c:v>2014</c:v>
                </c:pt>
                <c:pt idx="62">
                  <c:v>2015</c:v>
                </c:pt>
                <c:pt idx="63">
                  <c:v>2016</c:v>
                </c:pt>
                <c:pt idx="64">
                  <c:v>2017</c:v>
                </c:pt>
                <c:pt idx="65">
                  <c:v>2018</c:v>
                </c:pt>
                <c:pt idx="66">
                  <c:v>2019</c:v>
                </c:pt>
                <c:pt idx="67">
                  <c:v>2020</c:v>
                </c:pt>
                <c:pt idx="68">
                  <c:v>2021</c:v>
                </c:pt>
                <c:pt idx="69">
                  <c:v>2022</c:v>
                </c:pt>
                <c:pt idx="70">
                  <c:v>2023</c:v>
                </c:pt>
                <c:pt idx="71">
                  <c:v>2024</c:v>
                </c:pt>
              </c:strCache>
            </c:strRef>
          </c:cat>
          <c:val>
            <c:numRef>
              <c:f>Sheet1!$B$2:$B$73</c:f>
              <c:numCache>
                <c:formatCode>General</c:formatCode>
                <c:ptCount val="72"/>
                <c:pt idx="0">
                  <c:v>0.0070999999999999995</c:v>
                </c:pt>
                <c:pt idx="1">
                  <c:v>0.0079</c:v>
                </c:pt>
                <c:pt idx="2">
                  <c:v>0.008199999999999999</c:v>
                </c:pt>
                <c:pt idx="3">
                  <c:v>0.0111</c:v>
                </c:pt>
                <c:pt idx="4">
                  <c:v>0.0131</c:v>
                </c:pt>
                <c:pt idx="5">
                  <c:v>0.014499999999999999</c:v>
                </c:pt>
                <c:pt idx="6">
                  <c:v>0.015700000000000002</c:v>
                </c:pt>
                <c:pt idx="7">
                  <c:v>0.016399999999999998</c:v>
                </c:pt>
                <c:pt idx="8">
                  <c:v>0.0169</c:v>
                </c:pt>
                <c:pt idx="9">
                  <c:v>0.0168</c:v>
                </c:pt>
                <c:pt idx="10">
                  <c:v>0.0183</c:v>
                </c:pt>
                <c:pt idx="11">
                  <c:v>0.018600000000000002</c:v>
                </c:pt>
                <c:pt idx="12">
                  <c:v>0.0178</c:v>
                </c:pt>
                <c:pt idx="13">
                  <c:v>0.0174</c:v>
                </c:pt>
                <c:pt idx="14">
                  <c:v>0.0169</c:v>
                </c:pt>
                <c:pt idx="15">
                  <c:v>0.0159</c:v>
                </c:pt>
                <c:pt idx="16">
                  <c:v>0.015</c:v>
                </c:pt>
                <c:pt idx="17">
                  <c:v>0.013999999999999999</c:v>
                </c:pt>
                <c:pt idx="18">
                  <c:v>0.0131</c:v>
                </c:pt>
                <c:pt idx="19">
                  <c:v>0.0125</c:v>
                </c:pt>
                <c:pt idx="20">
                  <c:v>0.0116</c:v>
                </c:pt>
                <c:pt idx="21">
                  <c:v>0.011200000000000002</c:v>
                </c:pt>
                <c:pt idx="22">
                  <c:v>0.011000000000000001</c:v>
                </c:pt>
                <c:pt idx="23">
                  <c:v>0.0108</c:v>
                </c:pt>
                <c:pt idx="24">
                  <c:v>0.0106</c:v>
                </c:pt>
                <c:pt idx="25">
                  <c:v>0.0104</c:v>
                </c:pt>
                <c:pt idx="26">
                  <c:v>0.0104</c:v>
                </c:pt>
                <c:pt idx="27">
                  <c:v>0.0105</c:v>
                </c:pt>
                <c:pt idx="28">
                  <c:v>0.0105</c:v>
                </c:pt>
                <c:pt idx="29">
                  <c:v>0.0111</c:v>
                </c:pt>
                <c:pt idx="30">
                  <c:v>0.011399999999999999</c:v>
                </c:pt>
                <c:pt idx="31">
                  <c:v>0.0115</c:v>
                </c:pt>
                <c:pt idx="32">
                  <c:v>0.0121</c:v>
                </c:pt>
                <c:pt idx="33">
                  <c:v>0.011899999999999999</c:v>
                </c:pt>
                <c:pt idx="34">
                  <c:v>0.0121</c:v>
                </c:pt>
                <c:pt idx="35">
                  <c:v>0.0115</c:v>
                </c:pt>
                <c:pt idx="36">
                  <c:v>0.010700000000000001</c:v>
                </c:pt>
                <c:pt idx="37">
                  <c:v>0.0103</c:v>
                </c:pt>
                <c:pt idx="38">
                  <c:v>0.009899999999999999</c:v>
                </c:pt>
                <c:pt idx="39">
                  <c:v>0.009300000000000001</c:v>
                </c:pt>
                <c:pt idx="40">
                  <c:v>0.0088</c:v>
                </c:pt>
                <c:pt idx="41">
                  <c:v>0.0083</c:v>
                </c:pt>
                <c:pt idx="42">
                  <c:v>0.008199999999999999</c:v>
                </c:pt>
                <c:pt idx="43">
                  <c:v>0.0079</c:v>
                </c:pt>
                <c:pt idx="44">
                  <c:v>0.0075</c:v>
                </c:pt>
                <c:pt idx="45">
                  <c:v>0.0073</c:v>
                </c:pt>
                <c:pt idx="46">
                  <c:v>0.0069</c:v>
                </c:pt>
                <c:pt idx="47">
                  <c:v>0.0066</c:v>
                </c:pt>
                <c:pt idx="48">
                  <c:v>0.006999999999999999</c:v>
                </c:pt>
                <c:pt idx="49">
                  <c:v>0.0072</c:v>
                </c:pt>
                <c:pt idx="50">
                  <c:v>0.0074</c:v>
                </c:pt>
                <c:pt idx="51">
                  <c:v>0.0074</c:v>
                </c:pt>
                <c:pt idx="52">
                  <c:v>0.0073</c:v>
                </c:pt>
                <c:pt idx="53">
                  <c:v>0.0072</c:v>
                </c:pt>
                <c:pt idx="54">
                  <c:v>0.0073</c:v>
                </c:pt>
                <c:pt idx="55">
                  <c:v>0.008</c:v>
                </c:pt>
                <c:pt idx="56">
                  <c:v>0.0087</c:v>
                </c:pt>
                <c:pt idx="57">
                  <c:v>0.0084</c:v>
                </c:pt>
                <c:pt idx="58">
                  <c:v>0.008100000000000001</c:v>
                </c:pt>
                <c:pt idx="59">
                  <c:v>0.0076</c:v>
                </c:pt>
                <c:pt idx="60">
                  <c:v>0.0070999999999999995</c:v>
                </c:pt>
                <c:pt idx="61">
                  <c:v>0.0067</c:v>
                </c:pt>
                <c:pt idx="62">
                  <c:v>0.006500000000000001</c:v>
                </c:pt>
                <c:pt idx="63">
                  <c:v>0.0063</c:v>
                </c:pt>
                <c:pt idx="64">
                  <c:v>0.0062</c:v>
                </c:pt>
                <c:pt idx="65">
                  <c:v>0.0063</c:v>
                </c:pt>
                <c:pt idx="66">
                  <c:v>0.0063</c:v>
                </c:pt>
                <c:pt idx="67">
                  <c:v>0.0069</c:v>
                </c:pt>
                <c:pt idx="68">
                  <c:v>0.0062</c:v>
                </c:pt>
                <c:pt idx="69">
                  <c:v>0.0063</c:v>
                </c:pt>
                <c:pt idx="70">
                  <c:v>0.0062</c:v>
                </c:pt>
                <c:pt idx="71">
                  <c:v>0.0063</c:v>
                </c:pt>
              </c:numCache>
            </c:numRef>
          </c:val>
          <c:smooth val="0"/>
        </c:ser>
        <c:ser>
          <c:idx val="1"/>
          <c:order val="1"/>
          <c:tx>
            <c:strRef>
              <c:f>Sheet1!$C$1</c:f>
              <c:strCache>
                <c:ptCount val="1"/>
                <c:pt idx="0">
                  <c:v>Business, universities and other nonfederal</c:v>
                </c:pt>
              </c:strCache>
            </c:strRef>
          </c:tx>
          <c:spPr>
            <a:ln w="38100">
              <a:solidFill>
                <a:srgbClr val="000000"/>
              </a:solidFill>
            </a:ln>
          </c:spPr>
          <c:marker>
            <c:symbol val="none"/>
          </c:marker>
          <c:dLbls>
            <c:dLbl>
              <c:idx val="71"/>
              <c:tx>
                <c:rich>
                  <a:bodyPr/>
                  <a:lstStyle/>
                  <a:p>
                    <a:r>
                      <a:rPr sz="1100" b="1">
                        <a:solidFill>
                          <a:srgbClr val="000000"/>
                        </a:solidFill>
                        <a:latin typeface="Lato"/>
                      </a:rPr>
                      <a:t>2.8%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Sheet1!$A$2:$A$73</c:f>
              <c:strCache>
                <c:ptCount val="72"/>
                <c:pt idx="0">
                  <c:v>1953</c:v>
                </c:pt>
                <c:pt idx="1">
                  <c:v>1954</c:v>
                </c:pt>
                <c:pt idx="2">
                  <c:v>1955</c:v>
                </c:pt>
                <c:pt idx="3">
                  <c:v>1956</c:v>
                </c:pt>
                <c:pt idx="4">
                  <c:v>1957</c:v>
                </c:pt>
                <c:pt idx="5">
                  <c:v>1958</c:v>
                </c:pt>
                <c:pt idx="6">
                  <c:v>1959</c:v>
                </c:pt>
                <c:pt idx="7">
                  <c:v>1960</c:v>
                </c:pt>
                <c:pt idx="8">
                  <c:v>1961</c:v>
                </c:pt>
                <c:pt idx="9">
                  <c:v>1962</c:v>
                </c:pt>
                <c:pt idx="10">
                  <c:v>1963</c:v>
                </c:pt>
                <c:pt idx="11">
                  <c:v>1964</c:v>
                </c:pt>
                <c:pt idx="12">
                  <c:v>1965</c:v>
                </c:pt>
                <c:pt idx="13">
                  <c:v>1966</c:v>
                </c:pt>
                <c:pt idx="14">
                  <c:v>1967</c:v>
                </c:pt>
                <c:pt idx="15">
                  <c:v>1968</c:v>
                </c:pt>
                <c:pt idx="16">
                  <c:v>1969</c:v>
                </c:pt>
                <c:pt idx="17">
                  <c:v>1970</c:v>
                </c:pt>
                <c:pt idx="18">
                  <c:v>1971</c:v>
                </c:pt>
                <c:pt idx="19">
                  <c:v>1972</c:v>
                </c:pt>
                <c:pt idx="20">
                  <c:v>1973</c:v>
                </c:pt>
                <c:pt idx="21">
                  <c:v>1974</c:v>
                </c:pt>
                <c:pt idx="22">
                  <c:v>1975</c:v>
                </c:pt>
                <c:pt idx="23">
                  <c:v>1976</c:v>
                </c:pt>
                <c:pt idx="24">
                  <c:v>1977</c:v>
                </c:pt>
                <c:pt idx="25">
                  <c:v>1978</c:v>
                </c:pt>
                <c:pt idx="26">
                  <c:v>1979</c:v>
                </c:pt>
                <c:pt idx="27">
                  <c:v>1980</c:v>
                </c:pt>
                <c:pt idx="28">
                  <c:v>1981</c:v>
                </c:pt>
                <c:pt idx="29">
                  <c:v>1982</c:v>
                </c:pt>
                <c:pt idx="30">
                  <c:v>1983</c:v>
                </c:pt>
                <c:pt idx="31">
                  <c:v>1984</c:v>
                </c:pt>
                <c:pt idx="32">
                  <c:v>1985</c:v>
                </c:pt>
                <c:pt idx="33">
                  <c:v>1986</c:v>
                </c:pt>
                <c:pt idx="34">
                  <c:v>1987</c:v>
                </c:pt>
                <c:pt idx="35">
                  <c:v>1988</c:v>
                </c:pt>
                <c:pt idx="36">
                  <c:v>1989</c:v>
                </c:pt>
                <c:pt idx="37">
                  <c:v>1990</c:v>
                </c:pt>
                <c:pt idx="38">
                  <c:v>1991</c:v>
                </c:pt>
                <c:pt idx="39">
                  <c:v>1992</c:v>
                </c:pt>
                <c:pt idx="40">
                  <c:v>1993</c:v>
                </c:pt>
                <c:pt idx="41">
                  <c:v>1994</c:v>
                </c:pt>
                <c:pt idx="42">
                  <c:v>1995</c:v>
                </c:pt>
                <c:pt idx="43">
                  <c:v>1996</c:v>
                </c:pt>
                <c:pt idx="44">
                  <c:v>1997</c:v>
                </c:pt>
                <c:pt idx="45">
                  <c:v>1998</c:v>
                </c:pt>
                <c:pt idx="46">
                  <c:v>1999</c:v>
                </c:pt>
                <c:pt idx="47">
                  <c:v>2000</c:v>
                </c:pt>
                <c:pt idx="48">
                  <c:v>2001</c:v>
                </c:pt>
                <c:pt idx="49">
                  <c:v>2002</c:v>
                </c:pt>
                <c:pt idx="50">
                  <c:v>2003</c:v>
                </c:pt>
                <c:pt idx="51">
                  <c:v>2004</c:v>
                </c:pt>
                <c:pt idx="52">
                  <c:v>2005</c:v>
                </c:pt>
                <c:pt idx="53">
                  <c:v>2006</c:v>
                </c:pt>
                <c:pt idx="54">
                  <c:v>2007</c:v>
                </c:pt>
                <c:pt idx="55">
                  <c:v>2008</c:v>
                </c:pt>
                <c:pt idx="56">
                  <c:v>2009</c:v>
                </c:pt>
                <c:pt idx="57">
                  <c:v>2010</c:v>
                </c:pt>
                <c:pt idx="58">
                  <c:v>2011</c:v>
                </c:pt>
                <c:pt idx="59">
                  <c:v>2012</c:v>
                </c:pt>
                <c:pt idx="60">
                  <c:v>2013</c:v>
                </c:pt>
                <c:pt idx="61">
                  <c:v>2014</c:v>
                </c:pt>
                <c:pt idx="62">
                  <c:v>2015</c:v>
                </c:pt>
                <c:pt idx="63">
                  <c:v>2016</c:v>
                </c:pt>
                <c:pt idx="64">
                  <c:v>2017</c:v>
                </c:pt>
                <c:pt idx="65">
                  <c:v>2018</c:v>
                </c:pt>
                <c:pt idx="66">
                  <c:v>2019</c:v>
                </c:pt>
                <c:pt idx="67">
                  <c:v>2020</c:v>
                </c:pt>
                <c:pt idx="68">
                  <c:v>2021</c:v>
                </c:pt>
                <c:pt idx="69">
                  <c:v>2022</c:v>
                </c:pt>
                <c:pt idx="70">
                  <c:v>2023</c:v>
                </c:pt>
                <c:pt idx="71">
                  <c:v>2024</c:v>
                </c:pt>
              </c:strCache>
            </c:strRef>
          </c:cat>
          <c:val>
            <c:numRef>
              <c:f>Sheet1!$C$2:$C$73</c:f>
              <c:numCache>
                <c:formatCode>General</c:formatCode>
                <c:ptCount val="72"/>
                <c:pt idx="0">
                  <c:v>0.0060999999999999995</c:v>
                </c:pt>
                <c:pt idx="1">
                  <c:v>0.006500000000000001</c:v>
                </c:pt>
                <c:pt idx="2">
                  <c:v>0.0063</c:v>
                </c:pt>
                <c:pt idx="3">
                  <c:v>0.0078000000000000005</c:v>
                </c:pt>
                <c:pt idx="4">
                  <c:v>0.0077</c:v>
                </c:pt>
                <c:pt idx="5">
                  <c:v>0.0082</c:v>
                </c:pt>
                <c:pt idx="6">
                  <c:v>0.0083</c:v>
                </c:pt>
                <c:pt idx="7">
                  <c:v>0.0088</c:v>
                </c:pt>
                <c:pt idx="8">
                  <c:v>0.009099999999999999</c:v>
                </c:pt>
                <c:pt idx="9">
                  <c:v>0.009099999999999999</c:v>
                </c:pt>
                <c:pt idx="10">
                  <c:v>0.0093</c:v>
                </c:pt>
                <c:pt idx="11">
                  <c:v>0.0093</c:v>
                </c:pt>
                <c:pt idx="12">
                  <c:v>0.0095</c:v>
                </c:pt>
                <c:pt idx="13">
                  <c:v>0.0097</c:v>
                </c:pt>
                <c:pt idx="14">
                  <c:v>0.0102</c:v>
                </c:pt>
                <c:pt idx="15">
                  <c:v>0.0103</c:v>
                </c:pt>
                <c:pt idx="16">
                  <c:v>0.0105</c:v>
                </c:pt>
                <c:pt idx="17">
                  <c:v>0.0105</c:v>
                </c:pt>
                <c:pt idx="18">
                  <c:v>0.0101</c:v>
                </c:pt>
                <c:pt idx="19">
                  <c:v>0.01</c:v>
                </c:pt>
                <c:pt idx="20">
                  <c:v>0.01</c:v>
                </c:pt>
                <c:pt idx="21">
                  <c:v>0.0104</c:v>
                </c:pt>
                <c:pt idx="22">
                  <c:v>0.0102</c:v>
                </c:pt>
                <c:pt idx="23">
                  <c:v>0.0102</c:v>
                </c:pt>
                <c:pt idx="24">
                  <c:v>0.0102</c:v>
                </c:pt>
                <c:pt idx="25">
                  <c:v>0.0103</c:v>
                </c:pt>
                <c:pt idx="26">
                  <c:v>0.010700000000000001</c:v>
                </c:pt>
                <c:pt idx="27">
                  <c:v>0.011600000000000001</c:v>
                </c:pt>
                <c:pt idx="28">
                  <c:v>0.012000000000000002</c:v>
                </c:pt>
                <c:pt idx="29">
                  <c:v>0.0131</c:v>
                </c:pt>
                <c:pt idx="30">
                  <c:v>0.0134</c:v>
                </c:pt>
                <c:pt idx="31">
                  <c:v>0.013800000000000002</c:v>
                </c:pt>
                <c:pt idx="32">
                  <c:v>0.014300000000000002</c:v>
                </c:pt>
                <c:pt idx="33">
                  <c:v>0.014300000000000002</c:v>
                </c:pt>
                <c:pt idx="34">
                  <c:v>0.014000000000000002</c:v>
                </c:pt>
                <c:pt idx="35">
                  <c:v>0.014100000000000001</c:v>
                </c:pt>
                <c:pt idx="36">
                  <c:v>0.014400000000000001</c:v>
                </c:pt>
                <c:pt idx="37">
                  <c:v>0.0152</c:v>
                </c:pt>
                <c:pt idx="38">
                  <c:v>0.0163</c:v>
                </c:pt>
                <c:pt idx="39">
                  <c:v>0.0161</c:v>
                </c:pt>
                <c:pt idx="40">
                  <c:v>0.0154</c:v>
                </c:pt>
                <c:pt idx="41">
                  <c:v>0.014900000000000002</c:v>
                </c:pt>
                <c:pt idx="42">
                  <c:v>0.0158</c:v>
                </c:pt>
                <c:pt idx="43">
                  <c:v>0.0166</c:v>
                </c:pt>
                <c:pt idx="44">
                  <c:v>0.017200000000000003</c:v>
                </c:pt>
                <c:pt idx="45">
                  <c:v>0.017599999999999998</c:v>
                </c:pt>
                <c:pt idx="46">
                  <c:v>0.018500000000000003</c:v>
                </c:pt>
                <c:pt idx="47">
                  <c:v>0.019500000000000003</c:v>
                </c:pt>
                <c:pt idx="48">
                  <c:v>0.019299999999999998</c:v>
                </c:pt>
                <c:pt idx="49">
                  <c:v>0.018199999999999997</c:v>
                </c:pt>
                <c:pt idx="50">
                  <c:v>0.018099999999999998</c:v>
                </c:pt>
                <c:pt idx="51">
                  <c:v>0.0174</c:v>
                </c:pt>
                <c:pt idx="52">
                  <c:v>0.0176</c:v>
                </c:pt>
                <c:pt idx="53">
                  <c:v>0.018099999999999998</c:v>
                </c:pt>
                <c:pt idx="54">
                  <c:v>0.0189</c:v>
                </c:pt>
                <c:pt idx="55">
                  <c:v>0.0195</c:v>
                </c:pt>
                <c:pt idx="56">
                  <c:v>0.0191</c:v>
                </c:pt>
                <c:pt idx="57">
                  <c:v>0.0186</c:v>
                </c:pt>
                <c:pt idx="58">
                  <c:v>0.0192</c:v>
                </c:pt>
                <c:pt idx="59">
                  <c:v>0.0191</c:v>
                </c:pt>
                <c:pt idx="60">
                  <c:v>0.019799999999999998</c:v>
                </c:pt>
                <c:pt idx="61">
                  <c:v>0.020300000000000002</c:v>
                </c:pt>
                <c:pt idx="62">
                  <c:v>0.0204</c:v>
                </c:pt>
                <c:pt idx="63">
                  <c:v>0.0215</c:v>
                </c:pt>
                <c:pt idx="64">
                  <c:v>0.022000000000000002</c:v>
                </c:pt>
                <c:pt idx="65">
                  <c:v>0.0228</c:v>
                </c:pt>
                <c:pt idx="66">
                  <c:v>0.024600000000000004</c:v>
                </c:pt>
                <c:pt idx="67">
                  <c:v>0.026500000000000003</c:v>
                </c:pt>
                <c:pt idx="68">
                  <c:v>0.027000000000000003</c:v>
                </c:pt>
                <c:pt idx="69">
                  <c:v>0.0279</c:v>
                </c:pt>
                <c:pt idx="70">
                  <c:v>0.0275</c:v>
                </c:pt>
                <c:pt idx="71">
                  <c:v>0.027600000000000003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000000"/>
            </a:solidFill>
          </a:ln>
        </c:spPr>
        <c:crossAx val="2140495176"/>
        <c:crosses val="autoZero"/>
        <c:auto val="1"/>
        <c:lblAlgn val="ctr"/>
        <c:lblOffset val="100"/>
        <c:tickLblSkip val="4"/>
        <c:tickMarkSkip val="4"/>
        <c:noMultiLvlLbl val="0"/>
      </c:catAx>
      <c:valAx>
        <c:axId val="2140495176"/>
        <c:scaling>
          <c:max val="0.032"/>
          <c:min val="0.0"/>
        </c:scaling>
        <c:delete val="0"/>
        <c:axPos val="l"/>
        <c:majorGridlines>
          <c:spPr>
            <a:ln w="6350">
              <a:solidFill>
                <a:srgbClr val="D9D9D9"/>
              </a:solidFill>
            </a:ln>
          </c:spPr>
        </c:majorGridlines>
        <c:numFmt formatCode="0.0%" sourceLinked="0"/>
        <c:majorTickMark val="out"/>
        <c:minorTickMark val="none"/>
        <c:tickLblPos val="nextTo"/>
        <c:spPr>
          <a:ln>
            <a:noFill/>
          </a:ln>
        </c:spPr>
        <c:crossAx val="2118791784"/>
        <c:crosses val="autoZero"/>
        <c:majorUnit val="0.004"/>
      </c:valAx>
    </c:plotArea>
    <c:legend>
      <c:legendPos val="t"/>
      <c:layout/>
      <c:overlay val="0"/>
      <c:txPr>
        <a:bodyPr/>
        <a:lstStyle/>
        <a:p>
          <a:pPr>
            <a:defRPr sz="1200"/>
          </a:pPr>
        </a:p>
      </c:txPr>
    </c:legend>
    <c:plotVisOnly val="1"/>
    <c:dispBlanksAs val="gap"/>
    <c:showDLblsOverMax val="0"/>
  </c:chart>
  <c:txPr>
    <a:bodyPr/>
    <a:lstStyle/>
    <a:p>
      <a:pPr>
        <a:defRPr sz="1200">
          <a:solidFill>
            <a:srgbClr val="000000"/>
          </a:solidFill>
          <a:latin typeface="Lato"/>
        </a:defRPr>
      </a:pPr>
      <a:endParaRPr lang="en-US"/>
    </a:p>
  </c:tx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Pages</c:v>
                </c:pt>
              </c:strCache>
            </c:strRef>
          </c:tx>
          <c:spPr>
            <a:solidFill>
              <a:srgbClr val="000000"/>
            </a:solidFill>
          </c:spPr>
          <c:dPt>
            <c:idx val="0"/>
            <c:spPr>
              <a:solidFill>
                <a:srgbClr val="C8102E"/>
              </a:solidFill>
            </c:spPr>
          </c:dPt>
          <c:dPt>
            <c:idx val="74"/>
            <c:spPr>
              <a:solidFill>
                <a:srgbClr val="C8102E"/>
              </a:solidFill>
            </c:spPr>
          </c:dPt>
          <c:dLbls>
            <c:dLbl>
              <c:idx val="0"/>
              <c:tx>
                <c:rich>
                  <a:bodyPr/>
                  <a:lstStyle/>
                  <a:p>
                    <a:r>
                      <a:rPr sz="1100" b="1">
                        <a:solidFill>
                          <a:srgbClr val="C8102E"/>
                        </a:solidFill>
                        <a:latin typeface="Lato"/>
                      </a:rPr>
                      <a:t>9,745</a:t>
                    </a:r>
                  </a:p>
                </c:rich>
              </c:tx>
              <c:dLblPos val="outEnd"/>
              <c:showLegendKey val="0"/>
              <c:showVal val="1"/>
              <c:showCatName val="0"/>
              <c:showSerName val="0"/>
              <c:showPercent val="0"/>
              <c:showBubbleSize val="0"/>
            </c:dLbl>
            <c:dLbl>
              <c:idx val="74"/>
              <c:tx>
                <c:rich>
                  <a:bodyPr/>
                  <a:lstStyle/>
                  <a:p>
                    <a:r>
                      <a:rPr sz="1100" b="1">
                        <a:solidFill>
                          <a:srgbClr val="C8102E"/>
                        </a:solidFill>
                        <a:latin typeface="Lato"/>
                      </a:rPr>
                      <a:t>194,395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Sheet1!$A$2:$A$76</c:f>
              <c:strCache>
                <c:ptCount val="75"/>
                <c:pt idx="0">
                  <c:v>1950</c:v>
                </c:pt>
                <c:pt idx="1">
                  <c:v>1951</c:v>
                </c:pt>
                <c:pt idx="2">
                  <c:v>1952</c:v>
                </c:pt>
                <c:pt idx="3">
                  <c:v>1953</c:v>
                </c:pt>
                <c:pt idx="4">
                  <c:v>1954</c:v>
                </c:pt>
                <c:pt idx="5">
                  <c:v>1955</c:v>
                </c:pt>
                <c:pt idx="6">
                  <c:v>1956</c:v>
                </c:pt>
                <c:pt idx="7">
                  <c:v>1957</c:v>
                </c:pt>
                <c:pt idx="8">
                  <c:v>1958</c:v>
                </c:pt>
                <c:pt idx="9">
                  <c:v>1959</c:v>
                </c:pt>
                <c:pt idx="10">
                  <c:v>1960</c:v>
                </c:pt>
                <c:pt idx="11">
                  <c:v>1961</c:v>
                </c:pt>
                <c:pt idx="12">
                  <c:v>1962</c:v>
                </c:pt>
                <c:pt idx="13">
                  <c:v>1963</c:v>
                </c:pt>
                <c:pt idx="14">
                  <c:v>1964</c:v>
                </c:pt>
                <c:pt idx="15">
                  <c:v>1965</c:v>
                </c:pt>
                <c:pt idx="16">
                  <c:v>1966</c:v>
                </c:pt>
                <c:pt idx="17">
                  <c:v>1967</c:v>
                </c:pt>
                <c:pt idx="18">
                  <c:v>1968</c:v>
                </c:pt>
                <c:pt idx="19">
                  <c:v>1969</c:v>
                </c:pt>
                <c:pt idx="20">
                  <c:v>1970</c:v>
                </c:pt>
                <c:pt idx="21">
                  <c:v>1971</c:v>
                </c:pt>
                <c:pt idx="22">
                  <c:v>1972</c:v>
                </c:pt>
                <c:pt idx="23">
                  <c:v>1973</c:v>
                </c:pt>
                <c:pt idx="24">
                  <c:v>1974</c:v>
                </c:pt>
                <c:pt idx="25">
                  <c:v>1975</c:v>
                </c:pt>
                <c:pt idx="26">
                  <c:v>1976</c:v>
                </c:pt>
                <c:pt idx="27">
                  <c:v>1977</c:v>
                </c:pt>
                <c:pt idx="28">
                  <c:v>1978</c:v>
                </c:pt>
                <c:pt idx="29">
                  <c:v>1979</c:v>
                </c:pt>
                <c:pt idx="30">
                  <c:v>1980</c:v>
                </c:pt>
                <c:pt idx="31">
                  <c:v>1981</c:v>
                </c:pt>
                <c:pt idx="32">
                  <c:v>1982</c:v>
                </c:pt>
                <c:pt idx="33">
                  <c:v>1983</c:v>
                </c:pt>
                <c:pt idx="34">
                  <c:v>1984</c:v>
                </c:pt>
                <c:pt idx="35">
                  <c:v>1985</c:v>
                </c:pt>
                <c:pt idx="36">
                  <c:v>1986</c:v>
                </c:pt>
                <c:pt idx="37">
                  <c:v>1987</c:v>
                </c:pt>
                <c:pt idx="38">
                  <c:v>1988</c:v>
                </c:pt>
                <c:pt idx="39">
                  <c:v>1989</c:v>
                </c:pt>
                <c:pt idx="40">
                  <c:v>1990</c:v>
                </c:pt>
                <c:pt idx="41">
                  <c:v>1991</c:v>
                </c:pt>
                <c:pt idx="42">
                  <c:v>1992</c:v>
                </c:pt>
                <c:pt idx="43">
                  <c:v>1993</c:v>
                </c:pt>
                <c:pt idx="44">
                  <c:v>1994</c:v>
                </c:pt>
                <c:pt idx="45">
                  <c:v>1995</c:v>
                </c:pt>
                <c:pt idx="46">
                  <c:v>1996</c:v>
                </c:pt>
                <c:pt idx="47">
                  <c:v>1997</c:v>
                </c:pt>
                <c:pt idx="48">
                  <c:v>1998</c:v>
                </c:pt>
                <c:pt idx="49">
                  <c:v>1999</c:v>
                </c:pt>
                <c:pt idx="50">
                  <c:v>2000</c:v>
                </c:pt>
                <c:pt idx="51">
                  <c:v>2001</c:v>
                </c:pt>
                <c:pt idx="52">
                  <c:v>2002</c:v>
                </c:pt>
                <c:pt idx="53">
                  <c:v>2003</c:v>
                </c:pt>
                <c:pt idx="54">
                  <c:v>2004</c:v>
                </c:pt>
                <c:pt idx="55">
                  <c:v>2005</c:v>
                </c:pt>
                <c:pt idx="56">
                  <c:v>2006</c:v>
                </c:pt>
                <c:pt idx="57">
                  <c:v>2007</c:v>
                </c:pt>
                <c:pt idx="58">
                  <c:v>2008</c:v>
                </c:pt>
                <c:pt idx="59">
                  <c:v>2009</c:v>
                </c:pt>
                <c:pt idx="60">
                  <c:v>2010</c:v>
                </c:pt>
                <c:pt idx="61">
                  <c:v>2011</c:v>
                </c:pt>
                <c:pt idx="62">
                  <c:v>2012</c:v>
                </c:pt>
                <c:pt idx="63">
                  <c:v>2013</c:v>
                </c:pt>
                <c:pt idx="64">
                  <c:v>2014</c:v>
                </c:pt>
                <c:pt idx="65">
                  <c:v>2015</c:v>
                </c:pt>
                <c:pt idx="66">
                  <c:v>2016</c:v>
                </c:pt>
                <c:pt idx="67">
                  <c:v>2017</c:v>
                </c:pt>
                <c:pt idx="68">
                  <c:v>2018</c:v>
                </c:pt>
                <c:pt idx="69">
                  <c:v>2019</c:v>
                </c:pt>
                <c:pt idx="70">
                  <c:v>2020</c:v>
                </c:pt>
                <c:pt idx="71">
                  <c:v>2021</c:v>
                </c:pt>
                <c:pt idx="72">
                  <c:v>2022</c:v>
                </c:pt>
                <c:pt idx="73">
                  <c:v>2023</c:v>
                </c:pt>
                <c:pt idx="74">
                  <c:v>2024</c:v>
                </c:pt>
              </c:strCache>
            </c:strRef>
          </c:cat>
          <c:val>
            <c:numRef>
              <c:f>Sheet1!$B$2:$B$76</c:f>
              <c:numCache>
                <c:formatCode>General</c:formatCode>
                <c:ptCount val="75"/>
                <c:pt idx="0">
                  <c:v>9745</c:v>
                </c:pt>
                <c:pt idx="1">
                  <c:v>15932</c:v>
                </c:pt>
                <c:pt idx="2">
                  <c:v>19232</c:v>
                </c:pt>
                <c:pt idx="3">
                  <c:v>18464</c:v>
                </c:pt>
                <c:pt idx="4">
                  <c:v>16502</c:v>
                </c:pt>
                <c:pt idx="5">
                  <c:v>17989</c:v>
                </c:pt>
                <c:pt idx="6">
                  <c:v>21651</c:v>
                </c:pt>
                <c:pt idx="7">
                  <c:v>19589</c:v>
                </c:pt>
                <c:pt idx="8">
                  <c:v>20643</c:v>
                </c:pt>
                <c:pt idx="9">
                  <c:v>21760</c:v>
                </c:pt>
                <c:pt idx="10">
                  <c:v>22877</c:v>
                </c:pt>
                <c:pt idx="11">
                  <c:v>25242</c:v>
                </c:pt>
                <c:pt idx="12">
                  <c:v>22863</c:v>
                </c:pt>
                <c:pt idx="13">
                  <c:v>25828</c:v>
                </c:pt>
                <c:pt idx="14">
                  <c:v>31584</c:v>
                </c:pt>
                <c:pt idx="15">
                  <c:v>34783</c:v>
                </c:pt>
                <c:pt idx="16">
                  <c:v>43118</c:v>
                </c:pt>
                <c:pt idx="17">
                  <c:v>50375</c:v>
                </c:pt>
                <c:pt idx="18">
                  <c:v>53513</c:v>
                </c:pt>
                <c:pt idx="19">
                  <c:v>52863</c:v>
                </c:pt>
                <c:pt idx="20">
                  <c:v>54834</c:v>
                </c:pt>
                <c:pt idx="21">
                  <c:v>56720</c:v>
                </c:pt>
                <c:pt idx="22">
                  <c:v>60632</c:v>
                </c:pt>
                <c:pt idx="23">
                  <c:v>64872</c:v>
                </c:pt>
                <c:pt idx="24">
                  <c:v>67860</c:v>
                </c:pt>
                <c:pt idx="25">
                  <c:v>71224</c:v>
                </c:pt>
                <c:pt idx="26">
                  <c:v>72740</c:v>
                </c:pt>
                <c:pt idx="27">
                  <c:v>84729</c:v>
                </c:pt>
                <c:pt idx="28">
                  <c:v>94151</c:v>
                </c:pt>
                <c:pt idx="29">
                  <c:v>98032</c:v>
                </c:pt>
                <c:pt idx="30">
                  <c:v>102195</c:v>
                </c:pt>
                <c:pt idx="31">
                  <c:v>107109</c:v>
                </c:pt>
                <c:pt idx="32">
                  <c:v>104938</c:v>
                </c:pt>
                <c:pt idx="33">
                  <c:v>105654</c:v>
                </c:pt>
                <c:pt idx="34">
                  <c:v>111830</c:v>
                </c:pt>
                <c:pt idx="35">
                  <c:v>105935</c:v>
                </c:pt>
                <c:pt idx="36">
                  <c:v>109509</c:v>
                </c:pt>
                <c:pt idx="37">
                  <c:v>114337</c:v>
                </c:pt>
                <c:pt idx="38">
                  <c:v>117480</c:v>
                </c:pt>
                <c:pt idx="39">
                  <c:v>122090</c:v>
                </c:pt>
                <c:pt idx="40">
                  <c:v>126893</c:v>
                </c:pt>
                <c:pt idx="41">
                  <c:v>125331</c:v>
                </c:pt>
                <c:pt idx="42">
                  <c:v>128344</c:v>
                </c:pt>
                <c:pt idx="43">
                  <c:v>132228</c:v>
                </c:pt>
                <c:pt idx="44">
                  <c:v>134196</c:v>
                </c:pt>
                <c:pt idx="45">
                  <c:v>138186</c:v>
                </c:pt>
                <c:pt idx="46">
                  <c:v>132112</c:v>
                </c:pt>
                <c:pt idx="47">
                  <c:v>131060</c:v>
                </c:pt>
                <c:pt idx="48">
                  <c:v>135127</c:v>
                </c:pt>
                <c:pt idx="49">
                  <c:v>134932</c:v>
                </c:pt>
                <c:pt idx="50">
                  <c:v>138049</c:v>
                </c:pt>
                <c:pt idx="51">
                  <c:v>141281</c:v>
                </c:pt>
                <c:pt idx="52">
                  <c:v>145099</c:v>
                </c:pt>
                <c:pt idx="53">
                  <c:v>144187</c:v>
                </c:pt>
                <c:pt idx="54">
                  <c:v>147639</c:v>
                </c:pt>
                <c:pt idx="55">
                  <c:v>151973</c:v>
                </c:pt>
                <c:pt idx="56">
                  <c:v>154107</c:v>
                </c:pt>
                <c:pt idx="57">
                  <c:v>156010</c:v>
                </c:pt>
                <c:pt idx="58">
                  <c:v>157974</c:v>
                </c:pt>
                <c:pt idx="59">
                  <c:v>163333</c:v>
                </c:pt>
                <c:pt idx="60">
                  <c:v>165494</c:v>
                </c:pt>
                <c:pt idx="61">
                  <c:v>169301</c:v>
                </c:pt>
                <c:pt idx="62">
                  <c:v>174545</c:v>
                </c:pt>
                <c:pt idx="63">
                  <c:v>175496</c:v>
                </c:pt>
                <c:pt idx="64">
                  <c:v>175274</c:v>
                </c:pt>
                <c:pt idx="65">
                  <c:v>178351</c:v>
                </c:pt>
                <c:pt idx="66">
                  <c:v>185131</c:v>
                </c:pt>
                <c:pt idx="67">
                  <c:v>186468</c:v>
                </c:pt>
                <c:pt idx="68">
                  <c:v>185544</c:v>
                </c:pt>
                <c:pt idx="69">
                  <c:v>186067</c:v>
                </c:pt>
                <c:pt idx="70">
                  <c:v>186644</c:v>
                </c:pt>
                <c:pt idx="71">
                  <c:v>188343</c:v>
                </c:pt>
                <c:pt idx="72">
                  <c:v>188148</c:v>
                </c:pt>
                <c:pt idx="73">
                  <c:v>190627</c:v>
                </c:pt>
                <c:pt idx="74">
                  <c:v>194395</c:v>
                </c:pt>
              </c:numCache>
            </c:numRef>
          </c:val>
        </c:ser>
        <c:gapWidth val="25"/>
        <c:axId val="-2068027336"/>
        <c:axId val="-2113994440"/>
      </c:barChart>
      <c:catAx>
        <c:axId val="-2068027336"/>
        <c:scaling>
          <c:orientation val="minMax"/>
        </c:scaling>
        <c:delete val="0"/>
        <c:axPos val="b"/>
        <c:majorTickMark val="out"/>
        <c:minorTickMark val="none"/>
        <c:tickLblPos val="nextTo"/>
        <c:spPr>
          <a:ln>
            <a:solidFill>
              <a:srgbClr val="000000"/>
            </a:solidFill>
          </a:ln>
        </c:spPr>
        <c:crossAx val="-2113994440"/>
        <c:crosses val="autoZero"/>
        <c:auto val="1"/>
        <c:lblAlgn val="ctr"/>
        <c:lblOffset val="100"/>
        <c:tickLblSkip val="4"/>
        <c:tickMarkSkip val="4"/>
        <c:noMultiLvlLbl val="0"/>
      </c:catAx>
      <c:valAx>
        <c:axId val="-2113994440"/>
        <c:scaling>
          <c:max val="200000.0"/>
          <c:min val="0.0"/>
        </c:scaling>
        <c:delete val="0"/>
        <c:axPos val="l"/>
        <c:majorGridlines>
          <c:spPr>
            <a:ln w="6350">
              <a:solidFill>
                <a:srgbClr val="D9D9D9"/>
              </a:solidFill>
            </a:ln>
          </c:spPr>
        </c:majorGridlines>
        <c:numFmt formatCode="#,##0" sourceLinked="0"/>
        <c:majorTickMark val="out"/>
        <c:minorTickMark val="none"/>
        <c:tickLblPos val="nextTo"/>
        <c:spPr>
          <a:ln>
            <a:noFill/>
          </a:ln>
        </c:spPr>
        <c:crossAx val="-2068027336"/>
        <c:crosses val="autoZero"/>
        <c:majorUnit val="50000.0"/>
      </c:valAx>
    </c:plotArea>
    <c:dispBlanksAs val="gap"/>
  </c:chart>
  <c:txPr>
    <a:bodyPr/>
    <a:lstStyle/>
    <a:p>
      <a:pPr>
        <a:defRPr sz="1200">
          <a:solidFill>
            <a:srgbClr val="000000"/>
          </a:solidFill>
          <a:latin typeface="Lato"/>
        </a:defRPr>
      </a:pPr>
      <a:endParaRPr lang="en-US"/>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High school degree / no four-year degree</c:v>
                </c:pt>
              </c:strCache>
            </c:strRef>
          </c:tx>
          <c:spPr>
            <a:solidFill>
              <a:srgbClr val="8C8C8C"/>
            </a:solidFill>
          </c:spPr>
          <c:cat>
            <c:strRef>
              <c:f>Sheet1!$A$2:$A$7</c:f>
              <c:strCache>
                <c:ptCount val="6"/>
                <c:pt idx="0">
                  <c:v>1965</c:v>
                </c:pt>
                <c:pt idx="1">
                  <c:v>1975</c:v>
                </c:pt>
                <c:pt idx="2">
                  <c:v>1985</c:v>
                </c:pt>
                <c:pt idx="3">
                  <c:v>1995</c:v>
                </c:pt>
                <c:pt idx="4">
                  <c:v>2005</c:v>
                </c:pt>
                <c:pt idx="5">
                  <c:v>2014</c:v>
                </c:pt>
              </c:strCache>
            </c:strRef>
          </c:cat>
          <c:val>
            <c:numRef>
              <c:f>Sheet1!$B$2:$B$7</c:f>
              <c:numCache>
                <c:formatCode>General</c:formatCode>
                <c:ptCount val="6"/>
                <c:pt idx="0">
                  <c:v>40</c:v>
                </c:pt>
                <c:pt idx="1">
                  <c:v>49</c:v>
                </c:pt>
                <c:pt idx="2">
                  <c:v>48</c:v>
                </c:pt>
                <c:pt idx="3">
                  <c:v>48</c:v>
                </c:pt>
                <c:pt idx="4">
                  <c:v>47</c:v>
                </c:pt>
                <c:pt idx="5">
                  <c:v>50</c:v>
                </c:pt>
              </c:numCache>
            </c:numRef>
          </c:val>
        </c:ser>
        <c:ser>
          <c:idx val="1"/>
          <c:order val="1"/>
          <c:tx>
            <c:strRef>
              <c:f>Sheet1!$C$1</c:f>
              <c:strCache>
                <c:ptCount val="1"/>
                <c:pt idx="0">
                  <c:v>Four-year college degree</c:v>
                </c:pt>
              </c:strCache>
            </c:strRef>
          </c:tx>
          <c:spPr>
            <a:solidFill>
              <a:srgbClr val="C8102E"/>
            </a:solidFill>
          </c:spPr>
          <c:cat>
            <c:strRef>
              <c:f>Sheet1!$A$2:$A$7</c:f>
              <c:strCache>
                <c:ptCount val="6"/>
                <c:pt idx="0">
                  <c:v>1965</c:v>
                </c:pt>
                <c:pt idx="1">
                  <c:v>1975</c:v>
                </c:pt>
                <c:pt idx="2">
                  <c:v>1985</c:v>
                </c:pt>
                <c:pt idx="3">
                  <c:v>1995</c:v>
                </c:pt>
                <c:pt idx="4">
                  <c:v>2005</c:v>
                </c:pt>
                <c:pt idx="5">
                  <c:v>2014</c:v>
                </c:pt>
              </c:strCache>
            </c:strRef>
          </c:cat>
          <c:val>
            <c:numRef>
              <c:f>Sheet1!$C$2:$C$7</c:f>
              <c:numCache>
                <c:formatCode>General</c:formatCode>
                <c:ptCount val="6"/>
                <c:pt idx="0">
                  <c:v>51</c:v>
                </c:pt>
                <c:pt idx="1">
                  <c:v>62</c:v>
                </c:pt>
                <c:pt idx="2">
                  <c:v>64</c:v>
                </c:pt>
                <c:pt idx="3">
                  <c:v>70</c:v>
                </c:pt>
                <c:pt idx="4">
                  <c:v>76</c:v>
                </c:pt>
                <c:pt idx="5">
                  <c:v>89</c:v>
                </c:pt>
              </c:numCache>
            </c:numRef>
          </c:val>
        </c:ser>
        <c:dLbls>
          <c:numFmt formatCode="&quot;$&quot;0" sourceLinked="0"/>
          <c:txPr>
            <a:bodyPr/>
            <a:lstStyle/>
            <a:p>
              <a:pPr>
                <a:defRPr sz="1200">
                  <a:latin typeface="Lato"/>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000000"/>
            </a:solidFill>
          </a:ln>
        </c:spPr>
        <c:crossAx val="-2113994440"/>
        <c:crosses val="autoZero"/>
        <c:auto val="1"/>
        <c:lblAlgn val="ctr"/>
        <c:lblOffset val="100"/>
        <c:noMultiLvlLbl val="0"/>
      </c:catAx>
      <c:valAx>
        <c:axId val="-2113994440"/>
        <c:scaling>
          <c:max val="100.0"/>
          <c:min val="0.0"/>
        </c:scaling>
        <c:delete val="0"/>
        <c:axPos val="l"/>
        <c:majorGridlines>
          <c:spPr>
            <a:ln w="6350">
              <a:solidFill>
                <a:srgbClr val="D9D9D9"/>
              </a:solidFill>
            </a:ln>
          </c:spPr>
        </c:majorGridlines>
        <c:numFmt formatCode="&quot;$&quot;0" sourceLinked="0"/>
        <c:majorTickMark val="out"/>
        <c:minorTickMark val="none"/>
        <c:tickLblPos val="nextTo"/>
        <c:spPr>
          <a:ln>
            <a:noFill/>
          </a:ln>
        </c:spPr>
        <c:crossAx val="-2068027336"/>
        <c:crosses val="autoZero"/>
        <c:majorUnit val="20.0"/>
      </c:valAx>
    </c:plotArea>
    <c:legend>
      <c:legendPos val="t"/>
      <c:overlay val="0"/>
    </c:legend>
    <c:dispBlanksAs val="gap"/>
  </c:chart>
  <c:txPr>
    <a:bodyPr/>
    <a:lstStyle/>
    <a:p>
      <a:pPr>
        <a:defRPr sz="1200">
          <a:solidFill>
            <a:srgbClr val="000000"/>
          </a:solidFill>
          <a:latin typeface="Lato"/>
        </a:defRPr>
      </a:pPr>
      <a:endParaRPr lang="en-US"/>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Public</c:v>
                </c:pt>
              </c:strCache>
            </c:strRef>
          </c:tx>
          <c:spPr>
            <a:solidFill>
              <a:srgbClr val="000000"/>
            </a:solidFill>
          </c:spPr>
          <c:dLbls>
            <c:dLbl>
              <c:idx val="0"/>
              <c:tx>
                <c:rich>
                  <a:bodyPr/>
                  <a:lstStyle/>
                  <a:p>
                    <a:r>
                      <a:rPr sz="1100" b="1">
                        <a:solidFill>
                          <a:srgbClr val="FFFFFF"/>
                        </a:solidFill>
                        <a:latin typeface="Lato"/>
                      </a:rPr>
                      <a:t>1,884 (32%)</a:t>
                    </a:r>
                  </a:p>
                </c:rich>
              </c:tx>
              <c:dLblPos val="ctr"/>
              <c:showLegendKey val="0"/>
              <c:showVal val="1"/>
              <c:showCatName val="0"/>
              <c:showSerName val="0"/>
              <c:showPercent val="0"/>
              <c:showBubbleSize val="0"/>
            </c:dLbl>
            <c:dLbl>
              <c:idx val="1"/>
              <c:tx>
                <c:rich>
                  <a:bodyPr/>
                  <a:lstStyle/>
                  <a:p>
                    <a:r>
                      <a:rPr sz="1100" b="1">
                        <a:solidFill>
                          <a:srgbClr val="FFFFFF"/>
                        </a:solidFill>
                        <a:latin typeface="Lato"/>
                      </a:rPr>
                      <a:t>1,582 (40%)</a:t>
                    </a:r>
                  </a:p>
                </c:rich>
              </c:tx>
              <c:dLblPos val="ctr"/>
              <c:showLegendKey val="0"/>
              <c:showVal val="1"/>
              <c:showCatName val="0"/>
              <c:showSerName val="0"/>
              <c:showPercent val="0"/>
              <c:showBubbleSize val="0"/>
            </c:dLbl>
            <c:dLbl>
              <c:idx val="2"/>
              <c:tx>
                <c:rich>
                  <a:bodyPr/>
                  <a:lstStyle/>
                  <a:p>
                    <a:r>
                      <a:rPr sz="1100" b="1">
                        <a:solidFill>
                          <a:srgbClr val="FFFFFF"/>
                        </a:solidFill>
                        <a:latin typeface="Lato"/>
                      </a:rPr>
                      <a:t>302 (15%)</a:t>
                    </a:r>
                  </a:p>
                </c:rich>
              </c:tx>
              <c:dLblPos val="ctr"/>
              <c:showLegendKey val="0"/>
              <c:showVal val="1"/>
              <c:showCatName val="0"/>
              <c:showSerName val="0"/>
              <c:showPercent val="0"/>
              <c:showBubbleSize val="0"/>
            </c:dLbl>
            <c:dLbl>
              <c:idx val="3"/>
              <c:tx>
                <c:rich>
                  <a:bodyPr/>
                  <a:lstStyle/>
                  <a:p>
                    <a:r>
                      <a:rPr sz="1100" b="1">
                        <a:solidFill>
                          <a:srgbClr val="FFFFFF"/>
                        </a:solidFill>
                        <a:latin typeface="Lato"/>
                      </a:rPr>
                      <a:t>756 (29%)</a:t>
                    </a:r>
                  </a:p>
                </c:rich>
              </c:tx>
              <c:dLblPos val="ctr"/>
              <c:showLegendKey val="0"/>
              <c:showVal val="1"/>
              <c:showCatName val="0"/>
              <c:showSerName val="0"/>
              <c:showPercent val="0"/>
              <c:showBubbleSize val="0"/>
            </c:dLbl>
            <c:dLbl>
              <c:idx val="4"/>
              <c:tx>
                <c:rich>
                  <a:bodyPr/>
                  <a:lstStyle/>
                  <a:p>
                    <a:r>
                      <a:rPr sz="1100" b="1">
                        <a:solidFill>
                          <a:srgbClr val="FFFFFF"/>
                        </a:solidFill>
                        <a:latin typeface="Lato"/>
                      </a:rPr>
                      <a:t>826 (64%)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All post-secondary (5,839)</c:v>
                </c:pt>
                <c:pt idx="1">
                  <c:v>Degree-granting (3,899)</c:v>
                </c:pt>
                <c:pt idx="2">
                  <c:v>Non-degree granting (1,940)</c:v>
                </c:pt>
                <c:pt idx="3">
                  <c:v>Four-year (2,619)</c:v>
                </c:pt>
                <c:pt idx="4">
                  <c:v>Two-year (1,280)</c:v>
                </c:pt>
              </c:strCache>
            </c:strRef>
          </c:cat>
          <c:val>
            <c:numRef>
              <c:f>Sheet1!$B$2:$B$6</c:f>
              <c:numCache>
                <c:formatCode>General</c:formatCode>
                <c:ptCount val="5"/>
                <c:pt idx="0">
                  <c:v>1884</c:v>
                </c:pt>
                <c:pt idx="1">
                  <c:v>1582</c:v>
                </c:pt>
                <c:pt idx="2">
                  <c:v>302</c:v>
                </c:pt>
                <c:pt idx="3">
                  <c:v>756</c:v>
                </c:pt>
                <c:pt idx="4">
                  <c:v>826</c:v>
                </c:pt>
              </c:numCache>
            </c:numRef>
          </c:val>
        </c:ser>
        <c:ser>
          <c:idx val="1"/>
          <c:order val="1"/>
          <c:tx>
            <c:strRef>
              <c:f>Sheet1!$C$1</c:f>
              <c:strCache>
                <c:ptCount val="1"/>
                <c:pt idx="0">
                  <c:v>Private nonprofit</c:v>
                </c:pt>
              </c:strCache>
            </c:strRef>
          </c:tx>
          <c:spPr>
            <a:solidFill>
              <a:srgbClr val="C8102E"/>
            </a:solidFill>
          </c:spPr>
          <c:dLbls>
            <c:dLbl>
              <c:idx val="0"/>
              <c:tx>
                <c:rich>
                  <a:bodyPr/>
                  <a:lstStyle/>
                  <a:p>
                    <a:r>
                      <a:rPr sz="1100" b="1">
                        <a:solidFill>
                          <a:srgbClr val="FFFFFF"/>
                        </a:solidFill>
                        <a:latin typeface="Lato"/>
                      </a:rPr>
                      <a:t>1,740 (30%)</a:t>
                    </a:r>
                  </a:p>
                </c:rich>
              </c:tx>
              <c:dLblPos val="ctr"/>
              <c:showLegendKey val="0"/>
              <c:showVal val="1"/>
              <c:showCatName val="0"/>
              <c:showSerName val="0"/>
              <c:showPercent val="0"/>
              <c:showBubbleSize val="0"/>
            </c:dLbl>
            <c:dLbl>
              <c:idx val="1"/>
              <c:tx>
                <c:rich>
                  <a:bodyPr/>
                  <a:lstStyle/>
                  <a:p>
                    <a:r>
                      <a:rPr sz="1100" b="1">
                        <a:solidFill>
                          <a:srgbClr val="FFFFFF"/>
                        </a:solidFill>
                        <a:latin typeface="Lato"/>
                      </a:rPr>
                      <a:t>1,626 (42%)</a:t>
                    </a:r>
                  </a:p>
                </c:rich>
              </c:tx>
              <c:dLblPos val="ctr"/>
              <c:showLegendKey val="0"/>
              <c:showVal val="1"/>
              <c:showCatName val="0"/>
              <c:showSerName val="0"/>
              <c:showPercent val="0"/>
              <c:showBubbleSize val="0"/>
            </c:dLbl>
            <c:dLbl>
              <c:idx val="2"/>
              <c:tx>
                <c:rich>
                  <a:bodyPr/>
                  <a:lstStyle/>
                  <a:p>
                    <a:r>
                      <a:rPr sz="900" b="1">
                        <a:solidFill>
                          <a:srgbClr val="FFFFFF"/>
                        </a:solidFill>
                        <a:latin typeface="Lato"/>
                      </a:rPr>
                      <a:t>6%</a:t>
                    </a:r>
                  </a:p>
                </c:rich>
              </c:tx>
              <c:dLblPos val="ctr"/>
              <c:showLegendKey val="0"/>
              <c:showVal val="1"/>
              <c:showCatName val="0"/>
              <c:showSerName val="0"/>
              <c:showPercent val="0"/>
              <c:showBubbleSize val="0"/>
            </c:dLbl>
            <c:dLbl>
              <c:idx val="3"/>
              <c:tx>
                <c:rich>
                  <a:bodyPr/>
                  <a:lstStyle/>
                  <a:p>
                    <a:r>
                      <a:rPr sz="1100" b="1">
                        <a:solidFill>
                          <a:srgbClr val="FFFFFF"/>
                        </a:solidFill>
                        <a:latin typeface="Lato"/>
                      </a:rPr>
                      <a:t>1,541 (59%)</a:t>
                    </a:r>
                  </a:p>
                </c:rich>
              </c:tx>
              <c:dLblPos val="ctr"/>
              <c:showLegendKey val="0"/>
              <c:showVal val="1"/>
              <c:showCatName val="0"/>
              <c:showSerName val="0"/>
              <c:showPercent val="0"/>
              <c:showBubbleSize val="0"/>
            </c:dLbl>
            <c:dLbl>
              <c:idx val="4"/>
              <c:tx>
                <c:rich>
                  <a:bodyPr/>
                  <a:lstStyle/>
                  <a:p>
                    <a:r>
                      <a:rPr sz="1100" b="1">
                        <a:solidFill>
                          <a:srgbClr val="FFFFFF"/>
                        </a:solidFill>
                        <a:latin typeface="Lato"/>
                      </a:rPr>
                      <a:t>85 (7%)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All post-secondary (5,839)</c:v>
                </c:pt>
                <c:pt idx="1">
                  <c:v>Degree-granting (3,899)</c:v>
                </c:pt>
                <c:pt idx="2">
                  <c:v>Non-degree granting (1,940)</c:v>
                </c:pt>
                <c:pt idx="3">
                  <c:v>Four-year (2,619)</c:v>
                </c:pt>
                <c:pt idx="4">
                  <c:v>Two-year (1,280)</c:v>
                </c:pt>
              </c:strCache>
            </c:strRef>
          </c:cat>
          <c:val>
            <c:numRef>
              <c:f>Sheet1!$C$2:$C$6</c:f>
              <c:numCache>
                <c:formatCode>General</c:formatCode>
                <c:ptCount val="5"/>
                <c:pt idx="0">
                  <c:v>1740</c:v>
                </c:pt>
                <c:pt idx="1">
                  <c:v>1626</c:v>
                </c:pt>
                <c:pt idx="2">
                  <c:v>114</c:v>
                </c:pt>
                <c:pt idx="3">
                  <c:v>1541</c:v>
                </c:pt>
                <c:pt idx="4">
                  <c:v>85</c:v>
                </c:pt>
              </c:numCache>
            </c:numRef>
          </c:val>
        </c:ser>
        <c:ser>
          <c:idx val="2"/>
          <c:order val="2"/>
          <c:tx>
            <c:strRef>
              <c:f>Sheet1!$D$1</c:f>
              <c:strCache>
                <c:ptCount val="1"/>
                <c:pt idx="0">
                  <c:v>Private for-profit</c:v>
                </c:pt>
              </c:strCache>
            </c:strRef>
          </c:tx>
          <c:spPr>
            <a:solidFill>
              <a:srgbClr val="8C8C8C"/>
            </a:solidFill>
          </c:spPr>
          <c:dLbls>
            <c:dLbl>
              <c:idx val="0"/>
              <c:tx>
                <c:rich>
                  <a:bodyPr/>
                  <a:lstStyle/>
                  <a:p>
                    <a:r>
                      <a:rPr sz="1100" b="1">
                        <a:solidFill>
                          <a:srgbClr val="FFFFFF"/>
                        </a:solidFill>
                        <a:latin typeface="Lato"/>
                      </a:rPr>
                      <a:t>2,215 (38%)</a:t>
                    </a:r>
                  </a:p>
                </c:rich>
              </c:tx>
              <c:dLblPos val="ctr"/>
              <c:showLegendKey val="0"/>
              <c:showVal val="1"/>
              <c:showCatName val="0"/>
              <c:showSerName val="0"/>
              <c:showPercent val="0"/>
              <c:showBubbleSize val="0"/>
            </c:dLbl>
            <c:dLbl>
              <c:idx val="1"/>
              <c:tx>
                <c:rich>
                  <a:bodyPr/>
                  <a:lstStyle/>
                  <a:p>
                    <a:r>
                      <a:rPr sz="1100" b="1">
                        <a:solidFill>
                          <a:srgbClr val="FFFFFF"/>
                        </a:solidFill>
                        <a:latin typeface="Lato"/>
                      </a:rPr>
                      <a:t>691 (18%)</a:t>
                    </a:r>
                  </a:p>
                </c:rich>
              </c:tx>
              <c:dLblPos val="ctr"/>
              <c:showLegendKey val="0"/>
              <c:showVal val="1"/>
              <c:showCatName val="0"/>
              <c:showSerName val="0"/>
              <c:showPercent val="0"/>
              <c:showBubbleSize val="0"/>
            </c:dLbl>
            <c:dLbl>
              <c:idx val="2"/>
              <c:tx>
                <c:rich>
                  <a:bodyPr/>
                  <a:lstStyle/>
                  <a:p>
                    <a:r>
                      <a:rPr sz="1100" b="1">
                        <a:solidFill>
                          <a:srgbClr val="FFFFFF"/>
                        </a:solidFill>
                        <a:latin typeface="Lato"/>
                      </a:rPr>
                      <a:t>1,524 (79%)</a:t>
                    </a:r>
                  </a:p>
                </c:rich>
              </c:tx>
              <c:dLblPos val="ctr"/>
              <c:showLegendKey val="0"/>
              <c:showVal val="1"/>
              <c:showCatName val="0"/>
              <c:showSerName val="0"/>
              <c:showPercent val="0"/>
              <c:showBubbleSize val="0"/>
            </c:dLbl>
            <c:dLbl>
              <c:idx val="3"/>
              <c:tx>
                <c:rich>
                  <a:bodyPr/>
                  <a:lstStyle/>
                  <a:p>
                    <a:r>
                      <a:rPr sz="1100" b="1">
                        <a:solidFill>
                          <a:srgbClr val="FFFFFF"/>
                        </a:solidFill>
                        <a:latin typeface="Lato"/>
                      </a:rPr>
                      <a:t>322 (12%)</a:t>
                    </a:r>
                  </a:p>
                </c:rich>
              </c:tx>
              <c:dLblPos val="ctr"/>
              <c:showLegendKey val="0"/>
              <c:showVal val="1"/>
              <c:showCatName val="0"/>
              <c:showSerName val="0"/>
              <c:showPercent val="0"/>
              <c:showBubbleSize val="0"/>
            </c:dLbl>
            <c:dLbl>
              <c:idx val="4"/>
              <c:tx>
                <c:rich>
                  <a:bodyPr/>
                  <a:lstStyle/>
                  <a:p>
                    <a:r>
                      <a:rPr sz="1100" b="1">
                        <a:solidFill>
                          <a:srgbClr val="FFFFFF"/>
                        </a:solidFill>
                        <a:latin typeface="Lato"/>
                      </a:rPr>
                      <a:t>369 (29%)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All post-secondary (5,839)</c:v>
                </c:pt>
                <c:pt idx="1">
                  <c:v>Degree-granting (3,899)</c:v>
                </c:pt>
                <c:pt idx="2">
                  <c:v>Non-degree granting (1,940)</c:v>
                </c:pt>
                <c:pt idx="3">
                  <c:v>Four-year (2,619)</c:v>
                </c:pt>
                <c:pt idx="4">
                  <c:v>Two-year (1,280)</c:v>
                </c:pt>
              </c:strCache>
            </c:strRef>
          </c:cat>
          <c:val>
            <c:numRef>
              <c:f>Sheet1!$D$2:$D$6</c:f>
              <c:numCache>
                <c:formatCode>General</c:formatCode>
                <c:ptCount val="5"/>
                <c:pt idx="0">
                  <c:v>2215</c:v>
                </c:pt>
                <c:pt idx="1">
                  <c:v>691</c:v>
                </c:pt>
                <c:pt idx="2">
                  <c:v>1524</c:v>
                </c:pt>
                <c:pt idx="3">
                  <c:v>322</c:v>
                </c:pt>
                <c:pt idx="4">
                  <c:v>369</c:v>
                </c:pt>
              </c:numCache>
            </c:numRef>
          </c:val>
        </c:ser>
        <c:gapWidth val="45"/>
        <c:overlap val="100"/>
        <c:axId val="-2068027336"/>
        <c:axId val="-2113994440"/>
      </c:barChart>
      <c:catAx>
        <c:axId val="-2068027336"/>
        <c:scaling>
          <c:orientation val="maxMin"/>
        </c:scaling>
        <c:delete val="0"/>
        <c:axPos val="l"/>
        <c:majorTickMark val="out"/>
        <c:minorTickMark val="none"/>
        <c:tickLblPos val="nextTo"/>
        <c:spPr>
          <a:ln>
            <a:solidFill>
              <a:srgbClr val="000000"/>
            </a:solid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t"/>
      <c:overlay val="0"/>
    </c:legend>
    <c:dispBlanksAs val="gap"/>
  </c:chart>
  <c:txPr>
    <a:bodyPr/>
    <a:lstStyle/>
    <a:p>
      <a:pPr>
        <a:defRPr sz="1200">
          <a:solidFill>
            <a:srgbClr val="000000"/>
          </a:solidFill>
          <a:latin typeface="Lato"/>
        </a:defRPr>
      </a:pPr>
      <a:endParaRPr lang="en-US"/>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Colleges per million</c:v>
                </c:pt>
              </c:strCache>
            </c:strRef>
          </c:tx>
          <c:spPr>
            <a:solidFill>
              <a:srgbClr val="000000"/>
            </a:solidFill>
          </c:spPr>
          <c:dPt>
            <c:idx val="0"/>
            <c:spPr>
              <a:solidFill>
                <a:srgbClr val="C8102E"/>
              </a:solidFill>
            </c:spPr>
          </c:dPt>
          <c:dPt>
            <c:idx val="29"/>
            <c:spPr>
              <a:solidFill>
                <a:srgbClr val="8C8C8C"/>
              </a:solidFill>
            </c:spPr>
          </c:dPt>
          <c:dLbls>
            <c:dLbl>
              <c:idx val="0"/>
              <c:tx>
                <c:rich>
                  <a:bodyPr/>
                  <a:lstStyle/>
                  <a:p>
                    <a:r>
                      <a:rPr sz="1100" b="1">
                        <a:solidFill>
                          <a:srgbClr val="C8102E"/>
                        </a:solidFill>
                        <a:latin typeface="Lato"/>
                      </a:rPr>
                      <a:t>6.91</a:t>
                    </a:r>
                  </a:p>
                </c:rich>
              </c:tx>
              <c:dLblPos val="outEnd"/>
              <c:showLegendKey val="0"/>
              <c:showVal val="1"/>
              <c:showCatName val="0"/>
              <c:showSerName val="0"/>
              <c:showPercent val="0"/>
              <c:showBubbleSize val="0"/>
            </c:dLbl>
            <c:dLbl>
              <c:idx val="1"/>
              <c:tx>
                <c:rich>
                  <a:bodyPr/>
                  <a:lstStyle/>
                  <a:p>
                    <a:r>
                      <a:rPr sz="1100" b="1">
                        <a:solidFill>
                          <a:srgbClr val="000000"/>
                        </a:solidFill>
                        <a:latin typeface="Lato"/>
                      </a:rPr>
                      <a:t>4.71</a:t>
                    </a:r>
                  </a:p>
                </c:rich>
              </c:tx>
              <c:dLblPos val="outEnd"/>
              <c:showLegendKey val="0"/>
              <c:showVal val="1"/>
              <c:showCatName val="0"/>
              <c:showSerName val="0"/>
              <c:showPercent val="0"/>
              <c:showBubbleSize val="0"/>
            </c:dLbl>
            <c:dLbl>
              <c:idx val="2"/>
              <c:tx>
                <c:rich>
                  <a:bodyPr/>
                  <a:lstStyle/>
                  <a:p>
                    <a:r>
                      <a:rPr sz="1100" b="1">
                        <a:solidFill>
                          <a:srgbClr val="000000"/>
                        </a:solidFill>
                        <a:latin typeface="Lato"/>
                      </a:rPr>
                      <a:t>4.61</a:t>
                    </a:r>
                  </a:p>
                </c:rich>
              </c:tx>
              <c:dLblPos val="outEnd"/>
              <c:showLegendKey val="0"/>
              <c:showVal val="1"/>
              <c:showCatName val="0"/>
              <c:showSerName val="0"/>
              <c:showPercent val="0"/>
              <c:showBubbleSize val="0"/>
            </c:dLbl>
            <c:dLbl>
              <c:idx val="3"/>
              <c:tx>
                <c:rich>
                  <a:bodyPr/>
                  <a:lstStyle/>
                  <a:p>
                    <a:r>
                      <a:rPr sz="1100" b="1">
                        <a:solidFill>
                          <a:srgbClr val="000000"/>
                        </a:solidFill>
                        <a:latin typeface="Lato"/>
                      </a:rPr>
                      <a:t>4.33</a:t>
                    </a:r>
                  </a:p>
                </c:rich>
              </c:tx>
              <c:dLblPos val="outEnd"/>
              <c:showLegendKey val="0"/>
              <c:showVal val="1"/>
              <c:showCatName val="0"/>
              <c:showSerName val="0"/>
              <c:showPercent val="0"/>
              <c:showBubbleSize val="0"/>
            </c:dLbl>
            <c:dLbl>
              <c:idx val="4"/>
              <c:tx>
                <c:rich>
                  <a:bodyPr/>
                  <a:lstStyle/>
                  <a:p>
                    <a:r>
                      <a:rPr sz="1100" b="1">
                        <a:solidFill>
                          <a:srgbClr val="000000"/>
                        </a:solidFill>
                        <a:latin typeface="Lato"/>
                      </a:rPr>
                      <a:t>3.82</a:t>
                    </a:r>
                  </a:p>
                </c:rich>
              </c:tx>
              <c:dLblPos val="outEnd"/>
              <c:showLegendKey val="0"/>
              <c:showVal val="1"/>
              <c:showCatName val="0"/>
              <c:showSerName val="0"/>
              <c:showPercent val="0"/>
              <c:showBubbleSize val="0"/>
            </c:dLbl>
            <c:dLbl>
              <c:idx val="29"/>
              <c:tx>
                <c:rich>
                  <a:bodyPr/>
                  <a:lstStyle/>
                  <a:p>
                    <a:r>
                      <a:rPr sz="1100" b="1">
                        <a:solidFill>
                          <a:srgbClr val="000000"/>
                        </a:solidFill>
                        <a:latin typeface="Lato"/>
                      </a:rPr>
                      <a:t>1.64 avg</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Sheet1!$A$2:$A$31</c:f>
              <c:strCache>
                <c:ptCount val="30"/>
                <c:pt idx="0">
                  <c:v>USA</c:v>
                </c:pt>
                <c:pt idx="1">
                  <c:v>KOR</c:v>
                </c:pt>
                <c:pt idx="2">
                  <c:v>JPN</c:v>
                </c:pt>
                <c:pt idx="3">
                  <c:v>FRA</c:v>
                </c:pt>
                <c:pt idx="4">
                  <c:v>DEU</c:v>
                </c:pt>
                <c:pt idx="5">
                  <c:v>GBR</c:v>
                </c:pt>
                <c:pt idx="6">
                  <c:v>TUR</c:v>
                </c:pt>
                <c:pt idx="7">
                  <c:v>RUS</c:v>
                </c:pt>
                <c:pt idx="8">
                  <c:v>IRN</c:v>
                </c:pt>
                <c:pt idx="9">
                  <c:v>COL</c:v>
                </c:pt>
                <c:pt idx="10">
                  <c:v>ITA</c:v>
                </c:pt>
                <c:pt idx="11">
                  <c:v>MEX</c:v>
                </c:pt>
                <c:pt idx="12">
                  <c:v>PHL</c:v>
                </c:pt>
                <c:pt idx="13">
                  <c:v>THA</c:v>
                </c:pt>
                <c:pt idx="14">
                  <c:v>BRA</c:v>
                </c:pt>
                <c:pt idx="15">
                  <c:v>KEN</c:v>
                </c:pt>
                <c:pt idx="16">
                  <c:v>SDN</c:v>
                </c:pt>
                <c:pt idx="17">
                  <c:v>IDN</c:v>
                </c:pt>
                <c:pt idx="18">
                  <c:v>PAK</c:v>
                </c:pt>
                <c:pt idx="19">
                  <c:v>VNM</c:v>
                </c:pt>
                <c:pt idx="20">
                  <c:v>NGA</c:v>
                </c:pt>
                <c:pt idx="21">
                  <c:v>ZAF</c:v>
                </c:pt>
                <c:pt idx="22">
                  <c:v>BGD</c:v>
                </c:pt>
                <c:pt idx="23">
                  <c:v>EGY</c:v>
                </c:pt>
                <c:pt idx="24">
                  <c:v>UGA</c:v>
                </c:pt>
                <c:pt idx="25">
                  <c:v>TZA</c:v>
                </c:pt>
                <c:pt idx="26">
                  <c:v>ETH</c:v>
                </c:pt>
                <c:pt idx="27">
                  <c:v>COD</c:v>
                </c:pt>
                <c:pt idx="28">
                  <c:v>MMR</c:v>
                </c:pt>
                <c:pt idx="29">
                  <c:v>Avg</c:v>
                </c:pt>
              </c:strCache>
            </c:strRef>
          </c:cat>
          <c:val>
            <c:numRef>
              <c:f>Sheet1!$B$2:$B$31</c:f>
              <c:numCache>
                <c:formatCode>General</c:formatCode>
                <c:ptCount val="30"/>
                <c:pt idx="0">
                  <c:v>6.91</c:v>
                </c:pt>
                <c:pt idx="1">
                  <c:v>4.71</c:v>
                </c:pt>
                <c:pt idx="2">
                  <c:v>4.61</c:v>
                </c:pt>
                <c:pt idx="3">
                  <c:v>4.33</c:v>
                </c:pt>
                <c:pt idx="4">
                  <c:v>3.82</c:v>
                </c:pt>
                <c:pt idx="5">
                  <c:v>2.82</c:v>
                </c:pt>
                <c:pt idx="6">
                  <c:v>2.25</c:v>
                </c:pt>
                <c:pt idx="7">
                  <c:v>2.15</c:v>
                </c:pt>
                <c:pt idx="8">
                  <c:v>2.11</c:v>
                </c:pt>
                <c:pt idx="9">
                  <c:v>1.95</c:v>
                </c:pt>
                <c:pt idx="10">
                  <c:v>1.58</c:v>
                </c:pt>
                <c:pt idx="11">
                  <c:v>1.27</c:v>
                </c:pt>
                <c:pt idx="12">
                  <c:v>1.02</c:v>
                </c:pt>
                <c:pt idx="13">
                  <c:v>0.93</c:v>
                </c:pt>
                <c:pt idx="14">
                  <c:v>0.9</c:v>
                </c:pt>
                <c:pt idx="15">
                  <c:v>0.87</c:v>
                </c:pt>
                <c:pt idx="16">
                  <c:v>0.69</c:v>
                </c:pt>
                <c:pt idx="17">
                  <c:v>0.68</c:v>
                </c:pt>
                <c:pt idx="18">
                  <c:v>0.54</c:v>
                </c:pt>
                <c:pt idx="19">
                  <c:v>0.51</c:v>
                </c:pt>
                <c:pt idx="20">
                  <c:v>0.49</c:v>
                </c:pt>
                <c:pt idx="21">
                  <c:v>0.45</c:v>
                </c:pt>
                <c:pt idx="22">
                  <c:v>0.43</c:v>
                </c:pt>
                <c:pt idx="23">
                  <c:v>0.38</c:v>
                </c:pt>
                <c:pt idx="24">
                  <c:v>0.36</c:v>
                </c:pt>
                <c:pt idx="25">
                  <c:v>0.29</c:v>
                </c:pt>
                <c:pt idx="26">
                  <c:v>0.23</c:v>
                </c:pt>
                <c:pt idx="27">
                  <c:v>0.09</c:v>
                </c:pt>
                <c:pt idx="28">
                  <c:v>0.09</c:v>
                </c:pt>
                <c:pt idx="29">
                  <c:v>1.64</c:v>
                </c:pt>
              </c:numCache>
            </c:numRef>
          </c:val>
        </c:ser>
        <c:gapWidth val="35"/>
        <c:axId val="-2068027336"/>
        <c:axId val="-2113994440"/>
      </c:barChart>
      <c:catAx>
        <c:axId val="-2068027336"/>
        <c:scaling>
          <c:orientation val="minMax"/>
        </c:scaling>
        <c:delete val="0"/>
        <c:axPos val="b"/>
        <c:majorTickMark val="out"/>
        <c:minorTickMark val="none"/>
        <c:tickLblPos val="nextTo"/>
        <c:spPr>
          <a:ln>
            <a:solidFill>
              <a:srgbClr val="000000"/>
            </a:solidFill>
          </a:ln>
        </c:spPr>
        <c:txPr>
          <a:bodyPr/>
          <a:lstStyle/>
          <a:p>
            <a:pPr>
              <a:defRPr sz="1000"/>
            </a:pPr>
          </a:p>
        </c:txPr>
        <c:crossAx val="-2113994440"/>
        <c:crosses val="autoZero"/>
        <c:auto val="1"/>
        <c:lblAlgn val="ctr"/>
        <c:lblOffset val="100"/>
        <c:tickLblSkip val="1"/>
        <c:tickMarkSkip val="1"/>
        <c:noMultiLvlLbl val="0"/>
      </c:catAx>
      <c:valAx>
        <c:axId val="-2113994440"/>
        <c:scaling>
          <c:max val="8.0"/>
          <c:min val="0.0"/>
        </c:scaling>
        <c:delete val="0"/>
        <c:axPos val="l"/>
        <c:majorGridlines>
          <c:spPr>
            <a:ln w="6350">
              <a:solidFill>
                <a:srgbClr val="D9D9D9"/>
              </a:solidFill>
            </a:ln>
          </c:spPr>
        </c:majorGridlines>
        <c:numFmt formatCode="0.0" sourceLinked="0"/>
        <c:majorTickMark val="out"/>
        <c:minorTickMark val="none"/>
        <c:tickLblPos val="nextTo"/>
        <c:spPr>
          <a:ln>
            <a:noFill/>
          </a:ln>
        </c:spPr>
        <c:crossAx val="-2068027336"/>
        <c:crosses val="autoZero"/>
        <c:majorUnit val="2.0"/>
      </c:valAx>
    </c:plotArea>
    <c:dispBlanksAs val="gap"/>
  </c:chart>
  <c:txPr>
    <a:bodyPr/>
    <a:lstStyle/>
    <a:p>
      <a:pPr>
        <a:defRPr sz="1100">
          <a:solidFill>
            <a:srgbClr val="000000"/>
          </a:solidFill>
          <a:latin typeface="Lato"/>
        </a:defRPr>
      </a:pPr>
      <a:endParaRPr lang="en-US"/>
    </a:p>
  </c:tx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Share earning more than parents</c:v>
                </c:pt>
              </c:strCache>
            </c:strRef>
          </c:tx>
          <c:spPr>
            <a:ln w="38100">
              <a:solidFill>
                <a:srgbClr val="C8102E"/>
              </a:solidFill>
            </a:ln>
          </c:spPr>
          <c:marker>
            <c:symbol val="none"/>
          </c:marker>
          <c:dLbls>
            <c:dLbl>
              <c:idx val="0"/>
              <c:tx>
                <c:rich>
                  <a:bodyPr/>
                  <a:lstStyle/>
                  <a:p>
                    <a:r>
                      <a:rPr sz="1100" b="1">
                        <a:solidFill>
                          <a:srgbClr val="C8102E"/>
                        </a:solidFill>
                        <a:latin typeface="Lato"/>
                      </a:rPr>
                      <a:t>92%</a:t>
                    </a:r>
                  </a:p>
                </c:rich>
              </c:tx>
              <c:dLblPos val="t"/>
              <c:showLegendKey val="0"/>
              <c:showVal val="1"/>
              <c:showCatName val="0"/>
              <c:showSerName val="0"/>
              <c:showPercent val="0"/>
              <c:showBubbleSize val="0"/>
            </c:dLbl>
            <c:dLbl>
              <c:idx val="44"/>
              <c:tx>
                <c:rich>
                  <a:bodyPr/>
                  <a:lstStyle/>
                  <a:p>
                    <a:r>
                      <a:rPr sz="1100" b="1">
                        <a:solidFill>
                          <a:srgbClr val="C8102E"/>
                        </a:solidFill>
                        <a:latin typeface="Lato"/>
                      </a:rPr>
                      <a:t>50%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Sheet1!$A$2:$A$46</c:f>
              <c:strCache>
                <c:ptCount val="45"/>
                <c:pt idx="0">
                  <c:v>1940</c:v>
                </c:pt>
                <c:pt idx="1">
                  <c:v>1941</c:v>
                </c:pt>
                <c:pt idx="2">
                  <c:v>1942</c:v>
                </c:pt>
                <c:pt idx="3">
                  <c:v>1943</c:v>
                </c:pt>
                <c:pt idx="4">
                  <c:v>1944</c:v>
                </c:pt>
                <c:pt idx="5">
                  <c:v>1945</c:v>
                </c:pt>
                <c:pt idx="6">
                  <c:v>1946</c:v>
                </c:pt>
                <c:pt idx="7">
                  <c:v>1947</c:v>
                </c:pt>
                <c:pt idx="8">
                  <c:v>1948</c:v>
                </c:pt>
                <c:pt idx="9">
                  <c:v>1949</c:v>
                </c:pt>
                <c:pt idx="10">
                  <c:v>1950</c:v>
                </c:pt>
                <c:pt idx="11">
                  <c:v>1951</c:v>
                </c:pt>
                <c:pt idx="12">
                  <c:v>1952</c:v>
                </c:pt>
                <c:pt idx="13">
                  <c:v>1953</c:v>
                </c:pt>
                <c:pt idx="14">
                  <c:v>1954</c:v>
                </c:pt>
                <c:pt idx="15">
                  <c:v>1955</c:v>
                </c:pt>
                <c:pt idx="16">
                  <c:v>1956</c:v>
                </c:pt>
                <c:pt idx="17">
                  <c:v>1957</c:v>
                </c:pt>
                <c:pt idx="18">
                  <c:v>1958</c:v>
                </c:pt>
                <c:pt idx="19">
                  <c:v>1959</c:v>
                </c:pt>
                <c:pt idx="20">
                  <c:v>1960</c:v>
                </c:pt>
                <c:pt idx="21">
                  <c:v>1961</c:v>
                </c:pt>
                <c:pt idx="22">
                  <c:v>1962</c:v>
                </c:pt>
                <c:pt idx="23">
                  <c:v>1963</c:v>
                </c:pt>
                <c:pt idx="24">
                  <c:v>1964</c:v>
                </c:pt>
                <c:pt idx="25">
                  <c:v>1965</c:v>
                </c:pt>
                <c:pt idx="26">
                  <c:v>1966</c:v>
                </c:pt>
                <c:pt idx="27">
                  <c:v>1967</c:v>
                </c:pt>
                <c:pt idx="28">
                  <c:v>1968</c:v>
                </c:pt>
                <c:pt idx="29">
                  <c:v>1969</c:v>
                </c:pt>
                <c:pt idx="30">
                  <c:v>1970</c:v>
                </c:pt>
                <c:pt idx="31">
                  <c:v>1971</c:v>
                </c:pt>
                <c:pt idx="32">
                  <c:v>1972</c:v>
                </c:pt>
                <c:pt idx="33">
                  <c:v>1973</c:v>
                </c:pt>
                <c:pt idx="34">
                  <c:v>1974</c:v>
                </c:pt>
                <c:pt idx="35">
                  <c:v>1975</c:v>
                </c:pt>
                <c:pt idx="36">
                  <c:v>1976</c:v>
                </c:pt>
                <c:pt idx="37">
                  <c:v>1977</c:v>
                </c:pt>
                <c:pt idx="38">
                  <c:v>1978</c:v>
                </c:pt>
                <c:pt idx="39">
                  <c:v>1979</c:v>
                </c:pt>
                <c:pt idx="40">
                  <c:v>1980</c:v>
                </c:pt>
                <c:pt idx="41">
                  <c:v>1981</c:v>
                </c:pt>
                <c:pt idx="42">
                  <c:v>1982</c:v>
                </c:pt>
                <c:pt idx="43">
                  <c:v>1983</c:v>
                </c:pt>
                <c:pt idx="44">
                  <c:v>1984</c:v>
                </c:pt>
              </c:strCache>
            </c:strRef>
          </c:cat>
          <c:val>
            <c:numRef>
              <c:f>Sheet1!$B$2:$B$46</c:f>
              <c:numCache>
                <c:formatCode>General</c:formatCode>
                <c:ptCount val="45"/>
                <c:pt idx="0">
                  <c:v>0.9150000214576721</c:v>
                </c:pt>
                <c:pt idx="1">
                  <c:v>0.890999972820282</c:v>
                </c:pt>
                <c:pt idx="2">
                  <c:v>0.8960000276565552</c:v>
                </c:pt>
                <c:pt idx="3">
                  <c:v>0.8880000114440918</c:v>
                </c:pt>
                <c:pt idx="4">
                  <c:v>0.8989999890327454</c:v>
                </c:pt>
                <c:pt idx="5">
                  <c:v>0.8640000224113464</c:v>
                </c:pt>
                <c:pt idx="6">
                  <c:v>0.8579999804496765</c:v>
                </c:pt>
                <c:pt idx="7">
                  <c:v>0.8399999737739563</c:v>
                </c:pt>
                <c:pt idx="8">
                  <c:v>0.8209999799728394</c:v>
                </c:pt>
                <c:pt idx="9">
                  <c:v>0.7960000038146973</c:v>
                </c:pt>
                <c:pt idx="10">
                  <c:v>0.7850000262260437</c:v>
                </c:pt>
                <c:pt idx="11">
                  <c:v>0.7839999794960022</c:v>
                </c:pt>
                <c:pt idx="12">
                  <c:v>0.7400000095367432</c:v>
                </c:pt>
                <c:pt idx="13">
                  <c:v>0.7080000042915344</c:v>
                </c:pt>
                <c:pt idx="14">
                  <c:v>0.6819999814033508</c:v>
                </c:pt>
                <c:pt idx="15">
                  <c:v>0.6959999799728394</c:v>
                </c:pt>
                <c:pt idx="16">
                  <c:v>0.6740000247955322</c:v>
                </c:pt>
                <c:pt idx="17">
                  <c:v>0.6729999780654907</c:v>
                </c:pt>
                <c:pt idx="18">
                  <c:v>0.6710000038146973</c:v>
                </c:pt>
                <c:pt idx="19">
                  <c:v>0.652999997138977</c:v>
                </c:pt>
                <c:pt idx="20">
                  <c:v>0.6230000257492065</c:v>
                </c:pt>
                <c:pt idx="21">
                  <c:v>0.6010000109672546</c:v>
                </c:pt>
                <c:pt idx="22">
                  <c:v>0.5830000042915344</c:v>
                </c:pt>
                <c:pt idx="23">
                  <c:v>0.5759999752044678</c:v>
                </c:pt>
                <c:pt idx="24">
                  <c:v>0.5649999976158142</c:v>
                </c:pt>
                <c:pt idx="25">
                  <c:v>0.5929999947547913</c:v>
                </c:pt>
                <c:pt idx="26">
                  <c:v>0.574999988079071</c:v>
                </c:pt>
                <c:pt idx="27">
                  <c:v>0.578000009059906</c:v>
                </c:pt>
                <c:pt idx="28">
                  <c:v>0.6010000109672546</c:v>
                </c:pt>
                <c:pt idx="29">
                  <c:v>0.593999981880188</c:v>
                </c:pt>
                <c:pt idx="30">
                  <c:v>0.6100000143051147</c:v>
                </c:pt>
                <c:pt idx="31">
                  <c:v>0.6119999885559082</c:v>
                </c:pt>
                <c:pt idx="32">
                  <c:v>0.6079999804496765</c:v>
                </c:pt>
                <c:pt idx="33">
                  <c:v>0.5989999771118164</c:v>
                </c:pt>
                <c:pt idx="34">
                  <c:v>0.5799999833106995</c:v>
                </c:pt>
                <c:pt idx="35">
                  <c:v>0.5860000252723694</c:v>
                </c:pt>
                <c:pt idx="36">
                  <c:v>0.5490000247955322</c:v>
                </c:pt>
                <c:pt idx="37">
                  <c:v>0.5659999847412109</c:v>
                </c:pt>
                <c:pt idx="38">
                  <c:v>0.5569999814033508</c:v>
                </c:pt>
                <c:pt idx="39">
                  <c:v>0.5429999828338623</c:v>
                </c:pt>
                <c:pt idx="40">
                  <c:v>0.5</c:v>
                </c:pt>
                <c:pt idx="41">
                  <c:v>0.5320000052452087</c:v>
                </c:pt>
                <c:pt idx="42">
                  <c:v>0.5429999828338623</c:v>
                </c:pt>
                <c:pt idx="43">
                  <c:v>0.5270000100135803</c:v>
                </c:pt>
                <c:pt idx="44">
                  <c:v>0.503000020980835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000000"/>
            </a:solidFill>
          </a:ln>
        </c:spPr>
        <c:crossAx val="2140495176"/>
        <c:crosses val="autoZero"/>
        <c:auto val="1"/>
        <c:lblAlgn val="ctr"/>
        <c:lblOffset val="100"/>
        <c:tickLblSkip val="4"/>
        <c:tickMarkSkip val="4"/>
        <c:noMultiLvlLbl val="0"/>
      </c:catAx>
      <c:valAx>
        <c:axId val="2140495176"/>
        <c:scaling>
          <c:max val="1.0"/>
          <c:min val="0.4"/>
        </c:scaling>
        <c:delete val="0"/>
        <c:axPos val="l"/>
        <c:majorGridlines>
          <c:spPr>
            <a:ln w="6350">
              <a:solidFill>
                <a:srgbClr val="D9D9D9"/>
              </a:solidFill>
            </a:ln>
          </c:spPr>
        </c:majorGridlines>
        <c:numFmt formatCode="0%" sourceLinked="0"/>
        <c:majorTickMark val="out"/>
        <c:minorTickMark val="none"/>
        <c:tickLblPos val="nextTo"/>
        <c:spPr>
          <a:ln>
            <a:noFill/>
          </a:ln>
        </c:spPr>
        <c:crossAx val="2118791784"/>
        <c:crosses val="autoZero"/>
        <c:majorUnit val="0.1"/>
      </c:valAx>
    </c:plotArea>
    <c:plotVisOnly val="1"/>
    <c:dispBlanksAs val="gap"/>
    <c:showDLblsOverMax val="0"/>
  </c:chart>
  <c:txPr>
    <a:bodyPr/>
    <a:lstStyle/>
    <a:p>
      <a:pPr>
        <a:defRPr sz="1200">
          <a:solidFill>
            <a:srgbClr val="000000"/>
          </a:solidFill>
          <a:latin typeface="Lato"/>
        </a:defRPr>
      </a:pPr>
      <a:endParaRPr lang="en-US"/>
    </a:p>
  </c:tx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Median weekly earnings</c:v>
                </c:pt>
              </c:strCache>
            </c:strRef>
          </c:tx>
          <c:spPr>
            <a:solidFill>
              <a:srgbClr val="000000"/>
            </a:solidFill>
          </c:spPr>
          <c:dPt>
            <c:idx val="4"/>
            <c:spPr>
              <a:solidFill>
                <a:srgbClr val="C8102E"/>
              </a:solidFill>
            </c:spPr>
          </c:dPt>
          <c:cat>
            <c:strRef>
              <c:f>Sheet1!$A$2:$A$9</c:f>
              <c:strCache>
                <c:ptCount val="8"/>
                <c:pt idx="0">
                  <c:v>Less than H.S.</c:v>
                </c:pt>
                <c:pt idx="1">
                  <c:v>High school</c:v>
                </c:pt>
                <c:pt idx="2">
                  <c:v>Some college</c:v>
                </c:pt>
                <c:pt idx="3">
                  <c:v>Associate</c:v>
                </c:pt>
                <c:pt idx="4">
                  <c:v>Bachelor’s</c:v>
                </c:pt>
                <c:pt idx="5">
                  <c:v>Master’s</c:v>
                </c:pt>
                <c:pt idx="6">
                  <c:v>Professional</c:v>
                </c:pt>
                <c:pt idx="7">
                  <c:v>Doctoral</c:v>
                </c:pt>
              </c:strCache>
            </c:strRef>
          </c:cat>
          <c:val>
            <c:numRef>
              <c:f>Sheet1!$B$2:$B$9</c:f>
              <c:numCache>
                <c:formatCode>General</c:formatCode>
                <c:ptCount val="8"/>
                <c:pt idx="0">
                  <c:v>770</c:v>
                </c:pt>
                <c:pt idx="1">
                  <c:v>966</c:v>
                </c:pt>
                <c:pt idx="2">
                  <c:v>1062</c:v>
                </c:pt>
                <c:pt idx="3">
                  <c:v>1135</c:v>
                </c:pt>
                <c:pt idx="4">
                  <c:v>1578</c:v>
                </c:pt>
                <c:pt idx="5">
                  <c:v>1876</c:v>
                </c:pt>
                <c:pt idx="6">
                  <c:v>2294</c:v>
                </c:pt>
                <c:pt idx="7">
                  <c:v>2307</c:v>
                </c:pt>
              </c:numCache>
            </c:numRef>
          </c:val>
        </c:ser>
        <c:dLbls>
          <c:numFmt formatCode="&quot;$&quot;#,##0" sourceLinked="0"/>
          <c:txPr>
            <a:bodyPr/>
            <a:lstStyle/>
            <a:p>
              <a:pPr>
                <a:defRPr sz="1100">
                  <a:latin typeface="Lato"/>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000000"/>
            </a:solidFill>
          </a:ln>
        </c:spPr>
        <c:txPr>
          <a:bodyPr/>
          <a:lstStyle/>
          <a:p>
            <a:pPr>
              <a:defRPr sz="1000"/>
            </a:pPr>
          </a:p>
        </c:txPr>
        <c:crossAx val="-2113994440"/>
        <c:crosses val="autoZero"/>
        <c:auto val="1"/>
        <c:lblAlgn val="ctr"/>
        <c:lblOffset val="100"/>
        <c:noMultiLvlLbl val="0"/>
      </c:catAx>
      <c:valAx>
        <c:axId val="-2113994440"/>
        <c:scaling>
          <c:max val="2600.0"/>
          <c:min val="0.0"/>
        </c:scaling>
        <c:delete val="0"/>
        <c:axPos val="l"/>
        <c:majorGridlines>
          <c:spPr>
            <a:ln w="6350">
              <a:solidFill>
                <a:srgbClr val="D9D9D9"/>
              </a:solidFill>
            </a:ln>
          </c:spPr>
        </c:majorGridlines>
        <c:numFmt formatCode="&quot;$&quot;#,##0" sourceLinked="0"/>
        <c:majorTickMark val="out"/>
        <c:minorTickMark val="none"/>
        <c:tickLblPos val="nextTo"/>
        <c:spPr>
          <a:ln>
            <a:noFill/>
          </a:ln>
        </c:spPr>
        <c:crossAx val="-2068027336"/>
        <c:crosses val="autoZero"/>
        <c:majorUnit val="500.0"/>
      </c:valAx>
    </c:plotArea>
    <c:dispBlanksAs val="gap"/>
  </c:chart>
  <c:txPr>
    <a:bodyPr/>
    <a:lstStyle/>
    <a:p>
      <a:pPr>
        <a:defRPr sz="1100">
          <a:solidFill>
            <a:srgbClr val="000000"/>
          </a:solidFill>
          <a:latin typeface="Lato"/>
        </a:defRPr>
      </a:pPr>
      <a:endParaRPr lang="en-US"/>
    </a:p>
  </c:tx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Unemployment rate</c:v>
                </c:pt>
              </c:strCache>
            </c:strRef>
          </c:tx>
          <c:spPr>
            <a:solidFill>
              <a:srgbClr val="C8102E"/>
            </a:solidFill>
          </c:spPr>
          <c:cat>
            <c:strRef>
              <c:f>Sheet1!$A$2:$A$9</c:f>
              <c:strCache>
                <c:ptCount val="8"/>
                <c:pt idx="0">
                  <c:v>Less than H.S.</c:v>
                </c:pt>
                <c:pt idx="1">
                  <c:v>High school</c:v>
                </c:pt>
                <c:pt idx="2">
                  <c:v>Some college</c:v>
                </c:pt>
                <c:pt idx="3">
                  <c:v>Associate</c:v>
                </c:pt>
                <c:pt idx="4">
                  <c:v>Bachelor’s</c:v>
                </c:pt>
                <c:pt idx="5">
                  <c:v>Master’s</c:v>
                </c:pt>
                <c:pt idx="6">
                  <c:v>Professional</c:v>
                </c:pt>
                <c:pt idx="7">
                  <c:v>Doctoral</c:v>
                </c:pt>
              </c:strCache>
            </c:strRef>
          </c:cat>
          <c:val>
            <c:numRef>
              <c:f>Sheet1!$B$2:$B$9</c:f>
              <c:numCache>
                <c:formatCode>General</c:formatCode>
                <c:ptCount val="8"/>
                <c:pt idx="0">
                  <c:v>0.061</c:v>
                </c:pt>
                <c:pt idx="1">
                  <c:v>0.043</c:v>
                </c:pt>
                <c:pt idx="2">
                  <c:v>0.038</c:v>
                </c:pt>
                <c:pt idx="3">
                  <c:v>0.03</c:v>
                </c:pt>
                <c:pt idx="4">
                  <c:v>0.028</c:v>
                </c:pt>
                <c:pt idx="5">
                  <c:v>0.026</c:v>
                </c:pt>
                <c:pt idx="6">
                  <c:v>0.019</c:v>
                </c:pt>
                <c:pt idx="7">
                  <c:v>0.018</c:v>
                </c:pt>
              </c:numCache>
            </c:numRef>
          </c:val>
        </c:ser>
        <c:dLbls>
          <c:numFmt formatCode="0.0%" sourceLinked="0"/>
          <c:txPr>
            <a:bodyPr/>
            <a:lstStyle/>
            <a:p>
              <a:pPr>
                <a:defRPr sz="1000">
                  <a:latin typeface="Lato"/>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000000"/>
            </a:solidFill>
          </a:ln>
        </c:spPr>
        <c:txPr>
          <a:bodyPr/>
          <a:lstStyle/>
          <a:p>
            <a:pPr>
              <a:defRPr sz="1000"/>
            </a:pPr>
          </a:p>
        </c:txPr>
        <c:crossAx val="-2113994440"/>
        <c:crosses val="autoZero"/>
        <c:auto val="1"/>
        <c:lblAlgn val="ctr"/>
        <c:lblOffset val="100"/>
        <c:noMultiLvlLbl val="0"/>
      </c:catAx>
      <c:valAx>
        <c:axId val="-2113994440"/>
        <c:scaling>
          <c:max val="0.07"/>
          <c:min val="0.0"/>
        </c:scaling>
        <c:delete val="0"/>
        <c:axPos val="b"/>
        <c:majorGridlines>
          <c:spPr>
            <a:ln w="6350">
              <a:solidFill>
                <a:srgbClr val="D9D9D9"/>
              </a:solidFill>
            </a:ln>
          </c:spPr>
        </c:majorGridlines>
        <c:numFmt formatCode="0.0%" sourceLinked="0"/>
        <c:majorTickMark val="out"/>
        <c:minorTickMark val="none"/>
        <c:tickLblPos val="high"/>
        <c:spPr>
          <a:ln>
            <a:noFill/>
          </a:ln>
        </c:spPr>
        <c:crossAx val="-2068027336"/>
        <c:crosses val="autoZero"/>
        <c:majorUnit val="0.02"/>
      </c:valAx>
    </c:plotArea>
    <c:dispBlanksAs val="gap"/>
  </c:chart>
  <c:txPr>
    <a:bodyPr/>
    <a:lstStyle/>
    <a:p>
      <a:pPr>
        <a:defRPr sz="1100">
          <a:solidFill>
            <a:srgbClr val="000000"/>
          </a:solidFill>
          <a:latin typeface="Lato"/>
        </a:defRPr>
      </a:pPr>
      <a:endParaRPr lang="en-US"/>
    </a:p>
  </c:tx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billion</c:v>
                </c:pt>
              </c:strCache>
            </c:strRef>
          </c:tx>
          <c:spPr>
            <a:solidFill>
              <a:srgbClr val="8C8C8C"/>
            </a:solidFill>
          </c:spPr>
          <c:dPt>
            <c:idx val="15"/>
            <c:spPr>
              <a:solidFill>
                <a:srgbClr val="C8102E"/>
              </a:solidFill>
            </c:spPr>
          </c:dPt>
          <c:dPt>
            <c:idx val="26"/>
            <c:spPr>
              <a:solidFill>
                <a:srgbClr val="C8102E"/>
              </a:solidFill>
            </c:spPr>
          </c:dPt>
          <c:dLbls>
            <c:dLbl>
              <c:idx val="4"/>
              <c:tx>
                <c:rich>
                  <a:bodyPr/>
                  <a:lstStyle/>
                  <a:p>
                    <a:r>
                      <a:rPr sz="900" b="0">
                        <a:solidFill>
                          <a:srgbClr val="000000"/>
                        </a:solidFill>
                        <a:latin typeface="Lato"/>
                      </a:rPr>
                      <a:t>$109.4</a:t>
                    </a:r>
                  </a:p>
                </c:rich>
              </c:tx>
              <c:dLblPos val="outEnd"/>
              <c:showLegendKey val="0"/>
              <c:showVal val="1"/>
              <c:showCatName val="0"/>
              <c:showSerName val="0"/>
              <c:showPercent val="0"/>
              <c:showBubbleSize val="0"/>
            </c:dLbl>
            <c:dLbl>
              <c:idx val="9"/>
              <c:tx>
                <c:rich>
                  <a:bodyPr/>
                  <a:lstStyle/>
                  <a:p>
                    <a:r>
                      <a:rPr sz="900" b="0">
                        <a:solidFill>
                          <a:srgbClr val="000000"/>
                        </a:solidFill>
                        <a:latin typeface="Lato"/>
                      </a:rPr>
                      <a:t>$78.7</a:t>
                    </a:r>
                  </a:p>
                </c:rich>
              </c:tx>
              <c:dLblPos val="outEnd"/>
              <c:showLegendKey val="0"/>
              <c:showVal val="1"/>
              <c:showCatName val="0"/>
              <c:showSerName val="0"/>
              <c:showPercent val="0"/>
              <c:showBubbleSize val="0"/>
            </c:dLbl>
            <c:dLbl>
              <c:idx val="15"/>
              <c:tx>
                <c:rich>
                  <a:bodyPr/>
                  <a:lstStyle/>
                  <a:p>
                    <a:r>
                      <a:rPr sz="900" b="1">
                        <a:solidFill>
                          <a:srgbClr val="C8102E"/>
                        </a:solidFill>
                        <a:latin typeface="Lato"/>
                      </a:rPr>
                      <a:t>$47.5</a:t>
                    </a:r>
                  </a:p>
                </c:rich>
              </c:tx>
              <c:dLblPos val="outEnd"/>
              <c:showLegendKey val="0"/>
              <c:showVal val="1"/>
              <c:showCatName val="0"/>
              <c:showSerName val="0"/>
              <c:showPercent val="0"/>
              <c:showBubbleSize val="0"/>
            </c:dLbl>
            <c:dLbl>
              <c:idx val="26"/>
              <c:tx>
                <c:rich>
                  <a:bodyPr/>
                  <a:lstStyle/>
                  <a:p>
                    <a:r>
                      <a:rPr sz="900" b="1">
                        <a:solidFill>
                          <a:srgbClr val="C8102E"/>
                        </a:solidFill>
                        <a:latin typeface="Lato"/>
                      </a:rPr>
                      <a:t>$8.75</a:t>
                    </a:r>
                  </a:p>
                </c:rich>
              </c:tx>
              <c:dLblPos val="outEnd"/>
              <c:showLegendKey val="0"/>
              <c:showVal val="1"/>
              <c:showCatName val="0"/>
              <c:showSerName val="0"/>
              <c:showPercent val="0"/>
              <c:showBubbleSize val="0"/>
            </c:dLbl>
            <c:dLbl>
              <c:idx val="27"/>
              <c:tx>
                <c:rich>
                  <a:bodyPr/>
                  <a:lstStyle/>
                  <a:p>
                    <a:r>
                      <a:rPr sz="900" b="0">
                        <a:solidFill>
                          <a:srgbClr val="000000"/>
                        </a:solidFill>
                        <a:latin typeface="Lato"/>
                      </a:rPr>
                      <a:t>$7.3</a:t>
                    </a:r>
                  </a:p>
                </c:rich>
              </c:tx>
              <c:dLblPos val="outEnd"/>
              <c:showLegendKey val="0"/>
              <c:showVal val="1"/>
              <c:showCatName val="0"/>
              <c:showSerName val="0"/>
              <c:showPercent val="0"/>
              <c:showBubbleSize val="0"/>
            </c:dLbl>
            <c:dLbl>
              <c:idx val="28"/>
              <c:tx>
                <c:rich>
                  <a:bodyPr/>
                  <a:lstStyle/>
                  <a:p>
                    <a:r>
                      <a:rPr sz="900" b="0">
                        <a:solidFill>
                          <a:srgbClr val="000000"/>
                        </a:solidFill>
                        <a:latin typeface="Lato"/>
                      </a:rPr>
                      <a:t>$3.1</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Sheet1!$A$2:$A$32</c:f>
              <c:strCache>
                <c:ptCount val="31"/>
                <c:pt idx="0">
                  <c:v>Wine and Spirits</c:v>
                </c:pt>
                <c:pt idx="1">
                  <c:v>Pet care (2025)</c:v>
                </c:pt>
                <c:pt idx="2">
                  <c:v>Beer</c:v>
                </c:pt>
                <c:pt idx="3">
                  <c:v>Soft drinks</c:v>
                </c:pt>
                <c:pt idx="4">
                  <c:v>Lottery tickets (FY2025)</c:v>
                </c:pt>
                <c:pt idx="5">
                  <c:v>Tobacco</c:v>
                </c:pt>
                <c:pt idx="6">
                  <c:v>Bottled water</c:v>
                </c:pt>
                <c:pt idx="7">
                  <c:v>Beauty and personal care</c:v>
                </c:pt>
                <c:pt idx="8">
                  <c:v>Coffee</c:v>
                </c:pt>
                <c:pt idx="9">
                  <c:v>Gambling, non-lottery (2025)</c:v>
                </c:pt>
                <c:pt idx="10">
                  <c:v>Video games</c:v>
                </c:pt>
                <c:pt idx="11">
                  <c:v>Child care</c:v>
                </c:pt>
                <c:pt idx="12">
                  <c:v>Lawn care</c:v>
                </c:pt>
                <c:pt idx="13">
                  <c:v>Sporting events</c:v>
                </c:pt>
                <c:pt idx="14">
                  <c:v>Pizza</c:v>
                </c:pt>
                <c:pt idx="15">
                  <c:v>NIH (FY2026)</c:v>
                </c:pt>
                <c:pt idx="16">
                  <c:v>Legal Marijuana</c:v>
                </c:pt>
                <c:pt idx="17">
                  <c:v>Chocolate</c:v>
                </c:pt>
                <c:pt idx="18">
                  <c:v>Movies</c:v>
                </c:pt>
                <c:pt idx="19">
                  <c:v>Taco Bell</c:v>
                </c:pt>
                <c:pt idx="20">
                  <c:v>Credit card late fees</c:v>
                </c:pt>
                <c:pt idx="21">
                  <c:v>Concerts</c:v>
                </c:pt>
                <c:pt idx="22">
                  <c:v>Overdraft fees</c:v>
                </c:pt>
                <c:pt idx="23">
                  <c:v>Potato chips</c:v>
                </c:pt>
                <c:pt idx="24">
                  <c:v>Aesthetic cosmetic surgery</c:v>
                </c:pt>
                <c:pt idx="25">
                  <c:v>Perfume</c:v>
                </c:pt>
                <c:pt idx="26">
                  <c:v>NSF (FY2026)</c:v>
                </c:pt>
                <c:pt idx="27">
                  <c:v>Baggage fees (2024)</c:v>
                </c:pt>
                <c:pt idx="28">
                  <c:v>Valentine's flowers (2026)</c:v>
                </c:pt>
                <c:pt idx="29">
                  <c:v>Tattoos</c:v>
                </c:pt>
                <c:pt idx="30">
                  <c:v>Twinkies</c:v>
                </c:pt>
              </c:strCache>
            </c:strRef>
          </c:cat>
          <c:val>
            <c:numRef>
              <c:f>Sheet1!$B$2:$B$32</c:f>
              <c:numCache>
                <c:formatCode>General</c:formatCode>
                <c:ptCount val="31"/>
                <c:pt idx="0">
                  <c:v>159.4</c:v>
                </c:pt>
                <c:pt idx="1">
                  <c:v>158.0</c:v>
                </c:pt>
                <c:pt idx="2">
                  <c:v>129.3</c:v>
                </c:pt>
                <c:pt idx="3">
                  <c:v>109.5</c:v>
                </c:pt>
                <c:pt idx="4">
                  <c:v>109.4</c:v>
                </c:pt>
                <c:pt idx="5">
                  <c:v>107.5</c:v>
                </c:pt>
                <c:pt idx="6">
                  <c:v>98.5</c:v>
                </c:pt>
                <c:pt idx="7">
                  <c:v>91.4</c:v>
                </c:pt>
                <c:pt idx="8">
                  <c:v>88.6</c:v>
                </c:pt>
                <c:pt idx="9">
                  <c:v>78.7</c:v>
                </c:pt>
                <c:pt idx="10">
                  <c:v>78.0</c:v>
                </c:pt>
                <c:pt idx="11">
                  <c:v>62.0</c:v>
                </c:pt>
                <c:pt idx="12">
                  <c:v>59.0</c:v>
                </c:pt>
                <c:pt idx="13">
                  <c:v>49.8</c:v>
                </c:pt>
                <c:pt idx="14">
                  <c:v>49.0</c:v>
                </c:pt>
                <c:pt idx="15">
                  <c:v>47.5</c:v>
                </c:pt>
                <c:pt idx="16">
                  <c:v>35.6</c:v>
                </c:pt>
                <c:pt idx="17">
                  <c:v>23.2</c:v>
                </c:pt>
                <c:pt idx="18">
                  <c:v>22.0</c:v>
                </c:pt>
                <c:pt idx="19">
                  <c:v>16.0</c:v>
                </c:pt>
                <c:pt idx="20">
                  <c:v>15.0</c:v>
                </c:pt>
                <c:pt idx="21">
                  <c:v>13.9</c:v>
                </c:pt>
                <c:pt idx="22">
                  <c:v>12.0</c:v>
                </c:pt>
                <c:pt idx="23">
                  <c:v>10.2</c:v>
                </c:pt>
                <c:pt idx="24">
                  <c:v>9.0</c:v>
                </c:pt>
                <c:pt idx="25">
                  <c:v>8.9</c:v>
                </c:pt>
                <c:pt idx="26">
                  <c:v>8.75</c:v>
                </c:pt>
                <c:pt idx="27">
                  <c:v>7.3</c:v>
                </c:pt>
                <c:pt idx="28">
                  <c:v>3.1</c:v>
                </c:pt>
                <c:pt idx="29">
                  <c:v>2.0</c:v>
                </c:pt>
                <c:pt idx="30">
                  <c:v>1.0</c:v>
                </c:pt>
              </c:numCache>
            </c:numRef>
          </c:val>
        </c:ser>
        <c:dLbls>
          <c:numFmt formatCode="&quot;$&quot;0" sourceLinked="0"/>
          <c:txPr>
            <a:bodyPr/>
            <a:lstStyle/>
            <a:p>
              <a:pPr>
                <a:defRPr sz="900">
                  <a:latin typeface="Lato"/>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axMin"/>
        </c:scaling>
        <c:delete val="0"/>
        <c:axPos val="l"/>
        <c:majorTickMark val="out"/>
        <c:minorTickMark val="none"/>
        <c:tickLblPos val="nextTo"/>
        <c:spPr>
          <a:ln>
            <a:solidFill>
              <a:srgbClr val="000000"/>
            </a:solidFill>
          </a:ln>
        </c:spPr>
        <c:txPr>
          <a:bodyPr/>
          <a:lstStyle/>
          <a:p>
            <a:pPr>
              <a:defRPr sz="800"/>
            </a:pPr>
          </a:p>
        </c:txPr>
        <c:crossAx val="-2113994440"/>
        <c:crosses val="autoZero"/>
        <c:auto val="1"/>
        <c:lblAlgn val="ctr"/>
        <c:lblOffset val="100"/>
        <c:tickLblSkip val="1"/>
        <c:tickMarkSkip val="1"/>
        <c:noMultiLvlLbl val="0"/>
      </c:catAx>
      <c:valAx>
        <c:axId val="-2113994440"/>
        <c:scaling>
          <c:max val="180.0"/>
          <c:min val="0.0"/>
        </c:scaling>
        <c:delete val="0"/>
        <c:axPos val="b"/>
        <c:majorGridlines>
          <c:spPr>
            <a:ln w="6350">
              <a:solidFill>
                <a:srgbClr val="D9D9D9"/>
              </a:solidFill>
            </a:ln>
          </c:spPr>
        </c:majorGridlines>
        <c:numFmt formatCode="&quot;$&quot;0" sourceLinked="0"/>
        <c:majorTickMark val="out"/>
        <c:minorTickMark val="none"/>
        <c:tickLblPos val="high"/>
        <c:spPr>
          <a:ln>
            <a:noFill/>
          </a:ln>
        </c:spPr>
        <c:crossAx val="-2068027336"/>
        <c:crosses val="autoZero"/>
        <c:majorUnit val="20.0"/>
      </c:valAx>
    </c:plotArea>
    <c:dispBlanksAs val="gap"/>
  </c:chart>
  <c:txPr>
    <a:bodyPr/>
    <a:lstStyle/>
    <a:p>
      <a:pPr>
        <a:defRPr sz="800">
          <a:solidFill>
            <a:srgbClr val="000000"/>
          </a:solidFill>
          <a:latin typeface="Lato"/>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0.48637</cdr:x>
      <cdr:y>0.32404</cdr:y>
    </cdr:from>
    <cdr:to>
      <cdr:x>0.54789</cdr:x>
      <cdr:y>0.3665</cdr:y>
    </cdr:to>
    <cdr:sp macro="" textlink="">
      <cdr:nvSpPr>
        <cdr:cNvPr id="2" name="TextBox 1">
          <a:extLst xmlns:a="http://schemas.openxmlformats.org/drawingml/2006/main">
            <a:ext uri="{FF2B5EF4-FFF2-40B4-BE49-F238E27FC236}">
              <a16:creationId xmlns:a16="http://schemas.microsoft.com/office/drawing/2014/main" id="{7CF0E169-B464-95FD-FF32-918DFBB8D3DF}"/>
            </a:ext>
          </a:extLst>
        </cdr:cNvPr>
        <cdr:cNvSpPr txBox="1"/>
      </cdr:nvSpPr>
      <cdr:spPr>
        <a:xfrm xmlns:a="http://schemas.openxmlformats.org/drawingml/2006/main">
          <a:off x="5107460" y="1830910"/>
          <a:ext cx="646064" cy="23990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solidFill>
                <a:schemeClr val="tx1"/>
              </a:solidFill>
            </a:rPr>
            <a:t>Budget</a:t>
          </a:r>
        </a:p>
      </cdr:txBody>
    </cdr:sp>
  </cdr:relSizeAnchor>
  <cdr:relSizeAnchor xmlns:cdr="http://schemas.openxmlformats.org/drawingml/2006/chartDrawing">
    <cdr:from>
      <cdr:x>0.65325</cdr:x>
      <cdr:y>0.579</cdr:y>
    </cdr:from>
    <cdr:to>
      <cdr:x>0.6761</cdr:x>
      <cdr:y>0.62146</cdr:y>
    </cdr:to>
    <cdr:sp macro="" textlink="">
      <cdr:nvSpPr>
        <cdr:cNvPr id="3" name="5-Point Star 10">
          <a:extLst xmlns:a="http://schemas.openxmlformats.org/drawingml/2006/main">
            <a:ext uri="{FF2B5EF4-FFF2-40B4-BE49-F238E27FC236}">
              <a16:creationId xmlns:a16="http://schemas.microsoft.com/office/drawing/2014/main" id="{2DE7672D-32CC-A9B2-F305-64E63328C0A5}"/>
            </a:ext>
          </a:extLst>
        </cdr:cNvPr>
        <cdr:cNvSpPr/>
      </cdr:nvSpPr>
      <cdr:spPr>
        <a:xfrm xmlns:a="http://schemas.openxmlformats.org/drawingml/2006/main">
          <a:off x="6859942" y="3271509"/>
          <a:ext cx="239902" cy="239902"/>
        </a:xfrm>
        <a:prstGeom xmlns:a="http://schemas.openxmlformats.org/drawingml/2006/main" prst="star5">
          <a:avLst/>
        </a:prstGeom>
        <a:solidFill xmlns:a="http://schemas.openxmlformats.org/drawingml/2006/main">
          <a:schemeClr val="tx1"/>
        </a:solidFill>
        <a:ln xmlns:a="http://schemas.openxmlformats.org/drawingml/2006/main">
          <a:solidFill>
            <a:schemeClr val="tx1"/>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relSizeAnchor>
  <cdr:relSizeAnchor xmlns:cdr="http://schemas.openxmlformats.org/drawingml/2006/chartDrawing">
    <cdr:from>
      <cdr:x>0.63693</cdr:x>
      <cdr:y>0.55312</cdr:y>
    </cdr:from>
    <cdr:to>
      <cdr:x>0.69845</cdr:x>
      <cdr:y>0.59558</cdr:y>
    </cdr:to>
    <cdr:sp macro="" textlink="">
      <cdr:nvSpPr>
        <cdr:cNvPr id="4" name="TextBox 1">
          <a:extLst xmlns:a="http://schemas.openxmlformats.org/drawingml/2006/main">
            <a:ext uri="{FF2B5EF4-FFF2-40B4-BE49-F238E27FC236}">
              <a16:creationId xmlns:a16="http://schemas.microsoft.com/office/drawing/2014/main" id="{1084D55E-3910-22A1-E41C-A2F78A840AE6}"/>
            </a:ext>
          </a:extLst>
        </cdr:cNvPr>
        <cdr:cNvSpPr txBox="1"/>
      </cdr:nvSpPr>
      <cdr:spPr>
        <a:xfrm xmlns:a="http://schemas.openxmlformats.org/drawingml/2006/main">
          <a:off x="6688481" y="3125283"/>
          <a:ext cx="646032" cy="239910"/>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100" kern="1200" dirty="0">
              <a:solidFill>
                <a:schemeClr val="tx1"/>
              </a:solidFill>
            </a:rPr>
            <a:t>Budget</a:t>
          </a:r>
        </a:p>
      </cdr:txBody>
    </cdr:sp>
  </cdr:relSizeAnchor>
  <cdr:relSizeAnchor xmlns:cdr="http://schemas.openxmlformats.org/drawingml/2006/chartDrawing">
    <cdr:from>
      <cdr:x>0.62765</cdr:x>
      <cdr:y>0.68222</cdr:y>
    </cdr:from>
    <cdr:to>
      <cdr:x>0.71398</cdr:x>
      <cdr:y>0.73125</cdr:y>
    </cdr:to>
    <cdr:sp macro="" textlink="">
      <cdr:nvSpPr>
        <cdr:cNvPr id="6" name="TextBox 1">
          <a:extLst xmlns:a="http://schemas.openxmlformats.org/drawingml/2006/main">
            <a:ext uri="{FF2B5EF4-FFF2-40B4-BE49-F238E27FC236}">
              <a16:creationId xmlns:a16="http://schemas.microsoft.com/office/drawing/2014/main" id="{ED36EBDD-94C9-DCD6-FF6E-4F757D688BC1}"/>
            </a:ext>
          </a:extLst>
        </cdr:cNvPr>
        <cdr:cNvSpPr txBox="1"/>
      </cdr:nvSpPr>
      <cdr:spPr>
        <a:xfrm xmlns:a="http://schemas.openxmlformats.org/drawingml/2006/main">
          <a:off x="6591042" y="3854734"/>
          <a:ext cx="906566" cy="276999"/>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kern="1200" dirty="0" err="1">
              <a:solidFill>
                <a:srgbClr val="156082"/>
              </a:solidFill>
            </a:rPr>
            <a:t>Proj</a:t>
          </a:r>
          <a:r>
            <a:rPr lang="en-US" kern="1200" dirty="0">
              <a:solidFill>
                <a:srgbClr val="156082"/>
              </a:solidFill>
            </a:rPr>
            <a:t> Actual</a:t>
          </a:r>
          <a:endParaRPr lang="en-US" sz="1100" kern="1200" dirty="0">
            <a:solidFill>
              <a:srgbClr val="156082"/>
            </a:solidFill>
          </a:endParaRPr>
        </a:p>
      </cdr:txBody>
    </cdr:sp>
  </cdr:relSizeAnchor>
  <cdr:relSizeAnchor xmlns:cdr="http://schemas.openxmlformats.org/drawingml/2006/chartDrawing">
    <cdr:from>
      <cdr:x>0.65671</cdr:x>
      <cdr:y>0.65195</cdr:y>
    </cdr:from>
    <cdr:to>
      <cdr:x>0.67264</cdr:x>
      <cdr:y>0.68154</cdr:y>
    </cdr:to>
    <cdr:sp macro="" textlink="">
      <cdr:nvSpPr>
        <cdr:cNvPr id="8" name="Oval 7">
          <a:extLst xmlns:a="http://schemas.openxmlformats.org/drawingml/2006/main">
            <a:ext uri="{FF2B5EF4-FFF2-40B4-BE49-F238E27FC236}">
              <a16:creationId xmlns:a16="http://schemas.microsoft.com/office/drawing/2014/main" id="{00A3B053-A02B-724A-9E90-9C6FE0F207D7}"/>
            </a:ext>
          </a:extLst>
        </cdr:cNvPr>
        <cdr:cNvSpPr/>
      </cdr:nvSpPr>
      <cdr:spPr>
        <a:xfrm xmlns:a="http://schemas.openxmlformats.org/drawingml/2006/main">
          <a:off x="6896281" y="3683656"/>
          <a:ext cx="167223" cy="167223"/>
        </a:xfrm>
        <a:prstGeom xmlns:a="http://schemas.openxmlformats.org/drawingml/2006/main" prst="ellipse">
          <a:avLst/>
        </a:prstGeom>
        <a:ln xmlns:a="http://schemas.openxmlformats.org/drawingml/2006/main">
          <a:solidFill>
            <a:srgbClr val="156082"/>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42900"/>
          </a:xfrm>
          <a:prstGeom prst="rect">
            <a:avLst/>
          </a:prstGeom>
        </p:spPr>
        <p:txBody>
          <a:bodyPr vert="horz" lIns="91440" tIns="45720" rIns="91440" bIns="45720" rtlCol="0"/>
          <a:lstStyle>
            <a:lvl1pPr algn="l">
              <a:defRPr sz="1200" b="0" i="0">
                <a:latin typeface="Montserrat Light" charset="0"/>
              </a:defRPr>
            </a:lvl1pPr>
          </a:lstStyle>
          <a:p>
            <a:endParaRPr lang="en-US" dirty="0"/>
          </a:p>
        </p:txBody>
      </p:sp>
      <p:sp>
        <p:nvSpPr>
          <p:cNvPr id="3" name="Date Placeholder 2"/>
          <p:cNvSpPr>
            <a:spLocks noGrp="1"/>
          </p:cNvSpPr>
          <p:nvPr>
            <p:ph type="dt" idx="1"/>
          </p:nvPr>
        </p:nvSpPr>
        <p:spPr>
          <a:xfrm>
            <a:off x="5265809" y="0"/>
            <a:ext cx="4028440" cy="342900"/>
          </a:xfrm>
          <a:prstGeom prst="rect">
            <a:avLst/>
          </a:prstGeom>
        </p:spPr>
        <p:txBody>
          <a:bodyPr vert="horz" lIns="91440" tIns="45720" rIns="91440" bIns="45720" rtlCol="0"/>
          <a:lstStyle>
            <a:lvl1pPr algn="r">
              <a:defRPr sz="1200" b="0" i="0">
                <a:latin typeface="Montserrat Light" charset="0"/>
              </a:defRPr>
            </a:lvl1pPr>
          </a:lstStyle>
          <a:p>
            <a:fld id="{EFC10EE1-B198-C942-8235-326C972CBB30}" type="datetimeFigureOut">
              <a:rPr lang="en-US" smtClean="0"/>
              <a:pPr/>
              <a:t>9/29/2026</a:t>
            </a:fld>
            <a:endParaRPr lang="en-US" dirty="0"/>
          </a:p>
        </p:txBody>
      </p:sp>
      <p:sp>
        <p:nvSpPr>
          <p:cNvPr id="4" name="Slide Image Placeholder 3"/>
          <p:cNvSpPr>
            <a:spLocks noGrp="1" noRot="1" noChangeAspect="1"/>
          </p:cNvSpPr>
          <p:nvPr>
            <p:ph type="sldImg" idx="2"/>
          </p:nvPr>
        </p:nvSpPr>
        <p:spPr>
          <a:xfrm>
            <a:off x="2362200" y="514350"/>
            <a:ext cx="4572000" cy="25717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29640" y="3257551"/>
            <a:ext cx="743712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4028440" cy="342900"/>
          </a:xfrm>
          <a:prstGeom prst="rect">
            <a:avLst/>
          </a:prstGeom>
        </p:spPr>
        <p:txBody>
          <a:bodyPr vert="horz" lIns="91440" tIns="45720" rIns="91440" bIns="45720" rtlCol="0" anchor="b"/>
          <a:lstStyle>
            <a:lvl1pPr algn="l">
              <a:defRPr sz="1200" b="0" i="0">
                <a:latin typeface="Montserrat Light" charset="0"/>
              </a:defRPr>
            </a:lvl1pPr>
          </a:lstStyle>
          <a:p>
            <a:endParaRPr lang="en-US" dirty="0"/>
          </a:p>
        </p:txBody>
      </p:sp>
      <p:sp>
        <p:nvSpPr>
          <p:cNvPr id="7" name="Slide Number Placeholder 6"/>
          <p:cNvSpPr>
            <a:spLocks noGrp="1"/>
          </p:cNvSpPr>
          <p:nvPr>
            <p:ph type="sldNum" sz="quarter" idx="5"/>
          </p:nvPr>
        </p:nvSpPr>
        <p:spPr>
          <a:xfrm>
            <a:off x="5265809" y="6513910"/>
            <a:ext cx="4028440" cy="342900"/>
          </a:xfrm>
          <a:prstGeom prst="rect">
            <a:avLst/>
          </a:prstGeom>
        </p:spPr>
        <p:txBody>
          <a:bodyPr vert="horz" lIns="91440" tIns="45720" rIns="91440" bIns="45720" rtlCol="0" anchor="b"/>
          <a:lstStyle>
            <a:lvl1pPr algn="r">
              <a:defRPr sz="1200" b="0" i="0">
                <a:latin typeface="Montserrat Light" charset="0"/>
              </a:defRPr>
            </a:lvl1pPr>
          </a:lstStyle>
          <a:p>
            <a:fld id="{006BE02D-20C0-F840-AFAC-BEA99C74FDC2}" type="slidenum">
              <a:rPr lang="en-US" smtClean="0"/>
              <a:pPr/>
              <a:t>‹#›</a:t>
            </a:fld>
            <a:endParaRPr lang="en-US" dirty="0"/>
          </a:p>
        </p:txBody>
      </p:sp>
    </p:spTree>
    <p:extLst>
      <p:ext uri="{BB962C8B-B14F-4D97-AF65-F5344CB8AC3E}">
        <p14:creationId xmlns:p14="http://schemas.microsoft.com/office/powerpoint/2010/main" val="3463289142"/>
      </p:ext>
    </p:extLst>
  </p:cSld>
  <p:clrMap bg1="lt1" tx1="dk1" bg2="lt2" tx2="dk2" accent1="accent1" accent2="accent2" accent3="accent3" accent4="accent4" accent5="accent5" accent6="accent6" hlink="hlink" folHlink="folHlink"/>
  <p:notesStyle>
    <a:lvl1pPr marL="0" algn="l" defTabSz="457109" rtl="0" eaLnBrk="1" latinLnBrk="0" hangingPunct="1">
      <a:defRPr sz="1200" b="0" i="0" kern="1200">
        <a:solidFill>
          <a:schemeClr val="tx1"/>
        </a:solidFill>
        <a:latin typeface="Montserrat Light" charset="0"/>
        <a:ea typeface="+mn-ea"/>
        <a:cs typeface="+mn-cs"/>
      </a:defRPr>
    </a:lvl1pPr>
    <a:lvl2pPr marL="457109" algn="l" defTabSz="457109" rtl="0" eaLnBrk="1" latinLnBrk="0" hangingPunct="1">
      <a:defRPr sz="1200" b="0" i="0" kern="1200">
        <a:solidFill>
          <a:schemeClr val="tx1"/>
        </a:solidFill>
        <a:latin typeface="Montserrat Light" charset="0"/>
        <a:ea typeface="+mn-ea"/>
        <a:cs typeface="+mn-cs"/>
      </a:defRPr>
    </a:lvl2pPr>
    <a:lvl3pPr marL="914217" algn="l" defTabSz="457109" rtl="0" eaLnBrk="1" latinLnBrk="0" hangingPunct="1">
      <a:defRPr sz="1200" b="0" i="0" kern="1200">
        <a:solidFill>
          <a:schemeClr val="tx1"/>
        </a:solidFill>
        <a:latin typeface="Montserrat Light" charset="0"/>
        <a:ea typeface="+mn-ea"/>
        <a:cs typeface="+mn-cs"/>
      </a:defRPr>
    </a:lvl3pPr>
    <a:lvl4pPr marL="1371326" algn="l" defTabSz="457109" rtl="0" eaLnBrk="1" latinLnBrk="0" hangingPunct="1">
      <a:defRPr sz="1200" b="0" i="0" kern="1200">
        <a:solidFill>
          <a:schemeClr val="tx1"/>
        </a:solidFill>
        <a:latin typeface="Montserrat Light" charset="0"/>
        <a:ea typeface="+mn-ea"/>
        <a:cs typeface="+mn-cs"/>
      </a:defRPr>
    </a:lvl4pPr>
    <a:lvl5pPr marL="1828434" algn="l" defTabSz="457109" rtl="0" eaLnBrk="1" latinLnBrk="0" hangingPunct="1">
      <a:defRPr sz="1200" b="0" i="0" kern="1200">
        <a:solidFill>
          <a:schemeClr val="tx1"/>
        </a:solidFill>
        <a:latin typeface="Montserrat Light" charset="0"/>
        <a:ea typeface="+mn-ea"/>
        <a:cs typeface="+mn-cs"/>
      </a:defRPr>
    </a:lvl5pPr>
    <a:lvl6pPr marL="2285543" algn="l" defTabSz="457109" rtl="0" eaLnBrk="1" latinLnBrk="0" hangingPunct="1">
      <a:defRPr sz="1200" kern="1200">
        <a:solidFill>
          <a:schemeClr val="tx1"/>
        </a:solidFill>
        <a:latin typeface="+mn-lt"/>
        <a:ea typeface="+mn-ea"/>
        <a:cs typeface="+mn-cs"/>
      </a:defRPr>
    </a:lvl6pPr>
    <a:lvl7pPr marL="2742652" algn="l" defTabSz="457109" rtl="0" eaLnBrk="1" latinLnBrk="0" hangingPunct="1">
      <a:defRPr sz="1200" kern="1200">
        <a:solidFill>
          <a:schemeClr val="tx1"/>
        </a:solidFill>
        <a:latin typeface="+mn-lt"/>
        <a:ea typeface="+mn-ea"/>
        <a:cs typeface="+mn-cs"/>
      </a:defRPr>
    </a:lvl7pPr>
    <a:lvl8pPr marL="3199760" algn="l" defTabSz="457109" rtl="0" eaLnBrk="1" latinLnBrk="0" hangingPunct="1">
      <a:defRPr sz="1200" kern="1200">
        <a:solidFill>
          <a:schemeClr val="tx1"/>
        </a:solidFill>
        <a:latin typeface="+mn-lt"/>
        <a:ea typeface="+mn-ea"/>
        <a:cs typeface="+mn-cs"/>
      </a:defRPr>
    </a:lvl8pPr>
    <a:lvl9pPr marL="3656869" algn="l" defTabSz="457109"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925 institutions in HERD FY 2024 Table 4 (standard and short form). Chart shows the top 150. Johns Hopkins ($4.13B) includes the Applied Physics Laboratory ($2.55B). Medical school = institution reported medical-school R&amp;D in Table 19. Total HERD R&amp;D in FY 2024 was $117.6B (standard form; $117.7B all institutions).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 50 private institutions by FY 2024 total R&amp;D (HERD Tables 4 and 5). Names shortened for the axis: MIT, Caltech, Dartmouth (incl. Dartmouth Hitchcock), Vanderbilt (incl. VUMC), Icahn School of Medicine at Mount Sinai, Washington U. St. Louis. Includes standalone private research and medical institutions (Scripps, Woods Hole, Cold Spring Harbor, Rockefeller, Baylor College of Medicine). Medical school = reported medical-school R&amp;D in Table 19.</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Compound annual growth rate of total R&amp;D expenditures, FY 2019–2024, for the top 50 private institutions (HERD Table 13). All HERD institutions (standard form): 7.1% per year. Median of the top-50 privates: 7.2%.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Private institutions re-ranked each year by that year's total R&amp;D (HERD Table 13, current institution definitions). Shown: Northeastern and every private institution that ranked above it in FY 2014 but below it in FY 2024. Yeshiva University is omitted: it ranked above Northeastern in FY 2014, but Albert Einstein College of Medicine began reporting separately in FY 2019 (Einstein now ranks #31).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point is one of the top 50 private institutions (Albert Einstein excluded; no FY 2014 data). Vertical line = median FY 2024 R&amp;D ($492M); horizontal line = median ten-year growth rate (6.2%). Horizontal axis is logarithmic. Johns Hopkins includes APL. Beluga quadrant (smaller / faster): Dartmouth, Georgetown U., Northeastern U., U. Notre Dame, Wake Forest U., Rice U., Thomas Jefferson U., U. Dayton, Syracuse U., Brigham Young U., Baylor U..</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C1C90E-5E19-004A-8DAF-9194FC6166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66152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GAAP UR operating result: $93M in FY18, peak $157M in FY22, trough $27M in FY25, $98M on preliminary FY26. On a revenue base that nearly doubled, FY26 is still a 320bp margin decline from FY18.</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Updated this edition: pet care $158B (APPA, 2025); gambling (AGA commercial gaming revenue) $78.7B (2025); lottery $109.4B (NASPL, FY2025 total including gaming machines, table games and sports betting); NIH $47.5B and NSF $8.75B (FY2026 enacted); baggage fees $7.27B (BTS, 2024 record; 2025 not yet published); Valentine's Day flowers $3.1B (NRF, 2026). All other items are 2024 figures from: Bureau of Transportation Statistics, Fortune Business Insights, IBIS World, Mordor Intelligence, Responsible Lending, Statista, Yahoo Finance, Yum! Brands, and industry sources; not updated because no same-basis 2025 figure was found (wine and spirits, beer, soft drinks, tobacco, bottled water, beauty, coffee, video games, child care, lawn care, sporting events, pizza, legal marijuana, chocolate, movies, Taco Bell, credit card late fees, concerts, overdraft fees, potato chips, cosmetic surgery, perfume, tattoos, Twinkies).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slide footnote: Source: degree-seeking enrolment by reporting group (Undergraduate, Professional Graduate, JD/PhD) supplied 8 September 2026, Fall 2019 – Fall 2026. FISCAL-YEAR LABELS: the fiscal year ends June 30, so each fall term falls in the following fiscal year — Fall 2019 = FY20 … Fall 2026 = FY27. FY27 IS AN ESTIMATE, not a reported count; non-degree students are excluded. The undergraduate/graduate split on the enrolment page in the appendix comes from an earlier table that classifies about 2,000 students differently; the yearly totals are identical on both.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slide footnote: Sources: totals, Oakland and FY20 – FY22 from "2026-09-03 2019 - Current Staff Headcounts - Credits - UG class sizes.xlsx," Detail tab; FY23 – FY27 funding split from "2026-09-04 2019-2026 Staff headcount by funding source.xlsx," Division Detail by FT tab, with FY20 – FY22 derived by applying each division's own FY23 internal share to its published headcount — the same basis as the executive-level pages, so the two foot to each other. LONDON: first reported Fall 2025 — 216 in FY26 and 182 in FY27, all Operating funds (Division Detail by FT, DIV54). Full-time filled positions, excluding postdocs. INTERNALLY FUNDED = Operating, Auxiliary, Designated and Plant funds; EXTERNALLY FUNDED = Restricted and Research funds. FISCAL-YEAR LABELS: Fall 2019 = FY20 ... Fall 2025 = FY26; FY27 is the 1 August 2026 snapshot, ten months after FY26.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slide footnote: Moody's “A” (single-A, blue) and “Aa” (double-A, green) rating category medians across all Moody's-rated private universities nationally (n=70), FY2025 — the broad national single-A sample, not restricted to Northeastern's own peer set or institution size. Source: Moody's Ratings, “Higher Education – US: Medians – Private colleges' margin pressure intensifies as costs rise,” 24 June 2026, Appendix D – A (single-A, n=70) and Appendix D – Aa (double-A, n=60, green).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slide footnote: EBIDA margin = (Operating result + Depreciation &amp; Amortization + Interest) ÷ Total operating revenues &amp; other support, all four measured on each institution's Without-Donor-Restrictions (unrestricted operating) basis. ⚕ Includes a consolidated health system or clinical practice-plan revenue stream (Duke, Cornell, NYU, Emory, USC, Tulane, Miami, George Washington; Tufts incl. ~$163.7M Cummings Veterinary/Dental clinical practice revenue) — not directly comparable to a pure-academic peer. FYE varies: Aug 31 (Northwestern, NYU, Emory); May 31 (Boston College, Miami, Villanova); June 30 (all others). USC shown before its $55.5M insurance recovery (3.7% with). Source: each institution's audited FY2025 consolidated financial statements.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slide footnote: Source: each institution’s audited FY2025 consolidated financial statements, without-donor-restrictions operating column; EBIDA = operating result + depreciation (and amortization) + interest, over total operating revenues and other support. FYE varies: Aug 31 for NYU, Emory, Northwestern; May 31 for Boston College, Miami, Villanova; June 30 for the rest. Health-system consolidators (†) blend academic and clinical margins and are not like-for-like. Syracuse discloses depreciation and interest only combined. USC is shown before its $55.5M insurance recovery; with it, 3.7%. Medians: Moody’s 24 June 2026 private-university medians, FY2025 — comprehensive n=61, broad A n=70.</a:t>
            </a:r>
          </a:p>
        </p:txBody>
      </p:sp>
      <p:sp>
        <p:nvSpPr>
          <p:cNvPr id="4" name="Slide Number Placeholder 3"/>
          <p:cNvSpPr>
            <a:spLocks noGrp="1"/>
          </p:cNvSpPr>
          <p:nvPr>
            <p:ph type="sldNum" idx="5" sz="quarter"/>
          </p:nvPr>
        </p:nvSpPr>
        <p:spPr/>
      </p:sp>
    </p:spTree>
  </p:cSld>
  <p:clrMapOvr>
    <a:masterClrMapping/>
  </p:clrMapOvr>
</p:note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s>
</file>

<file path=ppt/slideLayouts/slideLayout16.xml><?xml version="1.0" encoding="utf-8"?>
<p:sldLayout xmlns:a="http://schemas.openxmlformats.org/drawingml/2006/main" xmlns:r="http://schemas.openxmlformats.org/officeDocument/2006/relationships" xmlns:p="http://schemas.openxmlformats.org/presentationml/2006/main" type="blank">
  <p:cSld name="Northeastern Standar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6446520"/>
            <a:ext cx="11274552"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6510528"/>
            <a:ext cx="2331720" cy="256032"/>
          </a:xfrm>
          <a:prstGeom prst="rect">
            <a:avLst/>
          </a:prstGeom>
          <a:noFill/>
        </p:spPr>
        <p:txBody>
          <a:bodyPr wrap="none" lIns="0" rIns="0" tIns="0" bIns="0" anchor="ctr">
            <a:spAutoFit/>
          </a:bodyPr>
          <a:lstStyle/>
          <a:p>
            <a:pPr algn="r"/>
            <a:r>
              <a:rPr sz="900" b="1">
                <a:solidFill>
                  <a:srgbClr val="000000"/>
                </a:solidFill>
                <a:latin typeface="Lato"/>
              </a:rPr>
              <a:t>Northeastern University</a:t>
            </a:r>
          </a:p>
        </p:txBody>
      </p:sp>
      <p:sp>
        <p:nvSpPr>
          <p:cNvPr id="4" name="TextBox 3"/>
          <p:cNvSpPr txBox="1"/>
          <p:nvPr/>
        </p:nvSpPr>
        <p:spPr>
          <a:xfrm>
            <a:off x="10881360" y="6510528"/>
            <a:ext cx="365760" cy="256032"/>
          </a:xfrm>
          <a:prstGeom prst="rect">
            <a:avLst/>
          </a:prstGeom>
          <a:noFill/>
        </p:spPr>
        <p:txBody>
          <a:bodyPr wrap="none" lIns="0" rIns="0" tIns="0" bIns="0" anchor="ctr">
            <a:spAutoFit/>
          </a:bodyPr>
          <a:lstStyle/>
          <a:p>
            <a:pPr algn="r"/>
            <a:fld id="{B6F15528-21DE-4FAA-801E-634DDDAF4B2B}" type="slidenum">
              <a:rPr lang="en-US" sz="900" b="1">
                <a:solidFill>
                  <a:srgbClr val="000000"/>
                </a:solidFill>
                <a:latin typeface="Lato"/>
              </a:rPr>
              <a:t>‹#›</a:t>
            </a:fld>
          </a:p>
        </p:txBody>
      </p:sp>
      <p:pic>
        <p:nvPicPr>
          <p:cNvPr id="5" name="Picture 4" descr="monogram-red.png"/>
          <p:cNvPicPr>
            <a:picLocks noChangeAspect="1"/>
          </p:cNvPicPr>
          <p:nvPr/>
        </p:nvPicPr>
        <p:blipFill>
          <a:blip r:embed="rId2"/>
          <a:srcRect l="12000" r="12000" t="20000" b="20000"/>
          <a:stretch>
            <a:fillRect/>
          </a:stretch>
        </p:blipFill>
        <p:spPr>
          <a:xfrm>
            <a:off x="11457432" y="6528816"/>
            <a:ext cx="301752" cy="237744"/>
          </a:xfrm>
          <a:prstGeom prst="rect">
            <a:avLst/>
          </a:prstGeom>
        </p:spPr>
      </p:pic>
    </p:spTree>
    <p:extLst>
      <p:ext uri="{BB962C8B-B14F-4D97-AF65-F5344CB8AC3E}">
        <p14:creationId xmlns:p14="http://schemas.microsoft.com/office/powerpoint/2010/main" val="1601164852"/>
      </p:ext>
    </p:extLst>
  </p:cSld>
  <p:clrMapOvr>
    <a:masterClrMapping/>
  </p:clrMapOvr>
</p:sldLayout>
</file>

<file path=ppt/slideMasters/_rels/slideMaster1.xml.rels><?xml version='1.0' encoding='UTF-8' standalone='yes'?>
<Relationships xmlns="http://schemas.openxmlformats.org/package/2006/relationships"><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89804"/>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1" y="1825625"/>
            <a:ext cx="10515600" cy="4351338"/>
          </a:xfrm>
          <a:prstGeom prst="rect">
            <a:avLst/>
          </a:prstGeom>
          <a:noFill/>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1059664"/>
      </p:ext>
    </p:extLst>
  </p:cSld>
  <p:clrMap bg1="lt1" tx1="dk1" bg2="lt2" tx2="dk2" accent1="accent1" accent2="accent2" accent3="accent3" accent4="accent4" accent5="accent5" accent6="accent6" hlink="hlink" folHlink="folHlink"/>
  <p:sldLayoutIdLst>
    <p:sldLayoutId id="2147484412" r:id="rId16"/>
  </p:sldLayoutIdLst>
  <p:hf sldNum="0" hdr="0" ftr="0" dt="0"/>
  <p:txStyles>
    <p:titleStyle>
      <a:lvl1pPr algn="l" defTabSz="914172" rtl="0" eaLnBrk="1" latinLnBrk="0" hangingPunct="1">
        <a:lnSpc>
          <a:spcPct val="90000"/>
        </a:lnSpc>
        <a:spcBef>
          <a:spcPct val="0"/>
        </a:spcBef>
        <a:buNone/>
        <a:defRPr sz="4399" b="1" i="0" kern="1200" spc="1100" baseline="0">
          <a:solidFill>
            <a:schemeClr val="bg1"/>
          </a:solidFill>
          <a:latin typeface="Aptos ExtraBold" panose="020B0004020202020204" pitchFamily="34" charset="0"/>
          <a:ea typeface="+mj-ea"/>
          <a:cs typeface="+mj-cs"/>
        </a:defRPr>
      </a:lvl1pPr>
    </p:titleStyle>
    <p:bodyStyle>
      <a:lvl1pPr marL="0" indent="0" algn="l" defTabSz="914172" rtl="0" eaLnBrk="1" latinLnBrk="0" hangingPunct="1">
        <a:lnSpc>
          <a:spcPct val="90000"/>
        </a:lnSpc>
        <a:spcBef>
          <a:spcPts val="1000"/>
        </a:spcBef>
        <a:buFont typeface="Arial" panose="020B0604020202020204" pitchFamily="34" charset="0"/>
        <a:buNone/>
        <a:defRPr sz="2800" kern="1200" spc="150">
          <a:solidFill>
            <a:schemeClr val="tx1"/>
          </a:solidFill>
          <a:latin typeface="Aptos" panose="020B0004020202020204" pitchFamily="34" charset="0"/>
          <a:ea typeface="+mn-ea"/>
          <a:cs typeface="+mn-cs"/>
        </a:defRPr>
      </a:lvl1pPr>
      <a:lvl2pPr marL="457086" indent="0" algn="l" defTabSz="914172" rtl="0" eaLnBrk="1" latinLnBrk="0" hangingPunct="1">
        <a:lnSpc>
          <a:spcPct val="90000"/>
        </a:lnSpc>
        <a:spcBef>
          <a:spcPts val="500"/>
        </a:spcBef>
        <a:buFont typeface="Arial" panose="020B0604020202020204" pitchFamily="34" charset="0"/>
        <a:buNone/>
        <a:defRPr sz="2400" kern="1200" spc="150">
          <a:solidFill>
            <a:schemeClr val="tx1"/>
          </a:solidFill>
          <a:latin typeface="Aptos" panose="020B0004020202020204" pitchFamily="34" charset="0"/>
          <a:ea typeface="+mn-ea"/>
          <a:cs typeface="+mn-cs"/>
        </a:defRPr>
      </a:lvl2pPr>
      <a:lvl3pPr marL="914172" indent="0" algn="l" defTabSz="914172" rtl="0" eaLnBrk="1" latinLnBrk="0" hangingPunct="1">
        <a:lnSpc>
          <a:spcPct val="90000"/>
        </a:lnSpc>
        <a:spcBef>
          <a:spcPts val="500"/>
        </a:spcBef>
        <a:buFont typeface="Arial" panose="020B0604020202020204" pitchFamily="34" charset="0"/>
        <a:buNone/>
        <a:defRPr sz="2000" kern="1200" spc="150">
          <a:solidFill>
            <a:schemeClr val="tx1"/>
          </a:solidFill>
          <a:latin typeface="Aptos" panose="020B0004020202020204" pitchFamily="34" charset="0"/>
          <a:ea typeface="+mn-ea"/>
          <a:cs typeface="+mn-cs"/>
        </a:defRPr>
      </a:lvl3pPr>
      <a:lvl4pPr marL="1371257" indent="0" algn="l" defTabSz="914172" rtl="0" eaLnBrk="1" latinLnBrk="0" hangingPunct="1">
        <a:lnSpc>
          <a:spcPct val="90000"/>
        </a:lnSpc>
        <a:spcBef>
          <a:spcPts val="500"/>
        </a:spcBef>
        <a:buFont typeface="Arial" panose="020B0604020202020204" pitchFamily="34" charset="0"/>
        <a:buNone/>
        <a:defRPr sz="1800" kern="1200" spc="150">
          <a:solidFill>
            <a:schemeClr val="tx1"/>
          </a:solidFill>
          <a:latin typeface="Aptos" panose="020B0004020202020204" pitchFamily="34" charset="0"/>
          <a:ea typeface="+mn-ea"/>
          <a:cs typeface="+mn-cs"/>
        </a:defRPr>
      </a:lvl4pPr>
      <a:lvl5pPr marL="1828343" indent="0" algn="l" defTabSz="914172" rtl="0" eaLnBrk="1" latinLnBrk="0" hangingPunct="1">
        <a:lnSpc>
          <a:spcPct val="90000"/>
        </a:lnSpc>
        <a:spcBef>
          <a:spcPts val="500"/>
        </a:spcBef>
        <a:buFont typeface="Arial" panose="020B0604020202020204" pitchFamily="34" charset="0"/>
        <a:buNone/>
        <a:defRPr sz="1800" kern="1200" spc="150">
          <a:solidFill>
            <a:schemeClr val="tx1"/>
          </a:solidFill>
          <a:latin typeface="Aptos" panose="020B0004020202020204" pitchFamily="34" charset="0"/>
          <a:ea typeface="+mn-ea"/>
          <a:cs typeface="+mn-cs"/>
        </a:defRPr>
      </a:lvl5pPr>
      <a:lvl6pPr marL="2513972"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057"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143"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229"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72" rtl="0" eaLnBrk="1" latinLnBrk="0" hangingPunct="1">
        <a:defRPr sz="1800" kern="1200">
          <a:solidFill>
            <a:schemeClr val="tx1"/>
          </a:solidFill>
          <a:latin typeface="+mn-lt"/>
          <a:ea typeface="+mn-ea"/>
          <a:cs typeface="+mn-cs"/>
        </a:defRPr>
      </a:lvl1pPr>
      <a:lvl2pPr marL="457086" algn="l" defTabSz="914172" rtl="0" eaLnBrk="1" latinLnBrk="0" hangingPunct="1">
        <a:defRPr sz="1800" kern="1200">
          <a:solidFill>
            <a:schemeClr val="tx1"/>
          </a:solidFill>
          <a:latin typeface="+mn-lt"/>
          <a:ea typeface="+mn-ea"/>
          <a:cs typeface="+mn-cs"/>
        </a:defRPr>
      </a:lvl2pPr>
      <a:lvl3pPr marL="914172" algn="l" defTabSz="914172" rtl="0" eaLnBrk="1" latinLnBrk="0" hangingPunct="1">
        <a:defRPr sz="1800" kern="1200">
          <a:solidFill>
            <a:schemeClr val="tx1"/>
          </a:solidFill>
          <a:latin typeface="+mn-lt"/>
          <a:ea typeface="+mn-ea"/>
          <a:cs typeface="+mn-cs"/>
        </a:defRPr>
      </a:lvl3pPr>
      <a:lvl4pPr marL="1371257" algn="l" defTabSz="914172" rtl="0" eaLnBrk="1" latinLnBrk="0" hangingPunct="1">
        <a:defRPr sz="1800" kern="1200">
          <a:solidFill>
            <a:schemeClr val="tx1"/>
          </a:solidFill>
          <a:latin typeface="+mn-lt"/>
          <a:ea typeface="+mn-ea"/>
          <a:cs typeface="+mn-cs"/>
        </a:defRPr>
      </a:lvl4pPr>
      <a:lvl5pPr marL="1828343" algn="l" defTabSz="914172" rtl="0" eaLnBrk="1" latinLnBrk="0" hangingPunct="1">
        <a:defRPr sz="1800" kern="1200">
          <a:solidFill>
            <a:schemeClr val="tx1"/>
          </a:solidFill>
          <a:latin typeface="+mn-lt"/>
          <a:ea typeface="+mn-ea"/>
          <a:cs typeface="+mn-cs"/>
        </a:defRPr>
      </a:lvl5pPr>
      <a:lvl6pPr marL="2285429" algn="l" defTabSz="914172" rtl="0" eaLnBrk="1" latinLnBrk="0" hangingPunct="1">
        <a:defRPr sz="1800" kern="1200">
          <a:solidFill>
            <a:schemeClr val="tx1"/>
          </a:solidFill>
          <a:latin typeface="+mn-lt"/>
          <a:ea typeface="+mn-ea"/>
          <a:cs typeface="+mn-cs"/>
        </a:defRPr>
      </a:lvl6pPr>
      <a:lvl7pPr marL="2742514" algn="l" defTabSz="914172" rtl="0" eaLnBrk="1" latinLnBrk="0" hangingPunct="1">
        <a:defRPr sz="1800" kern="1200">
          <a:solidFill>
            <a:schemeClr val="tx1"/>
          </a:solidFill>
          <a:latin typeface="+mn-lt"/>
          <a:ea typeface="+mn-ea"/>
          <a:cs typeface="+mn-cs"/>
        </a:defRPr>
      </a:lvl7pPr>
      <a:lvl8pPr marL="3199600" algn="l" defTabSz="914172" rtl="0" eaLnBrk="1" latinLnBrk="0" hangingPunct="1">
        <a:defRPr sz="1800" kern="1200">
          <a:solidFill>
            <a:schemeClr val="tx1"/>
          </a:solidFill>
          <a:latin typeface="+mn-lt"/>
          <a:ea typeface="+mn-ea"/>
          <a:cs typeface="+mn-cs"/>
        </a:defRPr>
      </a:lvl8pPr>
      <a:lvl9pPr marL="3656686" algn="l" defTabSz="914172"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5.png"/><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2.png"/><Relationship Id="rId3" Type="http://schemas.openxmlformats.org/officeDocument/2006/relationships/image" Target="../media/image22.gif"/><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17.gif"/><Relationship Id="rId8" Type="http://schemas.openxmlformats.org/officeDocument/2006/relationships/image" Target="../media/image36.png"/><Relationship Id="rId9" Type="http://schemas.openxmlformats.org/officeDocument/2006/relationships/image" Target="../media/image37.gif"/><Relationship Id="rId10" Type="http://schemas.openxmlformats.org/officeDocument/2006/relationships/image" Target="../media/image38.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39.png"/><Relationship Id="rId14" Type="http://schemas.openxmlformats.org/officeDocument/2006/relationships/image" Target="../media/image40.png"/><Relationship Id="rId15" Type="http://schemas.openxmlformats.org/officeDocument/2006/relationships/image" Target="../media/image30.png"/><Relationship Id="rId16" Type="http://schemas.openxmlformats.org/officeDocument/2006/relationships/image" Target="../media/image41.png"/><Relationship Id="rId17" Type="http://schemas.openxmlformats.org/officeDocument/2006/relationships/image" Target="../media/image42.png"/><Relationship Id="rId18" Type="http://schemas.openxmlformats.org/officeDocument/2006/relationships/image" Target="../media/image43.png"/><Relationship Id="rId19" Type="http://schemas.openxmlformats.org/officeDocument/2006/relationships/image" Target="../media/image31.png"/><Relationship Id="rId20" Type="http://schemas.openxmlformats.org/officeDocument/2006/relationships/image" Target="../media/image44.png"/><Relationship Id="rId21" Type="http://schemas.openxmlformats.org/officeDocument/2006/relationships/image" Target="../media/image45.png"/><Relationship Id="rId22" Type="http://schemas.openxmlformats.org/officeDocument/2006/relationships/image" Target="../media/image46.png"/><Relationship Id="rId23" Type="http://schemas.openxmlformats.org/officeDocument/2006/relationships/image" Target="../media/image47.png"/><Relationship Id="rId24" Type="http://schemas.openxmlformats.org/officeDocument/2006/relationships/image" Target="../media/image48.png"/><Relationship Id="rId25" Type="http://schemas.openxmlformats.org/officeDocument/2006/relationships/image" Target="../media/image49.jpeg"/><Relationship Id="rId26" Type="http://schemas.openxmlformats.org/officeDocument/2006/relationships/image" Target="../media/image5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52.png"/><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52.png"/><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52.png"/><Relationship Id="rId4" Type="http://schemas.openxmlformats.org/officeDocument/2006/relationships/chart" Target="../charts/char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2.png"/><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52.png"/><Relationship Id="rId4" Type="http://schemas.openxmlformats.org/officeDocument/2006/relationships/chart" Target="../charts/chart8.xml"/><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57.png"/><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12.xml"/><Relationship Id="rId3" Type="http://schemas.openxmlformats.org/officeDocument/2006/relationships/image" Target="../media/image57.png"/><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chart" Target="../charts/chart13.xml"/><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58.png"/><Relationship Id="rId3" Type="http://schemas.openxmlformats.org/officeDocument/2006/relationships/chart" Target="../charts/chart14.xml"/><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16.xml"/><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chart" Target="../charts/chart21.xml"/><Relationship Id="rId8" Type="http://schemas.openxmlformats.org/officeDocument/2006/relationships/chart" Target="../charts/chart22.xml"/><Relationship Id="rId9" Type="http://schemas.openxmlformats.org/officeDocument/2006/relationships/chart" Target="../charts/chart23.xml"/><Relationship Id="rId10" Type="http://schemas.openxmlformats.org/officeDocument/2006/relationships/chart" Target="../charts/chart24.xml"/><Relationship Id="rId11" Type="http://schemas.openxmlformats.org/officeDocument/2006/relationships/chart" Target="../charts/chart25.xml"/><Relationship Id="rId12" Type="http://schemas.openxmlformats.org/officeDocument/2006/relationships/chart" Target="../charts/chart26.xml"/><Relationship Id="rId13" Type="http://schemas.openxmlformats.org/officeDocument/2006/relationships/chart" Target="../charts/chart27.xml"/><Relationship Id="rId14"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28.xml"/><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chart" Target="../charts/chart32.xml"/><Relationship Id="rId7" Type="http://schemas.openxmlformats.org/officeDocument/2006/relationships/chart" Target="../charts/chart33.xml"/><Relationship Id="rId8" Type="http://schemas.openxmlformats.org/officeDocument/2006/relationships/chart" Target="../charts/chart34.xml"/><Relationship Id="rId9" Type="http://schemas.openxmlformats.org/officeDocument/2006/relationships/image" Target="../media/image6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35.xml"/><Relationship Id="rId3" Type="http://schemas.openxmlformats.org/officeDocument/2006/relationships/chart" Target="../charts/chart36.xml"/><Relationship Id="rId4" Type="http://schemas.openxmlformats.org/officeDocument/2006/relationships/image" Target="../media/image61.png"/><Relationship Id="rId5"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37.xml"/><Relationship Id="rId3" Type="http://schemas.openxmlformats.org/officeDocument/2006/relationships/image" Target="../media/image61.png"/><Relationship Id="rId4"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chart" Target="../charts/chart38.xml"/><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39.xml"/><Relationship Id="rId3" Type="http://schemas.openxmlformats.org/officeDocument/2006/relationships/image" Target="../media/image6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40.xml"/><Relationship Id="rId3" Type="http://schemas.openxmlformats.org/officeDocument/2006/relationships/image" Target="../media/image62.png"/><Relationship Id="rId4" Type="http://schemas.openxmlformats.org/officeDocument/2006/relationships/notesSlide" Target="../notesSlides/notesSlide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6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52.xml"/><Relationship Id="rId3" Type="http://schemas.openxmlformats.org/officeDocument/2006/relationships/image" Target="../media/image6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5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5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5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5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5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6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62.xml"/><Relationship Id="rId3" Type="http://schemas.openxmlformats.org/officeDocument/2006/relationships/chart" Target="../charts/chart6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64.xml"/><Relationship Id="rId3" Type="http://schemas.openxmlformats.org/officeDocument/2006/relationships/notesSlide" Target="../notesSlides/notesSlide11.xml"/></Relationships>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2F37A4-0E0A-14FC-69C7-D7D9BB925861}"/>
              </a:ext>
            </a:extLst>
          </p:cNvPr>
          <p:cNvSpPr txBox="1"/>
          <p:nvPr/>
        </p:nvSpPr>
        <p:spPr>
          <a:xfrm>
            <a:off x="457200" y="320040"/>
            <a:ext cx="10241280" cy="77724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The United States has far more colleges/universities than other countries</a:t>
            </a:r>
          </a:p>
        </p:txBody>
      </p:sp>
      <p:graphicFrame>
        <p:nvGraphicFramePr>
          <p:cNvPr id="6" name="Chart 5">
            <a:extLst>
              <a:ext uri="{FF2B5EF4-FFF2-40B4-BE49-F238E27FC236}">
                <a16:creationId xmlns:a16="http://schemas.microsoft.com/office/drawing/2014/main" id="{F54F765B-EF1A-32C6-F931-83357DD50CAB}"/>
              </a:ext>
            </a:extLst>
          </p:cNvPr>
          <p:cNvGraphicFramePr/>
          <p:nvPr>
            <p:extLst>
              <p:ext uri="{D42A27DB-BD31-4B8C-83A1-F6EECF244321}">
                <p14:modId xmlns:p14="http://schemas.microsoft.com/office/powerpoint/2010/main" val="178165805"/>
              </p:ext>
            </p:extLst>
          </p:nvPr>
        </p:nvGraphicFramePr>
        <p:xfrm>
          <a:off x="197223" y="1051120"/>
          <a:ext cx="11797553" cy="5172217"/>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B847716B-BBD8-AF04-12BB-6DB03BBF1867}"/>
              </a:ext>
            </a:extLst>
          </p:cNvPr>
          <p:cNvSpPr txBox="1"/>
          <p:nvPr/>
        </p:nvSpPr>
        <p:spPr>
          <a:xfrm>
            <a:off x="457200" y="1097280"/>
            <a:ext cx="8229600" cy="5029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Lato" panose="020B0604020202020204" pitchFamily="34" charset="0"/>
                <a:ea typeface="+mn-ea"/>
                <a:cs typeface="Arial" panose="020B0604020202020204" pitchFamily="34" charset="0"/>
              </a:rPr>
              <a:t>Four-year c</a:t>
            </a:r>
            <a:r>
              <a:rPr kumimoji="0" lang="en-US" sz="1400" b="0" i="0" u="none" strike="noStrike" kern="1200" cap="none" spc="0" normalizeH="0" baseline="0" noProof="0" dirty="0" err="1">
                <a:ln>
                  <a:noFill/>
                </a:ln>
                <a:solidFill>
                  <a:srgbClr val="595959"/>
                </a:solidFill>
                <a:effectLst/>
                <a:uLnTx/>
                <a:uFillTx/>
                <a:latin typeface="Lato" panose="020B0604020202020204" pitchFamily="34" charset="0"/>
                <a:ea typeface="+mn-ea"/>
                <a:cs typeface="Arial" panose="020B0604020202020204" pitchFamily="34" charset="0"/>
              </a:rPr>
              <a:t>olleges</a:t>
            </a:r>
            <a:r>
              <a:rPr kumimoji="0" lang="en-US" sz="1400" b="0" i="0" u="none" strike="noStrike" kern="1200" cap="none" spc="0" normalizeH="0" baseline="0" noProof="0" dirty="0">
                <a:ln>
                  <a:noFill/>
                </a:ln>
                <a:solidFill>
                  <a:srgbClr val="595959"/>
                </a:solidFill>
                <a:effectLst/>
                <a:uLnTx/>
                <a:uFillTx/>
                <a:latin typeface="Lato" panose="020B0604020202020204" pitchFamily="34" charset="0"/>
                <a:ea typeface="+mn-ea"/>
                <a:cs typeface="Arial" panose="020B0604020202020204" pitchFamily="34" charset="0"/>
              </a:rPr>
              <a:t>/universities by country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95959"/>
                </a:solidFill>
                <a:effectLst/>
                <a:uLnTx/>
                <a:uFillTx/>
                <a:latin typeface="Lato" panose="020B0604020202020204" pitchFamily="34" charset="0"/>
                <a:ea typeface="+mn-ea"/>
                <a:cs typeface="Arial" panose="020B0604020202020204" pitchFamily="34" charset="0"/>
              </a:rPr>
              <a:t>(for countries with ≥ 50 colleges/universities) n=36</a:t>
            </a:r>
          </a:p>
        </p:txBody>
      </p:sp>
      <p:sp>
        <p:nvSpPr>
          <p:cNvPr id="10" name="TextBox 9"/>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World Bank; HIPI university list</a:t>
            </a:r>
          </a:p>
        </p:txBody>
      </p:sp>
    </p:spTree>
    <p:extLst>
      <p:ext uri="{BB962C8B-B14F-4D97-AF65-F5344CB8AC3E}">
        <p14:creationId xmlns:p14="http://schemas.microsoft.com/office/powerpoint/2010/main" val="2518138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0E232D-B298-FA49-85D1-175BC120D922}"/>
            </a:ext>
          </a:extLst>
        </p:cNvPr>
        <p:cNvGrpSpPr/>
        <p:nvPr/>
      </p:nvGrpSpPr>
      <p:grpSpPr>
        <a:xfrm>
          <a:off x="0" y="0"/>
          <a:ext cx="0" cy="0"/>
          <a:chOff x="0" y="0"/>
          <a:chExt cx="0" cy="0"/>
        </a:xfrm>
      </p:grpSpPr>
      <p:pic>
        <p:nvPicPr>
          <p:cNvPr id="2" name="Picture 1" descr="college_closures_map_dots_dedup_grey_legend.png">
            <a:extLst>
              <a:ext uri="{FF2B5EF4-FFF2-40B4-BE49-F238E27FC236}">
                <a16:creationId xmlns:a16="http://schemas.microsoft.com/office/drawing/2014/main" id="{862A38DB-964D-9F0E-7FF3-A991E980ED17}"/>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968190" y="1051560"/>
            <a:ext cx="10255313" cy="5257800"/>
          </a:xfrm>
          <a:prstGeom prst="rect">
            <a:avLst/>
          </a:prstGeom>
        </p:spPr>
      </p:pic>
      <p:sp>
        <p:nvSpPr>
          <p:cNvPr id="3" name="TextBox 2">
            <a:extLst>
              <a:ext uri="{FF2B5EF4-FFF2-40B4-BE49-F238E27FC236}">
                <a16:creationId xmlns:a16="http://schemas.microsoft.com/office/drawing/2014/main" id="{2037DD51-9239-C949-5A02-DFD69A0960C1}"/>
              </a:ext>
            </a:extLst>
          </p:cNvPr>
          <p:cNvSpPr txBox="1"/>
          <p:nvPr/>
        </p:nvSpPr>
        <p:spPr>
          <a:xfrm>
            <a:off x="457200" y="320040"/>
            <a:ext cx="10241280" cy="777240"/>
          </a:xfrm>
          <a:prstGeom prst="rect">
            <a:avLst/>
          </a:prstGeom>
          <a:noFill/>
        </p:spPr>
        <p:txBody>
          <a:bodyPr wrap="square"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76 college closures since 2015 – and the pace is ramping up</a:t>
            </a:r>
          </a:p>
        </p:txBody>
      </p:sp>
      <p:graphicFrame>
        <p:nvGraphicFramePr>
          <p:cNvPr id="7" name="Chart 6">
            <a:extLst>
              <a:ext uri="{FF2B5EF4-FFF2-40B4-BE49-F238E27FC236}">
                <a16:creationId xmlns:a16="http://schemas.microsoft.com/office/drawing/2014/main" id="{9679DFC2-0AA5-0A25-79F3-4CC65DD850F7}"/>
              </a:ext>
            </a:extLst>
          </p:cNvPr>
          <p:cNvGraphicFramePr/>
          <p:nvPr/>
        </p:nvGraphicFramePr>
        <p:xfrm>
          <a:off x="9179096" y="5297557"/>
          <a:ext cx="2867439" cy="132779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9EEE59EE-CBCC-B812-D824-E413EA9BEEE0}"/>
              </a:ext>
            </a:extLst>
          </p:cNvPr>
          <p:cNvSpPr txBox="1"/>
          <p:nvPr/>
        </p:nvSpPr>
        <p:spPr>
          <a:xfrm>
            <a:off x="9838886" y="4989780"/>
            <a:ext cx="162736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ato" panose="020B0604020202020204" pitchFamily="34" charset="0"/>
                <a:ea typeface="+mn-ea"/>
                <a:cs typeface="Arial" panose="020B0604020202020204" pitchFamily="34" charset="0"/>
              </a:rPr>
              <a:t>Closures by year</a:t>
            </a:r>
          </a:p>
        </p:txBody>
      </p:sp>
    </p:spTree>
    <p:extLst>
      <p:ext uri="{BB962C8B-B14F-4D97-AF65-F5344CB8AC3E}">
        <p14:creationId xmlns:p14="http://schemas.microsoft.com/office/powerpoint/2010/main" val="1732461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3DBE0AF-FD87-2B8B-C07E-9B52E478739C}"/>
            </a:ext>
          </a:extLst>
        </p:cNvPr>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8A061832-7CCF-EF2C-040E-5FE9CD565679}"/>
              </a:ext>
            </a:extLst>
          </p:cNvPr>
          <p:cNvCxnSpPr>
            <a:cxnSpLocks/>
          </p:cNvCxnSpPr>
          <p:nvPr/>
        </p:nvCxnSpPr>
        <p:spPr>
          <a:xfrm flipH="1">
            <a:off x="10364095" y="2823152"/>
            <a:ext cx="10811"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F80C400-AD03-42AF-E6F2-8E1A1C1ED62E}"/>
              </a:ext>
            </a:extLst>
          </p:cNvPr>
          <p:cNvCxnSpPr>
            <a:cxnSpLocks/>
          </p:cNvCxnSpPr>
          <p:nvPr/>
        </p:nvCxnSpPr>
        <p:spPr>
          <a:xfrm flipH="1">
            <a:off x="6375074" y="2823152"/>
            <a:ext cx="10811"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C6DEEA0-B242-41C7-E22E-C14C92843220}"/>
              </a:ext>
            </a:extLst>
          </p:cNvPr>
          <p:cNvCxnSpPr>
            <a:cxnSpLocks/>
          </p:cNvCxnSpPr>
          <p:nvPr/>
        </p:nvCxnSpPr>
        <p:spPr>
          <a:xfrm flipH="1">
            <a:off x="8775287" y="2823152"/>
            <a:ext cx="1898"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E87235C-BD67-CDA5-A0BC-98913928D313}"/>
              </a:ext>
            </a:extLst>
          </p:cNvPr>
          <p:cNvCxnSpPr>
            <a:cxnSpLocks/>
          </p:cNvCxnSpPr>
          <p:nvPr/>
        </p:nvCxnSpPr>
        <p:spPr>
          <a:xfrm flipH="1">
            <a:off x="1537704" y="2823152"/>
            <a:ext cx="10811"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BE330B98-251B-F745-57F1-4D9E8C9AC202}"/>
              </a:ext>
            </a:extLst>
          </p:cNvPr>
          <p:cNvCxnSpPr>
            <a:cxnSpLocks/>
          </p:cNvCxnSpPr>
          <p:nvPr/>
        </p:nvCxnSpPr>
        <p:spPr>
          <a:xfrm flipH="1">
            <a:off x="9965405" y="2823152"/>
            <a:ext cx="1898"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8C7F67-4F21-06F9-9BC2-72E2BEAB165B}"/>
              </a:ext>
            </a:extLst>
          </p:cNvPr>
          <p:cNvCxnSpPr>
            <a:cxnSpLocks/>
          </p:cNvCxnSpPr>
          <p:nvPr/>
        </p:nvCxnSpPr>
        <p:spPr>
          <a:xfrm flipH="1">
            <a:off x="6775195" y="2823152"/>
            <a:ext cx="1898"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55D9939-EA82-5A2A-6631-B34567E7166F}"/>
              </a:ext>
            </a:extLst>
          </p:cNvPr>
          <p:cNvCxnSpPr>
            <a:cxnSpLocks/>
          </p:cNvCxnSpPr>
          <p:nvPr/>
        </p:nvCxnSpPr>
        <p:spPr>
          <a:xfrm flipH="1">
            <a:off x="5932778" y="2823152"/>
            <a:ext cx="1898"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7B8D8F5-EAF8-9099-AC5B-9597ED8A85A9}"/>
              </a:ext>
            </a:extLst>
          </p:cNvPr>
          <p:cNvCxnSpPr>
            <a:cxnSpLocks/>
          </p:cNvCxnSpPr>
          <p:nvPr/>
        </p:nvCxnSpPr>
        <p:spPr>
          <a:xfrm flipH="1">
            <a:off x="5548133" y="2823152"/>
            <a:ext cx="1898"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9FB0238A-DD5C-6BBE-6DE9-94C5BFD7042A}"/>
              </a:ext>
            </a:extLst>
          </p:cNvPr>
          <p:cNvCxnSpPr>
            <a:cxnSpLocks/>
          </p:cNvCxnSpPr>
          <p:nvPr/>
        </p:nvCxnSpPr>
        <p:spPr>
          <a:xfrm>
            <a:off x="1925635" y="2702710"/>
            <a:ext cx="20034" cy="2824624"/>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353" name="Oval 352">
            <a:extLst>
              <a:ext uri="{FF2B5EF4-FFF2-40B4-BE49-F238E27FC236}">
                <a16:creationId xmlns:a16="http://schemas.microsoft.com/office/drawing/2014/main" id="{D1CAE7F5-319F-F92F-E424-04FD42DBA192}"/>
              </a:ext>
            </a:extLst>
          </p:cNvPr>
          <p:cNvSpPr/>
          <p:nvPr/>
        </p:nvSpPr>
        <p:spPr>
          <a:xfrm>
            <a:off x="1807644" y="4756417"/>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52" name="Oval 351">
            <a:extLst>
              <a:ext uri="{FF2B5EF4-FFF2-40B4-BE49-F238E27FC236}">
                <a16:creationId xmlns:a16="http://schemas.microsoft.com/office/drawing/2014/main" id="{000EFC07-D71D-03C7-A011-F156FCD187BF}"/>
              </a:ext>
            </a:extLst>
          </p:cNvPr>
          <p:cNvSpPr/>
          <p:nvPr/>
        </p:nvSpPr>
        <p:spPr>
          <a:xfrm>
            <a:off x="9832531" y="3602367"/>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cxnSp>
        <p:nvCxnSpPr>
          <p:cNvPr id="14" name="Straight Connector 13">
            <a:extLst>
              <a:ext uri="{FF2B5EF4-FFF2-40B4-BE49-F238E27FC236}">
                <a16:creationId xmlns:a16="http://schemas.microsoft.com/office/drawing/2014/main" id="{7C26A69B-5997-BF94-7CAF-6D6E35547C7E}"/>
              </a:ext>
            </a:extLst>
          </p:cNvPr>
          <p:cNvCxnSpPr>
            <a:cxnSpLocks/>
          </p:cNvCxnSpPr>
          <p:nvPr/>
        </p:nvCxnSpPr>
        <p:spPr>
          <a:xfrm flipH="1">
            <a:off x="3937160" y="2823152"/>
            <a:ext cx="1898"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12B6284-1735-7195-67F5-CC271C7F5337}"/>
              </a:ext>
            </a:extLst>
          </p:cNvPr>
          <p:cNvCxnSpPr>
            <a:cxnSpLocks/>
          </p:cNvCxnSpPr>
          <p:nvPr/>
        </p:nvCxnSpPr>
        <p:spPr>
          <a:xfrm flipH="1">
            <a:off x="2720150" y="2823152"/>
            <a:ext cx="1898"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D0D425B4-EB65-8EE6-DD86-ABA688DA68E1}"/>
              </a:ext>
            </a:extLst>
          </p:cNvPr>
          <p:cNvSpPr txBox="1">
            <a:spLocks/>
          </p:cNvSpPr>
          <p:nvPr/>
        </p:nvSpPr>
        <p:spPr>
          <a:xfrm>
            <a:off x="457200" y="224945"/>
            <a:ext cx="10149840" cy="825050"/>
          </a:xfrm>
          <a:prstGeom prst="rect">
            <a:avLst/>
          </a:prstGeom>
        </p:spPr>
        <p:txBody>
          <a:bodyPr vert="horz" lIns="91440" tIns="45720" rIns="91440" bIns="45720" rtlCol="0" anchor="ctr" wrap="square">
            <a:noAutofit/>
          </a:bodyPr>
          <a:lstStyle>
            <a:lvl1pPr algn="l" defTabSz="914172" rtl="0" eaLnBrk="1" latinLnBrk="0" hangingPunct="1">
              <a:lnSpc>
                <a:spcPct val="90000"/>
              </a:lnSpc>
              <a:spcBef>
                <a:spcPct val="0"/>
              </a:spcBef>
              <a:buNone/>
              <a:defRPr sz="4399" b="1" i="0" kern="1200" spc="1100" baseline="0">
                <a:solidFill>
                  <a:schemeClr val="bg1"/>
                </a:solidFill>
                <a:latin typeface="Lato" pitchFamily="2" charset="77"/>
                <a:ea typeface="+mj-ea"/>
                <a:cs typeface="+mj-cs"/>
              </a:defRPr>
            </a:lvl1pPr>
          </a:lstStyle>
          <a:p>
            <a:pPr marL="0" marR="0" lvl="0" indent="0" algn="l" defTabSz="914172"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Lato" pitchFamily="2" charset="77"/>
                <a:ea typeface="+mj-ea"/>
                <a:cs typeface="+mj-cs"/>
              </a:rPr>
              <a:t>Varying peer responses to federal actions</a:t>
            </a:r>
            <a:br>
              <a:rPr kumimoji="0" lang="en-US" sz="2400" b="1" i="0" u="none" strike="noStrike" kern="1200" cap="none" spc="0" normalizeH="0" baseline="0" noProof="0" dirty="0">
                <a:ln>
                  <a:noFill/>
                </a:ln>
                <a:solidFill>
                  <a:srgbClr val="FFFFFF"/>
                </a:solidFill>
                <a:effectLst/>
                <a:uLnTx/>
                <a:uFillTx/>
                <a:latin typeface="Lato" pitchFamily="2" charset="77"/>
                <a:ea typeface="+mj-ea"/>
                <a:cs typeface="+mj-cs"/>
              </a:rPr>
            </a:br>
            <a:r>
              <a:rPr kumimoji="0" lang="en-US" sz="1600" b="0" i="1" u="none" strike="noStrike" kern="1200" cap="none" spc="0" normalizeH="0" baseline="0" noProof="0" dirty="0">
                <a:ln>
                  <a:noFill/>
                </a:ln>
                <a:solidFill>
                  <a:srgbClr val="000000"/>
                </a:solidFill>
                <a:effectLst/>
                <a:uLnTx/>
                <a:uFillTx/>
                <a:latin typeface="Lato" pitchFamily="2" charset="77"/>
                <a:ea typeface="+mj-ea"/>
                <a:cs typeface="+mj-cs"/>
              </a:rPr>
              <a:t>Peer institutions have taken multiple steps to mitigate funding cuts, EOs, and endowment taxation</a:t>
            </a:r>
          </a:p>
        </p:txBody>
      </p:sp>
      <p:pic>
        <p:nvPicPr>
          <p:cNvPr id="58" name="Picture 22">
            <a:extLst>
              <a:ext uri="{FF2B5EF4-FFF2-40B4-BE49-F238E27FC236}">
                <a16:creationId xmlns:a16="http://schemas.microsoft.com/office/drawing/2014/main" id="{277AC3D8-5E74-32BF-E13B-A2F09B63F10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426919" y="1276771"/>
            <a:ext cx="396490" cy="20506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78" descr="http://content.sportslogos.net/logos/33/800/full/2580.gif">
            <a:extLst>
              <a:ext uri="{FF2B5EF4-FFF2-40B4-BE49-F238E27FC236}">
                <a16:creationId xmlns:a16="http://schemas.microsoft.com/office/drawing/2014/main" id="{510E0992-5E70-6466-0F13-2D40C21257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351846" y="1245908"/>
            <a:ext cx="365760" cy="32743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7" name="Table 66">
            <a:extLst>
              <a:ext uri="{FF2B5EF4-FFF2-40B4-BE49-F238E27FC236}">
                <a16:creationId xmlns:a16="http://schemas.microsoft.com/office/drawing/2014/main" id="{C7ACC221-DD79-742E-72E3-4C7C6675338A}"/>
              </a:ext>
            </a:extLst>
          </p:cNvPr>
          <p:cNvGraphicFramePr>
            <a:graphicFrameLocks noGrp="1"/>
          </p:cNvGraphicFramePr>
          <p:nvPr/>
        </p:nvGraphicFramePr>
        <p:xfrm>
          <a:off x="1316954" y="2031888"/>
          <a:ext cx="10058400" cy="246888"/>
        </p:xfrm>
        <a:graphic>
          <a:graphicData uri="http://schemas.openxmlformats.org/drawingml/2006/table">
            <a:tbl>
              <a:tblPr firstRow="1" bandRow="1">
                <a:tableStyleId>{5C22544A-7EE6-4342-B048-85BDC9FD1C3A}</a:tableStyleId>
              </a:tblPr>
              <a:tblGrid>
                <a:gridCol w="402336">
                  <a:extLst>
                    <a:ext uri="{9D8B030D-6E8A-4147-A177-3AD203B41FA5}">
                      <a16:colId xmlns:a16="http://schemas.microsoft.com/office/drawing/2014/main" val="1217471073"/>
                    </a:ext>
                  </a:extLst>
                </a:gridCol>
                <a:gridCol w="402336">
                  <a:extLst>
                    <a:ext uri="{9D8B030D-6E8A-4147-A177-3AD203B41FA5}">
                      <a16:colId xmlns:a16="http://schemas.microsoft.com/office/drawing/2014/main" val="3721799941"/>
                    </a:ext>
                  </a:extLst>
                </a:gridCol>
                <a:gridCol w="402336">
                  <a:extLst>
                    <a:ext uri="{9D8B030D-6E8A-4147-A177-3AD203B41FA5}">
                      <a16:colId xmlns:a16="http://schemas.microsoft.com/office/drawing/2014/main" val="3963487280"/>
                    </a:ext>
                  </a:extLst>
                </a:gridCol>
                <a:gridCol w="402336">
                  <a:extLst>
                    <a:ext uri="{9D8B030D-6E8A-4147-A177-3AD203B41FA5}">
                      <a16:colId xmlns:a16="http://schemas.microsoft.com/office/drawing/2014/main" val="3273303342"/>
                    </a:ext>
                  </a:extLst>
                </a:gridCol>
                <a:gridCol w="402336">
                  <a:extLst>
                    <a:ext uri="{9D8B030D-6E8A-4147-A177-3AD203B41FA5}">
                      <a16:colId xmlns:a16="http://schemas.microsoft.com/office/drawing/2014/main" val="655990254"/>
                    </a:ext>
                  </a:extLst>
                </a:gridCol>
                <a:gridCol w="402336">
                  <a:extLst>
                    <a:ext uri="{9D8B030D-6E8A-4147-A177-3AD203B41FA5}">
                      <a16:colId xmlns:a16="http://schemas.microsoft.com/office/drawing/2014/main" val="1126211103"/>
                    </a:ext>
                  </a:extLst>
                </a:gridCol>
                <a:gridCol w="402336">
                  <a:extLst>
                    <a:ext uri="{9D8B030D-6E8A-4147-A177-3AD203B41FA5}">
                      <a16:colId xmlns:a16="http://schemas.microsoft.com/office/drawing/2014/main" val="3106119493"/>
                    </a:ext>
                  </a:extLst>
                </a:gridCol>
                <a:gridCol w="402336">
                  <a:extLst>
                    <a:ext uri="{9D8B030D-6E8A-4147-A177-3AD203B41FA5}">
                      <a16:colId xmlns:a16="http://schemas.microsoft.com/office/drawing/2014/main" val="3191713148"/>
                    </a:ext>
                  </a:extLst>
                </a:gridCol>
                <a:gridCol w="402336">
                  <a:extLst>
                    <a:ext uri="{9D8B030D-6E8A-4147-A177-3AD203B41FA5}">
                      <a16:colId xmlns:a16="http://schemas.microsoft.com/office/drawing/2014/main" val="2418067580"/>
                    </a:ext>
                  </a:extLst>
                </a:gridCol>
                <a:gridCol w="402336">
                  <a:extLst>
                    <a:ext uri="{9D8B030D-6E8A-4147-A177-3AD203B41FA5}">
                      <a16:colId xmlns:a16="http://schemas.microsoft.com/office/drawing/2014/main" val="3137580327"/>
                    </a:ext>
                  </a:extLst>
                </a:gridCol>
                <a:gridCol w="402336">
                  <a:extLst>
                    <a:ext uri="{9D8B030D-6E8A-4147-A177-3AD203B41FA5}">
                      <a16:colId xmlns:a16="http://schemas.microsoft.com/office/drawing/2014/main" val="73105574"/>
                    </a:ext>
                  </a:extLst>
                </a:gridCol>
                <a:gridCol w="402336">
                  <a:extLst>
                    <a:ext uri="{9D8B030D-6E8A-4147-A177-3AD203B41FA5}">
                      <a16:colId xmlns:a16="http://schemas.microsoft.com/office/drawing/2014/main" val="1504946575"/>
                    </a:ext>
                  </a:extLst>
                </a:gridCol>
                <a:gridCol w="402336">
                  <a:extLst>
                    <a:ext uri="{9D8B030D-6E8A-4147-A177-3AD203B41FA5}">
                      <a16:colId xmlns:a16="http://schemas.microsoft.com/office/drawing/2014/main" val="3371090021"/>
                    </a:ext>
                  </a:extLst>
                </a:gridCol>
                <a:gridCol w="402336">
                  <a:extLst>
                    <a:ext uri="{9D8B030D-6E8A-4147-A177-3AD203B41FA5}">
                      <a16:colId xmlns:a16="http://schemas.microsoft.com/office/drawing/2014/main" val="2641895684"/>
                    </a:ext>
                  </a:extLst>
                </a:gridCol>
                <a:gridCol w="402336">
                  <a:extLst>
                    <a:ext uri="{9D8B030D-6E8A-4147-A177-3AD203B41FA5}">
                      <a16:colId xmlns:a16="http://schemas.microsoft.com/office/drawing/2014/main" val="3354512810"/>
                    </a:ext>
                  </a:extLst>
                </a:gridCol>
                <a:gridCol w="402336">
                  <a:extLst>
                    <a:ext uri="{9D8B030D-6E8A-4147-A177-3AD203B41FA5}">
                      <a16:colId xmlns:a16="http://schemas.microsoft.com/office/drawing/2014/main" val="2093702538"/>
                    </a:ext>
                  </a:extLst>
                </a:gridCol>
                <a:gridCol w="402336">
                  <a:extLst>
                    <a:ext uri="{9D8B030D-6E8A-4147-A177-3AD203B41FA5}">
                      <a16:colId xmlns:a16="http://schemas.microsoft.com/office/drawing/2014/main" val="2656000854"/>
                    </a:ext>
                  </a:extLst>
                </a:gridCol>
                <a:gridCol w="402336">
                  <a:extLst>
                    <a:ext uri="{9D8B030D-6E8A-4147-A177-3AD203B41FA5}">
                      <a16:colId xmlns:a16="http://schemas.microsoft.com/office/drawing/2014/main" val="995811764"/>
                    </a:ext>
                  </a:extLst>
                </a:gridCol>
                <a:gridCol w="402336">
                  <a:extLst>
                    <a:ext uri="{9D8B030D-6E8A-4147-A177-3AD203B41FA5}">
                      <a16:colId xmlns:a16="http://schemas.microsoft.com/office/drawing/2014/main" val="2382333075"/>
                    </a:ext>
                  </a:extLst>
                </a:gridCol>
                <a:gridCol w="402336">
                  <a:extLst>
                    <a:ext uri="{9D8B030D-6E8A-4147-A177-3AD203B41FA5}">
                      <a16:colId xmlns:a16="http://schemas.microsoft.com/office/drawing/2014/main" val="3188520021"/>
                    </a:ext>
                  </a:extLst>
                </a:gridCol>
                <a:gridCol w="402336">
                  <a:extLst>
                    <a:ext uri="{9D8B030D-6E8A-4147-A177-3AD203B41FA5}">
                      <a16:colId xmlns:a16="http://schemas.microsoft.com/office/drawing/2014/main" val="1816065508"/>
                    </a:ext>
                  </a:extLst>
                </a:gridCol>
                <a:gridCol w="402336">
                  <a:extLst>
                    <a:ext uri="{9D8B030D-6E8A-4147-A177-3AD203B41FA5}">
                      <a16:colId xmlns:a16="http://schemas.microsoft.com/office/drawing/2014/main" val="2858969405"/>
                    </a:ext>
                  </a:extLst>
                </a:gridCol>
                <a:gridCol w="402336">
                  <a:extLst>
                    <a:ext uri="{9D8B030D-6E8A-4147-A177-3AD203B41FA5}">
                      <a16:colId xmlns:a16="http://schemas.microsoft.com/office/drawing/2014/main" val="795978337"/>
                    </a:ext>
                  </a:extLst>
                </a:gridCol>
                <a:gridCol w="402336">
                  <a:extLst>
                    <a:ext uri="{9D8B030D-6E8A-4147-A177-3AD203B41FA5}">
                      <a16:colId xmlns:a16="http://schemas.microsoft.com/office/drawing/2014/main" val="3466575170"/>
                    </a:ext>
                  </a:extLst>
                </a:gridCol>
                <a:gridCol w="402336">
                  <a:extLst>
                    <a:ext uri="{9D8B030D-6E8A-4147-A177-3AD203B41FA5}">
                      <a16:colId xmlns:a16="http://schemas.microsoft.com/office/drawing/2014/main" val="546262350"/>
                    </a:ext>
                  </a:extLst>
                </a:gridCol>
              </a:tblGrid>
              <a:tr h="274320">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$53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$15</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$7</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$11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$10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$22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$33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$13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$12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$18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$41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$7</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$38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$25</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$12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$10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1000" b="1" kern="1200" dirty="0">
                          <a:solidFill>
                            <a:srgbClr val="FFFFFF"/>
                          </a:solidFill>
                          <a:latin typeface="Lato" panose="020B0604020202020204" pitchFamily="34" charset="0"/>
                          <a:ea typeface="+mn-ea"/>
                          <a:cs typeface="Arial" panose="020B0604020202020204" pitchFamily="34" charset="0"/>
                        </a:rPr>
                        <a:t>$10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3889487310"/>
                  </a:ext>
                </a:extLst>
              </a:tr>
            </a:tbl>
          </a:graphicData>
        </a:graphic>
      </p:graphicFrame>
      <p:graphicFrame>
        <p:nvGraphicFramePr>
          <p:cNvPr id="68" name="Table 67">
            <a:extLst>
              <a:ext uri="{FF2B5EF4-FFF2-40B4-BE49-F238E27FC236}">
                <a16:creationId xmlns:a16="http://schemas.microsoft.com/office/drawing/2014/main" id="{162F1CFA-B7FC-A6E8-C0EC-3172B38BE85F}"/>
              </a:ext>
            </a:extLst>
          </p:cNvPr>
          <p:cNvGraphicFramePr>
            <a:graphicFrameLocks noGrp="1"/>
          </p:cNvGraphicFramePr>
          <p:nvPr/>
        </p:nvGraphicFramePr>
        <p:xfrm>
          <a:off x="440100" y="3009375"/>
          <a:ext cx="914400" cy="370332"/>
        </p:xfrm>
        <a:graphic>
          <a:graphicData uri="http://schemas.openxmlformats.org/drawingml/2006/table">
            <a:tbl>
              <a:tblPr bandRow="1">
                <a:tableStyleId>{5C22544A-7EE6-4342-B048-85BDC9FD1C3A}</a:tableStyleId>
              </a:tblPr>
              <a:tblGrid>
                <a:gridCol w="914400">
                  <a:extLst>
                    <a:ext uri="{9D8B030D-6E8A-4147-A177-3AD203B41FA5}">
                      <a16:colId xmlns:a16="http://schemas.microsoft.com/office/drawing/2014/main" val="1319661565"/>
                    </a:ext>
                  </a:extLst>
                </a:gridCol>
              </a:tblGrid>
              <a:tr h="409308">
                <a:tc>
                  <a:txBody>
                    <a:bodyPr/>
                    <a:lstStyle/>
                    <a:p>
                      <a:pPr algn="ctr"/>
                      <a:r>
                        <a:rPr lang="en-US" sz="1050" b="1" dirty="0">
                          <a:solidFill>
                            <a:schemeClr val="bg1"/>
                          </a:solidFill>
                          <a:latin typeface="Lato" panose="020B0604020202020204" pitchFamily="34" charset="0"/>
                          <a:cs typeface="Arial" panose="020B0604020202020204" pitchFamily="34" charset="0"/>
                        </a:rPr>
                        <a:t>Hiring Freeze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1843070985"/>
                  </a:ext>
                </a:extLst>
              </a:tr>
            </a:tbl>
          </a:graphicData>
        </a:graphic>
      </p:graphicFrame>
      <p:graphicFrame>
        <p:nvGraphicFramePr>
          <p:cNvPr id="69" name="Table 68">
            <a:extLst>
              <a:ext uri="{FF2B5EF4-FFF2-40B4-BE49-F238E27FC236}">
                <a16:creationId xmlns:a16="http://schemas.microsoft.com/office/drawing/2014/main" id="{F49B9D2F-86D0-36BB-BA82-29E198F15B3C}"/>
              </a:ext>
            </a:extLst>
          </p:cNvPr>
          <p:cNvGraphicFramePr>
            <a:graphicFrameLocks noGrp="1"/>
          </p:cNvGraphicFramePr>
          <p:nvPr/>
        </p:nvGraphicFramePr>
        <p:xfrm>
          <a:off x="440100" y="3552803"/>
          <a:ext cx="914400" cy="370332"/>
        </p:xfrm>
        <a:graphic>
          <a:graphicData uri="http://schemas.openxmlformats.org/drawingml/2006/table">
            <a:tbl>
              <a:tblPr bandRow="1">
                <a:tableStyleId>{5C22544A-7EE6-4342-B048-85BDC9FD1C3A}</a:tableStyleId>
              </a:tblPr>
              <a:tblGrid>
                <a:gridCol w="914400">
                  <a:extLst>
                    <a:ext uri="{9D8B030D-6E8A-4147-A177-3AD203B41FA5}">
                      <a16:colId xmlns:a16="http://schemas.microsoft.com/office/drawing/2014/main" val="1319661565"/>
                    </a:ext>
                  </a:extLst>
                </a:gridCol>
              </a:tblGrid>
              <a:tr h="409308">
                <a:tc>
                  <a:txBody>
                    <a:bodyPr/>
                    <a:lstStyle/>
                    <a:p>
                      <a:pPr algn="ctr"/>
                      <a:r>
                        <a:rPr lang="en-US" sz="1050" b="1" dirty="0">
                          <a:solidFill>
                            <a:schemeClr val="bg1"/>
                          </a:solidFill>
                          <a:latin typeface="Lato" panose="020B0604020202020204" pitchFamily="34" charset="0"/>
                          <a:cs typeface="Arial" panose="020B0604020202020204" pitchFamily="34" charset="0"/>
                        </a:rPr>
                        <a:t>Salary Freeze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1843070985"/>
                  </a:ext>
                </a:extLst>
              </a:tr>
            </a:tbl>
          </a:graphicData>
        </a:graphic>
      </p:graphicFrame>
      <p:graphicFrame>
        <p:nvGraphicFramePr>
          <p:cNvPr id="70" name="Table 69">
            <a:extLst>
              <a:ext uri="{FF2B5EF4-FFF2-40B4-BE49-F238E27FC236}">
                <a16:creationId xmlns:a16="http://schemas.microsoft.com/office/drawing/2014/main" id="{F6A63DB6-944C-6C59-6DC7-45A2F0434C86}"/>
              </a:ext>
            </a:extLst>
          </p:cNvPr>
          <p:cNvGraphicFramePr>
            <a:graphicFrameLocks noGrp="1"/>
          </p:cNvGraphicFramePr>
          <p:nvPr/>
        </p:nvGraphicFramePr>
        <p:xfrm>
          <a:off x="444683" y="4133092"/>
          <a:ext cx="914400" cy="370332"/>
        </p:xfrm>
        <a:graphic>
          <a:graphicData uri="http://schemas.openxmlformats.org/drawingml/2006/table">
            <a:tbl>
              <a:tblPr bandRow="1">
                <a:tableStyleId>{5C22544A-7EE6-4342-B048-85BDC9FD1C3A}</a:tableStyleId>
              </a:tblPr>
              <a:tblGrid>
                <a:gridCol w="914400">
                  <a:extLst>
                    <a:ext uri="{9D8B030D-6E8A-4147-A177-3AD203B41FA5}">
                      <a16:colId xmlns:a16="http://schemas.microsoft.com/office/drawing/2014/main" val="1319661565"/>
                    </a:ext>
                  </a:extLst>
                </a:gridCol>
              </a:tblGrid>
              <a:tr h="409308">
                <a:tc>
                  <a:txBody>
                    <a:bodyPr/>
                    <a:lstStyle/>
                    <a:p>
                      <a:pPr algn="ctr"/>
                      <a:r>
                        <a:rPr lang="en-US" sz="1050" b="1" dirty="0">
                          <a:solidFill>
                            <a:schemeClr val="bg1"/>
                          </a:solidFill>
                          <a:latin typeface="Lato" panose="020B0604020202020204" pitchFamily="34" charset="0"/>
                          <a:cs typeface="Arial" panose="020B0604020202020204" pitchFamily="34" charset="0"/>
                        </a:rPr>
                        <a:t>Budget Reductions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1843070985"/>
                  </a:ext>
                </a:extLst>
              </a:tr>
            </a:tbl>
          </a:graphicData>
        </a:graphic>
      </p:graphicFrame>
      <p:graphicFrame>
        <p:nvGraphicFramePr>
          <p:cNvPr id="71" name="Table 70">
            <a:extLst>
              <a:ext uri="{FF2B5EF4-FFF2-40B4-BE49-F238E27FC236}">
                <a16:creationId xmlns:a16="http://schemas.microsoft.com/office/drawing/2014/main" id="{9FE9AE9D-35D0-6391-CA25-0BEA4F9BB833}"/>
              </a:ext>
            </a:extLst>
          </p:cNvPr>
          <p:cNvGraphicFramePr>
            <a:graphicFrameLocks noGrp="1"/>
          </p:cNvGraphicFramePr>
          <p:nvPr/>
        </p:nvGraphicFramePr>
        <p:xfrm>
          <a:off x="444683" y="4700323"/>
          <a:ext cx="914400" cy="370332"/>
        </p:xfrm>
        <a:graphic>
          <a:graphicData uri="http://schemas.openxmlformats.org/drawingml/2006/table">
            <a:tbl>
              <a:tblPr bandRow="1">
                <a:tableStyleId>{5C22544A-7EE6-4342-B048-85BDC9FD1C3A}</a:tableStyleId>
              </a:tblPr>
              <a:tblGrid>
                <a:gridCol w="914400">
                  <a:extLst>
                    <a:ext uri="{9D8B030D-6E8A-4147-A177-3AD203B41FA5}">
                      <a16:colId xmlns:a16="http://schemas.microsoft.com/office/drawing/2014/main" val="1319661565"/>
                    </a:ext>
                  </a:extLst>
                </a:gridCol>
              </a:tblGrid>
              <a:tr h="409308">
                <a:tc>
                  <a:txBody>
                    <a:bodyPr/>
                    <a:lstStyle/>
                    <a:p>
                      <a:pPr algn="ctr"/>
                      <a:r>
                        <a:rPr lang="en-US" sz="1050" b="1" dirty="0" err="1">
                          <a:solidFill>
                            <a:schemeClr val="bg1"/>
                          </a:solidFill>
                          <a:latin typeface="Lato" panose="020B0604020202020204" pitchFamily="34" charset="0"/>
                          <a:cs typeface="Arial" panose="020B0604020202020204" pitchFamily="34" charset="0"/>
                        </a:rPr>
                        <a:t>CapEx</a:t>
                      </a:r>
                      <a:r>
                        <a:rPr lang="en-US" sz="1050" b="1" dirty="0">
                          <a:solidFill>
                            <a:schemeClr val="bg1"/>
                          </a:solidFill>
                          <a:latin typeface="Lato" panose="020B0604020202020204" pitchFamily="34" charset="0"/>
                          <a:cs typeface="Arial" panose="020B0604020202020204" pitchFamily="34" charset="0"/>
                        </a:rPr>
                        <a:t> Freeze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1843070985"/>
                  </a:ext>
                </a:extLst>
              </a:tr>
            </a:tbl>
          </a:graphicData>
        </a:graphic>
      </p:graphicFrame>
      <p:graphicFrame>
        <p:nvGraphicFramePr>
          <p:cNvPr id="72" name="Table 71">
            <a:extLst>
              <a:ext uri="{FF2B5EF4-FFF2-40B4-BE49-F238E27FC236}">
                <a16:creationId xmlns:a16="http://schemas.microsoft.com/office/drawing/2014/main" id="{61D8FB36-A093-054E-25D4-1E730A9E9850}"/>
              </a:ext>
            </a:extLst>
          </p:cNvPr>
          <p:cNvGraphicFramePr>
            <a:graphicFrameLocks noGrp="1"/>
          </p:cNvGraphicFramePr>
          <p:nvPr/>
        </p:nvGraphicFramePr>
        <p:xfrm>
          <a:off x="435083" y="5252455"/>
          <a:ext cx="914400" cy="514350"/>
        </p:xfrm>
        <a:graphic>
          <a:graphicData uri="http://schemas.openxmlformats.org/drawingml/2006/table">
            <a:tbl>
              <a:tblPr bandRow="1">
                <a:tableStyleId>{5C22544A-7EE6-4342-B048-85BDC9FD1C3A}</a:tableStyleId>
              </a:tblPr>
              <a:tblGrid>
                <a:gridCol w="914400">
                  <a:extLst>
                    <a:ext uri="{9D8B030D-6E8A-4147-A177-3AD203B41FA5}">
                      <a16:colId xmlns:a16="http://schemas.microsoft.com/office/drawing/2014/main" val="1319661565"/>
                    </a:ext>
                  </a:extLst>
                </a:gridCol>
              </a:tblGrid>
              <a:tr h="409308">
                <a:tc>
                  <a:txBody>
                    <a:bodyPr/>
                    <a:lstStyle/>
                    <a:p>
                      <a:pPr algn="ctr"/>
                      <a:r>
                        <a:rPr lang="en-US" sz="1050" b="1" dirty="0">
                          <a:solidFill>
                            <a:schemeClr val="bg1"/>
                          </a:solidFill>
                          <a:latin typeface="Lato" panose="020B0604020202020204" pitchFamily="34" charset="0"/>
                          <a:cs typeface="Arial" panose="020B0604020202020204" pitchFamily="34" charset="0"/>
                        </a:rPr>
                        <a:t>Graduate Program Impacts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1843070985"/>
                  </a:ext>
                </a:extLst>
              </a:tr>
            </a:tbl>
          </a:graphicData>
        </a:graphic>
      </p:graphicFrame>
      <p:graphicFrame>
        <p:nvGraphicFramePr>
          <p:cNvPr id="73" name="Table 72">
            <a:extLst>
              <a:ext uri="{FF2B5EF4-FFF2-40B4-BE49-F238E27FC236}">
                <a16:creationId xmlns:a16="http://schemas.microsoft.com/office/drawing/2014/main" id="{B16AB196-D41C-72E2-0332-FB1457568AF4}"/>
              </a:ext>
            </a:extLst>
          </p:cNvPr>
          <p:cNvGraphicFramePr>
            <a:graphicFrameLocks noGrp="1"/>
          </p:cNvGraphicFramePr>
          <p:nvPr/>
        </p:nvGraphicFramePr>
        <p:xfrm>
          <a:off x="1316954" y="1694725"/>
          <a:ext cx="10058400" cy="246888"/>
        </p:xfrm>
        <a:graphic>
          <a:graphicData uri="http://schemas.openxmlformats.org/drawingml/2006/table">
            <a:tbl>
              <a:tblPr firstRow="1" bandRow="1">
                <a:tableStyleId>{5C22544A-7EE6-4342-B048-85BDC9FD1C3A}</a:tableStyleId>
              </a:tblPr>
              <a:tblGrid>
                <a:gridCol w="402336">
                  <a:extLst>
                    <a:ext uri="{9D8B030D-6E8A-4147-A177-3AD203B41FA5}">
                      <a16:colId xmlns:a16="http://schemas.microsoft.com/office/drawing/2014/main" val="3366727930"/>
                    </a:ext>
                  </a:extLst>
                </a:gridCol>
                <a:gridCol w="402336">
                  <a:extLst>
                    <a:ext uri="{9D8B030D-6E8A-4147-A177-3AD203B41FA5}">
                      <a16:colId xmlns:a16="http://schemas.microsoft.com/office/drawing/2014/main" val="2098882434"/>
                    </a:ext>
                  </a:extLst>
                </a:gridCol>
                <a:gridCol w="402336">
                  <a:extLst>
                    <a:ext uri="{9D8B030D-6E8A-4147-A177-3AD203B41FA5}">
                      <a16:colId xmlns:a16="http://schemas.microsoft.com/office/drawing/2014/main" val="2577283830"/>
                    </a:ext>
                  </a:extLst>
                </a:gridCol>
                <a:gridCol w="402336">
                  <a:extLst>
                    <a:ext uri="{9D8B030D-6E8A-4147-A177-3AD203B41FA5}">
                      <a16:colId xmlns:a16="http://schemas.microsoft.com/office/drawing/2014/main" val="1698402314"/>
                    </a:ext>
                  </a:extLst>
                </a:gridCol>
                <a:gridCol w="402336">
                  <a:extLst>
                    <a:ext uri="{9D8B030D-6E8A-4147-A177-3AD203B41FA5}">
                      <a16:colId xmlns:a16="http://schemas.microsoft.com/office/drawing/2014/main" val="1150464436"/>
                    </a:ext>
                  </a:extLst>
                </a:gridCol>
                <a:gridCol w="402336">
                  <a:extLst>
                    <a:ext uri="{9D8B030D-6E8A-4147-A177-3AD203B41FA5}">
                      <a16:colId xmlns:a16="http://schemas.microsoft.com/office/drawing/2014/main" val="357585251"/>
                    </a:ext>
                  </a:extLst>
                </a:gridCol>
                <a:gridCol w="402336">
                  <a:extLst>
                    <a:ext uri="{9D8B030D-6E8A-4147-A177-3AD203B41FA5}">
                      <a16:colId xmlns:a16="http://schemas.microsoft.com/office/drawing/2014/main" val="3436109549"/>
                    </a:ext>
                  </a:extLst>
                </a:gridCol>
                <a:gridCol w="402336">
                  <a:extLst>
                    <a:ext uri="{9D8B030D-6E8A-4147-A177-3AD203B41FA5}">
                      <a16:colId xmlns:a16="http://schemas.microsoft.com/office/drawing/2014/main" val="3059888493"/>
                    </a:ext>
                  </a:extLst>
                </a:gridCol>
                <a:gridCol w="402336">
                  <a:extLst>
                    <a:ext uri="{9D8B030D-6E8A-4147-A177-3AD203B41FA5}">
                      <a16:colId xmlns:a16="http://schemas.microsoft.com/office/drawing/2014/main" val="231828248"/>
                    </a:ext>
                  </a:extLst>
                </a:gridCol>
                <a:gridCol w="402336">
                  <a:extLst>
                    <a:ext uri="{9D8B030D-6E8A-4147-A177-3AD203B41FA5}">
                      <a16:colId xmlns:a16="http://schemas.microsoft.com/office/drawing/2014/main" val="1442598195"/>
                    </a:ext>
                  </a:extLst>
                </a:gridCol>
                <a:gridCol w="402336">
                  <a:extLst>
                    <a:ext uri="{9D8B030D-6E8A-4147-A177-3AD203B41FA5}">
                      <a16:colId xmlns:a16="http://schemas.microsoft.com/office/drawing/2014/main" val="2218046626"/>
                    </a:ext>
                  </a:extLst>
                </a:gridCol>
                <a:gridCol w="402336">
                  <a:extLst>
                    <a:ext uri="{9D8B030D-6E8A-4147-A177-3AD203B41FA5}">
                      <a16:colId xmlns:a16="http://schemas.microsoft.com/office/drawing/2014/main" val="3942148956"/>
                    </a:ext>
                  </a:extLst>
                </a:gridCol>
                <a:gridCol w="402336">
                  <a:extLst>
                    <a:ext uri="{9D8B030D-6E8A-4147-A177-3AD203B41FA5}">
                      <a16:colId xmlns:a16="http://schemas.microsoft.com/office/drawing/2014/main" val="2368816920"/>
                    </a:ext>
                  </a:extLst>
                </a:gridCol>
                <a:gridCol w="402336">
                  <a:extLst>
                    <a:ext uri="{9D8B030D-6E8A-4147-A177-3AD203B41FA5}">
                      <a16:colId xmlns:a16="http://schemas.microsoft.com/office/drawing/2014/main" val="1195966348"/>
                    </a:ext>
                  </a:extLst>
                </a:gridCol>
                <a:gridCol w="402336">
                  <a:extLst>
                    <a:ext uri="{9D8B030D-6E8A-4147-A177-3AD203B41FA5}">
                      <a16:colId xmlns:a16="http://schemas.microsoft.com/office/drawing/2014/main" val="1404368841"/>
                    </a:ext>
                  </a:extLst>
                </a:gridCol>
                <a:gridCol w="402336">
                  <a:extLst>
                    <a:ext uri="{9D8B030D-6E8A-4147-A177-3AD203B41FA5}">
                      <a16:colId xmlns:a16="http://schemas.microsoft.com/office/drawing/2014/main" val="27775497"/>
                    </a:ext>
                  </a:extLst>
                </a:gridCol>
                <a:gridCol w="402336">
                  <a:extLst>
                    <a:ext uri="{9D8B030D-6E8A-4147-A177-3AD203B41FA5}">
                      <a16:colId xmlns:a16="http://schemas.microsoft.com/office/drawing/2014/main" val="1604726318"/>
                    </a:ext>
                  </a:extLst>
                </a:gridCol>
                <a:gridCol w="402336">
                  <a:extLst>
                    <a:ext uri="{9D8B030D-6E8A-4147-A177-3AD203B41FA5}">
                      <a16:colId xmlns:a16="http://schemas.microsoft.com/office/drawing/2014/main" val="4124560193"/>
                    </a:ext>
                  </a:extLst>
                </a:gridCol>
                <a:gridCol w="402336">
                  <a:extLst>
                    <a:ext uri="{9D8B030D-6E8A-4147-A177-3AD203B41FA5}">
                      <a16:colId xmlns:a16="http://schemas.microsoft.com/office/drawing/2014/main" val="697317155"/>
                    </a:ext>
                  </a:extLst>
                </a:gridCol>
                <a:gridCol w="402336">
                  <a:extLst>
                    <a:ext uri="{9D8B030D-6E8A-4147-A177-3AD203B41FA5}">
                      <a16:colId xmlns:a16="http://schemas.microsoft.com/office/drawing/2014/main" val="2448743457"/>
                    </a:ext>
                  </a:extLst>
                </a:gridCol>
                <a:gridCol w="402336">
                  <a:extLst>
                    <a:ext uri="{9D8B030D-6E8A-4147-A177-3AD203B41FA5}">
                      <a16:colId xmlns:a16="http://schemas.microsoft.com/office/drawing/2014/main" val="2052985718"/>
                    </a:ext>
                  </a:extLst>
                </a:gridCol>
                <a:gridCol w="402336">
                  <a:extLst>
                    <a:ext uri="{9D8B030D-6E8A-4147-A177-3AD203B41FA5}">
                      <a16:colId xmlns:a16="http://schemas.microsoft.com/office/drawing/2014/main" val="3462503137"/>
                    </a:ext>
                  </a:extLst>
                </a:gridCol>
                <a:gridCol w="402336">
                  <a:extLst>
                    <a:ext uri="{9D8B030D-6E8A-4147-A177-3AD203B41FA5}">
                      <a16:colId xmlns:a16="http://schemas.microsoft.com/office/drawing/2014/main" val="2622585511"/>
                    </a:ext>
                  </a:extLst>
                </a:gridCol>
                <a:gridCol w="402336">
                  <a:extLst>
                    <a:ext uri="{9D8B030D-6E8A-4147-A177-3AD203B41FA5}">
                      <a16:colId xmlns:a16="http://schemas.microsoft.com/office/drawing/2014/main" val="4077840197"/>
                    </a:ext>
                  </a:extLst>
                </a:gridCol>
                <a:gridCol w="402336">
                  <a:extLst>
                    <a:ext uri="{9D8B030D-6E8A-4147-A177-3AD203B41FA5}">
                      <a16:colId xmlns:a16="http://schemas.microsoft.com/office/drawing/2014/main" val="979228763"/>
                    </a:ext>
                  </a:extLst>
                </a:gridCol>
              </a:tblGrid>
              <a:tr h="274320">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$404</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$691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$139</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$470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$103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$692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$58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$858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$580</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$488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$356</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$28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$646</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$567</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$613</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$112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$58</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$732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$25</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$269</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$91</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$37</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$19</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$62</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tc>
                  <a:txBody>
                    <a:bodyPr/>
                    <a:lstStyle/>
                    <a:p>
                      <a:pPr marL="0" algn="ctr" defTabSz="914400" rtl="0" eaLnBrk="1" fontAlgn="b" latinLnBrk="0" hangingPunct="1"/>
                      <a:r>
                        <a:rPr lang="en-US" sz="900" b="1" kern="1200" dirty="0">
                          <a:solidFill>
                            <a:schemeClr val="bg1"/>
                          </a:solidFill>
                          <a:latin typeface="Lato" panose="020B0604020202020204" pitchFamily="34" charset="0"/>
                          <a:ea typeface="+mn-ea"/>
                          <a:cs typeface="Arial" panose="020B0604020202020204" pitchFamily="34" charset="0"/>
                        </a:rPr>
                        <a:t>$127</a:t>
                      </a:r>
                    </a:p>
                  </a:txBody>
                  <a:tcPr marL="9525" marR="9525" marT="9525"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3263575597"/>
                  </a:ext>
                </a:extLst>
              </a:tr>
            </a:tbl>
          </a:graphicData>
        </a:graphic>
      </p:graphicFrame>
      <p:graphicFrame>
        <p:nvGraphicFramePr>
          <p:cNvPr id="74" name="Table 73">
            <a:extLst>
              <a:ext uri="{FF2B5EF4-FFF2-40B4-BE49-F238E27FC236}">
                <a16:creationId xmlns:a16="http://schemas.microsoft.com/office/drawing/2014/main" id="{4ABA5ACF-AA1C-8FC6-E877-C05DF27AC4C9}"/>
              </a:ext>
            </a:extLst>
          </p:cNvPr>
          <p:cNvGraphicFramePr>
            <a:graphicFrameLocks noGrp="1"/>
          </p:cNvGraphicFramePr>
          <p:nvPr/>
        </p:nvGraphicFramePr>
        <p:xfrm>
          <a:off x="440100" y="1693554"/>
          <a:ext cx="876854" cy="250600"/>
        </p:xfrm>
        <a:graphic>
          <a:graphicData uri="http://schemas.openxmlformats.org/drawingml/2006/table">
            <a:tbl>
              <a:tblPr firstRow="1" bandRow="1">
                <a:tableStyleId>{5C22544A-7EE6-4342-B048-85BDC9FD1C3A}</a:tableStyleId>
              </a:tblPr>
              <a:tblGrid>
                <a:gridCol w="876854">
                  <a:extLst>
                    <a:ext uri="{9D8B030D-6E8A-4147-A177-3AD203B41FA5}">
                      <a16:colId xmlns:a16="http://schemas.microsoft.com/office/drawing/2014/main" val="2886319902"/>
                    </a:ext>
                  </a:extLst>
                </a:gridCol>
              </a:tblGrid>
              <a:tr h="278445">
                <a:tc>
                  <a:txBody>
                    <a:bodyPr/>
                    <a:lstStyle/>
                    <a:p>
                      <a:pPr algn="ctr"/>
                      <a:r>
                        <a:rPr lang="en-US" sz="700" b="1" i="1" kern="1200" dirty="0">
                          <a:solidFill>
                            <a:schemeClr val="bg1"/>
                          </a:solidFill>
                          <a:latin typeface="Lato" panose="020B0604020202020204" pitchFamily="34" charset="0"/>
                          <a:ea typeface="+mn-ea"/>
                          <a:cs typeface="Arial" panose="020B0604020202020204" pitchFamily="34" charset="0"/>
                        </a:rPr>
                        <a:t>NIH Funding (‘24)</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1833323551"/>
                  </a:ext>
                </a:extLst>
              </a:tr>
            </a:tbl>
          </a:graphicData>
        </a:graphic>
      </p:graphicFrame>
      <p:graphicFrame>
        <p:nvGraphicFramePr>
          <p:cNvPr id="75" name="Table 74">
            <a:extLst>
              <a:ext uri="{FF2B5EF4-FFF2-40B4-BE49-F238E27FC236}">
                <a16:creationId xmlns:a16="http://schemas.microsoft.com/office/drawing/2014/main" id="{F0FA1C2C-18AA-6C5C-8D51-622FDEEE2FA7}"/>
              </a:ext>
            </a:extLst>
          </p:cNvPr>
          <p:cNvGraphicFramePr>
            <a:graphicFrameLocks noGrp="1"/>
          </p:cNvGraphicFramePr>
          <p:nvPr/>
        </p:nvGraphicFramePr>
        <p:xfrm>
          <a:off x="435082" y="2031855"/>
          <a:ext cx="914399" cy="246888"/>
        </p:xfrm>
        <a:graphic>
          <a:graphicData uri="http://schemas.openxmlformats.org/drawingml/2006/table">
            <a:tbl>
              <a:tblPr firstRow="1" bandRow="1">
                <a:tableStyleId>{5C22544A-7EE6-4342-B048-85BDC9FD1C3A}</a:tableStyleId>
              </a:tblPr>
              <a:tblGrid>
                <a:gridCol w="914399">
                  <a:extLst>
                    <a:ext uri="{9D8B030D-6E8A-4147-A177-3AD203B41FA5}">
                      <a16:colId xmlns:a16="http://schemas.microsoft.com/office/drawing/2014/main" val="2886319902"/>
                    </a:ext>
                  </a:extLst>
                </a:gridCol>
              </a:tblGrid>
              <a:tr h="274320">
                <a:tc>
                  <a:txBody>
                    <a:bodyPr/>
                    <a:lstStyle/>
                    <a:p>
                      <a:pPr algn="ctr"/>
                      <a:r>
                        <a:rPr lang="en-US" sz="1000" b="1" i="1" kern="1200" dirty="0">
                          <a:solidFill>
                            <a:srgbClr val="FFFFFF"/>
                          </a:solidFill>
                          <a:latin typeface="Lato" panose="020B0604020202020204" pitchFamily="34" charset="0"/>
                          <a:ea typeface="+mn-ea"/>
                          <a:cs typeface="Arial" panose="020B0604020202020204" pitchFamily="34" charset="0"/>
                        </a:rPr>
                        <a:t>Endowment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1833323551"/>
                  </a:ext>
                </a:extLst>
              </a:tr>
            </a:tbl>
          </a:graphicData>
        </a:graphic>
      </p:graphicFrame>
      <p:sp>
        <p:nvSpPr>
          <p:cNvPr id="77" name="TextBox 76">
            <a:extLst>
              <a:ext uri="{FF2B5EF4-FFF2-40B4-BE49-F238E27FC236}">
                <a16:creationId xmlns:a16="http://schemas.microsoft.com/office/drawing/2014/main" id="{5A06EFFF-BE2E-A4EB-62AC-6D8186EE9D09}"/>
              </a:ext>
            </a:extLst>
          </p:cNvPr>
          <p:cNvSpPr txBox="1"/>
          <p:nvPr/>
        </p:nvSpPr>
        <p:spPr>
          <a:xfrm>
            <a:off x="386005" y="1901298"/>
            <a:ext cx="603515" cy="1661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 million</a:t>
            </a:r>
          </a:p>
        </p:txBody>
      </p:sp>
      <p:sp>
        <p:nvSpPr>
          <p:cNvPr id="78" name="TextBox 77">
            <a:extLst>
              <a:ext uri="{FF2B5EF4-FFF2-40B4-BE49-F238E27FC236}">
                <a16:creationId xmlns:a16="http://schemas.microsoft.com/office/drawing/2014/main" id="{8D7E73F0-5C63-2EF1-A943-25C094A89151}"/>
              </a:ext>
            </a:extLst>
          </p:cNvPr>
          <p:cNvSpPr txBox="1"/>
          <p:nvPr/>
        </p:nvSpPr>
        <p:spPr>
          <a:xfrm>
            <a:off x="386004" y="2252652"/>
            <a:ext cx="603515" cy="1661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 billion</a:t>
            </a:r>
          </a:p>
        </p:txBody>
      </p:sp>
      <p:sp>
        <p:nvSpPr>
          <p:cNvPr id="261" name="Oval 260">
            <a:extLst>
              <a:ext uri="{FF2B5EF4-FFF2-40B4-BE49-F238E27FC236}">
                <a16:creationId xmlns:a16="http://schemas.microsoft.com/office/drawing/2014/main" id="{806436F4-E73D-7988-37B5-0F57DD209C1B}"/>
              </a:ext>
            </a:extLst>
          </p:cNvPr>
          <p:cNvSpPr/>
          <p:nvPr/>
        </p:nvSpPr>
        <p:spPr>
          <a:xfrm>
            <a:off x="10235677" y="3606143"/>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62" name="Oval 261">
            <a:extLst>
              <a:ext uri="{FF2B5EF4-FFF2-40B4-BE49-F238E27FC236}">
                <a16:creationId xmlns:a16="http://schemas.microsoft.com/office/drawing/2014/main" id="{DCC56065-655F-F172-FC09-7E5997DC30B4}"/>
              </a:ext>
            </a:extLst>
          </p:cNvPr>
          <p:cNvSpPr/>
          <p:nvPr/>
        </p:nvSpPr>
        <p:spPr>
          <a:xfrm>
            <a:off x="10235677"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63" name="Oval 262">
            <a:extLst>
              <a:ext uri="{FF2B5EF4-FFF2-40B4-BE49-F238E27FC236}">
                <a16:creationId xmlns:a16="http://schemas.microsoft.com/office/drawing/2014/main" id="{D2BCDCF3-71B6-E96A-6922-4B60749C1702}"/>
              </a:ext>
            </a:extLst>
          </p:cNvPr>
          <p:cNvSpPr/>
          <p:nvPr/>
        </p:nvSpPr>
        <p:spPr>
          <a:xfrm>
            <a:off x="10235677"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64" name="Oval 263">
            <a:extLst>
              <a:ext uri="{FF2B5EF4-FFF2-40B4-BE49-F238E27FC236}">
                <a16:creationId xmlns:a16="http://schemas.microsoft.com/office/drawing/2014/main" id="{46951409-63E2-008B-0B97-87F59D9C8F20}"/>
              </a:ext>
            </a:extLst>
          </p:cNvPr>
          <p:cNvSpPr/>
          <p:nvPr/>
        </p:nvSpPr>
        <p:spPr>
          <a:xfrm>
            <a:off x="10235677" y="3050401"/>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65" name="Oval 264">
            <a:extLst>
              <a:ext uri="{FF2B5EF4-FFF2-40B4-BE49-F238E27FC236}">
                <a16:creationId xmlns:a16="http://schemas.microsoft.com/office/drawing/2014/main" id="{438B68B4-7C64-C675-4A73-6CCD2E91CEB8}"/>
              </a:ext>
            </a:extLst>
          </p:cNvPr>
          <p:cNvSpPr/>
          <p:nvPr/>
        </p:nvSpPr>
        <p:spPr>
          <a:xfrm>
            <a:off x="10235677"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cxnSp>
        <p:nvCxnSpPr>
          <p:cNvPr id="248" name="Straight Connector 247">
            <a:extLst>
              <a:ext uri="{FF2B5EF4-FFF2-40B4-BE49-F238E27FC236}">
                <a16:creationId xmlns:a16="http://schemas.microsoft.com/office/drawing/2014/main" id="{DBE7CB18-6DAB-D978-4A8B-6A526AE4039F}"/>
              </a:ext>
            </a:extLst>
          </p:cNvPr>
          <p:cNvCxnSpPr>
            <a:cxnSpLocks/>
          </p:cNvCxnSpPr>
          <p:nvPr/>
        </p:nvCxnSpPr>
        <p:spPr>
          <a:xfrm flipH="1">
            <a:off x="10767457" y="2823152"/>
            <a:ext cx="10811"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249" name="Oval 248">
            <a:extLst>
              <a:ext uri="{FF2B5EF4-FFF2-40B4-BE49-F238E27FC236}">
                <a16:creationId xmlns:a16="http://schemas.microsoft.com/office/drawing/2014/main" id="{7A61D202-6AEE-EA41-D47F-9F005FD432B4}"/>
              </a:ext>
            </a:extLst>
          </p:cNvPr>
          <p:cNvSpPr/>
          <p:nvPr/>
        </p:nvSpPr>
        <p:spPr>
          <a:xfrm>
            <a:off x="10639039" y="3606143"/>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50" name="Oval 249">
            <a:extLst>
              <a:ext uri="{FF2B5EF4-FFF2-40B4-BE49-F238E27FC236}">
                <a16:creationId xmlns:a16="http://schemas.microsoft.com/office/drawing/2014/main" id="{3F928196-0B7C-3DD1-D1B7-22829294FF5A}"/>
              </a:ext>
            </a:extLst>
          </p:cNvPr>
          <p:cNvSpPr/>
          <p:nvPr/>
        </p:nvSpPr>
        <p:spPr>
          <a:xfrm>
            <a:off x="10639039"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51" name="Oval 250">
            <a:extLst>
              <a:ext uri="{FF2B5EF4-FFF2-40B4-BE49-F238E27FC236}">
                <a16:creationId xmlns:a16="http://schemas.microsoft.com/office/drawing/2014/main" id="{3EA91CAF-BE87-BD03-FD2A-336BB74B6559}"/>
              </a:ext>
            </a:extLst>
          </p:cNvPr>
          <p:cNvSpPr/>
          <p:nvPr/>
        </p:nvSpPr>
        <p:spPr>
          <a:xfrm>
            <a:off x="10639039"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52" name="Oval 251">
            <a:extLst>
              <a:ext uri="{FF2B5EF4-FFF2-40B4-BE49-F238E27FC236}">
                <a16:creationId xmlns:a16="http://schemas.microsoft.com/office/drawing/2014/main" id="{45B7BC11-E955-3F05-DF7C-4180B233FEA5}"/>
              </a:ext>
            </a:extLst>
          </p:cNvPr>
          <p:cNvSpPr/>
          <p:nvPr/>
        </p:nvSpPr>
        <p:spPr>
          <a:xfrm>
            <a:off x="10235677" y="258226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53" name="Oval 252">
            <a:extLst>
              <a:ext uri="{FF2B5EF4-FFF2-40B4-BE49-F238E27FC236}">
                <a16:creationId xmlns:a16="http://schemas.microsoft.com/office/drawing/2014/main" id="{46A4064E-1219-26AB-79FA-33D613738961}"/>
              </a:ext>
            </a:extLst>
          </p:cNvPr>
          <p:cNvSpPr/>
          <p:nvPr/>
        </p:nvSpPr>
        <p:spPr>
          <a:xfrm>
            <a:off x="10639039" y="4195959"/>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44" name="Oval 243">
            <a:extLst>
              <a:ext uri="{FF2B5EF4-FFF2-40B4-BE49-F238E27FC236}">
                <a16:creationId xmlns:a16="http://schemas.microsoft.com/office/drawing/2014/main" id="{1DE07E14-5FBC-9DB0-B114-5F85305461FF}"/>
              </a:ext>
            </a:extLst>
          </p:cNvPr>
          <p:cNvSpPr/>
          <p:nvPr/>
        </p:nvSpPr>
        <p:spPr>
          <a:xfrm>
            <a:off x="9832531"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45" name="Oval 244">
            <a:extLst>
              <a:ext uri="{FF2B5EF4-FFF2-40B4-BE49-F238E27FC236}">
                <a16:creationId xmlns:a16="http://schemas.microsoft.com/office/drawing/2014/main" id="{927F8A39-C25D-0114-B9A3-C8468E31183C}"/>
              </a:ext>
            </a:extLst>
          </p:cNvPr>
          <p:cNvSpPr/>
          <p:nvPr/>
        </p:nvSpPr>
        <p:spPr>
          <a:xfrm>
            <a:off x="9832531"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46" name="Oval 245">
            <a:extLst>
              <a:ext uri="{FF2B5EF4-FFF2-40B4-BE49-F238E27FC236}">
                <a16:creationId xmlns:a16="http://schemas.microsoft.com/office/drawing/2014/main" id="{CDCA74F0-1DC3-DFED-6FC2-EBAED541E349}"/>
              </a:ext>
            </a:extLst>
          </p:cNvPr>
          <p:cNvSpPr/>
          <p:nvPr/>
        </p:nvSpPr>
        <p:spPr>
          <a:xfrm>
            <a:off x="9832531"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47" name="Oval 246">
            <a:extLst>
              <a:ext uri="{FF2B5EF4-FFF2-40B4-BE49-F238E27FC236}">
                <a16:creationId xmlns:a16="http://schemas.microsoft.com/office/drawing/2014/main" id="{6ECBC468-8313-D6EB-FC1A-067C5E184DF7}"/>
              </a:ext>
            </a:extLst>
          </p:cNvPr>
          <p:cNvSpPr/>
          <p:nvPr/>
        </p:nvSpPr>
        <p:spPr>
          <a:xfrm>
            <a:off x="9832531"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cxnSp>
        <p:nvCxnSpPr>
          <p:cNvPr id="230" name="Straight Connector 229">
            <a:extLst>
              <a:ext uri="{FF2B5EF4-FFF2-40B4-BE49-F238E27FC236}">
                <a16:creationId xmlns:a16="http://schemas.microsoft.com/office/drawing/2014/main" id="{13F116ED-38AA-35C0-85A8-BE73C7BC7DBD}"/>
              </a:ext>
            </a:extLst>
          </p:cNvPr>
          <p:cNvCxnSpPr>
            <a:cxnSpLocks/>
          </p:cNvCxnSpPr>
          <p:nvPr/>
        </p:nvCxnSpPr>
        <p:spPr>
          <a:xfrm>
            <a:off x="3144932" y="2823152"/>
            <a:ext cx="17935"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231" name="Oval 230">
            <a:extLst>
              <a:ext uri="{FF2B5EF4-FFF2-40B4-BE49-F238E27FC236}">
                <a16:creationId xmlns:a16="http://schemas.microsoft.com/office/drawing/2014/main" id="{3DCA81F3-1290-9EC8-2061-1929A0A68DE6}"/>
              </a:ext>
            </a:extLst>
          </p:cNvPr>
          <p:cNvSpPr/>
          <p:nvPr/>
        </p:nvSpPr>
        <p:spPr>
          <a:xfrm>
            <a:off x="3022667" y="3606143"/>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32" name="Oval 231">
            <a:extLst>
              <a:ext uri="{FF2B5EF4-FFF2-40B4-BE49-F238E27FC236}">
                <a16:creationId xmlns:a16="http://schemas.microsoft.com/office/drawing/2014/main" id="{EA6A0883-DB94-8B2C-5213-1263855D9AF6}"/>
              </a:ext>
            </a:extLst>
          </p:cNvPr>
          <p:cNvSpPr/>
          <p:nvPr/>
        </p:nvSpPr>
        <p:spPr>
          <a:xfrm>
            <a:off x="3023796"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33" name="Oval 232">
            <a:extLst>
              <a:ext uri="{FF2B5EF4-FFF2-40B4-BE49-F238E27FC236}">
                <a16:creationId xmlns:a16="http://schemas.microsoft.com/office/drawing/2014/main" id="{4A8D2929-E27A-BD35-1721-2C4999D2A179}"/>
              </a:ext>
            </a:extLst>
          </p:cNvPr>
          <p:cNvSpPr/>
          <p:nvPr/>
        </p:nvSpPr>
        <p:spPr>
          <a:xfrm>
            <a:off x="3016171"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34" name="Oval 233">
            <a:extLst>
              <a:ext uri="{FF2B5EF4-FFF2-40B4-BE49-F238E27FC236}">
                <a16:creationId xmlns:a16="http://schemas.microsoft.com/office/drawing/2014/main" id="{D5721286-554E-1EA7-688B-4A4634494BA5}"/>
              </a:ext>
            </a:extLst>
          </p:cNvPr>
          <p:cNvSpPr/>
          <p:nvPr/>
        </p:nvSpPr>
        <p:spPr>
          <a:xfrm>
            <a:off x="3016172" y="3050401"/>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235" name="Oval 234">
            <a:extLst>
              <a:ext uri="{FF2B5EF4-FFF2-40B4-BE49-F238E27FC236}">
                <a16:creationId xmlns:a16="http://schemas.microsoft.com/office/drawing/2014/main" id="{C4BA16FE-6384-07F2-6C9B-3FB8496658E8}"/>
              </a:ext>
            </a:extLst>
          </p:cNvPr>
          <p:cNvSpPr/>
          <p:nvPr/>
        </p:nvSpPr>
        <p:spPr>
          <a:xfrm>
            <a:off x="3022665" y="4195959"/>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grpSp>
        <p:nvGrpSpPr>
          <p:cNvPr id="94" name="Group 93">
            <a:extLst>
              <a:ext uri="{FF2B5EF4-FFF2-40B4-BE49-F238E27FC236}">
                <a16:creationId xmlns:a16="http://schemas.microsoft.com/office/drawing/2014/main" id="{EAF6A3F0-BF93-2370-4B58-D9BB2CBBFAA7}"/>
              </a:ext>
            </a:extLst>
          </p:cNvPr>
          <p:cNvGrpSpPr/>
          <p:nvPr/>
        </p:nvGrpSpPr>
        <p:grpSpPr>
          <a:xfrm>
            <a:off x="4599893" y="2702710"/>
            <a:ext cx="276029" cy="2941290"/>
            <a:chOff x="3950753" y="2986542"/>
            <a:chExt cx="276029" cy="3268101"/>
          </a:xfrm>
        </p:grpSpPr>
        <p:cxnSp>
          <p:nvCxnSpPr>
            <p:cNvPr id="218" name="Straight Connector 217">
              <a:extLst>
                <a:ext uri="{FF2B5EF4-FFF2-40B4-BE49-F238E27FC236}">
                  <a16:creationId xmlns:a16="http://schemas.microsoft.com/office/drawing/2014/main" id="{755ED8D4-3850-E559-B152-2937C59C2112}"/>
                </a:ext>
              </a:extLst>
            </p:cNvPr>
            <p:cNvCxnSpPr>
              <a:cxnSpLocks/>
            </p:cNvCxnSpPr>
            <p:nvPr/>
          </p:nvCxnSpPr>
          <p:spPr>
            <a:xfrm>
              <a:off x="4084040" y="2986542"/>
              <a:ext cx="11477" cy="3138472"/>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356" name="Oval 355">
              <a:extLst>
                <a:ext uri="{FF2B5EF4-FFF2-40B4-BE49-F238E27FC236}">
                  <a16:creationId xmlns:a16="http://schemas.microsoft.com/office/drawing/2014/main" id="{98776BBB-B240-C518-1BC7-21FA4E96659A}"/>
                </a:ext>
              </a:extLst>
            </p:cNvPr>
            <p:cNvSpPr/>
            <p:nvPr/>
          </p:nvSpPr>
          <p:spPr>
            <a:xfrm>
              <a:off x="3950753" y="3986161"/>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20" name="Oval 219">
              <a:extLst>
                <a:ext uri="{FF2B5EF4-FFF2-40B4-BE49-F238E27FC236}">
                  <a16:creationId xmlns:a16="http://schemas.microsoft.com/office/drawing/2014/main" id="{25CEA483-862C-7600-77FE-4EAF2CBE9C11}"/>
                </a:ext>
              </a:extLst>
            </p:cNvPr>
            <p:cNvSpPr/>
            <p:nvPr/>
          </p:nvSpPr>
          <p:spPr>
            <a:xfrm>
              <a:off x="3959135" y="5272633"/>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22" name="Oval 221">
              <a:extLst>
                <a:ext uri="{FF2B5EF4-FFF2-40B4-BE49-F238E27FC236}">
                  <a16:creationId xmlns:a16="http://schemas.microsoft.com/office/drawing/2014/main" id="{8771B4D8-33E4-4A52-AE00-83B84F0AD1C0}"/>
                </a:ext>
              </a:extLst>
            </p:cNvPr>
            <p:cNvSpPr/>
            <p:nvPr/>
          </p:nvSpPr>
          <p:spPr>
            <a:xfrm>
              <a:off x="3951511" y="3372865"/>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23" name="Oval 222">
              <a:extLst>
                <a:ext uri="{FF2B5EF4-FFF2-40B4-BE49-F238E27FC236}">
                  <a16:creationId xmlns:a16="http://schemas.microsoft.com/office/drawing/2014/main" id="{02B03122-1C64-F937-C196-544C712DBDCA}"/>
                </a:ext>
              </a:extLst>
            </p:cNvPr>
            <p:cNvSpPr/>
            <p:nvPr/>
          </p:nvSpPr>
          <p:spPr>
            <a:xfrm>
              <a:off x="3958004" y="4645707"/>
              <a:ext cx="267647" cy="267647"/>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57" name="Oval 356">
              <a:extLst>
                <a:ext uri="{FF2B5EF4-FFF2-40B4-BE49-F238E27FC236}">
                  <a16:creationId xmlns:a16="http://schemas.microsoft.com/office/drawing/2014/main" id="{26947FBF-B50E-BBF8-14AA-35B46C2D4C2D}"/>
                </a:ext>
              </a:extLst>
            </p:cNvPr>
            <p:cNvSpPr/>
            <p:nvPr/>
          </p:nvSpPr>
          <p:spPr>
            <a:xfrm>
              <a:off x="3956369" y="5986996"/>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grpSp>
      <p:grpSp>
        <p:nvGrpSpPr>
          <p:cNvPr id="95" name="Group 94">
            <a:extLst>
              <a:ext uri="{FF2B5EF4-FFF2-40B4-BE49-F238E27FC236}">
                <a16:creationId xmlns:a16="http://schemas.microsoft.com/office/drawing/2014/main" id="{90A01761-DB99-CBAB-12E0-E4AEC9CE86E6}"/>
              </a:ext>
            </a:extLst>
          </p:cNvPr>
          <p:cNvGrpSpPr/>
          <p:nvPr/>
        </p:nvGrpSpPr>
        <p:grpSpPr>
          <a:xfrm>
            <a:off x="5002469" y="2702710"/>
            <a:ext cx="276031" cy="2945066"/>
            <a:chOff x="4350965" y="2986542"/>
            <a:chExt cx="276031" cy="3272296"/>
          </a:xfrm>
        </p:grpSpPr>
        <p:cxnSp>
          <p:nvCxnSpPr>
            <p:cNvPr id="212" name="Straight Connector 211">
              <a:extLst>
                <a:ext uri="{FF2B5EF4-FFF2-40B4-BE49-F238E27FC236}">
                  <a16:creationId xmlns:a16="http://schemas.microsoft.com/office/drawing/2014/main" id="{78854B8B-1D74-C732-CF02-43769684AA4E}"/>
                </a:ext>
              </a:extLst>
            </p:cNvPr>
            <p:cNvCxnSpPr>
              <a:cxnSpLocks/>
            </p:cNvCxnSpPr>
            <p:nvPr/>
          </p:nvCxnSpPr>
          <p:spPr>
            <a:xfrm>
              <a:off x="4478147" y="2986542"/>
              <a:ext cx="17584" cy="3138472"/>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358" name="Oval 357">
              <a:extLst>
                <a:ext uri="{FF2B5EF4-FFF2-40B4-BE49-F238E27FC236}">
                  <a16:creationId xmlns:a16="http://schemas.microsoft.com/office/drawing/2014/main" id="{D870C0A4-9DA0-DFEA-2BED-46646104AE35}"/>
                </a:ext>
              </a:extLst>
            </p:cNvPr>
            <p:cNvSpPr/>
            <p:nvPr/>
          </p:nvSpPr>
          <p:spPr>
            <a:xfrm>
              <a:off x="4350967" y="3986161"/>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59" name="Oval 358">
              <a:extLst>
                <a:ext uri="{FF2B5EF4-FFF2-40B4-BE49-F238E27FC236}">
                  <a16:creationId xmlns:a16="http://schemas.microsoft.com/office/drawing/2014/main" id="{D0D312D3-0675-87DA-A20C-B65B7D0AE37A}"/>
                </a:ext>
              </a:extLst>
            </p:cNvPr>
            <p:cNvSpPr/>
            <p:nvPr/>
          </p:nvSpPr>
          <p:spPr>
            <a:xfrm>
              <a:off x="4350965" y="4641512"/>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14" name="Oval 213">
              <a:extLst>
                <a:ext uri="{FF2B5EF4-FFF2-40B4-BE49-F238E27FC236}">
                  <a16:creationId xmlns:a16="http://schemas.microsoft.com/office/drawing/2014/main" id="{0EFC3F60-F59B-37AF-593C-7ED29F8DC9BC}"/>
                </a:ext>
              </a:extLst>
            </p:cNvPr>
            <p:cNvSpPr/>
            <p:nvPr/>
          </p:nvSpPr>
          <p:spPr>
            <a:xfrm>
              <a:off x="4359349" y="5272633"/>
              <a:ext cx="267647" cy="267647"/>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15" name="Oval 214">
              <a:extLst>
                <a:ext uri="{FF2B5EF4-FFF2-40B4-BE49-F238E27FC236}">
                  <a16:creationId xmlns:a16="http://schemas.microsoft.com/office/drawing/2014/main" id="{706E6FE2-622A-8772-4AF2-E5A309CC8EB6}"/>
                </a:ext>
              </a:extLst>
            </p:cNvPr>
            <p:cNvSpPr/>
            <p:nvPr/>
          </p:nvSpPr>
          <p:spPr>
            <a:xfrm>
              <a:off x="4351724" y="5991191"/>
              <a:ext cx="267647" cy="267647"/>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16" name="Oval 215">
              <a:extLst>
                <a:ext uri="{FF2B5EF4-FFF2-40B4-BE49-F238E27FC236}">
                  <a16:creationId xmlns:a16="http://schemas.microsoft.com/office/drawing/2014/main" id="{1C0DADCD-8679-FA30-BEDB-7F84A7A1E0C1}"/>
                </a:ext>
              </a:extLst>
            </p:cNvPr>
            <p:cNvSpPr/>
            <p:nvPr/>
          </p:nvSpPr>
          <p:spPr>
            <a:xfrm>
              <a:off x="4351725" y="3372865"/>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grpSp>
      <p:grpSp>
        <p:nvGrpSpPr>
          <p:cNvPr id="96" name="Group 95">
            <a:extLst>
              <a:ext uri="{FF2B5EF4-FFF2-40B4-BE49-F238E27FC236}">
                <a16:creationId xmlns:a16="http://schemas.microsoft.com/office/drawing/2014/main" id="{875DC5EB-564F-7DE3-49EF-AE29AAF42769}"/>
              </a:ext>
            </a:extLst>
          </p:cNvPr>
          <p:cNvGrpSpPr/>
          <p:nvPr/>
        </p:nvGrpSpPr>
        <p:grpSpPr>
          <a:xfrm>
            <a:off x="7820641" y="2823152"/>
            <a:ext cx="276031" cy="2824624"/>
            <a:chOff x="4751179" y="3120366"/>
            <a:chExt cx="276031" cy="3138472"/>
          </a:xfrm>
        </p:grpSpPr>
        <p:cxnSp>
          <p:nvCxnSpPr>
            <p:cNvPr id="206" name="Straight Connector 205">
              <a:extLst>
                <a:ext uri="{FF2B5EF4-FFF2-40B4-BE49-F238E27FC236}">
                  <a16:creationId xmlns:a16="http://schemas.microsoft.com/office/drawing/2014/main" id="{44BF1F38-A207-4A2C-7A7F-58D72AD40832}"/>
                </a:ext>
              </a:extLst>
            </p:cNvPr>
            <p:cNvCxnSpPr>
              <a:cxnSpLocks/>
            </p:cNvCxnSpPr>
            <p:nvPr/>
          </p:nvCxnSpPr>
          <p:spPr>
            <a:xfrm flipH="1">
              <a:off x="4885059" y="3120366"/>
              <a:ext cx="1990" cy="3004648"/>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360" name="Oval 359">
              <a:extLst>
                <a:ext uri="{FF2B5EF4-FFF2-40B4-BE49-F238E27FC236}">
                  <a16:creationId xmlns:a16="http://schemas.microsoft.com/office/drawing/2014/main" id="{0971E5F1-E609-283F-EBCE-B79F96EA9C1E}"/>
                </a:ext>
              </a:extLst>
            </p:cNvPr>
            <p:cNvSpPr/>
            <p:nvPr/>
          </p:nvSpPr>
          <p:spPr>
            <a:xfrm>
              <a:off x="4751179" y="4641512"/>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07" name="Oval 206">
              <a:extLst>
                <a:ext uri="{FF2B5EF4-FFF2-40B4-BE49-F238E27FC236}">
                  <a16:creationId xmlns:a16="http://schemas.microsoft.com/office/drawing/2014/main" id="{B009C981-1247-28E9-BF9C-6A08542ECC9D}"/>
                </a:ext>
              </a:extLst>
            </p:cNvPr>
            <p:cNvSpPr/>
            <p:nvPr/>
          </p:nvSpPr>
          <p:spPr>
            <a:xfrm>
              <a:off x="4758434" y="3990356"/>
              <a:ext cx="267647" cy="267647"/>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08" name="Oval 207">
              <a:extLst>
                <a:ext uri="{FF2B5EF4-FFF2-40B4-BE49-F238E27FC236}">
                  <a16:creationId xmlns:a16="http://schemas.microsoft.com/office/drawing/2014/main" id="{B9C4CB1C-34FD-925D-059F-55DF83E26FD5}"/>
                </a:ext>
              </a:extLst>
            </p:cNvPr>
            <p:cNvSpPr/>
            <p:nvPr/>
          </p:nvSpPr>
          <p:spPr>
            <a:xfrm>
              <a:off x="4759563" y="5272633"/>
              <a:ext cx="267647" cy="267647"/>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09" name="Oval 208">
              <a:extLst>
                <a:ext uri="{FF2B5EF4-FFF2-40B4-BE49-F238E27FC236}">
                  <a16:creationId xmlns:a16="http://schemas.microsoft.com/office/drawing/2014/main" id="{5BB6019C-15DF-3008-B18D-0C84D45316EC}"/>
                </a:ext>
              </a:extLst>
            </p:cNvPr>
            <p:cNvSpPr/>
            <p:nvPr/>
          </p:nvSpPr>
          <p:spPr>
            <a:xfrm>
              <a:off x="4757381" y="5991191"/>
              <a:ext cx="267647" cy="267647"/>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10" name="Oval 209">
              <a:extLst>
                <a:ext uri="{FF2B5EF4-FFF2-40B4-BE49-F238E27FC236}">
                  <a16:creationId xmlns:a16="http://schemas.microsoft.com/office/drawing/2014/main" id="{57ABEBFA-853F-80EF-9280-66E254361F81}"/>
                </a:ext>
              </a:extLst>
            </p:cNvPr>
            <p:cNvSpPr/>
            <p:nvPr/>
          </p:nvSpPr>
          <p:spPr>
            <a:xfrm>
              <a:off x="4751939" y="3372865"/>
              <a:ext cx="267647" cy="267647"/>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grpSp>
      <p:cxnSp>
        <p:nvCxnSpPr>
          <p:cNvPr id="194" name="Straight Connector 193">
            <a:extLst>
              <a:ext uri="{FF2B5EF4-FFF2-40B4-BE49-F238E27FC236}">
                <a16:creationId xmlns:a16="http://schemas.microsoft.com/office/drawing/2014/main" id="{A2F58F54-F2D3-F111-B847-5C304E9EFA24}"/>
              </a:ext>
            </a:extLst>
          </p:cNvPr>
          <p:cNvCxnSpPr>
            <a:cxnSpLocks/>
          </p:cNvCxnSpPr>
          <p:nvPr/>
        </p:nvCxnSpPr>
        <p:spPr>
          <a:xfrm>
            <a:off x="4328288" y="2823152"/>
            <a:ext cx="2558"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95" name="Oval 194">
            <a:extLst>
              <a:ext uri="{FF2B5EF4-FFF2-40B4-BE49-F238E27FC236}">
                <a16:creationId xmlns:a16="http://schemas.microsoft.com/office/drawing/2014/main" id="{3B91B974-6BF4-1AB6-EA36-C85F406EC8C1}"/>
              </a:ext>
            </a:extLst>
          </p:cNvPr>
          <p:cNvSpPr/>
          <p:nvPr/>
        </p:nvSpPr>
        <p:spPr>
          <a:xfrm>
            <a:off x="4195744" y="360614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96" name="Oval 195">
            <a:extLst>
              <a:ext uri="{FF2B5EF4-FFF2-40B4-BE49-F238E27FC236}">
                <a16:creationId xmlns:a16="http://schemas.microsoft.com/office/drawing/2014/main" id="{DF5D73E3-7F3E-984A-6327-89494D5D681B}"/>
              </a:ext>
            </a:extLst>
          </p:cNvPr>
          <p:cNvSpPr/>
          <p:nvPr/>
        </p:nvSpPr>
        <p:spPr>
          <a:xfrm>
            <a:off x="4195744" y="4760192"/>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97" name="Oval 196">
            <a:extLst>
              <a:ext uri="{FF2B5EF4-FFF2-40B4-BE49-F238E27FC236}">
                <a16:creationId xmlns:a16="http://schemas.microsoft.com/office/drawing/2014/main" id="{C9953085-4EBC-A37E-AFEE-F84E92EB293C}"/>
              </a:ext>
            </a:extLst>
          </p:cNvPr>
          <p:cNvSpPr/>
          <p:nvPr/>
        </p:nvSpPr>
        <p:spPr>
          <a:xfrm>
            <a:off x="4195744"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98" name="Oval 197">
            <a:extLst>
              <a:ext uri="{FF2B5EF4-FFF2-40B4-BE49-F238E27FC236}">
                <a16:creationId xmlns:a16="http://schemas.microsoft.com/office/drawing/2014/main" id="{C0303A26-6B6A-0B03-8D43-EA933E7F257A}"/>
              </a:ext>
            </a:extLst>
          </p:cNvPr>
          <p:cNvSpPr/>
          <p:nvPr/>
        </p:nvSpPr>
        <p:spPr>
          <a:xfrm>
            <a:off x="4195744"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99" name="Oval 198">
            <a:extLst>
              <a:ext uri="{FF2B5EF4-FFF2-40B4-BE49-F238E27FC236}">
                <a16:creationId xmlns:a16="http://schemas.microsoft.com/office/drawing/2014/main" id="{57105D1D-53EF-3BDB-5F22-522358C35E05}"/>
              </a:ext>
            </a:extLst>
          </p:cNvPr>
          <p:cNvSpPr/>
          <p:nvPr/>
        </p:nvSpPr>
        <p:spPr>
          <a:xfrm>
            <a:off x="4195744"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63" name="Oval 362">
            <a:extLst>
              <a:ext uri="{FF2B5EF4-FFF2-40B4-BE49-F238E27FC236}">
                <a16:creationId xmlns:a16="http://schemas.microsoft.com/office/drawing/2014/main" id="{9D2113B9-3AE7-B80A-2190-ECFFE6C6DA45}"/>
              </a:ext>
            </a:extLst>
          </p:cNvPr>
          <p:cNvSpPr/>
          <p:nvPr/>
        </p:nvSpPr>
        <p:spPr>
          <a:xfrm>
            <a:off x="4195744" y="419218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cxnSp>
        <p:nvCxnSpPr>
          <p:cNvPr id="188" name="Straight Connector 187">
            <a:extLst>
              <a:ext uri="{FF2B5EF4-FFF2-40B4-BE49-F238E27FC236}">
                <a16:creationId xmlns:a16="http://schemas.microsoft.com/office/drawing/2014/main" id="{13AC8604-CA81-B2BB-EFE5-23FAC3BB2557}"/>
              </a:ext>
            </a:extLst>
          </p:cNvPr>
          <p:cNvCxnSpPr>
            <a:cxnSpLocks/>
          </p:cNvCxnSpPr>
          <p:nvPr/>
        </p:nvCxnSpPr>
        <p:spPr>
          <a:xfrm flipH="1">
            <a:off x="7574572" y="2823152"/>
            <a:ext cx="15799"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89" name="Oval 188">
            <a:extLst>
              <a:ext uri="{FF2B5EF4-FFF2-40B4-BE49-F238E27FC236}">
                <a16:creationId xmlns:a16="http://schemas.microsoft.com/office/drawing/2014/main" id="{4F064854-3C10-CCD5-E443-8B9982DFDD3F}"/>
              </a:ext>
            </a:extLst>
          </p:cNvPr>
          <p:cNvSpPr/>
          <p:nvPr/>
        </p:nvSpPr>
        <p:spPr>
          <a:xfrm>
            <a:off x="7447947" y="3606143"/>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90" name="Oval 189">
            <a:extLst>
              <a:ext uri="{FF2B5EF4-FFF2-40B4-BE49-F238E27FC236}">
                <a16:creationId xmlns:a16="http://schemas.microsoft.com/office/drawing/2014/main" id="{3443D3BA-01AF-0607-AF9B-931FA43FABBF}"/>
              </a:ext>
            </a:extLst>
          </p:cNvPr>
          <p:cNvSpPr/>
          <p:nvPr/>
        </p:nvSpPr>
        <p:spPr>
          <a:xfrm>
            <a:off x="7449076" y="4760192"/>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91" name="Oval 190">
            <a:extLst>
              <a:ext uri="{FF2B5EF4-FFF2-40B4-BE49-F238E27FC236}">
                <a16:creationId xmlns:a16="http://schemas.microsoft.com/office/drawing/2014/main" id="{AA340C87-7C28-5004-9683-5B54AD7CC1FA}"/>
              </a:ext>
            </a:extLst>
          </p:cNvPr>
          <p:cNvSpPr/>
          <p:nvPr/>
        </p:nvSpPr>
        <p:spPr>
          <a:xfrm>
            <a:off x="7441451" y="5406894"/>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92" name="Oval 191">
            <a:extLst>
              <a:ext uri="{FF2B5EF4-FFF2-40B4-BE49-F238E27FC236}">
                <a16:creationId xmlns:a16="http://schemas.microsoft.com/office/drawing/2014/main" id="{5AA605C2-C5C3-8501-F77F-175413D23400}"/>
              </a:ext>
            </a:extLst>
          </p:cNvPr>
          <p:cNvSpPr/>
          <p:nvPr/>
        </p:nvSpPr>
        <p:spPr>
          <a:xfrm>
            <a:off x="7441452"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93" name="Oval 192">
            <a:extLst>
              <a:ext uri="{FF2B5EF4-FFF2-40B4-BE49-F238E27FC236}">
                <a16:creationId xmlns:a16="http://schemas.microsoft.com/office/drawing/2014/main" id="{73A3BA45-CA1F-F6E0-8CF1-40B101941F88}"/>
              </a:ext>
            </a:extLst>
          </p:cNvPr>
          <p:cNvSpPr/>
          <p:nvPr/>
        </p:nvSpPr>
        <p:spPr>
          <a:xfrm>
            <a:off x="7447945"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64" name="Oval 363">
            <a:extLst>
              <a:ext uri="{FF2B5EF4-FFF2-40B4-BE49-F238E27FC236}">
                <a16:creationId xmlns:a16="http://schemas.microsoft.com/office/drawing/2014/main" id="{79FD145C-6E61-7F0C-2EBE-B415AFD0721C}"/>
              </a:ext>
            </a:extLst>
          </p:cNvPr>
          <p:cNvSpPr/>
          <p:nvPr/>
        </p:nvSpPr>
        <p:spPr>
          <a:xfrm>
            <a:off x="6642073" y="540311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83" name="Oval 182">
            <a:extLst>
              <a:ext uri="{FF2B5EF4-FFF2-40B4-BE49-F238E27FC236}">
                <a16:creationId xmlns:a16="http://schemas.microsoft.com/office/drawing/2014/main" id="{13226D1C-9123-DC15-5243-176D74B25EC6}"/>
              </a:ext>
            </a:extLst>
          </p:cNvPr>
          <p:cNvSpPr/>
          <p:nvPr/>
        </p:nvSpPr>
        <p:spPr>
          <a:xfrm>
            <a:off x="6643710" y="3606143"/>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84" name="Oval 183">
            <a:extLst>
              <a:ext uri="{FF2B5EF4-FFF2-40B4-BE49-F238E27FC236}">
                <a16:creationId xmlns:a16="http://schemas.microsoft.com/office/drawing/2014/main" id="{88B13397-9A34-1F87-2F5F-D6DF414F0DDC}"/>
              </a:ext>
            </a:extLst>
          </p:cNvPr>
          <p:cNvSpPr/>
          <p:nvPr/>
        </p:nvSpPr>
        <p:spPr>
          <a:xfrm>
            <a:off x="6644839"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86" name="Oval 185">
            <a:extLst>
              <a:ext uri="{FF2B5EF4-FFF2-40B4-BE49-F238E27FC236}">
                <a16:creationId xmlns:a16="http://schemas.microsoft.com/office/drawing/2014/main" id="{9B680FD7-70C4-183E-6622-038B6F98B09F}"/>
              </a:ext>
            </a:extLst>
          </p:cNvPr>
          <p:cNvSpPr/>
          <p:nvPr/>
        </p:nvSpPr>
        <p:spPr>
          <a:xfrm>
            <a:off x="6637215"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87" name="Oval 186">
            <a:extLst>
              <a:ext uri="{FF2B5EF4-FFF2-40B4-BE49-F238E27FC236}">
                <a16:creationId xmlns:a16="http://schemas.microsoft.com/office/drawing/2014/main" id="{94B10E27-43D0-B26B-5E6E-DE190CDFBBF1}"/>
              </a:ext>
            </a:extLst>
          </p:cNvPr>
          <p:cNvSpPr/>
          <p:nvPr/>
        </p:nvSpPr>
        <p:spPr>
          <a:xfrm>
            <a:off x="6643708"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77" name="Oval 176">
            <a:extLst>
              <a:ext uri="{FF2B5EF4-FFF2-40B4-BE49-F238E27FC236}">
                <a16:creationId xmlns:a16="http://schemas.microsoft.com/office/drawing/2014/main" id="{4E6E90DF-22F1-77CB-FC84-CF33E30AB043}"/>
              </a:ext>
            </a:extLst>
          </p:cNvPr>
          <p:cNvSpPr/>
          <p:nvPr/>
        </p:nvSpPr>
        <p:spPr>
          <a:xfrm>
            <a:off x="2590328" y="360614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78" name="Oval 177">
            <a:extLst>
              <a:ext uri="{FF2B5EF4-FFF2-40B4-BE49-F238E27FC236}">
                <a16:creationId xmlns:a16="http://schemas.microsoft.com/office/drawing/2014/main" id="{55A945B1-7FA7-0570-949A-2EA8E6682A54}"/>
              </a:ext>
            </a:extLst>
          </p:cNvPr>
          <p:cNvSpPr/>
          <p:nvPr/>
        </p:nvSpPr>
        <p:spPr>
          <a:xfrm>
            <a:off x="2591457"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79" name="Oval 178">
            <a:extLst>
              <a:ext uri="{FF2B5EF4-FFF2-40B4-BE49-F238E27FC236}">
                <a16:creationId xmlns:a16="http://schemas.microsoft.com/office/drawing/2014/main" id="{C3228C05-E5C4-B65C-0379-9D9ED54634B9}"/>
              </a:ext>
            </a:extLst>
          </p:cNvPr>
          <p:cNvSpPr/>
          <p:nvPr/>
        </p:nvSpPr>
        <p:spPr>
          <a:xfrm>
            <a:off x="2583832"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80" name="Oval 179">
            <a:extLst>
              <a:ext uri="{FF2B5EF4-FFF2-40B4-BE49-F238E27FC236}">
                <a16:creationId xmlns:a16="http://schemas.microsoft.com/office/drawing/2014/main" id="{F2065D84-AD92-0434-D70D-E85CA2F13D6E}"/>
              </a:ext>
            </a:extLst>
          </p:cNvPr>
          <p:cNvSpPr/>
          <p:nvPr/>
        </p:nvSpPr>
        <p:spPr>
          <a:xfrm>
            <a:off x="2583833"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81" name="Oval 180">
            <a:extLst>
              <a:ext uri="{FF2B5EF4-FFF2-40B4-BE49-F238E27FC236}">
                <a16:creationId xmlns:a16="http://schemas.microsoft.com/office/drawing/2014/main" id="{11348BBB-BF4A-FD77-819E-EAE11FDB9952}"/>
              </a:ext>
            </a:extLst>
          </p:cNvPr>
          <p:cNvSpPr/>
          <p:nvPr/>
        </p:nvSpPr>
        <p:spPr>
          <a:xfrm>
            <a:off x="2590326"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cxnSp>
        <p:nvCxnSpPr>
          <p:cNvPr id="170" name="Straight Connector 169">
            <a:extLst>
              <a:ext uri="{FF2B5EF4-FFF2-40B4-BE49-F238E27FC236}">
                <a16:creationId xmlns:a16="http://schemas.microsoft.com/office/drawing/2014/main" id="{3B2499C5-452C-4CBE-44D5-51F4DEF43440}"/>
              </a:ext>
            </a:extLst>
          </p:cNvPr>
          <p:cNvCxnSpPr>
            <a:cxnSpLocks/>
          </p:cNvCxnSpPr>
          <p:nvPr/>
        </p:nvCxnSpPr>
        <p:spPr>
          <a:xfrm>
            <a:off x="4503003" y="2303050"/>
            <a:ext cx="13883" cy="343105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71" name="Oval 170">
            <a:extLst>
              <a:ext uri="{FF2B5EF4-FFF2-40B4-BE49-F238E27FC236}">
                <a16:creationId xmlns:a16="http://schemas.microsoft.com/office/drawing/2014/main" id="{37861D98-0972-A982-456D-F87F6D35EA44}"/>
              </a:ext>
            </a:extLst>
          </p:cNvPr>
          <p:cNvSpPr/>
          <p:nvPr/>
        </p:nvSpPr>
        <p:spPr>
          <a:xfrm>
            <a:off x="3804286" y="3606143"/>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72" name="Oval 171">
            <a:extLst>
              <a:ext uri="{FF2B5EF4-FFF2-40B4-BE49-F238E27FC236}">
                <a16:creationId xmlns:a16="http://schemas.microsoft.com/office/drawing/2014/main" id="{63EE6941-AE53-ADE6-FCD3-0D33CF606A6F}"/>
              </a:ext>
            </a:extLst>
          </p:cNvPr>
          <p:cNvSpPr/>
          <p:nvPr/>
        </p:nvSpPr>
        <p:spPr>
          <a:xfrm>
            <a:off x="3804286" y="4760192"/>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73" name="Oval 172">
            <a:extLst>
              <a:ext uri="{FF2B5EF4-FFF2-40B4-BE49-F238E27FC236}">
                <a16:creationId xmlns:a16="http://schemas.microsoft.com/office/drawing/2014/main" id="{FA2F4E0F-B667-CC4E-4416-20F960ED68BC}"/>
              </a:ext>
            </a:extLst>
          </p:cNvPr>
          <p:cNvSpPr/>
          <p:nvPr/>
        </p:nvSpPr>
        <p:spPr>
          <a:xfrm>
            <a:off x="3804286"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74" name="Oval 173">
            <a:extLst>
              <a:ext uri="{FF2B5EF4-FFF2-40B4-BE49-F238E27FC236}">
                <a16:creationId xmlns:a16="http://schemas.microsoft.com/office/drawing/2014/main" id="{A32A8EC4-91B5-D7DB-819A-29785F587406}"/>
              </a:ext>
            </a:extLst>
          </p:cNvPr>
          <p:cNvSpPr/>
          <p:nvPr/>
        </p:nvSpPr>
        <p:spPr>
          <a:xfrm>
            <a:off x="3804286"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75" name="Oval 174">
            <a:extLst>
              <a:ext uri="{FF2B5EF4-FFF2-40B4-BE49-F238E27FC236}">
                <a16:creationId xmlns:a16="http://schemas.microsoft.com/office/drawing/2014/main" id="{0C8633F0-37AA-5F8E-33D9-91260FFE3C86}"/>
              </a:ext>
            </a:extLst>
          </p:cNvPr>
          <p:cNvSpPr/>
          <p:nvPr/>
        </p:nvSpPr>
        <p:spPr>
          <a:xfrm>
            <a:off x="3804286"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65" name="Oval 364">
            <a:extLst>
              <a:ext uri="{FF2B5EF4-FFF2-40B4-BE49-F238E27FC236}">
                <a16:creationId xmlns:a16="http://schemas.microsoft.com/office/drawing/2014/main" id="{7FA2C10C-8A86-1DAA-413D-0FAA38DACD8F}"/>
              </a:ext>
            </a:extLst>
          </p:cNvPr>
          <p:cNvSpPr/>
          <p:nvPr/>
        </p:nvSpPr>
        <p:spPr>
          <a:xfrm>
            <a:off x="3804286" y="419218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65" name="Oval 164">
            <a:extLst>
              <a:ext uri="{FF2B5EF4-FFF2-40B4-BE49-F238E27FC236}">
                <a16:creationId xmlns:a16="http://schemas.microsoft.com/office/drawing/2014/main" id="{615AD3A2-583E-A5A3-C0B3-DB7B5AD175F2}"/>
              </a:ext>
            </a:extLst>
          </p:cNvPr>
          <p:cNvSpPr/>
          <p:nvPr/>
        </p:nvSpPr>
        <p:spPr>
          <a:xfrm>
            <a:off x="8642413" y="3606143"/>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66" name="Oval 165">
            <a:extLst>
              <a:ext uri="{FF2B5EF4-FFF2-40B4-BE49-F238E27FC236}">
                <a16:creationId xmlns:a16="http://schemas.microsoft.com/office/drawing/2014/main" id="{82C9B682-527C-BCBE-C835-F7507D8358C1}"/>
              </a:ext>
            </a:extLst>
          </p:cNvPr>
          <p:cNvSpPr/>
          <p:nvPr/>
        </p:nvSpPr>
        <p:spPr>
          <a:xfrm>
            <a:off x="8642413"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67" name="Oval 166">
            <a:extLst>
              <a:ext uri="{FF2B5EF4-FFF2-40B4-BE49-F238E27FC236}">
                <a16:creationId xmlns:a16="http://schemas.microsoft.com/office/drawing/2014/main" id="{F7F109ED-730B-E279-2108-908F5DF78B03}"/>
              </a:ext>
            </a:extLst>
          </p:cNvPr>
          <p:cNvSpPr/>
          <p:nvPr/>
        </p:nvSpPr>
        <p:spPr>
          <a:xfrm>
            <a:off x="8642413"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68" name="Oval 167">
            <a:extLst>
              <a:ext uri="{FF2B5EF4-FFF2-40B4-BE49-F238E27FC236}">
                <a16:creationId xmlns:a16="http://schemas.microsoft.com/office/drawing/2014/main" id="{134EB7F7-8834-1B90-EA10-747A8AAE6B23}"/>
              </a:ext>
            </a:extLst>
          </p:cNvPr>
          <p:cNvSpPr/>
          <p:nvPr/>
        </p:nvSpPr>
        <p:spPr>
          <a:xfrm>
            <a:off x="8642413" y="3050401"/>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69" name="Oval 168">
            <a:extLst>
              <a:ext uri="{FF2B5EF4-FFF2-40B4-BE49-F238E27FC236}">
                <a16:creationId xmlns:a16="http://schemas.microsoft.com/office/drawing/2014/main" id="{B5A78787-DB17-147C-3B28-80116C041156}"/>
              </a:ext>
            </a:extLst>
          </p:cNvPr>
          <p:cNvSpPr/>
          <p:nvPr/>
        </p:nvSpPr>
        <p:spPr>
          <a:xfrm>
            <a:off x="8642413" y="4195959"/>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cxnSp>
        <p:nvCxnSpPr>
          <p:cNvPr id="158" name="Straight Connector 157">
            <a:extLst>
              <a:ext uri="{FF2B5EF4-FFF2-40B4-BE49-F238E27FC236}">
                <a16:creationId xmlns:a16="http://schemas.microsoft.com/office/drawing/2014/main" id="{A5D255BD-166C-3174-C090-9CD1A631B3E7}"/>
              </a:ext>
            </a:extLst>
          </p:cNvPr>
          <p:cNvCxnSpPr>
            <a:cxnSpLocks/>
          </p:cNvCxnSpPr>
          <p:nvPr/>
        </p:nvCxnSpPr>
        <p:spPr>
          <a:xfrm>
            <a:off x="7170684" y="2823152"/>
            <a:ext cx="26346"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59" name="Oval 158">
            <a:extLst>
              <a:ext uri="{FF2B5EF4-FFF2-40B4-BE49-F238E27FC236}">
                <a16:creationId xmlns:a16="http://schemas.microsoft.com/office/drawing/2014/main" id="{AA9710E7-017A-61D9-876C-A6AC0B08A532}"/>
              </a:ext>
            </a:extLst>
          </p:cNvPr>
          <p:cNvSpPr/>
          <p:nvPr/>
        </p:nvSpPr>
        <p:spPr>
          <a:xfrm>
            <a:off x="7050034" y="3606143"/>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60" name="Oval 159">
            <a:extLst>
              <a:ext uri="{FF2B5EF4-FFF2-40B4-BE49-F238E27FC236}">
                <a16:creationId xmlns:a16="http://schemas.microsoft.com/office/drawing/2014/main" id="{6C3709D3-EECC-B942-6A41-EB76D3F2F3D8}"/>
              </a:ext>
            </a:extLst>
          </p:cNvPr>
          <p:cNvSpPr/>
          <p:nvPr/>
        </p:nvSpPr>
        <p:spPr>
          <a:xfrm>
            <a:off x="7050034"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61" name="Oval 160">
            <a:extLst>
              <a:ext uri="{FF2B5EF4-FFF2-40B4-BE49-F238E27FC236}">
                <a16:creationId xmlns:a16="http://schemas.microsoft.com/office/drawing/2014/main" id="{D32E27E9-F142-ED94-BEE1-2022DFC2661F}"/>
              </a:ext>
            </a:extLst>
          </p:cNvPr>
          <p:cNvSpPr/>
          <p:nvPr/>
        </p:nvSpPr>
        <p:spPr>
          <a:xfrm>
            <a:off x="7050034"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62" name="Oval 161">
            <a:extLst>
              <a:ext uri="{FF2B5EF4-FFF2-40B4-BE49-F238E27FC236}">
                <a16:creationId xmlns:a16="http://schemas.microsoft.com/office/drawing/2014/main" id="{FC4A9212-4DA1-C21F-F9C7-236C08656328}"/>
              </a:ext>
            </a:extLst>
          </p:cNvPr>
          <p:cNvSpPr/>
          <p:nvPr/>
        </p:nvSpPr>
        <p:spPr>
          <a:xfrm>
            <a:off x="7050034"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63" name="Oval 162">
            <a:extLst>
              <a:ext uri="{FF2B5EF4-FFF2-40B4-BE49-F238E27FC236}">
                <a16:creationId xmlns:a16="http://schemas.microsoft.com/office/drawing/2014/main" id="{78BE8AAD-8227-EA25-9FB3-ADBD3CF79127}"/>
              </a:ext>
            </a:extLst>
          </p:cNvPr>
          <p:cNvSpPr/>
          <p:nvPr/>
        </p:nvSpPr>
        <p:spPr>
          <a:xfrm>
            <a:off x="7050034"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66" name="Oval 365">
            <a:extLst>
              <a:ext uri="{FF2B5EF4-FFF2-40B4-BE49-F238E27FC236}">
                <a16:creationId xmlns:a16="http://schemas.microsoft.com/office/drawing/2014/main" id="{9DD21BFB-0AF7-81BE-96C4-5F3D257A360D}"/>
              </a:ext>
            </a:extLst>
          </p:cNvPr>
          <p:cNvSpPr/>
          <p:nvPr/>
        </p:nvSpPr>
        <p:spPr>
          <a:xfrm>
            <a:off x="7050034" y="419218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grpSp>
        <p:nvGrpSpPr>
          <p:cNvPr id="105" name="Group 104">
            <a:extLst>
              <a:ext uri="{FF2B5EF4-FFF2-40B4-BE49-F238E27FC236}">
                <a16:creationId xmlns:a16="http://schemas.microsoft.com/office/drawing/2014/main" id="{C1D896C1-EED6-417D-AD6C-386CC72B131D}"/>
              </a:ext>
            </a:extLst>
          </p:cNvPr>
          <p:cNvGrpSpPr/>
          <p:nvPr/>
        </p:nvGrpSpPr>
        <p:grpSpPr>
          <a:xfrm>
            <a:off x="9036460" y="2801617"/>
            <a:ext cx="275272" cy="2846160"/>
            <a:chOff x="8353864" y="3096438"/>
            <a:chExt cx="275272" cy="3162400"/>
          </a:xfrm>
        </p:grpSpPr>
        <p:cxnSp>
          <p:nvCxnSpPr>
            <p:cNvPr id="152" name="Straight Connector 151">
              <a:extLst>
                <a:ext uri="{FF2B5EF4-FFF2-40B4-BE49-F238E27FC236}">
                  <a16:creationId xmlns:a16="http://schemas.microsoft.com/office/drawing/2014/main" id="{ED33D3D0-90A4-441B-382F-A8CCF60553BD}"/>
                </a:ext>
              </a:extLst>
            </p:cNvPr>
            <p:cNvCxnSpPr>
              <a:cxnSpLocks/>
            </p:cNvCxnSpPr>
            <p:nvPr/>
          </p:nvCxnSpPr>
          <p:spPr>
            <a:xfrm>
              <a:off x="8481937" y="3096438"/>
              <a:ext cx="13864" cy="3004648"/>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53" name="Oval 152">
              <a:extLst>
                <a:ext uri="{FF2B5EF4-FFF2-40B4-BE49-F238E27FC236}">
                  <a16:creationId xmlns:a16="http://schemas.microsoft.com/office/drawing/2014/main" id="{194996D3-65AE-56E0-B3BE-0F13393D6B41}"/>
                </a:ext>
              </a:extLst>
            </p:cNvPr>
            <p:cNvSpPr/>
            <p:nvPr/>
          </p:nvSpPr>
          <p:spPr>
            <a:xfrm>
              <a:off x="8360360" y="3990356"/>
              <a:ext cx="267647" cy="267647"/>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54" name="Oval 153">
              <a:extLst>
                <a:ext uri="{FF2B5EF4-FFF2-40B4-BE49-F238E27FC236}">
                  <a16:creationId xmlns:a16="http://schemas.microsoft.com/office/drawing/2014/main" id="{11AF7398-4839-4778-B4A0-38DFCCDCE7A4}"/>
                </a:ext>
              </a:extLst>
            </p:cNvPr>
            <p:cNvSpPr/>
            <p:nvPr/>
          </p:nvSpPr>
          <p:spPr>
            <a:xfrm>
              <a:off x="8361489" y="5272633"/>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55" name="Oval 154">
              <a:extLst>
                <a:ext uri="{FF2B5EF4-FFF2-40B4-BE49-F238E27FC236}">
                  <a16:creationId xmlns:a16="http://schemas.microsoft.com/office/drawing/2014/main" id="{93C90815-0F77-84D3-2505-C179CBD6212C}"/>
                </a:ext>
              </a:extLst>
            </p:cNvPr>
            <p:cNvSpPr/>
            <p:nvPr/>
          </p:nvSpPr>
          <p:spPr>
            <a:xfrm>
              <a:off x="8353864" y="5991191"/>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56" name="Oval 155">
              <a:extLst>
                <a:ext uri="{FF2B5EF4-FFF2-40B4-BE49-F238E27FC236}">
                  <a16:creationId xmlns:a16="http://schemas.microsoft.com/office/drawing/2014/main" id="{18124BAE-20B3-9CB9-C65A-BB888CDBDC11}"/>
                </a:ext>
              </a:extLst>
            </p:cNvPr>
            <p:cNvSpPr/>
            <p:nvPr/>
          </p:nvSpPr>
          <p:spPr>
            <a:xfrm>
              <a:off x="8353865" y="3372865"/>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57" name="Oval 156">
              <a:extLst>
                <a:ext uri="{FF2B5EF4-FFF2-40B4-BE49-F238E27FC236}">
                  <a16:creationId xmlns:a16="http://schemas.microsoft.com/office/drawing/2014/main" id="{7696FB2E-8CAA-55F3-3821-DB5D33E062B7}"/>
                </a:ext>
              </a:extLst>
            </p:cNvPr>
            <p:cNvSpPr/>
            <p:nvPr/>
          </p:nvSpPr>
          <p:spPr>
            <a:xfrm>
              <a:off x="8360358" y="4645707"/>
              <a:ext cx="267647" cy="267647"/>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grpSp>
      <p:sp>
        <p:nvSpPr>
          <p:cNvPr id="367" name="Oval 366">
            <a:extLst>
              <a:ext uri="{FF2B5EF4-FFF2-40B4-BE49-F238E27FC236}">
                <a16:creationId xmlns:a16="http://schemas.microsoft.com/office/drawing/2014/main" id="{413E54BB-5A9F-8C37-41F7-9C6FEE45D9C2}"/>
              </a:ext>
            </a:extLst>
          </p:cNvPr>
          <p:cNvSpPr/>
          <p:nvPr/>
        </p:nvSpPr>
        <p:spPr>
          <a:xfrm>
            <a:off x="5803767" y="4756417"/>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68" name="Oval 367">
            <a:extLst>
              <a:ext uri="{FF2B5EF4-FFF2-40B4-BE49-F238E27FC236}">
                <a16:creationId xmlns:a16="http://schemas.microsoft.com/office/drawing/2014/main" id="{A205B6C8-1CB0-D1FC-D642-E46F0868565C}"/>
              </a:ext>
            </a:extLst>
          </p:cNvPr>
          <p:cNvSpPr/>
          <p:nvPr/>
        </p:nvSpPr>
        <p:spPr>
          <a:xfrm>
            <a:off x="5803767" y="419218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47" name="Oval 146">
            <a:extLst>
              <a:ext uri="{FF2B5EF4-FFF2-40B4-BE49-F238E27FC236}">
                <a16:creationId xmlns:a16="http://schemas.microsoft.com/office/drawing/2014/main" id="{77AF2AF8-6392-9833-CE36-46D2657846A6}"/>
              </a:ext>
            </a:extLst>
          </p:cNvPr>
          <p:cNvSpPr/>
          <p:nvPr/>
        </p:nvSpPr>
        <p:spPr>
          <a:xfrm>
            <a:off x="5803767" y="3606143"/>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49" name="Oval 148">
            <a:extLst>
              <a:ext uri="{FF2B5EF4-FFF2-40B4-BE49-F238E27FC236}">
                <a16:creationId xmlns:a16="http://schemas.microsoft.com/office/drawing/2014/main" id="{ADE5C13F-95B7-45F2-FCAB-DD6D06768EB5}"/>
              </a:ext>
            </a:extLst>
          </p:cNvPr>
          <p:cNvSpPr/>
          <p:nvPr/>
        </p:nvSpPr>
        <p:spPr>
          <a:xfrm>
            <a:off x="5803767"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50" name="Oval 149">
            <a:extLst>
              <a:ext uri="{FF2B5EF4-FFF2-40B4-BE49-F238E27FC236}">
                <a16:creationId xmlns:a16="http://schemas.microsoft.com/office/drawing/2014/main" id="{60CA9834-DC50-B64B-D342-E54983DFFBA3}"/>
              </a:ext>
            </a:extLst>
          </p:cNvPr>
          <p:cNvSpPr/>
          <p:nvPr/>
        </p:nvSpPr>
        <p:spPr>
          <a:xfrm>
            <a:off x="5803767"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cxnSp>
        <p:nvCxnSpPr>
          <p:cNvPr id="140" name="Straight Connector 139">
            <a:extLst>
              <a:ext uri="{FF2B5EF4-FFF2-40B4-BE49-F238E27FC236}">
                <a16:creationId xmlns:a16="http://schemas.microsoft.com/office/drawing/2014/main" id="{58AADD3C-A1F9-8D6E-F35E-48B0378EBCAC}"/>
              </a:ext>
            </a:extLst>
          </p:cNvPr>
          <p:cNvCxnSpPr>
            <a:cxnSpLocks/>
          </p:cNvCxnSpPr>
          <p:nvPr/>
        </p:nvCxnSpPr>
        <p:spPr>
          <a:xfrm>
            <a:off x="3524436" y="2823152"/>
            <a:ext cx="31746"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26BE7F0B-5BB1-3DFA-7F14-92A94AA2ECC9}"/>
              </a:ext>
            </a:extLst>
          </p:cNvPr>
          <p:cNvSpPr/>
          <p:nvPr/>
        </p:nvSpPr>
        <p:spPr>
          <a:xfrm>
            <a:off x="3403260" y="360614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42" name="Oval 141">
            <a:extLst>
              <a:ext uri="{FF2B5EF4-FFF2-40B4-BE49-F238E27FC236}">
                <a16:creationId xmlns:a16="http://schemas.microsoft.com/office/drawing/2014/main" id="{472C00F6-DB0B-E4C8-D99A-FDEFA5894DD7}"/>
              </a:ext>
            </a:extLst>
          </p:cNvPr>
          <p:cNvSpPr/>
          <p:nvPr/>
        </p:nvSpPr>
        <p:spPr>
          <a:xfrm>
            <a:off x="3415022" y="4760192"/>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44" name="Oval 143">
            <a:extLst>
              <a:ext uri="{FF2B5EF4-FFF2-40B4-BE49-F238E27FC236}">
                <a16:creationId xmlns:a16="http://schemas.microsoft.com/office/drawing/2014/main" id="{508DC767-0436-9973-23E8-F7EA88EAF2B1}"/>
              </a:ext>
            </a:extLst>
          </p:cNvPr>
          <p:cNvSpPr/>
          <p:nvPr/>
        </p:nvSpPr>
        <p:spPr>
          <a:xfrm>
            <a:off x="3407398"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45" name="Oval 144">
            <a:extLst>
              <a:ext uri="{FF2B5EF4-FFF2-40B4-BE49-F238E27FC236}">
                <a16:creationId xmlns:a16="http://schemas.microsoft.com/office/drawing/2014/main" id="{3DAEE947-CE33-A2FD-065E-BAD6A7740A74}"/>
              </a:ext>
            </a:extLst>
          </p:cNvPr>
          <p:cNvSpPr/>
          <p:nvPr/>
        </p:nvSpPr>
        <p:spPr>
          <a:xfrm>
            <a:off x="3413891"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69" name="Oval 368">
            <a:extLst>
              <a:ext uri="{FF2B5EF4-FFF2-40B4-BE49-F238E27FC236}">
                <a16:creationId xmlns:a16="http://schemas.microsoft.com/office/drawing/2014/main" id="{D871B817-E526-7A8B-4C36-BBA6F0846E7A}"/>
              </a:ext>
            </a:extLst>
          </p:cNvPr>
          <p:cNvSpPr/>
          <p:nvPr/>
        </p:nvSpPr>
        <p:spPr>
          <a:xfrm>
            <a:off x="3422721" y="5406894"/>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35" name="Oval 134">
            <a:extLst>
              <a:ext uri="{FF2B5EF4-FFF2-40B4-BE49-F238E27FC236}">
                <a16:creationId xmlns:a16="http://schemas.microsoft.com/office/drawing/2014/main" id="{01F78938-C9F7-285F-B0BE-3542D14E54A2}"/>
              </a:ext>
            </a:extLst>
          </p:cNvPr>
          <p:cNvSpPr/>
          <p:nvPr/>
        </p:nvSpPr>
        <p:spPr>
          <a:xfrm>
            <a:off x="5417787" y="360614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36" name="Oval 135">
            <a:extLst>
              <a:ext uri="{FF2B5EF4-FFF2-40B4-BE49-F238E27FC236}">
                <a16:creationId xmlns:a16="http://schemas.microsoft.com/office/drawing/2014/main" id="{B0FBE8C0-6F35-DA78-6589-F37C2B916D9C}"/>
              </a:ext>
            </a:extLst>
          </p:cNvPr>
          <p:cNvSpPr/>
          <p:nvPr/>
        </p:nvSpPr>
        <p:spPr>
          <a:xfrm>
            <a:off x="5418916" y="4760192"/>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37" name="Oval 136">
            <a:extLst>
              <a:ext uri="{FF2B5EF4-FFF2-40B4-BE49-F238E27FC236}">
                <a16:creationId xmlns:a16="http://schemas.microsoft.com/office/drawing/2014/main" id="{59F03C49-D457-103C-9B69-4EB783448C76}"/>
              </a:ext>
            </a:extLst>
          </p:cNvPr>
          <p:cNvSpPr/>
          <p:nvPr/>
        </p:nvSpPr>
        <p:spPr>
          <a:xfrm>
            <a:off x="5422177"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38" name="Oval 137">
            <a:extLst>
              <a:ext uri="{FF2B5EF4-FFF2-40B4-BE49-F238E27FC236}">
                <a16:creationId xmlns:a16="http://schemas.microsoft.com/office/drawing/2014/main" id="{0CC16BAE-42CD-7CF6-4C36-194C78D829D8}"/>
              </a:ext>
            </a:extLst>
          </p:cNvPr>
          <p:cNvSpPr/>
          <p:nvPr/>
        </p:nvSpPr>
        <p:spPr>
          <a:xfrm>
            <a:off x="5422178"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39" name="Oval 138">
            <a:extLst>
              <a:ext uri="{FF2B5EF4-FFF2-40B4-BE49-F238E27FC236}">
                <a16:creationId xmlns:a16="http://schemas.microsoft.com/office/drawing/2014/main" id="{F44B56F9-76C8-FF76-EAB4-7EEDA28EF472}"/>
              </a:ext>
            </a:extLst>
          </p:cNvPr>
          <p:cNvSpPr/>
          <p:nvPr/>
        </p:nvSpPr>
        <p:spPr>
          <a:xfrm>
            <a:off x="5417785"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cxnSp>
        <p:nvCxnSpPr>
          <p:cNvPr id="128" name="Straight Connector 127">
            <a:extLst>
              <a:ext uri="{FF2B5EF4-FFF2-40B4-BE49-F238E27FC236}">
                <a16:creationId xmlns:a16="http://schemas.microsoft.com/office/drawing/2014/main" id="{0872768F-B742-7883-EC46-6290798B4906}"/>
              </a:ext>
            </a:extLst>
          </p:cNvPr>
          <p:cNvCxnSpPr>
            <a:cxnSpLocks/>
          </p:cNvCxnSpPr>
          <p:nvPr/>
        </p:nvCxnSpPr>
        <p:spPr>
          <a:xfrm>
            <a:off x="11195706" y="2823152"/>
            <a:ext cx="10639"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xmlns:a16="http://schemas.microsoft.com/office/drawing/2014/main" id="{9107B9EE-D9C0-9E00-D4B7-9D31AA04F9E3}"/>
              </a:ext>
            </a:extLst>
          </p:cNvPr>
          <p:cNvSpPr/>
          <p:nvPr/>
        </p:nvSpPr>
        <p:spPr>
          <a:xfrm>
            <a:off x="11067202" y="3606143"/>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30" name="Oval 129">
            <a:extLst>
              <a:ext uri="{FF2B5EF4-FFF2-40B4-BE49-F238E27FC236}">
                <a16:creationId xmlns:a16="http://schemas.microsoft.com/office/drawing/2014/main" id="{E71C8B76-BFD0-E51F-1DAB-5EA79BDAD815}"/>
              </a:ext>
            </a:extLst>
          </p:cNvPr>
          <p:cNvSpPr/>
          <p:nvPr/>
        </p:nvSpPr>
        <p:spPr>
          <a:xfrm>
            <a:off x="11067202"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31" name="Oval 130">
            <a:extLst>
              <a:ext uri="{FF2B5EF4-FFF2-40B4-BE49-F238E27FC236}">
                <a16:creationId xmlns:a16="http://schemas.microsoft.com/office/drawing/2014/main" id="{6C3B429C-BCC2-E0D7-30DC-4220E8A99461}"/>
              </a:ext>
            </a:extLst>
          </p:cNvPr>
          <p:cNvSpPr/>
          <p:nvPr/>
        </p:nvSpPr>
        <p:spPr>
          <a:xfrm>
            <a:off x="11067202"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32" name="Oval 131">
            <a:extLst>
              <a:ext uri="{FF2B5EF4-FFF2-40B4-BE49-F238E27FC236}">
                <a16:creationId xmlns:a16="http://schemas.microsoft.com/office/drawing/2014/main" id="{53C567E2-B58A-91E6-E180-069D3DA93BE6}"/>
              </a:ext>
            </a:extLst>
          </p:cNvPr>
          <p:cNvSpPr/>
          <p:nvPr/>
        </p:nvSpPr>
        <p:spPr>
          <a:xfrm>
            <a:off x="11067202" y="3050401"/>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33" name="Oval 132">
            <a:extLst>
              <a:ext uri="{FF2B5EF4-FFF2-40B4-BE49-F238E27FC236}">
                <a16:creationId xmlns:a16="http://schemas.microsoft.com/office/drawing/2014/main" id="{BF0AF3A3-5A35-151E-6BAC-AE2F2FB79866}"/>
              </a:ext>
            </a:extLst>
          </p:cNvPr>
          <p:cNvSpPr/>
          <p:nvPr/>
        </p:nvSpPr>
        <p:spPr>
          <a:xfrm>
            <a:off x="11067202" y="4195959"/>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cxnSp>
        <p:nvCxnSpPr>
          <p:cNvPr id="122" name="Straight Connector 121">
            <a:extLst>
              <a:ext uri="{FF2B5EF4-FFF2-40B4-BE49-F238E27FC236}">
                <a16:creationId xmlns:a16="http://schemas.microsoft.com/office/drawing/2014/main" id="{6B275D0B-CC96-BECF-1186-FF85AA673419}"/>
              </a:ext>
            </a:extLst>
          </p:cNvPr>
          <p:cNvCxnSpPr>
            <a:cxnSpLocks/>
          </p:cNvCxnSpPr>
          <p:nvPr/>
        </p:nvCxnSpPr>
        <p:spPr>
          <a:xfrm>
            <a:off x="8361175" y="2823152"/>
            <a:ext cx="2558"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631A6E04-AAF7-7D0D-D36B-273C2DA3F0AF}"/>
              </a:ext>
            </a:extLst>
          </p:cNvPr>
          <p:cNvSpPr/>
          <p:nvPr/>
        </p:nvSpPr>
        <p:spPr>
          <a:xfrm>
            <a:off x="8228629" y="360614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24" name="Oval 123">
            <a:extLst>
              <a:ext uri="{FF2B5EF4-FFF2-40B4-BE49-F238E27FC236}">
                <a16:creationId xmlns:a16="http://schemas.microsoft.com/office/drawing/2014/main" id="{6C6769A0-2C3B-C1CF-DC4B-35DE9CFB5C36}"/>
              </a:ext>
            </a:extLst>
          </p:cNvPr>
          <p:cNvSpPr/>
          <p:nvPr/>
        </p:nvSpPr>
        <p:spPr>
          <a:xfrm>
            <a:off x="8228629" y="4760192"/>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25" name="Oval 124">
            <a:extLst>
              <a:ext uri="{FF2B5EF4-FFF2-40B4-BE49-F238E27FC236}">
                <a16:creationId xmlns:a16="http://schemas.microsoft.com/office/drawing/2014/main" id="{7C244ED5-C1AE-BC81-9840-A212D0165C07}"/>
              </a:ext>
            </a:extLst>
          </p:cNvPr>
          <p:cNvSpPr/>
          <p:nvPr/>
        </p:nvSpPr>
        <p:spPr>
          <a:xfrm>
            <a:off x="8228629" y="5406894"/>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26" name="Oval 125">
            <a:extLst>
              <a:ext uri="{FF2B5EF4-FFF2-40B4-BE49-F238E27FC236}">
                <a16:creationId xmlns:a16="http://schemas.microsoft.com/office/drawing/2014/main" id="{5B1070AF-C590-1479-04E4-F68C2BFD86AF}"/>
              </a:ext>
            </a:extLst>
          </p:cNvPr>
          <p:cNvSpPr/>
          <p:nvPr/>
        </p:nvSpPr>
        <p:spPr>
          <a:xfrm>
            <a:off x="8228629"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27" name="Oval 126">
            <a:extLst>
              <a:ext uri="{FF2B5EF4-FFF2-40B4-BE49-F238E27FC236}">
                <a16:creationId xmlns:a16="http://schemas.microsoft.com/office/drawing/2014/main" id="{56B739C6-6C49-D224-0D39-AD6FD2B2C605}"/>
              </a:ext>
            </a:extLst>
          </p:cNvPr>
          <p:cNvSpPr/>
          <p:nvPr/>
        </p:nvSpPr>
        <p:spPr>
          <a:xfrm>
            <a:off x="8228629" y="4195959"/>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17" name="Oval 116">
            <a:extLst>
              <a:ext uri="{FF2B5EF4-FFF2-40B4-BE49-F238E27FC236}">
                <a16:creationId xmlns:a16="http://schemas.microsoft.com/office/drawing/2014/main" id="{DBF92076-B71C-3022-6995-5A0A3A24EB41}"/>
              </a:ext>
            </a:extLst>
          </p:cNvPr>
          <p:cNvSpPr/>
          <p:nvPr/>
        </p:nvSpPr>
        <p:spPr>
          <a:xfrm>
            <a:off x="6246656" y="3606143"/>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18" name="Oval 117">
            <a:extLst>
              <a:ext uri="{FF2B5EF4-FFF2-40B4-BE49-F238E27FC236}">
                <a16:creationId xmlns:a16="http://schemas.microsoft.com/office/drawing/2014/main" id="{547200C2-E3CA-5F19-1EB9-AB1C2F4956DC}"/>
              </a:ext>
            </a:extLst>
          </p:cNvPr>
          <p:cNvSpPr/>
          <p:nvPr/>
        </p:nvSpPr>
        <p:spPr>
          <a:xfrm>
            <a:off x="6246656" y="4760192"/>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19" name="Oval 118">
            <a:extLst>
              <a:ext uri="{FF2B5EF4-FFF2-40B4-BE49-F238E27FC236}">
                <a16:creationId xmlns:a16="http://schemas.microsoft.com/office/drawing/2014/main" id="{7982CE77-6FA2-1DA1-D10B-BD78908E56ED}"/>
              </a:ext>
            </a:extLst>
          </p:cNvPr>
          <p:cNvSpPr/>
          <p:nvPr/>
        </p:nvSpPr>
        <p:spPr>
          <a:xfrm>
            <a:off x="6246656" y="54068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20" name="Oval 119">
            <a:extLst>
              <a:ext uri="{FF2B5EF4-FFF2-40B4-BE49-F238E27FC236}">
                <a16:creationId xmlns:a16="http://schemas.microsoft.com/office/drawing/2014/main" id="{1F9162B2-FD89-9AD5-D8A3-BACE8DDC1D0A}"/>
              </a:ext>
            </a:extLst>
          </p:cNvPr>
          <p:cNvSpPr/>
          <p:nvPr/>
        </p:nvSpPr>
        <p:spPr>
          <a:xfrm>
            <a:off x="6246656" y="3050401"/>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21" name="Oval 120">
            <a:extLst>
              <a:ext uri="{FF2B5EF4-FFF2-40B4-BE49-F238E27FC236}">
                <a16:creationId xmlns:a16="http://schemas.microsoft.com/office/drawing/2014/main" id="{D964E8FD-DF1F-030A-4508-C4A77C2D7060}"/>
              </a:ext>
            </a:extLst>
          </p:cNvPr>
          <p:cNvSpPr/>
          <p:nvPr/>
        </p:nvSpPr>
        <p:spPr>
          <a:xfrm>
            <a:off x="6246656"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113" name="TextBox 112">
            <a:extLst>
              <a:ext uri="{FF2B5EF4-FFF2-40B4-BE49-F238E27FC236}">
                <a16:creationId xmlns:a16="http://schemas.microsoft.com/office/drawing/2014/main" id="{5B580AE1-CBA1-E83D-BCEA-618A7BF354A2}"/>
              </a:ext>
            </a:extLst>
          </p:cNvPr>
          <p:cNvSpPr txBox="1"/>
          <p:nvPr/>
        </p:nvSpPr>
        <p:spPr>
          <a:xfrm>
            <a:off x="3472371" y="3847410"/>
            <a:ext cx="532681" cy="360099"/>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Non-personnel: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5% cut + 4% (Feb 26)</a:t>
            </a:r>
          </a:p>
        </p:txBody>
      </p:sp>
      <p:sp>
        <p:nvSpPr>
          <p:cNvPr id="114" name="TextBox 113">
            <a:extLst>
              <a:ext uri="{FF2B5EF4-FFF2-40B4-BE49-F238E27FC236}">
                <a16:creationId xmlns:a16="http://schemas.microsoft.com/office/drawing/2014/main" id="{FC1D417B-F88F-FFDC-647F-479B5F6B4EED}"/>
              </a:ext>
            </a:extLst>
          </p:cNvPr>
          <p:cNvSpPr txBox="1"/>
          <p:nvPr/>
        </p:nvSpPr>
        <p:spPr>
          <a:xfrm>
            <a:off x="5869976" y="4036289"/>
            <a:ext cx="509468" cy="152349"/>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2.5% cut</a:t>
            </a:r>
          </a:p>
        </p:txBody>
      </p:sp>
      <p:pic>
        <p:nvPicPr>
          <p:cNvPr id="268" name="Notre Dame" descr="Notre Dame Fighting Irish - Wikipedia">
            <a:extLst>
              <a:ext uri="{FF2B5EF4-FFF2-40B4-BE49-F238E27FC236}">
                <a16:creationId xmlns:a16="http://schemas.microsoft.com/office/drawing/2014/main" id="{971D08EA-3631-B1FF-8151-E97A0F35DE5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800132" y="1239667"/>
            <a:ext cx="319460" cy="287514"/>
          </a:xfrm>
          <a:prstGeom prst="rect">
            <a:avLst/>
          </a:prstGeom>
          <a:noFill/>
          <a:extLst>
            <a:ext uri="{909E8E84-426E-40DD-AFC4-6F175D3DCCD1}">
              <a14:hiddenFill xmlns:a14="http://schemas.microsoft.com/office/drawing/2010/main">
                <a:solidFill>
                  <a:srgbClr val="FFFFFF"/>
                </a:solidFill>
              </a14:hiddenFill>
            </a:ext>
          </a:extLst>
        </p:spPr>
      </p:pic>
      <p:pic>
        <p:nvPicPr>
          <p:cNvPr id="269" name="Rice" descr="Image result for rice crest">
            <a:extLst>
              <a:ext uri="{FF2B5EF4-FFF2-40B4-BE49-F238E27FC236}">
                <a16:creationId xmlns:a16="http://schemas.microsoft.com/office/drawing/2014/main" id="{83E4516B-9805-46C3-80C2-70CB631B2F0C}"/>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8564392" y="1204456"/>
            <a:ext cx="457175"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281" name="Group 280">
            <a:extLst>
              <a:ext uri="{FF2B5EF4-FFF2-40B4-BE49-F238E27FC236}">
                <a16:creationId xmlns:a16="http://schemas.microsoft.com/office/drawing/2014/main" id="{90B6600A-0EC7-C79F-2927-6333BF032553}"/>
              </a:ext>
            </a:extLst>
          </p:cNvPr>
          <p:cNvGrpSpPr/>
          <p:nvPr/>
        </p:nvGrpSpPr>
        <p:grpSpPr>
          <a:xfrm>
            <a:off x="208656" y="5913850"/>
            <a:ext cx="5111088" cy="228524"/>
            <a:chOff x="246049" y="6540021"/>
            <a:chExt cx="5111088" cy="253916"/>
          </a:xfrm>
        </p:grpSpPr>
        <p:sp>
          <p:nvSpPr>
            <p:cNvPr id="282" name="Oval 281">
              <a:extLst>
                <a:ext uri="{FF2B5EF4-FFF2-40B4-BE49-F238E27FC236}">
                  <a16:creationId xmlns:a16="http://schemas.microsoft.com/office/drawing/2014/main" id="{B42548AB-1A50-1E13-F5BA-7F7DB40E715B}"/>
                </a:ext>
              </a:extLst>
            </p:cNvPr>
            <p:cNvSpPr/>
            <p:nvPr/>
          </p:nvSpPr>
          <p:spPr>
            <a:xfrm>
              <a:off x="246049" y="6570815"/>
              <a:ext cx="214840" cy="215413"/>
            </a:xfrm>
            <a:prstGeom prst="ellipse">
              <a:avLst/>
            </a:prstGeom>
            <a:solidFill>
              <a:schemeClr val="accent2">
                <a:lumMod val="60000"/>
                <a:lumOff val="4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D9D9D9"/>
                </a:solidFill>
                <a:effectLst/>
                <a:uLnTx/>
                <a:uFillTx/>
                <a:latin typeface="Lato" panose="020F0502020204030204"/>
                <a:ea typeface="+mn-ea"/>
                <a:cs typeface="+mn-cs"/>
              </a:endParaRPr>
            </a:p>
          </p:txBody>
        </p:sp>
        <p:sp>
          <p:nvSpPr>
            <p:cNvPr id="283" name="TextBox 282">
              <a:extLst>
                <a:ext uri="{FF2B5EF4-FFF2-40B4-BE49-F238E27FC236}">
                  <a16:creationId xmlns:a16="http://schemas.microsoft.com/office/drawing/2014/main" id="{BDCAC290-9582-AFD5-FBD5-DA800600C19C}"/>
                </a:ext>
              </a:extLst>
            </p:cNvPr>
            <p:cNvSpPr txBox="1"/>
            <p:nvPr/>
          </p:nvSpPr>
          <p:spPr>
            <a:xfrm>
              <a:off x="491703" y="6540021"/>
              <a:ext cx="4865434" cy="253916"/>
            </a:xfrm>
            <a:prstGeom prst="rect">
              <a:avLst/>
            </a:prstGeom>
            <a:noFill/>
            <a:ln>
              <a:solidFill>
                <a:schemeClr val="accent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95959"/>
                  </a:solidFill>
                  <a:effectLst/>
                  <a:uLnTx/>
                  <a:uFillTx/>
                  <a:latin typeface="Lato"/>
                  <a:ea typeface="+mn-ea"/>
                  <a:cs typeface="+mn-cs"/>
                </a:rPr>
                <a:t>Hiring “frost” / staff, layoffs expected, and/or expense reductions under review</a:t>
              </a:r>
            </a:p>
          </p:txBody>
        </p:sp>
      </p:grpSp>
      <p:grpSp>
        <p:nvGrpSpPr>
          <p:cNvPr id="284" name="Group 283">
            <a:extLst>
              <a:ext uri="{FF2B5EF4-FFF2-40B4-BE49-F238E27FC236}">
                <a16:creationId xmlns:a16="http://schemas.microsoft.com/office/drawing/2014/main" id="{7FA10906-AD22-AD6F-7F39-0FD90BFEBD30}"/>
              </a:ext>
            </a:extLst>
          </p:cNvPr>
          <p:cNvGrpSpPr/>
          <p:nvPr/>
        </p:nvGrpSpPr>
        <p:grpSpPr>
          <a:xfrm>
            <a:off x="5613132" y="5898614"/>
            <a:ext cx="4958560" cy="228524"/>
            <a:chOff x="5879459" y="6509229"/>
            <a:chExt cx="4958560" cy="253916"/>
          </a:xfrm>
        </p:grpSpPr>
        <p:sp>
          <p:nvSpPr>
            <p:cNvPr id="285" name="Oval 284">
              <a:extLst>
                <a:ext uri="{FF2B5EF4-FFF2-40B4-BE49-F238E27FC236}">
                  <a16:creationId xmlns:a16="http://schemas.microsoft.com/office/drawing/2014/main" id="{325BFC6F-3E0D-94F8-D160-EDA8A5E83627}"/>
                </a:ext>
              </a:extLst>
            </p:cNvPr>
            <p:cNvSpPr/>
            <p:nvPr/>
          </p:nvSpPr>
          <p:spPr>
            <a:xfrm>
              <a:off x="5879459" y="6540024"/>
              <a:ext cx="214840" cy="215413"/>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D9D9D9"/>
                </a:solidFill>
                <a:effectLst/>
                <a:uLnTx/>
                <a:uFillTx/>
                <a:latin typeface="Lato" panose="020F0502020204030204"/>
                <a:ea typeface="+mn-ea"/>
                <a:cs typeface="+mn-cs"/>
              </a:endParaRPr>
            </a:p>
          </p:txBody>
        </p:sp>
        <p:sp>
          <p:nvSpPr>
            <p:cNvPr id="286" name="TextBox 285">
              <a:extLst>
                <a:ext uri="{FF2B5EF4-FFF2-40B4-BE49-F238E27FC236}">
                  <a16:creationId xmlns:a16="http://schemas.microsoft.com/office/drawing/2014/main" id="{862B3777-77AF-620C-4686-9D56FD258EDE}"/>
                </a:ext>
              </a:extLst>
            </p:cNvPr>
            <p:cNvSpPr txBox="1"/>
            <p:nvPr/>
          </p:nvSpPr>
          <p:spPr>
            <a:xfrm>
              <a:off x="6134487" y="6509229"/>
              <a:ext cx="4703532" cy="253916"/>
            </a:xfrm>
            <a:prstGeom prst="rect">
              <a:avLst/>
            </a:prstGeom>
            <a:noFill/>
            <a:ln>
              <a:solidFill>
                <a:schemeClr val="accent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95959"/>
                  </a:solidFill>
                  <a:effectLst/>
                  <a:uLnTx/>
                  <a:uFillTx/>
                  <a:latin typeface="Lato"/>
                  <a:ea typeface="+mn-ea"/>
                  <a:cs typeface="+mn-cs"/>
                </a:rPr>
                <a:t>Hiring “freeze”, layoffs and/or expense reductions communicated/confirmed</a:t>
              </a:r>
            </a:p>
          </p:txBody>
        </p:sp>
      </p:grpSp>
      <p:sp>
        <p:nvSpPr>
          <p:cNvPr id="289" name="TextBox 288">
            <a:extLst>
              <a:ext uri="{FF2B5EF4-FFF2-40B4-BE49-F238E27FC236}">
                <a16:creationId xmlns:a16="http://schemas.microsoft.com/office/drawing/2014/main" id="{EEEA67B6-9EDF-1F4D-B1BA-4A04CF688971}"/>
              </a:ext>
            </a:extLst>
          </p:cNvPr>
          <p:cNvSpPr txBox="1"/>
          <p:nvPr/>
        </p:nvSpPr>
        <p:spPr>
          <a:xfrm>
            <a:off x="7053826" y="3077252"/>
            <a:ext cx="20563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S</a:t>
            </a:r>
          </a:p>
        </p:txBody>
      </p:sp>
      <p:sp>
        <p:nvSpPr>
          <p:cNvPr id="290" name="TextBox 289">
            <a:extLst>
              <a:ext uri="{FF2B5EF4-FFF2-40B4-BE49-F238E27FC236}">
                <a16:creationId xmlns:a16="http://schemas.microsoft.com/office/drawing/2014/main" id="{46A885C6-5377-C14D-8521-3F2C0C65AEFE}"/>
              </a:ext>
            </a:extLst>
          </p:cNvPr>
          <p:cNvSpPr txBox="1"/>
          <p:nvPr/>
        </p:nvSpPr>
        <p:spPr>
          <a:xfrm>
            <a:off x="7454358" y="3078366"/>
            <a:ext cx="20563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S</a:t>
            </a:r>
          </a:p>
        </p:txBody>
      </p:sp>
      <p:sp>
        <p:nvSpPr>
          <p:cNvPr id="291" name="TextBox 290">
            <a:extLst>
              <a:ext uri="{FF2B5EF4-FFF2-40B4-BE49-F238E27FC236}">
                <a16:creationId xmlns:a16="http://schemas.microsoft.com/office/drawing/2014/main" id="{ED2CEAE6-DB1C-FC4D-0004-5CE5D756D2D9}"/>
              </a:ext>
            </a:extLst>
          </p:cNvPr>
          <p:cNvSpPr txBox="1"/>
          <p:nvPr/>
        </p:nvSpPr>
        <p:spPr>
          <a:xfrm>
            <a:off x="10176072" y="3077252"/>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1C1C1C"/>
                </a:solidFill>
                <a:effectLst/>
                <a:uLnTx/>
                <a:uFillTx/>
                <a:latin typeface="Lato" panose="020B0604020202020204" pitchFamily="34" charset="0"/>
                <a:ea typeface="+mn-ea"/>
                <a:cs typeface="Arial" panose="020B0604020202020204" pitchFamily="34" charset="0"/>
              </a:rPr>
              <a:t>F&amp;S</a:t>
            </a:r>
          </a:p>
        </p:txBody>
      </p:sp>
      <p:sp>
        <p:nvSpPr>
          <p:cNvPr id="294" name="TextBox 293">
            <a:extLst>
              <a:ext uri="{FF2B5EF4-FFF2-40B4-BE49-F238E27FC236}">
                <a16:creationId xmlns:a16="http://schemas.microsoft.com/office/drawing/2014/main" id="{735A9A4A-3E63-D7EE-2DBB-A20F379546B6}"/>
              </a:ext>
            </a:extLst>
          </p:cNvPr>
          <p:cNvSpPr txBox="1"/>
          <p:nvPr/>
        </p:nvSpPr>
        <p:spPr>
          <a:xfrm>
            <a:off x="2969921" y="3077252"/>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295" name="TextBox 294">
            <a:extLst>
              <a:ext uri="{FF2B5EF4-FFF2-40B4-BE49-F238E27FC236}">
                <a16:creationId xmlns:a16="http://schemas.microsoft.com/office/drawing/2014/main" id="{38C751B3-D817-F4C7-5B47-1CB1749FD112}"/>
              </a:ext>
            </a:extLst>
          </p:cNvPr>
          <p:cNvSpPr txBox="1"/>
          <p:nvPr/>
        </p:nvSpPr>
        <p:spPr>
          <a:xfrm>
            <a:off x="4955298" y="3082402"/>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297" name="TextBox 296">
            <a:extLst>
              <a:ext uri="{FF2B5EF4-FFF2-40B4-BE49-F238E27FC236}">
                <a16:creationId xmlns:a16="http://schemas.microsoft.com/office/drawing/2014/main" id="{FCD0F29C-43CA-1180-6EB3-85580859FED9}"/>
              </a:ext>
            </a:extLst>
          </p:cNvPr>
          <p:cNvSpPr txBox="1"/>
          <p:nvPr/>
        </p:nvSpPr>
        <p:spPr>
          <a:xfrm>
            <a:off x="2541238" y="3082942"/>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298" name="TextBox 297">
            <a:extLst>
              <a:ext uri="{FF2B5EF4-FFF2-40B4-BE49-F238E27FC236}">
                <a16:creationId xmlns:a16="http://schemas.microsoft.com/office/drawing/2014/main" id="{40954602-7B06-9A3E-1C8D-32FF57BB307C}"/>
              </a:ext>
            </a:extLst>
          </p:cNvPr>
          <p:cNvSpPr txBox="1"/>
          <p:nvPr/>
        </p:nvSpPr>
        <p:spPr>
          <a:xfrm>
            <a:off x="5807559" y="3078365"/>
            <a:ext cx="20563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S</a:t>
            </a:r>
          </a:p>
        </p:txBody>
      </p:sp>
      <p:sp>
        <p:nvSpPr>
          <p:cNvPr id="299" name="TextBox 298">
            <a:extLst>
              <a:ext uri="{FF2B5EF4-FFF2-40B4-BE49-F238E27FC236}">
                <a16:creationId xmlns:a16="http://schemas.microsoft.com/office/drawing/2014/main" id="{42CEF99D-67E6-E983-1240-6528458B4CB5}"/>
              </a:ext>
            </a:extLst>
          </p:cNvPr>
          <p:cNvSpPr txBox="1"/>
          <p:nvPr/>
        </p:nvSpPr>
        <p:spPr>
          <a:xfrm>
            <a:off x="6193107" y="3082703"/>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1C1C1C"/>
                </a:solidFill>
                <a:effectLst/>
                <a:uLnTx/>
                <a:uFillTx/>
                <a:latin typeface="Lato" panose="020B0604020202020204" pitchFamily="34" charset="0"/>
                <a:ea typeface="+mn-ea"/>
                <a:cs typeface="Arial" panose="020B0604020202020204" pitchFamily="34" charset="0"/>
              </a:rPr>
              <a:t>F&amp;S</a:t>
            </a:r>
          </a:p>
        </p:txBody>
      </p:sp>
      <p:sp>
        <p:nvSpPr>
          <p:cNvPr id="300" name="TextBox 299">
            <a:extLst>
              <a:ext uri="{FF2B5EF4-FFF2-40B4-BE49-F238E27FC236}">
                <a16:creationId xmlns:a16="http://schemas.microsoft.com/office/drawing/2014/main" id="{2EB41FAD-B5B7-CDEA-A540-91485DA21B87}"/>
              </a:ext>
            </a:extLst>
          </p:cNvPr>
          <p:cNvSpPr txBox="1"/>
          <p:nvPr/>
        </p:nvSpPr>
        <p:spPr>
          <a:xfrm>
            <a:off x="8237864" y="3077252"/>
            <a:ext cx="20563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S</a:t>
            </a:r>
          </a:p>
        </p:txBody>
      </p:sp>
      <p:sp>
        <p:nvSpPr>
          <p:cNvPr id="301" name="TextBox 300">
            <a:extLst>
              <a:ext uri="{FF2B5EF4-FFF2-40B4-BE49-F238E27FC236}">
                <a16:creationId xmlns:a16="http://schemas.microsoft.com/office/drawing/2014/main" id="{C5ECF79A-01BB-2609-F786-AEA775124B10}"/>
              </a:ext>
            </a:extLst>
          </p:cNvPr>
          <p:cNvSpPr txBox="1"/>
          <p:nvPr/>
        </p:nvSpPr>
        <p:spPr>
          <a:xfrm>
            <a:off x="4546043" y="3076994"/>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pic>
        <p:nvPicPr>
          <p:cNvPr id="307" name="Picture 306" descr="Branded Merchandise - USC Brand and Identity Guidelines">
            <a:extLst>
              <a:ext uri="{FF2B5EF4-FFF2-40B4-BE49-F238E27FC236}">
                <a16:creationId xmlns:a16="http://schemas.microsoft.com/office/drawing/2014/main" id="{4FA9F787-B325-0CCD-48C6-7357EFA15E28}"/>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396694" y="1276175"/>
            <a:ext cx="332499" cy="206385"/>
          </a:xfrm>
          <a:prstGeom prst="rect">
            <a:avLst/>
          </a:prstGeom>
          <a:noFill/>
          <a:extLst>
            <a:ext uri="{909E8E84-426E-40DD-AFC4-6F175D3DCCD1}">
              <a14:hiddenFill xmlns:a14="http://schemas.microsoft.com/office/drawing/2010/main">
                <a:solidFill>
                  <a:srgbClr val="FFFFFF"/>
                </a:solidFill>
              </a14:hiddenFill>
            </a:ext>
          </a:extLst>
        </p:spPr>
      </p:pic>
      <p:sp>
        <p:nvSpPr>
          <p:cNvPr id="308" name="TextBox 307">
            <a:extLst>
              <a:ext uri="{FF2B5EF4-FFF2-40B4-BE49-F238E27FC236}">
                <a16:creationId xmlns:a16="http://schemas.microsoft.com/office/drawing/2014/main" id="{B4FAE366-7268-9FB6-A556-A0634835468A}"/>
              </a:ext>
            </a:extLst>
          </p:cNvPr>
          <p:cNvSpPr txBox="1"/>
          <p:nvPr/>
        </p:nvSpPr>
        <p:spPr>
          <a:xfrm>
            <a:off x="3748285" y="3076708"/>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309" name="TextBox 308">
            <a:extLst>
              <a:ext uri="{FF2B5EF4-FFF2-40B4-BE49-F238E27FC236}">
                <a16:creationId xmlns:a16="http://schemas.microsoft.com/office/drawing/2014/main" id="{70FE8976-AF23-8ADE-D644-B59819833387}"/>
              </a:ext>
            </a:extLst>
          </p:cNvPr>
          <p:cNvSpPr txBox="1"/>
          <p:nvPr/>
        </p:nvSpPr>
        <p:spPr>
          <a:xfrm>
            <a:off x="5376407" y="3076708"/>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graphicFrame>
        <p:nvGraphicFramePr>
          <p:cNvPr id="310" name="Table 309">
            <a:extLst>
              <a:ext uri="{FF2B5EF4-FFF2-40B4-BE49-F238E27FC236}">
                <a16:creationId xmlns:a16="http://schemas.microsoft.com/office/drawing/2014/main" id="{ED46F291-746B-BD2B-960D-DC807A318F71}"/>
              </a:ext>
            </a:extLst>
          </p:cNvPr>
          <p:cNvGraphicFramePr>
            <a:graphicFrameLocks noGrp="1"/>
          </p:cNvGraphicFramePr>
          <p:nvPr/>
        </p:nvGraphicFramePr>
        <p:xfrm>
          <a:off x="437052" y="2523095"/>
          <a:ext cx="914400" cy="368377"/>
        </p:xfrm>
        <a:graphic>
          <a:graphicData uri="http://schemas.openxmlformats.org/drawingml/2006/table">
            <a:tbl>
              <a:tblPr bandRow="1">
                <a:tableStyleId>{5C22544A-7EE6-4342-B048-85BDC9FD1C3A}</a:tableStyleId>
              </a:tblPr>
              <a:tblGrid>
                <a:gridCol w="914400">
                  <a:extLst>
                    <a:ext uri="{9D8B030D-6E8A-4147-A177-3AD203B41FA5}">
                      <a16:colId xmlns:a16="http://schemas.microsoft.com/office/drawing/2014/main" val="1319661565"/>
                    </a:ext>
                  </a:extLst>
                </a:gridCol>
              </a:tblGrid>
              <a:tr h="409308">
                <a:tc>
                  <a:txBody>
                    <a:bodyPr/>
                    <a:lstStyle/>
                    <a:p>
                      <a:pPr algn="ctr"/>
                      <a:r>
                        <a:rPr lang="en-US" sz="1050" b="1" dirty="0">
                          <a:solidFill>
                            <a:schemeClr val="bg1"/>
                          </a:solidFill>
                          <a:latin typeface="Lato" panose="020B0604020202020204" pitchFamily="34" charset="0"/>
                          <a:cs typeface="Arial" panose="020B0604020202020204" pitchFamily="34" charset="0"/>
                        </a:rPr>
                        <a:t>Layoffs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75000"/>
                      </a:schemeClr>
                    </a:solidFill>
                  </a:tcPr>
                </a:tc>
                <a:extLst>
                  <a:ext uri="{0D108BD9-81ED-4DB2-BD59-A6C34878D82A}">
                    <a16:rowId xmlns:a16="http://schemas.microsoft.com/office/drawing/2014/main" val="1843070985"/>
                  </a:ext>
                </a:extLst>
              </a:tr>
            </a:tbl>
          </a:graphicData>
        </a:graphic>
      </p:graphicFrame>
      <p:cxnSp>
        <p:nvCxnSpPr>
          <p:cNvPr id="254" name="Straight Connector 253">
            <a:extLst>
              <a:ext uri="{FF2B5EF4-FFF2-40B4-BE49-F238E27FC236}">
                <a16:creationId xmlns:a16="http://schemas.microsoft.com/office/drawing/2014/main" id="{77AD756A-88EF-C83F-F14C-ABA0F8BF2656}"/>
              </a:ext>
            </a:extLst>
          </p:cNvPr>
          <p:cNvCxnSpPr>
            <a:cxnSpLocks/>
          </p:cNvCxnSpPr>
          <p:nvPr/>
        </p:nvCxnSpPr>
        <p:spPr>
          <a:xfrm>
            <a:off x="2325821" y="2702710"/>
            <a:ext cx="10183" cy="2824624"/>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255" name="Oval 254">
            <a:extLst>
              <a:ext uri="{FF2B5EF4-FFF2-40B4-BE49-F238E27FC236}">
                <a16:creationId xmlns:a16="http://schemas.microsoft.com/office/drawing/2014/main" id="{F1B2B677-287E-1D1E-ED55-764F9F7E2DB4}"/>
              </a:ext>
            </a:extLst>
          </p:cNvPr>
          <p:cNvSpPr/>
          <p:nvPr/>
        </p:nvSpPr>
        <p:spPr>
          <a:xfrm>
            <a:off x="2197089" y="3606143"/>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56" name="Oval 255">
            <a:extLst>
              <a:ext uri="{FF2B5EF4-FFF2-40B4-BE49-F238E27FC236}">
                <a16:creationId xmlns:a16="http://schemas.microsoft.com/office/drawing/2014/main" id="{06A7DC7E-2308-2885-3161-24420CD0511F}"/>
              </a:ext>
            </a:extLst>
          </p:cNvPr>
          <p:cNvSpPr/>
          <p:nvPr/>
        </p:nvSpPr>
        <p:spPr>
          <a:xfrm>
            <a:off x="2197089" y="4760192"/>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57" name="Oval 256">
            <a:extLst>
              <a:ext uri="{FF2B5EF4-FFF2-40B4-BE49-F238E27FC236}">
                <a16:creationId xmlns:a16="http://schemas.microsoft.com/office/drawing/2014/main" id="{A67D25D7-583E-5EAE-958B-54DAFAB58B97}"/>
              </a:ext>
            </a:extLst>
          </p:cNvPr>
          <p:cNvSpPr/>
          <p:nvPr/>
        </p:nvSpPr>
        <p:spPr>
          <a:xfrm>
            <a:off x="2197089" y="5406894"/>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58" name="Oval 257">
            <a:extLst>
              <a:ext uri="{FF2B5EF4-FFF2-40B4-BE49-F238E27FC236}">
                <a16:creationId xmlns:a16="http://schemas.microsoft.com/office/drawing/2014/main" id="{2717B00B-B362-547D-744B-93E0F1ECC013}"/>
              </a:ext>
            </a:extLst>
          </p:cNvPr>
          <p:cNvSpPr/>
          <p:nvPr/>
        </p:nvSpPr>
        <p:spPr>
          <a:xfrm>
            <a:off x="2197089"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59" name="Oval 258">
            <a:extLst>
              <a:ext uri="{FF2B5EF4-FFF2-40B4-BE49-F238E27FC236}">
                <a16:creationId xmlns:a16="http://schemas.microsoft.com/office/drawing/2014/main" id="{CE5341F1-44E9-6E3A-3F9A-AA2A532B8DE0}"/>
              </a:ext>
            </a:extLst>
          </p:cNvPr>
          <p:cNvSpPr/>
          <p:nvPr/>
        </p:nvSpPr>
        <p:spPr>
          <a:xfrm>
            <a:off x="2197089"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50" name="Oval 349">
            <a:extLst>
              <a:ext uri="{FF2B5EF4-FFF2-40B4-BE49-F238E27FC236}">
                <a16:creationId xmlns:a16="http://schemas.microsoft.com/office/drawing/2014/main" id="{62758392-0B8E-8D21-83BF-DCEB66E991FD}"/>
              </a:ext>
            </a:extLst>
          </p:cNvPr>
          <p:cNvSpPr/>
          <p:nvPr/>
        </p:nvSpPr>
        <p:spPr>
          <a:xfrm>
            <a:off x="2197089" y="540311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51" name="Oval 350">
            <a:extLst>
              <a:ext uri="{FF2B5EF4-FFF2-40B4-BE49-F238E27FC236}">
                <a16:creationId xmlns:a16="http://schemas.microsoft.com/office/drawing/2014/main" id="{F12FE961-42B5-40C1-979B-DD58C808D0EA}"/>
              </a:ext>
            </a:extLst>
          </p:cNvPr>
          <p:cNvSpPr/>
          <p:nvPr/>
        </p:nvSpPr>
        <p:spPr>
          <a:xfrm>
            <a:off x="2197089" y="419218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pic>
        <p:nvPicPr>
          <p:cNvPr id="275" name="Picture 12" descr="From the Editors: What Does the Brown University Seal Mean Anyway? – The  Bruin Club">
            <a:extLst>
              <a:ext uri="{FF2B5EF4-FFF2-40B4-BE49-F238E27FC236}">
                <a16:creationId xmlns:a16="http://schemas.microsoft.com/office/drawing/2014/main" id="{466D6A16-ACC9-E4FF-83A9-CE35FF44131D}"/>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2198343" y="1213794"/>
            <a:ext cx="265138" cy="365760"/>
          </a:xfrm>
          <a:prstGeom prst="rect">
            <a:avLst/>
          </a:prstGeom>
          <a:solidFill>
            <a:srgbClr val="C8102E"/>
          </a:solidFill>
          <a:ln>
            <a:solidFill>
              <a:schemeClr val="tx1"/>
            </a:solidFill>
          </a:ln>
        </p:spPr>
      </p:pic>
      <p:sp>
        <p:nvSpPr>
          <p:cNvPr id="292" name="TextBox 291">
            <a:extLst>
              <a:ext uri="{FF2B5EF4-FFF2-40B4-BE49-F238E27FC236}">
                <a16:creationId xmlns:a16="http://schemas.microsoft.com/office/drawing/2014/main" id="{788D656D-6648-FE07-2A6C-01479C76FDE9}"/>
              </a:ext>
            </a:extLst>
          </p:cNvPr>
          <p:cNvSpPr txBox="1"/>
          <p:nvPr/>
        </p:nvSpPr>
        <p:spPr>
          <a:xfrm>
            <a:off x="2143169" y="3082402"/>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311" name="Oval 310">
            <a:extLst>
              <a:ext uri="{FF2B5EF4-FFF2-40B4-BE49-F238E27FC236}">
                <a16:creationId xmlns:a16="http://schemas.microsoft.com/office/drawing/2014/main" id="{04F45A45-F76B-F283-F346-74ACDC580CDF}"/>
              </a:ext>
            </a:extLst>
          </p:cNvPr>
          <p:cNvSpPr/>
          <p:nvPr/>
        </p:nvSpPr>
        <p:spPr>
          <a:xfrm>
            <a:off x="2197089" y="2582270"/>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12" name="Oval 311">
            <a:extLst>
              <a:ext uri="{FF2B5EF4-FFF2-40B4-BE49-F238E27FC236}">
                <a16:creationId xmlns:a16="http://schemas.microsoft.com/office/drawing/2014/main" id="{262F5DF0-AFC1-232D-2AC4-90FBE52D0201}"/>
              </a:ext>
            </a:extLst>
          </p:cNvPr>
          <p:cNvSpPr/>
          <p:nvPr/>
        </p:nvSpPr>
        <p:spPr>
          <a:xfrm>
            <a:off x="10639039" y="3037223"/>
            <a:ext cx="267647" cy="240882"/>
          </a:xfrm>
          <a:prstGeom prst="ellipse">
            <a:avLst/>
          </a:prstGeom>
          <a:solidFill>
            <a:schemeClr val="accent1">
              <a:lumMod val="90000"/>
              <a:lumOff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13" name="Oval 312">
            <a:extLst>
              <a:ext uri="{FF2B5EF4-FFF2-40B4-BE49-F238E27FC236}">
                <a16:creationId xmlns:a16="http://schemas.microsoft.com/office/drawing/2014/main" id="{C41E56A8-0FE8-7D45-F80A-85BACF3E01D1}"/>
              </a:ext>
            </a:extLst>
          </p:cNvPr>
          <p:cNvSpPr/>
          <p:nvPr/>
        </p:nvSpPr>
        <p:spPr>
          <a:xfrm>
            <a:off x="10639039" y="2582270"/>
            <a:ext cx="267647" cy="240882"/>
          </a:xfrm>
          <a:prstGeom prst="ellipse">
            <a:avLst/>
          </a:prstGeom>
          <a:solidFill>
            <a:schemeClr val="accent1">
              <a:lumMod val="90000"/>
              <a:lumOff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14" name="Oval 313">
            <a:extLst>
              <a:ext uri="{FF2B5EF4-FFF2-40B4-BE49-F238E27FC236}">
                <a16:creationId xmlns:a16="http://schemas.microsoft.com/office/drawing/2014/main" id="{A32F1966-E5A6-BFDD-35CD-20BF1A453844}"/>
              </a:ext>
            </a:extLst>
          </p:cNvPr>
          <p:cNvSpPr/>
          <p:nvPr/>
        </p:nvSpPr>
        <p:spPr>
          <a:xfrm>
            <a:off x="9832531" y="2582270"/>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16" name="Oval 315">
            <a:extLst>
              <a:ext uri="{FF2B5EF4-FFF2-40B4-BE49-F238E27FC236}">
                <a16:creationId xmlns:a16="http://schemas.microsoft.com/office/drawing/2014/main" id="{877A33C4-68DE-D3C8-EBB8-D91143918852}"/>
              </a:ext>
            </a:extLst>
          </p:cNvPr>
          <p:cNvSpPr/>
          <p:nvPr/>
        </p:nvSpPr>
        <p:spPr>
          <a:xfrm>
            <a:off x="3008419" y="2582270"/>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17" name="Oval 316">
            <a:extLst>
              <a:ext uri="{FF2B5EF4-FFF2-40B4-BE49-F238E27FC236}">
                <a16:creationId xmlns:a16="http://schemas.microsoft.com/office/drawing/2014/main" id="{7197AFC4-4C53-BDB3-3C8A-9F37EA85446F}"/>
              </a:ext>
            </a:extLst>
          </p:cNvPr>
          <p:cNvSpPr/>
          <p:nvPr/>
        </p:nvSpPr>
        <p:spPr>
          <a:xfrm>
            <a:off x="4599357" y="2582270"/>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19" name="Oval 318">
            <a:extLst>
              <a:ext uri="{FF2B5EF4-FFF2-40B4-BE49-F238E27FC236}">
                <a16:creationId xmlns:a16="http://schemas.microsoft.com/office/drawing/2014/main" id="{3F552D0C-7FE6-F158-64B2-616D916B4480}"/>
              </a:ext>
            </a:extLst>
          </p:cNvPr>
          <p:cNvSpPr/>
          <p:nvPr/>
        </p:nvSpPr>
        <p:spPr>
          <a:xfrm>
            <a:off x="4998560" y="2582270"/>
            <a:ext cx="267647" cy="240882"/>
          </a:xfrm>
          <a:prstGeom prst="ellipse">
            <a:avLst/>
          </a:prstGeom>
          <a:solidFill>
            <a:schemeClr val="accent1">
              <a:lumMod val="90000"/>
              <a:lumOff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20" name="Oval 319">
            <a:extLst>
              <a:ext uri="{FF2B5EF4-FFF2-40B4-BE49-F238E27FC236}">
                <a16:creationId xmlns:a16="http://schemas.microsoft.com/office/drawing/2014/main" id="{AF4AA077-C13C-DD40-03FE-F77E400538C7}"/>
              </a:ext>
            </a:extLst>
          </p:cNvPr>
          <p:cNvSpPr/>
          <p:nvPr/>
        </p:nvSpPr>
        <p:spPr>
          <a:xfrm>
            <a:off x="7833573" y="2582270"/>
            <a:ext cx="267647" cy="240882"/>
          </a:xfrm>
          <a:prstGeom prst="ellipse">
            <a:avLst/>
          </a:prstGeom>
          <a:solidFill>
            <a:schemeClr val="accent1">
              <a:lumMod val="90000"/>
              <a:lumOff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21" name="Oval 320">
            <a:extLst>
              <a:ext uri="{FF2B5EF4-FFF2-40B4-BE49-F238E27FC236}">
                <a16:creationId xmlns:a16="http://schemas.microsoft.com/office/drawing/2014/main" id="{FB1025DE-422F-9799-1338-7190D6F88B49}"/>
              </a:ext>
            </a:extLst>
          </p:cNvPr>
          <p:cNvSpPr/>
          <p:nvPr/>
        </p:nvSpPr>
        <p:spPr>
          <a:xfrm>
            <a:off x="4195744" y="2582270"/>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23" name="Oval 322">
            <a:extLst>
              <a:ext uri="{FF2B5EF4-FFF2-40B4-BE49-F238E27FC236}">
                <a16:creationId xmlns:a16="http://schemas.microsoft.com/office/drawing/2014/main" id="{6147B0E1-4DA2-2738-E37B-123483A17015}"/>
              </a:ext>
            </a:extLst>
          </p:cNvPr>
          <p:cNvSpPr/>
          <p:nvPr/>
        </p:nvSpPr>
        <p:spPr>
          <a:xfrm>
            <a:off x="7454851" y="2582270"/>
            <a:ext cx="267647" cy="240882"/>
          </a:xfrm>
          <a:prstGeom prst="ellipse">
            <a:avLst/>
          </a:prstGeom>
          <a:solidFill>
            <a:schemeClr val="accent1">
              <a:lumMod val="90000"/>
              <a:lumOff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24" name="Oval 323">
            <a:extLst>
              <a:ext uri="{FF2B5EF4-FFF2-40B4-BE49-F238E27FC236}">
                <a16:creationId xmlns:a16="http://schemas.microsoft.com/office/drawing/2014/main" id="{86DD435B-72B6-49B6-0116-A3A73E0E1849}"/>
              </a:ext>
            </a:extLst>
          </p:cNvPr>
          <p:cNvSpPr/>
          <p:nvPr/>
        </p:nvSpPr>
        <p:spPr>
          <a:xfrm>
            <a:off x="6649915" y="2582270"/>
            <a:ext cx="267647" cy="240882"/>
          </a:xfrm>
          <a:prstGeom prst="ellipse">
            <a:avLst/>
          </a:prstGeom>
          <a:solidFill>
            <a:schemeClr val="accent1">
              <a:lumMod val="90000"/>
              <a:lumOff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25" name="Oval 324">
            <a:extLst>
              <a:ext uri="{FF2B5EF4-FFF2-40B4-BE49-F238E27FC236}">
                <a16:creationId xmlns:a16="http://schemas.microsoft.com/office/drawing/2014/main" id="{FE7D5CBF-E5F8-9C47-AACB-36EF274FB029}"/>
              </a:ext>
            </a:extLst>
          </p:cNvPr>
          <p:cNvSpPr/>
          <p:nvPr/>
        </p:nvSpPr>
        <p:spPr>
          <a:xfrm>
            <a:off x="3804286" y="2582270"/>
            <a:ext cx="267647" cy="240882"/>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26" name="Oval 325">
            <a:extLst>
              <a:ext uri="{FF2B5EF4-FFF2-40B4-BE49-F238E27FC236}">
                <a16:creationId xmlns:a16="http://schemas.microsoft.com/office/drawing/2014/main" id="{193EB666-B5C8-FBE4-BC93-3322BD4B7E2B}"/>
              </a:ext>
            </a:extLst>
          </p:cNvPr>
          <p:cNvSpPr/>
          <p:nvPr/>
        </p:nvSpPr>
        <p:spPr>
          <a:xfrm>
            <a:off x="2595913" y="2582270"/>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27" name="Oval 326">
            <a:extLst>
              <a:ext uri="{FF2B5EF4-FFF2-40B4-BE49-F238E27FC236}">
                <a16:creationId xmlns:a16="http://schemas.microsoft.com/office/drawing/2014/main" id="{EF4D5BA0-3E6E-B0C2-E8F1-A14E48DF423E}"/>
              </a:ext>
            </a:extLst>
          </p:cNvPr>
          <p:cNvSpPr/>
          <p:nvPr/>
        </p:nvSpPr>
        <p:spPr>
          <a:xfrm>
            <a:off x="8642413" y="2582270"/>
            <a:ext cx="267647" cy="240882"/>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28" name="Oval 327">
            <a:extLst>
              <a:ext uri="{FF2B5EF4-FFF2-40B4-BE49-F238E27FC236}">
                <a16:creationId xmlns:a16="http://schemas.microsoft.com/office/drawing/2014/main" id="{86022D0C-0DFD-A4BB-83BD-D9D7C000F448}"/>
              </a:ext>
            </a:extLst>
          </p:cNvPr>
          <p:cNvSpPr/>
          <p:nvPr/>
        </p:nvSpPr>
        <p:spPr>
          <a:xfrm>
            <a:off x="7050034" y="2582270"/>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29" name="Oval 328">
            <a:extLst>
              <a:ext uri="{FF2B5EF4-FFF2-40B4-BE49-F238E27FC236}">
                <a16:creationId xmlns:a16="http://schemas.microsoft.com/office/drawing/2014/main" id="{C9C5899F-BD2F-48BB-BB48-D753D6502E73}"/>
              </a:ext>
            </a:extLst>
          </p:cNvPr>
          <p:cNvSpPr/>
          <p:nvPr/>
        </p:nvSpPr>
        <p:spPr>
          <a:xfrm>
            <a:off x="5803767" y="2582270"/>
            <a:ext cx="267647" cy="240882"/>
          </a:xfrm>
          <a:prstGeom prst="ellipse">
            <a:avLst/>
          </a:prstGeom>
          <a:solidFill>
            <a:schemeClr val="accent1">
              <a:lumMod val="90000"/>
              <a:lumOff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30" name="Oval 329">
            <a:extLst>
              <a:ext uri="{FF2B5EF4-FFF2-40B4-BE49-F238E27FC236}">
                <a16:creationId xmlns:a16="http://schemas.microsoft.com/office/drawing/2014/main" id="{A097C1AC-D9CD-95DB-E7C5-0F8E788174ED}"/>
              </a:ext>
            </a:extLst>
          </p:cNvPr>
          <p:cNvSpPr/>
          <p:nvPr/>
        </p:nvSpPr>
        <p:spPr>
          <a:xfrm>
            <a:off x="3385834" y="2582270"/>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31" name="Oval 330">
            <a:extLst>
              <a:ext uri="{FF2B5EF4-FFF2-40B4-BE49-F238E27FC236}">
                <a16:creationId xmlns:a16="http://schemas.microsoft.com/office/drawing/2014/main" id="{BC8FC4FD-32A9-6814-D42F-FE7122E9D392}"/>
              </a:ext>
            </a:extLst>
          </p:cNvPr>
          <p:cNvSpPr/>
          <p:nvPr/>
        </p:nvSpPr>
        <p:spPr>
          <a:xfrm>
            <a:off x="5413125" y="2582270"/>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32" name="Oval 331">
            <a:extLst>
              <a:ext uri="{FF2B5EF4-FFF2-40B4-BE49-F238E27FC236}">
                <a16:creationId xmlns:a16="http://schemas.microsoft.com/office/drawing/2014/main" id="{12AA6F62-9E96-8C2D-1A1D-330D03265D73}"/>
              </a:ext>
            </a:extLst>
          </p:cNvPr>
          <p:cNvSpPr/>
          <p:nvPr/>
        </p:nvSpPr>
        <p:spPr>
          <a:xfrm>
            <a:off x="11067202" y="2582270"/>
            <a:ext cx="267647" cy="240882"/>
          </a:xfrm>
          <a:prstGeom prst="ellipse">
            <a:avLst/>
          </a:prstGeom>
          <a:solidFill>
            <a:schemeClr val="accent1">
              <a:lumMod val="90000"/>
              <a:lumOff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33" name="Oval 332">
            <a:extLst>
              <a:ext uri="{FF2B5EF4-FFF2-40B4-BE49-F238E27FC236}">
                <a16:creationId xmlns:a16="http://schemas.microsoft.com/office/drawing/2014/main" id="{847157D2-34FF-D592-D711-8839D7487917}"/>
              </a:ext>
            </a:extLst>
          </p:cNvPr>
          <p:cNvSpPr/>
          <p:nvPr/>
        </p:nvSpPr>
        <p:spPr>
          <a:xfrm>
            <a:off x="8228629" y="2582270"/>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34" name="Oval 333">
            <a:extLst>
              <a:ext uri="{FF2B5EF4-FFF2-40B4-BE49-F238E27FC236}">
                <a16:creationId xmlns:a16="http://schemas.microsoft.com/office/drawing/2014/main" id="{866EF242-510E-DA87-9DE5-B898B141F84A}"/>
              </a:ext>
            </a:extLst>
          </p:cNvPr>
          <p:cNvSpPr/>
          <p:nvPr/>
        </p:nvSpPr>
        <p:spPr>
          <a:xfrm>
            <a:off x="6246656" y="2582270"/>
            <a:ext cx="267647" cy="240882"/>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36" name="Oval 335">
            <a:extLst>
              <a:ext uri="{FF2B5EF4-FFF2-40B4-BE49-F238E27FC236}">
                <a16:creationId xmlns:a16="http://schemas.microsoft.com/office/drawing/2014/main" id="{70A03304-3375-350A-2DD5-68C81B6BDA74}"/>
              </a:ext>
            </a:extLst>
          </p:cNvPr>
          <p:cNvSpPr/>
          <p:nvPr/>
        </p:nvSpPr>
        <p:spPr>
          <a:xfrm>
            <a:off x="9032779" y="2582270"/>
            <a:ext cx="267647" cy="240882"/>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37" name="TextBox 336">
            <a:extLst>
              <a:ext uri="{FF2B5EF4-FFF2-40B4-BE49-F238E27FC236}">
                <a16:creationId xmlns:a16="http://schemas.microsoft.com/office/drawing/2014/main" id="{F1142A2F-9FD2-2A28-7489-735AEEF756A7}"/>
              </a:ext>
            </a:extLst>
          </p:cNvPr>
          <p:cNvSpPr txBox="1"/>
          <p:nvPr/>
        </p:nvSpPr>
        <p:spPr>
          <a:xfrm>
            <a:off x="4444313" y="2259206"/>
            <a:ext cx="728803"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599 staff buyouts; layoffs August 2025</a:t>
            </a:r>
          </a:p>
        </p:txBody>
      </p:sp>
      <p:sp>
        <p:nvSpPr>
          <p:cNvPr id="338" name="TextBox 337">
            <a:extLst>
              <a:ext uri="{FF2B5EF4-FFF2-40B4-BE49-F238E27FC236}">
                <a16:creationId xmlns:a16="http://schemas.microsoft.com/office/drawing/2014/main" id="{C9468ED4-D4FA-0F71-6030-60CD6E726A1E}"/>
              </a:ext>
            </a:extLst>
          </p:cNvPr>
          <p:cNvSpPr txBox="1"/>
          <p:nvPr/>
        </p:nvSpPr>
        <p:spPr>
          <a:xfrm>
            <a:off x="4555570" y="2615665"/>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339" name="TextBox 338">
            <a:extLst>
              <a:ext uri="{FF2B5EF4-FFF2-40B4-BE49-F238E27FC236}">
                <a16:creationId xmlns:a16="http://schemas.microsoft.com/office/drawing/2014/main" id="{35506473-01B1-E1AA-8C05-0470FF0A924E}"/>
              </a:ext>
            </a:extLst>
          </p:cNvPr>
          <p:cNvSpPr txBox="1"/>
          <p:nvPr/>
        </p:nvSpPr>
        <p:spPr>
          <a:xfrm>
            <a:off x="2457954" y="2259206"/>
            <a:ext cx="544956"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425 staff positions eliminated</a:t>
            </a:r>
          </a:p>
        </p:txBody>
      </p:sp>
      <p:sp>
        <p:nvSpPr>
          <p:cNvPr id="340" name="TextBox 339">
            <a:extLst>
              <a:ext uri="{FF2B5EF4-FFF2-40B4-BE49-F238E27FC236}">
                <a16:creationId xmlns:a16="http://schemas.microsoft.com/office/drawing/2014/main" id="{8577B6D1-F537-6425-93AA-D19E9F71E950}"/>
              </a:ext>
            </a:extLst>
          </p:cNvPr>
          <p:cNvSpPr txBox="1"/>
          <p:nvPr/>
        </p:nvSpPr>
        <p:spPr>
          <a:xfrm>
            <a:off x="1019758" y="2266400"/>
            <a:ext cx="1137956"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25% of SEAS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staff laid off</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October 2025</a:t>
            </a:r>
          </a:p>
        </p:txBody>
      </p:sp>
      <p:sp>
        <p:nvSpPr>
          <p:cNvPr id="201" name="Oval 200">
            <a:extLst>
              <a:ext uri="{FF2B5EF4-FFF2-40B4-BE49-F238E27FC236}">
                <a16:creationId xmlns:a16="http://schemas.microsoft.com/office/drawing/2014/main" id="{A7275E54-BAFD-4BEF-63F7-71A92765A238}"/>
              </a:ext>
            </a:extLst>
          </p:cNvPr>
          <p:cNvSpPr/>
          <p:nvPr/>
        </p:nvSpPr>
        <p:spPr>
          <a:xfrm>
            <a:off x="1413299" y="3606143"/>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202" name="Oval 201">
            <a:extLst>
              <a:ext uri="{FF2B5EF4-FFF2-40B4-BE49-F238E27FC236}">
                <a16:creationId xmlns:a16="http://schemas.microsoft.com/office/drawing/2014/main" id="{78814ED5-F066-4271-9D81-7800B8B016E5}"/>
              </a:ext>
            </a:extLst>
          </p:cNvPr>
          <p:cNvSpPr/>
          <p:nvPr/>
        </p:nvSpPr>
        <p:spPr>
          <a:xfrm>
            <a:off x="1413299" y="4760192"/>
            <a:ext cx="267647" cy="240882"/>
          </a:xfrm>
          <a:prstGeom prst="ellipse">
            <a:avLst/>
          </a:prstGeom>
          <a:solidFill>
            <a:schemeClr val="accent2">
              <a:lumMod val="60000"/>
              <a:lumOff val="4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03" name="Oval 202">
            <a:extLst>
              <a:ext uri="{FF2B5EF4-FFF2-40B4-BE49-F238E27FC236}">
                <a16:creationId xmlns:a16="http://schemas.microsoft.com/office/drawing/2014/main" id="{68D0287F-B77E-003D-19CF-10530802A611}"/>
              </a:ext>
            </a:extLst>
          </p:cNvPr>
          <p:cNvSpPr/>
          <p:nvPr/>
        </p:nvSpPr>
        <p:spPr>
          <a:xfrm>
            <a:off x="1413299" y="5406894"/>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04" name="Oval 203">
            <a:extLst>
              <a:ext uri="{FF2B5EF4-FFF2-40B4-BE49-F238E27FC236}">
                <a16:creationId xmlns:a16="http://schemas.microsoft.com/office/drawing/2014/main" id="{0D40D32D-D5D6-1C57-482D-FF9D0C16B5E2}"/>
              </a:ext>
            </a:extLst>
          </p:cNvPr>
          <p:cNvSpPr/>
          <p:nvPr/>
        </p:nvSpPr>
        <p:spPr>
          <a:xfrm>
            <a:off x="1413299"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05" name="Oval 204">
            <a:extLst>
              <a:ext uri="{FF2B5EF4-FFF2-40B4-BE49-F238E27FC236}">
                <a16:creationId xmlns:a16="http://schemas.microsoft.com/office/drawing/2014/main" id="{0DC04E17-3255-067A-B729-FFA5BF233333}"/>
              </a:ext>
            </a:extLst>
          </p:cNvPr>
          <p:cNvSpPr/>
          <p:nvPr/>
        </p:nvSpPr>
        <p:spPr>
          <a:xfrm>
            <a:off x="1413299"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61" name="Oval 360">
            <a:extLst>
              <a:ext uri="{FF2B5EF4-FFF2-40B4-BE49-F238E27FC236}">
                <a16:creationId xmlns:a16="http://schemas.microsoft.com/office/drawing/2014/main" id="{FC3E6F94-DF7C-5A6C-F41F-8566B11255F6}"/>
              </a:ext>
            </a:extLst>
          </p:cNvPr>
          <p:cNvSpPr/>
          <p:nvPr/>
        </p:nvSpPr>
        <p:spPr>
          <a:xfrm>
            <a:off x="1413299" y="540311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62" name="Oval 361">
            <a:extLst>
              <a:ext uri="{FF2B5EF4-FFF2-40B4-BE49-F238E27FC236}">
                <a16:creationId xmlns:a16="http://schemas.microsoft.com/office/drawing/2014/main" id="{1FF92304-30FA-8260-0132-2B19A1D13D31}"/>
              </a:ext>
            </a:extLst>
          </p:cNvPr>
          <p:cNvSpPr/>
          <p:nvPr/>
        </p:nvSpPr>
        <p:spPr>
          <a:xfrm>
            <a:off x="1413299" y="419218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96" name="TextBox 295">
            <a:extLst>
              <a:ext uri="{FF2B5EF4-FFF2-40B4-BE49-F238E27FC236}">
                <a16:creationId xmlns:a16="http://schemas.microsoft.com/office/drawing/2014/main" id="{5CCD07D1-34B3-A061-302D-6046E0AE7F35}"/>
              </a:ext>
            </a:extLst>
          </p:cNvPr>
          <p:cNvSpPr txBox="1"/>
          <p:nvPr/>
        </p:nvSpPr>
        <p:spPr>
          <a:xfrm>
            <a:off x="1360926" y="3078972"/>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322" name="Oval 321">
            <a:extLst>
              <a:ext uri="{FF2B5EF4-FFF2-40B4-BE49-F238E27FC236}">
                <a16:creationId xmlns:a16="http://schemas.microsoft.com/office/drawing/2014/main" id="{DAC6BAE3-777F-4A28-E2A5-307A670F55B1}"/>
              </a:ext>
            </a:extLst>
          </p:cNvPr>
          <p:cNvSpPr/>
          <p:nvPr/>
        </p:nvSpPr>
        <p:spPr>
          <a:xfrm>
            <a:off x="1413299" y="2582270"/>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341" name="TextBox 340">
            <a:extLst>
              <a:ext uri="{FF2B5EF4-FFF2-40B4-BE49-F238E27FC236}">
                <a16:creationId xmlns:a16="http://schemas.microsoft.com/office/drawing/2014/main" id="{2B3261E9-643D-CF1B-9CCC-74951D199F14}"/>
              </a:ext>
            </a:extLst>
          </p:cNvPr>
          <p:cNvSpPr txBox="1"/>
          <p:nvPr/>
        </p:nvSpPr>
        <p:spPr>
          <a:xfrm>
            <a:off x="1418906" y="2614797"/>
            <a:ext cx="20563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S</a:t>
            </a:r>
          </a:p>
        </p:txBody>
      </p:sp>
      <p:sp>
        <p:nvSpPr>
          <p:cNvPr id="342" name="TextBox 341">
            <a:extLst>
              <a:ext uri="{FF2B5EF4-FFF2-40B4-BE49-F238E27FC236}">
                <a16:creationId xmlns:a16="http://schemas.microsoft.com/office/drawing/2014/main" id="{218EBA24-B1C9-7EF7-7CB9-6267C78A9D6D}"/>
              </a:ext>
            </a:extLst>
          </p:cNvPr>
          <p:cNvSpPr txBox="1"/>
          <p:nvPr/>
        </p:nvSpPr>
        <p:spPr>
          <a:xfrm>
            <a:off x="2761712" y="2259206"/>
            <a:ext cx="786879"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Layoffs announced</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June 2025</a:t>
            </a:r>
          </a:p>
        </p:txBody>
      </p:sp>
      <p:sp>
        <p:nvSpPr>
          <p:cNvPr id="343" name="TextBox 342">
            <a:extLst>
              <a:ext uri="{FF2B5EF4-FFF2-40B4-BE49-F238E27FC236}">
                <a16:creationId xmlns:a16="http://schemas.microsoft.com/office/drawing/2014/main" id="{5878E700-D80F-3A90-4ABB-0AA43524EFE1}"/>
              </a:ext>
            </a:extLst>
          </p:cNvPr>
          <p:cNvSpPr txBox="1"/>
          <p:nvPr/>
        </p:nvSpPr>
        <p:spPr>
          <a:xfrm>
            <a:off x="7119872" y="3928078"/>
            <a:ext cx="509468" cy="29084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Budget cuts of $140M</a:t>
            </a:r>
          </a:p>
        </p:txBody>
      </p:sp>
      <p:sp>
        <p:nvSpPr>
          <p:cNvPr id="344" name="TextBox 343">
            <a:extLst>
              <a:ext uri="{FF2B5EF4-FFF2-40B4-BE49-F238E27FC236}">
                <a16:creationId xmlns:a16="http://schemas.microsoft.com/office/drawing/2014/main" id="{7B1F0E14-FCFB-69FA-D623-855ED5508EA7}"/>
              </a:ext>
            </a:extLst>
          </p:cNvPr>
          <p:cNvSpPr txBox="1"/>
          <p:nvPr/>
        </p:nvSpPr>
        <p:spPr>
          <a:xfrm>
            <a:off x="6797249" y="2259206"/>
            <a:ext cx="746869"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360+ layoffs announced August 2025</a:t>
            </a:r>
          </a:p>
        </p:txBody>
      </p:sp>
      <p:sp>
        <p:nvSpPr>
          <p:cNvPr id="345" name="TextBox 344">
            <a:extLst>
              <a:ext uri="{FF2B5EF4-FFF2-40B4-BE49-F238E27FC236}">
                <a16:creationId xmlns:a16="http://schemas.microsoft.com/office/drawing/2014/main" id="{7611F646-3322-8985-C396-094FD6EB704F}"/>
              </a:ext>
            </a:extLst>
          </p:cNvPr>
          <p:cNvSpPr txBox="1"/>
          <p:nvPr/>
        </p:nvSpPr>
        <p:spPr>
          <a:xfrm>
            <a:off x="6322828" y="3417315"/>
            <a:ext cx="579342" cy="22159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Merit reduction</a:t>
            </a:r>
          </a:p>
        </p:txBody>
      </p:sp>
      <p:sp>
        <p:nvSpPr>
          <p:cNvPr id="346" name="TextBox 345">
            <a:extLst>
              <a:ext uri="{FF2B5EF4-FFF2-40B4-BE49-F238E27FC236}">
                <a16:creationId xmlns:a16="http://schemas.microsoft.com/office/drawing/2014/main" id="{75E6582F-EF21-3CE7-E445-76F23D18306A}"/>
              </a:ext>
            </a:extLst>
          </p:cNvPr>
          <p:cNvSpPr txBox="1"/>
          <p:nvPr/>
        </p:nvSpPr>
        <p:spPr>
          <a:xfrm>
            <a:off x="8800522" y="2259206"/>
            <a:ext cx="756925"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Reorganization announced, layoffs</a:t>
            </a:r>
          </a:p>
        </p:txBody>
      </p:sp>
      <p:sp>
        <p:nvSpPr>
          <p:cNvPr id="347" name="TextBox 346">
            <a:extLst>
              <a:ext uri="{FF2B5EF4-FFF2-40B4-BE49-F238E27FC236}">
                <a16:creationId xmlns:a16="http://schemas.microsoft.com/office/drawing/2014/main" id="{5FDA9C18-0FF8-B5A8-A884-F38CA5BA71F3}"/>
              </a:ext>
            </a:extLst>
          </p:cNvPr>
          <p:cNvSpPr txBox="1"/>
          <p:nvPr/>
        </p:nvSpPr>
        <p:spPr>
          <a:xfrm>
            <a:off x="5892916" y="4496560"/>
            <a:ext cx="579342" cy="29084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No new campus buildings</a:t>
            </a:r>
          </a:p>
        </p:txBody>
      </p:sp>
      <p:sp>
        <p:nvSpPr>
          <p:cNvPr id="348" name="TextBox 347">
            <a:extLst>
              <a:ext uri="{FF2B5EF4-FFF2-40B4-BE49-F238E27FC236}">
                <a16:creationId xmlns:a16="http://schemas.microsoft.com/office/drawing/2014/main" id="{3936D18C-041E-F804-6414-1FAA703E056E}"/>
              </a:ext>
            </a:extLst>
          </p:cNvPr>
          <p:cNvSpPr txBox="1"/>
          <p:nvPr/>
        </p:nvSpPr>
        <p:spPr>
          <a:xfrm>
            <a:off x="8354555" y="2259206"/>
            <a:ext cx="746869"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Voluntary Separation announced</a:t>
            </a:r>
          </a:p>
        </p:txBody>
      </p:sp>
      <p:sp>
        <p:nvSpPr>
          <p:cNvPr id="349" name="TextBox 348">
            <a:extLst>
              <a:ext uri="{FF2B5EF4-FFF2-40B4-BE49-F238E27FC236}">
                <a16:creationId xmlns:a16="http://schemas.microsoft.com/office/drawing/2014/main" id="{D7655BBD-FE76-DA56-C33D-13D51B5E8876}"/>
              </a:ext>
            </a:extLst>
          </p:cNvPr>
          <p:cNvSpPr txBox="1"/>
          <p:nvPr/>
        </p:nvSpPr>
        <p:spPr>
          <a:xfrm>
            <a:off x="4209476" y="3084300"/>
            <a:ext cx="20563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S</a:t>
            </a:r>
          </a:p>
        </p:txBody>
      </p:sp>
      <p:pic>
        <p:nvPicPr>
          <p:cNvPr id="12" name="Picture 11">
            <a:extLst>
              <a:ext uri="{FF2B5EF4-FFF2-40B4-BE49-F238E27FC236}">
                <a16:creationId xmlns:a16="http://schemas.microsoft.com/office/drawing/2014/main" id="{6AC5B9CD-75A4-DC63-8B1E-2E394E304F17}"/>
              </a:ext>
            </a:extLst>
          </p:cNvPr>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a:xfrm>
            <a:off x="6629791" y="1173117"/>
            <a:ext cx="310087" cy="435402"/>
          </a:xfrm>
          <a:prstGeom prst="rect">
            <a:avLst/>
          </a:prstGeom>
        </p:spPr>
      </p:pic>
      <p:pic>
        <p:nvPicPr>
          <p:cNvPr id="22" name="Picture 2" descr="http://www.ranklogos.com/wp-content/uploads/2012/06/stanford-university-500x500.gif">
            <a:extLst>
              <a:ext uri="{FF2B5EF4-FFF2-40B4-BE49-F238E27FC236}">
                <a16:creationId xmlns:a16="http://schemas.microsoft.com/office/drawing/2014/main" id="{B1AA631D-2760-6C24-EB10-F9A2FEEC9C05}"/>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7001473" y="1205559"/>
            <a:ext cx="363311" cy="363311"/>
          </a:xfrm>
          <a:prstGeom prst="ellipse">
            <a:avLst/>
          </a:prstGeom>
          <a:noFill/>
          <a:extLst>
            <a:ext uri="{909E8E84-426E-40DD-AFC4-6F175D3DCCD1}">
              <a14:hiddenFill xmlns:a14="http://schemas.microsoft.com/office/drawing/2010/main">
                <a:solidFill>
                  <a:srgbClr val="FFFFFF"/>
                </a:solidFill>
              </a14:hiddenFill>
            </a:ext>
          </a:extLst>
        </p:spPr>
      </p:pic>
      <p:sp>
        <p:nvSpPr>
          <p:cNvPr id="237" name="Oval 236">
            <a:extLst>
              <a:ext uri="{FF2B5EF4-FFF2-40B4-BE49-F238E27FC236}">
                <a16:creationId xmlns:a16="http://schemas.microsoft.com/office/drawing/2014/main" id="{E755AC14-EF9D-4A70-7605-FFD8D4356FB8}"/>
              </a:ext>
            </a:extLst>
          </p:cNvPr>
          <p:cNvSpPr/>
          <p:nvPr/>
        </p:nvSpPr>
        <p:spPr>
          <a:xfrm>
            <a:off x="1808325" y="3606143"/>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239" name="Oval 238">
            <a:extLst>
              <a:ext uri="{FF2B5EF4-FFF2-40B4-BE49-F238E27FC236}">
                <a16:creationId xmlns:a16="http://schemas.microsoft.com/office/drawing/2014/main" id="{817805EB-B9BA-208A-08B2-1DFF7E098934}"/>
              </a:ext>
            </a:extLst>
          </p:cNvPr>
          <p:cNvSpPr/>
          <p:nvPr/>
        </p:nvSpPr>
        <p:spPr>
          <a:xfrm>
            <a:off x="1801829" y="5406894"/>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40" name="Oval 239">
            <a:extLst>
              <a:ext uri="{FF2B5EF4-FFF2-40B4-BE49-F238E27FC236}">
                <a16:creationId xmlns:a16="http://schemas.microsoft.com/office/drawing/2014/main" id="{051B0604-EA9A-F4A8-F128-7602E9CEC1D4}"/>
              </a:ext>
            </a:extLst>
          </p:cNvPr>
          <p:cNvSpPr/>
          <p:nvPr/>
        </p:nvSpPr>
        <p:spPr>
          <a:xfrm>
            <a:off x="1801830" y="3050401"/>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41" name="Oval 240">
            <a:extLst>
              <a:ext uri="{FF2B5EF4-FFF2-40B4-BE49-F238E27FC236}">
                <a16:creationId xmlns:a16="http://schemas.microsoft.com/office/drawing/2014/main" id="{E3800FCC-D38E-CA7D-BD3D-0061F8058458}"/>
              </a:ext>
            </a:extLst>
          </p:cNvPr>
          <p:cNvSpPr/>
          <p:nvPr/>
        </p:nvSpPr>
        <p:spPr>
          <a:xfrm>
            <a:off x="1808323" y="4195959"/>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54" name="Oval 353">
            <a:extLst>
              <a:ext uri="{FF2B5EF4-FFF2-40B4-BE49-F238E27FC236}">
                <a16:creationId xmlns:a16="http://schemas.microsoft.com/office/drawing/2014/main" id="{152641E0-00FB-452E-695A-84EA23BF60EE}"/>
              </a:ext>
            </a:extLst>
          </p:cNvPr>
          <p:cNvSpPr/>
          <p:nvPr/>
        </p:nvSpPr>
        <p:spPr>
          <a:xfrm>
            <a:off x="1801070" y="419218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293" name="TextBox 292">
            <a:extLst>
              <a:ext uri="{FF2B5EF4-FFF2-40B4-BE49-F238E27FC236}">
                <a16:creationId xmlns:a16="http://schemas.microsoft.com/office/drawing/2014/main" id="{F7337068-037F-D661-D543-20F938644DCF}"/>
              </a:ext>
            </a:extLst>
          </p:cNvPr>
          <p:cNvSpPr txBox="1"/>
          <p:nvPr/>
        </p:nvSpPr>
        <p:spPr>
          <a:xfrm>
            <a:off x="1751342" y="3076994"/>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315" name="Oval 314">
            <a:extLst>
              <a:ext uri="{FF2B5EF4-FFF2-40B4-BE49-F238E27FC236}">
                <a16:creationId xmlns:a16="http://schemas.microsoft.com/office/drawing/2014/main" id="{390E13A0-0431-7287-C589-837639D6A263}"/>
              </a:ext>
            </a:extLst>
          </p:cNvPr>
          <p:cNvSpPr/>
          <p:nvPr/>
        </p:nvSpPr>
        <p:spPr>
          <a:xfrm>
            <a:off x="1805262" y="2582270"/>
            <a:ext cx="267647" cy="240882"/>
          </a:xfrm>
          <a:prstGeom prst="ellipse">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cxnSp>
        <p:nvCxnSpPr>
          <p:cNvPr id="29" name="Straight Connector 28">
            <a:extLst>
              <a:ext uri="{FF2B5EF4-FFF2-40B4-BE49-F238E27FC236}">
                <a16:creationId xmlns:a16="http://schemas.microsoft.com/office/drawing/2014/main" id="{52C28E39-7083-A265-EEE9-ADE8B0CBF565}"/>
              </a:ext>
            </a:extLst>
          </p:cNvPr>
          <p:cNvCxnSpPr>
            <a:cxnSpLocks/>
          </p:cNvCxnSpPr>
          <p:nvPr/>
        </p:nvCxnSpPr>
        <p:spPr>
          <a:xfrm flipH="1">
            <a:off x="9554905" y="2746846"/>
            <a:ext cx="10811" cy="2704183"/>
          </a:xfrm>
          <a:prstGeom prst="line">
            <a:avLst/>
          </a:prstGeom>
          <a:ln>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A621FFEC-6386-3280-30F2-3A2AA46B8C5C}"/>
              </a:ext>
            </a:extLst>
          </p:cNvPr>
          <p:cNvSpPr/>
          <p:nvPr/>
        </p:nvSpPr>
        <p:spPr>
          <a:xfrm>
            <a:off x="9426487" y="360254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4" name="Oval 33">
            <a:extLst>
              <a:ext uri="{FF2B5EF4-FFF2-40B4-BE49-F238E27FC236}">
                <a16:creationId xmlns:a16="http://schemas.microsoft.com/office/drawing/2014/main" id="{530F00A8-498F-23B2-57E8-D52F254F6373}"/>
              </a:ext>
            </a:extLst>
          </p:cNvPr>
          <p:cNvSpPr/>
          <p:nvPr/>
        </p:nvSpPr>
        <p:spPr>
          <a:xfrm>
            <a:off x="9426487" y="4756594"/>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5" name="Oval 34">
            <a:extLst>
              <a:ext uri="{FF2B5EF4-FFF2-40B4-BE49-F238E27FC236}">
                <a16:creationId xmlns:a16="http://schemas.microsoft.com/office/drawing/2014/main" id="{C9C3B8B2-9271-A666-9560-5818985999D8}"/>
              </a:ext>
            </a:extLst>
          </p:cNvPr>
          <p:cNvSpPr/>
          <p:nvPr/>
        </p:nvSpPr>
        <p:spPr>
          <a:xfrm>
            <a:off x="9426487" y="5406628"/>
            <a:ext cx="267647" cy="240882"/>
          </a:xfrm>
          <a:prstGeom prst="ellipse">
            <a:avLst/>
          </a:prstGeom>
          <a:solidFill>
            <a:schemeClr val="accent1">
              <a:lumMod val="90000"/>
              <a:lumOff val="10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6" name="Oval 35">
            <a:extLst>
              <a:ext uri="{FF2B5EF4-FFF2-40B4-BE49-F238E27FC236}">
                <a16:creationId xmlns:a16="http://schemas.microsoft.com/office/drawing/2014/main" id="{EEE63959-10F3-3DCE-B4B6-573E1055E52F}"/>
              </a:ext>
            </a:extLst>
          </p:cNvPr>
          <p:cNvSpPr/>
          <p:nvPr/>
        </p:nvSpPr>
        <p:spPr>
          <a:xfrm>
            <a:off x="9426487" y="3039234"/>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8" name="Oval 37">
            <a:extLst>
              <a:ext uri="{FF2B5EF4-FFF2-40B4-BE49-F238E27FC236}">
                <a16:creationId xmlns:a16="http://schemas.microsoft.com/office/drawing/2014/main" id="{26A55160-B0E3-C5AD-A01D-8393FB88710C}"/>
              </a:ext>
            </a:extLst>
          </p:cNvPr>
          <p:cNvSpPr/>
          <p:nvPr/>
        </p:nvSpPr>
        <p:spPr>
          <a:xfrm>
            <a:off x="9426487" y="4188583"/>
            <a:ext cx="267647" cy="240882"/>
          </a:xfrm>
          <a:prstGeom prst="ellipse">
            <a:avLst/>
          </a:prstGeom>
          <a:solidFill>
            <a:srgbClr val="FFFFFF"/>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8102E"/>
              </a:solidFill>
              <a:effectLst/>
              <a:uLnTx/>
              <a:uFillTx/>
              <a:latin typeface="Lato" panose="020F0502020204030204"/>
              <a:ea typeface="+mn-ea"/>
              <a:cs typeface="+mn-cs"/>
            </a:endParaRPr>
          </a:p>
        </p:txBody>
      </p:sp>
      <p:sp>
        <p:nvSpPr>
          <p:cNvPr id="39" name="TextBox 38">
            <a:extLst>
              <a:ext uri="{FF2B5EF4-FFF2-40B4-BE49-F238E27FC236}">
                <a16:creationId xmlns:a16="http://schemas.microsoft.com/office/drawing/2014/main" id="{9834F6CB-7AC0-2673-28A2-1E69923F069A}"/>
              </a:ext>
            </a:extLst>
          </p:cNvPr>
          <p:cNvSpPr txBox="1"/>
          <p:nvPr/>
        </p:nvSpPr>
        <p:spPr>
          <a:xfrm>
            <a:off x="9521022" y="3990601"/>
            <a:ext cx="509468" cy="221598"/>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Potential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5% cut</a:t>
            </a:r>
          </a:p>
        </p:txBody>
      </p:sp>
      <p:sp>
        <p:nvSpPr>
          <p:cNvPr id="40" name="TextBox 39">
            <a:extLst>
              <a:ext uri="{FF2B5EF4-FFF2-40B4-BE49-F238E27FC236}">
                <a16:creationId xmlns:a16="http://schemas.microsoft.com/office/drawing/2014/main" id="{78DFD4B6-3AFC-9FF9-D2C8-611B18EAA034}"/>
              </a:ext>
            </a:extLst>
          </p:cNvPr>
          <p:cNvSpPr txBox="1"/>
          <p:nvPr/>
        </p:nvSpPr>
        <p:spPr>
          <a:xfrm>
            <a:off x="9433270" y="3066093"/>
            <a:ext cx="20563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S</a:t>
            </a:r>
          </a:p>
        </p:txBody>
      </p:sp>
      <p:sp>
        <p:nvSpPr>
          <p:cNvPr id="41" name="Oval 40">
            <a:extLst>
              <a:ext uri="{FF2B5EF4-FFF2-40B4-BE49-F238E27FC236}">
                <a16:creationId xmlns:a16="http://schemas.microsoft.com/office/drawing/2014/main" id="{71DF76D5-177E-26A3-FC0A-B6B0325603A6}"/>
              </a:ext>
            </a:extLst>
          </p:cNvPr>
          <p:cNvSpPr/>
          <p:nvPr/>
        </p:nvSpPr>
        <p:spPr>
          <a:xfrm>
            <a:off x="9426487" y="2582270"/>
            <a:ext cx="267647" cy="240882"/>
          </a:xfrm>
          <a:prstGeom prst="ellipse">
            <a:avLst/>
          </a:prstGeom>
          <a:solidFill>
            <a:schemeClr val="accent1">
              <a:lumMod val="90000"/>
              <a:lumOff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Lato" panose="020F0502020204030204"/>
              <a:ea typeface="+mn-ea"/>
              <a:cs typeface="+mn-cs"/>
            </a:endParaRPr>
          </a:p>
        </p:txBody>
      </p:sp>
      <p:sp>
        <p:nvSpPr>
          <p:cNvPr id="56" name="Rectangle 55">
            <a:extLst>
              <a:ext uri="{FF2B5EF4-FFF2-40B4-BE49-F238E27FC236}">
                <a16:creationId xmlns:a16="http://schemas.microsoft.com/office/drawing/2014/main" id="{C03A6AF0-812F-8FD6-25D0-4395459D7308}"/>
              </a:ext>
            </a:extLst>
          </p:cNvPr>
          <p:cNvSpPr/>
          <p:nvPr/>
        </p:nvSpPr>
        <p:spPr>
          <a:xfrm>
            <a:off x="11008572" y="1105820"/>
            <a:ext cx="386588" cy="4660985"/>
          </a:xfrm>
          <a:prstGeom prst="re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D9D9D9"/>
              </a:solidFill>
              <a:effectLst/>
              <a:uLnTx/>
              <a:uFillTx/>
              <a:latin typeface="Lato" panose="020F0502020204030204"/>
              <a:ea typeface="+mn-ea"/>
              <a:cs typeface="+mn-cs"/>
            </a:endParaRPr>
          </a:p>
        </p:txBody>
      </p:sp>
      <p:sp>
        <p:nvSpPr>
          <p:cNvPr id="49" name="Rectangle 48">
            <a:extLst>
              <a:ext uri="{FF2B5EF4-FFF2-40B4-BE49-F238E27FC236}">
                <a16:creationId xmlns:a16="http://schemas.microsoft.com/office/drawing/2014/main" id="{414A7421-8B7C-8F53-BDAD-6C58541C1B33}"/>
              </a:ext>
            </a:extLst>
          </p:cNvPr>
          <p:cNvSpPr/>
          <p:nvPr/>
        </p:nvSpPr>
        <p:spPr>
          <a:xfrm>
            <a:off x="1316953" y="1138730"/>
            <a:ext cx="3256919" cy="527332"/>
          </a:xfrm>
          <a:prstGeom prst="rect">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a:ea typeface="+mn-ea"/>
              <a:cs typeface="+mn-cs"/>
            </a:endParaRPr>
          </a:p>
        </p:txBody>
      </p:sp>
      <p:sp>
        <p:nvSpPr>
          <p:cNvPr id="53" name="Title 1">
            <a:extLst>
              <a:ext uri="{FF2B5EF4-FFF2-40B4-BE49-F238E27FC236}">
                <a16:creationId xmlns:a16="http://schemas.microsoft.com/office/drawing/2014/main" id="{125D4B3D-C4E0-CD10-80AE-619C3ED183D3}"/>
              </a:ext>
            </a:extLst>
          </p:cNvPr>
          <p:cNvSpPr txBox="1">
            <a:spLocks/>
          </p:cNvSpPr>
          <p:nvPr/>
        </p:nvSpPr>
        <p:spPr>
          <a:xfrm>
            <a:off x="1291720" y="914895"/>
            <a:ext cx="3233185" cy="310882"/>
          </a:xfrm>
          <a:prstGeom prst="rect">
            <a:avLst/>
          </a:prstGeom>
        </p:spPr>
        <p:txBody>
          <a:bodyPr vert="horz" lIns="91440" tIns="45720" rIns="91440" bIns="45720" rtlCol="0" anchor="ctr">
            <a:normAutofit fontScale="92500" lnSpcReduction="10000"/>
          </a:bodyPr>
          <a:lstStyle>
            <a:lvl1pPr algn="l" defTabSz="914172" rtl="0" eaLnBrk="1" latinLnBrk="0" hangingPunct="1">
              <a:lnSpc>
                <a:spcPct val="90000"/>
              </a:lnSpc>
              <a:spcBef>
                <a:spcPct val="0"/>
              </a:spcBef>
              <a:buNone/>
              <a:defRPr sz="4399" b="1" i="0" kern="1200" spc="1100" baseline="0">
                <a:solidFill>
                  <a:schemeClr val="bg1"/>
                </a:solidFill>
                <a:latin typeface="Lato" pitchFamily="2" charset="77"/>
                <a:ea typeface="+mj-ea"/>
                <a:cs typeface="+mj-cs"/>
              </a:defRPr>
            </a:lvl1pPr>
          </a:lstStyle>
          <a:p>
            <a:pPr marL="0" marR="0" lvl="0" indent="0" algn="ctr" defTabSz="914172" rtl="0" eaLnBrk="1" fontAlgn="auto" latinLnBrk="0" hangingPunct="1">
              <a:lnSpc>
                <a:spcPct val="90000"/>
              </a:lnSpc>
              <a:spcBef>
                <a:spcPct val="0"/>
              </a:spcBef>
              <a:spcAft>
                <a:spcPts val="0"/>
              </a:spcAft>
              <a:buClrTx/>
              <a:buSzTx/>
              <a:buFontTx/>
              <a:buNone/>
              <a:tabLst/>
              <a:defRPr/>
            </a:pPr>
            <a:br>
              <a:rPr kumimoji="0" lang="en-US" sz="1100" b="0" i="1" u="none" strike="noStrike" kern="1200" cap="none" spc="0" normalizeH="0" baseline="0" noProof="0" dirty="0">
                <a:ln>
                  <a:noFill/>
                </a:ln>
                <a:solidFill>
                  <a:srgbClr val="FFFFFF"/>
                </a:solidFill>
                <a:effectLst/>
                <a:uLnTx/>
                <a:uFillTx/>
                <a:latin typeface="Lato" pitchFamily="2" charset="77"/>
                <a:ea typeface="+mj-ea"/>
                <a:cs typeface="+mj-cs"/>
              </a:rPr>
            </a:br>
            <a:r>
              <a:rPr kumimoji="0" lang="en-US" sz="1100" b="0" i="1" u="none" strike="noStrike" kern="1200" cap="none" spc="0" normalizeH="0" baseline="0" noProof="0" dirty="0">
                <a:ln>
                  <a:noFill/>
                </a:ln>
                <a:solidFill>
                  <a:srgbClr val="000000"/>
                </a:solidFill>
                <a:effectLst/>
                <a:uLnTx/>
                <a:uFillTx/>
                <a:latin typeface="Lato" pitchFamily="2" charset="77"/>
                <a:ea typeface="+mj-ea"/>
                <a:cs typeface="+mj-cs"/>
              </a:rPr>
              <a:t>Universities targeted by POTUS</a:t>
            </a:r>
          </a:p>
          <a:p>
            <a:pPr marL="0" marR="0" lvl="0" indent="0" algn="ctr" defTabSz="914172" rtl="0" eaLnBrk="1" fontAlgn="auto" latinLnBrk="0" hangingPunct="1">
              <a:lnSpc>
                <a:spcPct val="90000"/>
              </a:lnSpc>
              <a:spcBef>
                <a:spcPct val="0"/>
              </a:spcBef>
              <a:spcAft>
                <a:spcPts val="0"/>
              </a:spcAft>
              <a:buClrTx/>
              <a:buSzTx/>
              <a:buFontTx/>
              <a:buNone/>
              <a:tabLst/>
              <a:defRPr/>
            </a:pPr>
            <a:endParaRPr kumimoji="0" lang="en-US" sz="1100" b="0" i="1" u="none" strike="noStrike" kern="1200" cap="none" spc="0" normalizeH="0" baseline="0" noProof="0" dirty="0">
              <a:ln>
                <a:noFill/>
              </a:ln>
              <a:solidFill>
                <a:srgbClr val="FFFFFF"/>
              </a:solidFill>
              <a:effectLst/>
              <a:uLnTx/>
              <a:uFillTx/>
              <a:latin typeface="Lato" pitchFamily="2" charset="77"/>
              <a:ea typeface="+mj-ea"/>
              <a:cs typeface="+mj-cs"/>
            </a:endParaRPr>
          </a:p>
        </p:txBody>
      </p:sp>
      <p:sp>
        <p:nvSpPr>
          <p:cNvPr id="6" name="TextBox 5">
            <a:extLst>
              <a:ext uri="{FF2B5EF4-FFF2-40B4-BE49-F238E27FC236}">
                <a16:creationId xmlns:a16="http://schemas.microsoft.com/office/drawing/2014/main" id="{9D8932F6-85E0-8573-F8D3-E6F6DB414900}"/>
              </a:ext>
            </a:extLst>
          </p:cNvPr>
          <p:cNvSpPr txBox="1"/>
          <p:nvPr/>
        </p:nvSpPr>
        <p:spPr>
          <a:xfrm>
            <a:off x="10238730" y="2608103"/>
            <a:ext cx="20563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S</a:t>
            </a:r>
          </a:p>
        </p:txBody>
      </p:sp>
      <p:sp>
        <p:nvSpPr>
          <p:cNvPr id="7" name="TextBox 6">
            <a:extLst>
              <a:ext uri="{FF2B5EF4-FFF2-40B4-BE49-F238E27FC236}">
                <a16:creationId xmlns:a16="http://schemas.microsoft.com/office/drawing/2014/main" id="{9FC92E06-2F74-A797-119E-25EC66B950FD}"/>
              </a:ext>
            </a:extLst>
          </p:cNvPr>
          <p:cNvSpPr txBox="1"/>
          <p:nvPr/>
        </p:nvSpPr>
        <p:spPr>
          <a:xfrm>
            <a:off x="7523009" y="3968335"/>
            <a:ext cx="509468" cy="22159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5%-10%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cuts</a:t>
            </a:r>
          </a:p>
        </p:txBody>
      </p:sp>
      <p:sp>
        <p:nvSpPr>
          <p:cNvPr id="15" name="TextBox 14">
            <a:extLst>
              <a:ext uri="{FF2B5EF4-FFF2-40B4-BE49-F238E27FC236}">
                <a16:creationId xmlns:a16="http://schemas.microsoft.com/office/drawing/2014/main" id="{AE14CE85-2A2A-58A0-3780-5253AB73CDCC}"/>
              </a:ext>
            </a:extLst>
          </p:cNvPr>
          <p:cNvSpPr txBox="1"/>
          <p:nvPr/>
        </p:nvSpPr>
        <p:spPr>
          <a:xfrm>
            <a:off x="7519676" y="4554709"/>
            <a:ext cx="579342" cy="22159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50%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cut</a:t>
            </a:r>
          </a:p>
        </p:txBody>
      </p:sp>
      <p:sp>
        <p:nvSpPr>
          <p:cNvPr id="27" name="TextBox 26">
            <a:extLst>
              <a:ext uri="{FF2B5EF4-FFF2-40B4-BE49-F238E27FC236}">
                <a16:creationId xmlns:a16="http://schemas.microsoft.com/office/drawing/2014/main" id="{BE155939-0FD3-1DB6-BE53-B7F91785BA0A}"/>
              </a:ext>
            </a:extLst>
          </p:cNvPr>
          <p:cNvSpPr txBox="1"/>
          <p:nvPr/>
        </p:nvSpPr>
        <p:spPr>
          <a:xfrm>
            <a:off x="6732155" y="4036289"/>
            <a:ext cx="509468" cy="152349"/>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3% cut</a:t>
            </a:r>
          </a:p>
        </p:txBody>
      </p:sp>
      <p:sp>
        <p:nvSpPr>
          <p:cNvPr id="28" name="TextBox 27">
            <a:extLst>
              <a:ext uri="{FF2B5EF4-FFF2-40B4-BE49-F238E27FC236}">
                <a16:creationId xmlns:a16="http://schemas.microsoft.com/office/drawing/2014/main" id="{466DB0CF-C829-0113-D080-90B35087EC5D}"/>
              </a:ext>
            </a:extLst>
          </p:cNvPr>
          <p:cNvSpPr txBox="1"/>
          <p:nvPr/>
        </p:nvSpPr>
        <p:spPr>
          <a:xfrm>
            <a:off x="6582642" y="3076708"/>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37" name="TextBox 36">
            <a:extLst>
              <a:ext uri="{FF2B5EF4-FFF2-40B4-BE49-F238E27FC236}">
                <a16:creationId xmlns:a16="http://schemas.microsoft.com/office/drawing/2014/main" id="{5DB04805-2EE4-3AD9-E5FF-A16BDFA0475C}"/>
              </a:ext>
            </a:extLst>
          </p:cNvPr>
          <p:cNvSpPr txBox="1"/>
          <p:nvPr/>
        </p:nvSpPr>
        <p:spPr>
          <a:xfrm>
            <a:off x="2660665" y="3930404"/>
            <a:ext cx="486544" cy="290848"/>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Non-personnel: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10% cut</a:t>
            </a:r>
          </a:p>
        </p:txBody>
      </p:sp>
      <p:sp>
        <p:nvSpPr>
          <p:cNvPr id="2" name="TextBox 1">
            <a:extLst>
              <a:ext uri="{FF2B5EF4-FFF2-40B4-BE49-F238E27FC236}">
                <a16:creationId xmlns:a16="http://schemas.microsoft.com/office/drawing/2014/main" id="{EDFBB0E7-47FB-BC8B-700B-96C2CCAF8E8F}"/>
              </a:ext>
            </a:extLst>
          </p:cNvPr>
          <p:cNvSpPr txBox="1"/>
          <p:nvPr/>
        </p:nvSpPr>
        <p:spPr>
          <a:xfrm>
            <a:off x="5183731" y="2278743"/>
            <a:ext cx="728803"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1,000 layoffs  November 2025</a:t>
            </a:r>
          </a:p>
        </p:txBody>
      </p:sp>
      <p:sp>
        <p:nvSpPr>
          <p:cNvPr id="4" name="TextBox 3">
            <a:extLst>
              <a:ext uri="{FF2B5EF4-FFF2-40B4-BE49-F238E27FC236}">
                <a16:creationId xmlns:a16="http://schemas.microsoft.com/office/drawing/2014/main" id="{1CA8600B-B97C-D7AF-9E4A-B3889DBBF66A}"/>
              </a:ext>
            </a:extLst>
          </p:cNvPr>
          <p:cNvSpPr txBox="1"/>
          <p:nvPr/>
        </p:nvSpPr>
        <p:spPr>
          <a:xfrm>
            <a:off x="5483091" y="3896343"/>
            <a:ext cx="551968" cy="332398"/>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5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Schools: 5% cut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5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Support units: 10% cut</a:t>
            </a:r>
          </a:p>
        </p:txBody>
      </p:sp>
      <p:sp>
        <p:nvSpPr>
          <p:cNvPr id="19" name="TextBox 18">
            <a:extLst>
              <a:ext uri="{FF2B5EF4-FFF2-40B4-BE49-F238E27FC236}">
                <a16:creationId xmlns:a16="http://schemas.microsoft.com/office/drawing/2014/main" id="{E1985CD5-6067-FFAD-0B0E-D0C01116C820}"/>
              </a:ext>
            </a:extLst>
          </p:cNvPr>
          <p:cNvSpPr txBox="1"/>
          <p:nvPr/>
        </p:nvSpPr>
        <p:spPr>
          <a:xfrm>
            <a:off x="10000845" y="2297481"/>
            <a:ext cx="746869" cy="2492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240 layoffs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July 2025</a:t>
            </a:r>
          </a:p>
        </p:txBody>
      </p:sp>
      <p:sp>
        <p:nvSpPr>
          <p:cNvPr id="50" name="TextBox 49">
            <a:extLst>
              <a:ext uri="{FF2B5EF4-FFF2-40B4-BE49-F238E27FC236}">
                <a16:creationId xmlns:a16="http://schemas.microsoft.com/office/drawing/2014/main" id="{5B8485B5-43DD-210E-8CE2-00F7BE24E997}"/>
              </a:ext>
            </a:extLst>
          </p:cNvPr>
          <p:cNvSpPr txBox="1"/>
          <p:nvPr/>
        </p:nvSpPr>
        <p:spPr>
          <a:xfrm>
            <a:off x="3883482" y="3998112"/>
            <a:ext cx="486544" cy="152349"/>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5%-10%</a:t>
            </a:r>
          </a:p>
        </p:txBody>
      </p:sp>
      <p:sp>
        <p:nvSpPr>
          <p:cNvPr id="55" name="TextBox 54">
            <a:extLst>
              <a:ext uri="{FF2B5EF4-FFF2-40B4-BE49-F238E27FC236}">
                <a16:creationId xmlns:a16="http://schemas.microsoft.com/office/drawing/2014/main" id="{272E4E3E-DC40-2CFF-BEA8-089D7953690D}"/>
              </a:ext>
            </a:extLst>
          </p:cNvPr>
          <p:cNvSpPr txBox="1"/>
          <p:nvPr/>
        </p:nvSpPr>
        <p:spPr>
          <a:xfrm>
            <a:off x="2267132" y="4024533"/>
            <a:ext cx="486544" cy="152349"/>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2.5% cut</a:t>
            </a:r>
          </a:p>
        </p:txBody>
      </p:sp>
      <p:sp>
        <p:nvSpPr>
          <p:cNvPr id="57" name="TextBox 56">
            <a:extLst>
              <a:ext uri="{FF2B5EF4-FFF2-40B4-BE49-F238E27FC236}">
                <a16:creationId xmlns:a16="http://schemas.microsoft.com/office/drawing/2014/main" id="{14DC9A8D-F0FF-B3F0-03C9-12A3E440F442}"/>
              </a:ext>
            </a:extLst>
          </p:cNvPr>
          <p:cNvSpPr txBox="1"/>
          <p:nvPr/>
        </p:nvSpPr>
        <p:spPr>
          <a:xfrm>
            <a:off x="2058627" y="2262545"/>
            <a:ext cx="541468" cy="332398"/>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100 layoffs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Sep 2025</a:t>
            </a:r>
          </a:p>
        </p:txBody>
      </p:sp>
      <p:sp>
        <p:nvSpPr>
          <p:cNvPr id="59" name="TextBox 58">
            <a:extLst>
              <a:ext uri="{FF2B5EF4-FFF2-40B4-BE49-F238E27FC236}">
                <a16:creationId xmlns:a16="http://schemas.microsoft.com/office/drawing/2014/main" id="{5F9B5CB6-B95A-5D06-04F7-11807AD700D0}"/>
              </a:ext>
            </a:extLst>
          </p:cNvPr>
          <p:cNvSpPr txBox="1"/>
          <p:nvPr/>
        </p:nvSpPr>
        <p:spPr>
          <a:xfrm>
            <a:off x="9786267" y="3073601"/>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61" name="TextBox 60">
            <a:extLst>
              <a:ext uri="{FF2B5EF4-FFF2-40B4-BE49-F238E27FC236}">
                <a16:creationId xmlns:a16="http://schemas.microsoft.com/office/drawing/2014/main" id="{6FB4B467-C4FC-6E79-3124-206B63AFC0AD}"/>
              </a:ext>
            </a:extLst>
          </p:cNvPr>
          <p:cNvSpPr txBox="1"/>
          <p:nvPr/>
        </p:nvSpPr>
        <p:spPr>
          <a:xfrm>
            <a:off x="9564671" y="2295501"/>
            <a:ext cx="756925" cy="2492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75 layoffs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Oct 2025</a:t>
            </a:r>
          </a:p>
        </p:txBody>
      </p:sp>
      <p:sp>
        <p:nvSpPr>
          <p:cNvPr id="62" name="TextBox 61">
            <a:extLst>
              <a:ext uri="{FF2B5EF4-FFF2-40B4-BE49-F238E27FC236}">
                <a16:creationId xmlns:a16="http://schemas.microsoft.com/office/drawing/2014/main" id="{AA8D141C-1C72-62D2-AFFD-7D0F901C4208}"/>
              </a:ext>
            </a:extLst>
          </p:cNvPr>
          <p:cNvSpPr txBox="1"/>
          <p:nvPr/>
        </p:nvSpPr>
        <p:spPr>
          <a:xfrm>
            <a:off x="9924391" y="3930093"/>
            <a:ext cx="509468" cy="29084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Budget cuts of $33M</a:t>
            </a:r>
          </a:p>
        </p:txBody>
      </p:sp>
      <p:sp>
        <p:nvSpPr>
          <p:cNvPr id="51" name="TextBox 50">
            <a:extLst>
              <a:ext uri="{FF2B5EF4-FFF2-40B4-BE49-F238E27FC236}">
                <a16:creationId xmlns:a16="http://schemas.microsoft.com/office/drawing/2014/main" id="{4B52AFA5-F54E-C1A4-DE6C-3660D7224873}"/>
              </a:ext>
            </a:extLst>
          </p:cNvPr>
          <p:cNvSpPr txBox="1"/>
          <p:nvPr/>
        </p:nvSpPr>
        <p:spPr>
          <a:xfrm>
            <a:off x="7950052" y="2231273"/>
            <a:ext cx="728803" cy="4154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316 layoffs + eliminated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~200 vacant positions</a:t>
            </a:r>
          </a:p>
        </p:txBody>
      </p:sp>
      <p:sp>
        <p:nvSpPr>
          <p:cNvPr id="52" name="TextBox 51">
            <a:extLst>
              <a:ext uri="{FF2B5EF4-FFF2-40B4-BE49-F238E27FC236}">
                <a16:creationId xmlns:a16="http://schemas.microsoft.com/office/drawing/2014/main" id="{62543348-BDE7-DFE4-8D03-14E724D81603}"/>
              </a:ext>
            </a:extLst>
          </p:cNvPr>
          <p:cNvSpPr txBox="1"/>
          <p:nvPr/>
        </p:nvSpPr>
        <p:spPr>
          <a:xfrm>
            <a:off x="9100814" y="3921735"/>
            <a:ext cx="509468" cy="29084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Reduce $100M in spending</a:t>
            </a:r>
          </a:p>
        </p:txBody>
      </p:sp>
      <p:sp>
        <p:nvSpPr>
          <p:cNvPr id="42" name="TextBox 41">
            <a:extLst>
              <a:ext uri="{FF2B5EF4-FFF2-40B4-BE49-F238E27FC236}">
                <a16:creationId xmlns:a16="http://schemas.microsoft.com/office/drawing/2014/main" id="{2391F7CD-1E91-F372-4CD5-E9921D4759A3}"/>
              </a:ext>
            </a:extLst>
          </p:cNvPr>
          <p:cNvSpPr txBox="1"/>
          <p:nvPr/>
        </p:nvSpPr>
        <p:spPr>
          <a:xfrm>
            <a:off x="6331468" y="4036289"/>
            <a:ext cx="509468" cy="152349"/>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5% cut</a:t>
            </a:r>
          </a:p>
        </p:txBody>
      </p:sp>
      <p:sp>
        <p:nvSpPr>
          <p:cNvPr id="43" name="TextBox 42">
            <a:extLst>
              <a:ext uri="{FF2B5EF4-FFF2-40B4-BE49-F238E27FC236}">
                <a16:creationId xmlns:a16="http://schemas.microsoft.com/office/drawing/2014/main" id="{E2F92C61-6711-19EC-195B-0DEC693969A9}"/>
              </a:ext>
            </a:extLst>
          </p:cNvPr>
          <p:cNvSpPr txBox="1"/>
          <p:nvPr/>
        </p:nvSpPr>
        <p:spPr>
          <a:xfrm>
            <a:off x="3490160" y="5284018"/>
            <a:ext cx="486544" cy="152349"/>
          </a:xfrm>
          <a:prstGeom prst="rect">
            <a:avLst/>
          </a:prstGeom>
          <a:noFill/>
          <a:ln>
            <a:no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20%</a:t>
            </a:r>
          </a:p>
        </p:txBody>
      </p:sp>
      <p:sp>
        <p:nvSpPr>
          <p:cNvPr id="44" name="TextBox 43">
            <a:extLst>
              <a:ext uri="{FF2B5EF4-FFF2-40B4-BE49-F238E27FC236}">
                <a16:creationId xmlns:a16="http://schemas.microsoft.com/office/drawing/2014/main" id="{AFA71DCE-3181-0587-9B02-FA779CD6D1D0}"/>
              </a:ext>
            </a:extLst>
          </p:cNvPr>
          <p:cNvSpPr txBox="1"/>
          <p:nvPr/>
        </p:nvSpPr>
        <p:spPr>
          <a:xfrm>
            <a:off x="9841664" y="2608103"/>
            <a:ext cx="20563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S</a:t>
            </a:r>
          </a:p>
        </p:txBody>
      </p:sp>
      <p:sp>
        <p:nvSpPr>
          <p:cNvPr id="45" name="TextBox 44">
            <a:extLst>
              <a:ext uri="{FF2B5EF4-FFF2-40B4-BE49-F238E27FC236}">
                <a16:creationId xmlns:a16="http://schemas.microsoft.com/office/drawing/2014/main" id="{42353673-3F19-8390-D213-1660BB0968B0}"/>
              </a:ext>
            </a:extLst>
          </p:cNvPr>
          <p:cNvSpPr txBox="1"/>
          <p:nvPr/>
        </p:nvSpPr>
        <p:spPr>
          <a:xfrm>
            <a:off x="10302195" y="3930093"/>
            <a:ext cx="509468" cy="29084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Budget cuts of $30M</a:t>
            </a:r>
          </a:p>
        </p:txBody>
      </p:sp>
      <p:sp>
        <p:nvSpPr>
          <p:cNvPr id="46" name="TextBox 45">
            <a:extLst>
              <a:ext uri="{FF2B5EF4-FFF2-40B4-BE49-F238E27FC236}">
                <a16:creationId xmlns:a16="http://schemas.microsoft.com/office/drawing/2014/main" id="{624E36B1-D047-CDF4-12C9-17D81C804B2B}"/>
              </a:ext>
            </a:extLst>
          </p:cNvPr>
          <p:cNvSpPr txBox="1"/>
          <p:nvPr/>
        </p:nvSpPr>
        <p:spPr>
          <a:xfrm>
            <a:off x="6024169" y="2259206"/>
            <a:ext cx="746869"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Layoff potential announced December 2025</a:t>
            </a:r>
          </a:p>
        </p:txBody>
      </p:sp>
      <p:sp>
        <p:nvSpPr>
          <p:cNvPr id="54" name="TextBox 53">
            <a:extLst>
              <a:ext uri="{FF2B5EF4-FFF2-40B4-BE49-F238E27FC236}">
                <a16:creationId xmlns:a16="http://schemas.microsoft.com/office/drawing/2014/main" id="{B6447103-6839-D0E2-E6B5-8FEC98B2B59B}"/>
              </a:ext>
            </a:extLst>
          </p:cNvPr>
          <p:cNvSpPr txBox="1"/>
          <p:nvPr/>
        </p:nvSpPr>
        <p:spPr>
          <a:xfrm>
            <a:off x="3359967" y="3077252"/>
            <a:ext cx="423192" cy="18004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000000"/>
                </a:solidFill>
                <a:effectLst/>
                <a:uLnTx/>
                <a:uFillTx/>
                <a:latin typeface="Lato" panose="020B0604020202020204" pitchFamily="34" charset="0"/>
                <a:ea typeface="+mn-ea"/>
                <a:cs typeface="Arial" panose="020B0604020202020204" pitchFamily="34" charset="0"/>
              </a:rPr>
              <a:t>F&amp;S</a:t>
            </a:r>
          </a:p>
        </p:txBody>
      </p:sp>
      <p:sp>
        <p:nvSpPr>
          <p:cNvPr id="63" name="TextBox 62">
            <a:extLst>
              <a:ext uri="{FF2B5EF4-FFF2-40B4-BE49-F238E27FC236}">
                <a16:creationId xmlns:a16="http://schemas.microsoft.com/office/drawing/2014/main" id="{23C69328-C277-1318-1F25-CE9EEEFA0F97}"/>
              </a:ext>
            </a:extLst>
          </p:cNvPr>
          <p:cNvSpPr txBox="1"/>
          <p:nvPr/>
        </p:nvSpPr>
        <p:spPr>
          <a:xfrm>
            <a:off x="1679680" y="2324176"/>
            <a:ext cx="544956" cy="2492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180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staff</a:t>
            </a:r>
          </a:p>
        </p:txBody>
      </p:sp>
      <p:sp>
        <p:nvSpPr>
          <p:cNvPr id="64" name="TextBox 63">
            <a:extLst>
              <a:ext uri="{FF2B5EF4-FFF2-40B4-BE49-F238E27FC236}">
                <a16:creationId xmlns:a16="http://schemas.microsoft.com/office/drawing/2014/main" id="{B8168C10-1698-CF3E-70BB-35292C1D43B7}"/>
              </a:ext>
            </a:extLst>
          </p:cNvPr>
          <p:cNvSpPr txBox="1"/>
          <p:nvPr/>
        </p:nvSpPr>
        <p:spPr>
          <a:xfrm>
            <a:off x="3188498" y="2259206"/>
            <a:ext cx="786879"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Layoffs announced</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Dec 2025</a:t>
            </a:r>
          </a:p>
        </p:txBody>
      </p:sp>
      <p:sp>
        <p:nvSpPr>
          <p:cNvPr id="65" name="TextBox 64">
            <a:extLst>
              <a:ext uri="{FF2B5EF4-FFF2-40B4-BE49-F238E27FC236}">
                <a16:creationId xmlns:a16="http://schemas.microsoft.com/office/drawing/2014/main" id="{784E3E1C-22EE-6569-012B-E8D9BB4666B6}"/>
              </a:ext>
            </a:extLst>
          </p:cNvPr>
          <p:cNvSpPr txBox="1"/>
          <p:nvPr/>
        </p:nvSpPr>
        <p:spPr>
          <a:xfrm>
            <a:off x="3894743" y="2259206"/>
            <a:ext cx="786879" cy="3323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2,000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layoffs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 b="0" i="1" u="none" strike="noStrike" kern="1200" cap="none" spc="0" normalizeH="0" baseline="0" noProof="0" dirty="0">
                <a:ln>
                  <a:noFill/>
                </a:ln>
                <a:solidFill>
                  <a:srgbClr val="C8102E"/>
                </a:solidFill>
                <a:effectLst/>
                <a:uLnTx/>
                <a:uFillTx/>
                <a:latin typeface="Lato" panose="020B0604020202020204" pitchFamily="34" charset="0"/>
                <a:ea typeface="+mn-ea"/>
                <a:cs typeface="Arial" panose="020B0604020202020204" pitchFamily="34" charset="0"/>
              </a:rPr>
              <a:t>Mar 2025</a:t>
            </a:r>
          </a:p>
        </p:txBody>
      </p:sp>
      <p:pic>
        <p:nvPicPr>
          <p:cNvPr id="66" name="Picture 2">
            <a:extLst>
              <a:ext uri="{FF2B5EF4-FFF2-40B4-BE49-F238E27FC236}">
                <a16:creationId xmlns:a16="http://schemas.microsoft.com/office/drawing/2014/main" id="{461D9C70-8725-DF64-DF6C-F69C0782752A}"/>
              </a:ext>
            </a:extLst>
          </p:cNvPr>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2947706" y="1240803"/>
            <a:ext cx="351303" cy="35130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orthwestern University Logo, symbol, meaning, history, PNG, brand">
            <a:extLst>
              <a:ext uri="{FF2B5EF4-FFF2-40B4-BE49-F238E27FC236}">
                <a16:creationId xmlns:a16="http://schemas.microsoft.com/office/drawing/2014/main" id="{FF87622C-B0A2-4FB6-D5C6-C923E89C4F84}"/>
              </a:ext>
            </a:extLst>
          </p:cNvPr>
          <p:cNvPicPr>
            <a:picLocks noChangeAspect="1" noChangeArrowheads="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2396591" y="1232443"/>
            <a:ext cx="642127" cy="361196"/>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8" descr="The Harvard Veritas shield next to the adorned shield (with wreath).">
            <a:extLst>
              <a:ext uri="{FF2B5EF4-FFF2-40B4-BE49-F238E27FC236}">
                <a16:creationId xmlns:a16="http://schemas.microsoft.com/office/drawing/2014/main" id="{FB8D9A65-7D62-A8AA-958B-63CB4FE486D4}"/>
              </a:ext>
            </a:extLst>
          </p:cNvPr>
          <p:cNvPicPr>
            <a:picLocks noChangeAspect="1" noChangeArrowheads="1"/>
          </p:cNvPicPr>
          <p:nvPr/>
        </p:nvPicPr>
        <p:blipFill rotWithShape="1">
          <a:blip r:embed="rId12" cstate="email">
            <a:extLst>
              <a:ext uri="{28A0092B-C50C-407E-A947-70E740481C1C}">
                <a14:useLocalDpi xmlns:a14="http://schemas.microsoft.com/office/drawing/2010/main" val="0"/>
              </a:ext>
            </a:extLst>
          </a:blip>
          <a:srcRect r="58594"/>
          <a:stretch>
            <a:fillRect/>
          </a:stretch>
        </p:blipFill>
        <p:spPr bwMode="auto">
          <a:xfrm>
            <a:off x="1314259" y="1076654"/>
            <a:ext cx="382927" cy="61684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uke University Logo and symbol, meaning, history, PNG, brand">
            <a:extLst>
              <a:ext uri="{FF2B5EF4-FFF2-40B4-BE49-F238E27FC236}">
                <a16:creationId xmlns:a16="http://schemas.microsoft.com/office/drawing/2014/main" id="{D68510D6-93DC-DD09-1246-4486A6DE65AB}"/>
              </a:ext>
            </a:extLst>
          </p:cNvPr>
          <p:cNvPicPr>
            <a:picLocks noChangeAspect="1" noChangeArrowheads="1"/>
          </p:cNvPicPr>
          <p:nvPr/>
        </p:nvPicPr>
        <p:blipFill rotWithShape="1">
          <a:blip r:embed="rId13" cstate="email">
            <a:extLst>
              <a:ext uri="{28A0092B-C50C-407E-A947-70E740481C1C}">
                <a14:useLocalDpi xmlns:a14="http://schemas.microsoft.com/office/drawing/2010/main" val="0"/>
              </a:ext>
            </a:extLst>
          </a:blip>
          <a:srcRect r="54199"/>
          <a:stretch>
            <a:fillRect/>
          </a:stretch>
        </p:blipFill>
        <p:spPr bwMode="auto">
          <a:xfrm>
            <a:off x="4603717" y="1222713"/>
            <a:ext cx="322729" cy="396359"/>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8">
            <a:extLst>
              <a:ext uri="{FF2B5EF4-FFF2-40B4-BE49-F238E27FC236}">
                <a16:creationId xmlns:a16="http://schemas.microsoft.com/office/drawing/2014/main" id="{32BBD04A-E793-4815-7FA8-9DB7AF4677F5}"/>
              </a:ext>
            </a:extLst>
          </p:cNvPr>
          <p:cNvPicPr>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a:off x="1722391" y="1231489"/>
            <a:ext cx="411350" cy="327434"/>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Shield of Princeton University">
            <a:extLst>
              <a:ext uri="{FF2B5EF4-FFF2-40B4-BE49-F238E27FC236}">
                <a16:creationId xmlns:a16="http://schemas.microsoft.com/office/drawing/2014/main" id="{33F71AF2-02A0-CF02-477C-A4261F655CA2}"/>
              </a:ext>
            </a:extLst>
          </p:cNvPr>
          <p:cNvPicPr>
            <a:picLocks noChangeAspect="1" noChangeArrowheads="1"/>
          </p:cNvPicPr>
          <p:nvPr/>
        </p:nvPicPr>
        <p:blipFill>
          <a:blip r:embed="rId15" cstate="email">
            <a:extLst>
              <a:ext uri="{28A0092B-C50C-407E-A947-70E740481C1C}">
                <a14:useLocalDpi xmlns:a14="http://schemas.microsoft.com/office/drawing/2010/main" val="0"/>
              </a:ext>
            </a:extLst>
          </a:blip>
          <a:srcRect/>
          <a:stretch>
            <a:fillRect/>
          </a:stretch>
        </p:blipFill>
        <p:spPr bwMode="auto">
          <a:xfrm>
            <a:off x="3765266" y="1195568"/>
            <a:ext cx="307927" cy="394147"/>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732DDF7A-463A-9F76-6EF7-9EB409956B47}"/>
              </a:ext>
            </a:extLst>
          </p:cNvPr>
          <p:cNvPicPr>
            <a:picLocks noChangeAspect="1" noChangeArrowheads="1"/>
          </p:cNvPicPr>
          <p:nvPr/>
        </p:nvPicPr>
        <p:blipFill>
          <a:blip r:embed="rId16" cstate="email">
            <a:extLst>
              <a:ext uri="{28A0092B-C50C-407E-A947-70E740481C1C}">
                <a14:useLocalDpi xmlns:a14="http://schemas.microsoft.com/office/drawing/2010/main" val="0"/>
              </a:ext>
            </a:extLst>
          </a:blip>
          <a:srcRect/>
          <a:stretch>
            <a:fillRect/>
          </a:stretch>
        </p:blipFill>
        <p:spPr bwMode="auto">
          <a:xfrm>
            <a:off x="8204387" y="1192905"/>
            <a:ext cx="391428" cy="391428"/>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The coat of arms of the University of Chicago">
            <a:extLst>
              <a:ext uri="{FF2B5EF4-FFF2-40B4-BE49-F238E27FC236}">
                <a16:creationId xmlns:a16="http://schemas.microsoft.com/office/drawing/2014/main" id="{E7811294-1AB8-BF57-A88C-C3A7F4577E0F}"/>
              </a:ext>
            </a:extLst>
          </p:cNvPr>
          <p:cNvPicPr>
            <a:picLocks noChangeAspect="1" noChangeArrowheads="1"/>
          </p:cNvPicPr>
          <p:nvPr/>
        </p:nvPicPr>
        <p:blipFill>
          <a:blip r:embed="rId17" cstate="email">
            <a:extLst>
              <a:ext uri="{28A0092B-C50C-407E-A947-70E740481C1C}">
                <a14:useLocalDpi xmlns:a14="http://schemas.microsoft.com/office/drawing/2010/main" val="0"/>
              </a:ext>
            </a:extLst>
          </a:blip>
          <a:srcRect/>
          <a:stretch>
            <a:fillRect/>
          </a:stretch>
        </p:blipFill>
        <p:spPr bwMode="auto">
          <a:xfrm>
            <a:off x="9047069" y="1199285"/>
            <a:ext cx="297517" cy="377251"/>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B268D083-735A-8696-A017-0B5D4F0CC2B6}"/>
              </a:ext>
            </a:extLst>
          </p:cNvPr>
          <p:cNvPicPr>
            <a:picLocks noChangeAspect="1" noChangeArrowheads="1"/>
          </p:cNvPicPr>
          <p:nvPr/>
        </p:nvPicPr>
        <p:blipFill>
          <a:blip r:embed="rId18" cstate="email">
            <a:extLst>
              <a:ext uri="{28A0092B-C50C-407E-A947-70E740481C1C}">
                <a14:useLocalDpi xmlns:a14="http://schemas.microsoft.com/office/drawing/2010/main" val="0"/>
              </a:ext>
            </a:extLst>
          </a:blip>
          <a:srcRect/>
          <a:stretch>
            <a:fillRect/>
          </a:stretch>
        </p:blipFill>
        <p:spPr bwMode="auto">
          <a:xfrm>
            <a:off x="9737467" y="1169851"/>
            <a:ext cx="442366" cy="442366"/>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0">
            <a:extLst>
              <a:ext uri="{FF2B5EF4-FFF2-40B4-BE49-F238E27FC236}">
                <a16:creationId xmlns:a16="http://schemas.microsoft.com/office/drawing/2014/main" id="{F49281B9-90FA-8A95-0042-35212EBB4845}"/>
              </a:ext>
            </a:extLst>
          </p:cNvPr>
          <p:cNvPicPr>
            <a:picLocks noChangeAspect="1" noChangeArrowheads="1"/>
          </p:cNvPicPr>
          <p:nvPr/>
        </p:nvPicPr>
        <p:blipFill>
          <a:blip r:embed="rId19" cstate="email">
            <a:extLst>
              <a:ext uri="{28A0092B-C50C-407E-A947-70E740481C1C}">
                <a14:useLocalDpi xmlns:a14="http://schemas.microsoft.com/office/drawing/2010/main" val="0"/>
              </a:ext>
            </a:extLst>
          </a:blip>
          <a:srcRect/>
          <a:stretch>
            <a:fillRect/>
          </a:stretch>
        </p:blipFill>
        <p:spPr bwMode="auto">
          <a:xfrm>
            <a:off x="4147060" y="1189593"/>
            <a:ext cx="344526" cy="461665"/>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a:extLst>
              <a:ext uri="{FF2B5EF4-FFF2-40B4-BE49-F238E27FC236}">
                <a16:creationId xmlns:a16="http://schemas.microsoft.com/office/drawing/2014/main" id="{B8179F76-8C98-0198-1923-2B80D96E8EAB}"/>
              </a:ext>
            </a:extLst>
          </p:cNvPr>
          <p:cNvPicPr>
            <a:picLocks noChangeAspect="1" noChangeArrowheads="1"/>
          </p:cNvPicPr>
          <p:nvPr/>
        </p:nvPicPr>
        <p:blipFill>
          <a:blip r:embed="rId20" cstate="email">
            <a:extLst>
              <a:ext uri="{28A0092B-C50C-407E-A947-70E740481C1C}">
                <a14:useLocalDpi xmlns:a14="http://schemas.microsoft.com/office/drawing/2010/main" val="0"/>
              </a:ext>
            </a:extLst>
          </a:blip>
          <a:srcRect/>
          <a:stretch>
            <a:fillRect/>
          </a:stretch>
        </p:blipFill>
        <p:spPr bwMode="auto">
          <a:xfrm>
            <a:off x="10190852" y="1192615"/>
            <a:ext cx="396490" cy="396490"/>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a:extLst>
              <a:ext uri="{FF2B5EF4-FFF2-40B4-BE49-F238E27FC236}">
                <a16:creationId xmlns:a16="http://schemas.microsoft.com/office/drawing/2014/main" id="{90D56BDF-EB30-C783-6A88-B5DE0942B4F7}"/>
              </a:ext>
            </a:extLst>
          </p:cNvPr>
          <p:cNvPicPr>
            <a:picLocks noChangeAspect="1" noChangeArrowheads="1"/>
          </p:cNvPicPr>
          <p:nvPr/>
        </p:nvPicPr>
        <p:blipFill>
          <a:blip r:embed="rId21" cstate="email">
            <a:extLst>
              <a:ext uri="{28A0092B-C50C-407E-A947-70E740481C1C}">
                <a14:useLocalDpi xmlns:a14="http://schemas.microsoft.com/office/drawing/2010/main" val="0"/>
              </a:ext>
            </a:extLst>
          </a:blip>
          <a:srcRect/>
          <a:stretch>
            <a:fillRect/>
          </a:stretch>
        </p:blipFill>
        <p:spPr bwMode="auto">
          <a:xfrm>
            <a:off x="10639039" y="1202011"/>
            <a:ext cx="357105" cy="357105"/>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8">
            <a:extLst>
              <a:ext uri="{FF2B5EF4-FFF2-40B4-BE49-F238E27FC236}">
                <a16:creationId xmlns:a16="http://schemas.microsoft.com/office/drawing/2014/main" id="{0F5E4B34-1904-B4B8-12B5-5558E5272C83}"/>
              </a:ext>
            </a:extLst>
          </p:cNvPr>
          <p:cNvPicPr>
            <a:picLocks noChangeAspect="1" noChangeArrowheads="1"/>
          </p:cNvPicPr>
          <p:nvPr/>
        </p:nvPicPr>
        <p:blipFill>
          <a:blip r:embed="rId22" cstate="email">
            <a:extLst>
              <a:ext uri="{28A0092B-C50C-407E-A947-70E740481C1C}">
                <a14:useLocalDpi xmlns:a14="http://schemas.microsoft.com/office/drawing/2010/main" val="0"/>
              </a:ext>
            </a:extLst>
          </a:blip>
          <a:srcRect/>
          <a:stretch>
            <a:fillRect/>
          </a:stretch>
        </p:blipFill>
        <p:spPr bwMode="auto">
          <a:xfrm>
            <a:off x="6201183" y="1184657"/>
            <a:ext cx="351474" cy="369751"/>
          </a:xfrm>
          <a:prstGeom prst="rect">
            <a:avLst/>
          </a:prstGeom>
          <a:noFill/>
          <a:extLst>
            <a:ext uri="{909E8E84-426E-40DD-AFC4-6F175D3DCCD1}">
              <a14:hiddenFill xmlns:a14="http://schemas.microsoft.com/office/drawing/2010/main">
                <a:solidFill>
                  <a:srgbClr val="FFFFFF"/>
                </a:solidFill>
              </a14:hiddenFill>
            </a:ext>
          </a:extLst>
        </p:spPr>
      </p:pic>
      <p:pic>
        <p:nvPicPr>
          <p:cNvPr id="2082" name="Picture 34" descr="Emory University Office of Admission | Atlanta GA">
            <a:extLst>
              <a:ext uri="{FF2B5EF4-FFF2-40B4-BE49-F238E27FC236}">
                <a16:creationId xmlns:a16="http://schemas.microsoft.com/office/drawing/2014/main" id="{A48641CB-7A84-DD6A-3BB2-0D7F4064EDE0}"/>
              </a:ext>
            </a:extLst>
          </p:cNvPr>
          <p:cNvPicPr>
            <a:picLocks noChangeAspect="1" noChangeArrowheads="1"/>
          </p:cNvPicPr>
          <p:nvPr/>
        </p:nvPicPr>
        <p:blipFill>
          <a:blip r:embed="rId23"/>
          <a:srcRect/>
          <a:stretch/>
        </p:blipFill>
        <p:spPr bwMode="auto">
          <a:xfrm>
            <a:off x="4981705" y="1024102"/>
            <a:ext cx="429535" cy="767026"/>
          </a:xfrm>
          <a:prstGeom prst="rect">
            <a:avLst/>
          </a:prstGeom>
          <a:noFill/>
          <a:extLst>
            <a:ext uri="{909E8E84-426E-40DD-AFC4-6F175D3DCCD1}">
              <a14:hiddenFill xmlns:a14="http://schemas.microsoft.com/office/drawing/2010/main">
                <a:solidFill>
                  <a:srgbClr val="FFFFFF"/>
                </a:solidFill>
              </a14:hiddenFill>
            </a:ext>
          </a:extLst>
        </p:spPr>
      </p:pic>
      <p:pic>
        <p:nvPicPr>
          <p:cNvPr id="2088" name="Picture 40">
            <a:extLst>
              <a:ext uri="{FF2B5EF4-FFF2-40B4-BE49-F238E27FC236}">
                <a16:creationId xmlns:a16="http://schemas.microsoft.com/office/drawing/2014/main" id="{0D9F527B-1820-3C94-5A4B-C3561F197ED2}"/>
              </a:ext>
            </a:extLst>
          </p:cNvPr>
          <p:cNvPicPr>
            <a:picLocks noChangeAspect="1" noChangeArrowheads="1"/>
          </p:cNvPicPr>
          <p:nvPr/>
        </p:nvPicPr>
        <p:blipFill>
          <a:blip r:embed="rId24" cstate="email">
            <a:extLst>
              <a:ext uri="{28A0092B-C50C-407E-A947-70E740481C1C}">
                <a14:useLocalDpi xmlns:a14="http://schemas.microsoft.com/office/drawing/2010/main" val="0"/>
              </a:ext>
            </a:extLst>
          </a:blip>
          <a:srcRect/>
          <a:stretch>
            <a:fillRect/>
          </a:stretch>
        </p:blipFill>
        <p:spPr bwMode="auto">
          <a:xfrm>
            <a:off x="11003580" y="1243793"/>
            <a:ext cx="398669" cy="287329"/>
          </a:xfrm>
          <a:prstGeom prst="rect">
            <a:avLst/>
          </a:prstGeom>
          <a:noFill/>
          <a:extLst>
            <a:ext uri="{909E8E84-426E-40DD-AFC4-6F175D3DCCD1}">
              <a14:hiddenFill xmlns:a14="http://schemas.microsoft.com/office/drawing/2010/main">
                <a:solidFill>
                  <a:srgbClr val="FFFFFF"/>
                </a:solidFill>
              </a14:hiddenFill>
            </a:ext>
          </a:extLst>
        </p:spPr>
      </p:pic>
      <p:pic>
        <p:nvPicPr>
          <p:cNvPr id="2092" name="Picture 44" descr="Visual Identity - Georgetown University">
            <a:extLst>
              <a:ext uri="{FF2B5EF4-FFF2-40B4-BE49-F238E27FC236}">
                <a16:creationId xmlns:a16="http://schemas.microsoft.com/office/drawing/2014/main" id="{BE24DB14-4EF0-E7CB-0D23-5A9C6A745197}"/>
              </a:ext>
            </a:extLst>
          </p:cNvPr>
          <p:cNvPicPr>
            <a:picLocks noChangeAspect="1" noChangeArrowheads="1"/>
          </p:cNvPicPr>
          <p:nvPr/>
        </p:nvPicPr>
        <p:blipFill>
          <a:blip r:embed="rId25" cstate="email">
            <a:extLst>
              <a:ext uri="{28A0092B-C50C-407E-A947-70E740481C1C}">
                <a14:useLocalDpi xmlns:a14="http://schemas.microsoft.com/office/drawing/2010/main" val="0"/>
              </a:ext>
            </a:extLst>
          </a:blip>
          <a:srcRect/>
          <a:stretch>
            <a:fillRect/>
          </a:stretch>
        </p:blipFill>
        <p:spPr bwMode="auto">
          <a:xfrm>
            <a:off x="7859269" y="1218156"/>
            <a:ext cx="289648" cy="340762"/>
          </a:xfrm>
          <a:prstGeom prst="rect">
            <a:avLst/>
          </a:prstGeom>
          <a:noFill/>
          <a:extLst>
            <a:ext uri="{909E8E84-426E-40DD-AFC4-6F175D3DCCD1}">
              <a14:hiddenFill xmlns:a14="http://schemas.microsoft.com/office/drawing/2010/main">
                <a:solidFill>
                  <a:srgbClr val="FFFFFF"/>
                </a:solidFill>
              </a14:hiddenFill>
            </a:ext>
          </a:extLst>
        </p:spPr>
      </p:pic>
      <p:pic>
        <p:nvPicPr>
          <p:cNvPr id="2096" name="Picture 48" descr="Dartmouth College shield transparent PNG - StickPNG">
            <a:extLst>
              <a:ext uri="{FF2B5EF4-FFF2-40B4-BE49-F238E27FC236}">
                <a16:creationId xmlns:a16="http://schemas.microsoft.com/office/drawing/2014/main" id="{E6D7E769-0483-CA34-BD84-70293E495D31}"/>
              </a:ext>
            </a:extLst>
          </p:cNvPr>
          <p:cNvPicPr>
            <a:picLocks noChangeAspect="1" noChangeArrowheads="1"/>
          </p:cNvPicPr>
          <p:nvPr/>
        </p:nvPicPr>
        <p:blipFill>
          <a:blip r:embed="rId26" cstate="email">
            <a:extLst>
              <a:ext uri="{28A0092B-C50C-407E-A947-70E740481C1C}">
                <a14:useLocalDpi xmlns:a14="http://schemas.microsoft.com/office/drawing/2010/main" val="0"/>
              </a:ext>
            </a:extLst>
          </a:blip>
          <a:srcRect/>
          <a:stretch>
            <a:fillRect/>
          </a:stretch>
        </p:blipFill>
        <p:spPr bwMode="auto">
          <a:xfrm>
            <a:off x="9383529" y="1205565"/>
            <a:ext cx="345160" cy="369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871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4592"/>
            <a:ext cx="10149840" cy="731520"/>
          </a:xfrm>
          <a:prstGeom prst="rect">
            <a:avLst/>
          </a:prstGeom>
          <a:noFill/>
        </p:spPr>
        <p:txBody>
          <a:bodyPr wrap="square" lIns="0" tIns="0" rIns="0" bIns="0" anchor="ctr">
            <a:noAutofit/>
          </a:bodyPr>
          <a:lstStyle/>
          <a:p>
            <a:pPr algn="l"/>
            <a:r>
              <a:rPr sz="2400" b="1" i="0">
                <a:solidFill>
                  <a:srgbClr val="000000"/>
                </a:solidFill>
                <a:latin typeface="Lato"/>
              </a:rPr>
              <a:t>Northeastern ranked #99 of 925 institutions in FY 2024 R&amp;D expenditures</a:t>
            </a:r>
          </a:p>
        </p:txBody>
      </p:sp>
      <p:sp>
        <p:nvSpPr>
          <p:cNvPr id="4" name="TextBox 3"/>
          <p:cNvSpPr txBox="1"/>
          <p:nvPr/>
        </p:nvSpPr>
        <p:spPr>
          <a:xfrm>
            <a:off x="457200" y="941832"/>
            <a:ext cx="10698480" cy="274320"/>
          </a:xfrm>
          <a:prstGeom prst="rect">
            <a:avLst/>
          </a:prstGeom>
          <a:noFill/>
        </p:spPr>
        <p:txBody>
          <a:bodyPr wrap="square" lIns="0" tIns="0" rIns="0" bIns="0" anchor="t">
            <a:spAutoFit/>
          </a:bodyPr>
          <a:lstStyle/>
          <a:p>
            <a:pPr algn="l"/>
            <a:r>
              <a:rPr sz="1500" b="0" i="0">
                <a:solidFill>
                  <a:srgbClr val="2B2B2B"/>
                </a:solidFill>
                <a:latin typeface="Lato"/>
              </a:rPr>
              <a:t>Top 150 institutions by FY 2024 total R&amp;D; Northeastern was #107 in FY 2023 and #134 in FY 2014</a:t>
            </a:r>
          </a:p>
        </p:txBody>
      </p:sp>
      <p:graphicFrame>
        <p:nvGraphicFramePr>
          <p:cNvPr id="9" name="Chart 8"/>
          <p:cNvGraphicFramePr>
            <a:graphicFrameLocks noGrp="1"/>
          </p:cNvGraphicFramePr>
          <p:nvPr/>
        </p:nvGraphicFramePr>
        <p:xfrm>
          <a:off x="548640" y="1325880"/>
          <a:ext cx="11064240" cy="43434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825896" y="5237226"/>
            <a:ext cx="731520" cy="228600"/>
          </a:xfrm>
          <a:prstGeom prst="rect">
            <a:avLst/>
          </a:prstGeom>
          <a:noFill/>
        </p:spPr>
        <p:txBody>
          <a:bodyPr wrap="square" lIns="0" tIns="0" rIns="0" bIns="0" anchor="t">
            <a:spAutoFit/>
          </a:bodyPr>
          <a:lstStyle/>
          <a:p>
            <a:pPr algn="ctr"/>
            <a:r>
              <a:rPr sz="1100" b="0" i="0">
                <a:solidFill>
                  <a:srgbClr val="6B6B70"/>
                </a:solidFill>
                <a:latin typeface="Lato"/>
              </a:rPr>
              <a:t>#1</a:t>
            </a:r>
          </a:p>
        </p:txBody>
      </p:sp>
      <p:sp>
        <p:nvSpPr>
          <p:cNvPr id="11" name="TextBox 10"/>
          <p:cNvSpPr txBox="1"/>
          <p:nvPr/>
        </p:nvSpPr>
        <p:spPr>
          <a:xfrm>
            <a:off x="2481107" y="5237226"/>
            <a:ext cx="731520" cy="228600"/>
          </a:xfrm>
          <a:prstGeom prst="rect">
            <a:avLst/>
          </a:prstGeom>
          <a:noFill/>
        </p:spPr>
        <p:txBody>
          <a:bodyPr wrap="square" lIns="0" tIns="0" rIns="0" bIns="0" anchor="t">
            <a:spAutoFit/>
          </a:bodyPr>
          <a:lstStyle/>
          <a:p>
            <a:pPr algn="ctr"/>
            <a:r>
              <a:rPr sz="1100" b="0" i="0">
                <a:solidFill>
                  <a:srgbClr val="6B6B70"/>
                </a:solidFill>
                <a:latin typeface="Lato"/>
              </a:rPr>
              <a:t>#25</a:t>
            </a:r>
          </a:p>
        </p:txBody>
      </p:sp>
      <p:sp>
        <p:nvSpPr>
          <p:cNvPr id="12" name="TextBox 11"/>
          <p:cNvSpPr txBox="1"/>
          <p:nvPr/>
        </p:nvSpPr>
        <p:spPr>
          <a:xfrm>
            <a:off x="4205284" y="5237226"/>
            <a:ext cx="731520" cy="228600"/>
          </a:xfrm>
          <a:prstGeom prst="rect">
            <a:avLst/>
          </a:prstGeom>
          <a:noFill/>
        </p:spPr>
        <p:txBody>
          <a:bodyPr wrap="square" lIns="0" tIns="0" rIns="0" bIns="0" anchor="t">
            <a:spAutoFit/>
          </a:bodyPr>
          <a:lstStyle/>
          <a:p>
            <a:pPr algn="ctr"/>
            <a:r>
              <a:rPr sz="1100" b="0" i="0">
                <a:solidFill>
                  <a:srgbClr val="6B6B70"/>
                </a:solidFill>
                <a:latin typeface="Lato"/>
              </a:rPr>
              <a:t>#50</a:t>
            </a:r>
          </a:p>
        </p:txBody>
      </p:sp>
      <p:sp>
        <p:nvSpPr>
          <p:cNvPr id="13" name="TextBox 12"/>
          <p:cNvSpPr txBox="1"/>
          <p:nvPr/>
        </p:nvSpPr>
        <p:spPr>
          <a:xfrm>
            <a:off x="5929461" y="5237226"/>
            <a:ext cx="731520" cy="228600"/>
          </a:xfrm>
          <a:prstGeom prst="rect">
            <a:avLst/>
          </a:prstGeom>
          <a:noFill/>
        </p:spPr>
        <p:txBody>
          <a:bodyPr wrap="square" lIns="0" tIns="0" rIns="0" bIns="0" anchor="t">
            <a:spAutoFit/>
          </a:bodyPr>
          <a:lstStyle/>
          <a:p>
            <a:pPr algn="ctr"/>
            <a:r>
              <a:rPr sz="1100" b="0" i="0">
                <a:solidFill>
                  <a:srgbClr val="6B6B70"/>
                </a:solidFill>
                <a:latin typeface="Lato"/>
              </a:rPr>
              <a:t>#75</a:t>
            </a:r>
          </a:p>
        </p:txBody>
      </p:sp>
      <p:sp>
        <p:nvSpPr>
          <p:cNvPr id="14" name="TextBox 13"/>
          <p:cNvSpPr txBox="1"/>
          <p:nvPr/>
        </p:nvSpPr>
        <p:spPr>
          <a:xfrm>
            <a:off x="7653639" y="5237226"/>
            <a:ext cx="731520" cy="228600"/>
          </a:xfrm>
          <a:prstGeom prst="rect">
            <a:avLst/>
          </a:prstGeom>
          <a:noFill/>
        </p:spPr>
        <p:txBody>
          <a:bodyPr wrap="square" lIns="0" tIns="0" rIns="0" bIns="0" anchor="t">
            <a:spAutoFit/>
          </a:bodyPr>
          <a:lstStyle/>
          <a:p>
            <a:pPr algn="ctr"/>
            <a:r>
              <a:rPr sz="1100" b="0" i="0">
                <a:solidFill>
                  <a:srgbClr val="6B6B70"/>
                </a:solidFill>
                <a:latin typeface="Lato"/>
              </a:rPr>
              <a:t>#100</a:t>
            </a:r>
          </a:p>
        </p:txBody>
      </p:sp>
      <p:sp>
        <p:nvSpPr>
          <p:cNvPr id="15" name="TextBox 14"/>
          <p:cNvSpPr txBox="1"/>
          <p:nvPr/>
        </p:nvSpPr>
        <p:spPr>
          <a:xfrm>
            <a:off x="9377816" y="5237226"/>
            <a:ext cx="731520" cy="228600"/>
          </a:xfrm>
          <a:prstGeom prst="rect">
            <a:avLst/>
          </a:prstGeom>
          <a:noFill/>
        </p:spPr>
        <p:txBody>
          <a:bodyPr wrap="square" lIns="0" tIns="0" rIns="0" bIns="0" anchor="t">
            <a:spAutoFit/>
          </a:bodyPr>
          <a:lstStyle/>
          <a:p>
            <a:pPr algn="ctr"/>
            <a:r>
              <a:rPr sz="1100" b="0" i="0">
                <a:solidFill>
                  <a:srgbClr val="6B6B70"/>
                </a:solidFill>
                <a:latin typeface="Lato"/>
              </a:rPr>
              <a:t>#125</a:t>
            </a:r>
          </a:p>
        </p:txBody>
      </p:sp>
      <p:sp>
        <p:nvSpPr>
          <p:cNvPr id="16" name="TextBox 15"/>
          <p:cNvSpPr txBox="1"/>
          <p:nvPr/>
        </p:nvSpPr>
        <p:spPr>
          <a:xfrm>
            <a:off x="11101994" y="5237226"/>
            <a:ext cx="731520" cy="228600"/>
          </a:xfrm>
          <a:prstGeom prst="rect">
            <a:avLst/>
          </a:prstGeom>
          <a:noFill/>
        </p:spPr>
        <p:txBody>
          <a:bodyPr wrap="square" lIns="0" tIns="0" rIns="0" bIns="0" anchor="t">
            <a:spAutoFit/>
          </a:bodyPr>
          <a:lstStyle/>
          <a:p>
            <a:pPr algn="ctr"/>
            <a:r>
              <a:rPr sz="1100" b="0" i="0">
                <a:solidFill>
                  <a:srgbClr val="6B6B70"/>
                </a:solidFill>
                <a:latin typeface="Lato"/>
              </a:rPr>
              <a:t>#150</a:t>
            </a:r>
          </a:p>
        </p:txBody>
      </p:sp>
      <p:cxnSp>
        <p:nvCxnSpPr>
          <p:cNvPr id="17" name="Connector 16"/>
          <p:cNvCxnSpPr/>
          <p:nvPr/>
        </p:nvCxnSpPr>
        <p:spPr>
          <a:xfrm>
            <a:off x="3708955" y="2784297"/>
            <a:ext cx="0" cy="2407209"/>
          </a:xfrm>
          <a:prstGeom prst="line">
            <a:avLst/>
          </a:prstGeom>
          <a:ln w="9525">
            <a:solidFill>
              <a:srgbClr val="6B6B70"/>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754675" y="2766009"/>
            <a:ext cx="1188720" cy="411480"/>
          </a:xfrm>
          <a:prstGeom prst="rect">
            <a:avLst/>
          </a:prstGeom>
          <a:noFill/>
        </p:spPr>
        <p:txBody>
          <a:bodyPr wrap="square" lIns="0" tIns="0" rIns="0" bIns="0" anchor="t">
            <a:spAutoFit/>
          </a:bodyPr>
          <a:lstStyle/>
          <a:p>
            <a:pPr algn="l"/>
            <a:r>
              <a:rPr sz="1000" b="0" i="0">
                <a:solidFill>
                  <a:srgbClr val="6B6B70"/>
                </a:solidFill>
                <a:latin typeface="Lato"/>
              </a:rPr>
              <a:t>37 institutions ≥ $1B</a:t>
            </a:r>
          </a:p>
        </p:txBody>
      </p:sp>
      <p:cxnSp>
        <p:nvCxnSpPr>
          <p:cNvPr id="19" name="Connector 18"/>
          <p:cNvCxnSpPr/>
          <p:nvPr/>
        </p:nvCxnSpPr>
        <p:spPr>
          <a:xfrm>
            <a:off x="6122804" y="2784297"/>
            <a:ext cx="0" cy="2407209"/>
          </a:xfrm>
          <a:prstGeom prst="line">
            <a:avLst/>
          </a:prstGeom>
          <a:ln w="9525">
            <a:solidFill>
              <a:srgbClr val="6B6B70"/>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68524" y="2766009"/>
            <a:ext cx="1188720" cy="411480"/>
          </a:xfrm>
          <a:prstGeom prst="rect">
            <a:avLst/>
          </a:prstGeom>
          <a:noFill/>
        </p:spPr>
        <p:txBody>
          <a:bodyPr wrap="square" lIns="0" tIns="0" rIns="0" bIns="0" anchor="t">
            <a:spAutoFit/>
          </a:bodyPr>
          <a:lstStyle/>
          <a:p>
            <a:pPr algn="l"/>
            <a:r>
              <a:rPr sz="1000" b="0" i="0">
                <a:solidFill>
                  <a:srgbClr val="6B6B70"/>
                </a:solidFill>
                <a:latin typeface="Lato"/>
              </a:rPr>
              <a:t>72 institutions ≥ $500M</a:t>
            </a:r>
          </a:p>
        </p:txBody>
      </p:sp>
      <p:cxnSp>
        <p:nvCxnSpPr>
          <p:cNvPr id="21" name="Connector 20"/>
          <p:cNvCxnSpPr/>
          <p:nvPr/>
        </p:nvCxnSpPr>
        <p:spPr>
          <a:xfrm>
            <a:off x="9915994" y="2784297"/>
            <a:ext cx="0" cy="2407209"/>
          </a:xfrm>
          <a:prstGeom prst="line">
            <a:avLst/>
          </a:prstGeom>
          <a:ln w="9525">
            <a:solidFill>
              <a:srgbClr val="6B6B70"/>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961714" y="2766009"/>
            <a:ext cx="1188720" cy="411480"/>
          </a:xfrm>
          <a:prstGeom prst="rect">
            <a:avLst/>
          </a:prstGeom>
          <a:noFill/>
        </p:spPr>
        <p:txBody>
          <a:bodyPr wrap="square" lIns="0" tIns="0" rIns="0" bIns="0" anchor="t">
            <a:spAutoFit/>
          </a:bodyPr>
          <a:lstStyle/>
          <a:p>
            <a:pPr algn="l"/>
            <a:r>
              <a:rPr sz="1000" b="0" i="0">
                <a:solidFill>
                  <a:srgbClr val="6B6B70"/>
                </a:solidFill>
                <a:latin typeface="Lato"/>
              </a:rPr>
              <a:t>127 institutions ≥ $250M</a:t>
            </a:r>
          </a:p>
        </p:txBody>
      </p:sp>
      <p:cxnSp>
        <p:nvCxnSpPr>
          <p:cNvPr id="24" name="Connector 23"/>
          <p:cNvCxnSpPr/>
          <p:nvPr/>
        </p:nvCxnSpPr>
        <p:spPr>
          <a:xfrm>
            <a:off x="7950432" y="3946398"/>
            <a:ext cx="0" cy="911436"/>
          </a:xfrm>
          <a:prstGeom prst="line">
            <a:avLst/>
          </a:prstGeom>
          <a:ln w="2857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052560" y="1463040"/>
            <a:ext cx="164592" cy="1645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99448" y="1417320"/>
            <a:ext cx="3291840" cy="256032"/>
          </a:xfrm>
          <a:prstGeom prst="rect">
            <a:avLst/>
          </a:prstGeom>
          <a:noFill/>
        </p:spPr>
        <p:txBody>
          <a:bodyPr wrap="square" lIns="0" tIns="0" rIns="0" bIns="0" anchor="ctr">
            <a:spAutoFit/>
          </a:bodyPr>
          <a:lstStyle/>
          <a:p>
            <a:pPr algn="l"/>
            <a:r>
              <a:rPr sz="1200" b="0" i="0">
                <a:solidFill>
                  <a:srgbClr val="2B2B2B"/>
                </a:solidFill>
                <a:latin typeface="Lato"/>
              </a:rPr>
              <a:t>Has a medical school</a:t>
            </a:r>
          </a:p>
        </p:txBody>
      </p:sp>
      <p:sp>
        <p:nvSpPr>
          <p:cNvPr id="27" name="Rectangle 26"/>
          <p:cNvSpPr/>
          <p:nvPr/>
        </p:nvSpPr>
        <p:spPr>
          <a:xfrm>
            <a:off x="9052560" y="1719072"/>
            <a:ext cx="164592" cy="164592"/>
          </a:xfrm>
          <a:prstGeom prst="rect">
            <a:avLst/>
          </a:prstGeom>
          <a:solidFill>
            <a:srgbClr val="B8BB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99448" y="1673352"/>
            <a:ext cx="3291840" cy="256032"/>
          </a:xfrm>
          <a:prstGeom prst="rect">
            <a:avLst/>
          </a:prstGeom>
          <a:noFill/>
        </p:spPr>
        <p:txBody>
          <a:bodyPr wrap="square" lIns="0" tIns="0" rIns="0" bIns="0" anchor="ctr">
            <a:spAutoFit/>
          </a:bodyPr>
          <a:lstStyle/>
          <a:p>
            <a:pPr algn="l"/>
            <a:r>
              <a:rPr sz="1200" b="0" i="0">
                <a:solidFill>
                  <a:srgbClr val="2B2B2B"/>
                </a:solidFill>
                <a:latin typeface="Lato"/>
              </a:rPr>
              <a:t>No medical school</a:t>
            </a:r>
          </a:p>
        </p:txBody>
      </p:sp>
      <p:sp>
        <p:nvSpPr>
          <p:cNvPr id="29" name="Rectangle 28"/>
          <p:cNvSpPr/>
          <p:nvPr/>
        </p:nvSpPr>
        <p:spPr>
          <a:xfrm>
            <a:off x="9052560" y="1975104"/>
            <a:ext cx="164592" cy="1645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99448" y="1929384"/>
            <a:ext cx="3291840" cy="256032"/>
          </a:xfrm>
          <a:prstGeom prst="rect">
            <a:avLst/>
          </a:prstGeom>
          <a:noFill/>
        </p:spPr>
        <p:txBody>
          <a:bodyPr wrap="square" lIns="0" tIns="0" rIns="0" bIns="0" anchor="ctr">
            <a:spAutoFit/>
          </a:bodyPr>
          <a:lstStyle/>
          <a:p>
            <a:pPr algn="l"/>
            <a:r>
              <a:rPr sz="1200" b="0" i="0">
                <a:solidFill>
                  <a:srgbClr val="2B2B2B"/>
                </a:solidFill>
                <a:latin typeface="Lato"/>
              </a:rPr>
              <a:t>Northeastern</a:t>
            </a:r>
          </a:p>
        </p:txBody>
      </p:sp>
      <p:sp>
        <p:nvSpPr>
          <p:cNvPr id="31" name="TextBox 30"/>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NSF NCSES, Higher Education Research and Development (HERD) Survey, FY 2024 (NSF 26-304)</a:t>
            </a:r>
          </a:p>
        </p:txBody>
      </p:sp>
      <p:sp>
        <p:nvSpPr>
          <p:cNvPr id="32" name="TextBox 31"/>
          <p:cNvSpPr txBox="1"/>
          <p:nvPr/>
        </p:nvSpPr>
        <p:spPr>
          <a:xfrm>
            <a:off x="457200" y="6281928"/>
            <a:ext cx="11274552" cy="118872"/>
          </a:xfrm>
          <a:prstGeom prst="rect">
            <a:avLst/>
          </a:prstGeom>
          <a:noFill/>
        </p:spPr>
        <p:txBody>
          <a:bodyPr wrap="square" lIns="0" rIns="0" tIns="0" bIns="0" anchor="b">
            <a:spAutoFit/>
          </a:bodyPr>
          <a:lstStyle/>
          <a:p>
            <a:pPr algn="l"/>
            <a:r>
              <a:rPr sz="700" b="0" i="0">
                <a:solidFill>
                  <a:srgbClr val="595959"/>
                </a:solidFill>
                <a:latin typeface="Lato"/>
              </a:rPr>
              <a:t>Note: Johns Hopkins includes the Applied Physics Laboratory ($2.55B of $4.13B). Total higher-ed R&amp;D in FY 2024 was $117.7B across 925 institutions.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4592"/>
            <a:ext cx="10149840" cy="731520"/>
          </a:xfrm>
          <a:prstGeom prst="rect">
            <a:avLst/>
          </a:prstGeom>
          <a:noFill/>
        </p:spPr>
        <p:txBody>
          <a:bodyPr wrap="square" lIns="0" tIns="0" rIns="0" bIns="0" anchor="ctr">
            <a:noAutofit/>
          </a:bodyPr>
          <a:lstStyle/>
          <a:p>
            <a:pPr algn="l"/>
            <a:r>
              <a:rPr sz="2400" b="1" i="0">
                <a:solidFill>
                  <a:srgbClr val="000000"/>
                </a:solidFill>
                <a:latin typeface="Lato"/>
              </a:rPr>
              <a:t>Northeastern ranked #33 among private institutions</a:t>
            </a:r>
          </a:p>
        </p:txBody>
      </p:sp>
      <p:sp>
        <p:nvSpPr>
          <p:cNvPr id="4" name="TextBox 3"/>
          <p:cNvSpPr txBox="1"/>
          <p:nvPr/>
        </p:nvSpPr>
        <p:spPr>
          <a:xfrm>
            <a:off x="457200" y="941832"/>
            <a:ext cx="10698480" cy="274320"/>
          </a:xfrm>
          <a:prstGeom prst="rect">
            <a:avLst/>
          </a:prstGeom>
          <a:noFill/>
        </p:spPr>
        <p:txBody>
          <a:bodyPr wrap="square" lIns="0" tIns="0" rIns="0" bIns="0" anchor="t">
            <a:spAutoFit/>
          </a:bodyPr>
          <a:lstStyle/>
          <a:p>
            <a:pPr algn="l"/>
            <a:r>
              <a:rPr sz="1500" b="0" i="0">
                <a:solidFill>
                  <a:srgbClr val="2B2B2B"/>
                </a:solidFill>
                <a:latin typeface="Lato"/>
              </a:rPr>
              <a:t>Top 50 private institutions by FY 2024 total R&amp;D; Northeastern was #36 in FY 2023 and #42 in FY 2014</a:t>
            </a:r>
          </a:p>
        </p:txBody>
      </p:sp>
      <p:graphicFrame>
        <p:nvGraphicFramePr>
          <p:cNvPr id="9" name="Chart 8"/>
          <p:cNvGraphicFramePr>
            <a:graphicFrameLocks noGrp="1"/>
          </p:cNvGraphicFramePr>
          <p:nvPr/>
        </p:nvGraphicFramePr>
        <p:xfrm>
          <a:off x="548640" y="1280160"/>
          <a:ext cx="11064240" cy="4754880"/>
        </p:xfrm>
        <a:graphic>
          <a:graphicData uri="http://schemas.openxmlformats.org/drawingml/2006/chart">
            <c:chart xmlns:c="http://schemas.openxmlformats.org/drawingml/2006/chart" xmlns:r="http://schemas.openxmlformats.org/officeDocument/2006/relationships" r:id="rId4"/>
          </a:graphicData>
        </a:graphic>
      </p:graphicFrame>
      <p:cxnSp>
        <p:nvCxnSpPr>
          <p:cNvPr id="11" name="Connector 10"/>
          <p:cNvCxnSpPr/>
          <p:nvPr/>
        </p:nvCxnSpPr>
        <p:spPr>
          <a:xfrm>
            <a:off x="7881465" y="2722473"/>
            <a:ext cx="0" cy="1287612"/>
          </a:xfrm>
          <a:prstGeom prst="line">
            <a:avLst/>
          </a:prstGeom>
          <a:ln w="2857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9052560" y="1417320"/>
            <a:ext cx="164592" cy="1645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99448" y="1371600"/>
            <a:ext cx="3291840" cy="256032"/>
          </a:xfrm>
          <a:prstGeom prst="rect">
            <a:avLst/>
          </a:prstGeom>
          <a:noFill/>
        </p:spPr>
        <p:txBody>
          <a:bodyPr wrap="square" lIns="0" tIns="0" rIns="0" bIns="0" anchor="ctr">
            <a:spAutoFit/>
          </a:bodyPr>
          <a:lstStyle/>
          <a:p>
            <a:pPr algn="l"/>
            <a:r>
              <a:rPr sz="1200" b="0" i="0">
                <a:solidFill>
                  <a:srgbClr val="2B2B2B"/>
                </a:solidFill>
                <a:latin typeface="Lato"/>
              </a:rPr>
              <a:t>Has a medical school</a:t>
            </a:r>
          </a:p>
        </p:txBody>
      </p:sp>
      <p:sp>
        <p:nvSpPr>
          <p:cNvPr id="14" name="Rectangle 13"/>
          <p:cNvSpPr/>
          <p:nvPr/>
        </p:nvSpPr>
        <p:spPr>
          <a:xfrm>
            <a:off x="9052560" y="1673352"/>
            <a:ext cx="164592" cy="164592"/>
          </a:xfrm>
          <a:prstGeom prst="rect">
            <a:avLst/>
          </a:prstGeom>
          <a:solidFill>
            <a:srgbClr val="B8BB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99448" y="1627632"/>
            <a:ext cx="3291840" cy="256032"/>
          </a:xfrm>
          <a:prstGeom prst="rect">
            <a:avLst/>
          </a:prstGeom>
          <a:noFill/>
        </p:spPr>
        <p:txBody>
          <a:bodyPr wrap="square" lIns="0" tIns="0" rIns="0" bIns="0" anchor="ctr">
            <a:spAutoFit/>
          </a:bodyPr>
          <a:lstStyle/>
          <a:p>
            <a:pPr algn="l"/>
            <a:r>
              <a:rPr sz="1200" b="0" i="0">
                <a:solidFill>
                  <a:srgbClr val="2B2B2B"/>
                </a:solidFill>
                <a:latin typeface="Lato"/>
              </a:rPr>
              <a:t>No medical school</a:t>
            </a:r>
          </a:p>
        </p:txBody>
      </p:sp>
      <p:sp>
        <p:nvSpPr>
          <p:cNvPr id="16" name="Rectangle 15"/>
          <p:cNvSpPr/>
          <p:nvPr/>
        </p:nvSpPr>
        <p:spPr>
          <a:xfrm>
            <a:off x="9052560" y="1929384"/>
            <a:ext cx="164592" cy="1645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99448" y="1883664"/>
            <a:ext cx="3291840" cy="256032"/>
          </a:xfrm>
          <a:prstGeom prst="rect">
            <a:avLst/>
          </a:prstGeom>
          <a:noFill/>
        </p:spPr>
        <p:txBody>
          <a:bodyPr wrap="square" lIns="0" tIns="0" rIns="0" bIns="0" anchor="ctr">
            <a:spAutoFit/>
          </a:bodyPr>
          <a:lstStyle/>
          <a:p>
            <a:pPr algn="l"/>
            <a:r>
              <a:rPr sz="1200" b="0" i="0">
                <a:solidFill>
                  <a:srgbClr val="2B2B2B"/>
                </a:solidFill>
                <a:latin typeface="Lato"/>
              </a:rPr>
              <a:t>Northeastern</a:t>
            </a:r>
          </a:p>
        </p:txBody>
      </p:sp>
      <p:sp>
        <p:nvSpPr>
          <p:cNvPr id="18" name="TextBox 17"/>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NSF NCSES, Higher Education Research and Development (HERD) Survey, FY 2024 (NSF 26-304)</a:t>
            </a:r>
          </a:p>
        </p:txBody>
      </p:sp>
      <p:sp>
        <p:nvSpPr>
          <p:cNvPr id="19" name="TextBox 18"/>
          <p:cNvSpPr txBox="1"/>
          <p:nvPr/>
        </p:nvSpPr>
        <p:spPr>
          <a:xfrm>
            <a:off x="457200" y="6281928"/>
            <a:ext cx="11274552" cy="118872"/>
          </a:xfrm>
          <a:prstGeom prst="rect">
            <a:avLst/>
          </a:prstGeom>
          <a:noFill/>
        </p:spPr>
        <p:txBody>
          <a:bodyPr wrap="square" lIns="0" rIns="0" tIns="0" bIns="0" anchor="b">
            <a:spAutoFit/>
          </a:bodyPr>
          <a:lstStyle/>
          <a:p>
            <a:pPr algn="l"/>
            <a:r>
              <a:rPr sz="700" b="0" i="0">
                <a:solidFill>
                  <a:srgbClr val="595959"/>
                </a:solidFill>
                <a:latin typeface="Lato"/>
              </a:rPr>
              <a:t>Note: Johns Hopkins includes the Applied Physics Laboratory ($2.55B of $4.13B).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4592"/>
            <a:ext cx="10149840" cy="731520"/>
          </a:xfrm>
          <a:prstGeom prst="rect">
            <a:avLst/>
          </a:prstGeom>
          <a:noFill/>
        </p:spPr>
        <p:txBody>
          <a:bodyPr wrap="square" lIns="0" tIns="0" rIns="0" bIns="0" anchor="ctr">
            <a:noAutofit/>
          </a:bodyPr>
          <a:lstStyle/>
          <a:p>
            <a:pPr algn="l"/>
            <a:r>
              <a:rPr sz="2400" b="1" i="0">
                <a:solidFill>
                  <a:srgbClr val="000000"/>
                </a:solidFill>
                <a:latin typeface="Lato"/>
              </a:rPr>
              <a:t>Over the past five years, Northeastern's R&amp;D grew 13.5% per year, 1.9x the rate of all institutions</a:t>
            </a:r>
          </a:p>
        </p:txBody>
      </p:sp>
      <p:graphicFrame>
        <p:nvGraphicFramePr>
          <p:cNvPr id="7" name="Chart 6"/>
          <p:cNvGraphicFramePr>
            <a:graphicFrameLocks noGrp="1"/>
          </p:cNvGraphicFramePr>
          <p:nvPr/>
        </p:nvGraphicFramePr>
        <p:xfrm>
          <a:off x="548640" y="1280160"/>
          <a:ext cx="11064240" cy="4709160"/>
        </p:xfrm>
        <a:graphic>
          <a:graphicData uri="http://schemas.openxmlformats.org/drawingml/2006/chart">
            <c:chart xmlns:c="http://schemas.openxmlformats.org/drawingml/2006/chart" xmlns:r="http://schemas.openxmlformats.org/officeDocument/2006/relationships" r:id="rId4"/>
          </a:graphicData>
        </a:graphic>
      </p:graphicFrame>
      <p:cxnSp>
        <p:nvCxnSpPr>
          <p:cNvPr id="8" name="Connector 7"/>
          <p:cNvCxnSpPr/>
          <p:nvPr/>
        </p:nvCxnSpPr>
        <p:spPr>
          <a:xfrm>
            <a:off x="1157173" y="3221405"/>
            <a:ext cx="10345064" cy="0"/>
          </a:xfrm>
          <a:prstGeom prst="line">
            <a:avLst/>
          </a:prstGeom>
          <a:ln w="12700">
            <a:solidFill>
              <a:srgbClr val="C8102E"/>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052560" y="2231136"/>
            <a:ext cx="164592" cy="0"/>
          </a:xfrm>
          <a:prstGeom prst="line">
            <a:avLst/>
          </a:prstGeom>
          <a:ln w="12700">
            <a:solidFill>
              <a:srgbClr val="C8102E"/>
            </a:solidFill>
            <a:prstDash val="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299448" y="2112264"/>
            <a:ext cx="2743200" cy="237744"/>
          </a:xfrm>
          <a:prstGeom prst="rect">
            <a:avLst/>
          </a:prstGeom>
          <a:noFill/>
        </p:spPr>
        <p:txBody>
          <a:bodyPr wrap="square" lIns="0" tIns="0" rIns="0" bIns="0" anchor="ctr">
            <a:spAutoFit/>
          </a:bodyPr>
          <a:lstStyle/>
          <a:p>
            <a:pPr algn="l"/>
            <a:r>
              <a:rPr sz="1200" b="0" i="0">
                <a:solidFill>
                  <a:srgbClr val="2B2B2B"/>
                </a:solidFill>
                <a:latin typeface="Lato"/>
              </a:rPr>
              <a:t>All HERD institutions: 7.1%/yr</a:t>
            </a:r>
          </a:p>
        </p:txBody>
      </p:sp>
      <p:sp>
        <p:nvSpPr>
          <p:cNvPr id="11" name="Rectangle 10"/>
          <p:cNvSpPr/>
          <p:nvPr/>
        </p:nvSpPr>
        <p:spPr>
          <a:xfrm>
            <a:off x="9052560" y="1417320"/>
            <a:ext cx="164592" cy="1645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99448" y="1371600"/>
            <a:ext cx="3291840" cy="256032"/>
          </a:xfrm>
          <a:prstGeom prst="rect">
            <a:avLst/>
          </a:prstGeom>
          <a:noFill/>
        </p:spPr>
        <p:txBody>
          <a:bodyPr wrap="square" lIns="0" tIns="0" rIns="0" bIns="0" anchor="ctr">
            <a:spAutoFit/>
          </a:bodyPr>
          <a:lstStyle/>
          <a:p>
            <a:pPr algn="l"/>
            <a:r>
              <a:rPr sz="1200" b="0" i="0">
                <a:solidFill>
                  <a:srgbClr val="2B2B2B"/>
                </a:solidFill>
                <a:latin typeface="Lato"/>
              </a:rPr>
              <a:t>Has a medical school</a:t>
            </a:r>
          </a:p>
        </p:txBody>
      </p:sp>
      <p:sp>
        <p:nvSpPr>
          <p:cNvPr id="13" name="Rectangle 12"/>
          <p:cNvSpPr/>
          <p:nvPr/>
        </p:nvSpPr>
        <p:spPr>
          <a:xfrm>
            <a:off x="9052560" y="1673352"/>
            <a:ext cx="164592" cy="164592"/>
          </a:xfrm>
          <a:prstGeom prst="rect">
            <a:avLst/>
          </a:prstGeom>
          <a:solidFill>
            <a:srgbClr val="B8BB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99448" y="1627632"/>
            <a:ext cx="3291840" cy="256032"/>
          </a:xfrm>
          <a:prstGeom prst="rect">
            <a:avLst/>
          </a:prstGeom>
          <a:noFill/>
        </p:spPr>
        <p:txBody>
          <a:bodyPr wrap="square" lIns="0" tIns="0" rIns="0" bIns="0" anchor="ctr">
            <a:spAutoFit/>
          </a:bodyPr>
          <a:lstStyle/>
          <a:p>
            <a:pPr algn="l"/>
            <a:r>
              <a:rPr sz="1200" b="0" i="0">
                <a:solidFill>
                  <a:srgbClr val="2B2B2B"/>
                </a:solidFill>
                <a:latin typeface="Lato"/>
              </a:rPr>
              <a:t>No medical school</a:t>
            </a:r>
          </a:p>
        </p:txBody>
      </p:sp>
      <p:sp>
        <p:nvSpPr>
          <p:cNvPr id="15" name="Rectangle 14"/>
          <p:cNvSpPr/>
          <p:nvPr/>
        </p:nvSpPr>
        <p:spPr>
          <a:xfrm>
            <a:off x="9052560" y="1929384"/>
            <a:ext cx="164592" cy="1645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99448" y="1883664"/>
            <a:ext cx="3291840" cy="256032"/>
          </a:xfrm>
          <a:prstGeom prst="rect">
            <a:avLst/>
          </a:prstGeom>
          <a:noFill/>
        </p:spPr>
        <p:txBody>
          <a:bodyPr wrap="square" lIns="0" tIns="0" rIns="0" bIns="0" anchor="ctr">
            <a:spAutoFit/>
          </a:bodyPr>
          <a:lstStyle/>
          <a:p>
            <a:pPr algn="l"/>
            <a:r>
              <a:rPr sz="1200" b="0" i="0">
                <a:solidFill>
                  <a:srgbClr val="2B2B2B"/>
                </a:solidFill>
                <a:latin typeface="Lato"/>
              </a:rPr>
              <a:t>Northeastern</a:t>
            </a:r>
          </a:p>
        </p:txBody>
      </p:sp>
      <p:sp>
        <p:nvSpPr>
          <p:cNvPr id="17" name="TextBox 16"/>
          <p:cNvSpPr txBox="1"/>
          <p:nvPr/>
        </p:nvSpPr>
        <p:spPr>
          <a:xfrm>
            <a:off x="457200" y="941832"/>
            <a:ext cx="10698480" cy="274320"/>
          </a:xfrm>
          <a:prstGeom prst="rect">
            <a:avLst/>
          </a:prstGeom>
          <a:noFill/>
        </p:spPr>
        <p:txBody>
          <a:bodyPr wrap="square" lIns="0" tIns="0" rIns="0" bIns="0" anchor="t">
            <a:spAutoFit/>
          </a:bodyPr>
          <a:lstStyle/>
          <a:p>
            <a:pPr algn="l"/>
            <a:r>
              <a:rPr sz="1500" b="0" i="0">
                <a:solidFill>
                  <a:srgbClr val="2B2B2B"/>
                </a:solidFill>
                <a:latin typeface="Lato"/>
              </a:rPr>
              <a:t>Annual growth rate of R&amp;D expenditures, FY 2019–2024, top 50 privates: Northeastern ranked #3 of 50</a:t>
            </a:r>
          </a:p>
        </p:txBody>
      </p:sp>
      <p:sp>
        <p:nvSpPr>
          <p:cNvPr id="18" name="TextBox 17"/>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NSF NCSES, Higher Education Research and Development (HERD) Survey, FY 2024 (NSF 26-304)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4592"/>
            <a:ext cx="10149840" cy="731520"/>
          </a:xfrm>
          <a:prstGeom prst="rect">
            <a:avLst/>
          </a:prstGeom>
          <a:noFill/>
        </p:spPr>
        <p:txBody>
          <a:bodyPr wrap="square" lIns="0" tIns="0" rIns="0" bIns="0" anchor="ctr">
            <a:noAutofit/>
          </a:bodyPr>
          <a:lstStyle/>
          <a:p>
            <a:pPr algn="l"/>
            <a:r>
              <a:rPr sz="2400" b="1" i="0">
                <a:solidFill>
                  <a:srgbClr val="000000"/>
                </a:solidFill>
                <a:latin typeface="Lato"/>
              </a:rPr>
              <a:t>Since FY 2014, Northeastern has climbed from #42 to #33 among private institutions, passing 9 peers</a:t>
            </a:r>
          </a:p>
        </p:txBody>
      </p:sp>
      <p:sp>
        <p:nvSpPr>
          <p:cNvPr id="4" name="TextBox 3"/>
          <p:cNvSpPr txBox="1"/>
          <p:nvPr/>
        </p:nvSpPr>
        <p:spPr>
          <a:xfrm>
            <a:off x="457200" y="941832"/>
            <a:ext cx="10698480" cy="274320"/>
          </a:xfrm>
          <a:prstGeom prst="rect">
            <a:avLst/>
          </a:prstGeom>
          <a:noFill/>
        </p:spPr>
        <p:txBody>
          <a:bodyPr wrap="square" lIns="0" tIns="0" rIns="0" bIns="0" anchor="t">
            <a:spAutoFit/>
          </a:bodyPr>
          <a:lstStyle/>
          <a:p>
            <a:pPr algn="l"/>
            <a:r>
              <a:rPr sz="1500" b="0" i="0">
                <a:solidFill>
                  <a:srgbClr val="2B2B2B"/>
                </a:solidFill>
                <a:latin typeface="Lato"/>
              </a:rPr>
              <a:t>Rank among all private institutions by total R&amp;D expenditures, FY 2014–2024</a:t>
            </a:r>
          </a:p>
        </p:txBody>
      </p:sp>
      <p:graphicFrame>
        <p:nvGraphicFramePr>
          <p:cNvPr id="9" name="Chart 8"/>
          <p:cNvGraphicFramePr>
            <a:graphicFrameLocks noGrp="1"/>
          </p:cNvGraphicFramePr>
          <p:nvPr/>
        </p:nvGraphicFramePr>
        <p:xfrm>
          <a:off x="548640" y="1325880"/>
          <a:ext cx="11064240" cy="46177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521207" y="4791586"/>
            <a:ext cx="2148840" cy="228600"/>
          </a:xfrm>
          <a:prstGeom prst="rect">
            <a:avLst/>
          </a:prstGeom>
          <a:noFill/>
        </p:spPr>
        <p:txBody>
          <a:bodyPr wrap="square" lIns="0" tIns="0" rIns="0" bIns="0" anchor="t">
            <a:spAutoFit/>
          </a:bodyPr>
          <a:lstStyle/>
          <a:p>
            <a:pPr algn="r"/>
            <a:r>
              <a:rPr sz="1100" b="1" i="0">
                <a:solidFill>
                  <a:srgbClr val="C8102E"/>
                </a:solidFill>
                <a:latin typeface="Lato"/>
              </a:rPr>
              <a:t>Northeastern U.  #42</a:t>
            </a:r>
          </a:p>
        </p:txBody>
      </p:sp>
      <p:sp>
        <p:nvSpPr>
          <p:cNvPr id="11" name="TextBox 10"/>
          <p:cNvSpPr txBox="1"/>
          <p:nvPr/>
        </p:nvSpPr>
        <p:spPr>
          <a:xfrm>
            <a:off x="9491472" y="3050046"/>
            <a:ext cx="2194560" cy="228600"/>
          </a:xfrm>
          <a:prstGeom prst="rect">
            <a:avLst/>
          </a:prstGeom>
          <a:noFill/>
        </p:spPr>
        <p:txBody>
          <a:bodyPr wrap="square" lIns="0" tIns="0" rIns="0" bIns="0" anchor="t">
            <a:spAutoFit/>
          </a:bodyPr>
          <a:lstStyle/>
          <a:p>
            <a:pPr algn="l"/>
            <a:r>
              <a:rPr sz="1100" b="1" i="0">
                <a:solidFill>
                  <a:srgbClr val="C8102E"/>
                </a:solidFill>
                <a:latin typeface="Lato"/>
              </a:rPr>
              <a:t>#33  Northeastern U.</a:t>
            </a:r>
          </a:p>
        </p:txBody>
      </p:sp>
      <p:sp>
        <p:nvSpPr>
          <p:cNvPr id="12" name="TextBox 11"/>
          <p:cNvSpPr txBox="1"/>
          <p:nvPr/>
        </p:nvSpPr>
        <p:spPr>
          <a:xfrm>
            <a:off x="521207" y="3243550"/>
            <a:ext cx="2148840" cy="228600"/>
          </a:xfrm>
          <a:prstGeom prst="rect">
            <a:avLst/>
          </a:prstGeom>
          <a:noFill/>
        </p:spPr>
        <p:txBody>
          <a:bodyPr wrap="square" lIns="0" tIns="0" rIns="0" bIns="0" anchor="t">
            <a:spAutoFit/>
          </a:bodyPr>
          <a:lstStyle/>
          <a:p>
            <a:pPr algn="r"/>
            <a:r>
              <a:rPr sz="1100" b="0" i="0">
                <a:solidFill>
                  <a:srgbClr val="2B2B2B"/>
                </a:solidFill>
                <a:latin typeface="Lato"/>
              </a:rPr>
              <a:t>U. Notre Dame  #34</a:t>
            </a:r>
          </a:p>
        </p:txBody>
      </p:sp>
      <p:sp>
        <p:nvSpPr>
          <p:cNvPr id="13" name="TextBox 12"/>
          <p:cNvSpPr txBox="1"/>
          <p:nvPr/>
        </p:nvSpPr>
        <p:spPr>
          <a:xfrm>
            <a:off x="9491472" y="3243550"/>
            <a:ext cx="2194560" cy="228600"/>
          </a:xfrm>
          <a:prstGeom prst="rect">
            <a:avLst/>
          </a:prstGeom>
          <a:noFill/>
        </p:spPr>
        <p:txBody>
          <a:bodyPr wrap="square" lIns="0" tIns="0" rIns="0" bIns="0" anchor="t">
            <a:spAutoFit/>
          </a:bodyPr>
          <a:lstStyle/>
          <a:p>
            <a:pPr algn="l"/>
            <a:r>
              <a:rPr sz="1100" b="0" i="0">
                <a:solidFill>
                  <a:srgbClr val="2B2B2B"/>
                </a:solidFill>
                <a:latin typeface="Lato"/>
              </a:rPr>
              <a:t>#34  U. Notre Dame</a:t>
            </a:r>
          </a:p>
        </p:txBody>
      </p:sp>
      <p:sp>
        <p:nvSpPr>
          <p:cNvPr id="14" name="TextBox 13"/>
          <p:cNvSpPr txBox="1"/>
          <p:nvPr/>
        </p:nvSpPr>
        <p:spPr>
          <a:xfrm>
            <a:off x="521207" y="3437055"/>
            <a:ext cx="2148840" cy="228600"/>
          </a:xfrm>
          <a:prstGeom prst="rect">
            <a:avLst/>
          </a:prstGeom>
          <a:noFill/>
        </p:spPr>
        <p:txBody>
          <a:bodyPr wrap="square" lIns="0" tIns="0" rIns="0" bIns="0" anchor="t">
            <a:spAutoFit/>
          </a:bodyPr>
          <a:lstStyle/>
          <a:p>
            <a:pPr algn="r"/>
            <a:r>
              <a:rPr sz="1100" b="0" i="0">
                <a:solidFill>
                  <a:srgbClr val="2B2B2B"/>
                </a:solidFill>
                <a:latin typeface="Lato"/>
              </a:rPr>
              <a:t>Wake Forest U.  #35</a:t>
            </a:r>
          </a:p>
        </p:txBody>
      </p:sp>
      <p:sp>
        <p:nvSpPr>
          <p:cNvPr id="15" name="TextBox 14"/>
          <p:cNvSpPr txBox="1"/>
          <p:nvPr/>
        </p:nvSpPr>
        <p:spPr>
          <a:xfrm>
            <a:off x="9491472" y="3437055"/>
            <a:ext cx="2194560" cy="228600"/>
          </a:xfrm>
          <a:prstGeom prst="rect">
            <a:avLst/>
          </a:prstGeom>
          <a:noFill/>
        </p:spPr>
        <p:txBody>
          <a:bodyPr wrap="square" lIns="0" tIns="0" rIns="0" bIns="0" anchor="t">
            <a:spAutoFit/>
          </a:bodyPr>
          <a:lstStyle/>
          <a:p>
            <a:pPr algn="l"/>
            <a:r>
              <a:rPr sz="1100" b="0" i="0">
                <a:solidFill>
                  <a:srgbClr val="2B2B2B"/>
                </a:solidFill>
                <a:latin typeface="Lato"/>
              </a:rPr>
              <a:t>#35  Wake Forest U.</a:t>
            </a:r>
          </a:p>
        </p:txBody>
      </p:sp>
      <p:sp>
        <p:nvSpPr>
          <p:cNvPr id="16" name="TextBox 15"/>
          <p:cNvSpPr txBox="1"/>
          <p:nvPr/>
        </p:nvSpPr>
        <p:spPr>
          <a:xfrm>
            <a:off x="521207" y="2663037"/>
            <a:ext cx="2148840" cy="228600"/>
          </a:xfrm>
          <a:prstGeom prst="rect">
            <a:avLst/>
          </a:prstGeom>
          <a:noFill/>
        </p:spPr>
        <p:txBody>
          <a:bodyPr wrap="square" lIns="0" tIns="0" rIns="0" bIns="0" anchor="t">
            <a:spAutoFit/>
          </a:bodyPr>
          <a:lstStyle/>
          <a:p>
            <a:pPr algn="r"/>
            <a:r>
              <a:rPr sz="1100" b="0" i="0">
                <a:solidFill>
                  <a:srgbClr val="2B2B2B"/>
                </a:solidFill>
                <a:latin typeface="Lato"/>
              </a:rPr>
              <a:t>Woods Hole  #31</a:t>
            </a:r>
          </a:p>
        </p:txBody>
      </p:sp>
      <p:sp>
        <p:nvSpPr>
          <p:cNvPr id="17" name="TextBox 16"/>
          <p:cNvSpPr txBox="1"/>
          <p:nvPr/>
        </p:nvSpPr>
        <p:spPr>
          <a:xfrm>
            <a:off x="9491472" y="3630559"/>
            <a:ext cx="2194560" cy="228600"/>
          </a:xfrm>
          <a:prstGeom prst="rect">
            <a:avLst/>
          </a:prstGeom>
          <a:noFill/>
        </p:spPr>
        <p:txBody>
          <a:bodyPr wrap="square" lIns="0" tIns="0" rIns="0" bIns="0" anchor="t">
            <a:spAutoFit/>
          </a:bodyPr>
          <a:lstStyle/>
          <a:p>
            <a:pPr algn="l"/>
            <a:r>
              <a:rPr sz="1100" b="0" i="0">
                <a:solidFill>
                  <a:srgbClr val="2B2B2B"/>
                </a:solidFill>
                <a:latin typeface="Lato"/>
              </a:rPr>
              <a:t>#36  Woods Hole</a:t>
            </a:r>
          </a:p>
        </p:txBody>
      </p:sp>
      <p:sp>
        <p:nvSpPr>
          <p:cNvPr id="18" name="TextBox 17"/>
          <p:cNvSpPr txBox="1"/>
          <p:nvPr/>
        </p:nvSpPr>
        <p:spPr>
          <a:xfrm>
            <a:off x="521207" y="1695515"/>
            <a:ext cx="2148840" cy="228600"/>
          </a:xfrm>
          <a:prstGeom prst="rect">
            <a:avLst/>
          </a:prstGeom>
          <a:noFill/>
        </p:spPr>
        <p:txBody>
          <a:bodyPr wrap="square" lIns="0" tIns="0" rIns="0" bIns="0" anchor="t">
            <a:spAutoFit/>
          </a:bodyPr>
          <a:lstStyle/>
          <a:p>
            <a:pPr algn="r"/>
            <a:r>
              <a:rPr sz="1100" b="0" i="0">
                <a:solidFill>
                  <a:srgbClr val="2B2B2B"/>
                </a:solidFill>
                <a:latin typeface="Lato"/>
              </a:rPr>
              <a:t>Rockefeller U.  #26</a:t>
            </a:r>
          </a:p>
        </p:txBody>
      </p:sp>
      <p:sp>
        <p:nvSpPr>
          <p:cNvPr id="19" name="TextBox 18"/>
          <p:cNvSpPr txBox="1"/>
          <p:nvPr/>
        </p:nvSpPr>
        <p:spPr>
          <a:xfrm>
            <a:off x="9491472" y="3824064"/>
            <a:ext cx="2194560" cy="228600"/>
          </a:xfrm>
          <a:prstGeom prst="rect">
            <a:avLst/>
          </a:prstGeom>
          <a:noFill/>
        </p:spPr>
        <p:txBody>
          <a:bodyPr wrap="square" lIns="0" tIns="0" rIns="0" bIns="0" anchor="t">
            <a:spAutoFit/>
          </a:bodyPr>
          <a:lstStyle/>
          <a:p>
            <a:pPr algn="l"/>
            <a:r>
              <a:rPr sz="1100" b="0" i="0">
                <a:solidFill>
                  <a:srgbClr val="2B2B2B"/>
                </a:solidFill>
                <a:latin typeface="Lato"/>
              </a:rPr>
              <a:t>#37  Rockefeller U.</a:t>
            </a:r>
          </a:p>
        </p:txBody>
      </p:sp>
      <p:sp>
        <p:nvSpPr>
          <p:cNvPr id="20" name="TextBox 19"/>
          <p:cNvSpPr txBox="1"/>
          <p:nvPr/>
        </p:nvSpPr>
        <p:spPr>
          <a:xfrm>
            <a:off x="521207" y="3824064"/>
            <a:ext cx="2148840" cy="228600"/>
          </a:xfrm>
          <a:prstGeom prst="rect">
            <a:avLst/>
          </a:prstGeom>
          <a:noFill/>
        </p:spPr>
        <p:txBody>
          <a:bodyPr wrap="square" lIns="0" tIns="0" rIns="0" bIns="0" anchor="t">
            <a:spAutoFit/>
          </a:bodyPr>
          <a:lstStyle/>
          <a:p>
            <a:pPr algn="r"/>
            <a:r>
              <a:rPr sz="1100" b="0" i="0">
                <a:solidFill>
                  <a:srgbClr val="2B2B2B"/>
                </a:solidFill>
                <a:latin typeface="Lato"/>
              </a:rPr>
              <a:t>Tufts U.  #37</a:t>
            </a:r>
          </a:p>
        </p:txBody>
      </p:sp>
      <p:sp>
        <p:nvSpPr>
          <p:cNvPr id="21" name="TextBox 20"/>
          <p:cNvSpPr txBox="1"/>
          <p:nvPr/>
        </p:nvSpPr>
        <p:spPr>
          <a:xfrm>
            <a:off x="9491472" y="4017568"/>
            <a:ext cx="2194560" cy="228600"/>
          </a:xfrm>
          <a:prstGeom prst="rect">
            <a:avLst/>
          </a:prstGeom>
          <a:noFill/>
        </p:spPr>
        <p:txBody>
          <a:bodyPr wrap="square" lIns="0" tIns="0" rIns="0" bIns="0" anchor="t">
            <a:spAutoFit/>
          </a:bodyPr>
          <a:lstStyle/>
          <a:p>
            <a:pPr algn="l"/>
            <a:r>
              <a:rPr sz="1100" b="0" i="0">
                <a:solidFill>
                  <a:srgbClr val="2B2B2B"/>
                </a:solidFill>
                <a:latin typeface="Lato"/>
              </a:rPr>
              <a:t>#38  Tufts U.</a:t>
            </a:r>
          </a:p>
        </p:txBody>
      </p:sp>
      <p:sp>
        <p:nvSpPr>
          <p:cNvPr id="22" name="TextBox 21"/>
          <p:cNvSpPr txBox="1"/>
          <p:nvPr/>
        </p:nvSpPr>
        <p:spPr>
          <a:xfrm>
            <a:off x="521207" y="4211073"/>
            <a:ext cx="2148840" cy="228600"/>
          </a:xfrm>
          <a:prstGeom prst="rect">
            <a:avLst/>
          </a:prstGeom>
          <a:noFill/>
        </p:spPr>
        <p:txBody>
          <a:bodyPr wrap="square" lIns="0" tIns="0" rIns="0" bIns="0" anchor="t">
            <a:spAutoFit/>
          </a:bodyPr>
          <a:lstStyle/>
          <a:p>
            <a:pPr algn="r"/>
            <a:r>
              <a:rPr sz="1100" b="0" i="0">
                <a:solidFill>
                  <a:srgbClr val="2B2B2B"/>
                </a:solidFill>
                <a:latin typeface="Lato"/>
              </a:rPr>
              <a:t>Rice U.  #39</a:t>
            </a:r>
          </a:p>
        </p:txBody>
      </p:sp>
      <p:sp>
        <p:nvSpPr>
          <p:cNvPr id="23" name="TextBox 22"/>
          <p:cNvSpPr txBox="1"/>
          <p:nvPr/>
        </p:nvSpPr>
        <p:spPr>
          <a:xfrm>
            <a:off x="9491472" y="4211073"/>
            <a:ext cx="2194560" cy="228600"/>
          </a:xfrm>
          <a:prstGeom prst="rect">
            <a:avLst/>
          </a:prstGeom>
          <a:noFill/>
        </p:spPr>
        <p:txBody>
          <a:bodyPr wrap="square" lIns="0" tIns="0" rIns="0" bIns="0" anchor="t">
            <a:spAutoFit/>
          </a:bodyPr>
          <a:lstStyle/>
          <a:p>
            <a:pPr algn="l"/>
            <a:r>
              <a:rPr sz="1100" b="0" i="0">
                <a:solidFill>
                  <a:srgbClr val="2B2B2B"/>
                </a:solidFill>
                <a:latin typeface="Lato"/>
              </a:rPr>
              <a:t>#39  Rice U.</a:t>
            </a:r>
          </a:p>
        </p:txBody>
      </p:sp>
      <p:sp>
        <p:nvSpPr>
          <p:cNvPr id="24" name="TextBox 23"/>
          <p:cNvSpPr txBox="1"/>
          <p:nvPr/>
        </p:nvSpPr>
        <p:spPr>
          <a:xfrm>
            <a:off x="521207" y="4017568"/>
            <a:ext cx="2148840" cy="228600"/>
          </a:xfrm>
          <a:prstGeom prst="rect">
            <a:avLst/>
          </a:prstGeom>
          <a:noFill/>
        </p:spPr>
        <p:txBody>
          <a:bodyPr wrap="square" lIns="0" tIns="0" rIns="0" bIns="0" anchor="t">
            <a:spAutoFit/>
          </a:bodyPr>
          <a:lstStyle/>
          <a:p>
            <a:pPr algn="r"/>
            <a:r>
              <a:rPr sz="1100" b="0" i="0">
                <a:solidFill>
                  <a:srgbClr val="2B2B2B"/>
                </a:solidFill>
                <a:latin typeface="Lato"/>
              </a:rPr>
              <a:t>Tulane U.  #38</a:t>
            </a:r>
          </a:p>
        </p:txBody>
      </p:sp>
      <p:sp>
        <p:nvSpPr>
          <p:cNvPr id="25" name="TextBox 24"/>
          <p:cNvSpPr txBox="1"/>
          <p:nvPr/>
        </p:nvSpPr>
        <p:spPr>
          <a:xfrm>
            <a:off x="9491472" y="4404577"/>
            <a:ext cx="2194560" cy="228600"/>
          </a:xfrm>
          <a:prstGeom prst="rect">
            <a:avLst/>
          </a:prstGeom>
          <a:noFill/>
        </p:spPr>
        <p:txBody>
          <a:bodyPr wrap="square" lIns="0" tIns="0" rIns="0" bIns="0" anchor="t">
            <a:spAutoFit/>
          </a:bodyPr>
          <a:lstStyle/>
          <a:p>
            <a:pPr algn="l"/>
            <a:r>
              <a:rPr sz="1100" b="0" i="0">
                <a:solidFill>
                  <a:srgbClr val="2B2B2B"/>
                </a:solidFill>
                <a:latin typeface="Lato"/>
              </a:rPr>
              <a:t>#40  Tulane U.</a:t>
            </a:r>
          </a:p>
        </p:txBody>
      </p:sp>
      <p:sp>
        <p:nvSpPr>
          <p:cNvPr id="26" name="TextBox 25"/>
          <p:cNvSpPr txBox="1"/>
          <p:nvPr/>
        </p:nvSpPr>
        <p:spPr>
          <a:xfrm>
            <a:off x="521207" y="4598082"/>
            <a:ext cx="2148840" cy="228600"/>
          </a:xfrm>
          <a:prstGeom prst="rect">
            <a:avLst/>
          </a:prstGeom>
          <a:noFill/>
        </p:spPr>
        <p:txBody>
          <a:bodyPr wrap="square" lIns="0" tIns="0" rIns="0" bIns="0" anchor="t">
            <a:spAutoFit/>
          </a:bodyPr>
          <a:lstStyle/>
          <a:p>
            <a:pPr algn="r"/>
            <a:r>
              <a:rPr sz="1100" b="0" i="0">
                <a:solidFill>
                  <a:srgbClr val="2B2B2B"/>
                </a:solidFill>
                <a:latin typeface="Lato"/>
              </a:rPr>
              <a:t>Thomas Jefferson U.  #41</a:t>
            </a:r>
          </a:p>
        </p:txBody>
      </p:sp>
      <p:sp>
        <p:nvSpPr>
          <p:cNvPr id="27" name="TextBox 26"/>
          <p:cNvSpPr txBox="1"/>
          <p:nvPr/>
        </p:nvSpPr>
        <p:spPr>
          <a:xfrm>
            <a:off x="9491472" y="4598082"/>
            <a:ext cx="2194560" cy="228600"/>
          </a:xfrm>
          <a:prstGeom prst="rect">
            <a:avLst/>
          </a:prstGeom>
          <a:noFill/>
        </p:spPr>
        <p:txBody>
          <a:bodyPr wrap="square" lIns="0" tIns="0" rIns="0" bIns="0" anchor="t">
            <a:spAutoFit/>
          </a:bodyPr>
          <a:lstStyle/>
          <a:p>
            <a:pPr algn="l"/>
            <a:r>
              <a:rPr sz="1100" b="0" i="0">
                <a:solidFill>
                  <a:srgbClr val="2B2B2B"/>
                </a:solidFill>
                <a:latin typeface="Lato"/>
              </a:rPr>
              <a:t>#41  Thomas Jefferson U.</a:t>
            </a:r>
          </a:p>
        </p:txBody>
      </p:sp>
      <p:sp>
        <p:nvSpPr>
          <p:cNvPr id="28" name="TextBox 27"/>
          <p:cNvSpPr txBox="1"/>
          <p:nvPr/>
        </p:nvSpPr>
        <p:spPr>
          <a:xfrm>
            <a:off x="521207" y="4404577"/>
            <a:ext cx="2148840" cy="228600"/>
          </a:xfrm>
          <a:prstGeom prst="rect">
            <a:avLst/>
          </a:prstGeom>
          <a:noFill/>
        </p:spPr>
        <p:txBody>
          <a:bodyPr wrap="square" lIns="0" tIns="0" rIns="0" bIns="0" anchor="t">
            <a:spAutoFit/>
          </a:bodyPr>
          <a:lstStyle/>
          <a:p>
            <a:pPr algn="r"/>
            <a:r>
              <a:rPr sz="1100" b="0" i="0">
                <a:solidFill>
                  <a:srgbClr val="2B2B2B"/>
                </a:solidFill>
                <a:latin typeface="Lato"/>
              </a:rPr>
              <a:t>Drexel U.  #40</a:t>
            </a:r>
          </a:p>
        </p:txBody>
      </p:sp>
      <p:sp>
        <p:nvSpPr>
          <p:cNvPr id="29" name="TextBox 28"/>
          <p:cNvSpPr txBox="1"/>
          <p:nvPr/>
        </p:nvSpPr>
        <p:spPr>
          <a:xfrm>
            <a:off x="9491472" y="5178595"/>
            <a:ext cx="2194560" cy="228600"/>
          </a:xfrm>
          <a:prstGeom prst="rect">
            <a:avLst/>
          </a:prstGeom>
          <a:noFill/>
        </p:spPr>
        <p:txBody>
          <a:bodyPr wrap="square" lIns="0" tIns="0" rIns="0" bIns="0" anchor="t">
            <a:spAutoFit/>
          </a:bodyPr>
          <a:lstStyle/>
          <a:p>
            <a:pPr algn="l"/>
            <a:r>
              <a:rPr sz="1100" b="0" i="0">
                <a:solidFill>
                  <a:srgbClr val="2B2B2B"/>
                </a:solidFill>
                <a:latin typeface="Lato"/>
              </a:rPr>
              <a:t>#44  Drexel U.</a:t>
            </a:r>
          </a:p>
        </p:txBody>
      </p:sp>
      <p:sp>
        <p:nvSpPr>
          <p:cNvPr id="30" name="TextBox 29"/>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NSF NCSES, Higher Education Research and Development (HERD) Survey, FY 2024 (NSF 26-304)</a:t>
            </a:r>
          </a:p>
        </p:txBody>
      </p:sp>
      <p:sp>
        <p:nvSpPr>
          <p:cNvPr id="31" name="TextBox 30"/>
          <p:cNvSpPr txBox="1"/>
          <p:nvPr/>
        </p:nvSpPr>
        <p:spPr>
          <a:xfrm>
            <a:off x="457200" y="6281928"/>
            <a:ext cx="11274552" cy="118872"/>
          </a:xfrm>
          <a:prstGeom prst="rect">
            <a:avLst/>
          </a:prstGeom>
          <a:noFill/>
        </p:spPr>
        <p:txBody>
          <a:bodyPr wrap="square" lIns="0" rIns="0" tIns="0" bIns="0" anchor="b">
            <a:spAutoFit/>
          </a:bodyPr>
          <a:lstStyle/>
          <a:p>
            <a:pPr algn="l"/>
            <a:r>
              <a:rPr sz="700" b="0" i="0">
                <a:solidFill>
                  <a:srgbClr val="595959"/>
                </a:solidFill>
                <a:latin typeface="Lato"/>
              </a:rPr>
              <a:t>Note: Excludes Yeshiva U., whose medical school (Albert Einstein C. of Medicine, now #31) began reporting separately in FY 2019.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4592"/>
            <a:ext cx="10149840" cy="731520"/>
          </a:xfrm>
          <a:prstGeom prst="rect">
            <a:avLst/>
          </a:prstGeom>
          <a:noFill/>
        </p:spPr>
        <p:txBody>
          <a:bodyPr wrap="square" lIns="0" tIns="0" rIns="0" bIns="0" anchor="ctr">
            <a:noAutofit/>
          </a:bodyPr>
          <a:lstStyle/>
          <a:p>
            <a:pPr algn="l"/>
            <a:r>
              <a:rPr sz="2400" b="1" i="0">
                <a:solidFill>
                  <a:srgbClr val="000000"/>
                </a:solidFill>
                <a:latin typeface="Lato"/>
              </a:rPr>
              <a:t>Northeastern is a “beluga”: smaller than the median top-50 private, but among the fastest growing</a:t>
            </a:r>
          </a:p>
        </p:txBody>
      </p:sp>
      <p:sp>
        <p:nvSpPr>
          <p:cNvPr id="4" name="TextBox 3"/>
          <p:cNvSpPr txBox="1"/>
          <p:nvPr/>
        </p:nvSpPr>
        <p:spPr>
          <a:xfrm>
            <a:off x="457200" y="941832"/>
            <a:ext cx="10698480" cy="274320"/>
          </a:xfrm>
          <a:prstGeom prst="rect">
            <a:avLst/>
          </a:prstGeom>
          <a:noFill/>
        </p:spPr>
        <p:txBody>
          <a:bodyPr wrap="square" lIns="0" tIns="0" rIns="0" bIns="0" anchor="t">
            <a:spAutoFit/>
          </a:bodyPr>
          <a:lstStyle/>
          <a:p>
            <a:pPr algn="l"/>
            <a:r>
              <a:rPr sz="1500" b="0" i="0">
                <a:solidFill>
                  <a:srgbClr val="2B2B2B"/>
                </a:solidFill>
                <a:latin typeface="Lato"/>
              </a:rPr>
              <a:t>FY 2024 R&amp;D expenditures vs. annual R&amp;D growth rate (FY 2014–2024), top 50 private institutions</a:t>
            </a:r>
          </a:p>
        </p:txBody>
      </p:sp>
      <p:graphicFrame>
        <p:nvGraphicFramePr>
          <p:cNvPr id="9" name="Chart 8"/>
          <p:cNvGraphicFramePr>
            <a:graphicFrameLocks noGrp="1"/>
          </p:cNvGraphicFramePr>
          <p:nvPr/>
        </p:nvGraphicFramePr>
        <p:xfrm>
          <a:off x="548640" y="1325880"/>
          <a:ext cx="11064240" cy="4663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755294" y="5484571"/>
            <a:ext cx="914400" cy="201168"/>
          </a:xfrm>
          <a:prstGeom prst="rect">
            <a:avLst/>
          </a:prstGeom>
          <a:noFill/>
        </p:spPr>
        <p:txBody>
          <a:bodyPr wrap="square" lIns="0" tIns="0" rIns="0" bIns="0" anchor="t">
            <a:spAutoFit/>
          </a:bodyPr>
          <a:lstStyle/>
          <a:p>
            <a:pPr algn="ctr"/>
            <a:r>
              <a:rPr sz="1100" b="0" i="0">
                <a:solidFill>
                  <a:srgbClr val="6B6B70"/>
                </a:solidFill>
                <a:latin typeface="Lato"/>
              </a:rPr>
              <a:t>$100M</a:t>
            </a:r>
          </a:p>
        </p:txBody>
      </p:sp>
      <p:cxnSp>
        <p:nvCxnSpPr>
          <p:cNvPr id="11" name="Connector 10"/>
          <p:cNvCxnSpPr/>
          <p:nvPr/>
        </p:nvCxnSpPr>
        <p:spPr>
          <a:xfrm>
            <a:off x="3016066" y="1419148"/>
            <a:ext cx="0" cy="4010559"/>
          </a:xfrm>
          <a:prstGeom prst="line">
            <a:avLst/>
          </a:prstGeom>
          <a:ln w="9525">
            <a:solidFill>
              <a:srgbClr val="E4E4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558866" y="5484571"/>
            <a:ext cx="914400" cy="201168"/>
          </a:xfrm>
          <a:prstGeom prst="rect">
            <a:avLst/>
          </a:prstGeom>
          <a:noFill/>
        </p:spPr>
        <p:txBody>
          <a:bodyPr wrap="square" lIns="0" tIns="0" rIns="0" bIns="0" anchor="t">
            <a:spAutoFit/>
          </a:bodyPr>
          <a:lstStyle/>
          <a:p>
            <a:pPr algn="ctr"/>
            <a:r>
              <a:rPr sz="1100" b="0" i="0">
                <a:solidFill>
                  <a:srgbClr val="6B6B70"/>
                </a:solidFill>
                <a:latin typeface="Lato"/>
              </a:rPr>
              <a:t>$200M</a:t>
            </a:r>
          </a:p>
        </p:txBody>
      </p:sp>
      <p:cxnSp>
        <p:nvCxnSpPr>
          <p:cNvPr id="13" name="Connector 12"/>
          <p:cNvCxnSpPr/>
          <p:nvPr/>
        </p:nvCxnSpPr>
        <p:spPr>
          <a:xfrm>
            <a:off x="5400258" y="1419148"/>
            <a:ext cx="0" cy="4010559"/>
          </a:xfrm>
          <a:prstGeom prst="line">
            <a:avLst/>
          </a:prstGeom>
          <a:ln w="9525">
            <a:solidFill>
              <a:srgbClr val="E4E4E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43058" y="5484571"/>
            <a:ext cx="914400" cy="201168"/>
          </a:xfrm>
          <a:prstGeom prst="rect">
            <a:avLst/>
          </a:prstGeom>
          <a:noFill/>
        </p:spPr>
        <p:txBody>
          <a:bodyPr wrap="square" lIns="0" tIns="0" rIns="0" bIns="0" anchor="t">
            <a:spAutoFit/>
          </a:bodyPr>
          <a:lstStyle/>
          <a:p>
            <a:pPr algn="ctr"/>
            <a:r>
              <a:rPr sz="1100" b="0" i="0">
                <a:solidFill>
                  <a:srgbClr val="6B6B70"/>
                </a:solidFill>
                <a:latin typeface="Lato"/>
              </a:rPr>
              <a:t>$500M</a:t>
            </a:r>
          </a:p>
        </p:txBody>
      </p:sp>
      <p:cxnSp>
        <p:nvCxnSpPr>
          <p:cNvPr id="15" name="Connector 14"/>
          <p:cNvCxnSpPr/>
          <p:nvPr/>
        </p:nvCxnSpPr>
        <p:spPr>
          <a:xfrm>
            <a:off x="7203830" y="1419148"/>
            <a:ext cx="0" cy="4010559"/>
          </a:xfrm>
          <a:prstGeom prst="line">
            <a:avLst/>
          </a:prstGeom>
          <a:ln w="9525">
            <a:solidFill>
              <a:srgbClr val="E4E4E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746630" y="5484571"/>
            <a:ext cx="914400" cy="201168"/>
          </a:xfrm>
          <a:prstGeom prst="rect">
            <a:avLst/>
          </a:prstGeom>
          <a:noFill/>
        </p:spPr>
        <p:txBody>
          <a:bodyPr wrap="square" lIns="0" tIns="0" rIns="0" bIns="0" anchor="t">
            <a:spAutoFit/>
          </a:bodyPr>
          <a:lstStyle/>
          <a:p>
            <a:pPr algn="ctr"/>
            <a:r>
              <a:rPr sz="1100" b="0" i="0">
                <a:solidFill>
                  <a:srgbClr val="6B6B70"/>
                </a:solidFill>
                <a:latin typeface="Lato"/>
              </a:rPr>
              <a:t>$1B</a:t>
            </a:r>
          </a:p>
        </p:txBody>
      </p:sp>
      <p:cxnSp>
        <p:nvCxnSpPr>
          <p:cNvPr id="17" name="Connector 16"/>
          <p:cNvCxnSpPr/>
          <p:nvPr/>
        </p:nvCxnSpPr>
        <p:spPr>
          <a:xfrm>
            <a:off x="9007402" y="1419148"/>
            <a:ext cx="0" cy="4010559"/>
          </a:xfrm>
          <a:prstGeom prst="line">
            <a:avLst/>
          </a:prstGeom>
          <a:ln w="9525">
            <a:solidFill>
              <a:srgbClr val="E4E4E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50202" y="5484571"/>
            <a:ext cx="914400" cy="201168"/>
          </a:xfrm>
          <a:prstGeom prst="rect">
            <a:avLst/>
          </a:prstGeom>
          <a:noFill/>
        </p:spPr>
        <p:txBody>
          <a:bodyPr wrap="square" lIns="0" tIns="0" rIns="0" bIns="0" anchor="t">
            <a:spAutoFit/>
          </a:bodyPr>
          <a:lstStyle/>
          <a:p>
            <a:pPr algn="ctr"/>
            <a:r>
              <a:rPr sz="1100" b="0" i="0">
                <a:solidFill>
                  <a:srgbClr val="6B6B70"/>
                </a:solidFill>
                <a:latin typeface="Lato"/>
              </a:rPr>
              <a:t>$2B</a:t>
            </a:r>
          </a:p>
        </p:txBody>
      </p:sp>
      <p:cxnSp>
        <p:nvCxnSpPr>
          <p:cNvPr id="19" name="Connector 18"/>
          <p:cNvCxnSpPr/>
          <p:nvPr/>
        </p:nvCxnSpPr>
        <p:spPr>
          <a:xfrm>
            <a:off x="10810974" y="1419148"/>
            <a:ext cx="0" cy="4010559"/>
          </a:xfrm>
          <a:prstGeom prst="line">
            <a:avLst/>
          </a:prstGeom>
          <a:ln w="9525">
            <a:solidFill>
              <a:srgbClr val="E4E4E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353774" y="5484571"/>
            <a:ext cx="914400" cy="201168"/>
          </a:xfrm>
          <a:prstGeom prst="rect">
            <a:avLst/>
          </a:prstGeom>
          <a:noFill/>
        </p:spPr>
        <p:txBody>
          <a:bodyPr wrap="square" lIns="0" tIns="0" rIns="0" bIns="0" anchor="t">
            <a:spAutoFit/>
          </a:bodyPr>
          <a:lstStyle/>
          <a:p>
            <a:pPr algn="ctr"/>
            <a:r>
              <a:rPr sz="1100" b="0" i="0">
                <a:solidFill>
                  <a:srgbClr val="6B6B70"/>
                </a:solidFill>
                <a:latin typeface="Lato"/>
              </a:rPr>
              <a:t>$4B</a:t>
            </a:r>
          </a:p>
        </p:txBody>
      </p:sp>
      <p:sp>
        <p:nvSpPr>
          <p:cNvPr id="21" name="TextBox 20"/>
          <p:cNvSpPr txBox="1"/>
          <p:nvPr/>
        </p:nvSpPr>
        <p:spPr>
          <a:xfrm>
            <a:off x="1212494" y="5704027"/>
            <a:ext cx="10179100" cy="201168"/>
          </a:xfrm>
          <a:prstGeom prst="rect">
            <a:avLst/>
          </a:prstGeom>
          <a:noFill/>
        </p:spPr>
        <p:txBody>
          <a:bodyPr wrap="square" lIns="0" tIns="0" rIns="0" bIns="0" anchor="t">
            <a:spAutoFit/>
          </a:bodyPr>
          <a:lstStyle/>
          <a:p>
            <a:pPr algn="ctr"/>
            <a:r>
              <a:rPr sz="1100" b="0" i="0">
                <a:solidFill>
                  <a:srgbClr val="6B6B70"/>
                </a:solidFill>
                <a:latin typeface="Lato"/>
              </a:rPr>
              <a:t>FY 2024 total R&amp;D expenditures (log scale)</a:t>
            </a:r>
          </a:p>
        </p:txBody>
      </p:sp>
      <p:cxnSp>
        <p:nvCxnSpPr>
          <p:cNvPr id="22" name="Connector 21"/>
          <p:cNvCxnSpPr/>
          <p:nvPr/>
        </p:nvCxnSpPr>
        <p:spPr>
          <a:xfrm>
            <a:off x="5360256" y="1419148"/>
            <a:ext cx="0" cy="4010559"/>
          </a:xfrm>
          <a:prstGeom prst="line">
            <a:avLst/>
          </a:prstGeom>
          <a:ln w="12700">
            <a:solidFill>
              <a:srgbClr val="6B6B70"/>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12494" y="3600197"/>
            <a:ext cx="10179101" cy="0"/>
          </a:xfrm>
          <a:prstGeom prst="line">
            <a:avLst/>
          </a:prstGeom>
          <a:ln w="12700">
            <a:solidFill>
              <a:srgbClr val="6B6B70"/>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69894" y="1474012"/>
            <a:ext cx="1737360" cy="365760"/>
          </a:xfrm>
          <a:prstGeom prst="rect">
            <a:avLst/>
          </a:prstGeom>
          <a:noFill/>
        </p:spPr>
        <p:txBody>
          <a:bodyPr wrap="square" lIns="0" tIns="0" rIns="0" bIns="0" anchor="t">
            <a:spAutoFit/>
          </a:bodyPr>
          <a:lstStyle/>
          <a:p>
            <a:pPr algn="l"/>
            <a:r>
              <a:rPr sz="1300" b="1" i="0">
                <a:solidFill>
                  <a:srgbClr val="000000"/>
                </a:solidFill>
                <a:latin typeface="Lato"/>
              </a:rPr>
              <a:t>Beluga whales</a:t>
            </a:r>
          </a:p>
          <a:p>
            <a:pPr algn="l"/>
            <a:r>
              <a:rPr sz="1000" b="0" i="1">
                <a:solidFill>
                  <a:srgbClr val="A4804A"/>
                </a:solidFill>
                <a:latin typeface="Lato"/>
              </a:rPr>
              <a:t>Smaller / faster growing</a:t>
            </a:r>
          </a:p>
        </p:txBody>
      </p:sp>
      <p:pic>
        <p:nvPicPr>
          <p:cNvPr id="25" name="Picture 24" descr="whale_Picture_2.png"/>
          <p:cNvPicPr>
            <a:picLocks noChangeAspect="1"/>
          </p:cNvPicPr>
          <p:nvPr/>
        </p:nvPicPr>
        <p:blipFill>
          <a:blip r:embed="rId5"/>
          <a:stretch>
            <a:fillRect/>
          </a:stretch>
        </p:blipFill>
        <p:spPr>
          <a:xfrm>
            <a:off x="3269894" y="1876348"/>
            <a:ext cx="1005840" cy="671398"/>
          </a:xfrm>
          <a:prstGeom prst="rect">
            <a:avLst/>
          </a:prstGeom>
        </p:spPr>
      </p:pic>
      <p:sp>
        <p:nvSpPr>
          <p:cNvPr id="26" name="TextBox 25"/>
          <p:cNvSpPr txBox="1"/>
          <p:nvPr/>
        </p:nvSpPr>
        <p:spPr>
          <a:xfrm>
            <a:off x="9581083" y="1474012"/>
            <a:ext cx="1737360" cy="365760"/>
          </a:xfrm>
          <a:prstGeom prst="rect">
            <a:avLst/>
          </a:prstGeom>
          <a:noFill/>
        </p:spPr>
        <p:txBody>
          <a:bodyPr wrap="square" lIns="0" tIns="0" rIns="0" bIns="0" anchor="t">
            <a:spAutoFit/>
          </a:bodyPr>
          <a:lstStyle/>
          <a:p>
            <a:pPr algn="r"/>
            <a:r>
              <a:rPr sz="1300" b="1" i="0">
                <a:solidFill>
                  <a:srgbClr val="000000"/>
                </a:solidFill>
                <a:latin typeface="Lato"/>
              </a:rPr>
              <a:t>Sperm whales</a:t>
            </a:r>
          </a:p>
          <a:p>
            <a:pPr algn="r"/>
            <a:r>
              <a:rPr sz="1000" b="0" i="1">
                <a:solidFill>
                  <a:srgbClr val="A4804A"/>
                </a:solidFill>
                <a:latin typeface="Lato"/>
              </a:rPr>
              <a:t>Larger / faster growing</a:t>
            </a:r>
          </a:p>
        </p:txBody>
      </p:sp>
      <p:pic>
        <p:nvPicPr>
          <p:cNvPr id="27" name="Picture 26" descr="whale_Picture_10.png"/>
          <p:cNvPicPr>
            <a:picLocks noChangeAspect="1"/>
          </p:cNvPicPr>
          <p:nvPr/>
        </p:nvPicPr>
        <p:blipFill>
          <a:blip r:embed="rId6"/>
          <a:stretch>
            <a:fillRect/>
          </a:stretch>
        </p:blipFill>
        <p:spPr>
          <a:xfrm>
            <a:off x="10084003" y="1876348"/>
            <a:ext cx="1234440" cy="823989"/>
          </a:xfrm>
          <a:prstGeom prst="rect">
            <a:avLst/>
          </a:prstGeom>
        </p:spPr>
      </p:pic>
      <p:pic>
        <p:nvPicPr>
          <p:cNvPr id="28" name="Picture 27" descr="whale_Picture_28.png"/>
          <p:cNvPicPr>
            <a:picLocks noChangeAspect="1"/>
          </p:cNvPicPr>
          <p:nvPr/>
        </p:nvPicPr>
        <p:blipFill>
          <a:blip r:embed="rId7"/>
          <a:stretch>
            <a:fillRect/>
          </a:stretch>
        </p:blipFill>
        <p:spPr>
          <a:xfrm>
            <a:off x="1285646" y="4478731"/>
            <a:ext cx="1234440" cy="473262"/>
          </a:xfrm>
          <a:prstGeom prst="rect">
            <a:avLst/>
          </a:prstGeom>
        </p:spPr>
      </p:pic>
      <p:sp>
        <p:nvSpPr>
          <p:cNvPr id="29" name="TextBox 28"/>
          <p:cNvSpPr txBox="1"/>
          <p:nvPr/>
        </p:nvSpPr>
        <p:spPr>
          <a:xfrm>
            <a:off x="1285646" y="5009083"/>
            <a:ext cx="1737360" cy="365760"/>
          </a:xfrm>
          <a:prstGeom prst="rect">
            <a:avLst/>
          </a:prstGeom>
          <a:noFill/>
        </p:spPr>
        <p:txBody>
          <a:bodyPr wrap="square" lIns="0" tIns="0" rIns="0" bIns="0" anchor="t">
            <a:spAutoFit/>
          </a:bodyPr>
          <a:lstStyle/>
          <a:p>
            <a:pPr algn="l"/>
            <a:r>
              <a:rPr sz="1300" b="1" i="0">
                <a:solidFill>
                  <a:srgbClr val="000000"/>
                </a:solidFill>
                <a:latin typeface="Lato"/>
              </a:rPr>
              <a:t>Humpback whales</a:t>
            </a:r>
          </a:p>
          <a:p>
            <a:pPr algn="l"/>
            <a:r>
              <a:rPr sz="1000" b="0" i="1">
                <a:solidFill>
                  <a:srgbClr val="A4804A"/>
                </a:solidFill>
                <a:latin typeface="Lato"/>
              </a:rPr>
              <a:t>Smaller / slower growing</a:t>
            </a:r>
          </a:p>
        </p:txBody>
      </p:sp>
      <p:pic>
        <p:nvPicPr>
          <p:cNvPr id="30" name="Picture 29" descr="whale_Picture_23.png"/>
          <p:cNvPicPr>
            <a:picLocks noChangeAspect="1"/>
          </p:cNvPicPr>
          <p:nvPr/>
        </p:nvPicPr>
        <p:blipFill>
          <a:blip r:embed="rId8"/>
          <a:stretch>
            <a:fillRect/>
          </a:stretch>
        </p:blipFill>
        <p:spPr>
          <a:xfrm>
            <a:off x="10084003" y="4478731"/>
            <a:ext cx="1234440" cy="252821"/>
          </a:xfrm>
          <a:prstGeom prst="rect">
            <a:avLst/>
          </a:prstGeom>
        </p:spPr>
      </p:pic>
      <p:sp>
        <p:nvSpPr>
          <p:cNvPr id="31" name="TextBox 30"/>
          <p:cNvSpPr txBox="1"/>
          <p:nvPr/>
        </p:nvSpPr>
        <p:spPr>
          <a:xfrm>
            <a:off x="9581083" y="5009083"/>
            <a:ext cx="1737360" cy="365760"/>
          </a:xfrm>
          <a:prstGeom prst="rect">
            <a:avLst/>
          </a:prstGeom>
          <a:noFill/>
        </p:spPr>
        <p:txBody>
          <a:bodyPr wrap="square" lIns="0" tIns="0" rIns="0" bIns="0" anchor="t">
            <a:spAutoFit/>
          </a:bodyPr>
          <a:lstStyle/>
          <a:p>
            <a:pPr algn="r"/>
            <a:r>
              <a:rPr sz="1300" b="1" i="0">
                <a:solidFill>
                  <a:srgbClr val="000000"/>
                </a:solidFill>
                <a:latin typeface="Lato"/>
              </a:rPr>
              <a:t>Blue whales</a:t>
            </a:r>
          </a:p>
          <a:p>
            <a:pPr algn="r"/>
            <a:r>
              <a:rPr sz="1000" b="0" i="1">
                <a:solidFill>
                  <a:srgbClr val="A4804A"/>
                </a:solidFill>
                <a:latin typeface="Lato"/>
              </a:rPr>
              <a:t>Larger / slower growing</a:t>
            </a:r>
          </a:p>
        </p:txBody>
      </p:sp>
      <p:sp>
        <p:nvSpPr>
          <p:cNvPr id="32" name="TextBox 31"/>
          <p:cNvSpPr txBox="1"/>
          <p:nvPr/>
        </p:nvSpPr>
        <p:spPr>
          <a:xfrm>
            <a:off x="5415120" y="1464868"/>
            <a:ext cx="1463040" cy="182880"/>
          </a:xfrm>
          <a:prstGeom prst="rect">
            <a:avLst/>
          </a:prstGeom>
          <a:noFill/>
        </p:spPr>
        <p:txBody>
          <a:bodyPr wrap="square" lIns="0" tIns="0" rIns="0" bIns="0" anchor="t">
            <a:spAutoFit/>
          </a:bodyPr>
          <a:lstStyle/>
          <a:p>
            <a:pPr algn="l"/>
            <a:r>
              <a:rPr sz="1000" b="0" i="1">
                <a:solidFill>
                  <a:srgbClr val="6B6B70"/>
                </a:solidFill>
                <a:latin typeface="Lato"/>
              </a:rPr>
              <a:t>Median $492M</a:t>
            </a:r>
          </a:p>
        </p:txBody>
      </p:sp>
      <p:sp>
        <p:nvSpPr>
          <p:cNvPr id="33" name="TextBox 32"/>
          <p:cNvSpPr txBox="1"/>
          <p:nvPr/>
        </p:nvSpPr>
        <p:spPr>
          <a:xfrm>
            <a:off x="9517075" y="3627629"/>
            <a:ext cx="1828800" cy="182880"/>
          </a:xfrm>
          <a:prstGeom prst="rect">
            <a:avLst/>
          </a:prstGeom>
          <a:noFill/>
        </p:spPr>
        <p:txBody>
          <a:bodyPr wrap="square" lIns="0" tIns="0" rIns="0" bIns="0" anchor="t">
            <a:spAutoFit/>
          </a:bodyPr>
          <a:lstStyle/>
          <a:p>
            <a:pPr algn="r"/>
            <a:r>
              <a:rPr sz="1000" b="0" i="1">
                <a:solidFill>
                  <a:srgbClr val="6B6B70"/>
                </a:solidFill>
                <a:latin typeface="Lato"/>
              </a:rPr>
              <a:t>Median 6.2% per year</a:t>
            </a:r>
          </a:p>
        </p:txBody>
      </p:sp>
      <p:cxnSp>
        <p:nvCxnSpPr>
          <p:cNvPr id="34" name="Connector 33"/>
          <p:cNvCxnSpPr/>
          <p:nvPr/>
        </p:nvCxnSpPr>
        <p:spPr>
          <a:xfrm flipV="1">
            <a:off x="1990976" y="1437436"/>
            <a:ext cx="0" cy="89611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064128" y="1876348"/>
            <a:ext cx="1188720" cy="411480"/>
          </a:xfrm>
          <a:prstGeom prst="rect">
            <a:avLst/>
          </a:prstGeom>
          <a:noFill/>
        </p:spPr>
        <p:txBody>
          <a:bodyPr wrap="square" lIns="0" tIns="0" rIns="0" bIns="0" anchor="t">
            <a:spAutoFit/>
          </a:bodyPr>
          <a:lstStyle/>
          <a:p>
            <a:pPr algn="l"/>
            <a:r>
              <a:rPr sz="1100" b="1" i="0">
                <a:solidFill>
                  <a:srgbClr val="000000"/>
                </a:solidFill>
                <a:latin typeface="Lato"/>
              </a:rPr>
              <a:t>Baylor U.</a:t>
            </a:r>
          </a:p>
          <a:p>
            <a:pPr algn="l"/>
            <a:r>
              <a:rPr sz="900" b="0" i="0">
                <a:solidFill>
                  <a:srgbClr val="2B2B2B"/>
                </a:solidFill>
                <a:latin typeface="Lato"/>
              </a:rPr>
              <a:t>$135M · 20.6%/yr</a:t>
            </a:r>
          </a:p>
        </p:txBody>
      </p:sp>
      <p:sp>
        <p:nvSpPr>
          <p:cNvPr id="36" name="TextBox 35"/>
          <p:cNvSpPr txBox="1"/>
          <p:nvPr/>
        </p:nvSpPr>
        <p:spPr>
          <a:xfrm>
            <a:off x="4531336" y="2309295"/>
            <a:ext cx="1088136" cy="201168"/>
          </a:xfrm>
          <a:prstGeom prst="rect">
            <a:avLst/>
          </a:prstGeom>
          <a:noFill/>
        </p:spPr>
        <p:txBody>
          <a:bodyPr wrap="none" lIns="0" tIns="0" rIns="0" bIns="0" anchor="ctr">
            <a:spAutoFit/>
          </a:bodyPr>
          <a:lstStyle/>
          <a:p>
            <a:pPr algn="l"/>
            <a:r>
              <a:rPr sz="1200" b="1" i="0">
                <a:solidFill>
                  <a:srgbClr val="C8102E"/>
                </a:solidFill>
                <a:latin typeface="Lato"/>
              </a:rPr>
              <a:t>Northeastern</a:t>
            </a:r>
          </a:p>
        </p:txBody>
      </p:sp>
      <p:sp>
        <p:nvSpPr>
          <p:cNvPr id="37" name="TextBox 36"/>
          <p:cNvSpPr txBox="1"/>
          <p:nvPr/>
        </p:nvSpPr>
        <p:spPr>
          <a:xfrm>
            <a:off x="10478593" y="3343676"/>
            <a:ext cx="830275" cy="155448"/>
          </a:xfrm>
          <a:prstGeom prst="rect">
            <a:avLst/>
          </a:prstGeom>
          <a:noFill/>
        </p:spPr>
        <p:txBody>
          <a:bodyPr wrap="none" lIns="0" tIns="0" rIns="0" bIns="0" anchor="ctr">
            <a:spAutoFit/>
          </a:bodyPr>
          <a:lstStyle/>
          <a:p>
            <a:pPr algn="l"/>
            <a:r>
              <a:rPr sz="900" b="0" i="0">
                <a:solidFill>
                  <a:srgbClr val="2B2B2B"/>
                </a:solidFill>
                <a:latin typeface="Lato"/>
              </a:rPr>
              <a:t>Johns Hopkins</a:t>
            </a:r>
          </a:p>
        </p:txBody>
      </p:sp>
      <p:sp>
        <p:nvSpPr>
          <p:cNvPr id="38" name="TextBox 37"/>
          <p:cNvSpPr txBox="1"/>
          <p:nvPr/>
        </p:nvSpPr>
        <p:spPr>
          <a:xfrm>
            <a:off x="9298975" y="2656714"/>
            <a:ext cx="950976" cy="155448"/>
          </a:xfrm>
          <a:prstGeom prst="rect">
            <a:avLst/>
          </a:prstGeom>
          <a:noFill/>
        </p:spPr>
        <p:txBody>
          <a:bodyPr wrap="none" lIns="0" tIns="0" rIns="0" bIns="0" anchor="ctr">
            <a:spAutoFit/>
          </a:bodyPr>
          <a:lstStyle/>
          <a:p>
            <a:pPr algn="l"/>
            <a:r>
              <a:rPr sz="900" b="0" i="0">
                <a:solidFill>
                  <a:srgbClr val="2B2B2B"/>
                </a:solidFill>
                <a:latin typeface="Lato"/>
              </a:rPr>
              <a:t>U. Pennsylvania</a:t>
            </a:r>
          </a:p>
        </p:txBody>
      </p:sp>
      <p:sp>
        <p:nvSpPr>
          <p:cNvPr id="39" name="TextBox 38"/>
          <p:cNvSpPr txBox="1"/>
          <p:nvPr/>
        </p:nvSpPr>
        <p:spPr>
          <a:xfrm>
            <a:off x="8576437" y="3676003"/>
            <a:ext cx="528523" cy="155448"/>
          </a:xfrm>
          <a:prstGeom prst="rect">
            <a:avLst/>
          </a:prstGeom>
          <a:noFill/>
        </p:spPr>
        <p:txBody>
          <a:bodyPr wrap="none" lIns="0" tIns="0" rIns="0" bIns="0" anchor="ctr">
            <a:spAutoFit/>
          </a:bodyPr>
          <a:lstStyle/>
          <a:p>
            <a:pPr algn="l"/>
            <a:r>
              <a:rPr sz="900" b="0" i="0">
                <a:solidFill>
                  <a:srgbClr val="2B2B2B"/>
                </a:solidFill>
                <a:latin typeface="Lato"/>
              </a:rPr>
              <a:t>Stanford</a:t>
            </a:r>
          </a:p>
        </p:txBody>
      </p:sp>
      <p:sp>
        <p:nvSpPr>
          <p:cNvPr id="40" name="TextBox 39"/>
          <p:cNvSpPr txBox="1"/>
          <p:nvPr/>
        </p:nvSpPr>
        <p:spPr>
          <a:xfrm>
            <a:off x="7898387" y="3522473"/>
            <a:ext cx="468172" cy="155448"/>
          </a:xfrm>
          <a:prstGeom prst="rect">
            <a:avLst/>
          </a:prstGeom>
          <a:noFill/>
        </p:spPr>
        <p:txBody>
          <a:bodyPr wrap="none" lIns="0" tIns="0" rIns="0" bIns="0" anchor="ctr">
            <a:spAutoFit/>
          </a:bodyPr>
          <a:lstStyle/>
          <a:p>
            <a:pPr algn="l"/>
            <a:r>
              <a:rPr sz="900" b="0" i="0">
                <a:solidFill>
                  <a:srgbClr val="2B2B2B"/>
                </a:solidFill>
                <a:latin typeface="Lato"/>
              </a:rPr>
              <a:t>Cornell</a:t>
            </a:r>
          </a:p>
        </p:txBody>
      </p:sp>
      <p:sp>
        <p:nvSpPr>
          <p:cNvPr id="41" name="TextBox 40"/>
          <p:cNvSpPr txBox="1"/>
          <p:nvPr/>
        </p:nvSpPr>
        <p:spPr>
          <a:xfrm>
            <a:off x="8477592" y="3946568"/>
            <a:ext cx="287121" cy="155448"/>
          </a:xfrm>
          <a:prstGeom prst="rect">
            <a:avLst/>
          </a:prstGeom>
          <a:noFill/>
        </p:spPr>
        <p:txBody>
          <a:bodyPr wrap="none" lIns="0" tIns="0" rIns="0" bIns="0" anchor="ctr">
            <a:spAutoFit/>
          </a:bodyPr>
          <a:lstStyle/>
          <a:p>
            <a:pPr algn="l"/>
            <a:r>
              <a:rPr sz="900" b="0" i="0">
                <a:solidFill>
                  <a:srgbClr val="2B2B2B"/>
                </a:solidFill>
                <a:latin typeface="Lato"/>
              </a:rPr>
              <a:t>Duke</a:t>
            </a:r>
          </a:p>
        </p:txBody>
      </p:sp>
      <p:sp>
        <p:nvSpPr>
          <p:cNvPr id="42" name="TextBox 41"/>
          <p:cNvSpPr txBox="1"/>
          <p:nvPr/>
        </p:nvSpPr>
        <p:spPr>
          <a:xfrm>
            <a:off x="8375089" y="3347643"/>
            <a:ext cx="287121" cy="155448"/>
          </a:xfrm>
          <a:prstGeom prst="rect">
            <a:avLst/>
          </a:prstGeom>
          <a:noFill/>
        </p:spPr>
        <p:txBody>
          <a:bodyPr wrap="none" lIns="0" tIns="0" rIns="0" bIns="0" anchor="ctr">
            <a:spAutoFit/>
          </a:bodyPr>
          <a:lstStyle/>
          <a:p>
            <a:pPr algn="l"/>
            <a:r>
              <a:rPr sz="900" b="0" i="0">
                <a:solidFill>
                  <a:srgbClr val="2B2B2B"/>
                </a:solidFill>
                <a:latin typeface="Lato"/>
              </a:rPr>
              <a:t>Yale</a:t>
            </a:r>
          </a:p>
        </p:txBody>
      </p:sp>
      <p:sp>
        <p:nvSpPr>
          <p:cNvPr id="43" name="TextBox 42"/>
          <p:cNvSpPr txBox="1"/>
          <p:nvPr/>
        </p:nvSpPr>
        <p:spPr>
          <a:xfrm>
            <a:off x="8342418" y="2432368"/>
            <a:ext cx="528523" cy="155448"/>
          </a:xfrm>
          <a:prstGeom prst="rect">
            <a:avLst/>
          </a:prstGeom>
          <a:noFill/>
        </p:spPr>
        <p:txBody>
          <a:bodyPr wrap="none" lIns="0" tIns="0" rIns="0" bIns="0" anchor="ctr">
            <a:spAutoFit/>
          </a:bodyPr>
          <a:lstStyle/>
          <a:p>
            <a:pPr algn="l"/>
            <a:r>
              <a:rPr sz="900" b="0" i="0">
                <a:solidFill>
                  <a:srgbClr val="2B2B2B"/>
                </a:solidFill>
                <a:latin typeface="Lato"/>
              </a:rPr>
              <a:t>New York</a:t>
            </a:r>
          </a:p>
        </p:txBody>
      </p:sp>
      <p:sp>
        <p:nvSpPr>
          <p:cNvPr id="44" name="TextBox 43"/>
          <p:cNvSpPr txBox="1"/>
          <p:nvPr/>
        </p:nvSpPr>
        <p:spPr>
          <a:xfrm>
            <a:off x="7723561" y="3969226"/>
            <a:ext cx="468172" cy="155448"/>
          </a:xfrm>
          <a:prstGeom prst="rect">
            <a:avLst/>
          </a:prstGeom>
          <a:noFill/>
        </p:spPr>
        <p:txBody>
          <a:bodyPr wrap="none" lIns="0" tIns="0" rIns="0" bIns="0" anchor="ctr">
            <a:spAutoFit/>
          </a:bodyPr>
          <a:lstStyle/>
          <a:p>
            <a:pPr algn="l"/>
            <a:r>
              <a:rPr sz="900" b="0" i="0">
                <a:solidFill>
                  <a:srgbClr val="2B2B2B"/>
                </a:solidFill>
                <a:latin typeface="Lato"/>
              </a:rPr>
              <a:t>Harvard</a:t>
            </a:r>
          </a:p>
        </p:txBody>
      </p:sp>
      <p:sp>
        <p:nvSpPr>
          <p:cNvPr id="45" name="TextBox 44"/>
          <p:cNvSpPr txBox="1"/>
          <p:nvPr/>
        </p:nvSpPr>
        <p:spPr>
          <a:xfrm>
            <a:off x="7558986" y="3794300"/>
            <a:ext cx="528523" cy="155448"/>
          </a:xfrm>
          <a:prstGeom prst="rect">
            <a:avLst/>
          </a:prstGeom>
          <a:noFill/>
        </p:spPr>
        <p:txBody>
          <a:bodyPr wrap="none" lIns="0" tIns="0" rIns="0" bIns="0" anchor="ctr">
            <a:spAutoFit/>
          </a:bodyPr>
          <a:lstStyle/>
          <a:p>
            <a:pPr algn="l"/>
            <a:r>
              <a:rPr sz="900" b="0" i="0">
                <a:solidFill>
                  <a:srgbClr val="2B2B2B"/>
                </a:solidFill>
                <a:latin typeface="Lato"/>
              </a:rPr>
              <a:t>Columbia</a:t>
            </a:r>
          </a:p>
        </p:txBody>
      </p:sp>
      <p:cxnSp>
        <p:nvCxnSpPr>
          <p:cNvPr id="46" name="Connector 45"/>
          <p:cNvCxnSpPr/>
          <p:nvPr/>
        </p:nvCxnSpPr>
        <p:spPr>
          <a:xfrm flipH="1">
            <a:off x="7667377" y="3455524"/>
            <a:ext cx="210312" cy="0"/>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018153" y="3377800"/>
            <a:ext cx="649224" cy="155448"/>
          </a:xfrm>
          <a:prstGeom prst="rect">
            <a:avLst/>
          </a:prstGeom>
          <a:noFill/>
        </p:spPr>
        <p:txBody>
          <a:bodyPr wrap="none" lIns="0" tIns="0" rIns="0" bIns="0" anchor="ctr">
            <a:spAutoFit/>
          </a:bodyPr>
          <a:lstStyle/>
          <a:p>
            <a:pPr algn="l"/>
            <a:r>
              <a:rPr sz="900" b="0" i="0">
                <a:solidFill>
                  <a:srgbClr val="2B2B2B"/>
                </a:solidFill>
                <a:latin typeface="Lato"/>
              </a:rPr>
              <a:t>Vanderbilt</a:t>
            </a:r>
          </a:p>
        </p:txBody>
      </p:sp>
      <p:cxnSp>
        <p:nvCxnSpPr>
          <p:cNvPr id="48" name="Connector 47"/>
          <p:cNvCxnSpPr/>
          <p:nvPr/>
        </p:nvCxnSpPr>
        <p:spPr>
          <a:xfrm flipV="1">
            <a:off x="7859097" y="3391723"/>
            <a:ext cx="146764" cy="146764"/>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005861" y="3236275"/>
            <a:ext cx="226771" cy="155448"/>
          </a:xfrm>
          <a:prstGeom prst="rect">
            <a:avLst/>
          </a:prstGeom>
          <a:noFill/>
        </p:spPr>
        <p:txBody>
          <a:bodyPr wrap="none" lIns="0" tIns="0" rIns="0" bIns="0" anchor="ctr">
            <a:spAutoFit/>
          </a:bodyPr>
          <a:lstStyle/>
          <a:p>
            <a:pPr algn="l"/>
            <a:r>
              <a:rPr sz="900" b="0" i="0">
                <a:solidFill>
                  <a:srgbClr val="2B2B2B"/>
                </a:solidFill>
                <a:latin typeface="Lato"/>
              </a:rPr>
              <a:t>USC</a:t>
            </a:r>
          </a:p>
        </p:txBody>
      </p:sp>
      <p:cxnSp>
        <p:nvCxnSpPr>
          <p:cNvPr id="50" name="Connector 49"/>
          <p:cNvCxnSpPr/>
          <p:nvPr/>
        </p:nvCxnSpPr>
        <p:spPr>
          <a:xfrm flipV="1">
            <a:off x="7800759" y="2943399"/>
            <a:ext cx="0" cy="438912"/>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15796" y="2787951"/>
            <a:ext cx="769924" cy="155448"/>
          </a:xfrm>
          <a:prstGeom prst="rect">
            <a:avLst/>
          </a:prstGeom>
          <a:noFill/>
        </p:spPr>
        <p:txBody>
          <a:bodyPr wrap="none" lIns="0" tIns="0" rIns="0" bIns="0" anchor="ctr">
            <a:spAutoFit/>
          </a:bodyPr>
          <a:lstStyle/>
          <a:p>
            <a:pPr algn="l"/>
            <a:r>
              <a:rPr sz="900" b="0" i="0">
                <a:solidFill>
                  <a:srgbClr val="2B2B2B"/>
                </a:solidFill>
                <a:latin typeface="Lato"/>
              </a:rPr>
              <a:t>Northwestern</a:t>
            </a:r>
          </a:p>
        </p:txBody>
      </p:sp>
      <p:sp>
        <p:nvSpPr>
          <p:cNvPr id="52" name="TextBox 51"/>
          <p:cNvSpPr txBox="1"/>
          <p:nvPr/>
        </p:nvSpPr>
        <p:spPr>
          <a:xfrm>
            <a:off x="7859466" y="3044218"/>
            <a:ext cx="347472" cy="155448"/>
          </a:xfrm>
          <a:prstGeom prst="rect">
            <a:avLst/>
          </a:prstGeom>
          <a:noFill/>
        </p:spPr>
        <p:txBody>
          <a:bodyPr wrap="none" lIns="0" tIns="0" rIns="0" bIns="0" anchor="ctr">
            <a:spAutoFit/>
          </a:bodyPr>
          <a:lstStyle/>
          <a:p>
            <a:pPr algn="l"/>
            <a:r>
              <a:rPr sz="900" b="0" i="0">
                <a:solidFill>
                  <a:srgbClr val="2B2B2B"/>
                </a:solidFill>
                <a:latin typeface="Lato"/>
              </a:rPr>
              <a:t>Emory</a:t>
            </a:r>
          </a:p>
        </p:txBody>
      </p:sp>
      <p:sp>
        <p:nvSpPr>
          <p:cNvPr id="53" name="TextBox 52"/>
          <p:cNvSpPr txBox="1"/>
          <p:nvPr/>
        </p:nvSpPr>
        <p:spPr>
          <a:xfrm>
            <a:off x="7365000" y="3602422"/>
            <a:ext cx="347472" cy="155448"/>
          </a:xfrm>
          <a:prstGeom prst="rect">
            <a:avLst/>
          </a:prstGeom>
          <a:noFill/>
        </p:spPr>
        <p:txBody>
          <a:bodyPr wrap="none" lIns="0" tIns="0" rIns="0" bIns="0" anchor="ctr">
            <a:spAutoFit/>
          </a:bodyPr>
          <a:lstStyle/>
          <a:p>
            <a:pPr algn="l"/>
            <a:r>
              <a:rPr sz="900" b="0" i="0">
                <a:solidFill>
                  <a:srgbClr val="2B2B2B"/>
                </a:solidFill>
                <a:latin typeface="Lato"/>
              </a:rPr>
              <a:t>WashU</a:t>
            </a:r>
          </a:p>
        </p:txBody>
      </p:sp>
      <p:sp>
        <p:nvSpPr>
          <p:cNvPr id="54" name="TextBox 53"/>
          <p:cNvSpPr txBox="1"/>
          <p:nvPr/>
        </p:nvSpPr>
        <p:spPr>
          <a:xfrm>
            <a:off x="7451340" y="4547033"/>
            <a:ext cx="226771" cy="155448"/>
          </a:xfrm>
          <a:prstGeom prst="rect">
            <a:avLst/>
          </a:prstGeom>
          <a:noFill/>
        </p:spPr>
        <p:txBody>
          <a:bodyPr wrap="none" lIns="0" tIns="0" rIns="0" bIns="0" anchor="ctr">
            <a:spAutoFit/>
          </a:bodyPr>
          <a:lstStyle/>
          <a:p>
            <a:pPr algn="l"/>
            <a:r>
              <a:rPr sz="900" b="0" i="0">
                <a:solidFill>
                  <a:srgbClr val="2B2B2B"/>
                </a:solidFill>
                <a:latin typeface="Lato"/>
              </a:rPr>
              <a:t>MIT</a:t>
            </a:r>
          </a:p>
        </p:txBody>
      </p:sp>
      <p:sp>
        <p:nvSpPr>
          <p:cNvPr id="55" name="TextBox 54"/>
          <p:cNvSpPr txBox="1"/>
          <p:nvPr/>
        </p:nvSpPr>
        <p:spPr>
          <a:xfrm>
            <a:off x="6114824" y="2952511"/>
            <a:ext cx="1071676" cy="155448"/>
          </a:xfrm>
          <a:prstGeom prst="rect">
            <a:avLst/>
          </a:prstGeom>
          <a:noFill/>
        </p:spPr>
        <p:txBody>
          <a:bodyPr wrap="none" lIns="0" tIns="0" rIns="0" bIns="0" anchor="ctr">
            <a:spAutoFit/>
          </a:bodyPr>
          <a:lstStyle/>
          <a:p>
            <a:pPr algn="l"/>
            <a:r>
              <a:rPr sz="900" b="0" i="0">
                <a:solidFill>
                  <a:srgbClr val="2B2B2B"/>
                </a:solidFill>
                <a:latin typeface="Lato"/>
              </a:rPr>
              <a:t>Icahn Mount Sinai</a:t>
            </a:r>
          </a:p>
        </p:txBody>
      </p:sp>
      <p:sp>
        <p:nvSpPr>
          <p:cNvPr id="56" name="TextBox 55"/>
          <p:cNvSpPr txBox="1"/>
          <p:nvPr/>
        </p:nvSpPr>
        <p:spPr>
          <a:xfrm>
            <a:off x="6429517" y="3749796"/>
            <a:ext cx="890625" cy="155448"/>
          </a:xfrm>
          <a:prstGeom prst="rect">
            <a:avLst/>
          </a:prstGeom>
          <a:noFill/>
        </p:spPr>
        <p:txBody>
          <a:bodyPr wrap="none" lIns="0" tIns="0" rIns="0" bIns="0" anchor="ctr">
            <a:spAutoFit/>
          </a:bodyPr>
          <a:lstStyle/>
          <a:p>
            <a:pPr algn="l"/>
            <a:r>
              <a:rPr sz="900" b="0" i="0">
                <a:solidFill>
                  <a:srgbClr val="2B2B2B"/>
                </a:solidFill>
                <a:latin typeface="Lato"/>
              </a:rPr>
              <a:t>Baylor C. Med.</a:t>
            </a:r>
          </a:p>
        </p:txBody>
      </p:sp>
      <p:sp>
        <p:nvSpPr>
          <p:cNvPr id="57" name="TextBox 56"/>
          <p:cNvSpPr txBox="1"/>
          <p:nvPr/>
        </p:nvSpPr>
        <p:spPr>
          <a:xfrm>
            <a:off x="6654116" y="3150359"/>
            <a:ext cx="407822" cy="155448"/>
          </a:xfrm>
          <a:prstGeom prst="rect">
            <a:avLst/>
          </a:prstGeom>
          <a:noFill/>
        </p:spPr>
        <p:txBody>
          <a:bodyPr wrap="none" lIns="0" tIns="0" rIns="0" bIns="0" anchor="ctr">
            <a:spAutoFit/>
          </a:bodyPr>
          <a:lstStyle/>
          <a:p>
            <a:pPr algn="l"/>
            <a:r>
              <a:rPr sz="900" b="0" i="0">
                <a:solidFill>
                  <a:srgbClr val="2B2B2B"/>
                </a:solidFill>
                <a:latin typeface="Lato"/>
              </a:rPr>
              <a:t>Boston</a:t>
            </a:r>
          </a:p>
        </p:txBody>
      </p:sp>
      <p:sp>
        <p:nvSpPr>
          <p:cNvPr id="58" name="TextBox 57"/>
          <p:cNvSpPr txBox="1"/>
          <p:nvPr/>
        </p:nvSpPr>
        <p:spPr>
          <a:xfrm>
            <a:off x="5471695" y="3630477"/>
            <a:ext cx="649224" cy="155448"/>
          </a:xfrm>
          <a:prstGeom prst="rect">
            <a:avLst/>
          </a:prstGeom>
          <a:noFill/>
        </p:spPr>
        <p:txBody>
          <a:bodyPr wrap="none" lIns="0" tIns="0" rIns="0" bIns="0" anchor="ctr">
            <a:spAutoFit/>
          </a:bodyPr>
          <a:lstStyle/>
          <a:p>
            <a:pPr algn="l"/>
            <a:r>
              <a:rPr sz="900" b="0" i="0">
                <a:solidFill>
                  <a:srgbClr val="2B2B2B"/>
                </a:solidFill>
                <a:latin typeface="Lato"/>
              </a:rPr>
              <a:t>U. Chicago</a:t>
            </a:r>
          </a:p>
        </p:txBody>
      </p:sp>
      <p:sp>
        <p:nvSpPr>
          <p:cNvPr id="59" name="TextBox 58"/>
          <p:cNvSpPr txBox="1"/>
          <p:nvPr/>
        </p:nvSpPr>
        <p:spPr>
          <a:xfrm>
            <a:off x="6135216" y="3933108"/>
            <a:ext cx="769924" cy="155448"/>
          </a:xfrm>
          <a:prstGeom prst="rect">
            <a:avLst/>
          </a:prstGeom>
          <a:noFill/>
        </p:spPr>
        <p:txBody>
          <a:bodyPr wrap="none" lIns="0" tIns="0" rIns="0" bIns="0" anchor="ctr">
            <a:spAutoFit/>
          </a:bodyPr>
          <a:lstStyle/>
          <a:p>
            <a:pPr algn="l"/>
            <a:r>
              <a:rPr sz="900" b="0" i="0">
                <a:solidFill>
                  <a:srgbClr val="2B2B2B"/>
                </a:solidFill>
                <a:latin typeface="Lato"/>
              </a:rPr>
              <a:t>Case Western</a:t>
            </a:r>
          </a:p>
        </p:txBody>
      </p:sp>
      <p:sp>
        <p:nvSpPr>
          <p:cNvPr id="60" name="TextBox 59"/>
          <p:cNvSpPr txBox="1"/>
          <p:nvPr/>
        </p:nvSpPr>
        <p:spPr>
          <a:xfrm>
            <a:off x="5079731" y="3810104"/>
            <a:ext cx="528523" cy="155448"/>
          </a:xfrm>
          <a:prstGeom prst="rect">
            <a:avLst/>
          </a:prstGeom>
          <a:noFill/>
        </p:spPr>
        <p:txBody>
          <a:bodyPr wrap="none" lIns="0" tIns="0" rIns="0" bIns="0" anchor="ctr">
            <a:spAutoFit/>
          </a:bodyPr>
          <a:lstStyle/>
          <a:p>
            <a:pPr algn="l"/>
            <a:r>
              <a:rPr sz="900" b="0" i="0">
                <a:solidFill>
                  <a:srgbClr val="2B2B2B"/>
                </a:solidFill>
                <a:latin typeface="Lato"/>
              </a:rPr>
              <a:t>U. Miami</a:t>
            </a:r>
          </a:p>
        </p:txBody>
      </p:sp>
      <p:sp>
        <p:nvSpPr>
          <p:cNvPr id="61" name="TextBox 60"/>
          <p:cNvSpPr txBox="1"/>
          <p:nvPr/>
        </p:nvSpPr>
        <p:spPr>
          <a:xfrm>
            <a:off x="5771035" y="3423387"/>
            <a:ext cx="588873" cy="155448"/>
          </a:xfrm>
          <a:prstGeom prst="rect">
            <a:avLst/>
          </a:prstGeom>
          <a:noFill/>
        </p:spPr>
        <p:txBody>
          <a:bodyPr wrap="none" lIns="0" tIns="0" rIns="0" bIns="0" anchor="ctr">
            <a:spAutoFit/>
          </a:bodyPr>
          <a:lstStyle/>
          <a:p>
            <a:pPr algn="l"/>
            <a:r>
              <a:rPr sz="900" b="0" i="0">
                <a:solidFill>
                  <a:srgbClr val="2B2B2B"/>
                </a:solidFill>
                <a:latin typeface="Lato"/>
              </a:rPr>
              <a:t>Princeton</a:t>
            </a:r>
          </a:p>
        </p:txBody>
      </p:sp>
      <p:sp>
        <p:nvSpPr>
          <p:cNvPr id="62" name="TextBox 61"/>
          <p:cNvSpPr txBox="1"/>
          <p:nvPr/>
        </p:nvSpPr>
        <p:spPr>
          <a:xfrm>
            <a:off x="4952011" y="3133810"/>
            <a:ext cx="950976" cy="155448"/>
          </a:xfrm>
          <a:prstGeom prst="rect">
            <a:avLst/>
          </a:prstGeom>
          <a:noFill/>
        </p:spPr>
        <p:txBody>
          <a:bodyPr wrap="none" lIns="0" tIns="0" rIns="0" bIns="0" anchor="ctr">
            <a:spAutoFit/>
          </a:bodyPr>
          <a:lstStyle/>
          <a:p>
            <a:pPr algn="l"/>
            <a:r>
              <a:rPr sz="900" b="0" i="0">
                <a:solidFill>
                  <a:srgbClr val="2B2B2B"/>
                </a:solidFill>
                <a:latin typeface="Lato"/>
              </a:rPr>
              <a:t>Carnegie Mellon</a:t>
            </a:r>
          </a:p>
        </p:txBody>
      </p:sp>
      <p:sp>
        <p:nvSpPr>
          <p:cNvPr id="63" name="TextBox 62"/>
          <p:cNvSpPr txBox="1"/>
          <p:nvPr/>
        </p:nvSpPr>
        <p:spPr>
          <a:xfrm>
            <a:off x="5490183" y="4316940"/>
            <a:ext cx="1011326" cy="155448"/>
          </a:xfrm>
          <a:prstGeom prst="rect">
            <a:avLst/>
          </a:prstGeom>
          <a:noFill/>
        </p:spPr>
        <p:txBody>
          <a:bodyPr wrap="none" lIns="0" tIns="0" rIns="0" bIns="0" anchor="ctr">
            <a:spAutoFit/>
          </a:bodyPr>
          <a:lstStyle/>
          <a:p>
            <a:pPr algn="l"/>
            <a:r>
              <a:rPr sz="900" b="0" i="0">
                <a:solidFill>
                  <a:srgbClr val="2B2B2B"/>
                </a:solidFill>
                <a:latin typeface="Lato"/>
              </a:rPr>
              <a:t>Scripps Research</a:t>
            </a:r>
          </a:p>
        </p:txBody>
      </p:sp>
      <p:sp>
        <p:nvSpPr>
          <p:cNvPr id="64" name="TextBox 63"/>
          <p:cNvSpPr txBox="1"/>
          <p:nvPr/>
        </p:nvSpPr>
        <p:spPr>
          <a:xfrm>
            <a:off x="5442552" y="4155190"/>
            <a:ext cx="769924" cy="155448"/>
          </a:xfrm>
          <a:prstGeom prst="rect">
            <a:avLst/>
          </a:prstGeom>
          <a:noFill/>
        </p:spPr>
        <p:txBody>
          <a:bodyPr wrap="none" lIns="0" tIns="0" rIns="0" bIns="0" anchor="ctr">
            <a:spAutoFit/>
          </a:bodyPr>
          <a:lstStyle/>
          <a:p>
            <a:pPr algn="l"/>
            <a:r>
              <a:rPr sz="900" b="0" i="0">
                <a:solidFill>
                  <a:srgbClr val="2B2B2B"/>
                </a:solidFill>
                <a:latin typeface="Lato"/>
              </a:rPr>
              <a:t>U. Rochester</a:t>
            </a:r>
          </a:p>
        </p:txBody>
      </p:sp>
      <p:sp>
        <p:nvSpPr>
          <p:cNvPr id="65" name="TextBox 64"/>
          <p:cNvSpPr txBox="1"/>
          <p:nvPr/>
        </p:nvSpPr>
        <p:spPr>
          <a:xfrm>
            <a:off x="5180344" y="4473064"/>
            <a:ext cx="468172" cy="155448"/>
          </a:xfrm>
          <a:prstGeom prst="rect">
            <a:avLst/>
          </a:prstGeom>
          <a:noFill/>
        </p:spPr>
        <p:txBody>
          <a:bodyPr wrap="none" lIns="0" tIns="0" rIns="0" bIns="0" anchor="ctr">
            <a:spAutoFit/>
          </a:bodyPr>
          <a:lstStyle/>
          <a:p>
            <a:pPr algn="l"/>
            <a:r>
              <a:rPr sz="900" b="0" i="0">
                <a:solidFill>
                  <a:srgbClr val="2B2B2B"/>
                </a:solidFill>
                <a:latin typeface="Lato"/>
              </a:rPr>
              <a:t>Caltech</a:t>
            </a:r>
          </a:p>
        </p:txBody>
      </p:sp>
      <p:sp>
        <p:nvSpPr>
          <p:cNvPr id="66" name="TextBox 65"/>
          <p:cNvSpPr txBox="1"/>
          <p:nvPr/>
        </p:nvSpPr>
        <p:spPr>
          <a:xfrm>
            <a:off x="4642402" y="3505579"/>
            <a:ext cx="588873" cy="155448"/>
          </a:xfrm>
          <a:prstGeom prst="rect">
            <a:avLst/>
          </a:prstGeom>
          <a:noFill/>
        </p:spPr>
        <p:txBody>
          <a:bodyPr wrap="none" lIns="0" tIns="0" rIns="0" bIns="0" anchor="ctr">
            <a:spAutoFit/>
          </a:bodyPr>
          <a:lstStyle/>
          <a:p>
            <a:pPr algn="l"/>
            <a:r>
              <a:rPr sz="900" b="0" i="0">
                <a:solidFill>
                  <a:srgbClr val="2B2B2B"/>
                </a:solidFill>
                <a:latin typeface="Lato"/>
              </a:rPr>
              <a:t>Dartmouth</a:t>
            </a:r>
          </a:p>
        </p:txBody>
      </p:sp>
      <p:sp>
        <p:nvSpPr>
          <p:cNvPr id="67" name="TextBox 66"/>
          <p:cNvSpPr txBox="1"/>
          <p:nvPr/>
        </p:nvSpPr>
        <p:spPr>
          <a:xfrm>
            <a:off x="3567699" y="3864165"/>
            <a:ext cx="1071676" cy="155448"/>
          </a:xfrm>
          <a:prstGeom prst="rect">
            <a:avLst/>
          </a:prstGeom>
          <a:noFill/>
        </p:spPr>
        <p:txBody>
          <a:bodyPr wrap="none" lIns="0" tIns="0" rIns="0" bIns="0" anchor="ctr">
            <a:spAutoFit/>
          </a:bodyPr>
          <a:lstStyle/>
          <a:p>
            <a:pPr algn="l"/>
            <a:r>
              <a:rPr sz="900" b="0" i="0">
                <a:solidFill>
                  <a:srgbClr val="2B2B2B"/>
                </a:solidFill>
                <a:latin typeface="Lato"/>
              </a:rPr>
              <a:t>George Washington</a:t>
            </a:r>
          </a:p>
        </p:txBody>
      </p:sp>
      <p:sp>
        <p:nvSpPr>
          <p:cNvPr id="68" name="TextBox 67"/>
          <p:cNvSpPr txBox="1"/>
          <p:nvPr/>
        </p:nvSpPr>
        <p:spPr>
          <a:xfrm>
            <a:off x="3931267" y="3100140"/>
            <a:ext cx="649224" cy="155448"/>
          </a:xfrm>
          <a:prstGeom prst="rect">
            <a:avLst/>
          </a:prstGeom>
          <a:noFill/>
        </p:spPr>
        <p:txBody>
          <a:bodyPr wrap="none" lIns="0" tIns="0" rIns="0" bIns="0" anchor="ctr">
            <a:spAutoFit/>
          </a:bodyPr>
          <a:lstStyle/>
          <a:p>
            <a:pPr algn="l"/>
            <a:r>
              <a:rPr sz="900" b="0" i="0">
                <a:solidFill>
                  <a:srgbClr val="2B2B2B"/>
                </a:solidFill>
                <a:latin typeface="Lato"/>
              </a:rPr>
              <a:t>Georgetown</a:t>
            </a:r>
          </a:p>
        </p:txBody>
      </p:sp>
      <p:sp>
        <p:nvSpPr>
          <p:cNvPr id="69" name="TextBox 68"/>
          <p:cNvSpPr txBox="1"/>
          <p:nvPr/>
        </p:nvSpPr>
        <p:spPr>
          <a:xfrm>
            <a:off x="4730560" y="4700066"/>
            <a:ext cx="347472" cy="155448"/>
          </a:xfrm>
          <a:prstGeom prst="rect">
            <a:avLst/>
          </a:prstGeom>
          <a:noFill/>
        </p:spPr>
        <p:txBody>
          <a:bodyPr wrap="none" lIns="0" tIns="0" rIns="0" bIns="0" anchor="ctr">
            <a:spAutoFit/>
          </a:bodyPr>
          <a:lstStyle/>
          <a:p>
            <a:pPr algn="l"/>
            <a:r>
              <a:rPr sz="900" b="0" i="0">
                <a:solidFill>
                  <a:srgbClr val="2B2B2B"/>
                </a:solidFill>
                <a:latin typeface="Lato"/>
              </a:rPr>
              <a:t>Brown</a:t>
            </a:r>
          </a:p>
        </p:txBody>
      </p:sp>
      <p:cxnSp>
        <p:nvCxnSpPr>
          <p:cNvPr id="70" name="Connector 69"/>
          <p:cNvCxnSpPr/>
          <p:nvPr/>
        </p:nvCxnSpPr>
        <p:spPr>
          <a:xfrm>
            <a:off x="4592982" y="3675033"/>
            <a:ext cx="306784" cy="306784"/>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4899766" y="3981817"/>
            <a:ext cx="1071676" cy="155448"/>
          </a:xfrm>
          <a:prstGeom prst="rect">
            <a:avLst/>
          </a:prstGeom>
          <a:noFill/>
        </p:spPr>
        <p:txBody>
          <a:bodyPr wrap="none" lIns="0" tIns="0" rIns="0" bIns="0" anchor="ctr">
            <a:spAutoFit/>
          </a:bodyPr>
          <a:lstStyle/>
          <a:p>
            <a:pPr algn="l"/>
            <a:r>
              <a:rPr sz="900" b="0" i="0">
                <a:solidFill>
                  <a:srgbClr val="2B2B2B"/>
                </a:solidFill>
                <a:latin typeface="Lato"/>
              </a:rPr>
              <a:t>Med. C. Wisconsin</a:t>
            </a:r>
          </a:p>
        </p:txBody>
      </p:sp>
      <p:cxnSp>
        <p:nvCxnSpPr>
          <p:cNvPr id="72" name="Connector 71"/>
          <p:cNvCxnSpPr/>
          <p:nvPr/>
        </p:nvCxnSpPr>
        <p:spPr>
          <a:xfrm flipV="1">
            <a:off x="4440708" y="3007204"/>
            <a:ext cx="0" cy="438912"/>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4025570" y="2851756"/>
            <a:ext cx="830275" cy="155448"/>
          </a:xfrm>
          <a:prstGeom prst="rect">
            <a:avLst/>
          </a:prstGeom>
          <a:noFill/>
        </p:spPr>
        <p:txBody>
          <a:bodyPr wrap="none" lIns="0" tIns="0" rIns="0" bIns="0" anchor="ctr">
            <a:spAutoFit/>
          </a:bodyPr>
          <a:lstStyle/>
          <a:p>
            <a:pPr algn="l"/>
            <a:r>
              <a:rPr sz="900" b="0" i="0">
                <a:solidFill>
                  <a:srgbClr val="2B2B2B"/>
                </a:solidFill>
                <a:latin typeface="Lato"/>
              </a:rPr>
              <a:t>U. Notre Dame</a:t>
            </a:r>
          </a:p>
        </p:txBody>
      </p:sp>
      <p:cxnSp>
        <p:nvCxnSpPr>
          <p:cNvPr id="74" name="Connector 73"/>
          <p:cNvCxnSpPr/>
          <p:nvPr/>
        </p:nvCxnSpPr>
        <p:spPr>
          <a:xfrm flipH="1">
            <a:off x="3699584" y="3441310"/>
            <a:ext cx="667512" cy="0"/>
          </a:xfrm>
          <a:prstGeom prst="line">
            <a:avLst/>
          </a:prstGeom>
          <a:ln w="6350">
            <a:solidFill>
              <a:srgbClr val="6B6B70"/>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2990009" y="3363586"/>
            <a:ext cx="709574" cy="155448"/>
          </a:xfrm>
          <a:prstGeom prst="rect">
            <a:avLst/>
          </a:prstGeom>
          <a:noFill/>
        </p:spPr>
        <p:txBody>
          <a:bodyPr wrap="none" lIns="0" tIns="0" rIns="0" bIns="0" anchor="ctr">
            <a:spAutoFit/>
          </a:bodyPr>
          <a:lstStyle/>
          <a:p>
            <a:pPr algn="l"/>
            <a:r>
              <a:rPr sz="900" b="0" i="0">
                <a:solidFill>
                  <a:srgbClr val="2B2B2B"/>
                </a:solidFill>
                <a:latin typeface="Lato"/>
              </a:rPr>
              <a:t>Wake Forest</a:t>
            </a:r>
          </a:p>
        </p:txBody>
      </p:sp>
      <p:sp>
        <p:nvSpPr>
          <p:cNvPr id="76" name="TextBox 75"/>
          <p:cNvSpPr txBox="1"/>
          <p:nvPr/>
        </p:nvSpPr>
        <p:spPr>
          <a:xfrm>
            <a:off x="4223888" y="4142293"/>
            <a:ext cx="649224" cy="155448"/>
          </a:xfrm>
          <a:prstGeom prst="rect">
            <a:avLst/>
          </a:prstGeom>
          <a:noFill/>
        </p:spPr>
        <p:txBody>
          <a:bodyPr wrap="none" lIns="0" tIns="0" rIns="0" bIns="0" anchor="ctr">
            <a:spAutoFit/>
          </a:bodyPr>
          <a:lstStyle/>
          <a:p>
            <a:pPr algn="l"/>
            <a:r>
              <a:rPr sz="900" b="0" i="0">
                <a:solidFill>
                  <a:srgbClr val="2B2B2B"/>
                </a:solidFill>
                <a:latin typeface="Lato"/>
              </a:rPr>
              <a:t>Woods Hole</a:t>
            </a:r>
          </a:p>
        </p:txBody>
      </p:sp>
      <p:sp>
        <p:nvSpPr>
          <p:cNvPr id="77" name="TextBox 76"/>
          <p:cNvSpPr txBox="1"/>
          <p:nvPr/>
        </p:nvSpPr>
        <p:spPr>
          <a:xfrm>
            <a:off x="4198951" y="4985569"/>
            <a:ext cx="709574" cy="155448"/>
          </a:xfrm>
          <a:prstGeom prst="rect">
            <a:avLst/>
          </a:prstGeom>
          <a:noFill/>
        </p:spPr>
        <p:txBody>
          <a:bodyPr wrap="none" lIns="0" tIns="0" rIns="0" bIns="0" anchor="ctr">
            <a:spAutoFit/>
          </a:bodyPr>
          <a:lstStyle/>
          <a:p>
            <a:pPr algn="l"/>
            <a:r>
              <a:rPr sz="900" b="0" i="0">
                <a:solidFill>
                  <a:srgbClr val="2B2B2B"/>
                </a:solidFill>
                <a:latin typeface="Lato"/>
              </a:rPr>
              <a:t>Rockefeller</a:t>
            </a:r>
          </a:p>
        </p:txBody>
      </p:sp>
      <p:sp>
        <p:nvSpPr>
          <p:cNvPr id="78" name="TextBox 77"/>
          <p:cNvSpPr txBox="1"/>
          <p:nvPr/>
        </p:nvSpPr>
        <p:spPr>
          <a:xfrm>
            <a:off x="3958055" y="3650363"/>
            <a:ext cx="347472" cy="155448"/>
          </a:xfrm>
          <a:prstGeom prst="rect">
            <a:avLst/>
          </a:prstGeom>
          <a:noFill/>
        </p:spPr>
        <p:txBody>
          <a:bodyPr wrap="none" lIns="0" tIns="0" rIns="0" bIns="0" anchor="ctr">
            <a:spAutoFit/>
          </a:bodyPr>
          <a:lstStyle/>
          <a:p>
            <a:pPr algn="l"/>
            <a:r>
              <a:rPr sz="900" b="0" i="0">
                <a:solidFill>
                  <a:srgbClr val="2B2B2B"/>
                </a:solidFill>
                <a:latin typeface="Lato"/>
              </a:rPr>
              <a:t>Tufts</a:t>
            </a:r>
          </a:p>
        </p:txBody>
      </p:sp>
      <p:sp>
        <p:nvSpPr>
          <p:cNvPr id="79" name="TextBox 78"/>
          <p:cNvSpPr txBox="1"/>
          <p:nvPr/>
        </p:nvSpPr>
        <p:spPr>
          <a:xfrm>
            <a:off x="3952243" y="3301928"/>
            <a:ext cx="287121" cy="155448"/>
          </a:xfrm>
          <a:prstGeom prst="rect">
            <a:avLst/>
          </a:prstGeom>
          <a:noFill/>
        </p:spPr>
        <p:txBody>
          <a:bodyPr wrap="none" lIns="0" tIns="0" rIns="0" bIns="0" anchor="ctr">
            <a:spAutoFit/>
          </a:bodyPr>
          <a:lstStyle/>
          <a:p>
            <a:pPr algn="l"/>
            <a:r>
              <a:rPr sz="900" b="0" i="0">
                <a:solidFill>
                  <a:srgbClr val="2B2B2B"/>
                </a:solidFill>
                <a:latin typeface="Lato"/>
              </a:rPr>
              <a:t>Rice</a:t>
            </a:r>
          </a:p>
        </p:txBody>
      </p:sp>
      <p:sp>
        <p:nvSpPr>
          <p:cNvPr id="80" name="TextBox 79"/>
          <p:cNvSpPr txBox="1"/>
          <p:nvPr/>
        </p:nvSpPr>
        <p:spPr>
          <a:xfrm>
            <a:off x="3362926" y="3626579"/>
            <a:ext cx="407822" cy="155448"/>
          </a:xfrm>
          <a:prstGeom prst="rect">
            <a:avLst/>
          </a:prstGeom>
          <a:noFill/>
        </p:spPr>
        <p:txBody>
          <a:bodyPr wrap="none" lIns="0" tIns="0" rIns="0" bIns="0" anchor="ctr">
            <a:spAutoFit/>
          </a:bodyPr>
          <a:lstStyle/>
          <a:p>
            <a:pPr algn="l"/>
            <a:r>
              <a:rPr sz="900" b="0" i="0">
                <a:solidFill>
                  <a:srgbClr val="2B2B2B"/>
                </a:solidFill>
                <a:latin typeface="Lato"/>
              </a:rPr>
              <a:t>Tulane</a:t>
            </a:r>
          </a:p>
        </p:txBody>
      </p:sp>
      <p:sp>
        <p:nvSpPr>
          <p:cNvPr id="81" name="TextBox 80"/>
          <p:cNvSpPr txBox="1"/>
          <p:nvPr/>
        </p:nvSpPr>
        <p:spPr>
          <a:xfrm>
            <a:off x="2714837" y="2980640"/>
            <a:ext cx="1011326" cy="155448"/>
          </a:xfrm>
          <a:prstGeom prst="rect">
            <a:avLst/>
          </a:prstGeom>
          <a:noFill/>
        </p:spPr>
        <p:txBody>
          <a:bodyPr wrap="none" lIns="0" tIns="0" rIns="0" bIns="0" anchor="ctr">
            <a:spAutoFit/>
          </a:bodyPr>
          <a:lstStyle/>
          <a:p>
            <a:pPr algn="l"/>
            <a:r>
              <a:rPr sz="900" b="0" i="0">
                <a:solidFill>
                  <a:srgbClr val="2B2B2B"/>
                </a:solidFill>
                <a:latin typeface="Lato"/>
              </a:rPr>
              <a:t>Thomas Jefferson</a:t>
            </a:r>
          </a:p>
        </p:txBody>
      </p:sp>
      <p:sp>
        <p:nvSpPr>
          <p:cNvPr id="82" name="TextBox 81"/>
          <p:cNvSpPr txBox="1"/>
          <p:nvPr/>
        </p:nvSpPr>
        <p:spPr>
          <a:xfrm>
            <a:off x="3705254" y="2397483"/>
            <a:ext cx="588873" cy="155448"/>
          </a:xfrm>
          <a:prstGeom prst="rect">
            <a:avLst/>
          </a:prstGeom>
          <a:noFill/>
        </p:spPr>
        <p:txBody>
          <a:bodyPr wrap="none" lIns="0" tIns="0" rIns="0" bIns="0" anchor="ctr">
            <a:spAutoFit/>
          </a:bodyPr>
          <a:lstStyle/>
          <a:p>
            <a:pPr algn="l"/>
            <a:r>
              <a:rPr sz="900" b="0" i="0">
                <a:solidFill>
                  <a:srgbClr val="2B2B2B"/>
                </a:solidFill>
                <a:latin typeface="Lato"/>
              </a:rPr>
              <a:t>U. Dayton</a:t>
            </a:r>
          </a:p>
        </p:txBody>
      </p:sp>
      <p:sp>
        <p:nvSpPr>
          <p:cNvPr id="83" name="TextBox 82"/>
          <p:cNvSpPr txBox="1"/>
          <p:nvPr/>
        </p:nvSpPr>
        <p:spPr>
          <a:xfrm>
            <a:off x="2388933" y="2321702"/>
            <a:ext cx="528523" cy="155448"/>
          </a:xfrm>
          <a:prstGeom prst="rect">
            <a:avLst/>
          </a:prstGeom>
          <a:noFill/>
        </p:spPr>
        <p:txBody>
          <a:bodyPr wrap="none" lIns="0" tIns="0" rIns="0" bIns="0" anchor="ctr">
            <a:spAutoFit/>
          </a:bodyPr>
          <a:lstStyle/>
          <a:p>
            <a:pPr algn="l"/>
            <a:r>
              <a:rPr sz="900" b="0" i="0">
                <a:solidFill>
                  <a:srgbClr val="2B2B2B"/>
                </a:solidFill>
                <a:latin typeface="Lato"/>
              </a:rPr>
              <a:t>Syracuse</a:t>
            </a:r>
          </a:p>
        </p:txBody>
      </p:sp>
      <p:sp>
        <p:nvSpPr>
          <p:cNvPr id="84" name="TextBox 83"/>
          <p:cNvSpPr txBox="1"/>
          <p:nvPr/>
        </p:nvSpPr>
        <p:spPr>
          <a:xfrm>
            <a:off x="2678623" y="4318301"/>
            <a:ext cx="407822" cy="155448"/>
          </a:xfrm>
          <a:prstGeom prst="rect">
            <a:avLst/>
          </a:prstGeom>
          <a:noFill/>
        </p:spPr>
        <p:txBody>
          <a:bodyPr wrap="none" lIns="0" tIns="0" rIns="0" bIns="0" anchor="ctr">
            <a:spAutoFit/>
          </a:bodyPr>
          <a:lstStyle/>
          <a:p>
            <a:pPr algn="l"/>
            <a:r>
              <a:rPr sz="900" b="0" i="0">
                <a:solidFill>
                  <a:srgbClr val="2B2B2B"/>
                </a:solidFill>
                <a:latin typeface="Lato"/>
              </a:rPr>
              <a:t>Drexel</a:t>
            </a:r>
          </a:p>
        </p:txBody>
      </p:sp>
      <p:sp>
        <p:nvSpPr>
          <p:cNvPr id="85" name="TextBox 84"/>
          <p:cNvSpPr txBox="1"/>
          <p:nvPr/>
        </p:nvSpPr>
        <p:spPr>
          <a:xfrm>
            <a:off x="2490259" y="1492221"/>
            <a:ext cx="226771" cy="155448"/>
          </a:xfrm>
          <a:prstGeom prst="rect">
            <a:avLst/>
          </a:prstGeom>
          <a:noFill/>
        </p:spPr>
        <p:txBody>
          <a:bodyPr wrap="none" lIns="0" tIns="0" rIns="0" bIns="0" anchor="ctr">
            <a:spAutoFit/>
          </a:bodyPr>
          <a:lstStyle/>
          <a:p>
            <a:pPr algn="l"/>
            <a:r>
              <a:rPr sz="900" b="0" i="0">
                <a:solidFill>
                  <a:srgbClr val="2B2B2B"/>
                </a:solidFill>
                <a:latin typeface="Lato"/>
              </a:rPr>
              <a:t>BYU</a:t>
            </a:r>
          </a:p>
        </p:txBody>
      </p:sp>
      <p:sp>
        <p:nvSpPr>
          <p:cNvPr id="86" name="TextBox 85"/>
          <p:cNvSpPr txBox="1"/>
          <p:nvPr/>
        </p:nvSpPr>
        <p:spPr>
          <a:xfrm>
            <a:off x="2174879" y="4265271"/>
            <a:ext cx="226771" cy="155448"/>
          </a:xfrm>
          <a:prstGeom prst="rect">
            <a:avLst/>
          </a:prstGeom>
          <a:noFill/>
        </p:spPr>
        <p:txBody>
          <a:bodyPr wrap="none" lIns="0" tIns="0" rIns="0" bIns="0" anchor="ctr">
            <a:spAutoFit/>
          </a:bodyPr>
          <a:lstStyle/>
          <a:p>
            <a:pPr algn="l"/>
            <a:r>
              <a:rPr sz="900" b="0" i="0">
                <a:solidFill>
                  <a:srgbClr val="2B2B2B"/>
                </a:solidFill>
                <a:latin typeface="Lato"/>
              </a:rPr>
              <a:t>RPI</a:t>
            </a:r>
          </a:p>
        </p:txBody>
      </p:sp>
      <p:sp>
        <p:nvSpPr>
          <p:cNvPr id="87" name="TextBox 86"/>
          <p:cNvSpPr txBox="1"/>
          <p:nvPr/>
        </p:nvSpPr>
        <p:spPr>
          <a:xfrm>
            <a:off x="2157156" y="3651996"/>
            <a:ext cx="287121" cy="155448"/>
          </a:xfrm>
          <a:prstGeom prst="rect">
            <a:avLst/>
          </a:prstGeom>
          <a:noFill/>
        </p:spPr>
        <p:txBody>
          <a:bodyPr wrap="none" lIns="0" tIns="0" rIns="0" bIns="0" anchor="ctr">
            <a:spAutoFit/>
          </a:bodyPr>
          <a:lstStyle/>
          <a:p>
            <a:pPr algn="l"/>
            <a:r>
              <a:rPr sz="900" b="0" i="0">
                <a:solidFill>
                  <a:srgbClr val="2B2B2B"/>
                </a:solidFill>
                <a:latin typeface="Lato"/>
              </a:rPr>
              <a:t>Rush</a:t>
            </a:r>
          </a:p>
        </p:txBody>
      </p:sp>
      <p:sp>
        <p:nvSpPr>
          <p:cNvPr id="88" name="TextBox 87"/>
          <p:cNvSpPr txBox="1"/>
          <p:nvPr/>
        </p:nvSpPr>
        <p:spPr>
          <a:xfrm>
            <a:off x="1258180" y="3924193"/>
            <a:ext cx="1132027" cy="155448"/>
          </a:xfrm>
          <a:prstGeom prst="rect">
            <a:avLst/>
          </a:prstGeom>
          <a:noFill/>
        </p:spPr>
        <p:txBody>
          <a:bodyPr wrap="none" lIns="0" tIns="0" rIns="0" bIns="0" anchor="ctr">
            <a:spAutoFit/>
          </a:bodyPr>
          <a:lstStyle/>
          <a:p>
            <a:pPr algn="l"/>
            <a:r>
              <a:rPr sz="900" b="0" i="0">
                <a:solidFill>
                  <a:srgbClr val="2B2B2B"/>
                </a:solidFill>
                <a:latin typeface="Lato"/>
              </a:rPr>
              <a:t>Cold Spring Harbor</a:t>
            </a:r>
          </a:p>
        </p:txBody>
      </p:sp>
      <p:sp>
        <p:nvSpPr>
          <p:cNvPr id="89" name="TextBox 88"/>
          <p:cNvSpPr txBox="1"/>
          <p:nvPr/>
        </p:nvSpPr>
        <p:spPr>
          <a:xfrm>
            <a:off x="1472272" y="4098881"/>
            <a:ext cx="528523" cy="155448"/>
          </a:xfrm>
          <a:prstGeom prst="rect">
            <a:avLst/>
          </a:prstGeom>
          <a:noFill/>
        </p:spPr>
        <p:txBody>
          <a:bodyPr wrap="none" lIns="0" tIns="0" rIns="0" bIns="0" anchor="ctr">
            <a:spAutoFit/>
          </a:bodyPr>
          <a:lstStyle/>
          <a:p>
            <a:pPr algn="l"/>
            <a:r>
              <a:rPr sz="900" b="0" i="0">
                <a:solidFill>
                  <a:srgbClr val="2B2B2B"/>
                </a:solidFill>
                <a:latin typeface="Lato"/>
              </a:rPr>
              <a:t>Brandeis</a:t>
            </a:r>
          </a:p>
        </p:txBody>
      </p:sp>
      <p:sp>
        <p:nvSpPr>
          <p:cNvPr id="90" name="TextBox 89"/>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NSF NCSES, Higher Education Research and Development (HERD) Survey, FY 2024 (NSF 26-304)</a:t>
            </a:r>
          </a:p>
        </p:txBody>
      </p:sp>
      <p:sp>
        <p:nvSpPr>
          <p:cNvPr id="91" name="TextBox 90"/>
          <p:cNvSpPr txBox="1"/>
          <p:nvPr/>
        </p:nvSpPr>
        <p:spPr>
          <a:xfrm>
            <a:off x="457200" y="6281928"/>
            <a:ext cx="11274552" cy="118872"/>
          </a:xfrm>
          <a:prstGeom prst="rect">
            <a:avLst/>
          </a:prstGeom>
          <a:noFill/>
        </p:spPr>
        <p:txBody>
          <a:bodyPr wrap="square" lIns="0" rIns="0" tIns="0" bIns="0" anchor="b">
            <a:spAutoFit/>
          </a:bodyPr>
          <a:lstStyle/>
          <a:p>
            <a:pPr algn="l"/>
            <a:r>
              <a:rPr sz="700" b="0" i="0">
                <a:solidFill>
                  <a:srgbClr val="595959"/>
                </a:solidFill>
                <a:latin typeface="Lato"/>
              </a:rPr>
              <a:t>Note: Vertical axis capped at 16% (Baylor U., 20.6%, shown by arrow); horizontal axis is logarithmic. Johns Hopkins includes APL; Albert Einstein excluded (no FY 2014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87A6A-FFAC-952B-C6AC-99BDFF858F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C0C2D9-2972-2C4A-AE40-91AA8431CDCA}"/>
              </a:ext>
            </a:extLst>
          </p:cNvPr>
          <p:cNvSpPr txBox="1"/>
          <p:nvPr/>
        </p:nvSpPr>
        <p:spPr>
          <a:xfrm>
            <a:off x="457200" y="163678"/>
            <a:ext cx="11247120" cy="341568"/>
          </a:xfrm>
          <a:prstGeom prst="rect">
            <a:avLst/>
          </a:prstGeom>
          <a:noFill/>
        </p:spPr>
        <p:txBody>
          <a:bodyPr wrap="square" lIns="0" tIns="0" rIns="0" bIns="0">
            <a:noAutofit/>
          </a:bodyPr>
          <a:lstStyle/>
          <a:p>
            <a:pPr algn="l">
              <a:lnSpc>
                <a:spcPct val="105000"/>
              </a:lnSpc>
            </a:pPr>
            <a:r>
              <a:rPr sz="2300" b="1">
                <a:solidFill>
                  <a:srgbClr val="000000"/>
                </a:solidFill>
                <a:latin typeface="Lato"/>
              </a:rPr>
              <a:t>Enrollment, net tuition and tuition discount by student group</a:t>
            </a:r>
          </a:p>
        </p:txBody>
      </p:sp>
      <p:sp>
        <p:nvSpPr>
          <p:cNvPr id="3" name="TextBox 2">
            <a:extLst>
              <a:ext uri="{FF2B5EF4-FFF2-40B4-BE49-F238E27FC236}">
                <a16:creationId xmlns:a16="http://schemas.microsoft.com/office/drawing/2014/main" id="{CF0A5A3D-70C1-48F6-86C1-11E45F1CBC30}"/>
              </a:ext>
            </a:extLst>
          </p:cNvPr>
          <p:cNvSpPr txBox="1"/>
          <p:nvPr/>
        </p:nvSpPr>
        <p:spPr>
          <a:xfrm>
            <a:off x="457200" y="694318"/>
            <a:ext cx="11338560" cy="176972"/>
          </a:xfrm>
          <a:prstGeom prst="rect">
            <a:avLst/>
          </a:prstGeom>
          <a:noFill/>
        </p:spPr>
        <p:txBody>
          <a:bodyPr wrap="square" lIns="0" tIns="0" rIns="0" bIns="0">
            <a:spAutoFit/>
          </a:bodyPr>
          <a:lstStyle/>
          <a:p>
            <a:pPr algn="l"/>
            <a:r>
              <a:rPr sz="1150" b="0">
                <a:solidFill>
                  <a:srgbClr val="49494D"/>
                </a:solidFill>
                <a:latin typeface="Lato"/>
              </a:rPr>
              <a:t>Undergraduate, professional graduate and JD/PhD  ·  FY20 – FY27  ·  1 October snapshots; FY27 = low scenario</a:t>
            </a:r>
          </a:p>
        </p:txBody>
      </p:sp>
      <p:sp>
        <p:nvSpPr>
          <p:cNvPr id="53" name="Rectangle 52">
            <a:extLst>
              <a:ext uri="{FF2B5EF4-FFF2-40B4-BE49-F238E27FC236}">
                <a16:creationId xmlns:a16="http://schemas.microsoft.com/office/drawing/2014/main" id="{591DA18A-DDCF-9F2B-848F-4A72C5AA8DFB}"/>
              </a:ext>
            </a:extLst>
          </p:cNvPr>
          <p:cNvSpPr/>
          <p:nvPr/>
        </p:nvSpPr>
        <p:spPr>
          <a:xfrm>
            <a:off x="502920" y="1042416"/>
            <a:ext cx="118872" cy="11887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a:endParaRPr>
          </a:p>
        </p:txBody>
      </p:sp>
      <p:sp>
        <p:nvSpPr>
          <p:cNvPr id="54" name="TextBox 53">
            <a:extLst>
              <a:ext uri="{FF2B5EF4-FFF2-40B4-BE49-F238E27FC236}">
                <a16:creationId xmlns:a16="http://schemas.microsoft.com/office/drawing/2014/main" id="{6F4BE29A-A809-F944-88EF-93D4B831BC11}"/>
              </a:ext>
            </a:extLst>
          </p:cNvPr>
          <p:cNvSpPr txBox="1"/>
          <p:nvPr/>
        </p:nvSpPr>
        <p:spPr>
          <a:xfrm>
            <a:off x="685800" y="1005840"/>
            <a:ext cx="2011680" cy="201168"/>
          </a:xfrm>
          <a:prstGeom prst="rect">
            <a:avLst/>
          </a:prstGeom>
          <a:noFill/>
        </p:spPr>
        <p:txBody>
          <a:bodyPr wrap="square" lIns="0" tIns="0" rIns="0" bIns="0" anchor="t">
            <a:spAutoFit/>
          </a:bodyPr>
          <a:lstStyle/>
          <a:p>
            <a:pPr algn="l"/>
            <a:r>
              <a:rPr sz="1100" b="0">
                <a:solidFill>
                  <a:srgbClr val="49494D"/>
                </a:solidFill>
                <a:latin typeface="Lato"/>
              </a:rPr>
              <a:t>Undergraduate</a:t>
            </a:r>
          </a:p>
        </p:txBody>
      </p:sp>
      <p:sp>
        <p:nvSpPr>
          <p:cNvPr id="55" name="Rectangle 54">
            <a:extLst>
              <a:ext uri="{FF2B5EF4-FFF2-40B4-BE49-F238E27FC236}">
                <a16:creationId xmlns:a16="http://schemas.microsoft.com/office/drawing/2014/main" id="{5D128B72-9A6A-040A-1B65-6DB983772888}"/>
              </a:ext>
            </a:extLst>
          </p:cNvPr>
          <p:cNvSpPr/>
          <p:nvPr/>
        </p:nvSpPr>
        <p:spPr>
          <a:xfrm>
            <a:off x="2016252" y="1042416"/>
            <a:ext cx="118872" cy="118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a:endParaRPr>
          </a:p>
        </p:txBody>
      </p:sp>
      <p:sp>
        <p:nvSpPr>
          <p:cNvPr id="56" name="TextBox 55">
            <a:extLst>
              <a:ext uri="{FF2B5EF4-FFF2-40B4-BE49-F238E27FC236}">
                <a16:creationId xmlns:a16="http://schemas.microsoft.com/office/drawing/2014/main" id="{060B6D03-2B0A-2D6F-05AB-7D3D1AF7B1F3}"/>
              </a:ext>
            </a:extLst>
          </p:cNvPr>
          <p:cNvSpPr txBox="1"/>
          <p:nvPr/>
        </p:nvSpPr>
        <p:spPr>
          <a:xfrm>
            <a:off x="2199132" y="1005840"/>
            <a:ext cx="2011680" cy="201168"/>
          </a:xfrm>
          <a:prstGeom prst="rect">
            <a:avLst/>
          </a:prstGeom>
          <a:noFill/>
        </p:spPr>
        <p:txBody>
          <a:bodyPr wrap="square" lIns="0" tIns="0" rIns="0" bIns="0" anchor="t">
            <a:spAutoFit/>
          </a:bodyPr>
          <a:lstStyle/>
          <a:p>
            <a:pPr algn="l"/>
            <a:r>
              <a:rPr sz="1100" b="0">
                <a:solidFill>
                  <a:srgbClr val="49494D"/>
                </a:solidFill>
                <a:latin typeface="Lato"/>
              </a:rPr>
              <a:t>Professional Graduate</a:t>
            </a:r>
          </a:p>
        </p:txBody>
      </p:sp>
      <p:sp>
        <p:nvSpPr>
          <p:cNvPr id="57" name="Rectangle 56">
            <a:extLst>
              <a:ext uri="{FF2B5EF4-FFF2-40B4-BE49-F238E27FC236}">
                <a16:creationId xmlns:a16="http://schemas.microsoft.com/office/drawing/2014/main" id="{ECD9A0F6-F46A-7940-A88C-C4563F295B3C}"/>
              </a:ext>
            </a:extLst>
          </p:cNvPr>
          <p:cNvSpPr/>
          <p:nvPr/>
        </p:nvSpPr>
        <p:spPr>
          <a:xfrm>
            <a:off x="4151376" y="1042416"/>
            <a:ext cx="118872" cy="118872"/>
          </a:xfrm>
          <a:prstGeom prst="rect">
            <a:avLst/>
          </a:prstGeom>
          <a:solidFill>
            <a:srgbClr val="9B9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a:endParaRPr>
          </a:p>
        </p:txBody>
      </p:sp>
      <p:sp>
        <p:nvSpPr>
          <p:cNvPr id="58" name="TextBox 57">
            <a:extLst>
              <a:ext uri="{FF2B5EF4-FFF2-40B4-BE49-F238E27FC236}">
                <a16:creationId xmlns:a16="http://schemas.microsoft.com/office/drawing/2014/main" id="{7DE34966-5C1F-6588-C629-6C2A80E03F72}"/>
              </a:ext>
            </a:extLst>
          </p:cNvPr>
          <p:cNvSpPr txBox="1"/>
          <p:nvPr/>
        </p:nvSpPr>
        <p:spPr>
          <a:xfrm>
            <a:off x="4334256" y="1005840"/>
            <a:ext cx="2011680" cy="201168"/>
          </a:xfrm>
          <a:prstGeom prst="rect">
            <a:avLst/>
          </a:prstGeom>
          <a:noFill/>
        </p:spPr>
        <p:txBody>
          <a:bodyPr wrap="square" lIns="0" tIns="0" rIns="0" bIns="0" anchor="t">
            <a:spAutoFit/>
          </a:bodyPr>
          <a:lstStyle/>
          <a:p>
            <a:pPr algn="l"/>
            <a:r>
              <a:rPr sz="1100" b="0">
                <a:solidFill>
                  <a:srgbClr val="49494D"/>
                </a:solidFill>
                <a:latin typeface="Lato"/>
              </a:rPr>
              <a:t>JD/PhD</a:t>
            </a:r>
          </a:p>
        </p:txBody>
      </p:sp>
      <p:sp>
        <p:nvSpPr>
          <p:cNvPr id="59" name="TextBox 58">
            <a:extLst>
              <a:ext uri="{FF2B5EF4-FFF2-40B4-BE49-F238E27FC236}">
                <a16:creationId xmlns:a16="http://schemas.microsoft.com/office/drawing/2014/main" id="{3262CF0D-EC25-D608-8580-BC6AD81698DE}"/>
              </a:ext>
            </a:extLst>
          </p:cNvPr>
          <p:cNvSpPr txBox="1"/>
          <p:nvPr/>
        </p:nvSpPr>
        <p:spPr>
          <a:xfrm>
            <a:off x="502920" y="1371600"/>
            <a:ext cx="3310128" cy="274320"/>
          </a:xfrm>
          <a:prstGeom prst="rect">
            <a:avLst/>
          </a:prstGeom>
          <a:noFill/>
        </p:spPr>
        <p:txBody>
          <a:bodyPr wrap="square" lIns="0" tIns="0" rIns="0" bIns="0" anchor="t">
            <a:spAutoFit/>
          </a:bodyPr>
          <a:lstStyle/>
          <a:p>
            <a:pPr algn="l"/>
            <a:r>
              <a:rPr sz="1600" b="1">
                <a:solidFill>
                  <a:srgbClr val="000000"/>
                </a:solidFill>
                <a:latin typeface="Lato"/>
              </a:rPr>
              <a:t>Degree-seeking enrollment</a:t>
            </a:r>
          </a:p>
        </p:txBody>
      </p:sp>
      <p:sp>
        <p:nvSpPr>
          <p:cNvPr id="60" name="TextBox 59">
            <a:extLst>
              <a:ext uri="{FF2B5EF4-FFF2-40B4-BE49-F238E27FC236}">
                <a16:creationId xmlns:a16="http://schemas.microsoft.com/office/drawing/2014/main" id="{E7FE629B-55CB-7C0A-8EFE-F8998D19348F}"/>
              </a:ext>
            </a:extLst>
          </p:cNvPr>
          <p:cNvSpPr txBox="1"/>
          <p:nvPr/>
        </p:nvSpPr>
        <p:spPr>
          <a:xfrm>
            <a:off x="502920" y="1645920"/>
            <a:ext cx="3310128" cy="201168"/>
          </a:xfrm>
          <a:prstGeom prst="rect">
            <a:avLst/>
          </a:prstGeom>
          <a:noFill/>
        </p:spPr>
        <p:txBody>
          <a:bodyPr wrap="square" lIns="0" tIns="0" rIns="0" bIns="0" anchor="t">
            <a:spAutoFit/>
          </a:bodyPr>
          <a:lstStyle/>
          <a:p>
            <a:pPr algn="l"/>
            <a:r>
              <a:rPr sz="1100" b="0">
                <a:solidFill>
                  <a:srgbClr val="6E6F73"/>
                </a:solidFill>
                <a:latin typeface="Lato"/>
              </a:rPr>
              <a:t>Students (thousands)</a:t>
            </a:r>
          </a:p>
        </p:txBody>
      </p:sp>
      <p:sp>
        <p:nvSpPr>
          <p:cNvPr id="61" name="TextBox 60">
            <a:extLst>
              <a:ext uri="{FF2B5EF4-FFF2-40B4-BE49-F238E27FC236}">
                <a16:creationId xmlns:a16="http://schemas.microsoft.com/office/drawing/2014/main" id="{259FCA63-9679-73AD-081A-16A5DB59BD62}"/>
              </a:ext>
            </a:extLst>
          </p:cNvPr>
          <p:cNvSpPr txBox="1"/>
          <p:nvPr/>
        </p:nvSpPr>
        <p:spPr>
          <a:xfrm>
            <a:off x="4178808" y="1371600"/>
            <a:ext cx="3310128" cy="274320"/>
          </a:xfrm>
          <a:prstGeom prst="rect">
            <a:avLst/>
          </a:prstGeom>
          <a:noFill/>
        </p:spPr>
        <p:txBody>
          <a:bodyPr wrap="square" lIns="0" tIns="0" rIns="0" bIns="0" anchor="t">
            <a:spAutoFit/>
          </a:bodyPr>
          <a:lstStyle/>
          <a:p>
            <a:pPr algn="l"/>
            <a:r>
              <a:rPr sz="1600" b="1">
                <a:solidFill>
                  <a:srgbClr val="000000"/>
                </a:solidFill>
                <a:latin typeface="Lato"/>
              </a:rPr>
              <a:t>Net tuition revenue</a:t>
            </a:r>
          </a:p>
        </p:txBody>
      </p:sp>
      <p:sp>
        <p:nvSpPr>
          <p:cNvPr id="62" name="TextBox 61">
            <a:extLst>
              <a:ext uri="{FF2B5EF4-FFF2-40B4-BE49-F238E27FC236}">
                <a16:creationId xmlns:a16="http://schemas.microsoft.com/office/drawing/2014/main" id="{A705E87B-2856-784E-9FC4-91C16C100FB3}"/>
              </a:ext>
            </a:extLst>
          </p:cNvPr>
          <p:cNvSpPr txBox="1"/>
          <p:nvPr/>
        </p:nvSpPr>
        <p:spPr>
          <a:xfrm>
            <a:off x="4144223" y="1645920"/>
            <a:ext cx="3310128" cy="201168"/>
          </a:xfrm>
          <a:prstGeom prst="rect">
            <a:avLst/>
          </a:prstGeom>
          <a:noFill/>
        </p:spPr>
        <p:txBody>
          <a:bodyPr wrap="square" lIns="0" tIns="0" rIns="0" bIns="0" anchor="t">
            <a:spAutoFit/>
          </a:bodyPr>
          <a:lstStyle/>
          <a:p>
            <a:pPr algn="l"/>
            <a:r>
              <a:rPr sz="1100" b="0">
                <a:solidFill>
                  <a:srgbClr val="6E6F73"/>
                </a:solidFill>
                <a:latin typeface="Lato"/>
              </a:rPr>
              <a:t>$ millions · management reporting, not GAAP</a:t>
            </a:r>
          </a:p>
        </p:txBody>
      </p:sp>
      <p:sp>
        <p:nvSpPr>
          <p:cNvPr id="63" name="TextBox 62">
            <a:extLst>
              <a:ext uri="{FF2B5EF4-FFF2-40B4-BE49-F238E27FC236}">
                <a16:creationId xmlns:a16="http://schemas.microsoft.com/office/drawing/2014/main" id="{14C2F9AC-343F-D73D-6EB3-D03CB19BDE14}"/>
              </a:ext>
            </a:extLst>
          </p:cNvPr>
          <p:cNvSpPr txBox="1"/>
          <p:nvPr/>
        </p:nvSpPr>
        <p:spPr>
          <a:xfrm>
            <a:off x="7854696" y="1371600"/>
            <a:ext cx="3310128" cy="274320"/>
          </a:xfrm>
          <a:prstGeom prst="rect">
            <a:avLst/>
          </a:prstGeom>
          <a:noFill/>
        </p:spPr>
        <p:txBody>
          <a:bodyPr wrap="square" lIns="0" tIns="0" rIns="0" bIns="0" anchor="t">
            <a:spAutoFit/>
          </a:bodyPr>
          <a:lstStyle/>
          <a:p>
            <a:pPr algn="l"/>
            <a:r>
              <a:rPr sz="1600" b="1">
                <a:solidFill>
                  <a:srgbClr val="000000"/>
                </a:solidFill>
                <a:latin typeface="Lato"/>
              </a:rPr>
              <a:t>Tuition discount by year</a:t>
            </a:r>
          </a:p>
        </p:txBody>
      </p:sp>
      <p:sp>
        <p:nvSpPr>
          <p:cNvPr id="64" name="TextBox 63">
            <a:extLst>
              <a:ext uri="{FF2B5EF4-FFF2-40B4-BE49-F238E27FC236}">
                <a16:creationId xmlns:a16="http://schemas.microsoft.com/office/drawing/2014/main" id="{8874C390-8F1A-E1BF-191F-0196316FB57E}"/>
              </a:ext>
            </a:extLst>
          </p:cNvPr>
          <p:cNvSpPr txBox="1"/>
          <p:nvPr/>
        </p:nvSpPr>
        <p:spPr>
          <a:xfrm>
            <a:off x="7854696" y="1645920"/>
            <a:ext cx="3310128" cy="201168"/>
          </a:xfrm>
          <a:prstGeom prst="rect">
            <a:avLst/>
          </a:prstGeom>
          <a:noFill/>
        </p:spPr>
        <p:txBody>
          <a:bodyPr wrap="square" lIns="0" tIns="0" rIns="0" bIns="0" anchor="t">
            <a:spAutoFit/>
          </a:bodyPr>
          <a:lstStyle/>
          <a:p>
            <a:pPr algn="l"/>
            <a:r>
              <a:rPr sz="1100" b="0">
                <a:solidFill>
                  <a:srgbClr val="6E6F73"/>
                </a:solidFill>
                <a:latin typeface="Lato"/>
              </a:rPr>
              <a:t>Discount rate, % of gross tuition</a:t>
            </a:r>
          </a:p>
        </p:txBody>
      </p:sp>
      <p:graphicFrame>
        <p:nvGraphicFramePr>
          <p:cNvPr id="69" name="Chart 68">
            <a:extLst>
              <a:ext uri="{FF2B5EF4-FFF2-40B4-BE49-F238E27FC236}">
                <a16:creationId xmlns:a16="http://schemas.microsoft.com/office/drawing/2014/main" id="{887AC2EC-11E3-A08B-9452-D286FE7FA210}"/>
              </a:ext>
            </a:extLst>
          </p:cNvPr>
          <p:cNvGraphicFramePr>
            <a:graphicFrameLocks noGrp="1"/>
          </p:cNvGraphicFramePr>
          <p:nvPr/>
        </p:nvGraphicFramePr>
        <p:xfrm>
          <a:off x="457200" y="1901952"/>
          <a:ext cx="3355848" cy="28072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0" name="Chart 69">
            <a:extLst>
              <a:ext uri="{FF2B5EF4-FFF2-40B4-BE49-F238E27FC236}">
                <a16:creationId xmlns:a16="http://schemas.microsoft.com/office/drawing/2014/main" id="{536593C3-793D-DA1C-0614-1466FE68C47F}"/>
              </a:ext>
            </a:extLst>
          </p:cNvPr>
          <p:cNvGraphicFramePr>
            <a:graphicFrameLocks noGrp="1"/>
          </p:cNvGraphicFramePr>
          <p:nvPr/>
        </p:nvGraphicFramePr>
        <p:xfrm>
          <a:off x="4133088" y="1901952"/>
          <a:ext cx="3355848" cy="280720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1" name="Chart 70">
            <a:extLst>
              <a:ext uri="{FF2B5EF4-FFF2-40B4-BE49-F238E27FC236}">
                <a16:creationId xmlns:a16="http://schemas.microsoft.com/office/drawing/2014/main" id="{C355A5D2-05E2-CEE6-A603-948FE0270CA1}"/>
              </a:ext>
            </a:extLst>
          </p:cNvPr>
          <p:cNvGraphicFramePr>
            <a:graphicFrameLocks noGrp="1"/>
          </p:cNvGraphicFramePr>
          <p:nvPr/>
        </p:nvGraphicFramePr>
        <p:xfrm>
          <a:off x="7808976" y="1901952"/>
          <a:ext cx="3355848" cy="2807208"/>
        </p:xfrm>
        <a:graphic>
          <a:graphicData uri="http://schemas.openxmlformats.org/drawingml/2006/chart">
            <c:chart xmlns:c="http://schemas.openxmlformats.org/drawingml/2006/chart" xmlns:r="http://schemas.openxmlformats.org/officeDocument/2006/relationships" r:id="rId5"/>
          </a:graphicData>
        </a:graphic>
      </p:graphicFrame>
      <p:sp>
        <p:nvSpPr>
          <p:cNvPr id="72" name="TextBox 71">
            <a:extLst>
              <a:ext uri="{FF2B5EF4-FFF2-40B4-BE49-F238E27FC236}">
                <a16:creationId xmlns:a16="http://schemas.microsoft.com/office/drawing/2014/main" id="{316A1B30-83EA-D05A-6546-86755254E239}"/>
              </a:ext>
            </a:extLst>
          </p:cNvPr>
          <p:cNvSpPr txBox="1"/>
          <p:nvPr/>
        </p:nvSpPr>
        <p:spPr>
          <a:xfrm>
            <a:off x="502920" y="4864608"/>
            <a:ext cx="3310128" cy="1210588"/>
          </a:xfrm>
          <a:prstGeom prst="rect">
            <a:avLst/>
          </a:prstGeom>
          <a:noFill/>
        </p:spPr>
        <p:txBody>
          <a:bodyPr wrap="square" lIns="0" tIns="0" rIns="0" bIns="0">
            <a:spAutoFit/>
          </a:bodyPr>
          <a:lstStyle/>
          <a:p>
            <a:pPr marL="164592" indent="-164592">
              <a:spcAft>
                <a:spcPts val="400"/>
              </a:spcAft>
              <a:buFont typeface="Arial"/>
              <a:buChar char="•"/>
            </a:pPr>
            <a:r>
              <a:rPr sz="1200">
                <a:solidFill>
                  <a:srgbClr val="49494D"/>
                </a:solidFill>
                <a:latin typeface="Lato"/>
              </a:rPr>
              <a:t>Total enrollment dec</a:t>
            </a:r>
            <a:r>
              <a:rPr lang="en-US" sz="1200">
                <a:solidFill>
                  <a:srgbClr val="49494D"/>
                </a:solidFill>
                <a:latin typeface="Lato"/>
              </a:rPr>
              <a:t>reased</a:t>
            </a:r>
            <a:r>
              <a:rPr sz="1200">
                <a:solidFill>
                  <a:srgbClr val="49494D"/>
                </a:solidFill>
                <a:latin typeface="Lato"/>
              </a:rPr>
              <a:t> 7.</a:t>
            </a:r>
            <a:r>
              <a:rPr lang="en-US" sz="1200">
                <a:solidFill>
                  <a:srgbClr val="49494D"/>
                </a:solidFill>
                <a:latin typeface="Lato"/>
              </a:rPr>
              <a:t>2</a:t>
            </a:r>
            <a:r>
              <a:rPr sz="1200">
                <a:solidFill>
                  <a:srgbClr val="49494D"/>
                </a:solidFill>
                <a:latin typeface="Lato"/>
              </a:rPr>
              <a:t>% from FY25 to FY27</a:t>
            </a:r>
          </a:p>
          <a:p>
            <a:pPr marL="164592" indent="-164592">
              <a:spcAft>
                <a:spcPts val="400"/>
              </a:spcAft>
              <a:buFont typeface="Arial"/>
              <a:buChar char="•"/>
            </a:pPr>
            <a:r>
              <a:rPr sz="1200">
                <a:solidFill>
                  <a:srgbClr val="49494D"/>
                </a:solidFill>
                <a:latin typeface="Lato"/>
              </a:rPr>
              <a:t>Undergraduate increased </a:t>
            </a:r>
            <a:r>
              <a:rPr lang="en-US" sz="1200">
                <a:solidFill>
                  <a:srgbClr val="49494D"/>
                </a:solidFill>
                <a:latin typeface="Lato"/>
              </a:rPr>
              <a:t>7.8</a:t>
            </a:r>
            <a:r>
              <a:rPr sz="1200">
                <a:solidFill>
                  <a:srgbClr val="49494D"/>
                </a:solidFill>
                <a:latin typeface="Lato"/>
              </a:rPr>
              <a:t>% from FY25 to FY27</a:t>
            </a:r>
          </a:p>
          <a:p>
            <a:pPr marL="164592" indent="-164592">
              <a:spcAft>
                <a:spcPts val="400"/>
              </a:spcAft>
              <a:buFont typeface="Arial"/>
              <a:buChar char="•"/>
            </a:pPr>
            <a:r>
              <a:rPr sz="1200">
                <a:solidFill>
                  <a:srgbClr val="49494D"/>
                </a:solidFill>
                <a:latin typeface="Lato"/>
              </a:rPr>
              <a:t>Professional graduate decreased 2</a:t>
            </a:r>
            <a:r>
              <a:rPr lang="en-US" sz="1200">
                <a:solidFill>
                  <a:srgbClr val="49494D"/>
                </a:solidFill>
                <a:latin typeface="Lato"/>
              </a:rPr>
              <a:t>2.8</a:t>
            </a:r>
            <a:r>
              <a:rPr sz="1200">
                <a:solidFill>
                  <a:srgbClr val="49494D"/>
                </a:solidFill>
                <a:latin typeface="Lato"/>
              </a:rPr>
              <a:t>% from FY25 to FY27</a:t>
            </a:r>
          </a:p>
        </p:txBody>
      </p:sp>
      <p:sp>
        <p:nvSpPr>
          <p:cNvPr id="73" name="TextBox 72">
            <a:extLst>
              <a:ext uri="{FF2B5EF4-FFF2-40B4-BE49-F238E27FC236}">
                <a16:creationId xmlns:a16="http://schemas.microsoft.com/office/drawing/2014/main" id="{17A651BC-57E8-8DC0-135F-FE151B850336}"/>
              </a:ext>
            </a:extLst>
          </p:cNvPr>
          <p:cNvSpPr txBox="1"/>
          <p:nvPr/>
        </p:nvSpPr>
        <p:spPr>
          <a:xfrm>
            <a:off x="4178808" y="4864608"/>
            <a:ext cx="3471672" cy="1025922"/>
          </a:xfrm>
          <a:prstGeom prst="rect">
            <a:avLst/>
          </a:prstGeom>
          <a:noFill/>
        </p:spPr>
        <p:txBody>
          <a:bodyPr wrap="square" lIns="0" tIns="0" rIns="0" bIns="0">
            <a:spAutoFit/>
          </a:bodyPr>
          <a:lstStyle/>
          <a:p>
            <a:pPr marL="164592" indent="-164592">
              <a:spcAft>
                <a:spcPts val="400"/>
              </a:spcAft>
              <a:buFont typeface="Arial"/>
              <a:buChar char="•"/>
            </a:pPr>
            <a:r>
              <a:rPr lang="en-US" sz="1200">
                <a:solidFill>
                  <a:srgbClr val="49494D"/>
                </a:solidFill>
                <a:latin typeface="Lato"/>
              </a:rPr>
              <a:t>Total net tuition increased 0.4% from FY25 to FY27</a:t>
            </a:r>
          </a:p>
          <a:p>
            <a:pPr marL="164592" indent="-164592">
              <a:spcAft>
                <a:spcPts val="400"/>
              </a:spcAft>
              <a:buFont typeface="Arial"/>
              <a:buChar char="•"/>
            </a:pPr>
            <a:r>
              <a:rPr lang="en-US" sz="1200">
                <a:solidFill>
                  <a:srgbClr val="49494D"/>
                </a:solidFill>
                <a:latin typeface="Lato"/>
              </a:rPr>
              <a:t>Undergraduate increased 12.6% from FY25 to FY27</a:t>
            </a:r>
          </a:p>
          <a:p>
            <a:pPr marL="164592" indent="-164592">
              <a:spcAft>
                <a:spcPts val="400"/>
              </a:spcAft>
              <a:buFont typeface="Arial"/>
              <a:buChar char="•"/>
            </a:pPr>
            <a:r>
              <a:rPr lang="en-US" sz="1200">
                <a:solidFill>
                  <a:srgbClr val="49494D"/>
                </a:solidFill>
                <a:latin typeface="Lato"/>
              </a:rPr>
              <a:t>Professional graduate decreased by 28.4% from FY25 to FY27</a:t>
            </a:r>
          </a:p>
        </p:txBody>
      </p:sp>
      <p:sp>
        <p:nvSpPr>
          <p:cNvPr id="74" name="TextBox 73">
            <a:extLst>
              <a:ext uri="{FF2B5EF4-FFF2-40B4-BE49-F238E27FC236}">
                <a16:creationId xmlns:a16="http://schemas.microsoft.com/office/drawing/2014/main" id="{D1F30B51-6AE4-53F5-406A-49DC4CF516DE}"/>
              </a:ext>
            </a:extLst>
          </p:cNvPr>
          <p:cNvSpPr txBox="1"/>
          <p:nvPr/>
        </p:nvSpPr>
        <p:spPr>
          <a:xfrm>
            <a:off x="7996428" y="4864608"/>
            <a:ext cx="3310128" cy="1549142"/>
          </a:xfrm>
          <a:prstGeom prst="rect">
            <a:avLst/>
          </a:prstGeom>
          <a:noFill/>
        </p:spPr>
        <p:txBody>
          <a:bodyPr wrap="square" lIns="0" tIns="0" rIns="0" bIns="0">
            <a:spAutoFit/>
          </a:bodyPr>
          <a:lstStyle/>
          <a:p>
            <a:pPr>
              <a:spcAft>
                <a:spcPts val="400"/>
              </a:spcAft>
            </a:pPr>
            <a:r>
              <a:rPr lang="en-US" sz="1200">
                <a:solidFill>
                  <a:srgbClr val="49494D"/>
                </a:solidFill>
                <a:latin typeface="Lato"/>
              </a:rPr>
              <a:t>Drivers of higher discounts:</a:t>
            </a:r>
          </a:p>
          <a:p>
            <a:pPr marL="171450" indent="-171450">
              <a:spcAft>
                <a:spcPts val="400"/>
              </a:spcAft>
              <a:buFont typeface="Arial" panose="020B0604020202020204" pitchFamily="34" charset="0"/>
              <a:buChar char="•"/>
            </a:pPr>
            <a:r>
              <a:rPr lang="en-US" sz="1200">
                <a:solidFill>
                  <a:srgbClr val="49494D"/>
                </a:solidFill>
                <a:latin typeface="Lato"/>
              </a:rPr>
              <a:t>Decrease in international students</a:t>
            </a:r>
          </a:p>
          <a:p>
            <a:pPr marL="171450" indent="-171450">
              <a:spcAft>
                <a:spcPts val="400"/>
              </a:spcAft>
              <a:buFont typeface="Arial" panose="020B0604020202020204" pitchFamily="34" charset="0"/>
              <a:buChar char="•"/>
            </a:pPr>
            <a:r>
              <a:rPr lang="en-US" sz="1200">
                <a:solidFill>
                  <a:srgbClr val="49494D"/>
                </a:solidFill>
                <a:latin typeface="Lato"/>
              </a:rPr>
              <a:t>Decrease in NUin</a:t>
            </a:r>
          </a:p>
          <a:p>
            <a:pPr marL="171450" indent="-171450">
              <a:spcAft>
                <a:spcPts val="400"/>
              </a:spcAft>
              <a:buFont typeface="Arial" panose="020B0604020202020204" pitchFamily="34" charset="0"/>
              <a:buChar char="•"/>
            </a:pPr>
            <a:r>
              <a:rPr lang="en-US" sz="1200">
                <a:solidFill>
                  <a:srgbClr val="49494D"/>
                </a:solidFill>
                <a:latin typeface="Lato"/>
              </a:rPr>
              <a:t>Increase in Pell students and overall need</a:t>
            </a:r>
          </a:p>
          <a:p>
            <a:pPr marL="171450" indent="-171450">
              <a:spcAft>
                <a:spcPts val="400"/>
              </a:spcAft>
              <a:buFont typeface="Arial" panose="020B0604020202020204" pitchFamily="34" charset="0"/>
              <a:buChar char="•"/>
            </a:pPr>
            <a:r>
              <a:rPr lang="en-US" sz="1200">
                <a:solidFill>
                  <a:srgbClr val="49494D"/>
                </a:solidFill>
                <a:latin typeface="Lato"/>
              </a:rPr>
              <a:t>Increase merit appeals approved due to high discounting by competitors (e.g., Syracuse)</a:t>
            </a:r>
          </a:p>
          <a:p>
            <a:pPr marL="171450" indent="-171450">
              <a:spcAft>
                <a:spcPts val="400"/>
              </a:spcAft>
              <a:buFont typeface="Arial" panose="020B0604020202020204" pitchFamily="34" charset="0"/>
              <a:buChar char="•"/>
            </a:pPr>
            <a:endParaRPr sz="1200">
              <a:solidFill>
                <a:srgbClr val="49494D"/>
              </a:solidFill>
              <a:latin typeface="Lato"/>
            </a:endParaRPr>
          </a:p>
        </p:txBody>
      </p:sp>
      <p:sp>
        <p:nvSpPr>
          <p:cNvPr id="75" name="TextBox 74"/>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(enrollment): degree-seeking enrollment by reporting group, supplied 17 September 2026, Fall 2019 – Fall 2026; fiscal year ends June 30, so Fall 2019 = FY20 … Fall 2026 = FY27.</a:t>
            </a:r>
          </a:p>
        </p:txBody>
      </p:sp>
    </p:spTree>
    <p:extLst>
      <p:ext uri="{BB962C8B-B14F-4D97-AF65-F5344CB8AC3E}">
        <p14:creationId xmlns:p14="http://schemas.microsoft.com/office/powerpoint/2010/main" val="3672233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11247120" cy="341568"/>
          </a:xfrm>
          <a:prstGeom prst="rect">
            <a:avLst/>
          </a:prstGeom>
          <a:noFill/>
        </p:spPr>
        <p:txBody>
          <a:bodyPr wrap="square" lIns="0" tIns="0" rIns="0" bIns="0">
            <a:noAutofit/>
          </a:bodyPr>
          <a:lstStyle/>
          <a:p>
            <a:pPr algn="l">
              <a:lnSpc>
                <a:spcPct val="105000"/>
              </a:lnSpc>
            </a:pPr>
            <a:r>
              <a:rPr sz="2300" b="1" dirty="0">
                <a:solidFill>
                  <a:srgbClr val="000000"/>
                </a:solidFill>
                <a:latin typeface="Lato"/>
              </a:rPr>
              <a:t>Undergraduate </a:t>
            </a:r>
            <a:r>
              <a:rPr lang="en-US" sz="2300" b="1" dirty="0">
                <a:solidFill>
                  <a:srgbClr val="000000"/>
                </a:solidFill>
                <a:latin typeface="Lato"/>
              </a:rPr>
              <a:t>the dominant growth driver since FY20</a:t>
            </a:r>
            <a:endParaRPr sz="2300" b="1" dirty="0">
              <a:solidFill>
                <a:srgbClr val="000000"/>
              </a:solidFill>
              <a:latin typeface="Lato"/>
            </a:endParaRPr>
          </a:p>
        </p:txBody>
      </p:sp>
      <p:sp>
        <p:nvSpPr>
          <p:cNvPr id="3" name="TextBox 2"/>
          <p:cNvSpPr txBox="1"/>
          <p:nvPr/>
        </p:nvSpPr>
        <p:spPr>
          <a:xfrm>
            <a:off x="457200" y="749808"/>
            <a:ext cx="11338560" cy="176972"/>
          </a:xfrm>
          <a:prstGeom prst="rect">
            <a:avLst/>
          </a:prstGeom>
          <a:noFill/>
        </p:spPr>
        <p:txBody>
          <a:bodyPr wrap="square" lIns="0" tIns="0" rIns="0" bIns="0">
            <a:spAutoFit/>
          </a:bodyPr>
          <a:lstStyle/>
          <a:p>
            <a:pPr algn="l"/>
            <a:r>
              <a:rPr sz="1150" b="0">
                <a:solidFill>
                  <a:srgbClr val="49494D"/>
                </a:solidFill>
                <a:latin typeface="Lato"/>
              </a:rPr>
              <a:t>Degree-seeking students by reporting group  ·  FY20 – FY27  ·  1 October snapshots; FY27 estimated</a:t>
            </a:r>
          </a:p>
        </p:txBody>
      </p:sp>
      <p:sp>
        <p:nvSpPr>
          <p:cNvPr id="4" name="TextBox 3"/>
          <p:cNvSpPr txBox="1"/>
          <p:nvPr/>
        </p:nvSpPr>
        <p:spPr>
          <a:xfrm>
            <a:off x="457200" y="1042415"/>
            <a:ext cx="11338560" cy="274320"/>
          </a:xfrm>
          <a:prstGeom prst="rect">
            <a:avLst/>
          </a:prstGeom>
          <a:noFill/>
        </p:spPr>
        <p:txBody>
          <a:bodyPr wrap="square" lIns="0" tIns="0" rIns="0" bIns="0">
            <a:spAutoFit/>
          </a:bodyPr>
          <a:lstStyle/>
          <a:p>
            <a:pPr algn="l"/>
            <a:r>
              <a:rPr sz="1250" b="0">
                <a:solidFill>
                  <a:srgbClr val="000000"/>
                </a:solidFill>
                <a:latin typeface="Lato"/>
              </a:rPr>
              <a:t>Undergraduate added 6,601 students since FY20. Professional graduate rose 6,087 to a peak of 23,247 in FY24 and has given nearly all of it back — 17,607 in FY27, +447 on FY20.</a:t>
            </a:r>
          </a:p>
        </p:txBody>
      </p:sp>
      <p:graphicFrame>
        <p:nvGraphicFramePr>
          <p:cNvPr id="5" name="Chart 4" descr="Chart"/>
          <p:cNvGraphicFramePr>
            <a:graphicFrameLocks noGrp="1"/>
          </p:cNvGraphicFramePr>
          <p:nvPr/>
        </p:nvGraphicFramePr>
        <p:xfrm>
          <a:off x="411480" y="1719072"/>
          <a:ext cx="7498079" cy="445312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1031558" y="2428942"/>
            <a:ext cx="914400" cy="237744"/>
          </a:xfrm>
          <a:prstGeom prst="rect">
            <a:avLst/>
          </a:prstGeom>
          <a:noFill/>
        </p:spPr>
        <p:txBody>
          <a:bodyPr wrap="square" lIns="0" tIns="0" rIns="0" bIns="0">
            <a:spAutoFit/>
          </a:bodyPr>
          <a:lstStyle/>
          <a:p>
            <a:pPr algn="ctr"/>
            <a:r>
              <a:rPr sz="1100" b="1">
                <a:solidFill>
                  <a:srgbClr val="000000"/>
                </a:solidFill>
                <a:latin typeface="Lato"/>
              </a:rPr>
              <a:t>37,779</a:t>
            </a:r>
          </a:p>
        </p:txBody>
      </p:sp>
      <p:sp>
        <p:nvSpPr>
          <p:cNvPr id="7" name="TextBox 6"/>
          <p:cNvSpPr txBox="1"/>
          <p:nvPr/>
        </p:nvSpPr>
        <p:spPr>
          <a:xfrm>
            <a:off x="1869376" y="2425998"/>
            <a:ext cx="914400" cy="237744"/>
          </a:xfrm>
          <a:prstGeom prst="rect">
            <a:avLst/>
          </a:prstGeom>
          <a:noFill/>
        </p:spPr>
        <p:txBody>
          <a:bodyPr wrap="square" lIns="0" tIns="0" rIns="0" bIns="0">
            <a:spAutoFit/>
          </a:bodyPr>
          <a:lstStyle/>
          <a:p>
            <a:pPr algn="ctr"/>
            <a:r>
              <a:rPr sz="1100" b="1">
                <a:solidFill>
                  <a:srgbClr val="000000"/>
                </a:solidFill>
                <a:latin typeface="Lato"/>
              </a:rPr>
              <a:t>37,825</a:t>
            </a:r>
          </a:p>
        </p:txBody>
      </p:sp>
      <p:sp>
        <p:nvSpPr>
          <p:cNvPr id="8" name="TextBox 7"/>
          <p:cNvSpPr txBox="1"/>
          <p:nvPr/>
        </p:nvSpPr>
        <p:spPr>
          <a:xfrm>
            <a:off x="2707195" y="2168922"/>
            <a:ext cx="914400" cy="237744"/>
          </a:xfrm>
          <a:prstGeom prst="rect">
            <a:avLst/>
          </a:prstGeom>
          <a:noFill/>
        </p:spPr>
        <p:txBody>
          <a:bodyPr wrap="square" lIns="0" tIns="0" rIns="0" bIns="0">
            <a:spAutoFit/>
          </a:bodyPr>
          <a:lstStyle/>
          <a:p>
            <a:pPr algn="ctr"/>
            <a:r>
              <a:rPr sz="1100" b="1">
                <a:solidFill>
                  <a:srgbClr val="000000"/>
                </a:solidFill>
                <a:latin typeface="Lato"/>
              </a:rPr>
              <a:t>41,842</a:t>
            </a:r>
          </a:p>
        </p:txBody>
      </p:sp>
      <p:sp>
        <p:nvSpPr>
          <p:cNvPr id="9" name="TextBox 8"/>
          <p:cNvSpPr txBox="1"/>
          <p:nvPr/>
        </p:nvSpPr>
        <p:spPr>
          <a:xfrm>
            <a:off x="3545013" y="1936868"/>
            <a:ext cx="914400" cy="237744"/>
          </a:xfrm>
          <a:prstGeom prst="rect">
            <a:avLst/>
          </a:prstGeom>
          <a:noFill/>
        </p:spPr>
        <p:txBody>
          <a:bodyPr wrap="square" lIns="0" tIns="0" rIns="0" bIns="0">
            <a:spAutoFit/>
          </a:bodyPr>
          <a:lstStyle/>
          <a:p>
            <a:pPr algn="ctr"/>
            <a:r>
              <a:rPr sz="1100" b="1">
                <a:solidFill>
                  <a:srgbClr val="000000"/>
                </a:solidFill>
                <a:latin typeface="Lato"/>
              </a:rPr>
              <a:t>45,468</a:t>
            </a:r>
          </a:p>
        </p:txBody>
      </p:sp>
      <p:sp>
        <p:nvSpPr>
          <p:cNvPr id="10" name="TextBox 9"/>
          <p:cNvSpPr txBox="1"/>
          <p:nvPr/>
        </p:nvSpPr>
        <p:spPr>
          <a:xfrm>
            <a:off x="4382831" y="1789547"/>
            <a:ext cx="914400" cy="237744"/>
          </a:xfrm>
          <a:prstGeom prst="rect">
            <a:avLst/>
          </a:prstGeom>
          <a:noFill/>
        </p:spPr>
        <p:txBody>
          <a:bodyPr wrap="square" lIns="0" tIns="0" rIns="0" bIns="0">
            <a:spAutoFit/>
          </a:bodyPr>
          <a:lstStyle/>
          <a:p>
            <a:pPr algn="ctr"/>
            <a:r>
              <a:rPr sz="1100" b="1">
                <a:solidFill>
                  <a:srgbClr val="000000"/>
                </a:solidFill>
                <a:latin typeface="Lato"/>
              </a:rPr>
              <a:t>47,770</a:t>
            </a:r>
          </a:p>
        </p:txBody>
      </p:sp>
      <p:sp>
        <p:nvSpPr>
          <p:cNvPr id="11" name="TextBox 10"/>
          <p:cNvSpPr txBox="1"/>
          <p:nvPr/>
        </p:nvSpPr>
        <p:spPr>
          <a:xfrm>
            <a:off x="5220650" y="1722862"/>
            <a:ext cx="914400" cy="237744"/>
          </a:xfrm>
          <a:prstGeom prst="rect">
            <a:avLst/>
          </a:prstGeom>
          <a:noFill/>
        </p:spPr>
        <p:txBody>
          <a:bodyPr wrap="square" lIns="0" tIns="0" rIns="0" bIns="0">
            <a:spAutoFit/>
          </a:bodyPr>
          <a:lstStyle/>
          <a:p>
            <a:pPr algn="ctr"/>
            <a:r>
              <a:rPr sz="1100" b="1">
                <a:solidFill>
                  <a:srgbClr val="000000"/>
                </a:solidFill>
                <a:latin typeface="Lato"/>
              </a:rPr>
              <a:t>48,812</a:t>
            </a:r>
          </a:p>
        </p:txBody>
      </p:sp>
      <p:sp>
        <p:nvSpPr>
          <p:cNvPr id="12" name="TextBox 11"/>
          <p:cNvSpPr txBox="1"/>
          <p:nvPr/>
        </p:nvSpPr>
        <p:spPr>
          <a:xfrm>
            <a:off x="6058468" y="1815338"/>
            <a:ext cx="914400" cy="237744"/>
          </a:xfrm>
          <a:prstGeom prst="rect">
            <a:avLst/>
          </a:prstGeom>
          <a:noFill/>
        </p:spPr>
        <p:txBody>
          <a:bodyPr wrap="square" lIns="0" tIns="0" rIns="0" bIns="0">
            <a:spAutoFit/>
          </a:bodyPr>
          <a:lstStyle/>
          <a:p>
            <a:pPr algn="ctr"/>
            <a:r>
              <a:rPr sz="1100" b="1">
                <a:solidFill>
                  <a:srgbClr val="000000"/>
                </a:solidFill>
                <a:latin typeface="Lato"/>
              </a:rPr>
              <a:t>47,367</a:t>
            </a:r>
          </a:p>
        </p:txBody>
      </p:sp>
      <p:sp>
        <p:nvSpPr>
          <p:cNvPr id="13" name="TextBox 12"/>
          <p:cNvSpPr txBox="1"/>
          <p:nvPr/>
        </p:nvSpPr>
        <p:spPr>
          <a:xfrm>
            <a:off x="6896287" y="1960419"/>
            <a:ext cx="914400" cy="237744"/>
          </a:xfrm>
          <a:prstGeom prst="rect">
            <a:avLst/>
          </a:prstGeom>
          <a:noFill/>
        </p:spPr>
        <p:txBody>
          <a:bodyPr wrap="square" lIns="0" tIns="0" rIns="0" bIns="0">
            <a:spAutoFit/>
          </a:bodyPr>
          <a:lstStyle/>
          <a:p>
            <a:pPr algn="ctr"/>
            <a:r>
              <a:rPr sz="1100" b="1">
                <a:solidFill>
                  <a:srgbClr val="000000"/>
                </a:solidFill>
                <a:latin typeface="Lato"/>
              </a:rPr>
              <a:t>45,300</a:t>
            </a:r>
          </a:p>
        </p:txBody>
      </p:sp>
      <p:sp>
        <p:nvSpPr>
          <p:cNvPr id="14" name="TextBox 13"/>
          <p:cNvSpPr txBox="1"/>
          <p:nvPr/>
        </p:nvSpPr>
        <p:spPr>
          <a:xfrm>
            <a:off x="9660484" y="1444752"/>
            <a:ext cx="960120" cy="256032"/>
          </a:xfrm>
          <a:prstGeom prst="rect">
            <a:avLst/>
          </a:prstGeom>
          <a:noFill/>
        </p:spPr>
        <p:txBody>
          <a:bodyPr wrap="square" lIns="0" tIns="0" rIns="0" bIns="0">
            <a:spAutoFit/>
          </a:bodyPr>
          <a:lstStyle/>
          <a:p>
            <a:pPr algn="r"/>
            <a:r>
              <a:rPr sz="1200" b="1">
                <a:solidFill>
                  <a:srgbClr val="000000"/>
                </a:solidFill>
                <a:latin typeface="Lato"/>
              </a:rPr>
              <a:t>CAGR</a:t>
            </a:r>
          </a:p>
          <a:p>
            <a:pPr algn="r"/>
            <a:r>
              <a:rPr sz="850" b="0">
                <a:solidFill>
                  <a:srgbClr val="9B9C9E"/>
                </a:solidFill>
                <a:latin typeface="Lato"/>
              </a:rPr>
              <a:t>FY20 → FY27</a:t>
            </a:r>
          </a:p>
        </p:txBody>
      </p:sp>
      <p:sp>
        <p:nvSpPr>
          <p:cNvPr id="19" name="TextBox 18"/>
          <p:cNvSpPr txBox="1"/>
          <p:nvPr/>
        </p:nvSpPr>
        <p:spPr>
          <a:xfrm>
            <a:off x="8092440" y="2175290"/>
            <a:ext cx="2148840" cy="274320"/>
          </a:xfrm>
          <a:prstGeom prst="rect">
            <a:avLst/>
          </a:prstGeom>
          <a:noFill/>
        </p:spPr>
        <p:txBody>
          <a:bodyPr wrap="square" lIns="0" tIns="0" rIns="0" bIns="0" anchor="ctr">
            <a:spAutoFit/>
          </a:bodyPr>
          <a:lstStyle/>
          <a:p>
            <a:pPr algn="l"/>
            <a:r>
              <a:rPr sz="950" b="0">
                <a:solidFill>
                  <a:srgbClr val="49494D"/>
                </a:solidFill>
                <a:latin typeface="Lato"/>
              </a:rPr>
              <a:t>JD/PhD  (+473)</a:t>
            </a:r>
          </a:p>
        </p:txBody>
      </p:sp>
      <p:sp>
        <p:nvSpPr>
          <p:cNvPr id="20" name="TextBox 19"/>
          <p:cNvSpPr txBox="1"/>
          <p:nvPr/>
        </p:nvSpPr>
        <p:spPr>
          <a:xfrm>
            <a:off x="9660484" y="2175290"/>
            <a:ext cx="960120" cy="274320"/>
          </a:xfrm>
          <a:prstGeom prst="rect">
            <a:avLst/>
          </a:prstGeom>
          <a:noFill/>
        </p:spPr>
        <p:txBody>
          <a:bodyPr wrap="square" lIns="0" tIns="0" rIns="0" bIns="0" anchor="ctr">
            <a:spAutoFit/>
          </a:bodyPr>
          <a:lstStyle/>
          <a:p>
            <a:pPr algn="r"/>
            <a:r>
              <a:rPr sz="950" b="1">
                <a:solidFill>
                  <a:srgbClr val="7F7F7F"/>
                </a:solidFill>
                <a:latin typeface="Lato"/>
              </a:rPr>
              <a:t>+2.9%</a:t>
            </a:r>
          </a:p>
        </p:txBody>
      </p:sp>
      <p:sp>
        <p:nvSpPr>
          <p:cNvPr id="28" name="TextBox 27"/>
          <p:cNvSpPr txBox="1"/>
          <p:nvPr/>
        </p:nvSpPr>
        <p:spPr>
          <a:xfrm>
            <a:off x="8092440" y="2803026"/>
            <a:ext cx="2148840" cy="292388"/>
          </a:xfrm>
          <a:prstGeom prst="rect">
            <a:avLst/>
          </a:prstGeom>
          <a:noFill/>
        </p:spPr>
        <p:txBody>
          <a:bodyPr wrap="square" lIns="0" tIns="0" rIns="0" bIns="0" anchor="ctr">
            <a:spAutoFit/>
          </a:bodyPr>
          <a:lstStyle/>
          <a:p>
            <a:pPr algn="l"/>
            <a:r>
              <a:rPr sz="950" b="0" dirty="0">
                <a:solidFill>
                  <a:srgbClr val="49494D"/>
                </a:solidFill>
                <a:latin typeface="Lato"/>
              </a:rPr>
              <a:t>Professional Graduate  (+447)</a:t>
            </a:r>
            <a:endParaRPr lang="en-US" sz="950" dirty="0">
              <a:solidFill>
                <a:srgbClr val="49494D"/>
              </a:solidFill>
              <a:latin typeface="Lato"/>
            </a:endParaRPr>
          </a:p>
          <a:p>
            <a:pPr algn="l"/>
            <a:r>
              <a:rPr lang="en-US" sz="950" b="1" i="1" dirty="0">
                <a:solidFill>
                  <a:srgbClr val="C8102E"/>
                </a:solidFill>
                <a:latin typeface="Lato"/>
              </a:rPr>
              <a:t>Down 24% since FY24</a:t>
            </a:r>
            <a:endParaRPr sz="950" b="1" i="1" dirty="0">
              <a:solidFill>
                <a:srgbClr val="C8102E"/>
              </a:solidFill>
              <a:latin typeface="Lato"/>
            </a:endParaRPr>
          </a:p>
        </p:txBody>
      </p:sp>
      <p:sp>
        <p:nvSpPr>
          <p:cNvPr id="29" name="TextBox 28"/>
          <p:cNvSpPr txBox="1"/>
          <p:nvPr/>
        </p:nvSpPr>
        <p:spPr>
          <a:xfrm>
            <a:off x="9660484" y="2812060"/>
            <a:ext cx="960120" cy="274320"/>
          </a:xfrm>
          <a:prstGeom prst="rect">
            <a:avLst/>
          </a:prstGeom>
          <a:noFill/>
        </p:spPr>
        <p:txBody>
          <a:bodyPr wrap="square" lIns="0" tIns="0" rIns="0" bIns="0" anchor="ctr">
            <a:spAutoFit/>
          </a:bodyPr>
          <a:lstStyle/>
          <a:p>
            <a:pPr algn="r"/>
            <a:r>
              <a:rPr sz="950" b="1">
                <a:solidFill>
                  <a:srgbClr val="7F7F7F"/>
                </a:solidFill>
                <a:latin typeface="Lato"/>
              </a:rPr>
              <a:t>+0.4%</a:t>
            </a:r>
          </a:p>
        </p:txBody>
      </p:sp>
      <p:sp>
        <p:nvSpPr>
          <p:cNvPr id="43" name="TextBox 42"/>
          <p:cNvSpPr txBox="1"/>
          <p:nvPr/>
        </p:nvSpPr>
        <p:spPr>
          <a:xfrm>
            <a:off x="8092440" y="4175197"/>
            <a:ext cx="2148840" cy="274320"/>
          </a:xfrm>
          <a:prstGeom prst="rect">
            <a:avLst/>
          </a:prstGeom>
          <a:noFill/>
        </p:spPr>
        <p:txBody>
          <a:bodyPr wrap="square" lIns="0" tIns="0" rIns="0" bIns="0" anchor="ctr">
            <a:spAutoFit/>
          </a:bodyPr>
          <a:lstStyle/>
          <a:p>
            <a:pPr algn="l"/>
            <a:r>
              <a:rPr sz="950" b="0">
                <a:solidFill>
                  <a:srgbClr val="49494D"/>
                </a:solidFill>
                <a:latin typeface="Lato"/>
              </a:rPr>
              <a:t>Undergraduate  (+6,601)</a:t>
            </a:r>
          </a:p>
        </p:txBody>
      </p:sp>
      <p:sp>
        <p:nvSpPr>
          <p:cNvPr id="44" name="TextBox 43"/>
          <p:cNvSpPr txBox="1"/>
          <p:nvPr/>
        </p:nvSpPr>
        <p:spPr>
          <a:xfrm>
            <a:off x="9660484" y="4175197"/>
            <a:ext cx="960120" cy="274320"/>
          </a:xfrm>
          <a:prstGeom prst="rect">
            <a:avLst/>
          </a:prstGeom>
          <a:noFill/>
        </p:spPr>
        <p:txBody>
          <a:bodyPr wrap="square" lIns="0" tIns="0" rIns="0" bIns="0" anchor="ctr">
            <a:spAutoFit/>
          </a:bodyPr>
          <a:lstStyle/>
          <a:p>
            <a:pPr algn="r"/>
            <a:r>
              <a:rPr sz="950" b="1">
                <a:solidFill>
                  <a:srgbClr val="7F7F7F"/>
                </a:solidFill>
                <a:latin typeface="Lato"/>
              </a:rPr>
              <a:t>+4.5%</a:t>
            </a:r>
          </a:p>
        </p:txBody>
      </p:sp>
      <p:sp>
        <p:nvSpPr>
          <p:cNvPr id="45" name="Rectangle 44"/>
          <p:cNvSpPr/>
          <p:nvPr/>
        </p:nvSpPr>
        <p:spPr>
          <a:xfrm>
            <a:off x="8092440" y="5248655"/>
            <a:ext cx="3749039" cy="1371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a:endParaRPr>
          </a:p>
        </p:txBody>
      </p:sp>
      <p:sp>
        <p:nvSpPr>
          <p:cNvPr id="46" name="TextBox 45"/>
          <p:cNvSpPr txBox="1"/>
          <p:nvPr/>
        </p:nvSpPr>
        <p:spPr>
          <a:xfrm>
            <a:off x="8092440" y="5376671"/>
            <a:ext cx="2148840" cy="310896"/>
          </a:xfrm>
          <a:prstGeom prst="rect">
            <a:avLst/>
          </a:prstGeom>
          <a:noFill/>
        </p:spPr>
        <p:txBody>
          <a:bodyPr wrap="square" lIns="0" tIns="0" rIns="0" bIns="0" anchor="ctr">
            <a:spAutoFit/>
          </a:bodyPr>
          <a:lstStyle/>
          <a:p>
            <a:pPr algn="l"/>
            <a:r>
              <a:rPr sz="1250" b="1">
                <a:solidFill>
                  <a:srgbClr val="000000"/>
                </a:solidFill>
                <a:latin typeface="Lato"/>
              </a:rPr>
              <a:t>Total degree-seeking</a:t>
            </a:r>
          </a:p>
        </p:txBody>
      </p:sp>
      <p:sp>
        <p:nvSpPr>
          <p:cNvPr id="47" name="Oval 46"/>
          <p:cNvSpPr/>
          <p:nvPr/>
        </p:nvSpPr>
        <p:spPr>
          <a:xfrm>
            <a:off x="10019488" y="5353812"/>
            <a:ext cx="709351" cy="361188"/>
          </a:xfrm>
          <a:prstGeom prst="ellipse">
            <a:avLst/>
          </a:prstGeom>
          <a:noFill/>
          <a:ln w="1905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a:endParaRPr>
          </a:p>
        </p:txBody>
      </p:sp>
      <p:sp>
        <p:nvSpPr>
          <p:cNvPr id="48" name="TextBox 47"/>
          <p:cNvSpPr txBox="1"/>
          <p:nvPr/>
        </p:nvSpPr>
        <p:spPr>
          <a:xfrm>
            <a:off x="9660484" y="5376671"/>
            <a:ext cx="960120" cy="310896"/>
          </a:xfrm>
          <a:prstGeom prst="rect">
            <a:avLst/>
          </a:prstGeom>
          <a:noFill/>
        </p:spPr>
        <p:txBody>
          <a:bodyPr wrap="square" lIns="0" tIns="0" rIns="0" bIns="0" anchor="ctr">
            <a:spAutoFit/>
          </a:bodyPr>
          <a:lstStyle/>
          <a:p>
            <a:pPr algn="r"/>
            <a:r>
              <a:rPr sz="1350" b="1">
                <a:solidFill>
                  <a:srgbClr val="C8102E"/>
                </a:solidFill>
                <a:latin typeface="Lato"/>
              </a:rPr>
              <a:t>+2.6%</a:t>
            </a:r>
          </a:p>
        </p:txBody>
      </p:sp>
      <p:sp>
        <p:nvSpPr>
          <p:cNvPr id="49" name="TextBox 48"/>
          <p:cNvSpPr txBox="1"/>
          <p:nvPr/>
        </p:nvSpPr>
        <p:spPr>
          <a:xfrm>
            <a:off x="8092440" y="5779008"/>
            <a:ext cx="3108960" cy="822960"/>
          </a:xfrm>
          <a:prstGeom prst="rect">
            <a:avLst/>
          </a:prstGeom>
          <a:noFill/>
        </p:spPr>
        <p:txBody>
          <a:bodyPr wrap="square" lIns="0" tIns="0" rIns="0" bIns="0">
            <a:spAutoFit/>
          </a:bodyPr>
          <a:lstStyle/>
          <a:p>
            <a:pPr algn="l">
              <a:lnSpc>
                <a:spcPct val="120000"/>
              </a:lnSpc>
              <a:spcAft>
                <a:spcPts val="500"/>
              </a:spcAft>
            </a:pPr>
            <a:r>
              <a:rPr sz="850" b="0">
                <a:solidFill>
                  <a:srgbClr val="49494D"/>
                </a:solidFill>
                <a:latin typeface="Lato"/>
              </a:rPr>
              <a:t>Professional graduate is 24% below its FY24 peak of 23,247.</a:t>
            </a:r>
          </a:p>
          <a:p>
            <a:pPr algn="l">
              <a:lnSpc>
                <a:spcPct val="120000"/>
              </a:lnSpc>
              <a:spcAft>
                <a:spcPts val="500"/>
              </a:spcAft>
            </a:pPr>
            <a:r>
              <a:rPr sz="850" b="0">
                <a:solidFill>
                  <a:srgbClr val="49494D"/>
                </a:solidFill>
                <a:latin typeface="Lato"/>
              </a:rPr>
              <a:t>Undergraduate leads it by 7,496 in FY27.</a:t>
            </a:r>
          </a:p>
        </p:txBody>
      </p:sp>
      <p:cxnSp>
        <p:nvCxnSpPr>
          <p:cNvPr id="55" name="Connector 54"/>
          <p:cNvCxnSpPr/>
          <p:nvPr/>
        </p:nvCxnSpPr>
        <p:spPr>
          <a:xfrm>
            <a:off x="7690104" y="2312146"/>
            <a:ext cx="347472" cy="303"/>
          </a:xfrm>
          <a:prstGeom prst="line">
            <a:avLst/>
          </a:prstGeom>
          <a:ln w="9525">
            <a:solidFill>
              <a:srgbClr val="000000"/>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690104" y="2948975"/>
            <a:ext cx="347472" cy="244"/>
          </a:xfrm>
          <a:prstGeom prst="line">
            <a:avLst/>
          </a:prstGeom>
          <a:ln w="9525">
            <a:solidFill>
              <a:srgbClr val="000000"/>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690104" y="4312238"/>
            <a:ext cx="347472" cy="118"/>
          </a:xfrm>
          <a:prstGeom prst="line">
            <a:avLst/>
          </a:prstGeom>
          <a:ln w="9525">
            <a:solidFill>
              <a:srgbClr val="000000"/>
            </a:solidFill>
            <a:prstDash val="sysDot"/>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9AC25E2-970E-50B6-AAE1-F4C23D66B74D}"/>
              </a:ext>
            </a:extLst>
          </p:cNvPr>
          <p:cNvSpPr txBox="1"/>
          <p:nvPr/>
        </p:nvSpPr>
        <p:spPr>
          <a:xfrm>
            <a:off x="10323576" y="109728"/>
            <a:ext cx="1408176" cy="274320"/>
          </a:xfrm>
          <a:prstGeom prst="rect">
            <a:avLst/>
          </a:prstGeom>
          <a:solidFill>
            <a:srgbClr val="C8102E"/>
          </a:solidFill>
          <a:ln>
            <a:noFill/>
          </a:ln>
        </p:spPr>
        <p:txBody>
          <a:bodyPr wrap="none" rtlCol="0" anchor="ctr">
            <a:spAutoFit/>
          </a:bodyPr>
          <a:lstStyle/>
          <a:p>
            <a:pPr algn="r"/>
            <a:r>
              <a:rPr lang="en-US" sz="1100" b="1" dirty="0">
                <a:solidFill>
                  <a:srgbClr val="FFFFFF"/>
                </a:solidFill>
                <a:latin typeface="Lato"/>
              </a:rPr>
              <a:t>Degree-seeking</a:t>
            </a:r>
          </a:p>
        </p:txBody>
      </p:sp>
      <p:sp>
        <p:nvSpPr>
          <p:cNvPr id="64" name="TextBox 19_chg"/>
          <p:cNvSpPr txBox="1"/>
          <p:nvPr/>
        </p:nvSpPr>
        <p:spPr>
          <a:xfrm>
            <a:off x="10657180" y="2175290"/>
            <a:ext cx="841248" cy="274320"/>
          </a:xfrm>
          <a:prstGeom prst="rect">
            <a:avLst/>
          </a:prstGeom>
          <a:noFill/>
        </p:spPr>
        <p:txBody>
          <a:bodyPr wrap="square" lIns="0" tIns="0" rIns="0" bIns="0" anchor="ctr">
            <a:spAutoFit/>
          </a:bodyPr>
          <a:lstStyle/>
          <a:p>
            <a:pPr algn="r"/>
            <a:r>
              <a:rPr sz="950" b="1">
                <a:solidFill>
                  <a:srgbClr val="7F7F7F"/>
                </a:solidFill>
                <a:latin typeface="Lato"/>
              </a:rPr>
              <a:t>+473</a:t>
            </a:r>
          </a:p>
        </p:txBody>
      </p:sp>
      <p:sp>
        <p:nvSpPr>
          <p:cNvPr id="65" name="TextBox 28_chg"/>
          <p:cNvSpPr txBox="1"/>
          <p:nvPr/>
        </p:nvSpPr>
        <p:spPr>
          <a:xfrm>
            <a:off x="10657180" y="2812060"/>
            <a:ext cx="841248" cy="274320"/>
          </a:xfrm>
          <a:prstGeom prst="rect">
            <a:avLst/>
          </a:prstGeom>
          <a:noFill/>
        </p:spPr>
        <p:txBody>
          <a:bodyPr wrap="square" lIns="0" tIns="0" rIns="0" bIns="0" anchor="ctr">
            <a:spAutoFit/>
          </a:bodyPr>
          <a:lstStyle/>
          <a:p>
            <a:pPr algn="r"/>
            <a:r>
              <a:rPr sz="950" b="1">
                <a:solidFill>
                  <a:srgbClr val="7F7F7F"/>
                </a:solidFill>
                <a:latin typeface="Lato"/>
              </a:rPr>
              <a:t>+447</a:t>
            </a:r>
          </a:p>
        </p:txBody>
      </p:sp>
      <p:sp>
        <p:nvSpPr>
          <p:cNvPr id="66" name="TextBox 43_chg"/>
          <p:cNvSpPr txBox="1"/>
          <p:nvPr/>
        </p:nvSpPr>
        <p:spPr>
          <a:xfrm>
            <a:off x="10657180" y="4175197"/>
            <a:ext cx="841248" cy="274320"/>
          </a:xfrm>
          <a:prstGeom prst="rect">
            <a:avLst/>
          </a:prstGeom>
          <a:noFill/>
        </p:spPr>
        <p:txBody>
          <a:bodyPr wrap="square" lIns="0" tIns="0" rIns="0" bIns="0" anchor="ctr">
            <a:spAutoFit/>
          </a:bodyPr>
          <a:lstStyle/>
          <a:p>
            <a:pPr algn="r"/>
            <a:r>
              <a:rPr sz="950" b="1">
                <a:solidFill>
                  <a:srgbClr val="7F7F7F"/>
                </a:solidFill>
                <a:latin typeface="Lato"/>
              </a:rPr>
              <a:t>+6,601</a:t>
            </a:r>
          </a:p>
        </p:txBody>
      </p:sp>
      <p:sp>
        <p:nvSpPr>
          <p:cNvPr id="67" name="TextBox 47_chg"/>
          <p:cNvSpPr txBox="1"/>
          <p:nvPr/>
        </p:nvSpPr>
        <p:spPr>
          <a:xfrm>
            <a:off x="10657180" y="5376671"/>
            <a:ext cx="841248" cy="310896"/>
          </a:xfrm>
          <a:prstGeom prst="rect">
            <a:avLst/>
          </a:prstGeom>
          <a:noFill/>
        </p:spPr>
        <p:txBody>
          <a:bodyPr wrap="square" lIns="0" tIns="0" rIns="0" bIns="0" anchor="ctr">
            <a:spAutoFit/>
          </a:bodyPr>
          <a:lstStyle/>
          <a:p>
            <a:pPr algn="r"/>
            <a:r>
              <a:rPr sz="1350" b="1">
                <a:solidFill>
                  <a:srgbClr val="C8102E"/>
                </a:solidFill>
                <a:latin typeface="Lato"/>
              </a:rPr>
              <a:t>+7,521</a:t>
            </a:r>
          </a:p>
        </p:txBody>
      </p:sp>
      <p:sp>
        <p:nvSpPr>
          <p:cNvPr id="68" name="TextBox 13_chg"/>
          <p:cNvSpPr txBox="1"/>
          <p:nvPr/>
        </p:nvSpPr>
        <p:spPr>
          <a:xfrm>
            <a:off x="10657180" y="1444752"/>
            <a:ext cx="841248" cy="256032"/>
          </a:xfrm>
          <a:prstGeom prst="rect">
            <a:avLst/>
          </a:prstGeom>
          <a:noFill/>
        </p:spPr>
        <p:txBody>
          <a:bodyPr wrap="square" lIns="0" tIns="0" rIns="0" bIns="0">
            <a:spAutoFit/>
          </a:bodyPr>
          <a:lstStyle/>
          <a:p>
            <a:pPr algn="r"/>
            <a:r>
              <a:rPr sz="1200" b="1">
                <a:solidFill>
                  <a:srgbClr val="000000"/>
                </a:solidFill>
                <a:latin typeface="Lato"/>
              </a:rPr>
              <a:t>Change</a:t>
            </a:r>
          </a:p>
          <a:p>
            <a:pPr algn="r"/>
            <a:r>
              <a:rPr sz="850" b="0">
                <a:solidFill>
                  <a:srgbClr val="9B9C9E"/>
                </a:solidFill>
                <a:latin typeface="Lato"/>
              </a:rPr>
              <a:t>FY20 → FY27</a:t>
            </a:r>
          </a:p>
        </p:txBody>
      </p:sp>
      <p:sp>
        <p:nvSpPr>
          <p:cNvPr id="69" name="TextBox 68"/>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Northeastern degree-seeking enrollment by reporting group, supplied September 2026 (FY27 is an estimate); full notes in speaker notes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74E6-5AB9-61CD-CAF0-E819BFD957C8}"/>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5CC7A77-A75E-B83C-E980-2849466DEAE7}"/>
              </a:ext>
            </a:extLst>
          </p:cNvPr>
          <p:cNvGraphicFramePr/>
          <p:nvPr/>
        </p:nvGraphicFramePr>
        <p:xfrm>
          <a:off x="988540" y="379853"/>
          <a:ext cx="10501183" cy="5650243"/>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20DFDE72-EB78-0712-4F6A-2FEFF552D5E5}"/>
              </a:ext>
            </a:extLst>
          </p:cNvPr>
          <p:cNvSpPr txBox="1"/>
          <p:nvPr/>
        </p:nvSpPr>
        <p:spPr>
          <a:xfrm>
            <a:off x="6838178" y="3543575"/>
            <a:ext cx="741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srgbClr val="000000"/>
                </a:solidFill>
                <a:effectLst/>
                <a:uLnTx/>
                <a:uFillTx/>
                <a:latin typeface="Lato"/>
                <a:ea typeface="+mn-ea"/>
                <a:cs typeface="+mn-cs"/>
              </a:rPr>
              <a:t>-10%</a:t>
            </a:r>
          </a:p>
        </p:txBody>
      </p:sp>
      <p:sp>
        <p:nvSpPr>
          <p:cNvPr id="18" name="TextBox 17">
            <a:extLst>
              <a:ext uri="{FF2B5EF4-FFF2-40B4-BE49-F238E27FC236}">
                <a16:creationId xmlns:a16="http://schemas.microsoft.com/office/drawing/2014/main" id="{C65C51A4-3D8D-BCFF-D562-894FDE658127}"/>
              </a:ext>
            </a:extLst>
          </p:cNvPr>
          <p:cNvSpPr txBox="1"/>
          <p:nvPr/>
        </p:nvSpPr>
        <p:spPr>
          <a:xfrm>
            <a:off x="1274551" y="5965213"/>
            <a:ext cx="72904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prstClr val="black"/>
                </a:solidFill>
                <a:effectLst/>
                <a:uLnTx/>
                <a:uFillTx/>
                <a:latin typeface="Lato"/>
                <a:ea typeface="+mn-ea"/>
                <a:cs typeface="+mn-cs"/>
              </a:rPr>
              <a:t>Actual</a:t>
            </a:r>
          </a:p>
        </p:txBody>
      </p:sp>
      <p:sp>
        <p:nvSpPr>
          <p:cNvPr id="19" name="TextBox 18">
            <a:extLst>
              <a:ext uri="{FF2B5EF4-FFF2-40B4-BE49-F238E27FC236}">
                <a16:creationId xmlns:a16="http://schemas.microsoft.com/office/drawing/2014/main" id="{AD08BDFB-EA97-9D00-641D-33D0C28E28DB}"/>
              </a:ext>
            </a:extLst>
          </p:cNvPr>
          <p:cNvSpPr txBox="1"/>
          <p:nvPr/>
        </p:nvSpPr>
        <p:spPr>
          <a:xfrm>
            <a:off x="2853897" y="5960585"/>
            <a:ext cx="72904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prstClr val="black"/>
                </a:solidFill>
                <a:effectLst/>
                <a:uLnTx/>
                <a:uFillTx/>
                <a:latin typeface="Lato"/>
                <a:ea typeface="+mn-ea"/>
                <a:cs typeface="+mn-cs"/>
              </a:rPr>
              <a:t>Actual</a:t>
            </a:r>
          </a:p>
        </p:txBody>
      </p:sp>
      <p:sp>
        <p:nvSpPr>
          <p:cNvPr id="20" name="TextBox 19">
            <a:extLst>
              <a:ext uri="{FF2B5EF4-FFF2-40B4-BE49-F238E27FC236}">
                <a16:creationId xmlns:a16="http://schemas.microsoft.com/office/drawing/2014/main" id="{C73A9155-5FD2-9B17-D017-103854D485FF}"/>
              </a:ext>
            </a:extLst>
          </p:cNvPr>
          <p:cNvSpPr txBox="1"/>
          <p:nvPr/>
        </p:nvSpPr>
        <p:spPr>
          <a:xfrm>
            <a:off x="4448432" y="5960585"/>
            <a:ext cx="72904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prstClr val="black"/>
                </a:solidFill>
                <a:effectLst/>
                <a:uLnTx/>
                <a:uFillTx/>
                <a:latin typeface="Lato"/>
                <a:ea typeface="+mn-ea"/>
                <a:cs typeface="+mn-cs"/>
              </a:rPr>
              <a:t>Actual</a:t>
            </a:r>
          </a:p>
        </p:txBody>
      </p:sp>
      <p:sp>
        <p:nvSpPr>
          <p:cNvPr id="21" name="TextBox 20">
            <a:extLst>
              <a:ext uri="{FF2B5EF4-FFF2-40B4-BE49-F238E27FC236}">
                <a16:creationId xmlns:a16="http://schemas.microsoft.com/office/drawing/2014/main" id="{6C2690DA-914D-ABA7-1E37-8F54D8D42136}"/>
              </a:ext>
            </a:extLst>
          </p:cNvPr>
          <p:cNvSpPr txBox="1"/>
          <p:nvPr/>
        </p:nvSpPr>
        <p:spPr>
          <a:xfrm>
            <a:off x="5897004" y="5960585"/>
            <a:ext cx="99060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prstClr val="black"/>
                </a:solidFill>
                <a:effectLst/>
                <a:uLnTx/>
                <a:uFillTx/>
                <a:latin typeface="Lato"/>
                <a:ea typeface="+mn-ea"/>
                <a:cs typeface="+mn-cs"/>
              </a:rPr>
              <a:t>Forecast</a:t>
            </a:r>
          </a:p>
        </p:txBody>
      </p:sp>
      <p:sp>
        <p:nvSpPr>
          <p:cNvPr id="22" name="TextBox 21">
            <a:extLst>
              <a:ext uri="{FF2B5EF4-FFF2-40B4-BE49-F238E27FC236}">
                <a16:creationId xmlns:a16="http://schemas.microsoft.com/office/drawing/2014/main" id="{2A7FAFE1-6705-E2D0-0FC1-F46DB954700A}"/>
              </a:ext>
            </a:extLst>
          </p:cNvPr>
          <p:cNvSpPr txBox="1"/>
          <p:nvPr/>
        </p:nvSpPr>
        <p:spPr>
          <a:xfrm>
            <a:off x="7426922" y="5960585"/>
            <a:ext cx="108302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prstClr val="black"/>
                </a:solidFill>
                <a:effectLst/>
                <a:uLnTx/>
                <a:uFillTx/>
                <a:latin typeface="Lato"/>
                <a:ea typeface="+mn-ea"/>
                <a:cs typeface="+mn-cs"/>
              </a:rPr>
              <a:t>Budget Target</a:t>
            </a:r>
            <a:br>
              <a:rPr kumimoji="0" lang="en-US" sz="1200" b="0" i="0" u="none" strike="noStrike" kern="1200" cap="none" spc="0" normalizeH="0" baseline="0" noProof="0">
                <a:ln>
                  <a:noFill/>
                </a:ln>
                <a:solidFill>
                  <a:prstClr val="black"/>
                </a:solidFill>
                <a:effectLst/>
                <a:uLnTx/>
                <a:uFillTx/>
                <a:latin typeface="Lato"/>
                <a:ea typeface="+mn-ea"/>
                <a:cs typeface="+mn-cs"/>
              </a:rPr>
            </a:br>
            <a:r>
              <a:rPr kumimoji="0" lang="en-US" sz="1200" b="0" i="0" u="none" strike="noStrike" kern="1200" cap="none" spc="0" normalizeH="0" baseline="0" noProof="0">
                <a:ln>
                  <a:noFill/>
                </a:ln>
                <a:solidFill>
                  <a:prstClr val="black"/>
                </a:solidFill>
                <a:effectLst/>
                <a:uLnTx/>
                <a:uFillTx/>
                <a:latin typeface="Lato"/>
                <a:ea typeface="+mn-ea"/>
                <a:cs typeface="+mn-cs"/>
              </a:rPr>
              <a:t>Scenarios</a:t>
            </a:r>
          </a:p>
        </p:txBody>
      </p:sp>
      <p:sp>
        <p:nvSpPr>
          <p:cNvPr id="23" name="TextBox 22">
            <a:extLst>
              <a:ext uri="{FF2B5EF4-FFF2-40B4-BE49-F238E27FC236}">
                <a16:creationId xmlns:a16="http://schemas.microsoft.com/office/drawing/2014/main" id="{CB69ED83-605B-D9F9-3641-72D967C7885A}"/>
              </a:ext>
            </a:extLst>
          </p:cNvPr>
          <p:cNvSpPr txBox="1"/>
          <p:nvPr/>
        </p:nvSpPr>
        <p:spPr>
          <a:xfrm>
            <a:off x="8971003" y="5960585"/>
            <a:ext cx="116643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prstClr val="black"/>
                </a:solidFill>
                <a:effectLst/>
                <a:uLnTx/>
                <a:uFillTx/>
                <a:latin typeface="Lato"/>
                <a:ea typeface="+mn-ea"/>
                <a:cs typeface="+mn-cs"/>
              </a:rPr>
              <a:t>Budget Target</a:t>
            </a:r>
          </a:p>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prstClr val="black"/>
                </a:solidFill>
                <a:effectLst/>
                <a:uLnTx/>
                <a:uFillTx/>
                <a:latin typeface="Lato"/>
                <a:ea typeface="+mn-ea"/>
                <a:cs typeface="+mn-cs"/>
              </a:rPr>
              <a:t>Scenarios</a:t>
            </a:r>
          </a:p>
        </p:txBody>
      </p:sp>
      <p:sp>
        <p:nvSpPr>
          <p:cNvPr id="24" name="TextBox 23">
            <a:extLst>
              <a:ext uri="{FF2B5EF4-FFF2-40B4-BE49-F238E27FC236}">
                <a16:creationId xmlns:a16="http://schemas.microsoft.com/office/drawing/2014/main" id="{5F2365D8-83E9-791F-16A3-B70C83757C16}"/>
              </a:ext>
            </a:extLst>
          </p:cNvPr>
          <p:cNvSpPr txBox="1"/>
          <p:nvPr/>
        </p:nvSpPr>
        <p:spPr>
          <a:xfrm>
            <a:off x="10554719" y="5960585"/>
            <a:ext cx="116643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prstClr val="black"/>
                </a:solidFill>
                <a:effectLst/>
                <a:uLnTx/>
                <a:uFillTx/>
                <a:latin typeface="Lato"/>
                <a:ea typeface="+mn-ea"/>
                <a:cs typeface="+mn-cs"/>
              </a:rPr>
              <a:t>Budget Target</a:t>
            </a:r>
          </a:p>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prstClr val="black"/>
                </a:solidFill>
                <a:effectLst/>
                <a:uLnTx/>
                <a:uFillTx/>
                <a:latin typeface="Lato"/>
                <a:ea typeface="+mn-ea"/>
                <a:cs typeface="+mn-cs"/>
              </a:rPr>
              <a:t>Scenarios</a:t>
            </a:r>
          </a:p>
        </p:txBody>
      </p:sp>
      <p:sp>
        <p:nvSpPr>
          <p:cNvPr id="3" name="TextBox 2">
            <a:extLst>
              <a:ext uri="{FF2B5EF4-FFF2-40B4-BE49-F238E27FC236}">
                <a16:creationId xmlns:a16="http://schemas.microsoft.com/office/drawing/2014/main" id="{64D1FAE5-A8E2-D7C8-850E-C781D3366F4E}"/>
              </a:ext>
            </a:extLst>
          </p:cNvPr>
          <p:cNvSpPr txBox="1"/>
          <p:nvPr/>
        </p:nvSpPr>
        <p:spPr>
          <a:xfrm>
            <a:off x="6838177" y="3066474"/>
            <a:ext cx="741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srgbClr val="C8102E"/>
                </a:solidFill>
                <a:effectLst/>
                <a:uLnTx/>
                <a:uFillTx/>
                <a:latin typeface="Lato"/>
                <a:ea typeface="+mn-ea"/>
                <a:cs typeface="+mn-cs"/>
              </a:rPr>
              <a:t>-3%</a:t>
            </a:r>
          </a:p>
        </p:txBody>
      </p:sp>
      <p:sp>
        <p:nvSpPr>
          <p:cNvPr id="9" name="TextBox 8">
            <a:extLst>
              <a:ext uri="{FF2B5EF4-FFF2-40B4-BE49-F238E27FC236}">
                <a16:creationId xmlns:a16="http://schemas.microsoft.com/office/drawing/2014/main" id="{C4B26E91-4030-C7B7-46A3-C62DE09A074C}"/>
              </a:ext>
            </a:extLst>
          </p:cNvPr>
          <p:cNvSpPr txBox="1"/>
          <p:nvPr/>
        </p:nvSpPr>
        <p:spPr>
          <a:xfrm>
            <a:off x="8410186" y="3786510"/>
            <a:ext cx="741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srgbClr val="000000"/>
                </a:solidFill>
                <a:effectLst/>
                <a:uLnTx/>
                <a:uFillTx/>
                <a:latin typeface="Lato"/>
                <a:ea typeface="+mn-ea"/>
                <a:cs typeface="+mn-cs"/>
              </a:rPr>
              <a:t>-1%</a:t>
            </a:r>
          </a:p>
        </p:txBody>
      </p:sp>
      <p:sp>
        <p:nvSpPr>
          <p:cNvPr id="17" name="TextBox 16">
            <a:extLst>
              <a:ext uri="{FF2B5EF4-FFF2-40B4-BE49-F238E27FC236}">
                <a16:creationId xmlns:a16="http://schemas.microsoft.com/office/drawing/2014/main" id="{D0542701-11A2-C5BA-B997-DC79CD6DBDF7}"/>
              </a:ext>
            </a:extLst>
          </p:cNvPr>
          <p:cNvSpPr txBox="1"/>
          <p:nvPr/>
        </p:nvSpPr>
        <p:spPr>
          <a:xfrm>
            <a:off x="9949954" y="3844073"/>
            <a:ext cx="741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srgbClr val="000000"/>
                </a:solidFill>
                <a:effectLst/>
                <a:uLnTx/>
                <a:uFillTx/>
                <a:latin typeface="Lato"/>
                <a:ea typeface="+mn-ea"/>
                <a:cs typeface="+mn-cs"/>
              </a:rPr>
              <a:t>-1%</a:t>
            </a:r>
          </a:p>
        </p:txBody>
      </p:sp>
      <p:sp>
        <p:nvSpPr>
          <p:cNvPr id="25" name="TextBox 24">
            <a:extLst>
              <a:ext uri="{FF2B5EF4-FFF2-40B4-BE49-F238E27FC236}">
                <a16:creationId xmlns:a16="http://schemas.microsoft.com/office/drawing/2014/main" id="{62BE0563-58B3-A97A-F7BD-6C9B9AE74088}"/>
              </a:ext>
            </a:extLst>
          </p:cNvPr>
          <p:cNvSpPr txBox="1"/>
          <p:nvPr/>
        </p:nvSpPr>
        <p:spPr>
          <a:xfrm>
            <a:off x="8410184" y="3169770"/>
            <a:ext cx="741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srgbClr val="C8102E"/>
                </a:solidFill>
                <a:effectLst/>
                <a:uLnTx/>
                <a:uFillTx/>
                <a:latin typeface="Lato"/>
                <a:ea typeface="+mn-ea"/>
                <a:cs typeface="+mn-cs"/>
              </a:rPr>
              <a:t>-1%</a:t>
            </a:r>
          </a:p>
        </p:txBody>
      </p:sp>
      <p:sp>
        <p:nvSpPr>
          <p:cNvPr id="26" name="TextBox 25">
            <a:extLst>
              <a:ext uri="{FF2B5EF4-FFF2-40B4-BE49-F238E27FC236}">
                <a16:creationId xmlns:a16="http://schemas.microsoft.com/office/drawing/2014/main" id="{093E7EA7-D4C2-07ED-028A-13CEC464AE45}"/>
              </a:ext>
            </a:extLst>
          </p:cNvPr>
          <p:cNvSpPr txBox="1"/>
          <p:nvPr/>
        </p:nvSpPr>
        <p:spPr>
          <a:xfrm>
            <a:off x="9971883" y="3228715"/>
            <a:ext cx="741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srgbClr val="C8102E"/>
                </a:solidFill>
                <a:effectLst/>
                <a:uLnTx/>
                <a:uFillTx/>
                <a:latin typeface="Lato"/>
                <a:ea typeface="+mn-ea"/>
                <a:cs typeface="+mn-cs"/>
              </a:rPr>
              <a:t>-1%</a:t>
            </a:r>
          </a:p>
        </p:txBody>
      </p:sp>
      <p:sp>
        <p:nvSpPr>
          <p:cNvPr id="4" name="TextBox 3">
            <a:extLst>
              <a:ext uri="{FF2B5EF4-FFF2-40B4-BE49-F238E27FC236}">
                <a16:creationId xmlns:a16="http://schemas.microsoft.com/office/drawing/2014/main" id="{94CCF381-A4E0-DC7D-5B2A-43964C93A9A3}"/>
              </a:ext>
            </a:extLst>
          </p:cNvPr>
          <p:cNvSpPr txBox="1"/>
          <p:nvPr/>
        </p:nvSpPr>
        <p:spPr>
          <a:xfrm>
            <a:off x="2121761" y="1757233"/>
            <a:ext cx="741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srgbClr val="000000"/>
                </a:solidFill>
                <a:effectLst/>
                <a:uLnTx/>
                <a:uFillTx/>
                <a:latin typeface="Lato"/>
                <a:ea typeface="+mn-ea"/>
                <a:cs typeface="+mn-cs"/>
              </a:rPr>
              <a:t>-3%</a:t>
            </a:r>
          </a:p>
        </p:txBody>
      </p:sp>
      <p:sp>
        <p:nvSpPr>
          <p:cNvPr id="5" name="TextBox 4">
            <a:extLst>
              <a:ext uri="{FF2B5EF4-FFF2-40B4-BE49-F238E27FC236}">
                <a16:creationId xmlns:a16="http://schemas.microsoft.com/office/drawing/2014/main" id="{D288806F-D965-B0CC-9CF7-B7CDED8D30B4}"/>
              </a:ext>
            </a:extLst>
          </p:cNvPr>
          <p:cNvSpPr txBox="1"/>
          <p:nvPr/>
        </p:nvSpPr>
        <p:spPr>
          <a:xfrm>
            <a:off x="3728134" y="2154647"/>
            <a:ext cx="741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srgbClr val="000000"/>
                </a:solidFill>
                <a:effectLst/>
                <a:uLnTx/>
                <a:uFillTx/>
                <a:latin typeface="Lato"/>
                <a:ea typeface="+mn-ea"/>
                <a:cs typeface="+mn-cs"/>
              </a:rPr>
              <a:t>-9%</a:t>
            </a:r>
          </a:p>
        </p:txBody>
      </p:sp>
      <p:sp>
        <p:nvSpPr>
          <p:cNvPr id="6" name="TextBox 5">
            <a:extLst>
              <a:ext uri="{FF2B5EF4-FFF2-40B4-BE49-F238E27FC236}">
                <a16:creationId xmlns:a16="http://schemas.microsoft.com/office/drawing/2014/main" id="{D1EA7AE3-57ED-ECCF-89E8-8BB8B99CCD02}"/>
              </a:ext>
            </a:extLst>
          </p:cNvPr>
          <p:cNvSpPr txBox="1"/>
          <p:nvPr/>
        </p:nvSpPr>
        <p:spPr>
          <a:xfrm>
            <a:off x="5311043" y="2715040"/>
            <a:ext cx="741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r>
              <a:rPr kumimoji="0" lang="en-US" sz="1200" b="0" i="0" u="none" strike="noStrike" kern="1200" cap="none" spc="0" normalizeH="0" baseline="0" noProof="0">
                <a:ln>
                  <a:noFill/>
                </a:ln>
                <a:solidFill>
                  <a:srgbClr val="000000"/>
                </a:solidFill>
                <a:effectLst/>
                <a:uLnTx/>
                <a:uFillTx/>
                <a:latin typeface="Lato"/>
                <a:ea typeface="+mn-ea"/>
                <a:cs typeface="+mn-cs"/>
              </a:rPr>
              <a:t>-9%</a:t>
            </a:r>
          </a:p>
        </p:txBody>
      </p:sp>
      <p:sp>
        <p:nvSpPr>
          <p:cNvPr id="11" name="5-Point Star 10">
            <a:extLst>
              <a:ext uri="{FF2B5EF4-FFF2-40B4-BE49-F238E27FC236}">
                <a16:creationId xmlns:a16="http://schemas.microsoft.com/office/drawing/2014/main" id="{2DE7672D-32CC-A9B2-F305-64E63328C0A5}"/>
              </a:ext>
            </a:extLst>
          </p:cNvPr>
          <p:cNvSpPr/>
          <p:nvPr/>
        </p:nvSpPr>
        <p:spPr>
          <a:xfrm>
            <a:off x="6282987" y="2450664"/>
            <a:ext cx="239902" cy="239902"/>
          </a:xfrm>
          <a:prstGeom prst="star5">
            <a:avLst/>
          </a:prstGeom>
          <a:solidFill>
            <a:schemeClr val="tx1"/>
          </a:solidFill>
          <a:ln>
            <a:solidFill>
              <a:schemeClr val="tx1"/>
            </a:solidFill>
          </a:ln>
        </p:spPr>
        <p:style>
          <a:lnRef idx="2">
            <a:srgbClr val="000000">
              <a:shade val="15000"/>
            </a:srgbClr>
          </a:lnRef>
          <a:fillRef idx="1">
            <a:srgbClr val="000000"/>
          </a:fillRef>
          <a:effectRef idx="0">
            <a:srgbClr val="00000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latin typeface="Lato"/>
              </a:defRPr>
            </a:pPr>
            <a:endParaRPr kumimoji="0" lang="en-US" sz="1800" b="0" i="0" u="none" strike="noStrike" kern="1200" cap="none" spc="0" normalizeH="0" baseline="0" noProof="0">
              <a:ln>
                <a:noFill/>
              </a:ln>
              <a:solidFill>
                <a:prstClr val="white"/>
              </a:solidFill>
              <a:effectLst/>
              <a:uLnTx/>
              <a:uFillTx/>
              <a:latin typeface="Lato"/>
              <a:ea typeface="+mn-ea"/>
              <a:cs typeface="+mn-cs"/>
            </a:endParaRPr>
          </a:p>
        </p:txBody>
      </p:sp>
      <p:sp>
        <p:nvSpPr>
          <p:cNvPr id="28" name="TextBox 27"/>
          <p:cNvSpPr txBox="1"/>
          <p:nvPr/>
        </p:nvSpPr>
        <p:spPr>
          <a:xfrm>
            <a:off x="457200" y="109728"/>
            <a:ext cx="11247120" cy="548640"/>
          </a:xfrm>
          <a:prstGeom prst="rect">
            <a:avLst/>
          </a:prstGeom>
          <a:noFill/>
        </p:spPr>
        <p:txBody>
          <a:bodyPr wrap="square" lIns="0" tIns="0" rIns="0" bIns="0">
            <a:noAutofit/>
          </a:bodyPr>
          <a:lstStyle/>
          <a:p>
            <a:pPr algn="l"/>
            <a:r>
              <a:rPr sz="2400" b="1">
                <a:solidFill>
                  <a:srgbClr val="000000"/>
                </a:solidFill>
                <a:latin typeface="Lato"/>
              </a:rPr>
              <a:t>Professional New Student Scenarios</a:t>
            </a:r>
          </a:p>
        </p:txBody>
      </p:sp>
      <p:sp>
        <p:nvSpPr>
          <p:cNvPr id="30" name="TextBox 2">
            <a:extLst>
              <a:ext uri="{FF2B5EF4-FFF2-40B4-BE49-F238E27FC236}">
                <a16:creationId xmlns:a16="http://schemas.microsoft.com/office/drawing/2014/main" id="{D8F8848A-3B07-E878-25E7-FCCFC5CC80E4}"/>
              </a:ext>
            </a:extLst>
          </p:cNvPr>
          <p:cNvSpPr txBox="1"/>
          <p:nvPr/>
        </p:nvSpPr>
        <p:spPr>
          <a:xfrm>
            <a:off x="10789920" y="109728"/>
            <a:ext cx="941832" cy="274320"/>
          </a:xfrm>
          <a:prstGeom prst="rect">
            <a:avLst/>
          </a:prstGeom>
          <a:solidFill>
            <a:srgbClr val="C8102E"/>
          </a:solidFill>
          <a:ln>
            <a:noFill/>
          </a:ln>
          <a:effectLst/>
        </p:spPr>
        <p:txBody>
          <a:bodyPr wrap="none" lIns="0" tIns="18288" rIns="0" bIns="0" anchor="ctr" anchorCtr="1">
            <a:noAutofit/>
          </a:bodyPr>
          <a:lstStyle/>
          <a:p>
            <a:pPr algn="r"/>
            <a:r>
              <a:rPr sz="1100" b="1" dirty="0">
                <a:solidFill>
                  <a:srgbClr val="FFFFFF"/>
                </a:solidFill>
                <a:latin typeface="Lato"/>
              </a:rPr>
              <a:t>Graduate</a:t>
            </a:r>
          </a:p>
        </p:txBody>
      </p:sp>
    </p:spTree>
    <p:extLst>
      <p:ext uri="{BB962C8B-B14F-4D97-AF65-F5344CB8AC3E}">
        <p14:creationId xmlns:p14="http://schemas.microsoft.com/office/powerpoint/2010/main" val="3897025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93192"/>
            <a:ext cx="11247120" cy="355091"/>
          </a:xfrm>
          <a:prstGeom prst="rect">
            <a:avLst/>
          </a:prstGeom>
          <a:noFill/>
        </p:spPr>
        <p:txBody>
          <a:bodyPr wrap="square" lIns="0" tIns="0" rIns="0" bIns="0">
            <a:noAutofit/>
          </a:bodyPr>
          <a:lstStyle/>
          <a:p>
            <a:pPr algn="l">
              <a:lnSpc>
                <a:spcPct val="105000"/>
              </a:lnSpc>
            </a:pPr>
            <a:r>
              <a:rPr sz="2000" b="1" dirty="0">
                <a:solidFill>
                  <a:srgbClr val="000000"/>
                </a:solidFill>
                <a:latin typeface="Lato"/>
              </a:rPr>
              <a:t>Full-time staff grew 46% since FY20, to 4,179 — but headcount has fallen 312 in the past year</a:t>
            </a:r>
          </a:p>
        </p:txBody>
      </p:sp>
      <p:sp>
        <p:nvSpPr>
          <p:cNvPr id="3" name="TextBox 2"/>
          <p:cNvSpPr txBox="1"/>
          <p:nvPr/>
        </p:nvSpPr>
        <p:spPr>
          <a:xfrm>
            <a:off x="457200" y="775715"/>
            <a:ext cx="11338560" cy="246221"/>
          </a:xfrm>
          <a:prstGeom prst="rect">
            <a:avLst/>
          </a:prstGeom>
          <a:noFill/>
        </p:spPr>
        <p:txBody>
          <a:bodyPr wrap="square" lIns="0" tIns="0" rIns="0" bIns="0">
            <a:spAutoFit/>
          </a:bodyPr>
          <a:lstStyle/>
          <a:p>
            <a:pPr algn="l"/>
            <a:r>
              <a:rPr sz="1600" b="0" i="1" dirty="0">
                <a:solidFill>
                  <a:srgbClr val="000000"/>
                </a:solidFill>
                <a:latin typeface="Lato"/>
              </a:rPr>
              <a:t>Total full-time staff by year, by funding source and campus  ·  </a:t>
            </a:r>
            <a:r>
              <a:rPr sz="1600" b="1" i="1" u="sng" dirty="0">
                <a:solidFill>
                  <a:srgbClr val="000000"/>
                </a:solidFill>
                <a:latin typeface="Lato"/>
              </a:rPr>
              <a:t>FY20 – FY27</a:t>
            </a:r>
            <a:r>
              <a:rPr sz="1600" b="0" i="1" dirty="0">
                <a:solidFill>
                  <a:srgbClr val="000000"/>
                </a:solidFill>
                <a:latin typeface="Lato"/>
              </a:rPr>
              <a:t>  ·  1 Oct snapshots; FY27 at 1 Aug 2026</a:t>
            </a:r>
          </a:p>
        </p:txBody>
      </p:sp>
      <p:sp>
        <p:nvSpPr>
          <p:cNvPr id="4" name="TextBox 3"/>
          <p:cNvSpPr txBox="1"/>
          <p:nvPr/>
        </p:nvSpPr>
        <p:spPr>
          <a:xfrm>
            <a:off x="457200" y="1068324"/>
            <a:ext cx="11338560" cy="192360"/>
          </a:xfrm>
          <a:prstGeom prst="rect">
            <a:avLst/>
          </a:prstGeom>
          <a:noFill/>
        </p:spPr>
        <p:txBody>
          <a:bodyPr wrap="square" lIns="0" tIns="0" rIns="0" bIns="0">
            <a:spAutoFit/>
          </a:bodyPr>
          <a:lstStyle/>
          <a:p>
            <a:pPr algn="l"/>
            <a:r>
              <a:rPr sz="1250" b="0" dirty="0">
                <a:solidFill>
                  <a:srgbClr val="000000"/>
                </a:solidFill>
                <a:latin typeface="Lato"/>
              </a:rPr>
              <a:t>Of the +1,312 net adds, London supplied 182 and Oakland 218; the rest of the internally funded base added 802, and externally funded staff 110.</a:t>
            </a:r>
          </a:p>
        </p:txBody>
      </p:sp>
      <p:sp>
        <p:nvSpPr>
          <p:cNvPr id="6" name="TextBox 5"/>
          <p:cNvSpPr txBox="1"/>
          <p:nvPr/>
        </p:nvSpPr>
        <p:spPr>
          <a:xfrm>
            <a:off x="1031557" y="3605157"/>
            <a:ext cx="914400" cy="237744"/>
          </a:xfrm>
          <a:prstGeom prst="rect">
            <a:avLst/>
          </a:prstGeom>
          <a:noFill/>
        </p:spPr>
        <p:txBody>
          <a:bodyPr wrap="square" lIns="0" tIns="0" rIns="0" bIns="0">
            <a:spAutoFit/>
          </a:bodyPr>
          <a:lstStyle/>
          <a:p>
            <a:pPr algn="ctr"/>
            <a:r>
              <a:rPr sz="1100" b="1">
                <a:solidFill>
                  <a:srgbClr val="000000"/>
                </a:solidFill>
                <a:latin typeface="Lato"/>
              </a:rPr>
              <a:t>2,867</a:t>
            </a:r>
          </a:p>
        </p:txBody>
      </p:sp>
      <p:sp>
        <p:nvSpPr>
          <p:cNvPr id="7" name="TextBox 6"/>
          <p:cNvSpPr txBox="1"/>
          <p:nvPr/>
        </p:nvSpPr>
        <p:spPr>
          <a:xfrm>
            <a:off x="1869376" y="3526767"/>
            <a:ext cx="914400" cy="237744"/>
          </a:xfrm>
          <a:prstGeom prst="rect">
            <a:avLst/>
          </a:prstGeom>
          <a:noFill/>
        </p:spPr>
        <p:txBody>
          <a:bodyPr wrap="square" lIns="0" tIns="0" rIns="0" bIns="0">
            <a:spAutoFit/>
          </a:bodyPr>
          <a:lstStyle/>
          <a:p>
            <a:pPr algn="ctr"/>
            <a:r>
              <a:rPr sz="1100" b="1">
                <a:solidFill>
                  <a:srgbClr val="000000"/>
                </a:solidFill>
                <a:latin typeface="Lato"/>
              </a:rPr>
              <a:t>3,055</a:t>
            </a:r>
          </a:p>
        </p:txBody>
      </p:sp>
      <p:sp>
        <p:nvSpPr>
          <p:cNvPr id="8" name="TextBox 7"/>
          <p:cNvSpPr txBox="1"/>
          <p:nvPr/>
        </p:nvSpPr>
        <p:spPr>
          <a:xfrm>
            <a:off x="2707195" y="3513007"/>
            <a:ext cx="914400" cy="237744"/>
          </a:xfrm>
          <a:prstGeom prst="rect">
            <a:avLst/>
          </a:prstGeom>
          <a:noFill/>
        </p:spPr>
        <p:txBody>
          <a:bodyPr wrap="square" lIns="0" tIns="0" rIns="0" bIns="0">
            <a:spAutoFit/>
          </a:bodyPr>
          <a:lstStyle/>
          <a:p>
            <a:pPr algn="ctr"/>
            <a:r>
              <a:rPr sz="1100" b="1">
                <a:solidFill>
                  <a:srgbClr val="000000"/>
                </a:solidFill>
                <a:latin typeface="Lato"/>
              </a:rPr>
              <a:t>3,088</a:t>
            </a:r>
          </a:p>
        </p:txBody>
      </p:sp>
      <p:sp>
        <p:nvSpPr>
          <p:cNvPr id="9" name="TextBox 8"/>
          <p:cNvSpPr txBox="1"/>
          <p:nvPr/>
        </p:nvSpPr>
        <p:spPr>
          <a:xfrm>
            <a:off x="3545014" y="3277421"/>
            <a:ext cx="914400" cy="237744"/>
          </a:xfrm>
          <a:prstGeom prst="rect">
            <a:avLst/>
          </a:prstGeom>
          <a:noFill/>
        </p:spPr>
        <p:txBody>
          <a:bodyPr wrap="square" lIns="0" tIns="0" rIns="0" bIns="0">
            <a:spAutoFit/>
          </a:bodyPr>
          <a:lstStyle/>
          <a:p>
            <a:pPr algn="ctr"/>
            <a:r>
              <a:rPr sz="1100" b="1">
                <a:solidFill>
                  <a:srgbClr val="000000"/>
                </a:solidFill>
                <a:latin typeface="Lato"/>
              </a:rPr>
              <a:t>3,653</a:t>
            </a:r>
          </a:p>
        </p:txBody>
      </p:sp>
      <p:sp>
        <p:nvSpPr>
          <p:cNvPr id="10" name="TextBox 9"/>
          <p:cNvSpPr txBox="1"/>
          <p:nvPr/>
        </p:nvSpPr>
        <p:spPr>
          <a:xfrm>
            <a:off x="4382833" y="3018485"/>
            <a:ext cx="914400" cy="237744"/>
          </a:xfrm>
          <a:prstGeom prst="rect">
            <a:avLst/>
          </a:prstGeom>
          <a:noFill/>
        </p:spPr>
        <p:txBody>
          <a:bodyPr wrap="square" lIns="0" tIns="0" rIns="0" bIns="0">
            <a:spAutoFit/>
          </a:bodyPr>
          <a:lstStyle/>
          <a:p>
            <a:pPr algn="ctr"/>
            <a:r>
              <a:rPr sz="1100" b="1">
                <a:solidFill>
                  <a:srgbClr val="000000"/>
                </a:solidFill>
                <a:latin typeface="Lato"/>
              </a:rPr>
              <a:t>4,274</a:t>
            </a:r>
          </a:p>
        </p:txBody>
      </p:sp>
      <p:sp>
        <p:nvSpPr>
          <p:cNvPr id="11" name="TextBox 10"/>
          <p:cNvSpPr txBox="1"/>
          <p:nvPr/>
        </p:nvSpPr>
        <p:spPr>
          <a:xfrm>
            <a:off x="5220652" y="2946350"/>
            <a:ext cx="914400" cy="237744"/>
          </a:xfrm>
          <a:prstGeom prst="rect">
            <a:avLst/>
          </a:prstGeom>
          <a:noFill/>
        </p:spPr>
        <p:txBody>
          <a:bodyPr wrap="square" lIns="0" tIns="0" rIns="0" bIns="0">
            <a:spAutoFit/>
          </a:bodyPr>
          <a:lstStyle/>
          <a:p>
            <a:pPr algn="ctr"/>
            <a:r>
              <a:rPr sz="1100" b="1">
                <a:solidFill>
                  <a:srgbClr val="000000"/>
                </a:solidFill>
                <a:latin typeface="Lato"/>
              </a:rPr>
              <a:t>4,447</a:t>
            </a:r>
          </a:p>
        </p:txBody>
      </p:sp>
      <p:sp>
        <p:nvSpPr>
          <p:cNvPr id="12" name="TextBox 11"/>
          <p:cNvSpPr txBox="1"/>
          <p:nvPr/>
        </p:nvSpPr>
        <p:spPr>
          <a:xfrm>
            <a:off x="6058471" y="2928003"/>
            <a:ext cx="914400" cy="237744"/>
          </a:xfrm>
          <a:prstGeom prst="rect">
            <a:avLst/>
          </a:prstGeom>
          <a:noFill/>
        </p:spPr>
        <p:txBody>
          <a:bodyPr wrap="square" lIns="0" tIns="0" rIns="0" bIns="0">
            <a:spAutoFit/>
          </a:bodyPr>
          <a:lstStyle/>
          <a:p>
            <a:pPr algn="ctr"/>
            <a:r>
              <a:rPr sz="1100" b="1">
                <a:solidFill>
                  <a:srgbClr val="000000"/>
                </a:solidFill>
                <a:latin typeface="Lato"/>
              </a:rPr>
              <a:t>4,491</a:t>
            </a:r>
          </a:p>
        </p:txBody>
      </p:sp>
      <p:sp>
        <p:nvSpPr>
          <p:cNvPr id="13" name="TextBox 12"/>
          <p:cNvSpPr txBox="1"/>
          <p:nvPr/>
        </p:nvSpPr>
        <p:spPr>
          <a:xfrm>
            <a:off x="6896290" y="3058097"/>
            <a:ext cx="914400" cy="237744"/>
          </a:xfrm>
          <a:prstGeom prst="rect">
            <a:avLst/>
          </a:prstGeom>
          <a:noFill/>
        </p:spPr>
        <p:txBody>
          <a:bodyPr wrap="square" lIns="0" tIns="0" rIns="0" bIns="0">
            <a:spAutoFit/>
          </a:bodyPr>
          <a:lstStyle/>
          <a:p>
            <a:pPr algn="ctr"/>
            <a:r>
              <a:rPr sz="1100" b="1">
                <a:solidFill>
                  <a:srgbClr val="000000"/>
                </a:solidFill>
                <a:latin typeface="Lato"/>
              </a:rPr>
              <a:t>4,179</a:t>
            </a:r>
          </a:p>
        </p:txBody>
      </p:sp>
      <p:sp>
        <p:nvSpPr>
          <p:cNvPr id="14" name="TextBox 13"/>
          <p:cNvSpPr txBox="1"/>
          <p:nvPr/>
        </p:nvSpPr>
        <p:spPr>
          <a:xfrm>
            <a:off x="8092440" y="2770632"/>
            <a:ext cx="3749039" cy="184666"/>
          </a:xfrm>
          <a:prstGeom prst="rect">
            <a:avLst/>
          </a:prstGeom>
          <a:noFill/>
        </p:spPr>
        <p:txBody>
          <a:bodyPr wrap="square" lIns="0" tIns="0" rIns="0" bIns="0">
            <a:spAutoFit/>
          </a:bodyPr>
          <a:lstStyle/>
          <a:p>
            <a:pPr algn="r"/>
            <a:r>
              <a:rPr sz="1200" b="1" dirty="0">
                <a:solidFill>
                  <a:srgbClr val="000000"/>
                </a:solidFill>
                <a:latin typeface="Lato"/>
              </a:rPr>
              <a:t>CAGR  FY20 → FY27</a:t>
            </a:r>
          </a:p>
        </p:txBody>
      </p:sp>
      <p:sp>
        <p:nvSpPr>
          <p:cNvPr id="16" name="TextBox 15"/>
          <p:cNvSpPr txBox="1"/>
          <p:nvPr/>
        </p:nvSpPr>
        <p:spPr>
          <a:xfrm>
            <a:off x="8092440" y="3108960"/>
            <a:ext cx="2743200" cy="153888"/>
          </a:xfrm>
          <a:prstGeom prst="rect">
            <a:avLst/>
          </a:prstGeom>
          <a:noFill/>
        </p:spPr>
        <p:txBody>
          <a:bodyPr wrap="square" lIns="0" tIns="0" rIns="0" bIns="0" anchor="ctr">
            <a:spAutoFit/>
          </a:bodyPr>
          <a:lstStyle/>
          <a:p>
            <a:pPr algn="l"/>
            <a:r>
              <a:rPr sz="1000" b="0">
                <a:solidFill>
                  <a:schemeClr val="bg1"/>
                </a:solidFill>
                <a:latin typeface="Lato"/>
              </a:rPr>
              <a:t>Externally funded  </a:t>
            </a:r>
            <a:r>
              <a:rPr sz="850" b="0">
                <a:solidFill>
                  <a:schemeClr val="bg1"/>
                </a:solidFill>
                <a:latin typeface="Lato"/>
              </a:rPr>
              <a:t>(+110)</a:t>
            </a:r>
          </a:p>
        </p:txBody>
      </p:sp>
      <p:sp>
        <p:nvSpPr>
          <p:cNvPr id="17" name="TextBox 16"/>
          <p:cNvSpPr txBox="1"/>
          <p:nvPr/>
        </p:nvSpPr>
        <p:spPr>
          <a:xfrm>
            <a:off x="10881359" y="3044952"/>
            <a:ext cx="960120" cy="274320"/>
          </a:xfrm>
          <a:prstGeom prst="rect">
            <a:avLst/>
          </a:prstGeom>
          <a:noFill/>
        </p:spPr>
        <p:txBody>
          <a:bodyPr wrap="square" lIns="0" tIns="0" rIns="0" bIns="0" anchor="ctr">
            <a:spAutoFit/>
          </a:bodyPr>
          <a:lstStyle/>
          <a:p>
            <a:pPr algn="r"/>
            <a:r>
              <a:rPr sz="1100" b="1">
                <a:solidFill>
                  <a:srgbClr val="7F7F7F"/>
                </a:solidFill>
                <a:latin typeface="Lato"/>
              </a:rPr>
              <a:t>+9.9%</a:t>
            </a:r>
          </a:p>
        </p:txBody>
      </p:sp>
      <p:sp>
        <p:nvSpPr>
          <p:cNvPr id="19" name="TextBox 18"/>
          <p:cNvSpPr txBox="1"/>
          <p:nvPr/>
        </p:nvSpPr>
        <p:spPr>
          <a:xfrm>
            <a:off x="8092440" y="4023360"/>
            <a:ext cx="2743200" cy="153888"/>
          </a:xfrm>
          <a:prstGeom prst="rect">
            <a:avLst/>
          </a:prstGeom>
          <a:noFill/>
        </p:spPr>
        <p:txBody>
          <a:bodyPr wrap="square" lIns="0" tIns="0" rIns="0" bIns="0" anchor="ctr">
            <a:spAutoFit/>
          </a:bodyPr>
          <a:lstStyle/>
          <a:p>
            <a:pPr algn="l"/>
            <a:r>
              <a:rPr sz="1000" b="0" dirty="0">
                <a:solidFill>
                  <a:schemeClr val="bg1"/>
                </a:solidFill>
                <a:latin typeface="Lato"/>
              </a:rPr>
              <a:t>London  </a:t>
            </a:r>
            <a:r>
              <a:rPr sz="850" b="0" dirty="0">
                <a:solidFill>
                  <a:schemeClr val="bg1"/>
                </a:solidFill>
                <a:latin typeface="Lato"/>
              </a:rPr>
              <a:t>(+182)</a:t>
            </a:r>
          </a:p>
        </p:txBody>
      </p:sp>
      <p:sp>
        <p:nvSpPr>
          <p:cNvPr id="20" name="TextBox 19"/>
          <p:cNvSpPr txBox="1"/>
          <p:nvPr/>
        </p:nvSpPr>
        <p:spPr>
          <a:xfrm>
            <a:off x="10881359" y="3959352"/>
            <a:ext cx="960120" cy="274320"/>
          </a:xfrm>
          <a:prstGeom prst="rect">
            <a:avLst/>
          </a:prstGeom>
          <a:noFill/>
        </p:spPr>
        <p:txBody>
          <a:bodyPr wrap="square" lIns="0" tIns="0" rIns="0" bIns="0" anchor="ctr">
            <a:spAutoFit/>
          </a:bodyPr>
          <a:lstStyle/>
          <a:p>
            <a:pPr algn="r"/>
            <a:r>
              <a:rPr sz="1100" b="1">
                <a:solidFill>
                  <a:srgbClr val="9B9C9E"/>
                </a:solidFill>
                <a:latin typeface="Lato"/>
              </a:rPr>
              <a:t>n/a</a:t>
            </a:r>
          </a:p>
        </p:txBody>
      </p:sp>
      <p:sp>
        <p:nvSpPr>
          <p:cNvPr id="21" name="Rectangle 20"/>
          <p:cNvSpPr/>
          <p:nvPr/>
        </p:nvSpPr>
        <p:spPr>
          <a:xfrm>
            <a:off x="8092440" y="5202936"/>
            <a:ext cx="3749039" cy="13716"/>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92440" y="5330951"/>
            <a:ext cx="2194560" cy="310896"/>
          </a:xfrm>
          <a:prstGeom prst="rect">
            <a:avLst/>
          </a:prstGeom>
          <a:noFill/>
        </p:spPr>
        <p:txBody>
          <a:bodyPr wrap="square" lIns="0" tIns="0" rIns="0" bIns="0" anchor="ctr">
            <a:spAutoFit/>
          </a:bodyPr>
          <a:lstStyle/>
          <a:p>
            <a:pPr algn="l"/>
            <a:r>
              <a:rPr sz="1250" b="1">
                <a:solidFill>
                  <a:srgbClr val="000000"/>
                </a:solidFill>
                <a:latin typeface="Lato"/>
              </a:rPr>
              <a:t>Total University</a:t>
            </a:r>
          </a:p>
        </p:txBody>
      </p:sp>
      <p:sp>
        <p:nvSpPr>
          <p:cNvPr id="23" name="Oval 22"/>
          <p:cNvSpPr/>
          <p:nvPr/>
        </p:nvSpPr>
        <p:spPr>
          <a:xfrm>
            <a:off x="11109959" y="5257799"/>
            <a:ext cx="932688" cy="457200"/>
          </a:xfrm>
          <a:prstGeom prst="ellipse">
            <a:avLst/>
          </a:prstGeom>
          <a:noFill/>
          <a:ln w="1905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881359" y="5330951"/>
            <a:ext cx="960120" cy="310896"/>
          </a:xfrm>
          <a:prstGeom prst="rect">
            <a:avLst/>
          </a:prstGeom>
          <a:noFill/>
        </p:spPr>
        <p:txBody>
          <a:bodyPr wrap="square" lIns="0" tIns="0" rIns="0" bIns="0" anchor="ctr">
            <a:spAutoFit/>
          </a:bodyPr>
          <a:lstStyle/>
          <a:p>
            <a:pPr algn="r"/>
            <a:r>
              <a:rPr sz="1350" b="1">
                <a:solidFill>
                  <a:srgbClr val="C8102E"/>
                </a:solidFill>
                <a:latin typeface="Lato"/>
              </a:rPr>
              <a:t>+5.5%</a:t>
            </a:r>
          </a:p>
        </p:txBody>
      </p:sp>
      <p:sp>
        <p:nvSpPr>
          <p:cNvPr id="25" name="TextBox 24"/>
          <p:cNvSpPr txBox="1"/>
          <p:nvPr/>
        </p:nvSpPr>
        <p:spPr>
          <a:xfrm>
            <a:off x="8092440" y="5650992"/>
            <a:ext cx="3108960" cy="822960"/>
          </a:xfrm>
          <a:prstGeom prst="rect">
            <a:avLst/>
          </a:prstGeom>
          <a:noFill/>
        </p:spPr>
        <p:txBody>
          <a:bodyPr wrap="square" lIns="0" tIns="0" rIns="0" bIns="0">
            <a:spAutoFit/>
          </a:bodyPr>
          <a:lstStyle/>
          <a:p>
            <a:pPr algn="l">
              <a:lnSpc>
                <a:spcPct val="120000"/>
              </a:lnSpc>
              <a:spcAft>
                <a:spcPts val="500"/>
              </a:spcAft>
            </a:pPr>
            <a:r>
              <a:rPr sz="800" b="0">
                <a:solidFill>
                  <a:srgbClr val="49494D"/>
                </a:solidFill>
                <a:latin typeface="Lato"/>
              </a:rPr>
              <a:t>Externally funded = sponsored sources (Restricted and Research funds); internally funded = all other university sources.</a:t>
            </a:r>
          </a:p>
          <a:p>
            <a:pPr algn="l">
              <a:lnSpc>
                <a:spcPct val="120000"/>
              </a:lnSpc>
              <a:spcAft>
                <a:spcPts val="500"/>
              </a:spcAft>
            </a:pPr>
            <a:r>
              <a:rPr sz="800" b="0">
                <a:solidFill>
                  <a:srgbClr val="49494D"/>
                </a:solidFill>
                <a:latin typeface="Lato"/>
              </a:rPr>
              <a:t>Oakland and London are internally funded carve-outs; neither has a CAGR (zero FY20 base).</a:t>
            </a:r>
          </a:p>
        </p:txBody>
      </p:sp>
      <p:sp>
        <p:nvSpPr>
          <p:cNvPr id="38" name="Rectangle 37"/>
          <p:cNvSpPr/>
          <p:nvPr/>
        </p:nvSpPr>
        <p:spPr>
          <a:xfrm>
            <a:off x="9151620" y="1522476"/>
            <a:ext cx="2316480" cy="630156"/>
          </a:xfrm>
          <a:prstGeom prst="rect">
            <a:avLst/>
          </a:prstGeom>
          <a:solidFill>
            <a:srgbClr val="F6F6F4"/>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71432" y="1534668"/>
            <a:ext cx="2286000" cy="411480"/>
          </a:xfrm>
          <a:prstGeom prst="rect">
            <a:avLst/>
          </a:prstGeom>
          <a:noFill/>
        </p:spPr>
        <p:txBody>
          <a:bodyPr wrap="square" lIns="0" tIns="0" rIns="0" bIns="0">
            <a:spAutoFit/>
          </a:bodyPr>
          <a:lstStyle/>
          <a:p>
            <a:pPr algn="ctr"/>
            <a:r>
              <a:rPr sz="2600" b="1" dirty="0">
                <a:solidFill>
                  <a:srgbClr val="C8102E"/>
                </a:solidFill>
                <a:latin typeface="Lato"/>
              </a:rPr>
              <a:t>–312</a:t>
            </a:r>
          </a:p>
        </p:txBody>
      </p:sp>
      <p:sp>
        <p:nvSpPr>
          <p:cNvPr id="40" name="TextBox 39"/>
          <p:cNvSpPr txBox="1"/>
          <p:nvPr/>
        </p:nvSpPr>
        <p:spPr>
          <a:xfrm>
            <a:off x="9171432" y="1937004"/>
            <a:ext cx="2286000" cy="146194"/>
          </a:xfrm>
          <a:prstGeom prst="rect">
            <a:avLst/>
          </a:prstGeom>
          <a:noFill/>
        </p:spPr>
        <p:txBody>
          <a:bodyPr wrap="square" lIns="0" tIns="0" rIns="0" bIns="0">
            <a:spAutoFit/>
          </a:bodyPr>
          <a:lstStyle/>
          <a:p>
            <a:pPr algn="ctr"/>
            <a:r>
              <a:rPr sz="950" b="0">
                <a:solidFill>
                  <a:srgbClr val="49494D"/>
                </a:solidFill>
                <a:latin typeface="Lato"/>
              </a:rPr>
              <a:t>Change from FY26 peak of 4,491</a:t>
            </a:r>
          </a:p>
        </p:txBody>
      </p:sp>
      <p:graphicFrame>
        <p:nvGraphicFramePr>
          <p:cNvPr id="41" name="Chart 40" descr="Chart"/>
          <p:cNvGraphicFramePr>
            <a:graphicFrameLocks noGrp="1"/>
          </p:cNvGraphicFramePr>
          <p:nvPr/>
        </p:nvGraphicFramePr>
        <p:xfrm>
          <a:off x="411480" y="2788920"/>
          <a:ext cx="7498080" cy="3456432"/>
        </p:xfrm>
        <a:graphic>
          <a:graphicData uri="http://schemas.openxmlformats.org/drawingml/2006/chart">
            <c:chart xmlns:c="http://schemas.openxmlformats.org/drawingml/2006/chart" xmlns:r="http://schemas.openxmlformats.org/officeDocument/2006/relationships" r:id="rId3"/>
          </a:graphicData>
        </a:graphic>
      </p:graphicFrame>
      <p:sp>
        <p:nvSpPr>
          <p:cNvPr id="42" name="TextBox 41"/>
          <p:cNvSpPr txBox="1"/>
          <p:nvPr/>
        </p:nvSpPr>
        <p:spPr>
          <a:xfrm>
            <a:off x="8092440" y="4480560"/>
            <a:ext cx="2743200" cy="153888"/>
          </a:xfrm>
          <a:prstGeom prst="rect">
            <a:avLst/>
          </a:prstGeom>
          <a:noFill/>
        </p:spPr>
        <p:txBody>
          <a:bodyPr wrap="square" lIns="0" tIns="0" rIns="0" bIns="0" anchor="ctr">
            <a:spAutoFit/>
          </a:bodyPr>
          <a:lstStyle/>
          <a:p>
            <a:pPr algn="l"/>
            <a:r>
              <a:rPr sz="1000" b="0">
                <a:solidFill>
                  <a:schemeClr val="bg1"/>
                </a:solidFill>
                <a:latin typeface="Lato"/>
              </a:rPr>
              <a:t>Internally funded, all other  </a:t>
            </a:r>
            <a:r>
              <a:rPr sz="850" b="0">
                <a:solidFill>
                  <a:schemeClr val="bg1"/>
                </a:solidFill>
                <a:latin typeface="Lato"/>
              </a:rPr>
              <a:t>(+802)</a:t>
            </a:r>
          </a:p>
        </p:txBody>
      </p:sp>
      <p:sp>
        <p:nvSpPr>
          <p:cNvPr id="43" name="TextBox 42"/>
          <p:cNvSpPr txBox="1"/>
          <p:nvPr/>
        </p:nvSpPr>
        <p:spPr>
          <a:xfrm>
            <a:off x="10881360" y="4416552"/>
            <a:ext cx="960120" cy="274320"/>
          </a:xfrm>
          <a:prstGeom prst="rect">
            <a:avLst/>
          </a:prstGeom>
          <a:noFill/>
        </p:spPr>
        <p:txBody>
          <a:bodyPr wrap="square" lIns="0" tIns="0" rIns="0" bIns="0" anchor="ctr">
            <a:spAutoFit/>
          </a:bodyPr>
          <a:lstStyle/>
          <a:p>
            <a:pPr algn="r"/>
            <a:r>
              <a:rPr sz="1100" b="1">
                <a:solidFill>
                  <a:srgbClr val="7F7F7F"/>
                </a:solidFill>
                <a:latin typeface="Lato"/>
              </a:rPr>
              <a:t>+3.7%</a:t>
            </a:r>
          </a:p>
        </p:txBody>
      </p:sp>
      <p:sp>
        <p:nvSpPr>
          <p:cNvPr id="15" name="TextBox 14">
            <a:extLst>
              <a:ext uri="{FF2B5EF4-FFF2-40B4-BE49-F238E27FC236}">
                <a16:creationId xmlns:a16="http://schemas.microsoft.com/office/drawing/2014/main" id="{A783F1D6-CF1A-D3BE-0156-8D9DD7F21ADD}"/>
              </a:ext>
            </a:extLst>
          </p:cNvPr>
          <p:cNvSpPr txBox="1"/>
          <p:nvPr/>
        </p:nvSpPr>
        <p:spPr>
          <a:xfrm>
            <a:off x="1029329" y="5541264"/>
            <a:ext cx="877824" cy="237744"/>
          </a:xfrm>
          <a:prstGeom prst="rect">
            <a:avLst/>
          </a:prstGeom>
          <a:noFill/>
        </p:spPr>
        <p:txBody>
          <a:bodyPr wrap="square" lIns="0" tIns="0" rIns="0" bIns="0">
            <a:spAutoFit/>
          </a:bodyPr>
          <a:lstStyle/>
          <a:p>
            <a:pPr algn="ctr"/>
            <a:r>
              <a:rPr sz="900" b="1">
                <a:solidFill>
                  <a:srgbClr val="C8102E"/>
                </a:solidFill>
                <a:latin typeface="Lato"/>
              </a:rPr>
              <a:t>117</a:t>
            </a:r>
            <a:r>
              <a:rPr sz="800" b="0">
                <a:solidFill>
                  <a:srgbClr val="C8102E"/>
                </a:solidFill>
                <a:latin typeface="Lato"/>
              </a:rPr>
              <a:t>  (4.1%)</a:t>
            </a:r>
          </a:p>
        </p:txBody>
      </p:sp>
      <p:sp>
        <p:nvSpPr>
          <p:cNvPr id="47" name="TextBox 46">
            <a:extLst>
              <a:ext uri="{FF2B5EF4-FFF2-40B4-BE49-F238E27FC236}">
                <a16:creationId xmlns:a16="http://schemas.microsoft.com/office/drawing/2014/main" id="{DA47551C-3A16-B4B9-BE1C-E08143A59BF3}"/>
              </a:ext>
            </a:extLst>
          </p:cNvPr>
          <p:cNvSpPr txBox="1"/>
          <p:nvPr/>
        </p:nvSpPr>
        <p:spPr>
          <a:xfrm>
            <a:off x="1868176" y="5541264"/>
            <a:ext cx="877824" cy="237744"/>
          </a:xfrm>
          <a:prstGeom prst="rect">
            <a:avLst/>
          </a:prstGeom>
          <a:noFill/>
        </p:spPr>
        <p:txBody>
          <a:bodyPr wrap="square" lIns="0" tIns="0" rIns="0" bIns="0">
            <a:spAutoFit/>
          </a:bodyPr>
          <a:lstStyle/>
          <a:p>
            <a:pPr algn="ctr"/>
            <a:r>
              <a:rPr sz="900" b="1">
                <a:solidFill>
                  <a:srgbClr val="C8102E"/>
                </a:solidFill>
                <a:latin typeface="Lato"/>
              </a:rPr>
              <a:t>124</a:t>
            </a:r>
            <a:r>
              <a:rPr sz="800" b="0">
                <a:solidFill>
                  <a:srgbClr val="C8102E"/>
                </a:solidFill>
                <a:latin typeface="Lato"/>
              </a:rPr>
              <a:t>  (4.1%)</a:t>
            </a:r>
          </a:p>
        </p:txBody>
      </p:sp>
      <p:sp>
        <p:nvSpPr>
          <p:cNvPr id="49" name="TextBox 48">
            <a:extLst>
              <a:ext uri="{FF2B5EF4-FFF2-40B4-BE49-F238E27FC236}">
                <a16:creationId xmlns:a16="http://schemas.microsoft.com/office/drawing/2014/main" id="{764DC129-7D06-0473-A067-5DC8D3298DA2}"/>
              </a:ext>
            </a:extLst>
          </p:cNvPr>
          <p:cNvSpPr txBox="1"/>
          <p:nvPr/>
        </p:nvSpPr>
        <p:spPr>
          <a:xfrm>
            <a:off x="2707024" y="5541264"/>
            <a:ext cx="877824" cy="237744"/>
          </a:xfrm>
          <a:prstGeom prst="rect">
            <a:avLst/>
          </a:prstGeom>
          <a:noFill/>
        </p:spPr>
        <p:txBody>
          <a:bodyPr wrap="square" lIns="0" tIns="0" rIns="0" bIns="0">
            <a:spAutoFit/>
          </a:bodyPr>
          <a:lstStyle/>
          <a:p>
            <a:pPr algn="ctr"/>
            <a:r>
              <a:rPr sz="900" b="1">
                <a:solidFill>
                  <a:srgbClr val="C8102E"/>
                </a:solidFill>
                <a:latin typeface="Lato"/>
              </a:rPr>
              <a:t>124</a:t>
            </a:r>
            <a:r>
              <a:rPr sz="800" b="0">
                <a:solidFill>
                  <a:srgbClr val="C8102E"/>
                </a:solidFill>
                <a:latin typeface="Lato"/>
              </a:rPr>
              <a:t>  (4.0%)</a:t>
            </a:r>
          </a:p>
        </p:txBody>
      </p:sp>
      <p:sp>
        <p:nvSpPr>
          <p:cNvPr id="51" name="TextBox 50">
            <a:extLst>
              <a:ext uri="{FF2B5EF4-FFF2-40B4-BE49-F238E27FC236}">
                <a16:creationId xmlns:a16="http://schemas.microsoft.com/office/drawing/2014/main" id="{7744C945-C45B-2694-ADE1-E3C73F16C3AB}"/>
              </a:ext>
            </a:extLst>
          </p:cNvPr>
          <p:cNvSpPr txBox="1"/>
          <p:nvPr/>
        </p:nvSpPr>
        <p:spPr>
          <a:xfrm>
            <a:off x="3545872" y="5541264"/>
            <a:ext cx="877824" cy="237744"/>
          </a:xfrm>
          <a:prstGeom prst="rect">
            <a:avLst/>
          </a:prstGeom>
          <a:noFill/>
        </p:spPr>
        <p:txBody>
          <a:bodyPr wrap="square" lIns="0" tIns="0" rIns="0" bIns="0">
            <a:spAutoFit/>
          </a:bodyPr>
          <a:lstStyle/>
          <a:p>
            <a:pPr algn="ctr"/>
            <a:r>
              <a:rPr sz="900" b="1">
                <a:solidFill>
                  <a:srgbClr val="C8102E"/>
                </a:solidFill>
                <a:latin typeface="Lato"/>
              </a:rPr>
              <a:t>145</a:t>
            </a:r>
            <a:r>
              <a:rPr sz="800" b="0">
                <a:solidFill>
                  <a:srgbClr val="C8102E"/>
                </a:solidFill>
                <a:latin typeface="Lato"/>
              </a:rPr>
              <a:t>  (4.0%)</a:t>
            </a:r>
          </a:p>
        </p:txBody>
      </p:sp>
      <p:sp>
        <p:nvSpPr>
          <p:cNvPr id="53" name="TextBox 52">
            <a:extLst>
              <a:ext uri="{FF2B5EF4-FFF2-40B4-BE49-F238E27FC236}">
                <a16:creationId xmlns:a16="http://schemas.microsoft.com/office/drawing/2014/main" id="{06D4D450-F63D-EACB-340D-BE2A749DC5C7}"/>
              </a:ext>
            </a:extLst>
          </p:cNvPr>
          <p:cNvSpPr txBox="1"/>
          <p:nvPr/>
        </p:nvSpPr>
        <p:spPr>
          <a:xfrm>
            <a:off x="4384719" y="5541264"/>
            <a:ext cx="877824" cy="237744"/>
          </a:xfrm>
          <a:prstGeom prst="rect">
            <a:avLst/>
          </a:prstGeom>
          <a:noFill/>
        </p:spPr>
        <p:txBody>
          <a:bodyPr wrap="square" lIns="0" tIns="0" rIns="0" bIns="0">
            <a:spAutoFit/>
          </a:bodyPr>
          <a:lstStyle/>
          <a:p>
            <a:pPr algn="ctr"/>
            <a:r>
              <a:rPr sz="900" b="1">
                <a:solidFill>
                  <a:srgbClr val="C8102E"/>
                </a:solidFill>
                <a:latin typeface="Lato"/>
              </a:rPr>
              <a:t>176</a:t>
            </a:r>
            <a:r>
              <a:rPr sz="800" b="0">
                <a:solidFill>
                  <a:srgbClr val="C8102E"/>
                </a:solidFill>
                <a:latin typeface="Lato"/>
              </a:rPr>
              <a:t>  (4.1%)</a:t>
            </a:r>
          </a:p>
        </p:txBody>
      </p:sp>
      <p:sp>
        <p:nvSpPr>
          <p:cNvPr id="55" name="TextBox 54">
            <a:extLst>
              <a:ext uri="{FF2B5EF4-FFF2-40B4-BE49-F238E27FC236}">
                <a16:creationId xmlns:a16="http://schemas.microsoft.com/office/drawing/2014/main" id="{7AF2F221-2A4A-17DE-DBD1-F2F133A5F525}"/>
              </a:ext>
            </a:extLst>
          </p:cNvPr>
          <p:cNvSpPr txBox="1"/>
          <p:nvPr/>
        </p:nvSpPr>
        <p:spPr>
          <a:xfrm>
            <a:off x="5223567" y="5541264"/>
            <a:ext cx="877824" cy="237744"/>
          </a:xfrm>
          <a:prstGeom prst="rect">
            <a:avLst/>
          </a:prstGeom>
          <a:noFill/>
        </p:spPr>
        <p:txBody>
          <a:bodyPr wrap="square" lIns="0" tIns="0" rIns="0" bIns="0">
            <a:spAutoFit/>
          </a:bodyPr>
          <a:lstStyle/>
          <a:p>
            <a:pPr algn="ctr"/>
            <a:r>
              <a:rPr sz="900" b="1">
                <a:solidFill>
                  <a:srgbClr val="C8102E"/>
                </a:solidFill>
                <a:latin typeface="Lato"/>
              </a:rPr>
              <a:t>227</a:t>
            </a:r>
            <a:r>
              <a:rPr sz="800" b="0">
                <a:solidFill>
                  <a:srgbClr val="C8102E"/>
                </a:solidFill>
                <a:latin typeface="Lato"/>
              </a:rPr>
              <a:t>  (5.1%)</a:t>
            </a:r>
          </a:p>
        </p:txBody>
      </p:sp>
      <p:sp>
        <p:nvSpPr>
          <p:cNvPr id="57" name="TextBox 56">
            <a:extLst>
              <a:ext uri="{FF2B5EF4-FFF2-40B4-BE49-F238E27FC236}">
                <a16:creationId xmlns:a16="http://schemas.microsoft.com/office/drawing/2014/main" id="{77FB59F7-2E9A-4D03-2F6E-D81DC92F3033}"/>
              </a:ext>
            </a:extLst>
          </p:cNvPr>
          <p:cNvSpPr txBox="1"/>
          <p:nvPr/>
        </p:nvSpPr>
        <p:spPr>
          <a:xfrm>
            <a:off x="6062415" y="5541264"/>
            <a:ext cx="877824" cy="237744"/>
          </a:xfrm>
          <a:prstGeom prst="rect">
            <a:avLst/>
          </a:prstGeom>
          <a:noFill/>
        </p:spPr>
        <p:txBody>
          <a:bodyPr wrap="square" lIns="0" tIns="0" rIns="0" bIns="0">
            <a:spAutoFit/>
          </a:bodyPr>
          <a:lstStyle/>
          <a:p>
            <a:pPr algn="ctr"/>
            <a:r>
              <a:rPr sz="900" b="1">
                <a:solidFill>
                  <a:srgbClr val="C8102E"/>
                </a:solidFill>
                <a:latin typeface="Lato"/>
              </a:rPr>
              <a:t>217</a:t>
            </a:r>
            <a:r>
              <a:rPr sz="800" b="0">
                <a:solidFill>
                  <a:srgbClr val="C8102E"/>
                </a:solidFill>
                <a:latin typeface="Lato"/>
              </a:rPr>
              <a:t>  (4.8%)</a:t>
            </a:r>
          </a:p>
        </p:txBody>
      </p:sp>
      <p:sp>
        <p:nvSpPr>
          <p:cNvPr id="59" name="TextBox 58">
            <a:extLst>
              <a:ext uri="{FF2B5EF4-FFF2-40B4-BE49-F238E27FC236}">
                <a16:creationId xmlns:a16="http://schemas.microsoft.com/office/drawing/2014/main" id="{F25A2190-BC22-58E4-CE0D-BEC15DD50841}"/>
              </a:ext>
            </a:extLst>
          </p:cNvPr>
          <p:cNvSpPr txBox="1"/>
          <p:nvPr/>
        </p:nvSpPr>
        <p:spPr>
          <a:xfrm>
            <a:off x="6901263" y="5541264"/>
            <a:ext cx="877824" cy="237744"/>
          </a:xfrm>
          <a:prstGeom prst="rect">
            <a:avLst/>
          </a:prstGeom>
          <a:noFill/>
        </p:spPr>
        <p:txBody>
          <a:bodyPr wrap="square" lIns="0" tIns="0" rIns="0" bIns="0">
            <a:spAutoFit/>
          </a:bodyPr>
          <a:lstStyle/>
          <a:p>
            <a:pPr algn="ctr"/>
            <a:r>
              <a:rPr sz="900" b="1">
                <a:solidFill>
                  <a:srgbClr val="C8102E"/>
                </a:solidFill>
                <a:latin typeface="Lato"/>
              </a:rPr>
              <a:t>227</a:t>
            </a:r>
            <a:r>
              <a:rPr sz="800" b="0">
                <a:solidFill>
                  <a:srgbClr val="C8102E"/>
                </a:solidFill>
                <a:latin typeface="Lato"/>
              </a:rPr>
              <a:t>  (5.4%)</a:t>
            </a:r>
          </a:p>
        </p:txBody>
      </p:sp>
      <p:sp>
        <p:nvSpPr>
          <p:cNvPr id="61" name="TextBox 60">
            <a:extLst>
              <a:ext uri="{FF2B5EF4-FFF2-40B4-BE49-F238E27FC236}">
                <a16:creationId xmlns:a16="http://schemas.microsoft.com/office/drawing/2014/main" id="{EA2AADC3-3057-E67D-910E-A994E953A7B1}"/>
              </a:ext>
            </a:extLst>
          </p:cNvPr>
          <p:cNvSpPr txBox="1"/>
          <p:nvPr/>
        </p:nvSpPr>
        <p:spPr>
          <a:xfrm>
            <a:off x="365760" y="5541264"/>
            <a:ext cx="612648" cy="237744"/>
          </a:xfrm>
          <a:prstGeom prst="rect">
            <a:avLst/>
          </a:prstGeom>
          <a:noFill/>
        </p:spPr>
        <p:txBody>
          <a:bodyPr wrap="square" lIns="0" tIns="0" rIns="0" bIns="0">
            <a:spAutoFit/>
          </a:bodyPr>
          <a:lstStyle/>
          <a:p>
            <a:pPr algn="r">
              <a:lnSpc>
                <a:spcPct val="105000"/>
              </a:lnSpc>
            </a:pPr>
            <a:r>
              <a:rPr sz="700" b="0" dirty="0">
                <a:solidFill>
                  <a:srgbClr val="C8102E"/>
                </a:solidFill>
                <a:latin typeface="Lato"/>
              </a:rPr>
              <a:t>externally
funded</a:t>
            </a:r>
          </a:p>
        </p:txBody>
      </p:sp>
      <p:sp>
        <p:nvSpPr>
          <p:cNvPr id="63" name="Rectangle 62">
            <a:extLst>
              <a:ext uri="{FF2B5EF4-FFF2-40B4-BE49-F238E27FC236}">
                <a16:creationId xmlns:a16="http://schemas.microsoft.com/office/drawing/2014/main" id="{02A5F1C8-0C0F-7E3B-E693-5994788C3098}"/>
              </a:ext>
            </a:extLst>
          </p:cNvPr>
          <p:cNvSpPr/>
          <p:nvPr/>
        </p:nvSpPr>
        <p:spPr>
          <a:xfrm>
            <a:off x="647700" y="1485900"/>
            <a:ext cx="2316480" cy="630156"/>
          </a:xfrm>
          <a:prstGeom prst="rect">
            <a:avLst/>
          </a:prstGeom>
          <a:solidFill>
            <a:srgbClr val="F6F6F4"/>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DE90DC62-EE15-C944-E08F-365623436D07}"/>
              </a:ext>
            </a:extLst>
          </p:cNvPr>
          <p:cNvSpPr txBox="1"/>
          <p:nvPr/>
        </p:nvSpPr>
        <p:spPr>
          <a:xfrm>
            <a:off x="667512" y="1498092"/>
            <a:ext cx="2276856" cy="411480"/>
          </a:xfrm>
          <a:prstGeom prst="rect">
            <a:avLst/>
          </a:prstGeom>
          <a:noFill/>
        </p:spPr>
        <p:txBody>
          <a:bodyPr wrap="square" lIns="0" tIns="0" rIns="0" bIns="0">
            <a:spAutoFit/>
          </a:bodyPr>
          <a:lstStyle/>
          <a:p>
            <a:pPr algn="ctr"/>
            <a:r>
              <a:rPr sz="2600" b="1">
                <a:solidFill>
                  <a:srgbClr val="000000"/>
                </a:solidFill>
                <a:latin typeface="Lato"/>
              </a:rPr>
              <a:t>+1,312</a:t>
            </a:r>
          </a:p>
        </p:txBody>
      </p:sp>
      <p:sp>
        <p:nvSpPr>
          <p:cNvPr id="67" name="TextBox 66">
            <a:extLst>
              <a:ext uri="{FF2B5EF4-FFF2-40B4-BE49-F238E27FC236}">
                <a16:creationId xmlns:a16="http://schemas.microsoft.com/office/drawing/2014/main" id="{52FEE99B-BA8B-1391-F5A3-54516D9500A1}"/>
              </a:ext>
            </a:extLst>
          </p:cNvPr>
          <p:cNvSpPr txBox="1"/>
          <p:nvPr/>
        </p:nvSpPr>
        <p:spPr>
          <a:xfrm>
            <a:off x="667512" y="1900428"/>
            <a:ext cx="2276856" cy="146194"/>
          </a:xfrm>
          <a:prstGeom prst="rect">
            <a:avLst/>
          </a:prstGeom>
          <a:noFill/>
        </p:spPr>
        <p:txBody>
          <a:bodyPr wrap="square" lIns="0" tIns="0" rIns="0" bIns="0">
            <a:spAutoFit/>
          </a:bodyPr>
          <a:lstStyle/>
          <a:p>
            <a:pPr algn="ctr"/>
            <a:r>
              <a:rPr sz="950" b="0">
                <a:solidFill>
                  <a:srgbClr val="49494D"/>
                </a:solidFill>
                <a:latin typeface="Lato"/>
              </a:rPr>
              <a:t>Total FTE added since FY20 (+46%)</a:t>
            </a:r>
          </a:p>
        </p:txBody>
      </p:sp>
      <p:sp>
        <p:nvSpPr>
          <p:cNvPr id="69" name="Rectangle 68">
            <a:extLst>
              <a:ext uri="{FF2B5EF4-FFF2-40B4-BE49-F238E27FC236}">
                <a16:creationId xmlns:a16="http://schemas.microsoft.com/office/drawing/2014/main" id="{E310338A-9FDC-F80D-609B-5C8017F933CE}"/>
              </a:ext>
            </a:extLst>
          </p:cNvPr>
          <p:cNvSpPr/>
          <p:nvPr/>
        </p:nvSpPr>
        <p:spPr>
          <a:xfrm>
            <a:off x="3482340" y="1485899"/>
            <a:ext cx="2316480" cy="630156"/>
          </a:xfrm>
          <a:prstGeom prst="rect">
            <a:avLst/>
          </a:prstGeom>
          <a:solidFill>
            <a:srgbClr val="F6F6F4"/>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78ADF9F1-F3BD-080E-12A9-AB5689F59D98}"/>
              </a:ext>
            </a:extLst>
          </p:cNvPr>
          <p:cNvSpPr txBox="1"/>
          <p:nvPr/>
        </p:nvSpPr>
        <p:spPr>
          <a:xfrm>
            <a:off x="3502152" y="1498091"/>
            <a:ext cx="2276856" cy="411480"/>
          </a:xfrm>
          <a:prstGeom prst="rect">
            <a:avLst/>
          </a:prstGeom>
          <a:noFill/>
        </p:spPr>
        <p:txBody>
          <a:bodyPr wrap="square" lIns="0" tIns="0" rIns="0" bIns="0">
            <a:spAutoFit/>
          </a:bodyPr>
          <a:lstStyle/>
          <a:p>
            <a:pPr algn="ctr"/>
            <a:r>
              <a:rPr sz="2600" b="1">
                <a:solidFill>
                  <a:srgbClr val="000000"/>
                </a:solidFill>
                <a:latin typeface="Lato"/>
              </a:rPr>
              <a:t>+1,202</a:t>
            </a:r>
          </a:p>
        </p:txBody>
      </p:sp>
      <p:sp>
        <p:nvSpPr>
          <p:cNvPr id="73" name="TextBox 72">
            <a:extLst>
              <a:ext uri="{FF2B5EF4-FFF2-40B4-BE49-F238E27FC236}">
                <a16:creationId xmlns:a16="http://schemas.microsoft.com/office/drawing/2014/main" id="{73153D05-695E-D2A4-1B82-6A75212919CC}"/>
              </a:ext>
            </a:extLst>
          </p:cNvPr>
          <p:cNvSpPr txBox="1"/>
          <p:nvPr/>
        </p:nvSpPr>
        <p:spPr>
          <a:xfrm>
            <a:off x="3502152" y="1900427"/>
            <a:ext cx="2276856" cy="146194"/>
          </a:xfrm>
          <a:prstGeom prst="rect">
            <a:avLst/>
          </a:prstGeom>
          <a:noFill/>
        </p:spPr>
        <p:txBody>
          <a:bodyPr wrap="square" lIns="0" tIns="0" rIns="0" bIns="0">
            <a:spAutoFit/>
          </a:bodyPr>
          <a:lstStyle/>
          <a:p>
            <a:pPr algn="ctr"/>
            <a:r>
              <a:rPr sz="950" b="0">
                <a:solidFill>
                  <a:srgbClr val="49494D"/>
                </a:solidFill>
                <a:latin typeface="Lato"/>
              </a:rPr>
              <a:t>Internally funded adds — 92% of growth</a:t>
            </a:r>
          </a:p>
        </p:txBody>
      </p:sp>
      <p:sp>
        <p:nvSpPr>
          <p:cNvPr id="75" name="Rectangle 74">
            <a:extLst>
              <a:ext uri="{FF2B5EF4-FFF2-40B4-BE49-F238E27FC236}">
                <a16:creationId xmlns:a16="http://schemas.microsoft.com/office/drawing/2014/main" id="{200080B4-C01E-6309-1241-69793BDFB00C}"/>
              </a:ext>
            </a:extLst>
          </p:cNvPr>
          <p:cNvSpPr/>
          <p:nvPr/>
        </p:nvSpPr>
        <p:spPr>
          <a:xfrm>
            <a:off x="6316980" y="1485899"/>
            <a:ext cx="2316480" cy="630156"/>
          </a:xfrm>
          <a:prstGeom prst="rect">
            <a:avLst/>
          </a:prstGeom>
          <a:solidFill>
            <a:srgbClr val="F6F6F4"/>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C6D953A2-9053-4752-9014-6A9481B3E3B0}"/>
              </a:ext>
            </a:extLst>
          </p:cNvPr>
          <p:cNvSpPr txBox="1"/>
          <p:nvPr/>
        </p:nvSpPr>
        <p:spPr>
          <a:xfrm>
            <a:off x="6336792" y="1498091"/>
            <a:ext cx="2276856" cy="411480"/>
          </a:xfrm>
          <a:prstGeom prst="rect">
            <a:avLst/>
          </a:prstGeom>
          <a:noFill/>
        </p:spPr>
        <p:txBody>
          <a:bodyPr wrap="square" lIns="0" tIns="0" rIns="0" bIns="0">
            <a:spAutoFit/>
          </a:bodyPr>
          <a:lstStyle/>
          <a:p>
            <a:pPr algn="ctr"/>
            <a:r>
              <a:rPr sz="2600" b="1">
                <a:solidFill>
                  <a:srgbClr val="000000"/>
                </a:solidFill>
                <a:latin typeface="Lato"/>
              </a:rPr>
              <a:t>+110</a:t>
            </a:r>
          </a:p>
        </p:txBody>
      </p:sp>
      <p:sp>
        <p:nvSpPr>
          <p:cNvPr id="79" name="TextBox 78">
            <a:extLst>
              <a:ext uri="{FF2B5EF4-FFF2-40B4-BE49-F238E27FC236}">
                <a16:creationId xmlns:a16="http://schemas.microsoft.com/office/drawing/2014/main" id="{B0D8BCDC-E12B-2BEB-5A88-26569E8AC2AF}"/>
              </a:ext>
            </a:extLst>
          </p:cNvPr>
          <p:cNvSpPr txBox="1"/>
          <p:nvPr/>
        </p:nvSpPr>
        <p:spPr>
          <a:xfrm>
            <a:off x="6336792" y="1900427"/>
            <a:ext cx="2276856" cy="146194"/>
          </a:xfrm>
          <a:prstGeom prst="rect">
            <a:avLst/>
          </a:prstGeom>
          <a:noFill/>
        </p:spPr>
        <p:txBody>
          <a:bodyPr wrap="square" lIns="0" tIns="0" rIns="0" bIns="0">
            <a:spAutoFit/>
          </a:bodyPr>
          <a:lstStyle/>
          <a:p>
            <a:pPr algn="ctr"/>
            <a:r>
              <a:rPr sz="950" b="0">
                <a:solidFill>
                  <a:srgbClr val="49494D"/>
                </a:solidFill>
                <a:latin typeface="Lato"/>
              </a:rPr>
              <a:t>Externally funded adds — 8% of growth</a:t>
            </a:r>
          </a:p>
        </p:txBody>
      </p:sp>
      <p:pic>
        <p:nvPicPr>
          <p:cNvPr id="18" name="Picture 17">
            <a:extLst>
              <a:ext uri="{FF2B5EF4-FFF2-40B4-BE49-F238E27FC236}">
                <a16:creationId xmlns:a16="http://schemas.microsoft.com/office/drawing/2014/main" id="{DE6E69CF-953B-6810-771E-E20AAF6D4379}"/>
              </a:ext>
            </a:extLst>
          </p:cNvPr>
          <p:cNvPicPr>
            <a:picLocks noChangeAspect="1"/>
          </p:cNvPicPr>
          <p:nvPr/>
        </p:nvPicPr>
        <p:blipFill>
          <a:blip r:embed="rId4"/>
          <a:stretch>
            <a:fillRect/>
          </a:stretch>
        </p:blipFill>
        <p:spPr>
          <a:xfrm>
            <a:off x="2823866" y="2735988"/>
            <a:ext cx="661163" cy="756206"/>
          </a:xfrm>
          <a:prstGeom prst="rect">
            <a:avLst/>
          </a:prstGeom>
        </p:spPr>
      </p:pic>
      <p:pic>
        <p:nvPicPr>
          <p:cNvPr id="30" name="Picture 29">
            <a:extLst>
              <a:ext uri="{FF2B5EF4-FFF2-40B4-BE49-F238E27FC236}">
                <a16:creationId xmlns:a16="http://schemas.microsoft.com/office/drawing/2014/main" id="{513C6261-CF63-DAD5-394D-B243978AC610}"/>
              </a:ext>
            </a:extLst>
          </p:cNvPr>
          <p:cNvPicPr>
            <a:picLocks noChangeAspect="1"/>
          </p:cNvPicPr>
          <p:nvPr/>
        </p:nvPicPr>
        <p:blipFill>
          <a:blip r:embed="rId5"/>
          <a:stretch>
            <a:fillRect/>
          </a:stretch>
        </p:blipFill>
        <p:spPr>
          <a:xfrm>
            <a:off x="5396737" y="2207595"/>
            <a:ext cx="661163" cy="756206"/>
          </a:xfrm>
          <a:prstGeom prst="rect">
            <a:avLst/>
          </a:prstGeom>
        </p:spPr>
      </p:pic>
      <p:sp>
        <p:nvSpPr>
          <p:cNvPr id="5" name="Right Brace 4">
            <a:extLst>
              <a:ext uri="{FF2B5EF4-FFF2-40B4-BE49-F238E27FC236}">
                <a16:creationId xmlns:a16="http://schemas.microsoft.com/office/drawing/2014/main" id="{AFE40440-26EA-1B38-F9DE-8DD49E9D513F}"/>
              </a:ext>
            </a:extLst>
          </p:cNvPr>
          <p:cNvSpPr/>
          <p:nvPr/>
        </p:nvSpPr>
        <p:spPr>
          <a:xfrm>
            <a:off x="10252900" y="3547872"/>
            <a:ext cx="386143" cy="1088136"/>
          </a:xfrm>
          <a:prstGeom prst="rightBrace">
            <a:avLst>
              <a:gd name="adj1" fmla="val 35467"/>
              <a:gd name="adj2" fmla="val 50000"/>
            </a:avLst>
          </a:prstGeom>
          <a:ln>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B68D413F-78F1-60EF-FBC1-16EC7975EE5D}"/>
              </a:ext>
            </a:extLst>
          </p:cNvPr>
          <p:cNvSpPr txBox="1"/>
          <p:nvPr/>
        </p:nvSpPr>
        <p:spPr>
          <a:xfrm>
            <a:off x="10424160" y="4700016"/>
            <a:ext cx="1417320" cy="646331"/>
          </a:xfrm>
          <a:prstGeom prst="rect">
            <a:avLst/>
          </a:prstGeom>
          <a:noFill/>
        </p:spPr>
        <p:txBody>
          <a:bodyPr wrap="square" rtlCol="0">
            <a:spAutoFit/>
          </a:bodyPr>
          <a:lstStyle/>
          <a:p>
            <a:pPr algn="ctr"/>
            <a:r>
              <a:rPr lang="en-US" sz="1200" b="1" dirty="0">
                <a:solidFill>
                  <a:srgbClr val="000000"/>
                </a:solidFill>
              </a:rPr>
              <a:t>44%   growth since FY20</a:t>
            </a:r>
          </a:p>
        </p:txBody>
      </p:sp>
      <p:sp>
        <p:nvSpPr>
          <p:cNvPr id="32" name="Oval 31">
            <a:extLst>
              <a:ext uri="{FF2B5EF4-FFF2-40B4-BE49-F238E27FC236}">
                <a16:creationId xmlns:a16="http://schemas.microsoft.com/office/drawing/2014/main" id="{BCCF537C-61B8-74C3-1CA8-1CCF3B6798C5}"/>
              </a:ext>
            </a:extLst>
          </p:cNvPr>
          <p:cNvSpPr/>
          <p:nvPr/>
        </p:nvSpPr>
        <p:spPr>
          <a:xfrm>
            <a:off x="10533888" y="4727448"/>
            <a:ext cx="448056" cy="242316"/>
          </a:xfrm>
          <a:prstGeom prst="ellipse">
            <a:avLst/>
          </a:prstGeom>
          <a:no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86089919-7ABE-E8DA-2FB0-17EDAB8F8A64}"/>
              </a:ext>
            </a:extLst>
          </p:cNvPr>
          <p:cNvSpPr txBox="1"/>
          <p:nvPr/>
        </p:nvSpPr>
        <p:spPr>
          <a:xfrm>
            <a:off x="10517958" y="45510"/>
            <a:ext cx="1213794" cy="246221"/>
          </a:xfrm>
          <a:prstGeom prst="rect">
            <a:avLst/>
          </a:prstGeom>
          <a:solidFill>
            <a:schemeClr val="bg1">
              <a:lumMod val="75000"/>
              <a:lumOff val="25000"/>
            </a:schemeClr>
          </a:solidFill>
          <a:ln>
            <a:solidFill>
              <a:schemeClr val="bg1"/>
            </a:solidFill>
          </a:ln>
        </p:spPr>
        <p:txBody>
          <a:bodyPr wrap="none" rtlCol="0">
            <a:spAutoFit/>
          </a:bodyPr>
          <a:lstStyle/>
          <a:p>
            <a:pPr algn="r"/>
            <a:r>
              <a:rPr lang="en-US" sz="1000" b="1" dirty="0"/>
              <a:t>By funding source</a:t>
            </a:r>
          </a:p>
        </p:txBody>
      </p:sp>
      <p:sp>
        <p:nvSpPr>
          <p:cNvPr id="31" name="TextBox 18"/>
          <p:cNvSpPr txBox="1"/>
          <p:nvPr/>
        </p:nvSpPr>
        <p:spPr>
          <a:xfrm>
            <a:off x="8092440" y="3809256"/>
            <a:ext cx="2743200" cy="153888"/>
          </a:xfrm>
          <a:prstGeom prst="rect">
            <a:avLst/>
          </a:prstGeom>
          <a:noFill/>
        </p:spPr>
        <p:txBody>
          <a:bodyPr wrap="square" lIns="0" tIns="0" rIns="0" bIns="0" anchor="ctr">
            <a:spAutoFit/>
          </a:bodyPr>
          <a:lstStyle/>
          <a:p>
            <a:pPr algn="l"/>
            <a:r>
              <a:rPr sz="1000" b="0" dirty="0">
                <a:solidFill>
                  <a:schemeClr val="bg1"/>
                </a:solidFill>
                <a:latin typeface="Lato"/>
              </a:rPr>
              <a:t>Oakland campus  </a:t>
            </a:r>
            <a:r>
              <a:rPr sz="850" b="0" dirty="0">
                <a:solidFill>
                  <a:schemeClr val="bg1"/>
                </a:solidFill>
                <a:latin typeface="Lato"/>
              </a:rPr>
              <a:t>(+218)</a:t>
            </a:r>
          </a:p>
        </p:txBody>
      </p:sp>
      <p:sp>
        <p:nvSpPr>
          <p:cNvPr id="34" name="TextBox 19"/>
          <p:cNvSpPr txBox="1"/>
          <p:nvPr/>
        </p:nvSpPr>
        <p:spPr>
          <a:xfrm>
            <a:off x="10881359" y="3749040"/>
            <a:ext cx="960120" cy="274320"/>
          </a:xfrm>
          <a:prstGeom prst="rect">
            <a:avLst/>
          </a:prstGeom>
          <a:noFill/>
        </p:spPr>
        <p:txBody>
          <a:bodyPr wrap="square" lIns="0" tIns="0" rIns="0" bIns="0" anchor="ctr">
            <a:spAutoFit/>
          </a:bodyPr>
          <a:lstStyle/>
          <a:p>
            <a:pPr algn="r"/>
            <a:r>
              <a:rPr sz="1100" b="1">
                <a:solidFill>
                  <a:srgbClr val="9B9C9E"/>
                </a:solidFill>
                <a:latin typeface="Lato"/>
              </a:rPr>
              <a:t>n/a</a:t>
            </a:r>
          </a:p>
        </p:txBody>
      </p:sp>
      <p:cxnSp>
        <p:nvCxnSpPr>
          <p:cNvPr id="44" name="Connector 43"/>
          <p:cNvCxnSpPr/>
          <p:nvPr/>
        </p:nvCxnSpPr>
        <p:spPr>
          <a:xfrm flipV="1">
            <a:off x="7690104" y="3185903"/>
            <a:ext cx="347472" cy="192491"/>
          </a:xfrm>
          <a:prstGeom prst="line">
            <a:avLst/>
          </a:prstGeom>
          <a:ln w="9525">
            <a:solidFill>
              <a:srgbClr val="000000"/>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43"/>
          <p:cNvCxnSpPr/>
          <p:nvPr/>
        </p:nvCxnSpPr>
        <p:spPr>
          <a:xfrm>
            <a:off x="7690104" y="3471124"/>
            <a:ext cx="347472" cy="415075"/>
          </a:xfrm>
          <a:prstGeom prst="line">
            <a:avLst/>
          </a:prstGeom>
          <a:ln w="9525">
            <a:solidFill>
              <a:srgbClr val="000000"/>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43"/>
          <p:cNvCxnSpPr/>
          <p:nvPr/>
        </p:nvCxnSpPr>
        <p:spPr>
          <a:xfrm>
            <a:off x="7690104" y="3554477"/>
            <a:ext cx="347472" cy="545826"/>
          </a:xfrm>
          <a:prstGeom prst="line">
            <a:avLst/>
          </a:prstGeom>
          <a:ln w="9525">
            <a:solidFill>
              <a:srgbClr val="000000"/>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43"/>
          <p:cNvCxnSpPr/>
          <p:nvPr/>
        </p:nvCxnSpPr>
        <p:spPr>
          <a:xfrm>
            <a:off x="7690104" y="4332574"/>
            <a:ext cx="347472" cy="224929"/>
          </a:xfrm>
          <a:prstGeom prst="line">
            <a:avLst/>
          </a:prstGeom>
          <a:ln w="9525">
            <a:solidFill>
              <a:srgbClr val="000000"/>
            </a:solidFill>
            <a:prstDash val="sysDot"/>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Northeastern staff headcount files, September 2026; full methodology in speaker notes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058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C8102E"/>
                </a:solidFill>
                <a:effectLst/>
                <a:uLnTx/>
                <a:uFillTx/>
                <a:latin typeface="Lato"/>
                <a:ea typeface="+mn-ea"/>
                <a:cs typeface="+mn-cs"/>
              </a:rPr>
              <a:t>CONSOLIDATED OVERVIEW</a:t>
            </a:r>
          </a:p>
        </p:txBody>
      </p:sp>
      <p:sp>
        <p:nvSpPr>
          <p:cNvPr id="3" name="TextBox 2"/>
          <p:cNvSpPr txBox="1"/>
          <p:nvPr/>
        </p:nvSpPr>
        <p:spPr>
          <a:xfrm>
            <a:off x="457200" y="676656"/>
            <a:ext cx="11247120" cy="502920"/>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000000"/>
                </a:solidFill>
                <a:effectLst/>
                <a:uLnTx/>
                <a:uFillTx/>
                <a:latin typeface="Lato"/>
                <a:ea typeface="+mn-ea"/>
                <a:cs typeface="+mn-cs"/>
              </a:rPr>
              <a:t>Financial Dashboard</a:t>
            </a:r>
          </a:p>
        </p:txBody>
      </p:sp>
      <p:sp>
        <p:nvSpPr>
          <p:cNvPr id="4" name="Rectangle 3"/>
          <p:cNvSpPr/>
          <p:nvPr/>
        </p:nvSpPr>
        <p:spPr>
          <a:xfrm>
            <a:off x="502920" y="1207008"/>
            <a:ext cx="548640" cy="36576"/>
          </a:xfrm>
          <a:prstGeom prst="rect">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5" name="TextBox 4"/>
          <p:cNvSpPr txBox="1"/>
          <p:nvPr/>
        </p:nvSpPr>
        <p:spPr>
          <a:xfrm>
            <a:off x="8961120" y="457200"/>
            <a:ext cx="2743200" cy="274320"/>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6B6B70"/>
                </a:solidFill>
                <a:effectLst/>
                <a:uLnTx/>
                <a:uFillTx/>
                <a:latin typeface="Lato"/>
                <a:ea typeface="+mn-ea"/>
                <a:cs typeface="+mn-cs"/>
              </a:rPr>
              <a:t>$ in millions</a:t>
            </a:r>
          </a:p>
        </p:txBody>
      </p:sp>
      <p:sp>
        <p:nvSpPr>
          <p:cNvPr id="6" name="Rectangle 5"/>
          <p:cNvSpPr/>
          <p:nvPr/>
        </p:nvSpPr>
        <p:spPr>
          <a:xfrm>
            <a:off x="502920" y="1353312"/>
            <a:ext cx="11183112" cy="228600"/>
          </a:xfrm>
          <a:prstGeom prst="rect">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7" name="TextBox 6"/>
          <p:cNvSpPr txBox="1"/>
          <p:nvPr/>
        </p:nvSpPr>
        <p:spPr>
          <a:xfrm>
            <a:off x="457200" y="1353312"/>
            <a:ext cx="5486400" cy="228600"/>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Lato"/>
                <a:ea typeface="+mn-ea"/>
                <a:cs typeface="+mn-cs"/>
              </a:rPr>
              <a:t>OPERATING RESULTS  ·  FY23–FY25 ACTUALS, FY26 BUDGET AND UNAUDITED</a:t>
            </a:r>
          </a:p>
        </p:txBody>
      </p:sp>
      <p:sp>
        <p:nvSpPr>
          <p:cNvPr id="8" name="TextBox 7"/>
          <p:cNvSpPr txBox="1"/>
          <p:nvPr/>
        </p:nvSpPr>
        <p:spPr>
          <a:xfrm>
            <a:off x="576072" y="1581912"/>
            <a:ext cx="1956816" cy="20116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METRIC</a:t>
            </a:r>
          </a:p>
        </p:txBody>
      </p:sp>
      <p:sp>
        <p:nvSpPr>
          <p:cNvPr id="9" name="TextBox 8"/>
          <p:cNvSpPr txBox="1"/>
          <p:nvPr/>
        </p:nvSpPr>
        <p:spPr>
          <a:xfrm>
            <a:off x="2679192" y="1581912"/>
            <a:ext cx="813816" cy="20116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FY23–26 TREND</a:t>
            </a:r>
          </a:p>
        </p:txBody>
      </p:sp>
      <p:sp>
        <p:nvSpPr>
          <p:cNvPr id="10" name="TextBox 9"/>
          <p:cNvSpPr txBox="1"/>
          <p:nvPr/>
        </p:nvSpPr>
        <p:spPr>
          <a:xfrm>
            <a:off x="3639312" y="1581912"/>
            <a:ext cx="58521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FY23</a:t>
            </a:r>
          </a:p>
        </p:txBody>
      </p:sp>
      <p:sp>
        <p:nvSpPr>
          <p:cNvPr id="11" name="TextBox 10"/>
          <p:cNvSpPr txBox="1"/>
          <p:nvPr/>
        </p:nvSpPr>
        <p:spPr>
          <a:xfrm>
            <a:off x="4370832" y="1581912"/>
            <a:ext cx="58521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FY24</a:t>
            </a:r>
          </a:p>
        </p:txBody>
      </p:sp>
      <p:sp>
        <p:nvSpPr>
          <p:cNvPr id="12" name="TextBox 11"/>
          <p:cNvSpPr txBox="1"/>
          <p:nvPr/>
        </p:nvSpPr>
        <p:spPr>
          <a:xfrm>
            <a:off x="5102352" y="1581912"/>
            <a:ext cx="58521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FY25</a:t>
            </a:r>
          </a:p>
        </p:txBody>
      </p:sp>
      <p:sp>
        <p:nvSpPr>
          <p:cNvPr id="13" name="TextBox 12"/>
          <p:cNvSpPr txBox="1"/>
          <p:nvPr/>
        </p:nvSpPr>
        <p:spPr>
          <a:xfrm>
            <a:off x="5833872" y="1581912"/>
            <a:ext cx="72237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FY26 BUDGET</a:t>
            </a:r>
          </a:p>
        </p:txBody>
      </p:sp>
      <p:sp>
        <p:nvSpPr>
          <p:cNvPr id="14" name="TextBox 13"/>
          <p:cNvSpPr txBox="1"/>
          <p:nvPr/>
        </p:nvSpPr>
        <p:spPr>
          <a:xfrm>
            <a:off x="6702552" y="1581912"/>
            <a:ext cx="90525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Lato"/>
                <a:ea typeface="+mn-ea"/>
                <a:cs typeface="+mn-cs"/>
              </a:rPr>
              <a:t>FY26 UNAUDITED</a:t>
            </a:r>
          </a:p>
        </p:txBody>
      </p:sp>
      <p:sp>
        <p:nvSpPr>
          <p:cNvPr id="15" name="TextBox 14"/>
          <p:cNvSpPr txBox="1"/>
          <p:nvPr/>
        </p:nvSpPr>
        <p:spPr>
          <a:xfrm>
            <a:off x="7754112" y="1581912"/>
            <a:ext cx="1545336" cy="20116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Δ VS. FY26 BUDGET</a:t>
            </a:r>
          </a:p>
        </p:txBody>
      </p:sp>
      <p:sp>
        <p:nvSpPr>
          <p:cNvPr id="16" name="TextBox 15"/>
          <p:cNvSpPr txBox="1"/>
          <p:nvPr/>
        </p:nvSpPr>
        <p:spPr>
          <a:xfrm>
            <a:off x="9445752" y="1581912"/>
            <a:ext cx="2167128" cy="20116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COMMENT</a:t>
            </a:r>
          </a:p>
        </p:txBody>
      </p:sp>
      <p:cxnSp>
        <p:nvCxnSpPr>
          <p:cNvPr id="17" name="Connector 16"/>
          <p:cNvCxnSpPr/>
          <p:nvPr/>
        </p:nvCxnSpPr>
        <p:spPr>
          <a:xfrm>
            <a:off x="502920" y="1783080"/>
            <a:ext cx="11183112" cy="0"/>
          </a:xfrm>
          <a:prstGeom prst="line">
            <a:avLst/>
          </a:prstGeom>
          <a:ln w="9525">
            <a:solidFill>
              <a:srgbClr val="8A8D8F"/>
            </a:solidFill>
          </a:ln>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502920" y="1801368"/>
            <a:ext cx="11183112" cy="283464"/>
          </a:xfrm>
          <a:prstGeom prst="rect">
            <a:avLst/>
          </a:prstGeom>
          <a:solidFill>
            <a:srgbClr val="F4F4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9" name="TextBox 18"/>
          <p:cNvSpPr txBox="1"/>
          <p:nvPr/>
        </p:nvSpPr>
        <p:spPr>
          <a:xfrm>
            <a:off x="576072" y="1801368"/>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Net Tuition &amp; Fees</a:t>
            </a:r>
          </a:p>
        </p:txBody>
      </p:sp>
      <p:graphicFrame>
        <p:nvGraphicFramePr>
          <p:cNvPr id="20" name="Chart 19"/>
          <p:cNvGraphicFramePr>
            <a:graphicFrameLocks noGrp="1"/>
          </p:cNvGraphicFramePr>
          <p:nvPr/>
        </p:nvGraphicFramePr>
        <p:xfrm>
          <a:off x="2651760" y="1819656"/>
          <a:ext cx="868680" cy="246888"/>
        </p:xfrm>
        <a:graphic>
          <a:graphicData uri="http://schemas.openxmlformats.org/drawingml/2006/chart">
            <c:chart xmlns:c="http://schemas.openxmlformats.org/drawingml/2006/chart" xmlns:r="http://schemas.openxmlformats.org/officeDocument/2006/relationships" r:id="rId2"/>
          </a:graphicData>
        </a:graphic>
      </p:graphicFrame>
      <p:sp>
        <p:nvSpPr>
          <p:cNvPr id="21" name="TextBox 20"/>
          <p:cNvSpPr txBox="1"/>
          <p:nvPr/>
        </p:nvSpPr>
        <p:spPr>
          <a:xfrm>
            <a:off x="3639312" y="1801368"/>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1,474</a:t>
            </a:r>
          </a:p>
        </p:txBody>
      </p:sp>
      <p:sp>
        <p:nvSpPr>
          <p:cNvPr id="22" name="TextBox 21"/>
          <p:cNvSpPr txBox="1"/>
          <p:nvPr/>
        </p:nvSpPr>
        <p:spPr>
          <a:xfrm>
            <a:off x="4370832" y="1801368"/>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1,638</a:t>
            </a:r>
          </a:p>
        </p:txBody>
      </p:sp>
      <p:sp>
        <p:nvSpPr>
          <p:cNvPr id="23" name="TextBox 22"/>
          <p:cNvSpPr txBox="1"/>
          <p:nvPr/>
        </p:nvSpPr>
        <p:spPr>
          <a:xfrm>
            <a:off x="5102352" y="1801368"/>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1,772</a:t>
            </a:r>
          </a:p>
        </p:txBody>
      </p:sp>
      <p:sp>
        <p:nvSpPr>
          <p:cNvPr id="24" name="TextBox 23"/>
          <p:cNvSpPr txBox="1"/>
          <p:nvPr/>
        </p:nvSpPr>
        <p:spPr>
          <a:xfrm>
            <a:off x="5833872" y="1801368"/>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1,858</a:t>
            </a:r>
          </a:p>
        </p:txBody>
      </p:sp>
      <p:sp>
        <p:nvSpPr>
          <p:cNvPr id="25" name="Rectangle 24"/>
          <p:cNvSpPr/>
          <p:nvPr/>
        </p:nvSpPr>
        <p:spPr>
          <a:xfrm>
            <a:off x="6684264" y="1833372"/>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26" name="TextBox 25"/>
          <p:cNvSpPr txBox="1"/>
          <p:nvPr/>
        </p:nvSpPr>
        <p:spPr>
          <a:xfrm>
            <a:off x="6702552" y="1801368"/>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1,782</a:t>
            </a:r>
          </a:p>
        </p:txBody>
      </p:sp>
      <p:sp>
        <p:nvSpPr>
          <p:cNvPr id="27" name="Rounded Rectangle 26"/>
          <p:cNvSpPr/>
          <p:nvPr/>
        </p:nvSpPr>
        <p:spPr>
          <a:xfrm>
            <a:off x="7772400" y="1856232"/>
            <a:ext cx="1508760" cy="173736"/>
          </a:xfrm>
          <a:prstGeom prst="roundRect">
            <a:avLst>
              <a:gd name="adj" fmla="val 50000"/>
            </a:avLst>
          </a:prstGeom>
          <a:solidFill>
            <a:srgbClr val="FBE3E7"/>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C8102E"/>
                </a:solidFill>
                <a:effectLst/>
                <a:uLnTx/>
                <a:uFillTx/>
                <a:latin typeface="Lato"/>
                <a:ea typeface="+mn-ea"/>
                <a:cs typeface="+mn-cs"/>
              </a:rPr>
              <a:t>▼ −76 (−4.1%)</a:t>
            </a:r>
          </a:p>
        </p:txBody>
      </p:sp>
      <p:sp>
        <p:nvSpPr>
          <p:cNvPr id="28" name="TextBox 27"/>
          <p:cNvSpPr txBox="1"/>
          <p:nvPr/>
        </p:nvSpPr>
        <p:spPr>
          <a:xfrm>
            <a:off x="9445752" y="1881544"/>
            <a:ext cx="2167128" cy="12311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dirty="0">
                <a:ln>
                  <a:noFill/>
                </a:ln>
                <a:solidFill>
                  <a:srgbClr val="6B6B70"/>
                </a:solidFill>
                <a:effectLst/>
                <a:uLnTx/>
                <a:uFillTx/>
                <a:latin typeface="Lato"/>
                <a:ea typeface="+mn-ea"/>
                <a:cs typeface="+mn-cs"/>
              </a:rPr>
              <a:t>FY26 includes </a:t>
            </a:r>
            <a:r>
              <a:rPr kumimoji="0" sz="800" b="0" i="1" u="none" strike="noStrike" kern="1200" cap="none" spc="0" normalizeH="0" baseline="0" noProof="0">
                <a:ln>
                  <a:noFill/>
                </a:ln>
                <a:solidFill>
                  <a:srgbClr val="6B6B70"/>
                </a:solidFill>
                <a:effectLst/>
                <a:uLnTx/>
                <a:uFillTx/>
                <a:latin typeface="Lato"/>
                <a:ea typeface="+mn-ea"/>
                <a:cs typeface="+mn-cs"/>
              </a:rPr>
              <a:t>~</a:t>
            </a:r>
            <a:r>
              <a:rPr kumimoji="0" lang="en-US" sz="800" b="0" i="1" u="none" strike="noStrike" kern="1200" cap="none" spc="0" normalizeH="0" baseline="0" noProof="0">
                <a:ln>
                  <a:noFill/>
                </a:ln>
                <a:solidFill>
                  <a:srgbClr val="6B6B70"/>
                </a:solidFill>
                <a:effectLst/>
                <a:uLnTx/>
                <a:uFillTx/>
                <a:latin typeface="Lato"/>
                <a:ea typeface="+mn-ea"/>
                <a:cs typeface="+mn-cs"/>
              </a:rPr>
              <a:t>1,450</a:t>
            </a:r>
            <a:r>
              <a:rPr kumimoji="0" sz="800" b="0" i="1" u="none" strike="noStrike" kern="1200" cap="none" spc="0" normalizeH="0" baseline="0" noProof="0">
                <a:ln>
                  <a:noFill/>
                </a:ln>
                <a:solidFill>
                  <a:srgbClr val="6B6B70"/>
                </a:solidFill>
                <a:effectLst/>
                <a:uLnTx/>
                <a:uFillTx/>
                <a:latin typeface="Lato"/>
                <a:ea typeface="+mn-ea"/>
                <a:cs typeface="+mn-cs"/>
              </a:rPr>
              <a:t> </a:t>
            </a:r>
            <a:r>
              <a:rPr kumimoji="0" sz="800" b="0" i="1" u="none" strike="noStrike" kern="1200" cap="none" spc="0" normalizeH="0" baseline="0" noProof="0" dirty="0">
                <a:ln>
                  <a:noFill/>
                </a:ln>
                <a:solidFill>
                  <a:srgbClr val="6B6B70"/>
                </a:solidFill>
                <a:effectLst/>
                <a:uLnTx/>
                <a:uFillTx/>
                <a:latin typeface="Lato"/>
                <a:ea typeface="+mn-ea"/>
                <a:cs typeface="+mn-cs"/>
              </a:rPr>
              <a:t>MMC students</a:t>
            </a:r>
          </a:p>
        </p:txBody>
      </p:sp>
      <p:sp>
        <p:nvSpPr>
          <p:cNvPr id="29" name="TextBox 28"/>
          <p:cNvSpPr txBox="1"/>
          <p:nvPr/>
        </p:nvSpPr>
        <p:spPr>
          <a:xfrm>
            <a:off x="576072" y="2084832"/>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Total Operating Revenues</a:t>
            </a:r>
          </a:p>
        </p:txBody>
      </p:sp>
      <p:graphicFrame>
        <p:nvGraphicFramePr>
          <p:cNvPr id="30" name="Chart 29"/>
          <p:cNvGraphicFramePr>
            <a:graphicFrameLocks noGrp="1"/>
          </p:cNvGraphicFramePr>
          <p:nvPr/>
        </p:nvGraphicFramePr>
        <p:xfrm>
          <a:off x="2651760" y="2103120"/>
          <a:ext cx="868680" cy="246888"/>
        </p:xfrm>
        <a:graphic>
          <a:graphicData uri="http://schemas.openxmlformats.org/drawingml/2006/chart">
            <c:chart xmlns:c="http://schemas.openxmlformats.org/drawingml/2006/chart" xmlns:r="http://schemas.openxmlformats.org/officeDocument/2006/relationships" r:id="rId3"/>
          </a:graphicData>
        </a:graphic>
      </p:graphicFrame>
      <p:sp>
        <p:nvSpPr>
          <p:cNvPr id="31" name="TextBox 30"/>
          <p:cNvSpPr txBox="1"/>
          <p:nvPr/>
        </p:nvSpPr>
        <p:spPr>
          <a:xfrm>
            <a:off x="3639312" y="2084832"/>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2,063</a:t>
            </a:r>
          </a:p>
        </p:txBody>
      </p:sp>
      <p:sp>
        <p:nvSpPr>
          <p:cNvPr id="32" name="TextBox 31"/>
          <p:cNvSpPr txBox="1"/>
          <p:nvPr/>
        </p:nvSpPr>
        <p:spPr>
          <a:xfrm>
            <a:off x="4370832" y="2084832"/>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2,297</a:t>
            </a:r>
          </a:p>
        </p:txBody>
      </p:sp>
      <p:sp>
        <p:nvSpPr>
          <p:cNvPr id="33" name="TextBox 32"/>
          <p:cNvSpPr txBox="1"/>
          <p:nvPr/>
        </p:nvSpPr>
        <p:spPr>
          <a:xfrm>
            <a:off x="5102352" y="2084832"/>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2,442</a:t>
            </a:r>
          </a:p>
        </p:txBody>
      </p:sp>
      <p:sp>
        <p:nvSpPr>
          <p:cNvPr id="34" name="TextBox 33"/>
          <p:cNvSpPr txBox="1"/>
          <p:nvPr/>
        </p:nvSpPr>
        <p:spPr>
          <a:xfrm>
            <a:off x="5833872" y="2084832"/>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2,582</a:t>
            </a:r>
          </a:p>
        </p:txBody>
      </p:sp>
      <p:sp>
        <p:nvSpPr>
          <p:cNvPr id="35" name="Rectangle 34"/>
          <p:cNvSpPr/>
          <p:nvPr/>
        </p:nvSpPr>
        <p:spPr>
          <a:xfrm>
            <a:off x="6684264" y="2116836"/>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36" name="TextBox 35"/>
          <p:cNvSpPr txBox="1"/>
          <p:nvPr/>
        </p:nvSpPr>
        <p:spPr>
          <a:xfrm>
            <a:off x="6702552" y="2084832"/>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2,473</a:t>
            </a:r>
          </a:p>
        </p:txBody>
      </p:sp>
      <p:sp>
        <p:nvSpPr>
          <p:cNvPr id="37" name="Rounded Rectangle 36"/>
          <p:cNvSpPr/>
          <p:nvPr/>
        </p:nvSpPr>
        <p:spPr>
          <a:xfrm>
            <a:off x="7772400" y="2139696"/>
            <a:ext cx="1508760" cy="173736"/>
          </a:xfrm>
          <a:prstGeom prst="roundRect">
            <a:avLst>
              <a:gd name="adj" fmla="val 50000"/>
            </a:avLst>
          </a:prstGeom>
          <a:solidFill>
            <a:srgbClr val="FBE3E7"/>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C8102E"/>
                </a:solidFill>
                <a:effectLst/>
                <a:uLnTx/>
                <a:uFillTx/>
                <a:latin typeface="Lato"/>
                <a:ea typeface="+mn-ea"/>
                <a:cs typeface="+mn-cs"/>
              </a:rPr>
              <a:t>▼ −109 (−4.2%)</a:t>
            </a:r>
          </a:p>
        </p:txBody>
      </p:sp>
      <p:sp>
        <p:nvSpPr>
          <p:cNvPr id="38" name="TextBox 37"/>
          <p:cNvSpPr txBox="1"/>
          <p:nvPr/>
        </p:nvSpPr>
        <p:spPr>
          <a:xfrm>
            <a:off x="9445752" y="2084832"/>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Lato"/>
              <a:ea typeface="+mn-ea"/>
              <a:cs typeface="+mn-cs"/>
            </a:endParaRPr>
          </a:p>
        </p:txBody>
      </p:sp>
      <p:sp>
        <p:nvSpPr>
          <p:cNvPr id="39" name="Rectangle 38"/>
          <p:cNvSpPr/>
          <p:nvPr/>
        </p:nvSpPr>
        <p:spPr>
          <a:xfrm>
            <a:off x="502920" y="2368296"/>
            <a:ext cx="11183112" cy="283464"/>
          </a:xfrm>
          <a:prstGeom prst="rect">
            <a:avLst/>
          </a:prstGeom>
          <a:solidFill>
            <a:srgbClr val="F4F4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40" name="TextBox 39"/>
          <p:cNvSpPr txBox="1"/>
          <p:nvPr/>
        </p:nvSpPr>
        <p:spPr>
          <a:xfrm>
            <a:off x="576072" y="2368296"/>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Total Operating Expenses</a:t>
            </a:r>
          </a:p>
        </p:txBody>
      </p:sp>
      <p:graphicFrame>
        <p:nvGraphicFramePr>
          <p:cNvPr id="41" name="Chart 40"/>
          <p:cNvGraphicFramePr>
            <a:graphicFrameLocks noGrp="1"/>
          </p:cNvGraphicFramePr>
          <p:nvPr/>
        </p:nvGraphicFramePr>
        <p:xfrm>
          <a:off x="2651760" y="2386584"/>
          <a:ext cx="868680" cy="246888"/>
        </p:xfrm>
        <a:graphic>
          <a:graphicData uri="http://schemas.openxmlformats.org/drawingml/2006/chart">
            <c:chart xmlns:c="http://schemas.openxmlformats.org/drawingml/2006/chart" xmlns:r="http://schemas.openxmlformats.org/officeDocument/2006/relationships" r:id="rId4"/>
          </a:graphicData>
        </a:graphic>
      </p:graphicFrame>
      <p:sp>
        <p:nvSpPr>
          <p:cNvPr id="42" name="TextBox 41"/>
          <p:cNvSpPr txBox="1"/>
          <p:nvPr/>
        </p:nvSpPr>
        <p:spPr>
          <a:xfrm>
            <a:off x="3639312" y="2368296"/>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1,908</a:t>
            </a:r>
          </a:p>
        </p:txBody>
      </p:sp>
      <p:sp>
        <p:nvSpPr>
          <p:cNvPr id="43" name="TextBox 42"/>
          <p:cNvSpPr txBox="1"/>
          <p:nvPr/>
        </p:nvSpPr>
        <p:spPr>
          <a:xfrm>
            <a:off x="4370832" y="2368296"/>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2,162</a:t>
            </a:r>
          </a:p>
        </p:txBody>
      </p:sp>
      <p:sp>
        <p:nvSpPr>
          <p:cNvPr id="44" name="TextBox 43"/>
          <p:cNvSpPr txBox="1"/>
          <p:nvPr/>
        </p:nvSpPr>
        <p:spPr>
          <a:xfrm>
            <a:off x="5102352" y="2368296"/>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2,321</a:t>
            </a:r>
          </a:p>
        </p:txBody>
      </p:sp>
      <p:sp>
        <p:nvSpPr>
          <p:cNvPr id="45" name="TextBox 44"/>
          <p:cNvSpPr txBox="1"/>
          <p:nvPr/>
        </p:nvSpPr>
        <p:spPr>
          <a:xfrm>
            <a:off x="5833872" y="2368296"/>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2,469</a:t>
            </a:r>
          </a:p>
        </p:txBody>
      </p:sp>
      <p:sp>
        <p:nvSpPr>
          <p:cNvPr id="46" name="Rectangle 45"/>
          <p:cNvSpPr/>
          <p:nvPr/>
        </p:nvSpPr>
        <p:spPr>
          <a:xfrm>
            <a:off x="6684264" y="2400300"/>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47" name="TextBox 46"/>
          <p:cNvSpPr txBox="1"/>
          <p:nvPr/>
        </p:nvSpPr>
        <p:spPr>
          <a:xfrm>
            <a:off x="6702552" y="2368296"/>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2,353</a:t>
            </a:r>
          </a:p>
        </p:txBody>
      </p:sp>
      <p:sp>
        <p:nvSpPr>
          <p:cNvPr id="48" name="Rounded Rectangle 47"/>
          <p:cNvSpPr/>
          <p:nvPr/>
        </p:nvSpPr>
        <p:spPr>
          <a:xfrm>
            <a:off x="7772400" y="2423160"/>
            <a:ext cx="1508760" cy="173736"/>
          </a:xfrm>
          <a:prstGeom prst="roundRect">
            <a:avLst>
              <a:gd name="adj" fmla="val 50000"/>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7F7F7F"/>
                </a:solidFill>
                <a:effectLst/>
                <a:uLnTx/>
                <a:uFillTx/>
                <a:latin typeface="Lato"/>
                <a:ea typeface="+mn-ea"/>
                <a:cs typeface="+mn-cs"/>
              </a:rPr>
              <a:t>▼ −116 (−4.7%)</a:t>
            </a:r>
          </a:p>
        </p:txBody>
      </p:sp>
      <p:sp>
        <p:nvSpPr>
          <p:cNvPr id="49" name="TextBox 48"/>
          <p:cNvSpPr txBox="1"/>
          <p:nvPr/>
        </p:nvSpPr>
        <p:spPr>
          <a:xfrm>
            <a:off x="9445752" y="2368296"/>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Lato"/>
              <a:ea typeface="+mn-ea"/>
              <a:cs typeface="+mn-cs"/>
            </a:endParaRPr>
          </a:p>
        </p:txBody>
      </p:sp>
      <p:sp>
        <p:nvSpPr>
          <p:cNvPr id="50" name="TextBox 49"/>
          <p:cNvSpPr txBox="1"/>
          <p:nvPr/>
        </p:nvSpPr>
        <p:spPr>
          <a:xfrm>
            <a:off x="576072" y="2651760"/>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Operating Margin ($)</a:t>
            </a:r>
          </a:p>
        </p:txBody>
      </p:sp>
      <p:graphicFrame>
        <p:nvGraphicFramePr>
          <p:cNvPr id="51" name="Chart 50"/>
          <p:cNvGraphicFramePr>
            <a:graphicFrameLocks noGrp="1"/>
          </p:cNvGraphicFramePr>
          <p:nvPr/>
        </p:nvGraphicFramePr>
        <p:xfrm>
          <a:off x="2651760" y="2670048"/>
          <a:ext cx="868680" cy="246888"/>
        </p:xfrm>
        <a:graphic>
          <a:graphicData uri="http://schemas.openxmlformats.org/drawingml/2006/chart">
            <c:chart xmlns:c="http://schemas.openxmlformats.org/drawingml/2006/chart" xmlns:r="http://schemas.openxmlformats.org/officeDocument/2006/relationships" r:id="rId5"/>
          </a:graphicData>
        </a:graphic>
      </p:graphicFrame>
      <p:sp>
        <p:nvSpPr>
          <p:cNvPr id="52" name="TextBox 51"/>
          <p:cNvSpPr txBox="1"/>
          <p:nvPr/>
        </p:nvSpPr>
        <p:spPr>
          <a:xfrm>
            <a:off x="3639312" y="2651760"/>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156</a:t>
            </a:r>
          </a:p>
        </p:txBody>
      </p:sp>
      <p:sp>
        <p:nvSpPr>
          <p:cNvPr id="53" name="TextBox 52"/>
          <p:cNvSpPr txBox="1"/>
          <p:nvPr/>
        </p:nvSpPr>
        <p:spPr>
          <a:xfrm>
            <a:off x="4370832" y="2651760"/>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135</a:t>
            </a:r>
          </a:p>
        </p:txBody>
      </p:sp>
      <p:sp>
        <p:nvSpPr>
          <p:cNvPr id="54" name="TextBox 53"/>
          <p:cNvSpPr txBox="1"/>
          <p:nvPr/>
        </p:nvSpPr>
        <p:spPr>
          <a:xfrm>
            <a:off x="5102352" y="2651760"/>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121</a:t>
            </a:r>
          </a:p>
        </p:txBody>
      </p:sp>
      <p:sp>
        <p:nvSpPr>
          <p:cNvPr id="55" name="TextBox 54"/>
          <p:cNvSpPr txBox="1"/>
          <p:nvPr/>
        </p:nvSpPr>
        <p:spPr>
          <a:xfrm>
            <a:off x="5833872" y="2651760"/>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112</a:t>
            </a:r>
          </a:p>
        </p:txBody>
      </p:sp>
      <p:sp>
        <p:nvSpPr>
          <p:cNvPr id="56" name="Rectangle 55"/>
          <p:cNvSpPr/>
          <p:nvPr/>
        </p:nvSpPr>
        <p:spPr>
          <a:xfrm>
            <a:off x="6684264" y="2683764"/>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57" name="TextBox 56"/>
          <p:cNvSpPr txBox="1"/>
          <p:nvPr/>
        </p:nvSpPr>
        <p:spPr>
          <a:xfrm>
            <a:off x="6702552" y="2651760"/>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120</a:t>
            </a:r>
          </a:p>
        </p:txBody>
      </p:sp>
      <p:sp>
        <p:nvSpPr>
          <p:cNvPr id="58" name="Rounded Rectangle 57"/>
          <p:cNvSpPr/>
          <p:nvPr/>
        </p:nvSpPr>
        <p:spPr>
          <a:xfrm>
            <a:off x="7772400" y="2706624"/>
            <a:ext cx="1508760" cy="173736"/>
          </a:xfrm>
          <a:prstGeom prst="roundRect">
            <a:avLst>
              <a:gd name="adj" fmla="val 50000"/>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7F7F7F"/>
                </a:solidFill>
                <a:effectLst/>
                <a:uLnTx/>
                <a:uFillTx/>
                <a:latin typeface="Lato"/>
                <a:ea typeface="+mn-ea"/>
                <a:cs typeface="+mn-cs"/>
              </a:rPr>
              <a:t>▲ +8 (+7.1%)</a:t>
            </a:r>
          </a:p>
        </p:txBody>
      </p:sp>
      <p:sp>
        <p:nvSpPr>
          <p:cNvPr id="59" name="TextBox 58"/>
          <p:cNvSpPr txBox="1"/>
          <p:nvPr/>
        </p:nvSpPr>
        <p:spPr>
          <a:xfrm>
            <a:off x="9445752" y="2651760"/>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Lato"/>
              <a:ea typeface="+mn-ea"/>
              <a:cs typeface="+mn-cs"/>
            </a:endParaRPr>
          </a:p>
        </p:txBody>
      </p:sp>
      <p:sp>
        <p:nvSpPr>
          <p:cNvPr id="60" name="Rectangle 59"/>
          <p:cNvSpPr/>
          <p:nvPr/>
        </p:nvSpPr>
        <p:spPr>
          <a:xfrm>
            <a:off x="502920" y="2935224"/>
            <a:ext cx="11183112" cy="283464"/>
          </a:xfrm>
          <a:prstGeom prst="rect">
            <a:avLst/>
          </a:prstGeom>
          <a:solidFill>
            <a:srgbClr val="F4F4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61" name="TextBox 60"/>
          <p:cNvSpPr txBox="1"/>
          <p:nvPr/>
        </p:nvSpPr>
        <p:spPr>
          <a:xfrm>
            <a:off x="576072" y="2935224"/>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Operating Margin (%)</a:t>
            </a:r>
          </a:p>
        </p:txBody>
      </p:sp>
      <p:graphicFrame>
        <p:nvGraphicFramePr>
          <p:cNvPr id="62" name="Chart 61"/>
          <p:cNvGraphicFramePr>
            <a:graphicFrameLocks noGrp="1"/>
          </p:cNvGraphicFramePr>
          <p:nvPr/>
        </p:nvGraphicFramePr>
        <p:xfrm>
          <a:off x="2651760" y="2953512"/>
          <a:ext cx="868680" cy="246888"/>
        </p:xfrm>
        <a:graphic>
          <a:graphicData uri="http://schemas.openxmlformats.org/drawingml/2006/chart">
            <c:chart xmlns:c="http://schemas.openxmlformats.org/drawingml/2006/chart" xmlns:r="http://schemas.openxmlformats.org/officeDocument/2006/relationships" r:id="rId6"/>
          </a:graphicData>
        </a:graphic>
      </p:graphicFrame>
      <p:sp>
        <p:nvSpPr>
          <p:cNvPr id="63" name="TextBox 62"/>
          <p:cNvSpPr txBox="1"/>
          <p:nvPr/>
        </p:nvSpPr>
        <p:spPr>
          <a:xfrm>
            <a:off x="3639312" y="2935224"/>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7.5%</a:t>
            </a:r>
          </a:p>
        </p:txBody>
      </p:sp>
      <p:sp>
        <p:nvSpPr>
          <p:cNvPr id="64" name="TextBox 63"/>
          <p:cNvSpPr txBox="1"/>
          <p:nvPr/>
        </p:nvSpPr>
        <p:spPr>
          <a:xfrm>
            <a:off x="4370832" y="2935224"/>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5.9%</a:t>
            </a:r>
          </a:p>
        </p:txBody>
      </p:sp>
      <p:sp>
        <p:nvSpPr>
          <p:cNvPr id="65" name="TextBox 64"/>
          <p:cNvSpPr txBox="1"/>
          <p:nvPr/>
        </p:nvSpPr>
        <p:spPr>
          <a:xfrm>
            <a:off x="5102352" y="2935224"/>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4.9%</a:t>
            </a:r>
          </a:p>
        </p:txBody>
      </p:sp>
      <p:sp>
        <p:nvSpPr>
          <p:cNvPr id="66" name="TextBox 65"/>
          <p:cNvSpPr txBox="1"/>
          <p:nvPr/>
        </p:nvSpPr>
        <p:spPr>
          <a:xfrm>
            <a:off x="5833872" y="2935224"/>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4.4%</a:t>
            </a:r>
          </a:p>
        </p:txBody>
      </p:sp>
      <p:sp>
        <p:nvSpPr>
          <p:cNvPr id="67" name="Rectangle 66"/>
          <p:cNvSpPr/>
          <p:nvPr/>
        </p:nvSpPr>
        <p:spPr>
          <a:xfrm>
            <a:off x="6684264" y="2967228"/>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68" name="TextBox 67"/>
          <p:cNvSpPr txBox="1"/>
          <p:nvPr/>
        </p:nvSpPr>
        <p:spPr>
          <a:xfrm>
            <a:off x="6702552" y="2935224"/>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4.9%</a:t>
            </a:r>
          </a:p>
        </p:txBody>
      </p:sp>
      <p:sp>
        <p:nvSpPr>
          <p:cNvPr id="69" name="Rounded Rectangle 68"/>
          <p:cNvSpPr/>
          <p:nvPr/>
        </p:nvSpPr>
        <p:spPr>
          <a:xfrm>
            <a:off x="7772400" y="2990088"/>
            <a:ext cx="1508760" cy="173736"/>
          </a:xfrm>
          <a:prstGeom prst="roundRect">
            <a:avLst>
              <a:gd name="adj" fmla="val 50000"/>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7F7F7F"/>
                </a:solidFill>
                <a:effectLst/>
                <a:uLnTx/>
                <a:uFillTx/>
                <a:latin typeface="Lato"/>
                <a:ea typeface="+mn-ea"/>
                <a:cs typeface="+mn-cs"/>
              </a:rPr>
              <a:t>▲ +0.5 pt</a:t>
            </a:r>
          </a:p>
        </p:txBody>
      </p:sp>
      <p:sp>
        <p:nvSpPr>
          <p:cNvPr id="70" name="TextBox 69"/>
          <p:cNvSpPr txBox="1"/>
          <p:nvPr/>
        </p:nvSpPr>
        <p:spPr>
          <a:xfrm>
            <a:off x="9445752" y="2935224"/>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Lato"/>
              <a:ea typeface="+mn-ea"/>
              <a:cs typeface="+mn-cs"/>
            </a:endParaRPr>
          </a:p>
        </p:txBody>
      </p:sp>
      <p:sp>
        <p:nvSpPr>
          <p:cNvPr id="80" name="TextBox 79"/>
          <p:cNvSpPr txBox="1"/>
          <p:nvPr/>
        </p:nvSpPr>
        <p:spPr>
          <a:xfrm>
            <a:off x="9445752" y="3228213"/>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Lato"/>
              <a:ea typeface="+mn-ea"/>
              <a:cs typeface="+mn-cs"/>
            </a:endParaRPr>
          </a:p>
        </p:txBody>
      </p:sp>
      <p:sp>
        <p:nvSpPr>
          <p:cNvPr id="81" name="Rectangle 80"/>
          <p:cNvSpPr/>
          <p:nvPr/>
        </p:nvSpPr>
        <p:spPr>
          <a:xfrm>
            <a:off x="502920" y="3216402"/>
            <a:ext cx="11183112" cy="283464"/>
          </a:xfrm>
          <a:prstGeom prst="rect">
            <a:avLst/>
          </a:prstGeom>
          <a:solidFill>
            <a:srgbClr val="F4F4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82" name="TextBox 81"/>
          <p:cNvSpPr txBox="1"/>
          <p:nvPr/>
        </p:nvSpPr>
        <p:spPr>
          <a:xfrm>
            <a:off x="576072" y="3216402"/>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Research Awards</a:t>
            </a:r>
          </a:p>
        </p:txBody>
      </p:sp>
      <p:graphicFrame>
        <p:nvGraphicFramePr>
          <p:cNvPr id="83" name="Chart 82"/>
          <p:cNvGraphicFramePr>
            <a:graphicFrameLocks noGrp="1"/>
          </p:cNvGraphicFramePr>
          <p:nvPr/>
        </p:nvGraphicFramePr>
        <p:xfrm>
          <a:off x="2651760" y="3234690"/>
          <a:ext cx="868680" cy="246888"/>
        </p:xfrm>
        <a:graphic>
          <a:graphicData uri="http://schemas.openxmlformats.org/drawingml/2006/chart">
            <c:chart xmlns:c="http://schemas.openxmlformats.org/drawingml/2006/chart" xmlns:r="http://schemas.openxmlformats.org/officeDocument/2006/relationships" r:id="rId7"/>
          </a:graphicData>
        </a:graphic>
      </p:graphicFrame>
      <p:sp>
        <p:nvSpPr>
          <p:cNvPr id="84" name="TextBox 83"/>
          <p:cNvSpPr txBox="1"/>
          <p:nvPr/>
        </p:nvSpPr>
        <p:spPr>
          <a:xfrm>
            <a:off x="3639312" y="3216402"/>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282</a:t>
            </a:r>
          </a:p>
        </p:txBody>
      </p:sp>
      <p:sp>
        <p:nvSpPr>
          <p:cNvPr id="85" name="TextBox 84"/>
          <p:cNvSpPr txBox="1"/>
          <p:nvPr/>
        </p:nvSpPr>
        <p:spPr>
          <a:xfrm>
            <a:off x="4370832" y="3216402"/>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296</a:t>
            </a:r>
          </a:p>
        </p:txBody>
      </p:sp>
      <p:sp>
        <p:nvSpPr>
          <p:cNvPr id="86" name="TextBox 85"/>
          <p:cNvSpPr txBox="1"/>
          <p:nvPr/>
        </p:nvSpPr>
        <p:spPr>
          <a:xfrm>
            <a:off x="5102352" y="3216402"/>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267</a:t>
            </a:r>
          </a:p>
        </p:txBody>
      </p:sp>
      <p:sp>
        <p:nvSpPr>
          <p:cNvPr id="87" name="TextBox 86"/>
          <p:cNvSpPr txBox="1"/>
          <p:nvPr/>
        </p:nvSpPr>
        <p:spPr>
          <a:xfrm>
            <a:off x="5833872" y="3216402"/>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250</a:t>
            </a:r>
          </a:p>
        </p:txBody>
      </p:sp>
      <p:sp>
        <p:nvSpPr>
          <p:cNvPr id="88" name="Rectangle 87"/>
          <p:cNvSpPr/>
          <p:nvPr/>
        </p:nvSpPr>
        <p:spPr>
          <a:xfrm>
            <a:off x="6684264" y="3248406"/>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89" name="TextBox 88"/>
          <p:cNvSpPr txBox="1"/>
          <p:nvPr/>
        </p:nvSpPr>
        <p:spPr>
          <a:xfrm>
            <a:off x="6702552" y="3216402"/>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291</a:t>
            </a:r>
          </a:p>
        </p:txBody>
      </p:sp>
      <p:sp>
        <p:nvSpPr>
          <p:cNvPr id="90" name="Rounded Rectangle 89"/>
          <p:cNvSpPr/>
          <p:nvPr/>
        </p:nvSpPr>
        <p:spPr>
          <a:xfrm>
            <a:off x="7772400" y="3271266"/>
            <a:ext cx="1508760" cy="173736"/>
          </a:xfrm>
          <a:prstGeom prst="roundRect">
            <a:avLst>
              <a:gd name="adj" fmla="val 50000"/>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7F7F7F"/>
                </a:solidFill>
                <a:effectLst/>
                <a:uLnTx/>
                <a:uFillTx/>
                <a:latin typeface="Lato"/>
                <a:ea typeface="+mn-ea"/>
                <a:cs typeface="+mn-cs"/>
              </a:rPr>
              <a:t>▲ +41 (+16.4%)</a:t>
            </a:r>
          </a:p>
        </p:txBody>
      </p:sp>
      <p:sp>
        <p:nvSpPr>
          <p:cNvPr id="92" name="TextBox 91"/>
          <p:cNvSpPr txBox="1"/>
          <p:nvPr/>
        </p:nvSpPr>
        <p:spPr>
          <a:xfrm>
            <a:off x="576072" y="3499866"/>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dirty="0">
                <a:ln>
                  <a:noFill/>
                </a:ln>
                <a:solidFill>
                  <a:srgbClr val="1A1A1A"/>
                </a:solidFill>
                <a:effectLst/>
                <a:uLnTx/>
                <a:uFillTx/>
                <a:latin typeface="Lato"/>
                <a:ea typeface="+mn-ea"/>
                <a:cs typeface="+mn-cs"/>
              </a:rPr>
              <a:t>Gifts &amp; Commitments</a:t>
            </a:r>
          </a:p>
        </p:txBody>
      </p:sp>
      <p:graphicFrame>
        <p:nvGraphicFramePr>
          <p:cNvPr id="93" name="Chart 92"/>
          <p:cNvGraphicFramePr>
            <a:graphicFrameLocks noGrp="1"/>
          </p:cNvGraphicFramePr>
          <p:nvPr/>
        </p:nvGraphicFramePr>
        <p:xfrm>
          <a:off x="2651760" y="3518154"/>
          <a:ext cx="868680" cy="246888"/>
        </p:xfrm>
        <a:graphic>
          <a:graphicData uri="http://schemas.openxmlformats.org/drawingml/2006/chart">
            <c:chart xmlns:c="http://schemas.openxmlformats.org/drawingml/2006/chart" xmlns:r="http://schemas.openxmlformats.org/officeDocument/2006/relationships" r:id="rId8"/>
          </a:graphicData>
        </a:graphic>
      </p:graphicFrame>
      <p:sp>
        <p:nvSpPr>
          <p:cNvPr id="94" name="TextBox 93"/>
          <p:cNvSpPr txBox="1"/>
          <p:nvPr/>
        </p:nvSpPr>
        <p:spPr>
          <a:xfrm>
            <a:off x="3639312" y="3499866"/>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120</a:t>
            </a:r>
          </a:p>
        </p:txBody>
      </p:sp>
      <p:sp>
        <p:nvSpPr>
          <p:cNvPr id="95" name="TextBox 94"/>
          <p:cNvSpPr txBox="1"/>
          <p:nvPr/>
        </p:nvSpPr>
        <p:spPr>
          <a:xfrm>
            <a:off x="4370832" y="3499866"/>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370</a:t>
            </a:r>
          </a:p>
        </p:txBody>
      </p:sp>
      <p:sp>
        <p:nvSpPr>
          <p:cNvPr id="96" name="TextBox 95"/>
          <p:cNvSpPr txBox="1"/>
          <p:nvPr/>
        </p:nvSpPr>
        <p:spPr>
          <a:xfrm>
            <a:off x="5102352" y="3499866"/>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130</a:t>
            </a:r>
          </a:p>
        </p:txBody>
      </p:sp>
      <p:sp>
        <p:nvSpPr>
          <p:cNvPr id="97" name="TextBox 96"/>
          <p:cNvSpPr txBox="1"/>
          <p:nvPr/>
        </p:nvSpPr>
        <p:spPr>
          <a:xfrm>
            <a:off x="5833872" y="3499866"/>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120</a:t>
            </a:r>
          </a:p>
        </p:txBody>
      </p:sp>
      <p:sp>
        <p:nvSpPr>
          <p:cNvPr id="98" name="Rectangle 97"/>
          <p:cNvSpPr/>
          <p:nvPr/>
        </p:nvSpPr>
        <p:spPr>
          <a:xfrm>
            <a:off x="6684264" y="3531870"/>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99" name="TextBox 98"/>
          <p:cNvSpPr txBox="1"/>
          <p:nvPr/>
        </p:nvSpPr>
        <p:spPr>
          <a:xfrm>
            <a:off x="6702552" y="3499866"/>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125</a:t>
            </a:r>
          </a:p>
        </p:txBody>
      </p:sp>
      <p:sp>
        <p:nvSpPr>
          <p:cNvPr id="100" name="Rounded Rectangle 99"/>
          <p:cNvSpPr/>
          <p:nvPr/>
        </p:nvSpPr>
        <p:spPr>
          <a:xfrm>
            <a:off x="7772400" y="3554730"/>
            <a:ext cx="1508760" cy="173736"/>
          </a:xfrm>
          <a:prstGeom prst="roundRect">
            <a:avLst>
              <a:gd name="adj" fmla="val 50000"/>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7F7F7F"/>
                </a:solidFill>
                <a:effectLst/>
                <a:uLnTx/>
                <a:uFillTx/>
                <a:latin typeface="Lato"/>
                <a:ea typeface="+mn-ea"/>
                <a:cs typeface="+mn-cs"/>
              </a:rPr>
              <a:t>▲ +5 (+4.2%)</a:t>
            </a:r>
          </a:p>
        </p:txBody>
      </p:sp>
      <p:sp>
        <p:nvSpPr>
          <p:cNvPr id="101" name="TextBox 100"/>
          <p:cNvSpPr txBox="1"/>
          <p:nvPr/>
        </p:nvSpPr>
        <p:spPr>
          <a:xfrm>
            <a:off x="9445752" y="3499866"/>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Lato"/>
              <a:ea typeface="+mn-ea"/>
              <a:cs typeface="+mn-cs"/>
            </a:endParaRPr>
          </a:p>
        </p:txBody>
      </p:sp>
      <p:sp>
        <p:nvSpPr>
          <p:cNvPr id="102" name="Rectangle 101"/>
          <p:cNvSpPr/>
          <p:nvPr/>
        </p:nvSpPr>
        <p:spPr>
          <a:xfrm>
            <a:off x="502920" y="3874770"/>
            <a:ext cx="11183112" cy="228600"/>
          </a:xfrm>
          <a:prstGeom prst="rect">
            <a:avLst/>
          </a:prstGeom>
          <a:solidFill>
            <a:srgbClr val="3A3A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03" name="TextBox 102"/>
          <p:cNvSpPr txBox="1"/>
          <p:nvPr/>
        </p:nvSpPr>
        <p:spPr>
          <a:xfrm>
            <a:off x="612648" y="3874770"/>
            <a:ext cx="5486400" cy="228600"/>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Lato"/>
                <a:ea typeface="+mn-ea"/>
                <a:cs typeface="+mn-cs"/>
              </a:rPr>
              <a:t>BALANCE SHEET &amp; LIQUIDITY  ·  AT FISCAL YEAR END</a:t>
            </a:r>
          </a:p>
        </p:txBody>
      </p:sp>
      <p:sp>
        <p:nvSpPr>
          <p:cNvPr id="104" name="TextBox 103"/>
          <p:cNvSpPr txBox="1"/>
          <p:nvPr/>
        </p:nvSpPr>
        <p:spPr>
          <a:xfrm>
            <a:off x="576072" y="4103370"/>
            <a:ext cx="1956816" cy="20116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METRIC</a:t>
            </a:r>
          </a:p>
        </p:txBody>
      </p:sp>
      <p:sp>
        <p:nvSpPr>
          <p:cNvPr id="105" name="TextBox 104"/>
          <p:cNvSpPr txBox="1"/>
          <p:nvPr/>
        </p:nvSpPr>
        <p:spPr>
          <a:xfrm>
            <a:off x="2679192" y="4103370"/>
            <a:ext cx="813816" cy="20116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FY23–26 TREND</a:t>
            </a:r>
          </a:p>
        </p:txBody>
      </p:sp>
      <p:sp>
        <p:nvSpPr>
          <p:cNvPr id="106" name="TextBox 105"/>
          <p:cNvSpPr txBox="1"/>
          <p:nvPr/>
        </p:nvSpPr>
        <p:spPr>
          <a:xfrm>
            <a:off x="3639312" y="4103370"/>
            <a:ext cx="58521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FY23</a:t>
            </a:r>
          </a:p>
        </p:txBody>
      </p:sp>
      <p:sp>
        <p:nvSpPr>
          <p:cNvPr id="107" name="TextBox 106"/>
          <p:cNvSpPr txBox="1"/>
          <p:nvPr/>
        </p:nvSpPr>
        <p:spPr>
          <a:xfrm>
            <a:off x="4370832" y="4103370"/>
            <a:ext cx="58521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FY24</a:t>
            </a:r>
          </a:p>
        </p:txBody>
      </p:sp>
      <p:sp>
        <p:nvSpPr>
          <p:cNvPr id="108" name="TextBox 107"/>
          <p:cNvSpPr txBox="1"/>
          <p:nvPr/>
        </p:nvSpPr>
        <p:spPr>
          <a:xfrm>
            <a:off x="5102352" y="4103370"/>
            <a:ext cx="58521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FY25</a:t>
            </a:r>
          </a:p>
        </p:txBody>
      </p:sp>
      <p:sp>
        <p:nvSpPr>
          <p:cNvPr id="109" name="TextBox 108"/>
          <p:cNvSpPr txBox="1"/>
          <p:nvPr/>
        </p:nvSpPr>
        <p:spPr>
          <a:xfrm>
            <a:off x="5833872" y="4103370"/>
            <a:ext cx="72237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FY26 BUDGET</a:t>
            </a:r>
          </a:p>
        </p:txBody>
      </p:sp>
      <p:sp>
        <p:nvSpPr>
          <p:cNvPr id="110" name="TextBox 109"/>
          <p:cNvSpPr txBox="1"/>
          <p:nvPr/>
        </p:nvSpPr>
        <p:spPr>
          <a:xfrm>
            <a:off x="6702552" y="4103370"/>
            <a:ext cx="905256" cy="201168"/>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000000"/>
                </a:solidFill>
                <a:effectLst/>
                <a:uLnTx/>
                <a:uFillTx/>
                <a:latin typeface="Lato"/>
                <a:ea typeface="+mn-ea"/>
                <a:cs typeface="+mn-cs"/>
              </a:rPr>
              <a:t>FY26 UNAUDITED</a:t>
            </a:r>
          </a:p>
        </p:txBody>
      </p:sp>
      <p:sp>
        <p:nvSpPr>
          <p:cNvPr id="111" name="TextBox 110"/>
          <p:cNvSpPr txBox="1"/>
          <p:nvPr/>
        </p:nvSpPr>
        <p:spPr>
          <a:xfrm>
            <a:off x="7754112" y="4103370"/>
            <a:ext cx="1545336" cy="20116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Δ VS. FY25</a:t>
            </a:r>
          </a:p>
        </p:txBody>
      </p:sp>
      <p:sp>
        <p:nvSpPr>
          <p:cNvPr id="112" name="TextBox 111"/>
          <p:cNvSpPr txBox="1"/>
          <p:nvPr/>
        </p:nvSpPr>
        <p:spPr>
          <a:xfrm>
            <a:off x="9445752" y="4103370"/>
            <a:ext cx="2167128" cy="201168"/>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6B70"/>
                </a:solidFill>
                <a:effectLst/>
                <a:uLnTx/>
                <a:uFillTx/>
                <a:latin typeface="Lato"/>
                <a:ea typeface="+mn-ea"/>
                <a:cs typeface="+mn-cs"/>
              </a:rPr>
              <a:t>COMMENT</a:t>
            </a:r>
          </a:p>
        </p:txBody>
      </p:sp>
      <p:cxnSp>
        <p:nvCxnSpPr>
          <p:cNvPr id="113" name="Connector 112"/>
          <p:cNvCxnSpPr/>
          <p:nvPr/>
        </p:nvCxnSpPr>
        <p:spPr>
          <a:xfrm>
            <a:off x="502920" y="4304538"/>
            <a:ext cx="11183112" cy="0"/>
          </a:xfrm>
          <a:prstGeom prst="line">
            <a:avLst/>
          </a:prstGeom>
          <a:ln w="9525">
            <a:solidFill>
              <a:srgbClr val="8A8D8F"/>
            </a:solidFill>
          </a:ln>
        </p:spPr>
        <p:style>
          <a:lnRef idx="2">
            <a:schemeClr val="accent1"/>
          </a:lnRef>
          <a:fillRef idx="0">
            <a:schemeClr val="accent1"/>
          </a:fillRef>
          <a:effectRef idx="0">
            <a:schemeClr val="accent1"/>
          </a:effectRef>
          <a:fontRef idx="minor">
            <a:schemeClr val="tx1"/>
          </a:fontRef>
        </p:style>
      </p:cxnSp>
      <p:sp>
        <p:nvSpPr>
          <p:cNvPr id="114" name="Rectangle 113"/>
          <p:cNvSpPr/>
          <p:nvPr/>
        </p:nvSpPr>
        <p:spPr>
          <a:xfrm>
            <a:off x="502920" y="4322826"/>
            <a:ext cx="11183112" cy="283464"/>
          </a:xfrm>
          <a:prstGeom prst="rect">
            <a:avLst/>
          </a:prstGeom>
          <a:solidFill>
            <a:srgbClr val="F4F4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15" name="TextBox 114"/>
          <p:cNvSpPr txBox="1"/>
          <p:nvPr/>
        </p:nvSpPr>
        <p:spPr>
          <a:xfrm>
            <a:off x="576072" y="4322826"/>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Net Assets</a:t>
            </a:r>
          </a:p>
        </p:txBody>
      </p:sp>
      <p:graphicFrame>
        <p:nvGraphicFramePr>
          <p:cNvPr id="116" name="Chart 115"/>
          <p:cNvGraphicFramePr>
            <a:graphicFrameLocks noGrp="1"/>
          </p:cNvGraphicFramePr>
          <p:nvPr/>
        </p:nvGraphicFramePr>
        <p:xfrm>
          <a:off x="2651760" y="4341114"/>
          <a:ext cx="868680" cy="246888"/>
        </p:xfrm>
        <a:graphic>
          <a:graphicData uri="http://schemas.openxmlformats.org/drawingml/2006/chart">
            <c:chart xmlns:c="http://schemas.openxmlformats.org/drawingml/2006/chart" xmlns:r="http://schemas.openxmlformats.org/officeDocument/2006/relationships" r:id="rId9"/>
          </a:graphicData>
        </a:graphic>
      </p:graphicFrame>
      <p:sp>
        <p:nvSpPr>
          <p:cNvPr id="117" name="TextBox 116"/>
          <p:cNvSpPr txBox="1"/>
          <p:nvPr/>
        </p:nvSpPr>
        <p:spPr>
          <a:xfrm>
            <a:off x="3639312" y="4322826"/>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3,741</a:t>
            </a:r>
          </a:p>
        </p:txBody>
      </p:sp>
      <p:sp>
        <p:nvSpPr>
          <p:cNvPr id="118" name="TextBox 117"/>
          <p:cNvSpPr txBox="1"/>
          <p:nvPr/>
        </p:nvSpPr>
        <p:spPr>
          <a:xfrm>
            <a:off x="4370832" y="4322826"/>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4,110</a:t>
            </a:r>
          </a:p>
        </p:txBody>
      </p:sp>
      <p:sp>
        <p:nvSpPr>
          <p:cNvPr id="119" name="TextBox 118"/>
          <p:cNvSpPr txBox="1"/>
          <p:nvPr/>
        </p:nvSpPr>
        <p:spPr>
          <a:xfrm>
            <a:off x="5102352" y="4322826"/>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4,363</a:t>
            </a:r>
          </a:p>
        </p:txBody>
      </p:sp>
      <p:sp>
        <p:nvSpPr>
          <p:cNvPr id="120" name="TextBox 119"/>
          <p:cNvSpPr txBox="1"/>
          <p:nvPr/>
        </p:nvSpPr>
        <p:spPr>
          <a:xfrm>
            <a:off x="5833872" y="4322826"/>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a:t>
            </a:r>
          </a:p>
        </p:txBody>
      </p:sp>
      <p:sp>
        <p:nvSpPr>
          <p:cNvPr id="121" name="Rectangle 120"/>
          <p:cNvSpPr/>
          <p:nvPr/>
        </p:nvSpPr>
        <p:spPr>
          <a:xfrm>
            <a:off x="6684264" y="4354830"/>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22" name="TextBox 121"/>
          <p:cNvSpPr txBox="1"/>
          <p:nvPr/>
        </p:nvSpPr>
        <p:spPr>
          <a:xfrm>
            <a:off x="6702552" y="4322826"/>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5,050</a:t>
            </a:r>
          </a:p>
        </p:txBody>
      </p:sp>
      <p:sp>
        <p:nvSpPr>
          <p:cNvPr id="123" name="Rounded Rectangle 122"/>
          <p:cNvSpPr/>
          <p:nvPr/>
        </p:nvSpPr>
        <p:spPr>
          <a:xfrm>
            <a:off x="7772400" y="4377690"/>
            <a:ext cx="1508760" cy="173736"/>
          </a:xfrm>
          <a:prstGeom prst="roundRect">
            <a:avLst>
              <a:gd name="adj" fmla="val 50000"/>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7F7F7F"/>
                </a:solidFill>
                <a:effectLst/>
                <a:uLnTx/>
                <a:uFillTx/>
                <a:latin typeface="Lato"/>
                <a:ea typeface="+mn-ea"/>
                <a:cs typeface="+mn-cs"/>
              </a:rPr>
              <a:t>▲ +687 (+15.7%)</a:t>
            </a:r>
          </a:p>
        </p:txBody>
      </p:sp>
      <p:sp>
        <p:nvSpPr>
          <p:cNvPr id="124" name="TextBox 123"/>
          <p:cNvSpPr txBox="1"/>
          <p:nvPr/>
        </p:nvSpPr>
        <p:spPr>
          <a:xfrm>
            <a:off x="9445752" y="4322826"/>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6B6B70"/>
                </a:solidFill>
                <a:effectLst/>
                <a:uLnTx/>
                <a:uFillTx/>
                <a:latin typeface="Lato"/>
                <a:ea typeface="+mn-ea"/>
                <a:cs typeface="+mn-cs"/>
              </a:rPr>
              <a:t>FY26 includes $203M MMC</a:t>
            </a:r>
          </a:p>
        </p:txBody>
      </p:sp>
      <p:sp>
        <p:nvSpPr>
          <p:cNvPr id="125" name="TextBox 124"/>
          <p:cNvSpPr txBox="1"/>
          <p:nvPr/>
        </p:nvSpPr>
        <p:spPr>
          <a:xfrm>
            <a:off x="576072" y="4606290"/>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Debt Service Coverage</a:t>
            </a:r>
          </a:p>
        </p:txBody>
      </p:sp>
      <p:graphicFrame>
        <p:nvGraphicFramePr>
          <p:cNvPr id="126" name="Chart 125"/>
          <p:cNvGraphicFramePr>
            <a:graphicFrameLocks noGrp="1"/>
          </p:cNvGraphicFramePr>
          <p:nvPr/>
        </p:nvGraphicFramePr>
        <p:xfrm>
          <a:off x="2651760" y="4624578"/>
          <a:ext cx="868680" cy="246888"/>
        </p:xfrm>
        <a:graphic>
          <a:graphicData uri="http://schemas.openxmlformats.org/drawingml/2006/chart">
            <c:chart xmlns:c="http://schemas.openxmlformats.org/drawingml/2006/chart" xmlns:r="http://schemas.openxmlformats.org/officeDocument/2006/relationships" r:id="rId10"/>
          </a:graphicData>
        </a:graphic>
      </p:graphicFrame>
      <p:sp>
        <p:nvSpPr>
          <p:cNvPr id="127" name="TextBox 126"/>
          <p:cNvSpPr txBox="1"/>
          <p:nvPr/>
        </p:nvSpPr>
        <p:spPr>
          <a:xfrm>
            <a:off x="3639312" y="4606290"/>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3.4x</a:t>
            </a:r>
          </a:p>
        </p:txBody>
      </p:sp>
      <p:sp>
        <p:nvSpPr>
          <p:cNvPr id="128" name="TextBox 127"/>
          <p:cNvSpPr txBox="1"/>
          <p:nvPr/>
        </p:nvSpPr>
        <p:spPr>
          <a:xfrm>
            <a:off x="4370832" y="4606290"/>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3.3x</a:t>
            </a:r>
          </a:p>
        </p:txBody>
      </p:sp>
      <p:sp>
        <p:nvSpPr>
          <p:cNvPr id="129" name="TextBox 128"/>
          <p:cNvSpPr txBox="1"/>
          <p:nvPr/>
        </p:nvSpPr>
        <p:spPr>
          <a:xfrm>
            <a:off x="5102352" y="4606290"/>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3.5x</a:t>
            </a:r>
          </a:p>
        </p:txBody>
      </p:sp>
      <p:sp>
        <p:nvSpPr>
          <p:cNvPr id="130" name="TextBox 129"/>
          <p:cNvSpPr txBox="1"/>
          <p:nvPr/>
        </p:nvSpPr>
        <p:spPr>
          <a:xfrm>
            <a:off x="5833872" y="4606290"/>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a:t>
            </a:r>
          </a:p>
        </p:txBody>
      </p:sp>
      <p:sp>
        <p:nvSpPr>
          <p:cNvPr id="131" name="Rectangle 130"/>
          <p:cNvSpPr/>
          <p:nvPr/>
        </p:nvSpPr>
        <p:spPr>
          <a:xfrm>
            <a:off x="6684264" y="4638294"/>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32" name="TextBox 131"/>
          <p:cNvSpPr txBox="1"/>
          <p:nvPr/>
        </p:nvSpPr>
        <p:spPr>
          <a:xfrm>
            <a:off x="6702552" y="4606290"/>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3.4x</a:t>
            </a:r>
          </a:p>
        </p:txBody>
      </p:sp>
      <p:sp>
        <p:nvSpPr>
          <p:cNvPr id="133" name="Rounded Rectangle 132"/>
          <p:cNvSpPr/>
          <p:nvPr/>
        </p:nvSpPr>
        <p:spPr>
          <a:xfrm>
            <a:off x="7772400" y="4661154"/>
            <a:ext cx="1508760" cy="173736"/>
          </a:xfrm>
          <a:prstGeom prst="roundRect">
            <a:avLst>
              <a:gd name="adj" fmla="val 50000"/>
            </a:avLst>
          </a:prstGeom>
          <a:solidFill>
            <a:srgbClr val="A4804A"/>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595959"/>
                </a:solidFill>
                <a:effectLst/>
                <a:uLnTx/>
                <a:uFillTx/>
                <a:latin typeface="Lato"/>
                <a:ea typeface="+mn-ea"/>
                <a:cs typeface="+mn-cs"/>
              </a:rPr>
              <a:t>▼ −0.1x (−2.9%)</a:t>
            </a:r>
          </a:p>
        </p:txBody>
      </p:sp>
      <p:sp>
        <p:nvSpPr>
          <p:cNvPr id="134" name="TextBox 133"/>
          <p:cNvSpPr txBox="1"/>
          <p:nvPr/>
        </p:nvSpPr>
        <p:spPr>
          <a:xfrm>
            <a:off x="9445752" y="4606290"/>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Lato"/>
              <a:ea typeface="+mn-ea"/>
              <a:cs typeface="+mn-cs"/>
            </a:endParaRPr>
          </a:p>
        </p:txBody>
      </p:sp>
      <p:sp>
        <p:nvSpPr>
          <p:cNvPr id="135" name="Rectangle 134"/>
          <p:cNvSpPr/>
          <p:nvPr/>
        </p:nvSpPr>
        <p:spPr>
          <a:xfrm>
            <a:off x="502920" y="4889754"/>
            <a:ext cx="11183112" cy="283464"/>
          </a:xfrm>
          <a:prstGeom prst="rect">
            <a:avLst/>
          </a:prstGeom>
          <a:solidFill>
            <a:srgbClr val="F4F4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36" name="TextBox 135"/>
          <p:cNvSpPr txBox="1"/>
          <p:nvPr/>
        </p:nvSpPr>
        <p:spPr>
          <a:xfrm>
            <a:off x="576072" y="4889754"/>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Long-Term Debt</a:t>
            </a:r>
          </a:p>
        </p:txBody>
      </p:sp>
      <p:graphicFrame>
        <p:nvGraphicFramePr>
          <p:cNvPr id="137" name="Chart 136"/>
          <p:cNvGraphicFramePr>
            <a:graphicFrameLocks noGrp="1"/>
          </p:cNvGraphicFramePr>
          <p:nvPr/>
        </p:nvGraphicFramePr>
        <p:xfrm>
          <a:off x="2651760" y="4908042"/>
          <a:ext cx="868680" cy="246888"/>
        </p:xfrm>
        <a:graphic>
          <a:graphicData uri="http://schemas.openxmlformats.org/drawingml/2006/chart">
            <c:chart xmlns:c="http://schemas.openxmlformats.org/drawingml/2006/chart" xmlns:r="http://schemas.openxmlformats.org/officeDocument/2006/relationships" r:id="rId11"/>
          </a:graphicData>
        </a:graphic>
      </p:graphicFrame>
      <p:sp>
        <p:nvSpPr>
          <p:cNvPr id="138" name="TextBox 137"/>
          <p:cNvSpPr txBox="1"/>
          <p:nvPr/>
        </p:nvSpPr>
        <p:spPr>
          <a:xfrm>
            <a:off x="3639312" y="4889754"/>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1,292</a:t>
            </a:r>
          </a:p>
        </p:txBody>
      </p:sp>
      <p:sp>
        <p:nvSpPr>
          <p:cNvPr id="139" name="TextBox 138"/>
          <p:cNvSpPr txBox="1"/>
          <p:nvPr/>
        </p:nvSpPr>
        <p:spPr>
          <a:xfrm>
            <a:off x="4370832" y="4889754"/>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1,257</a:t>
            </a:r>
          </a:p>
        </p:txBody>
      </p:sp>
      <p:sp>
        <p:nvSpPr>
          <p:cNvPr id="140" name="TextBox 139"/>
          <p:cNvSpPr txBox="1"/>
          <p:nvPr/>
        </p:nvSpPr>
        <p:spPr>
          <a:xfrm>
            <a:off x="5102352" y="4889754"/>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1,432</a:t>
            </a:r>
          </a:p>
        </p:txBody>
      </p:sp>
      <p:sp>
        <p:nvSpPr>
          <p:cNvPr id="141" name="TextBox 140"/>
          <p:cNvSpPr txBox="1"/>
          <p:nvPr/>
        </p:nvSpPr>
        <p:spPr>
          <a:xfrm>
            <a:off x="5833872" y="4889754"/>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a:t>
            </a:r>
          </a:p>
        </p:txBody>
      </p:sp>
      <p:sp>
        <p:nvSpPr>
          <p:cNvPr id="142" name="Rectangle 141"/>
          <p:cNvSpPr/>
          <p:nvPr/>
        </p:nvSpPr>
        <p:spPr>
          <a:xfrm>
            <a:off x="6684264" y="4921758"/>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43" name="TextBox 142"/>
          <p:cNvSpPr txBox="1"/>
          <p:nvPr/>
        </p:nvSpPr>
        <p:spPr>
          <a:xfrm>
            <a:off x="6702552" y="4889754"/>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1,954</a:t>
            </a:r>
          </a:p>
        </p:txBody>
      </p:sp>
      <p:sp>
        <p:nvSpPr>
          <p:cNvPr id="144" name="Rounded Rectangle 143"/>
          <p:cNvSpPr/>
          <p:nvPr/>
        </p:nvSpPr>
        <p:spPr>
          <a:xfrm>
            <a:off x="7772400" y="4944618"/>
            <a:ext cx="1508760" cy="173736"/>
          </a:xfrm>
          <a:prstGeom prst="roundRect">
            <a:avLst>
              <a:gd name="adj" fmla="val 50000"/>
            </a:avLst>
          </a:prstGeom>
          <a:solidFill>
            <a:srgbClr val="FBE3E7"/>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C8102E"/>
                </a:solidFill>
                <a:effectLst/>
                <a:uLnTx/>
                <a:uFillTx/>
                <a:latin typeface="Lato"/>
                <a:ea typeface="+mn-ea"/>
                <a:cs typeface="+mn-cs"/>
              </a:rPr>
              <a:t>▲ +522 (+36.5%)</a:t>
            </a:r>
          </a:p>
        </p:txBody>
      </p:sp>
      <p:sp>
        <p:nvSpPr>
          <p:cNvPr id="145" name="TextBox 144"/>
          <p:cNvSpPr txBox="1"/>
          <p:nvPr/>
        </p:nvSpPr>
        <p:spPr>
          <a:xfrm>
            <a:off x="9445752" y="4889754"/>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6B6B70"/>
                </a:solidFill>
                <a:effectLst/>
                <a:uLnTx/>
                <a:uFillTx/>
                <a:latin typeface="Lato"/>
                <a:ea typeface="+mn-ea"/>
                <a:cs typeface="+mn-cs"/>
              </a:rPr>
              <a:t>FY26 incl. $39M MMC + $485M Series 2026 issuance</a:t>
            </a:r>
          </a:p>
        </p:txBody>
      </p:sp>
      <p:sp>
        <p:nvSpPr>
          <p:cNvPr id="146" name="TextBox 145"/>
          <p:cNvSpPr txBox="1"/>
          <p:nvPr/>
        </p:nvSpPr>
        <p:spPr>
          <a:xfrm>
            <a:off x="576072" y="5173218"/>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Cash &amp; Short-Term Inv.</a:t>
            </a:r>
          </a:p>
        </p:txBody>
      </p:sp>
      <p:graphicFrame>
        <p:nvGraphicFramePr>
          <p:cNvPr id="147" name="Chart 146"/>
          <p:cNvGraphicFramePr>
            <a:graphicFrameLocks noGrp="1"/>
          </p:cNvGraphicFramePr>
          <p:nvPr/>
        </p:nvGraphicFramePr>
        <p:xfrm>
          <a:off x="2651760" y="5191506"/>
          <a:ext cx="868680" cy="246888"/>
        </p:xfrm>
        <a:graphic>
          <a:graphicData uri="http://schemas.openxmlformats.org/drawingml/2006/chart">
            <c:chart xmlns:c="http://schemas.openxmlformats.org/drawingml/2006/chart" xmlns:r="http://schemas.openxmlformats.org/officeDocument/2006/relationships" r:id="rId12"/>
          </a:graphicData>
        </a:graphic>
      </p:graphicFrame>
      <p:sp>
        <p:nvSpPr>
          <p:cNvPr id="148" name="TextBox 147"/>
          <p:cNvSpPr txBox="1"/>
          <p:nvPr/>
        </p:nvSpPr>
        <p:spPr>
          <a:xfrm>
            <a:off x="3639312" y="5173218"/>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563</a:t>
            </a:r>
          </a:p>
        </p:txBody>
      </p:sp>
      <p:sp>
        <p:nvSpPr>
          <p:cNvPr id="149" name="TextBox 148"/>
          <p:cNvSpPr txBox="1"/>
          <p:nvPr/>
        </p:nvSpPr>
        <p:spPr>
          <a:xfrm>
            <a:off x="4370832" y="5173218"/>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546</a:t>
            </a:r>
          </a:p>
        </p:txBody>
      </p:sp>
      <p:sp>
        <p:nvSpPr>
          <p:cNvPr id="150" name="TextBox 149"/>
          <p:cNvSpPr txBox="1"/>
          <p:nvPr/>
        </p:nvSpPr>
        <p:spPr>
          <a:xfrm>
            <a:off x="5102352" y="5173218"/>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412</a:t>
            </a:r>
          </a:p>
        </p:txBody>
      </p:sp>
      <p:sp>
        <p:nvSpPr>
          <p:cNvPr id="151" name="TextBox 150"/>
          <p:cNvSpPr txBox="1"/>
          <p:nvPr/>
        </p:nvSpPr>
        <p:spPr>
          <a:xfrm>
            <a:off x="5833872" y="5173218"/>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a:t>
            </a:r>
          </a:p>
        </p:txBody>
      </p:sp>
      <p:sp>
        <p:nvSpPr>
          <p:cNvPr id="152" name="Rectangle 151"/>
          <p:cNvSpPr/>
          <p:nvPr/>
        </p:nvSpPr>
        <p:spPr>
          <a:xfrm>
            <a:off x="6684264" y="5205222"/>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53" name="TextBox 152"/>
          <p:cNvSpPr txBox="1"/>
          <p:nvPr/>
        </p:nvSpPr>
        <p:spPr>
          <a:xfrm>
            <a:off x="6702552" y="5173218"/>
            <a:ext cx="90525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0000"/>
                </a:solidFill>
                <a:effectLst/>
                <a:uLnTx/>
                <a:uFillTx/>
                <a:latin typeface="Lato"/>
                <a:ea typeface="+mn-ea"/>
                <a:cs typeface="+mn-cs"/>
              </a:rPr>
              <a:t>572</a:t>
            </a:r>
          </a:p>
        </p:txBody>
      </p:sp>
      <p:sp>
        <p:nvSpPr>
          <p:cNvPr id="154" name="Rounded Rectangle 153"/>
          <p:cNvSpPr/>
          <p:nvPr/>
        </p:nvSpPr>
        <p:spPr>
          <a:xfrm>
            <a:off x="7772400" y="5228082"/>
            <a:ext cx="1508760" cy="173736"/>
          </a:xfrm>
          <a:prstGeom prst="roundRect">
            <a:avLst>
              <a:gd name="adj" fmla="val 50000"/>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7F7F7F"/>
                </a:solidFill>
                <a:effectLst/>
                <a:uLnTx/>
                <a:uFillTx/>
                <a:latin typeface="Lato"/>
                <a:ea typeface="+mn-ea"/>
                <a:cs typeface="+mn-cs"/>
              </a:rPr>
              <a:t>▲ +160 (+38.8%)</a:t>
            </a:r>
          </a:p>
        </p:txBody>
      </p:sp>
      <p:sp>
        <p:nvSpPr>
          <p:cNvPr id="155" name="TextBox 154"/>
          <p:cNvSpPr txBox="1"/>
          <p:nvPr/>
        </p:nvSpPr>
        <p:spPr>
          <a:xfrm>
            <a:off x="9445752" y="5173218"/>
            <a:ext cx="2167128"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Lato"/>
              <a:ea typeface="+mn-ea"/>
              <a:cs typeface="+mn-cs"/>
            </a:endParaRPr>
          </a:p>
        </p:txBody>
      </p:sp>
      <p:sp>
        <p:nvSpPr>
          <p:cNvPr id="156" name="Rectangle 155"/>
          <p:cNvSpPr/>
          <p:nvPr/>
        </p:nvSpPr>
        <p:spPr>
          <a:xfrm>
            <a:off x="502920" y="5456682"/>
            <a:ext cx="11183112" cy="283464"/>
          </a:xfrm>
          <a:prstGeom prst="rect">
            <a:avLst/>
          </a:prstGeom>
          <a:solidFill>
            <a:srgbClr val="F4F4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57" name="TextBox 156"/>
          <p:cNvSpPr txBox="1"/>
          <p:nvPr/>
        </p:nvSpPr>
        <p:spPr>
          <a:xfrm>
            <a:off x="576072" y="5456682"/>
            <a:ext cx="1956816" cy="283464"/>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A1A1A"/>
                </a:solidFill>
                <a:effectLst/>
                <a:uLnTx/>
                <a:uFillTx/>
                <a:latin typeface="Lato"/>
                <a:ea typeface="+mn-ea"/>
                <a:cs typeface="+mn-cs"/>
              </a:rPr>
              <a:t>Endowment</a:t>
            </a:r>
          </a:p>
        </p:txBody>
      </p:sp>
      <p:graphicFrame>
        <p:nvGraphicFramePr>
          <p:cNvPr id="158" name="Chart 157"/>
          <p:cNvGraphicFramePr>
            <a:graphicFrameLocks noGrp="1"/>
          </p:cNvGraphicFramePr>
          <p:nvPr/>
        </p:nvGraphicFramePr>
        <p:xfrm>
          <a:off x="2651760" y="5474970"/>
          <a:ext cx="868680" cy="246888"/>
        </p:xfrm>
        <a:graphic>
          <a:graphicData uri="http://schemas.openxmlformats.org/drawingml/2006/chart">
            <c:chart xmlns:c="http://schemas.openxmlformats.org/drawingml/2006/chart" xmlns:r="http://schemas.openxmlformats.org/officeDocument/2006/relationships" r:id="rId13"/>
          </a:graphicData>
        </a:graphic>
      </p:graphicFrame>
      <p:sp>
        <p:nvSpPr>
          <p:cNvPr id="159" name="TextBox 158"/>
          <p:cNvSpPr txBox="1"/>
          <p:nvPr/>
        </p:nvSpPr>
        <p:spPr>
          <a:xfrm>
            <a:off x="3639312" y="5456682"/>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1,714</a:t>
            </a:r>
          </a:p>
        </p:txBody>
      </p:sp>
      <p:sp>
        <p:nvSpPr>
          <p:cNvPr id="160" name="TextBox 159"/>
          <p:cNvSpPr txBox="1"/>
          <p:nvPr/>
        </p:nvSpPr>
        <p:spPr>
          <a:xfrm>
            <a:off x="4370832" y="5456682"/>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1,906</a:t>
            </a:r>
          </a:p>
        </p:txBody>
      </p:sp>
      <p:sp>
        <p:nvSpPr>
          <p:cNvPr id="161" name="TextBox 160"/>
          <p:cNvSpPr txBox="1"/>
          <p:nvPr/>
        </p:nvSpPr>
        <p:spPr>
          <a:xfrm>
            <a:off x="5102352" y="5456682"/>
            <a:ext cx="58521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2,110</a:t>
            </a:r>
          </a:p>
        </p:txBody>
      </p:sp>
      <p:sp>
        <p:nvSpPr>
          <p:cNvPr id="162" name="TextBox 161"/>
          <p:cNvSpPr txBox="1"/>
          <p:nvPr/>
        </p:nvSpPr>
        <p:spPr>
          <a:xfrm>
            <a:off x="5833872" y="5456682"/>
            <a:ext cx="722376" cy="283464"/>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2B2B2B"/>
                </a:solidFill>
                <a:effectLst/>
                <a:uLnTx/>
                <a:uFillTx/>
                <a:latin typeface="Lato"/>
                <a:ea typeface="+mn-ea"/>
                <a:cs typeface="+mn-cs"/>
              </a:rPr>
              <a:t>—</a:t>
            </a:r>
          </a:p>
        </p:txBody>
      </p:sp>
      <p:sp>
        <p:nvSpPr>
          <p:cNvPr id="163" name="Rectangle 162"/>
          <p:cNvSpPr/>
          <p:nvPr/>
        </p:nvSpPr>
        <p:spPr>
          <a:xfrm>
            <a:off x="6684264" y="5488686"/>
            <a:ext cx="941832" cy="219456"/>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64" name="TextBox 163"/>
          <p:cNvSpPr txBox="1"/>
          <p:nvPr/>
        </p:nvSpPr>
        <p:spPr>
          <a:xfrm>
            <a:off x="6702552" y="5517622"/>
            <a:ext cx="905256" cy="161583"/>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000000"/>
                </a:solidFill>
                <a:effectLst/>
                <a:uLnTx/>
                <a:uFillTx/>
                <a:latin typeface="Lato"/>
                <a:ea typeface="+mn-ea"/>
                <a:cs typeface="+mn-cs"/>
              </a:rPr>
              <a:t>2,3</a:t>
            </a:r>
            <a:r>
              <a:rPr kumimoji="0" lang="en-US" sz="1050" b="1" i="0" u="none" strike="noStrike" kern="1200" cap="none" spc="0" normalizeH="0" baseline="0" noProof="0" dirty="0">
                <a:ln>
                  <a:noFill/>
                </a:ln>
                <a:solidFill>
                  <a:srgbClr val="000000"/>
                </a:solidFill>
                <a:effectLst/>
                <a:uLnTx/>
                <a:uFillTx/>
                <a:latin typeface="Lato"/>
                <a:ea typeface="+mn-ea"/>
                <a:cs typeface="+mn-cs"/>
              </a:rPr>
              <a:t>61</a:t>
            </a:r>
            <a:endParaRPr kumimoji="0" sz="1050" b="1" i="0" u="none" strike="noStrike" kern="1200" cap="none" spc="0" normalizeH="0" baseline="0" noProof="0" dirty="0">
              <a:ln>
                <a:noFill/>
              </a:ln>
              <a:solidFill>
                <a:srgbClr val="000000"/>
              </a:solidFill>
              <a:effectLst/>
              <a:uLnTx/>
              <a:uFillTx/>
              <a:latin typeface="Lato"/>
              <a:ea typeface="+mn-ea"/>
              <a:cs typeface="+mn-cs"/>
            </a:endParaRPr>
          </a:p>
        </p:txBody>
      </p:sp>
      <p:sp>
        <p:nvSpPr>
          <p:cNvPr id="165" name="Rounded Rectangle 164"/>
          <p:cNvSpPr/>
          <p:nvPr/>
        </p:nvSpPr>
        <p:spPr>
          <a:xfrm>
            <a:off x="7772400" y="5511546"/>
            <a:ext cx="1508760" cy="173736"/>
          </a:xfrm>
          <a:prstGeom prst="roundRect">
            <a:avLst>
              <a:gd name="adj" fmla="val 50000"/>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7F7F7F"/>
                </a:solidFill>
                <a:effectLst/>
                <a:uLnTx/>
                <a:uFillTx/>
                <a:latin typeface="Lato"/>
                <a:ea typeface="+mn-ea"/>
                <a:cs typeface="+mn-cs"/>
              </a:rPr>
              <a:t>▲ +2</a:t>
            </a:r>
            <a:r>
              <a:rPr kumimoji="0" lang="en-US" sz="850" b="1" i="0" u="none" strike="noStrike" kern="1200" cap="none" spc="0" normalizeH="0" baseline="0" noProof="0" dirty="0">
                <a:ln>
                  <a:noFill/>
                </a:ln>
                <a:solidFill>
                  <a:srgbClr val="7F7F7F"/>
                </a:solidFill>
                <a:effectLst/>
                <a:uLnTx/>
                <a:uFillTx/>
                <a:latin typeface="Lato"/>
                <a:ea typeface="+mn-ea"/>
                <a:cs typeface="+mn-cs"/>
              </a:rPr>
              <a:t>51</a:t>
            </a:r>
            <a:r>
              <a:rPr kumimoji="0" sz="850" b="1" i="0" u="none" strike="noStrike" kern="1200" cap="none" spc="0" normalizeH="0" baseline="0" noProof="0" dirty="0">
                <a:ln>
                  <a:noFill/>
                </a:ln>
                <a:solidFill>
                  <a:srgbClr val="7F7F7F"/>
                </a:solidFill>
                <a:effectLst/>
                <a:uLnTx/>
                <a:uFillTx/>
                <a:latin typeface="Lato"/>
                <a:ea typeface="+mn-ea"/>
                <a:cs typeface="+mn-cs"/>
              </a:rPr>
              <a:t> (+1</a:t>
            </a:r>
            <a:r>
              <a:rPr kumimoji="0" lang="en-US" sz="850" b="1" i="0" u="none" strike="noStrike" kern="1200" cap="none" spc="0" normalizeH="0" baseline="0" noProof="0" dirty="0">
                <a:ln>
                  <a:noFill/>
                </a:ln>
                <a:solidFill>
                  <a:srgbClr val="7F7F7F"/>
                </a:solidFill>
                <a:effectLst/>
                <a:uLnTx/>
                <a:uFillTx/>
                <a:latin typeface="Lato"/>
                <a:ea typeface="+mn-ea"/>
                <a:cs typeface="+mn-cs"/>
              </a:rPr>
              <a:t>1</a:t>
            </a:r>
            <a:r>
              <a:rPr kumimoji="0" sz="850" b="1" i="0" u="none" strike="noStrike" kern="1200" cap="none" spc="0" normalizeH="0" baseline="0" noProof="0" dirty="0">
                <a:ln>
                  <a:noFill/>
                </a:ln>
                <a:solidFill>
                  <a:srgbClr val="7F7F7F"/>
                </a:solidFill>
                <a:effectLst/>
                <a:uLnTx/>
                <a:uFillTx/>
                <a:latin typeface="Lato"/>
                <a:ea typeface="+mn-ea"/>
                <a:cs typeface="+mn-cs"/>
              </a:rPr>
              <a:t>.</a:t>
            </a:r>
            <a:r>
              <a:rPr kumimoji="0" lang="en-US" sz="850" b="1" i="0" u="none" strike="noStrike" kern="1200" cap="none" spc="0" normalizeH="0" baseline="0" noProof="0" dirty="0">
                <a:ln>
                  <a:noFill/>
                </a:ln>
                <a:solidFill>
                  <a:srgbClr val="7F7F7F"/>
                </a:solidFill>
                <a:effectLst/>
                <a:uLnTx/>
                <a:uFillTx/>
                <a:latin typeface="Lato"/>
                <a:ea typeface="+mn-ea"/>
                <a:cs typeface="+mn-cs"/>
              </a:rPr>
              <a:t>9</a:t>
            </a:r>
            <a:r>
              <a:rPr kumimoji="0" sz="850" b="1" i="0" u="none" strike="noStrike" kern="1200" cap="none" spc="0" normalizeH="0" baseline="0" noProof="0" dirty="0">
                <a:ln>
                  <a:noFill/>
                </a:ln>
                <a:solidFill>
                  <a:srgbClr val="7F7F7F"/>
                </a:solidFill>
                <a:effectLst/>
                <a:uLnTx/>
                <a:uFillTx/>
                <a:latin typeface="Lato"/>
                <a:ea typeface="+mn-ea"/>
                <a:cs typeface="+mn-cs"/>
              </a:rPr>
              <a:t>%)</a:t>
            </a:r>
          </a:p>
        </p:txBody>
      </p:sp>
      <p:sp>
        <p:nvSpPr>
          <p:cNvPr id="166" name="TextBox 165"/>
          <p:cNvSpPr txBox="1"/>
          <p:nvPr/>
        </p:nvSpPr>
        <p:spPr>
          <a:xfrm>
            <a:off x="9445752" y="5536858"/>
            <a:ext cx="2167128" cy="123111"/>
          </a:xfrm>
          <a:prstGeom prst="rect">
            <a:avLst/>
          </a:prstGeom>
          <a:noFill/>
        </p:spPr>
        <p:txBody>
          <a:bodyPr wrap="squar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dirty="0">
                <a:ln>
                  <a:noFill/>
                </a:ln>
                <a:solidFill>
                  <a:srgbClr val="6B6B70"/>
                </a:solidFill>
                <a:effectLst/>
                <a:uLnTx/>
                <a:uFillTx/>
                <a:latin typeface="Lato"/>
                <a:ea typeface="+mn-ea"/>
                <a:cs typeface="+mn-cs"/>
              </a:rPr>
              <a:t>Based on preliminary 1</a:t>
            </a:r>
            <a:r>
              <a:rPr kumimoji="0" lang="en-US" sz="800" b="0" i="1" u="none" strike="noStrike" kern="1200" cap="none" spc="0" normalizeH="0" baseline="0" noProof="0" dirty="0">
                <a:ln>
                  <a:noFill/>
                </a:ln>
                <a:solidFill>
                  <a:srgbClr val="6B6B70"/>
                </a:solidFill>
                <a:effectLst/>
                <a:uLnTx/>
                <a:uFillTx/>
                <a:latin typeface="Lato"/>
                <a:ea typeface="+mn-ea"/>
                <a:cs typeface="+mn-cs"/>
              </a:rPr>
              <a:t>6</a:t>
            </a:r>
            <a:r>
              <a:rPr kumimoji="0" sz="800" b="0" i="1" u="none" strike="noStrike" kern="1200" cap="none" spc="0" normalizeH="0" baseline="0" noProof="0" dirty="0">
                <a:ln>
                  <a:noFill/>
                </a:ln>
                <a:solidFill>
                  <a:srgbClr val="6B6B70"/>
                </a:solidFill>
                <a:effectLst/>
                <a:uLnTx/>
                <a:uFillTx/>
                <a:latin typeface="Lato"/>
                <a:ea typeface="+mn-ea"/>
                <a:cs typeface="+mn-cs"/>
              </a:rPr>
              <a:t>% FY26 endowment return</a:t>
            </a:r>
          </a:p>
        </p:txBody>
      </p:sp>
      <p:cxnSp>
        <p:nvCxnSpPr>
          <p:cNvPr id="168" name="FY26 focus divider"/>
          <p:cNvCxnSpPr/>
          <p:nvPr/>
        </p:nvCxnSpPr>
        <p:spPr>
          <a:xfrm>
            <a:off x="5760720" y="1353312"/>
            <a:ext cx="0" cy="4672584"/>
          </a:xfrm>
          <a:prstGeom prst="line">
            <a:avLst/>
          </a:prstGeom>
          <a:ln w="15875">
            <a:solidFill>
              <a:srgbClr val="3A3A3F"/>
            </a:solidFill>
          </a:ln>
        </p:spPr>
        <p:style>
          <a:lnRef idx="2">
            <a:schemeClr val="accent1"/>
          </a:lnRef>
          <a:fillRef idx="0">
            <a:schemeClr val="accent1"/>
          </a:fillRef>
          <a:effectRef idx="0">
            <a:schemeClr val="accent1"/>
          </a:effectRef>
          <a:fontRef idx="minor">
            <a:schemeClr val="tx1"/>
          </a:fontRef>
        </p:style>
      </p:cxnSp>
      <p:cxnSp>
        <p:nvCxnSpPr>
          <p:cNvPr id="171" name="Margin rule (top)"/>
          <p:cNvCxnSpPr/>
          <p:nvPr/>
        </p:nvCxnSpPr>
        <p:spPr>
          <a:xfrm>
            <a:off x="530352" y="2651760"/>
            <a:ext cx="8887968" cy="0"/>
          </a:xfrm>
          <a:prstGeom prst="line">
            <a:avLst/>
          </a:prstGeom>
          <a:ln w="9525">
            <a:solidFill>
              <a:srgbClr val="000000"/>
            </a:solidFill>
          </a:ln>
        </p:spPr>
        <p:style>
          <a:lnRef idx="2">
            <a:schemeClr val="accent1"/>
          </a:lnRef>
          <a:fillRef idx="0">
            <a:schemeClr val="accent1"/>
          </a:fillRef>
          <a:effectRef idx="0">
            <a:schemeClr val="accent1"/>
          </a:effectRef>
          <a:fontRef idx="minor">
            <a:schemeClr val="tx1"/>
          </a:fontRef>
        </p:style>
      </p:cxnSp>
      <p:cxnSp>
        <p:nvCxnSpPr>
          <p:cNvPr id="91" name="Margin rule (top)">
            <a:extLst>
              <a:ext uri="{FF2B5EF4-FFF2-40B4-BE49-F238E27FC236}">
                <a16:creationId xmlns:a16="http://schemas.microsoft.com/office/drawing/2014/main" id="{2F212761-1260-3FBE-9DD6-EDB42F875091}"/>
              </a:ext>
            </a:extLst>
          </p:cNvPr>
          <p:cNvCxnSpPr/>
          <p:nvPr/>
        </p:nvCxnSpPr>
        <p:spPr>
          <a:xfrm>
            <a:off x="530352" y="3209925"/>
            <a:ext cx="8887968" cy="0"/>
          </a:xfrm>
          <a:prstGeom prst="line">
            <a:avLst/>
          </a:prstGeom>
          <a:ln w="9525">
            <a:solidFill>
              <a:srgbClr val="000000"/>
            </a:solidFill>
          </a:ln>
        </p:spPr>
        <p:style>
          <a:lnRef idx="2">
            <a:schemeClr val="accent1"/>
          </a:lnRef>
          <a:fillRef idx="0">
            <a:schemeClr val="accent1"/>
          </a:fillRef>
          <a:effectRef idx="0">
            <a:schemeClr val="accent1"/>
          </a:effectRef>
          <a:fontRef idx="minor">
            <a:schemeClr val="tx1"/>
          </a:fontRef>
        </p:style>
      </p:cxnSp>
      <p:sp>
        <p:nvSpPr>
          <p:cNvPr id="172" name="TextBox 171"/>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Northeastern Financial Affairs (FY26 unaudited)</a:t>
            </a:r>
          </a:p>
        </p:txBody>
      </p:sp>
      <p:sp>
        <p:nvSpPr>
          <p:cNvPr id="173" name="TextBox 172"/>
          <p:cNvSpPr txBox="1"/>
          <p:nvPr/>
        </p:nvSpPr>
        <p:spPr>
          <a:xfrm>
            <a:off x="457200" y="6163056"/>
            <a:ext cx="11274552" cy="237744"/>
          </a:xfrm>
          <a:prstGeom prst="rect">
            <a:avLst/>
          </a:prstGeom>
          <a:noFill/>
        </p:spPr>
        <p:txBody>
          <a:bodyPr wrap="square" lIns="0" rIns="0" tIns="0" bIns="0" anchor="b">
            <a:spAutoFit/>
          </a:bodyPr>
          <a:lstStyle/>
          <a:p>
            <a:pPr algn="l"/>
            <a:r>
              <a:rPr sz="700" b="0" i="0">
                <a:solidFill>
                  <a:srgbClr val="595959"/>
                </a:solidFill>
                <a:latin typeface="Lato"/>
              </a:rPr>
              <a:t>Sparklines show FY23–FY25 actuals and FY26 unaudited (navy point). Chips: green = favorable, red = unfavorable, amber = essentially unchanged; operating rows vs. FY26 budget (expenses below budget = favorable), balance-sheet rows vs. FY25 (higher debt = unfavorable). Percent change in parentheses.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058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C8102E"/>
                </a:solidFill>
                <a:effectLst/>
                <a:uLnTx/>
                <a:uFillTx/>
                <a:latin typeface="Lato"/>
                <a:ea typeface="+mn-ea"/>
                <a:cs typeface="+mn-cs"/>
              </a:rPr>
              <a:t>SEPTEMBER 2026 · $ IN MILLIONS UNLESS NOTED</a:t>
            </a:r>
          </a:p>
        </p:txBody>
      </p:sp>
      <p:sp>
        <p:nvSpPr>
          <p:cNvPr id="3" name="TextBox 2"/>
          <p:cNvSpPr txBox="1"/>
          <p:nvPr/>
        </p:nvSpPr>
        <p:spPr>
          <a:xfrm>
            <a:off x="457200" y="676656"/>
            <a:ext cx="11247120" cy="502920"/>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000000"/>
                </a:solidFill>
                <a:effectLst/>
                <a:uLnTx/>
                <a:uFillTx/>
                <a:latin typeface="Lato"/>
                <a:ea typeface="+mn-ea"/>
                <a:cs typeface="+mn-cs"/>
              </a:rPr>
              <a:t>5-Year Financial Trend</a:t>
            </a:r>
          </a:p>
        </p:txBody>
      </p:sp>
      <p:sp>
        <p:nvSpPr>
          <p:cNvPr id="4" name="Rectangle 3"/>
          <p:cNvSpPr/>
          <p:nvPr/>
        </p:nvSpPr>
        <p:spPr>
          <a:xfrm>
            <a:off x="502920" y="1207008"/>
            <a:ext cx="548640" cy="381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0" name="TextBox 9"/>
          <p:cNvSpPr txBox="1"/>
          <p:nvPr/>
        </p:nvSpPr>
        <p:spPr>
          <a:xfrm>
            <a:off x="502920" y="1325880"/>
            <a:ext cx="3474720" cy="219456"/>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6B6B70"/>
                </a:solidFill>
                <a:effectLst/>
                <a:uLnTx/>
                <a:uFillTx/>
                <a:latin typeface="Lato"/>
                <a:ea typeface="+mn-ea"/>
                <a:cs typeface="+mn-cs"/>
              </a:rPr>
              <a:t>DASHBOARD METRIC  ·  FY22–FY26 TREND</a:t>
            </a:r>
          </a:p>
        </p:txBody>
      </p:sp>
      <p:sp>
        <p:nvSpPr>
          <p:cNvPr id="11" name="TextBox 10"/>
          <p:cNvSpPr txBox="1"/>
          <p:nvPr/>
        </p:nvSpPr>
        <p:spPr>
          <a:xfrm>
            <a:off x="4142232" y="1325880"/>
            <a:ext cx="914400" cy="219456"/>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6B6B70"/>
                </a:solidFill>
                <a:effectLst/>
                <a:uLnTx/>
                <a:uFillTx/>
                <a:latin typeface="Lato"/>
                <a:ea typeface="+mn-ea"/>
                <a:cs typeface="+mn-cs"/>
              </a:rPr>
              <a:t>FY26 BUDGET</a:t>
            </a:r>
          </a:p>
        </p:txBody>
      </p:sp>
      <p:sp>
        <p:nvSpPr>
          <p:cNvPr id="12" name="TextBox 11"/>
          <p:cNvSpPr txBox="1"/>
          <p:nvPr/>
        </p:nvSpPr>
        <p:spPr>
          <a:xfrm>
            <a:off x="4992624" y="1325880"/>
            <a:ext cx="1188720" cy="219456"/>
          </a:xfrm>
          <a:prstGeom prst="rect">
            <a:avLst/>
          </a:prstGeom>
          <a:noFill/>
        </p:spPr>
        <p:txBody>
          <a:bodyPr wrap="non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6B6B70"/>
                </a:solidFill>
                <a:effectLst/>
                <a:uLnTx/>
                <a:uFillTx/>
                <a:latin typeface="Lato"/>
                <a:ea typeface="+mn-ea"/>
                <a:cs typeface="+mn-cs"/>
              </a:rPr>
              <a:t>FY26 UNAUDITED</a:t>
            </a:r>
          </a:p>
        </p:txBody>
      </p:sp>
      <p:cxnSp>
        <p:nvCxnSpPr>
          <p:cNvPr id="13" name="Connector 12"/>
          <p:cNvCxnSpPr/>
          <p:nvPr/>
        </p:nvCxnSpPr>
        <p:spPr>
          <a:xfrm>
            <a:off x="502920" y="1572768"/>
            <a:ext cx="5541264" cy="0"/>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2920" y="3008376"/>
            <a:ext cx="5541264" cy="0"/>
          </a:xfrm>
          <a:prstGeom prst="line">
            <a:avLst/>
          </a:prstGeom>
          <a:ln w="12700">
            <a:solidFill>
              <a:srgbClr val="F4F4F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 y="1682496"/>
            <a:ext cx="3291840" cy="21945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A1A1A"/>
                </a:solidFill>
                <a:effectLst/>
                <a:uLnTx/>
                <a:uFillTx/>
                <a:latin typeface="Lato"/>
                <a:ea typeface="+mn-ea"/>
                <a:cs typeface="+mn-cs"/>
              </a:rPr>
              <a:t>Net Tuition &amp; Fees</a:t>
            </a:r>
          </a:p>
        </p:txBody>
      </p:sp>
      <p:graphicFrame>
        <p:nvGraphicFramePr>
          <p:cNvPr id="16" name="Chart 15"/>
          <p:cNvGraphicFramePr>
            <a:graphicFrameLocks noGrp="1"/>
          </p:cNvGraphicFramePr>
          <p:nvPr/>
        </p:nvGraphicFramePr>
        <p:xfrm>
          <a:off x="502920" y="1865376"/>
          <a:ext cx="3520440" cy="82296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941832" y="1901952"/>
            <a:ext cx="2011680" cy="16459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6B6B70"/>
                </a:solidFill>
                <a:effectLst/>
                <a:uLnTx/>
                <a:uFillTx/>
                <a:latin typeface="Lato"/>
                <a:ea typeface="+mn-ea"/>
                <a:cs typeface="+mn-cs"/>
              </a:rPr>
              <a:t>+9% CAGR FY22–26</a:t>
            </a:r>
          </a:p>
        </p:txBody>
      </p:sp>
      <p:sp>
        <p:nvSpPr>
          <p:cNvPr id="18" name="Rectangle 17"/>
          <p:cNvSpPr/>
          <p:nvPr/>
        </p:nvSpPr>
        <p:spPr>
          <a:xfrm>
            <a:off x="4142232" y="1938528"/>
            <a:ext cx="914400" cy="603504"/>
          </a:xfrm>
          <a:prstGeom prst="rect">
            <a:avLst/>
          </a:prstGeom>
          <a:solidFill>
            <a:srgbClr val="3A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19" name="TextBox 18"/>
          <p:cNvSpPr txBox="1"/>
          <p:nvPr/>
        </p:nvSpPr>
        <p:spPr>
          <a:xfrm>
            <a:off x="4142232" y="1938528"/>
            <a:ext cx="914400" cy="603504"/>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Lato"/>
                <a:ea typeface="+mn-ea"/>
                <a:cs typeface="+mn-cs"/>
              </a:rPr>
              <a:t>1,858</a:t>
            </a:r>
          </a:p>
        </p:txBody>
      </p:sp>
      <p:sp>
        <p:nvSpPr>
          <p:cNvPr id="20" name="Rectangle 19"/>
          <p:cNvSpPr/>
          <p:nvPr/>
        </p:nvSpPr>
        <p:spPr>
          <a:xfrm>
            <a:off x="5129784" y="1938528"/>
            <a:ext cx="914400" cy="603504"/>
          </a:xfrm>
          <a:prstGeom prst="rect">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21" name="TextBox 20"/>
          <p:cNvSpPr txBox="1"/>
          <p:nvPr/>
        </p:nvSpPr>
        <p:spPr>
          <a:xfrm>
            <a:off x="5129784" y="1984248"/>
            <a:ext cx="914400" cy="29260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C8102E"/>
                </a:solidFill>
                <a:effectLst/>
                <a:uLnTx/>
                <a:uFillTx/>
                <a:latin typeface="Lato"/>
                <a:ea typeface="+mn-ea"/>
                <a:cs typeface="+mn-cs"/>
              </a:rPr>
              <a:t>1,782</a:t>
            </a:r>
          </a:p>
        </p:txBody>
      </p:sp>
      <p:sp>
        <p:nvSpPr>
          <p:cNvPr id="22" name="TextBox 21"/>
          <p:cNvSpPr txBox="1"/>
          <p:nvPr/>
        </p:nvSpPr>
        <p:spPr>
          <a:xfrm>
            <a:off x="5129784" y="2286000"/>
            <a:ext cx="914400" cy="20116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C8102E"/>
                </a:solidFill>
                <a:effectLst/>
                <a:uLnTx/>
                <a:uFillTx/>
                <a:latin typeface="Lato"/>
                <a:ea typeface="+mn-ea"/>
                <a:cs typeface="+mn-cs"/>
              </a:rPr>
              <a:t>−76 vs. budget</a:t>
            </a:r>
          </a:p>
        </p:txBody>
      </p:sp>
      <p:cxnSp>
        <p:nvCxnSpPr>
          <p:cNvPr id="32" name="Connector 31"/>
          <p:cNvCxnSpPr/>
          <p:nvPr/>
        </p:nvCxnSpPr>
        <p:spPr>
          <a:xfrm>
            <a:off x="502920" y="4443984"/>
            <a:ext cx="5541264" cy="0"/>
          </a:xfrm>
          <a:prstGeom prst="line">
            <a:avLst/>
          </a:prstGeom>
          <a:ln w="12700">
            <a:solidFill>
              <a:srgbClr val="F4F4F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02920" y="3090672"/>
            <a:ext cx="3291840" cy="21945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A1A1A"/>
                </a:solidFill>
                <a:effectLst/>
                <a:uLnTx/>
                <a:uFillTx/>
                <a:latin typeface="Lato"/>
                <a:ea typeface="+mn-ea"/>
                <a:cs typeface="+mn-cs"/>
              </a:rPr>
              <a:t>Research Awards†</a:t>
            </a:r>
          </a:p>
        </p:txBody>
      </p:sp>
      <p:graphicFrame>
        <p:nvGraphicFramePr>
          <p:cNvPr id="34" name="Chart 33"/>
          <p:cNvGraphicFramePr>
            <a:graphicFrameLocks noGrp="1"/>
          </p:cNvGraphicFramePr>
          <p:nvPr/>
        </p:nvGraphicFramePr>
        <p:xfrm>
          <a:off x="502920" y="3273552"/>
          <a:ext cx="3520440" cy="822960"/>
        </p:xfrm>
        <a:graphic>
          <a:graphicData uri="http://schemas.openxmlformats.org/drawingml/2006/chart">
            <c:chart xmlns:c="http://schemas.openxmlformats.org/drawingml/2006/chart" xmlns:r="http://schemas.openxmlformats.org/officeDocument/2006/relationships" r:id="rId3"/>
          </a:graphicData>
        </a:graphic>
      </p:graphicFrame>
      <p:sp>
        <p:nvSpPr>
          <p:cNvPr id="35" name="TextBox 34"/>
          <p:cNvSpPr txBox="1"/>
          <p:nvPr/>
        </p:nvSpPr>
        <p:spPr>
          <a:xfrm>
            <a:off x="941832" y="3310128"/>
            <a:ext cx="2011680" cy="16459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6B6B70"/>
                </a:solidFill>
                <a:effectLst/>
                <a:uLnTx/>
                <a:uFillTx/>
                <a:latin typeface="Lato"/>
                <a:ea typeface="+mn-ea"/>
                <a:cs typeface="+mn-cs"/>
              </a:rPr>
              <a:t>+6% CAGR FY22–26</a:t>
            </a:r>
          </a:p>
        </p:txBody>
      </p:sp>
      <p:sp>
        <p:nvSpPr>
          <p:cNvPr id="36" name="Rectangle 35"/>
          <p:cNvSpPr/>
          <p:nvPr/>
        </p:nvSpPr>
        <p:spPr>
          <a:xfrm>
            <a:off x="4142232" y="3346704"/>
            <a:ext cx="914400" cy="603504"/>
          </a:xfrm>
          <a:prstGeom prst="rect">
            <a:avLst/>
          </a:prstGeom>
          <a:solidFill>
            <a:srgbClr val="3A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37" name="TextBox 36"/>
          <p:cNvSpPr txBox="1"/>
          <p:nvPr/>
        </p:nvSpPr>
        <p:spPr>
          <a:xfrm>
            <a:off x="4142232" y="3346704"/>
            <a:ext cx="914400" cy="603504"/>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Lato"/>
                <a:ea typeface="+mn-ea"/>
                <a:cs typeface="+mn-cs"/>
              </a:rPr>
              <a:t>250</a:t>
            </a:r>
          </a:p>
        </p:txBody>
      </p:sp>
      <p:sp>
        <p:nvSpPr>
          <p:cNvPr id="38" name="Rectangle 37"/>
          <p:cNvSpPr/>
          <p:nvPr/>
        </p:nvSpPr>
        <p:spPr>
          <a:xfrm>
            <a:off x="5129784" y="3346704"/>
            <a:ext cx="914400" cy="60350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39" name="TextBox 38"/>
          <p:cNvSpPr txBox="1"/>
          <p:nvPr/>
        </p:nvSpPr>
        <p:spPr>
          <a:xfrm>
            <a:off x="5129784" y="3392424"/>
            <a:ext cx="914400" cy="29260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7F7F7F"/>
                </a:solidFill>
                <a:effectLst/>
                <a:uLnTx/>
                <a:uFillTx/>
                <a:latin typeface="Lato"/>
                <a:ea typeface="+mn-ea"/>
                <a:cs typeface="+mn-cs"/>
              </a:rPr>
              <a:t>291</a:t>
            </a:r>
          </a:p>
        </p:txBody>
      </p:sp>
      <p:sp>
        <p:nvSpPr>
          <p:cNvPr id="40" name="TextBox 39"/>
          <p:cNvSpPr txBox="1"/>
          <p:nvPr/>
        </p:nvSpPr>
        <p:spPr>
          <a:xfrm>
            <a:off x="5129784" y="3694176"/>
            <a:ext cx="914400" cy="20116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7F7F7F"/>
                </a:solidFill>
                <a:effectLst/>
                <a:uLnTx/>
                <a:uFillTx/>
                <a:latin typeface="Lato"/>
                <a:ea typeface="+mn-ea"/>
                <a:cs typeface="+mn-cs"/>
              </a:rPr>
              <a:t>+41 vs. budget</a:t>
            </a:r>
          </a:p>
        </p:txBody>
      </p:sp>
      <p:cxnSp>
        <p:nvCxnSpPr>
          <p:cNvPr id="41" name="Connector 40"/>
          <p:cNvCxnSpPr/>
          <p:nvPr/>
        </p:nvCxnSpPr>
        <p:spPr>
          <a:xfrm>
            <a:off x="502920" y="5879592"/>
            <a:ext cx="5541264" cy="0"/>
          </a:xfrm>
          <a:prstGeom prst="line">
            <a:avLst/>
          </a:prstGeom>
          <a:ln w="12700">
            <a:solidFill>
              <a:srgbClr val="F4F4F5"/>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2920" y="4526280"/>
            <a:ext cx="3291840" cy="21945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A1A1A"/>
                </a:solidFill>
                <a:effectLst/>
                <a:uLnTx/>
                <a:uFillTx/>
                <a:latin typeface="Lato"/>
                <a:ea typeface="+mn-ea"/>
                <a:cs typeface="+mn-cs"/>
              </a:rPr>
              <a:t>Gifts &amp; Commitments</a:t>
            </a:r>
          </a:p>
        </p:txBody>
      </p:sp>
      <p:graphicFrame>
        <p:nvGraphicFramePr>
          <p:cNvPr id="43" name="Chart 42"/>
          <p:cNvGraphicFramePr>
            <a:graphicFrameLocks noGrp="1"/>
          </p:cNvGraphicFramePr>
          <p:nvPr/>
        </p:nvGraphicFramePr>
        <p:xfrm>
          <a:off x="502920" y="4709160"/>
          <a:ext cx="3520440" cy="822960"/>
        </p:xfrm>
        <a:graphic>
          <a:graphicData uri="http://schemas.openxmlformats.org/drawingml/2006/chart">
            <c:chart xmlns:c="http://schemas.openxmlformats.org/drawingml/2006/chart" xmlns:r="http://schemas.openxmlformats.org/officeDocument/2006/relationships" r:id="rId4"/>
          </a:graphicData>
        </a:graphic>
      </p:graphicFrame>
      <p:sp>
        <p:nvSpPr>
          <p:cNvPr id="44" name="TextBox 43"/>
          <p:cNvSpPr txBox="1"/>
          <p:nvPr/>
        </p:nvSpPr>
        <p:spPr>
          <a:xfrm>
            <a:off x="941832" y="4745736"/>
            <a:ext cx="2011680" cy="16459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6B6B70"/>
                </a:solidFill>
                <a:effectLst/>
                <a:uLnTx/>
                <a:uFillTx/>
                <a:latin typeface="Lato"/>
                <a:ea typeface="+mn-ea"/>
                <a:cs typeface="+mn-cs"/>
              </a:rPr>
              <a:t>+6% CAGR FY22–26</a:t>
            </a:r>
          </a:p>
        </p:txBody>
      </p:sp>
      <p:sp>
        <p:nvSpPr>
          <p:cNvPr id="45" name="Rectangle 44"/>
          <p:cNvSpPr/>
          <p:nvPr/>
        </p:nvSpPr>
        <p:spPr>
          <a:xfrm>
            <a:off x="4142232" y="4782312"/>
            <a:ext cx="914400" cy="603504"/>
          </a:xfrm>
          <a:prstGeom prst="rect">
            <a:avLst/>
          </a:prstGeom>
          <a:solidFill>
            <a:srgbClr val="3A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46" name="TextBox 45"/>
          <p:cNvSpPr txBox="1"/>
          <p:nvPr/>
        </p:nvSpPr>
        <p:spPr>
          <a:xfrm>
            <a:off x="4142232" y="4782312"/>
            <a:ext cx="914400" cy="603504"/>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Lato"/>
                <a:ea typeface="+mn-ea"/>
                <a:cs typeface="+mn-cs"/>
              </a:rPr>
              <a:t>120</a:t>
            </a:r>
          </a:p>
        </p:txBody>
      </p:sp>
      <p:sp>
        <p:nvSpPr>
          <p:cNvPr id="47" name="Rectangle 46"/>
          <p:cNvSpPr/>
          <p:nvPr/>
        </p:nvSpPr>
        <p:spPr>
          <a:xfrm>
            <a:off x="5129784" y="4782312"/>
            <a:ext cx="914400" cy="60350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48" name="TextBox 47"/>
          <p:cNvSpPr txBox="1"/>
          <p:nvPr/>
        </p:nvSpPr>
        <p:spPr>
          <a:xfrm>
            <a:off x="5129784" y="4828032"/>
            <a:ext cx="914400" cy="29260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7F7F7F"/>
                </a:solidFill>
                <a:effectLst/>
                <a:uLnTx/>
                <a:uFillTx/>
                <a:latin typeface="Lato"/>
                <a:ea typeface="+mn-ea"/>
                <a:cs typeface="+mn-cs"/>
              </a:rPr>
              <a:t>125</a:t>
            </a:r>
          </a:p>
        </p:txBody>
      </p:sp>
      <p:sp>
        <p:nvSpPr>
          <p:cNvPr id="49" name="TextBox 48"/>
          <p:cNvSpPr txBox="1"/>
          <p:nvPr/>
        </p:nvSpPr>
        <p:spPr>
          <a:xfrm>
            <a:off x="5129784" y="5129784"/>
            <a:ext cx="914400" cy="20116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7F7F7F"/>
                </a:solidFill>
                <a:effectLst/>
                <a:uLnTx/>
                <a:uFillTx/>
                <a:latin typeface="Lato"/>
                <a:ea typeface="+mn-ea"/>
                <a:cs typeface="+mn-cs"/>
              </a:rPr>
              <a:t>+5 vs. budget</a:t>
            </a:r>
          </a:p>
        </p:txBody>
      </p:sp>
      <p:sp>
        <p:nvSpPr>
          <p:cNvPr id="50" name="TextBox 49"/>
          <p:cNvSpPr txBox="1"/>
          <p:nvPr/>
        </p:nvSpPr>
        <p:spPr>
          <a:xfrm>
            <a:off x="6263640" y="1325880"/>
            <a:ext cx="3474720" cy="219456"/>
          </a:xfrm>
          <a:prstGeom prst="rect">
            <a:avLst/>
          </a:prstGeom>
          <a:noFill/>
        </p:spPr>
        <p:txBody>
          <a:bodyPr wrap="square" lIns="0" tIns="0" rIns="0"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6B6B70"/>
                </a:solidFill>
                <a:effectLst/>
                <a:uLnTx/>
                <a:uFillTx/>
                <a:latin typeface="Lato"/>
                <a:ea typeface="+mn-ea"/>
                <a:cs typeface="+mn-cs"/>
              </a:rPr>
              <a:t>DASHBOARD METRIC  ·  FY22–FY26 TREND</a:t>
            </a:r>
          </a:p>
        </p:txBody>
      </p:sp>
      <p:sp>
        <p:nvSpPr>
          <p:cNvPr id="51" name="TextBox 50"/>
          <p:cNvSpPr txBox="1"/>
          <p:nvPr/>
        </p:nvSpPr>
        <p:spPr>
          <a:xfrm>
            <a:off x="9902952" y="1325880"/>
            <a:ext cx="914400" cy="219456"/>
          </a:xfrm>
          <a:prstGeom prst="rect">
            <a:avLst/>
          </a:prstGeom>
          <a:noFill/>
        </p:spPr>
        <p:txBody>
          <a:bodyPr wrap="squar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6B6B70"/>
                </a:solidFill>
                <a:effectLst/>
                <a:uLnTx/>
                <a:uFillTx/>
                <a:latin typeface="Lato"/>
                <a:ea typeface="+mn-ea"/>
                <a:cs typeface="+mn-cs"/>
              </a:rPr>
              <a:t>FY26 BUDGET</a:t>
            </a:r>
          </a:p>
        </p:txBody>
      </p:sp>
      <p:sp>
        <p:nvSpPr>
          <p:cNvPr id="52" name="TextBox 51"/>
          <p:cNvSpPr txBox="1"/>
          <p:nvPr/>
        </p:nvSpPr>
        <p:spPr>
          <a:xfrm>
            <a:off x="10753344" y="1325880"/>
            <a:ext cx="1188720" cy="219456"/>
          </a:xfrm>
          <a:prstGeom prst="rect">
            <a:avLst/>
          </a:prstGeom>
          <a:noFill/>
        </p:spPr>
        <p:txBody>
          <a:bodyPr wrap="none" lIns="0" tIns="0" rIns="0" bIns="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6B6B70"/>
                </a:solidFill>
                <a:effectLst/>
                <a:uLnTx/>
                <a:uFillTx/>
                <a:latin typeface="Lato"/>
                <a:ea typeface="+mn-ea"/>
                <a:cs typeface="+mn-cs"/>
              </a:rPr>
              <a:t>FY26 UNAUDITED</a:t>
            </a:r>
          </a:p>
        </p:txBody>
      </p:sp>
      <p:cxnSp>
        <p:nvCxnSpPr>
          <p:cNvPr id="53" name="Connector 52"/>
          <p:cNvCxnSpPr/>
          <p:nvPr/>
        </p:nvCxnSpPr>
        <p:spPr>
          <a:xfrm>
            <a:off x="6263640" y="1572768"/>
            <a:ext cx="5541264" cy="0"/>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263640" y="2670048"/>
            <a:ext cx="5541264" cy="0"/>
          </a:xfrm>
          <a:prstGeom prst="line">
            <a:avLst/>
          </a:prstGeom>
          <a:ln w="12700">
            <a:solidFill>
              <a:srgbClr val="F4F4F5"/>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63640" y="1682496"/>
            <a:ext cx="3291840" cy="21945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A1A1A"/>
                </a:solidFill>
                <a:effectLst/>
                <a:uLnTx/>
                <a:uFillTx/>
                <a:latin typeface="Lato"/>
                <a:ea typeface="+mn-ea"/>
                <a:cs typeface="+mn-cs"/>
              </a:rPr>
              <a:t>Total Operating Revenues</a:t>
            </a:r>
          </a:p>
        </p:txBody>
      </p:sp>
      <p:graphicFrame>
        <p:nvGraphicFramePr>
          <p:cNvPr id="56" name="Chart 55"/>
          <p:cNvGraphicFramePr>
            <a:graphicFrameLocks noGrp="1"/>
          </p:cNvGraphicFramePr>
          <p:nvPr/>
        </p:nvGraphicFramePr>
        <p:xfrm>
          <a:off x="6263640" y="1865376"/>
          <a:ext cx="3520440" cy="822960"/>
        </p:xfrm>
        <a:graphic>
          <a:graphicData uri="http://schemas.openxmlformats.org/drawingml/2006/chart">
            <c:chart xmlns:c="http://schemas.openxmlformats.org/drawingml/2006/chart" xmlns:r="http://schemas.openxmlformats.org/officeDocument/2006/relationships" r:id="rId5"/>
          </a:graphicData>
        </a:graphic>
      </p:graphicFrame>
      <p:sp>
        <p:nvSpPr>
          <p:cNvPr id="57" name="TextBox 56"/>
          <p:cNvSpPr txBox="1"/>
          <p:nvPr/>
        </p:nvSpPr>
        <p:spPr>
          <a:xfrm>
            <a:off x="6702552" y="1901952"/>
            <a:ext cx="2011680" cy="16459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6B6B70"/>
                </a:solidFill>
                <a:effectLst/>
                <a:uLnTx/>
                <a:uFillTx/>
                <a:latin typeface="Lato"/>
                <a:ea typeface="+mn-ea"/>
                <a:cs typeface="+mn-cs"/>
              </a:rPr>
              <a:t>+9% CAGR FY22–26</a:t>
            </a:r>
          </a:p>
        </p:txBody>
      </p:sp>
      <p:sp>
        <p:nvSpPr>
          <p:cNvPr id="58" name="Rectangle 57"/>
          <p:cNvSpPr/>
          <p:nvPr/>
        </p:nvSpPr>
        <p:spPr>
          <a:xfrm>
            <a:off x="9902952" y="1938528"/>
            <a:ext cx="914400" cy="603504"/>
          </a:xfrm>
          <a:prstGeom prst="rect">
            <a:avLst/>
          </a:prstGeom>
          <a:solidFill>
            <a:srgbClr val="3A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59" name="TextBox 58"/>
          <p:cNvSpPr txBox="1"/>
          <p:nvPr/>
        </p:nvSpPr>
        <p:spPr>
          <a:xfrm>
            <a:off x="9902952" y="1938528"/>
            <a:ext cx="914400" cy="603504"/>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Lato"/>
                <a:ea typeface="+mn-ea"/>
                <a:cs typeface="+mn-cs"/>
              </a:rPr>
              <a:t>2,582</a:t>
            </a:r>
          </a:p>
        </p:txBody>
      </p:sp>
      <p:sp>
        <p:nvSpPr>
          <p:cNvPr id="60" name="Rectangle 59"/>
          <p:cNvSpPr/>
          <p:nvPr/>
        </p:nvSpPr>
        <p:spPr>
          <a:xfrm>
            <a:off x="10890504" y="1938528"/>
            <a:ext cx="914400" cy="603504"/>
          </a:xfrm>
          <a:prstGeom prst="rect">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61" name="TextBox 60"/>
          <p:cNvSpPr txBox="1"/>
          <p:nvPr/>
        </p:nvSpPr>
        <p:spPr>
          <a:xfrm>
            <a:off x="10890504" y="1984248"/>
            <a:ext cx="914400" cy="29260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C8102E"/>
                </a:solidFill>
                <a:effectLst/>
                <a:uLnTx/>
                <a:uFillTx/>
                <a:latin typeface="Lato"/>
                <a:ea typeface="+mn-ea"/>
                <a:cs typeface="+mn-cs"/>
              </a:rPr>
              <a:t>2,473</a:t>
            </a:r>
          </a:p>
        </p:txBody>
      </p:sp>
      <p:sp>
        <p:nvSpPr>
          <p:cNvPr id="62" name="TextBox 61"/>
          <p:cNvSpPr txBox="1"/>
          <p:nvPr/>
        </p:nvSpPr>
        <p:spPr>
          <a:xfrm>
            <a:off x="10890504" y="2286000"/>
            <a:ext cx="914400" cy="20116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C8102E"/>
                </a:solidFill>
                <a:effectLst/>
                <a:uLnTx/>
                <a:uFillTx/>
                <a:latin typeface="Lato"/>
                <a:ea typeface="+mn-ea"/>
                <a:cs typeface="+mn-cs"/>
              </a:rPr>
              <a:t>−109 vs. budget</a:t>
            </a:r>
          </a:p>
        </p:txBody>
      </p:sp>
      <p:cxnSp>
        <p:nvCxnSpPr>
          <p:cNvPr id="63" name="Connector 62"/>
          <p:cNvCxnSpPr/>
          <p:nvPr/>
        </p:nvCxnSpPr>
        <p:spPr>
          <a:xfrm>
            <a:off x="6263640" y="3739896"/>
            <a:ext cx="5541264" cy="0"/>
          </a:xfrm>
          <a:prstGeom prst="line">
            <a:avLst/>
          </a:prstGeom>
          <a:ln w="12700">
            <a:solidFill>
              <a:srgbClr val="F4F4F5"/>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263640" y="2752344"/>
            <a:ext cx="3291840" cy="21945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A1A1A"/>
                </a:solidFill>
                <a:effectLst/>
                <a:uLnTx/>
                <a:uFillTx/>
                <a:latin typeface="Lato"/>
                <a:ea typeface="+mn-ea"/>
                <a:cs typeface="+mn-cs"/>
              </a:rPr>
              <a:t>Total Operating Expenses</a:t>
            </a:r>
          </a:p>
        </p:txBody>
      </p:sp>
      <p:graphicFrame>
        <p:nvGraphicFramePr>
          <p:cNvPr id="65" name="Chart 64"/>
          <p:cNvGraphicFramePr>
            <a:graphicFrameLocks noGrp="1"/>
          </p:cNvGraphicFramePr>
          <p:nvPr/>
        </p:nvGraphicFramePr>
        <p:xfrm>
          <a:off x="6263640" y="2935224"/>
          <a:ext cx="3520440" cy="822960"/>
        </p:xfrm>
        <a:graphic>
          <a:graphicData uri="http://schemas.openxmlformats.org/drawingml/2006/chart">
            <c:chart xmlns:c="http://schemas.openxmlformats.org/drawingml/2006/chart" xmlns:r="http://schemas.openxmlformats.org/officeDocument/2006/relationships" r:id="rId6"/>
          </a:graphicData>
        </a:graphic>
      </p:graphicFrame>
      <p:sp>
        <p:nvSpPr>
          <p:cNvPr id="66" name="TextBox 65"/>
          <p:cNvSpPr txBox="1"/>
          <p:nvPr/>
        </p:nvSpPr>
        <p:spPr>
          <a:xfrm>
            <a:off x="6702552" y="2971800"/>
            <a:ext cx="2011680" cy="16459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6B6B70"/>
                </a:solidFill>
                <a:effectLst/>
                <a:uLnTx/>
                <a:uFillTx/>
                <a:latin typeface="Lato"/>
                <a:ea typeface="+mn-ea"/>
                <a:cs typeface="+mn-cs"/>
              </a:rPr>
              <a:t>+10% CAGR FY22–26</a:t>
            </a:r>
          </a:p>
        </p:txBody>
      </p:sp>
      <p:sp>
        <p:nvSpPr>
          <p:cNvPr id="67" name="Rectangle 66"/>
          <p:cNvSpPr/>
          <p:nvPr/>
        </p:nvSpPr>
        <p:spPr>
          <a:xfrm>
            <a:off x="9902952" y="3008376"/>
            <a:ext cx="914400" cy="603504"/>
          </a:xfrm>
          <a:prstGeom prst="rect">
            <a:avLst/>
          </a:prstGeom>
          <a:solidFill>
            <a:srgbClr val="3A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68" name="TextBox 67"/>
          <p:cNvSpPr txBox="1"/>
          <p:nvPr/>
        </p:nvSpPr>
        <p:spPr>
          <a:xfrm>
            <a:off x="9902952" y="3008376"/>
            <a:ext cx="914400" cy="603504"/>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Lato"/>
                <a:ea typeface="+mn-ea"/>
                <a:cs typeface="+mn-cs"/>
              </a:rPr>
              <a:t>2,469</a:t>
            </a:r>
          </a:p>
        </p:txBody>
      </p:sp>
      <p:sp>
        <p:nvSpPr>
          <p:cNvPr id="69" name="Rectangle 68"/>
          <p:cNvSpPr/>
          <p:nvPr/>
        </p:nvSpPr>
        <p:spPr>
          <a:xfrm>
            <a:off x="10890504" y="3008376"/>
            <a:ext cx="914400" cy="60350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70" name="TextBox 69"/>
          <p:cNvSpPr txBox="1"/>
          <p:nvPr/>
        </p:nvSpPr>
        <p:spPr>
          <a:xfrm>
            <a:off x="10890504" y="3054096"/>
            <a:ext cx="914400" cy="29260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7F7F7F"/>
                </a:solidFill>
                <a:effectLst/>
                <a:uLnTx/>
                <a:uFillTx/>
                <a:latin typeface="Lato"/>
                <a:ea typeface="+mn-ea"/>
                <a:cs typeface="+mn-cs"/>
              </a:rPr>
              <a:t>2,353</a:t>
            </a:r>
          </a:p>
        </p:txBody>
      </p:sp>
      <p:sp>
        <p:nvSpPr>
          <p:cNvPr id="71" name="TextBox 70"/>
          <p:cNvSpPr txBox="1"/>
          <p:nvPr/>
        </p:nvSpPr>
        <p:spPr>
          <a:xfrm>
            <a:off x="10890504" y="3355848"/>
            <a:ext cx="914400" cy="20116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7F7F7F"/>
                </a:solidFill>
                <a:effectLst/>
                <a:uLnTx/>
                <a:uFillTx/>
                <a:latin typeface="Lato"/>
                <a:ea typeface="+mn-ea"/>
                <a:cs typeface="+mn-cs"/>
              </a:rPr>
              <a:t>−116 vs. budget</a:t>
            </a:r>
          </a:p>
        </p:txBody>
      </p:sp>
      <p:cxnSp>
        <p:nvCxnSpPr>
          <p:cNvPr id="72" name="Connector 71"/>
          <p:cNvCxnSpPr/>
          <p:nvPr/>
        </p:nvCxnSpPr>
        <p:spPr>
          <a:xfrm>
            <a:off x="6263640" y="4809744"/>
            <a:ext cx="5541264" cy="0"/>
          </a:xfrm>
          <a:prstGeom prst="line">
            <a:avLst/>
          </a:prstGeom>
          <a:ln w="12700">
            <a:solidFill>
              <a:srgbClr val="F4F4F5"/>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263640" y="3822192"/>
            <a:ext cx="3291840" cy="21945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A1A1A"/>
                </a:solidFill>
                <a:effectLst/>
                <a:uLnTx/>
                <a:uFillTx/>
                <a:latin typeface="Lato"/>
                <a:ea typeface="+mn-ea"/>
                <a:cs typeface="+mn-cs"/>
              </a:rPr>
              <a:t>Operating Margin ($)</a:t>
            </a:r>
          </a:p>
        </p:txBody>
      </p:sp>
      <p:graphicFrame>
        <p:nvGraphicFramePr>
          <p:cNvPr id="74" name="Chart 73"/>
          <p:cNvGraphicFramePr>
            <a:graphicFrameLocks noGrp="1"/>
          </p:cNvGraphicFramePr>
          <p:nvPr/>
        </p:nvGraphicFramePr>
        <p:xfrm>
          <a:off x="6263640" y="4005072"/>
          <a:ext cx="3520440" cy="822960"/>
        </p:xfrm>
        <a:graphic>
          <a:graphicData uri="http://schemas.openxmlformats.org/drawingml/2006/chart">
            <c:chart xmlns:c="http://schemas.openxmlformats.org/drawingml/2006/chart" xmlns:r="http://schemas.openxmlformats.org/officeDocument/2006/relationships" r:id="rId7"/>
          </a:graphicData>
        </a:graphic>
      </p:graphicFrame>
      <p:sp>
        <p:nvSpPr>
          <p:cNvPr id="75" name="Rectangle 74"/>
          <p:cNvSpPr/>
          <p:nvPr/>
        </p:nvSpPr>
        <p:spPr>
          <a:xfrm>
            <a:off x="9902952" y="4078224"/>
            <a:ext cx="914400" cy="603504"/>
          </a:xfrm>
          <a:prstGeom prst="rect">
            <a:avLst/>
          </a:prstGeom>
          <a:solidFill>
            <a:srgbClr val="3A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76" name="TextBox 75"/>
          <p:cNvSpPr txBox="1"/>
          <p:nvPr/>
        </p:nvSpPr>
        <p:spPr>
          <a:xfrm>
            <a:off x="9902952" y="4078224"/>
            <a:ext cx="914400" cy="603504"/>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Lato"/>
                <a:ea typeface="+mn-ea"/>
                <a:cs typeface="+mn-cs"/>
              </a:rPr>
              <a:t>112</a:t>
            </a:r>
          </a:p>
        </p:txBody>
      </p:sp>
      <p:sp>
        <p:nvSpPr>
          <p:cNvPr id="77" name="Rectangle 76"/>
          <p:cNvSpPr/>
          <p:nvPr/>
        </p:nvSpPr>
        <p:spPr>
          <a:xfrm>
            <a:off x="10890504" y="4078224"/>
            <a:ext cx="914400" cy="60350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78" name="TextBox 77"/>
          <p:cNvSpPr txBox="1"/>
          <p:nvPr/>
        </p:nvSpPr>
        <p:spPr>
          <a:xfrm>
            <a:off x="10890504" y="4123944"/>
            <a:ext cx="914400" cy="29260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7F7F7F"/>
                </a:solidFill>
                <a:effectLst/>
                <a:uLnTx/>
                <a:uFillTx/>
                <a:latin typeface="Lato"/>
                <a:ea typeface="+mn-ea"/>
                <a:cs typeface="+mn-cs"/>
              </a:rPr>
              <a:t>120</a:t>
            </a:r>
          </a:p>
        </p:txBody>
      </p:sp>
      <p:sp>
        <p:nvSpPr>
          <p:cNvPr id="79" name="TextBox 78"/>
          <p:cNvSpPr txBox="1"/>
          <p:nvPr/>
        </p:nvSpPr>
        <p:spPr>
          <a:xfrm>
            <a:off x="10890504" y="4425696"/>
            <a:ext cx="914400" cy="20116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7F7F7F"/>
                </a:solidFill>
                <a:effectLst/>
                <a:uLnTx/>
                <a:uFillTx/>
                <a:latin typeface="Lato"/>
                <a:ea typeface="+mn-ea"/>
                <a:cs typeface="+mn-cs"/>
              </a:rPr>
              <a:t>+8 vs. budget</a:t>
            </a:r>
          </a:p>
        </p:txBody>
      </p:sp>
      <p:cxnSp>
        <p:nvCxnSpPr>
          <p:cNvPr id="80" name="Connector 79"/>
          <p:cNvCxnSpPr/>
          <p:nvPr/>
        </p:nvCxnSpPr>
        <p:spPr>
          <a:xfrm>
            <a:off x="6263640" y="5879592"/>
            <a:ext cx="5541264" cy="0"/>
          </a:xfrm>
          <a:prstGeom prst="line">
            <a:avLst/>
          </a:prstGeom>
          <a:ln w="12700">
            <a:solidFill>
              <a:srgbClr val="F4F4F5"/>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263640" y="4892040"/>
            <a:ext cx="3291840" cy="21945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A1A1A"/>
                </a:solidFill>
                <a:effectLst/>
                <a:uLnTx/>
                <a:uFillTx/>
                <a:latin typeface="Lato"/>
                <a:ea typeface="+mn-ea"/>
                <a:cs typeface="+mn-cs"/>
              </a:rPr>
              <a:t>Operating Margin (%)</a:t>
            </a:r>
          </a:p>
        </p:txBody>
      </p:sp>
      <p:graphicFrame>
        <p:nvGraphicFramePr>
          <p:cNvPr id="82" name="Chart 81"/>
          <p:cNvGraphicFramePr>
            <a:graphicFrameLocks noGrp="1"/>
          </p:cNvGraphicFramePr>
          <p:nvPr/>
        </p:nvGraphicFramePr>
        <p:xfrm>
          <a:off x="6263640" y="5074920"/>
          <a:ext cx="3520440" cy="822960"/>
        </p:xfrm>
        <a:graphic>
          <a:graphicData uri="http://schemas.openxmlformats.org/drawingml/2006/chart">
            <c:chart xmlns:c="http://schemas.openxmlformats.org/drawingml/2006/chart" xmlns:r="http://schemas.openxmlformats.org/officeDocument/2006/relationships" r:id="rId8"/>
          </a:graphicData>
        </a:graphic>
      </p:graphicFrame>
      <p:sp>
        <p:nvSpPr>
          <p:cNvPr id="83" name="Rectangle 82"/>
          <p:cNvSpPr/>
          <p:nvPr/>
        </p:nvSpPr>
        <p:spPr>
          <a:xfrm>
            <a:off x="9902952" y="5148072"/>
            <a:ext cx="914400" cy="603504"/>
          </a:xfrm>
          <a:prstGeom prst="rect">
            <a:avLst/>
          </a:prstGeom>
          <a:solidFill>
            <a:srgbClr val="3A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84" name="TextBox 83"/>
          <p:cNvSpPr txBox="1"/>
          <p:nvPr/>
        </p:nvSpPr>
        <p:spPr>
          <a:xfrm>
            <a:off x="9902952" y="5148072"/>
            <a:ext cx="914400" cy="603504"/>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Lato"/>
                <a:ea typeface="+mn-ea"/>
                <a:cs typeface="+mn-cs"/>
              </a:rPr>
              <a:t>4.4%</a:t>
            </a:r>
          </a:p>
        </p:txBody>
      </p:sp>
      <p:sp>
        <p:nvSpPr>
          <p:cNvPr id="85" name="Rectangle 84"/>
          <p:cNvSpPr/>
          <p:nvPr/>
        </p:nvSpPr>
        <p:spPr>
          <a:xfrm>
            <a:off x="10890504" y="5148072"/>
            <a:ext cx="914400" cy="60350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86" name="TextBox 85"/>
          <p:cNvSpPr txBox="1"/>
          <p:nvPr/>
        </p:nvSpPr>
        <p:spPr>
          <a:xfrm>
            <a:off x="10890504" y="5193792"/>
            <a:ext cx="914400" cy="29260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7F7F7F"/>
                </a:solidFill>
                <a:effectLst/>
                <a:uLnTx/>
                <a:uFillTx/>
                <a:latin typeface="Lato"/>
                <a:ea typeface="+mn-ea"/>
                <a:cs typeface="+mn-cs"/>
              </a:rPr>
              <a:t>4.9%</a:t>
            </a:r>
          </a:p>
        </p:txBody>
      </p:sp>
      <p:sp>
        <p:nvSpPr>
          <p:cNvPr id="87" name="TextBox 86"/>
          <p:cNvSpPr txBox="1"/>
          <p:nvPr/>
        </p:nvSpPr>
        <p:spPr>
          <a:xfrm>
            <a:off x="10890504" y="5495544"/>
            <a:ext cx="914400" cy="201168"/>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7F7F7F"/>
                </a:solidFill>
                <a:effectLst/>
                <a:uLnTx/>
                <a:uFillTx/>
                <a:latin typeface="Lato"/>
                <a:ea typeface="+mn-ea"/>
                <a:cs typeface="+mn-cs"/>
              </a:rPr>
              <a:t>+0.5 pt vs. budget</a:t>
            </a:r>
          </a:p>
        </p:txBody>
      </p:sp>
      <p:sp>
        <p:nvSpPr>
          <p:cNvPr id="88" name="TextBox 87"/>
          <p:cNvSpPr txBox="1"/>
          <p:nvPr/>
        </p:nvSpPr>
        <p:spPr>
          <a:xfrm>
            <a:off x="502920" y="5961888"/>
            <a:ext cx="11155680" cy="38404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6B6B70"/>
                </a:solidFill>
                <a:effectLst/>
                <a:uLnTx/>
                <a:uFillTx/>
                <a:latin typeface="Lato"/>
                <a:ea typeface="+mn-ea"/>
                <a:cs typeface="+mn-cs"/>
              </a:rPr>
              <a:t>FY26 reflects unaudited results. Sparklines show FY22–FY26 with FY26 unaudited as the final point; CAGR is compounded from FY22 to FY26. Tiles: green = favorable vs. FY26 budget, red = unfavorable. † Research Awards FY26 is a preliminary estimate. Same metric definitions and sources as the 20-year view.</a:t>
            </a:r>
          </a:p>
        </p:txBody>
      </p:sp>
      <p:sp>
        <p:nvSpPr>
          <p:cNvPr id="89" name="TextBox 88"/>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Northeastern Financial Affairs (FY26 unaudited)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15085"/>
            <a:ext cx="10058400" cy="1692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C8102E"/>
                </a:solidFill>
                <a:effectLst/>
                <a:uLnTx/>
                <a:uFillTx/>
                <a:latin typeface="Lato"/>
                <a:ea typeface="+mn-ea"/>
                <a:cs typeface="+mn-cs"/>
              </a:rPr>
              <a:t>FY21–FY25 ACTUALS WITH FY26 </a:t>
            </a:r>
            <a:r>
              <a:rPr kumimoji="0" lang="en-US" sz="1100" b="1" i="0" u="none" strike="noStrike" kern="1200" cap="none" spc="0" normalizeH="0" baseline="0" noProof="0" dirty="0">
                <a:ln>
                  <a:noFill/>
                </a:ln>
                <a:solidFill>
                  <a:srgbClr val="C8102E"/>
                </a:solidFill>
                <a:effectLst/>
                <a:uLnTx/>
                <a:uFillTx/>
                <a:latin typeface="Lato"/>
                <a:ea typeface="+mn-ea"/>
                <a:cs typeface="+mn-cs"/>
              </a:rPr>
              <a:t>UNAUDITED</a:t>
            </a:r>
            <a:endParaRPr kumimoji="0" sz="1100" b="1" i="0" u="none" strike="noStrike" kern="1200" cap="none" spc="0" normalizeH="0" baseline="0" noProof="0" dirty="0">
              <a:ln>
                <a:noFill/>
              </a:ln>
              <a:solidFill>
                <a:srgbClr val="C8102E"/>
              </a:solidFill>
              <a:effectLst/>
              <a:uLnTx/>
              <a:uFillTx/>
              <a:latin typeface="Lato"/>
              <a:ea typeface="+mn-ea"/>
              <a:cs typeface="+mn-cs"/>
            </a:endParaRPr>
          </a:p>
        </p:txBody>
      </p:sp>
      <p:sp>
        <p:nvSpPr>
          <p:cNvPr id="3" name="TextBox 2"/>
          <p:cNvSpPr txBox="1"/>
          <p:nvPr/>
        </p:nvSpPr>
        <p:spPr>
          <a:xfrm>
            <a:off x="457200" y="507693"/>
            <a:ext cx="11247120" cy="646331"/>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Lato"/>
                <a:ea typeface="+mn-ea"/>
                <a:cs typeface="+mn-cs"/>
              </a:rPr>
              <a:t>We continue to perform well operationally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Lato"/>
                <a:ea typeface="+mn-ea"/>
                <a:cs typeface="+mn-cs"/>
              </a:rPr>
              <a:t>Credit rating comparison</a:t>
            </a:r>
            <a:endParaRPr kumimoji="0" sz="2400" b="0" i="1" u="none" strike="noStrike" kern="1200" cap="none" spc="0" normalizeH="0" baseline="0" noProof="0" dirty="0">
              <a:ln>
                <a:noFill/>
              </a:ln>
              <a:solidFill>
                <a:srgbClr val="000000"/>
              </a:solidFill>
              <a:effectLst/>
              <a:uLnTx/>
              <a:uFillTx/>
              <a:latin typeface="Lato"/>
              <a:ea typeface="+mn-ea"/>
              <a:cs typeface="+mn-cs"/>
            </a:endParaRPr>
          </a:p>
        </p:txBody>
      </p:sp>
      <p:sp>
        <p:nvSpPr>
          <p:cNvPr id="4" name="Rectangle 3"/>
          <p:cNvSpPr/>
          <p:nvPr/>
        </p:nvSpPr>
        <p:spPr>
          <a:xfrm>
            <a:off x="502920" y="1207008"/>
            <a:ext cx="548640" cy="381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5" name="TextBox 4"/>
          <p:cNvSpPr txBox="1"/>
          <p:nvPr/>
        </p:nvSpPr>
        <p:spPr>
          <a:xfrm>
            <a:off x="502920" y="1371600"/>
            <a:ext cx="5349240" cy="33832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1A1A1A"/>
                </a:solidFill>
                <a:effectLst/>
                <a:uLnTx/>
                <a:uFillTx/>
                <a:latin typeface="Lato"/>
                <a:ea typeface="+mn-ea"/>
                <a:cs typeface="+mn-cs"/>
              </a:rPr>
              <a:t>Operating Results</a:t>
            </a:r>
          </a:p>
        </p:txBody>
      </p:sp>
      <p:sp>
        <p:nvSpPr>
          <p:cNvPr id="6" name="TextBox 5"/>
          <p:cNvSpPr txBox="1"/>
          <p:nvPr/>
        </p:nvSpPr>
        <p:spPr>
          <a:xfrm>
            <a:off x="502920" y="1737360"/>
            <a:ext cx="5349240" cy="20116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0" i="1" u="none" strike="noStrike" kern="1200" cap="none" spc="0" normalizeH="0" baseline="0" noProof="0">
                <a:ln>
                  <a:noFill/>
                </a:ln>
                <a:solidFill>
                  <a:srgbClr val="6B6B70"/>
                </a:solidFill>
                <a:effectLst/>
                <a:uLnTx/>
                <a:uFillTx/>
                <a:latin typeface="Lato"/>
                <a:ea typeface="+mn-ea"/>
                <a:cs typeface="+mn-cs"/>
              </a:rPr>
              <a:t>GAAP UR EBIDA Margin</a:t>
            </a:r>
          </a:p>
        </p:txBody>
      </p:sp>
      <p:graphicFrame>
        <p:nvGraphicFramePr>
          <p:cNvPr id="7" name="Chart 6"/>
          <p:cNvGraphicFramePr>
            <a:graphicFrameLocks noGrp="1"/>
          </p:cNvGraphicFramePr>
          <p:nvPr/>
        </p:nvGraphicFramePr>
        <p:xfrm>
          <a:off x="429768" y="1975104"/>
          <a:ext cx="5440680" cy="3931920"/>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p:cNvSpPr txBox="1"/>
          <p:nvPr/>
        </p:nvSpPr>
        <p:spPr>
          <a:xfrm>
            <a:off x="6336792" y="1371600"/>
            <a:ext cx="5349240" cy="33832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1A1A1A"/>
                </a:solidFill>
                <a:effectLst/>
                <a:uLnTx/>
                <a:uFillTx/>
                <a:latin typeface="Lato"/>
                <a:ea typeface="+mn-ea"/>
                <a:cs typeface="+mn-cs"/>
              </a:rPr>
              <a:t>Annual Debt Service Coverage</a:t>
            </a:r>
          </a:p>
        </p:txBody>
      </p:sp>
      <p:sp>
        <p:nvSpPr>
          <p:cNvPr id="21" name="TextBox 20"/>
          <p:cNvSpPr txBox="1"/>
          <p:nvPr/>
        </p:nvSpPr>
        <p:spPr>
          <a:xfrm>
            <a:off x="6336792" y="1737360"/>
            <a:ext cx="5349240" cy="20116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0" i="1" u="none" strike="noStrike" kern="1200" cap="none" spc="0" normalizeH="0" baseline="0" noProof="0">
                <a:ln>
                  <a:noFill/>
                </a:ln>
                <a:solidFill>
                  <a:srgbClr val="6B6B70"/>
                </a:solidFill>
                <a:effectLst/>
                <a:uLnTx/>
                <a:uFillTx/>
                <a:latin typeface="Lato"/>
                <a:ea typeface="+mn-ea"/>
                <a:cs typeface="+mn-cs"/>
              </a:rPr>
              <a:t>EBIDA to Debt Service</a:t>
            </a:r>
          </a:p>
        </p:txBody>
      </p:sp>
      <p:graphicFrame>
        <p:nvGraphicFramePr>
          <p:cNvPr id="22" name="Chart 21"/>
          <p:cNvGraphicFramePr>
            <a:graphicFrameLocks noGrp="1"/>
          </p:cNvGraphicFramePr>
          <p:nvPr/>
        </p:nvGraphicFramePr>
        <p:xfrm>
          <a:off x="6263640" y="1975104"/>
          <a:ext cx="54406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23" name="Rectangle 22"/>
          <p:cNvSpPr/>
          <p:nvPr/>
        </p:nvSpPr>
        <p:spPr>
          <a:xfrm>
            <a:off x="9052560" y="457200"/>
            <a:ext cx="201168" cy="128016"/>
          </a:xfrm>
          <a:prstGeom prst="rect">
            <a:avLst/>
          </a:prstGeom>
          <a:solidFill>
            <a:srgbClr val="8A8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24" name="TextBox 23"/>
          <p:cNvSpPr txBox="1"/>
          <p:nvPr/>
        </p:nvSpPr>
        <p:spPr>
          <a:xfrm>
            <a:off x="9308592" y="440436"/>
            <a:ext cx="914400" cy="2377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2B2B2B"/>
                </a:solidFill>
                <a:effectLst/>
                <a:uLnTx/>
                <a:uFillTx/>
                <a:latin typeface="Lato"/>
                <a:ea typeface="+mn-ea"/>
                <a:cs typeface="+mn-cs"/>
              </a:rPr>
              <a:t>Actual</a:t>
            </a:r>
          </a:p>
        </p:txBody>
      </p:sp>
      <p:sp>
        <p:nvSpPr>
          <p:cNvPr id="25" name="Rectangle 24"/>
          <p:cNvSpPr/>
          <p:nvPr/>
        </p:nvSpPr>
        <p:spPr>
          <a:xfrm>
            <a:off x="10104120" y="457200"/>
            <a:ext cx="201168"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26" name="TextBox 25"/>
          <p:cNvSpPr txBox="1"/>
          <p:nvPr/>
        </p:nvSpPr>
        <p:spPr>
          <a:xfrm>
            <a:off x="10360152" y="440436"/>
            <a:ext cx="1463040" cy="2377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2B2B2B"/>
                </a:solidFill>
                <a:effectLst/>
                <a:uLnTx/>
                <a:uFillTx/>
                <a:latin typeface="Lato"/>
                <a:ea typeface="+mn-ea"/>
                <a:cs typeface="+mn-cs"/>
              </a:rPr>
              <a:t>FY26 Unaudited</a:t>
            </a:r>
          </a:p>
        </p:txBody>
      </p:sp>
      <p:cxnSp>
        <p:nvCxnSpPr>
          <p:cNvPr id="30" name="Connector 29"/>
          <p:cNvCxnSpPr/>
          <p:nvPr/>
        </p:nvCxnSpPr>
        <p:spPr>
          <a:xfrm>
            <a:off x="9052560" y="740664"/>
            <a:ext cx="365760" cy="0"/>
          </a:xfrm>
          <a:prstGeom prst="line">
            <a:avLst/>
          </a:prstGeom>
          <a:ln w="31750">
            <a:solidFill>
              <a:srgbClr val="000000"/>
            </a:solidFill>
            <a:prstDash val="soli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491472" y="658368"/>
            <a:ext cx="2377440" cy="2377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000000"/>
                </a:solidFill>
                <a:effectLst/>
                <a:uLnTx/>
                <a:uFillTx/>
                <a:latin typeface="Lato"/>
                <a:ea typeface="+mn-ea"/>
                <a:cs typeface="+mn-cs"/>
              </a:rPr>
              <a:t>Moody's “A” rated peer median (FY25)</a:t>
            </a:r>
          </a:p>
        </p:txBody>
      </p:sp>
      <p:cxnSp>
        <p:nvCxnSpPr>
          <p:cNvPr id="33" name="Connector 32"/>
          <p:cNvCxnSpPr/>
          <p:nvPr/>
        </p:nvCxnSpPr>
        <p:spPr>
          <a:xfrm>
            <a:off x="9052560" y="960120"/>
            <a:ext cx="365760" cy="0"/>
          </a:xfrm>
          <a:prstGeom prst="line">
            <a:avLst/>
          </a:prstGeom>
          <a:ln w="28575">
            <a:solidFill>
              <a:srgbClr val="7F7F7F"/>
            </a:solidFill>
            <a:prstDash val="sysDash"/>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491472" y="877824"/>
            <a:ext cx="2377440" cy="2377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7F7F7F"/>
                </a:solidFill>
                <a:effectLst/>
                <a:uLnTx/>
                <a:uFillTx/>
                <a:latin typeface="Lato"/>
                <a:ea typeface="+mn-ea"/>
                <a:cs typeface="+mn-cs"/>
              </a:rPr>
              <a:t>Moody's “Aa” rated peer median (FY25)</a:t>
            </a:r>
          </a:p>
        </p:txBody>
      </p:sp>
      <p:sp>
        <p:nvSpPr>
          <p:cNvPr id="35" name="TextBox 34"/>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Moody’s Ratings (June 24, 2026); Northeastern Financial Affairs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6868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C8102E"/>
                </a:solidFill>
                <a:effectLst/>
                <a:uLnTx/>
                <a:uFillTx/>
                <a:latin typeface="Lato"/>
                <a:ea typeface="+mn-ea"/>
                <a:cs typeface="+mn-cs"/>
              </a:rPr>
              <a:t>PEER BENCHMARKING · GAAP UR OP EBIDA MARGIN</a:t>
            </a:r>
          </a:p>
        </p:txBody>
      </p:sp>
      <p:sp>
        <p:nvSpPr>
          <p:cNvPr id="3" name="TextBox 2"/>
          <p:cNvSpPr txBox="1"/>
          <p:nvPr/>
        </p:nvSpPr>
        <p:spPr>
          <a:xfrm>
            <a:off x="457200" y="548640"/>
            <a:ext cx="11247120" cy="384048"/>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0000"/>
                </a:solidFill>
                <a:effectLst/>
                <a:uLnTx/>
                <a:uFillTx/>
                <a:latin typeface="Lato"/>
                <a:ea typeface="+mn-ea"/>
                <a:cs typeface="+mn-cs"/>
              </a:rPr>
              <a:t>11.5% FY26 EBIDA margin would put Northeastern fifth among 20 academic peers</a:t>
            </a:r>
          </a:p>
        </p:txBody>
      </p:sp>
      <p:sp>
        <p:nvSpPr>
          <p:cNvPr id="4" name="Rectangle 3"/>
          <p:cNvSpPr/>
          <p:nvPr/>
        </p:nvSpPr>
        <p:spPr>
          <a:xfrm>
            <a:off x="502920" y="969264"/>
            <a:ext cx="548640" cy="381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Lato"/>
              <a:ea typeface="+mn-ea"/>
              <a:cs typeface="+mn-cs"/>
            </a:endParaRPr>
          </a:p>
        </p:txBody>
      </p:sp>
      <p:sp>
        <p:nvSpPr>
          <p:cNvPr id="5" name="TextBox 4"/>
          <p:cNvSpPr txBox="1"/>
          <p:nvPr/>
        </p:nvSpPr>
        <p:spPr>
          <a:xfrm>
            <a:off x="457200" y="1060704"/>
            <a:ext cx="10789920" cy="16158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6B6B70"/>
                </a:solidFill>
                <a:effectLst/>
                <a:uLnTx/>
                <a:uFillTx/>
                <a:latin typeface="Lato"/>
                <a:ea typeface="+mn-ea"/>
                <a:cs typeface="+mn-cs"/>
              </a:rPr>
              <a:t>Peers at FY2025 audited actuals; Northeastern shown at its FY2026 </a:t>
            </a:r>
            <a:r>
              <a:rPr kumimoji="0" lang="en-US" sz="1050" b="0" i="1" u="none" strike="noStrike" kern="1200" cap="none" spc="0" normalizeH="0" baseline="0" noProof="0">
                <a:ln>
                  <a:noFill/>
                </a:ln>
                <a:solidFill>
                  <a:srgbClr val="6B6B70"/>
                </a:solidFill>
                <a:effectLst/>
                <a:uLnTx/>
                <a:uFillTx/>
                <a:latin typeface="Lato"/>
                <a:ea typeface="+mn-ea"/>
                <a:cs typeface="+mn-cs"/>
              </a:rPr>
              <a:t>projection</a:t>
            </a:r>
            <a:endParaRPr kumimoji="0" sz="1050" b="0" i="1" u="none" strike="noStrike" kern="1200" cap="none" spc="0" normalizeH="0" baseline="0" noProof="0">
              <a:ln>
                <a:noFill/>
              </a:ln>
              <a:solidFill>
                <a:srgbClr val="6B6B70"/>
              </a:solidFill>
              <a:effectLst/>
              <a:uLnTx/>
              <a:uFillTx/>
              <a:latin typeface="Lato"/>
              <a:ea typeface="+mn-ea"/>
              <a:cs typeface="+mn-cs"/>
            </a:endParaRPr>
          </a:p>
        </p:txBody>
      </p:sp>
      <p:graphicFrame>
        <p:nvGraphicFramePr>
          <p:cNvPr id="114" name="Chart 113"/>
          <p:cNvGraphicFramePr>
            <a:graphicFrameLocks noGrp="1"/>
          </p:cNvGraphicFramePr>
          <p:nvPr/>
        </p:nvGraphicFramePr>
        <p:xfrm>
          <a:off x="502920" y="1600200"/>
          <a:ext cx="11228832" cy="4251960"/>
        </p:xfrm>
        <a:graphic>
          <a:graphicData uri="http://schemas.openxmlformats.org/drawingml/2006/chart">
            <c:chart xmlns:c="http://schemas.openxmlformats.org/drawingml/2006/chart" xmlns:r="http://schemas.openxmlformats.org/officeDocument/2006/relationships" r:id="rId2"/>
          </a:graphicData>
        </a:graphic>
      </p:graphicFrame>
      <p:sp>
        <p:nvSpPr>
          <p:cNvPr id="118" name="TextBox 117"/>
          <p:cNvSpPr txBox="1"/>
          <p:nvPr/>
        </p:nvSpPr>
        <p:spPr>
          <a:xfrm>
            <a:off x="974530" y="5886393"/>
            <a:ext cx="3048627" cy="169277"/>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Lato"/>
                <a:ea typeface="+mn-ea"/>
                <a:cs typeface="+mn-cs"/>
              </a:rPr>
              <a:t>Aa1</a:t>
            </a:r>
          </a:p>
        </p:txBody>
      </p:sp>
      <p:cxnSp>
        <p:nvCxnSpPr>
          <p:cNvPr id="119" name="Connector 118"/>
          <p:cNvCxnSpPr/>
          <p:nvPr/>
        </p:nvCxnSpPr>
        <p:spPr>
          <a:xfrm>
            <a:off x="4023157" y="1685239"/>
            <a:ext cx="0" cy="3146450"/>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4023157" y="5870448"/>
            <a:ext cx="0" cy="201168"/>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4023157" y="5886393"/>
            <a:ext cx="1524313" cy="169277"/>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Lato"/>
                <a:ea typeface="+mn-ea"/>
                <a:cs typeface="+mn-cs"/>
              </a:rPr>
              <a:t>Aa2</a:t>
            </a:r>
          </a:p>
        </p:txBody>
      </p:sp>
      <p:cxnSp>
        <p:nvCxnSpPr>
          <p:cNvPr id="122" name="Connector 121"/>
          <p:cNvCxnSpPr/>
          <p:nvPr/>
        </p:nvCxnSpPr>
        <p:spPr>
          <a:xfrm>
            <a:off x="5547471" y="1685239"/>
            <a:ext cx="0" cy="3146450"/>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547471" y="5870448"/>
            <a:ext cx="0" cy="201168"/>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5547471" y="5886393"/>
            <a:ext cx="3048627" cy="169277"/>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Lato"/>
                <a:ea typeface="+mn-ea"/>
                <a:cs typeface="+mn-cs"/>
              </a:rPr>
              <a:t>Aa3</a:t>
            </a:r>
          </a:p>
        </p:txBody>
      </p:sp>
      <p:cxnSp>
        <p:nvCxnSpPr>
          <p:cNvPr id="125" name="Connector 124"/>
          <p:cNvCxnSpPr/>
          <p:nvPr/>
        </p:nvCxnSpPr>
        <p:spPr>
          <a:xfrm>
            <a:off x="8596099" y="1685239"/>
            <a:ext cx="0" cy="3146450"/>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8596099" y="5870448"/>
            <a:ext cx="0" cy="201168"/>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8596099" y="5886393"/>
            <a:ext cx="1016209" cy="169277"/>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Lato"/>
                <a:ea typeface="+mn-ea"/>
                <a:cs typeface="+mn-cs"/>
              </a:rPr>
              <a:t>A1</a:t>
            </a:r>
          </a:p>
        </p:txBody>
      </p:sp>
      <p:cxnSp>
        <p:nvCxnSpPr>
          <p:cNvPr id="128" name="Connector 127"/>
          <p:cNvCxnSpPr/>
          <p:nvPr/>
        </p:nvCxnSpPr>
        <p:spPr>
          <a:xfrm>
            <a:off x="9612308" y="1685239"/>
            <a:ext cx="0" cy="3146450"/>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612308" y="5870448"/>
            <a:ext cx="0" cy="201168"/>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9612308" y="5886393"/>
            <a:ext cx="1016209" cy="169277"/>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Lato"/>
                <a:ea typeface="+mn-ea"/>
                <a:cs typeface="+mn-cs"/>
              </a:rPr>
              <a:t>A2</a:t>
            </a:r>
          </a:p>
        </p:txBody>
      </p:sp>
      <p:cxnSp>
        <p:nvCxnSpPr>
          <p:cNvPr id="131" name="Connector 130"/>
          <p:cNvCxnSpPr/>
          <p:nvPr/>
        </p:nvCxnSpPr>
        <p:spPr>
          <a:xfrm>
            <a:off x="10628517" y="1685239"/>
            <a:ext cx="0" cy="3146450"/>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10628517" y="5870448"/>
            <a:ext cx="0" cy="201168"/>
          </a:xfrm>
          <a:prstGeom prst="line">
            <a:avLst/>
          </a:prstGeom>
          <a:ln w="9525">
            <a:solidFill>
              <a:srgbClr val="8A8D8F"/>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10628517" y="5886393"/>
            <a:ext cx="508104" cy="169277"/>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Lato"/>
                <a:ea typeface="+mn-ea"/>
                <a:cs typeface="+mn-cs"/>
              </a:rPr>
              <a:t>A3</a:t>
            </a:r>
          </a:p>
        </p:txBody>
      </p:sp>
      <p:sp>
        <p:nvSpPr>
          <p:cNvPr id="134" name="TextBox 133"/>
          <p:cNvSpPr txBox="1"/>
          <p:nvPr/>
        </p:nvSpPr>
        <p:spPr>
          <a:xfrm>
            <a:off x="457200" y="5817144"/>
            <a:ext cx="471610" cy="307777"/>
          </a:xfrm>
          <a:prstGeom prst="rect">
            <a:avLst/>
          </a:prstGeom>
          <a:noFill/>
        </p:spPr>
        <p:txBody>
          <a:bodyPr wrap="square" lIns="0" tIns="0" rIns="0" bIns="0"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0000"/>
                </a:solidFill>
                <a:effectLst/>
                <a:uLnTx/>
                <a:uFillTx/>
                <a:latin typeface="Lato"/>
                <a:ea typeface="+mn-ea"/>
                <a:cs typeface="+mn-cs"/>
              </a:rPr>
              <a:t>Moody's rating</a:t>
            </a:r>
          </a:p>
        </p:txBody>
      </p:sp>
      <p:sp>
        <p:nvSpPr>
          <p:cNvPr id="135" name="Oval 134"/>
          <p:cNvSpPr/>
          <p:nvPr/>
        </p:nvSpPr>
        <p:spPr>
          <a:xfrm>
            <a:off x="2615736" y="3478776"/>
            <a:ext cx="274320" cy="274320"/>
          </a:xfrm>
          <a:prstGeom prst="ellipse">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Lato"/>
                <a:ea typeface="+mn-ea"/>
                <a:cs typeface="+mn-cs"/>
              </a:rPr>
              <a:t>⚕</a:t>
            </a:r>
          </a:p>
        </p:txBody>
      </p:sp>
      <p:sp>
        <p:nvSpPr>
          <p:cNvPr id="136" name="Oval 135"/>
          <p:cNvSpPr/>
          <p:nvPr/>
        </p:nvSpPr>
        <p:spPr>
          <a:xfrm>
            <a:off x="3123840" y="3629806"/>
            <a:ext cx="274320" cy="274320"/>
          </a:xfrm>
          <a:prstGeom prst="ellipse">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Lato"/>
                <a:ea typeface="+mn-ea"/>
                <a:cs typeface="+mn-cs"/>
              </a:rPr>
              <a:t>⚕</a:t>
            </a:r>
          </a:p>
        </p:txBody>
      </p:sp>
      <p:sp>
        <p:nvSpPr>
          <p:cNvPr id="137" name="Oval 136"/>
          <p:cNvSpPr/>
          <p:nvPr/>
        </p:nvSpPr>
        <p:spPr>
          <a:xfrm>
            <a:off x="4140049" y="3088616"/>
            <a:ext cx="274320" cy="274320"/>
          </a:xfrm>
          <a:prstGeom prst="ellipse">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Lato"/>
                <a:ea typeface="+mn-ea"/>
                <a:cs typeface="+mn-cs"/>
              </a:rPr>
              <a:t>⚕</a:t>
            </a:r>
          </a:p>
        </p:txBody>
      </p:sp>
      <p:sp>
        <p:nvSpPr>
          <p:cNvPr id="138" name="Oval 137"/>
          <p:cNvSpPr/>
          <p:nvPr/>
        </p:nvSpPr>
        <p:spPr>
          <a:xfrm>
            <a:off x="4648154" y="3441019"/>
            <a:ext cx="274320" cy="274320"/>
          </a:xfrm>
          <a:prstGeom prst="ellipse">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Lato"/>
                <a:ea typeface="+mn-ea"/>
                <a:cs typeface="+mn-cs"/>
              </a:rPr>
              <a:t>⚕</a:t>
            </a:r>
          </a:p>
        </p:txBody>
      </p:sp>
      <p:sp>
        <p:nvSpPr>
          <p:cNvPr id="139" name="Oval 138"/>
          <p:cNvSpPr/>
          <p:nvPr/>
        </p:nvSpPr>
        <p:spPr>
          <a:xfrm>
            <a:off x="5156259" y="3969622"/>
            <a:ext cx="274320" cy="274320"/>
          </a:xfrm>
          <a:prstGeom prst="ellipse">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Lato"/>
                <a:ea typeface="+mn-ea"/>
                <a:cs typeface="+mn-cs"/>
              </a:rPr>
              <a:t>⚕</a:t>
            </a:r>
          </a:p>
        </p:txBody>
      </p:sp>
      <p:sp>
        <p:nvSpPr>
          <p:cNvPr id="140" name="Oval 139"/>
          <p:cNvSpPr/>
          <p:nvPr/>
        </p:nvSpPr>
        <p:spPr>
          <a:xfrm>
            <a:off x="6680572" y="2899829"/>
            <a:ext cx="274320" cy="274320"/>
          </a:xfrm>
          <a:prstGeom prst="ellipse">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Lato"/>
                <a:ea typeface="+mn-ea"/>
                <a:cs typeface="+mn-cs"/>
              </a:rPr>
              <a:t>⚕</a:t>
            </a:r>
          </a:p>
        </p:txBody>
      </p:sp>
      <p:sp>
        <p:nvSpPr>
          <p:cNvPr id="141" name="Oval 140"/>
          <p:cNvSpPr/>
          <p:nvPr/>
        </p:nvSpPr>
        <p:spPr>
          <a:xfrm>
            <a:off x="9221095" y="3289989"/>
            <a:ext cx="274320" cy="274320"/>
          </a:xfrm>
          <a:prstGeom prst="ellipse">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Lato"/>
                <a:ea typeface="+mn-ea"/>
                <a:cs typeface="+mn-cs"/>
              </a:rPr>
              <a:t>⚕</a:t>
            </a:r>
          </a:p>
        </p:txBody>
      </p:sp>
      <p:sp>
        <p:nvSpPr>
          <p:cNvPr id="142" name="Oval 141"/>
          <p:cNvSpPr/>
          <p:nvPr/>
        </p:nvSpPr>
        <p:spPr>
          <a:xfrm>
            <a:off x="9729200" y="2962758"/>
            <a:ext cx="274320" cy="274320"/>
          </a:xfrm>
          <a:prstGeom prst="ellipse">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Lato"/>
                <a:ea typeface="+mn-ea"/>
                <a:cs typeface="+mn-cs"/>
              </a:rPr>
              <a:t>⚕</a:t>
            </a:r>
          </a:p>
        </p:txBody>
      </p:sp>
      <p:sp>
        <p:nvSpPr>
          <p:cNvPr id="143" name="Oval 142"/>
          <p:cNvSpPr/>
          <p:nvPr/>
        </p:nvSpPr>
        <p:spPr>
          <a:xfrm>
            <a:off x="10237305" y="4246510"/>
            <a:ext cx="274320" cy="274320"/>
          </a:xfrm>
          <a:prstGeom prst="ellipse">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0000"/>
                </a:solidFill>
                <a:effectLst/>
                <a:uLnTx/>
                <a:uFillTx/>
                <a:latin typeface="Lato"/>
                <a:ea typeface="+mn-ea"/>
                <a:cs typeface="+mn-cs"/>
              </a:rPr>
              <a:t>⚕</a:t>
            </a:r>
          </a:p>
        </p:txBody>
      </p:sp>
      <p:cxnSp>
        <p:nvCxnSpPr>
          <p:cNvPr id="144" name="Connector 143"/>
          <p:cNvCxnSpPr/>
          <p:nvPr/>
        </p:nvCxnSpPr>
        <p:spPr>
          <a:xfrm>
            <a:off x="6537960" y="1360071"/>
            <a:ext cx="365760" cy="0"/>
          </a:xfrm>
          <a:prstGeom prst="line">
            <a:avLst/>
          </a:prstGeom>
          <a:ln w="31750">
            <a:solidFill>
              <a:srgbClr val="000000"/>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6976872" y="1280160"/>
            <a:ext cx="2377440" cy="21945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000000"/>
                </a:solidFill>
                <a:effectLst/>
                <a:uLnTx/>
                <a:uFillTx/>
                <a:latin typeface="Lato"/>
                <a:ea typeface="+mn-ea"/>
                <a:cs typeface="+mn-cs"/>
              </a:rPr>
              <a:t>Moody's “A” rated peer median (FY25)</a:t>
            </a:r>
          </a:p>
        </p:txBody>
      </p:sp>
      <p:cxnSp>
        <p:nvCxnSpPr>
          <p:cNvPr id="146" name="Connector 145"/>
          <p:cNvCxnSpPr/>
          <p:nvPr/>
        </p:nvCxnSpPr>
        <p:spPr>
          <a:xfrm>
            <a:off x="9281160" y="1360071"/>
            <a:ext cx="365760" cy="0"/>
          </a:xfrm>
          <a:prstGeom prst="line">
            <a:avLst/>
          </a:prstGeom>
          <a:ln w="28575">
            <a:solidFill>
              <a:srgbClr val="7F7F7F"/>
            </a:solidFill>
            <a:prstDash val="sysDash"/>
          </a:ln>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9720072" y="1280160"/>
            <a:ext cx="2468880" cy="21945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7F7F7F"/>
                </a:solidFill>
                <a:effectLst/>
                <a:uLnTx/>
                <a:uFillTx/>
                <a:latin typeface="Lato"/>
                <a:ea typeface="+mn-ea"/>
                <a:cs typeface="+mn-cs"/>
              </a:rPr>
              <a:t>Moody's “Aa” rated peer median (FY25)</a:t>
            </a:r>
          </a:p>
        </p:txBody>
      </p:sp>
      <p:sp>
        <p:nvSpPr>
          <p:cNvPr id="148" name="TextBox 147"/>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institutions’ audited FY2025 financial statements; Moody’s; methodology in speaker notes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149840" cy="692497"/>
          </a:xfrm>
          <a:prstGeom prst="rect">
            <a:avLst/>
          </a:prstGeom>
          <a:noFill/>
        </p:spPr>
        <p:txBody>
          <a:bodyPr wrap="square" lIns="0" tIns="0" rIns="0" bIns="0" anchor="t">
            <a:noAutofit/>
          </a:bodyPr>
          <a:lstStyle/>
          <a:p>
            <a:pPr algn="l">
              <a:lnSpc>
                <a:spcPct val="100000"/>
              </a:lnSpc>
            </a:pPr>
            <a:r>
              <a:rPr sz="2500" b="1" dirty="0">
                <a:solidFill>
                  <a:srgbClr val="000000"/>
                </a:solidFill>
                <a:latin typeface="Lato"/>
              </a:rPr>
              <a:t>Margin bottomed at 1.1% in FY25 and recover</a:t>
            </a:r>
            <a:r>
              <a:rPr lang="en-US" sz="2500" b="1" dirty="0">
                <a:solidFill>
                  <a:srgbClr val="000000"/>
                </a:solidFill>
                <a:latin typeface="Lato"/>
              </a:rPr>
              <a:t>ed</a:t>
            </a:r>
            <a:r>
              <a:rPr sz="2500" b="1" dirty="0">
                <a:solidFill>
                  <a:srgbClr val="000000"/>
                </a:solidFill>
                <a:latin typeface="Lato"/>
              </a:rPr>
              <a:t> to 4.0% in FY26</a:t>
            </a:r>
            <a:endParaRPr lang="en-US" sz="2500" b="1" dirty="0">
              <a:solidFill>
                <a:srgbClr val="000000"/>
              </a:solidFill>
              <a:latin typeface="Lato"/>
            </a:endParaRPr>
          </a:p>
          <a:p>
            <a:pPr algn="l">
              <a:lnSpc>
                <a:spcPct val="100000"/>
              </a:lnSpc>
            </a:pPr>
            <a:r>
              <a:rPr lang="en-US" sz="2000" i="1" dirty="0">
                <a:solidFill>
                  <a:srgbClr val="000000"/>
                </a:solidFill>
                <a:latin typeface="Lato"/>
              </a:rPr>
              <a:t>S</a:t>
            </a:r>
            <a:r>
              <a:rPr sz="2000" i="1" dirty="0">
                <a:solidFill>
                  <a:srgbClr val="000000"/>
                </a:solidFill>
                <a:latin typeface="Lato"/>
              </a:rPr>
              <a:t>till 320bp below FY18</a:t>
            </a:r>
          </a:p>
        </p:txBody>
      </p:sp>
      <p:sp>
        <p:nvSpPr>
          <p:cNvPr id="3" name="TextBox 2"/>
          <p:cNvSpPr txBox="1"/>
          <p:nvPr/>
        </p:nvSpPr>
        <p:spPr>
          <a:xfrm>
            <a:off x="457200" y="1280160"/>
            <a:ext cx="10149840" cy="411480"/>
          </a:xfrm>
          <a:prstGeom prst="rect">
            <a:avLst/>
          </a:prstGeom>
          <a:noFill/>
        </p:spPr>
        <p:txBody>
          <a:bodyPr wrap="square" lIns="0" tIns="0" rIns="0" bIns="0" anchor="t">
            <a:spAutoFit/>
          </a:bodyPr>
          <a:lstStyle/>
          <a:p>
            <a:pPr algn="l"/>
            <a:r>
              <a:rPr sz="1250" b="0">
                <a:solidFill>
                  <a:srgbClr val="49494D"/>
                </a:solidFill>
                <a:latin typeface="Lato"/>
              </a:rPr>
              <a:t>Operating margin (operating result ÷ total operating revenues and other support), FY18–FY25 actuals, FY26 preliminary</a:t>
            </a:r>
          </a:p>
        </p:txBody>
      </p:sp>
      <p:graphicFrame>
        <p:nvGraphicFramePr>
          <p:cNvPr id="4" name="Chart 3" descr="Chart"/>
          <p:cNvGraphicFramePr>
            <a:graphicFrameLocks noGrp="1"/>
          </p:cNvGraphicFramePr>
          <p:nvPr/>
        </p:nvGraphicFramePr>
        <p:xfrm>
          <a:off x="502920" y="1691640"/>
          <a:ext cx="8517636" cy="4537976"/>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p:cNvSpPr/>
          <p:nvPr/>
        </p:nvSpPr>
        <p:spPr>
          <a:xfrm>
            <a:off x="9322308" y="1755648"/>
            <a:ext cx="2569464" cy="1188720"/>
          </a:xfrm>
          <a:prstGeom prst="rect">
            <a:avLst/>
          </a:prstGeom>
          <a:solidFill>
            <a:srgbClr val="F6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08008" y="1847088"/>
            <a:ext cx="2798064" cy="415498"/>
          </a:xfrm>
          <a:prstGeom prst="rect">
            <a:avLst/>
          </a:prstGeom>
          <a:noFill/>
        </p:spPr>
        <p:txBody>
          <a:bodyPr wrap="square" lIns="0" tIns="0" rIns="0" bIns="0" anchor="t">
            <a:spAutoFit/>
          </a:bodyPr>
          <a:lstStyle/>
          <a:p>
            <a:pPr algn="ctr"/>
            <a:r>
              <a:rPr sz="2700" b="1">
                <a:solidFill>
                  <a:srgbClr val="C8102E"/>
                </a:solidFill>
                <a:latin typeface="Lato"/>
              </a:rPr>
              <a:t>–320 bps</a:t>
            </a:r>
          </a:p>
        </p:txBody>
      </p:sp>
      <p:sp>
        <p:nvSpPr>
          <p:cNvPr id="7" name="TextBox 6"/>
          <p:cNvSpPr txBox="1"/>
          <p:nvPr/>
        </p:nvSpPr>
        <p:spPr>
          <a:xfrm>
            <a:off x="9208008" y="2432304"/>
            <a:ext cx="2798064" cy="161583"/>
          </a:xfrm>
          <a:prstGeom prst="rect">
            <a:avLst/>
          </a:prstGeom>
          <a:noFill/>
        </p:spPr>
        <p:txBody>
          <a:bodyPr wrap="square" lIns="0" tIns="0" rIns="0" bIns="0" anchor="t">
            <a:spAutoFit/>
          </a:bodyPr>
          <a:lstStyle/>
          <a:p>
            <a:pPr algn="ctr">
              <a:lnSpc>
                <a:spcPct val="100000"/>
              </a:lnSpc>
            </a:pPr>
            <a:r>
              <a:rPr sz="1050" b="0">
                <a:solidFill>
                  <a:srgbClr val="49494D"/>
                </a:solidFill>
                <a:latin typeface="Lato"/>
              </a:rPr>
              <a:t>Margin compression, FY18 to FY26</a:t>
            </a:r>
          </a:p>
        </p:txBody>
      </p:sp>
      <p:sp>
        <p:nvSpPr>
          <p:cNvPr id="8" name="Rectangle 7"/>
          <p:cNvSpPr/>
          <p:nvPr/>
        </p:nvSpPr>
        <p:spPr>
          <a:xfrm>
            <a:off x="9322308" y="3108960"/>
            <a:ext cx="2569464" cy="1188720"/>
          </a:xfrm>
          <a:prstGeom prst="rect">
            <a:avLst/>
          </a:prstGeom>
          <a:solidFill>
            <a:srgbClr val="F6F6F4"/>
          </a:solidFill>
          <a:ln w="5715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08008" y="3182112"/>
            <a:ext cx="2798064" cy="415498"/>
          </a:xfrm>
          <a:prstGeom prst="rect">
            <a:avLst/>
          </a:prstGeom>
          <a:noFill/>
        </p:spPr>
        <p:txBody>
          <a:bodyPr wrap="square" lIns="0" tIns="0" rIns="0" bIns="0" anchor="t">
            <a:spAutoFit/>
          </a:bodyPr>
          <a:lstStyle/>
          <a:p>
            <a:pPr algn="ctr"/>
            <a:r>
              <a:rPr sz="2700" b="1">
                <a:solidFill>
                  <a:srgbClr val="C8102E"/>
                </a:solidFill>
                <a:latin typeface="Lato"/>
              </a:rPr>
              <a:t>$79M</a:t>
            </a:r>
          </a:p>
        </p:txBody>
      </p:sp>
      <p:sp>
        <p:nvSpPr>
          <p:cNvPr id="10" name="TextBox 9"/>
          <p:cNvSpPr txBox="1"/>
          <p:nvPr/>
        </p:nvSpPr>
        <p:spPr>
          <a:xfrm>
            <a:off x="9509760" y="3767328"/>
            <a:ext cx="2194560" cy="323165"/>
          </a:xfrm>
          <a:prstGeom prst="rect">
            <a:avLst/>
          </a:prstGeom>
          <a:noFill/>
        </p:spPr>
        <p:txBody>
          <a:bodyPr wrap="square" lIns="0" tIns="0" rIns="0" bIns="0" anchor="t">
            <a:spAutoFit/>
          </a:bodyPr>
          <a:lstStyle/>
          <a:p>
            <a:pPr algn="ctr">
              <a:lnSpc>
                <a:spcPct val="100000"/>
              </a:lnSpc>
            </a:pPr>
            <a:r>
              <a:rPr sz="1050" b="0" dirty="0">
                <a:solidFill>
                  <a:srgbClr val="49494D"/>
                </a:solidFill>
                <a:latin typeface="Lato"/>
              </a:rPr>
              <a:t>Annual surplus forgone vs. holding the FY18 margin on FY26 revenue</a:t>
            </a:r>
          </a:p>
        </p:txBody>
      </p:sp>
      <p:sp>
        <p:nvSpPr>
          <p:cNvPr id="11" name="Rectangle 10"/>
          <p:cNvSpPr/>
          <p:nvPr/>
        </p:nvSpPr>
        <p:spPr>
          <a:xfrm>
            <a:off x="9322308" y="4425696"/>
            <a:ext cx="2569464" cy="1188720"/>
          </a:xfrm>
          <a:prstGeom prst="rect">
            <a:avLst/>
          </a:prstGeom>
          <a:solidFill>
            <a:srgbClr val="F6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08008" y="4517136"/>
            <a:ext cx="2798064" cy="415498"/>
          </a:xfrm>
          <a:prstGeom prst="rect">
            <a:avLst/>
          </a:prstGeom>
          <a:noFill/>
        </p:spPr>
        <p:txBody>
          <a:bodyPr wrap="square" lIns="0" tIns="0" rIns="0" bIns="0" anchor="t">
            <a:spAutoFit/>
          </a:bodyPr>
          <a:lstStyle/>
          <a:p>
            <a:pPr algn="ctr"/>
            <a:r>
              <a:rPr sz="2700" b="1">
                <a:solidFill>
                  <a:srgbClr val="000000"/>
                </a:solidFill>
                <a:latin typeface="Lato"/>
              </a:rPr>
              <a:t>$25M</a:t>
            </a:r>
          </a:p>
        </p:txBody>
      </p:sp>
      <p:sp>
        <p:nvSpPr>
          <p:cNvPr id="13" name="TextBox 12"/>
          <p:cNvSpPr txBox="1"/>
          <p:nvPr/>
        </p:nvSpPr>
        <p:spPr>
          <a:xfrm>
            <a:off x="9624060" y="5102352"/>
            <a:ext cx="1965960" cy="323165"/>
          </a:xfrm>
          <a:prstGeom prst="rect">
            <a:avLst/>
          </a:prstGeom>
          <a:noFill/>
        </p:spPr>
        <p:txBody>
          <a:bodyPr wrap="square" lIns="0" tIns="0" rIns="0" bIns="0" anchor="t">
            <a:spAutoFit/>
          </a:bodyPr>
          <a:lstStyle/>
          <a:p>
            <a:pPr algn="ctr">
              <a:lnSpc>
                <a:spcPct val="100000"/>
              </a:lnSpc>
            </a:pPr>
            <a:r>
              <a:rPr sz="1050" b="0" dirty="0">
                <a:solidFill>
                  <a:srgbClr val="49494D"/>
                </a:solidFill>
                <a:latin typeface="Lato"/>
              </a:rPr>
              <a:t>What one point of FY26 margin is worth</a:t>
            </a:r>
          </a:p>
        </p:txBody>
      </p:sp>
      <p:sp>
        <p:nvSpPr>
          <p:cNvPr id="16" name="BasisTag"/>
          <p:cNvSpPr/>
          <p:nvPr/>
        </p:nvSpPr>
        <p:spPr>
          <a:xfrm>
            <a:off x="10863072" y="228600"/>
            <a:ext cx="1115568" cy="2971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Lato"/>
              </a:rPr>
              <a:t>GAAP UR OP</a:t>
            </a:r>
          </a:p>
        </p:txBody>
      </p:sp>
      <p:sp>
        <p:nvSpPr>
          <p:cNvPr id="17" name="TextBox 16"/>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Northeastern Financial Affairs (FY26 preliminary, unaudited)</a:t>
            </a:r>
          </a:p>
        </p:txBody>
      </p:sp>
      <p:sp>
        <p:nvSpPr>
          <p:cNvPr id="18" name="TextBox 17"/>
          <p:cNvSpPr txBox="1"/>
          <p:nvPr/>
        </p:nvSpPr>
        <p:spPr>
          <a:xfrm>
            <a:off x="457200" y="6163056"/>
            <a:ext cx="11274552" cy="237744"/>
          </a:xfrm>
          <a:prstGeom prst="rect">
            <a:avLst/>
          </a:prstGeom>
          <a:noFill/>
        </p:spPr>
        <p:txBody>
          <a:bodyPr wrap="square" lIns="0" rIns="0" tIns="0" bIns="0" anchor="b">
            <a:spAutoFit/>
          </a:bodyPr>
          <a:lstStyle/>
          <a:p>
            <a:pPr algn="l"/>
            <a:r>
              <a:rPr sz="700" b="0" i="0">
                <a:solidFill>
                  <a:srgbClr val="595959"/>
                </a:solidFill>
                <a:latin typeface="Lato"/>
              </a:rPr>
              <a:t>Source: as above. "$79M forgone" is arithmetic — FY26 revenue at the FY18 margin ($177M) less the FY26 result ($98M). It is not a claim that the FY18 margin was achievable in FY26. FY26 is preliminary and unaudited, from the 9/24/26 FAC draft. Nonoperating activity is excluded on this basis.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149840" cy="868680"/>
          </a:xfrm>
          <a:prstGeom prst="rect">
            <a:avLst/>
          </a:prstGeom>
          <a:noFill/>
        </p:spPr>
        <p:txBody>
          <a:bodyPr wrap="square" lIns="0" tIns="0" rIns="0" bIns="0">
            <a:noAutofit/>
          </a:bodyPr>
          <a:lstStyle/>
          <a:p>
            <a:pPr algn="l"/>
            <a:r>
              <a:rPr sz="2500" b="1">
                <a:solidFill>
                  <a:srgbClr val="000000"/>
                </a:solidFill>
                <a:latin typeface="Lato"/>
              </a:rPr>
              <a:t>Above both Moody’s medians through FY20 — below the A-category median every year since FY21</a:t>
            </a:r>
          </a:p>
        </p:txBody>
      </p:sp>
      <p:sp>
        <p:nvSpPr>
          <p:cNvPr id="3" name="TextBox 2"/>
          <p:cNvSpPr txBox="1"/>
          <p:nvPr/>
        </p:nvSpPr>
        <p:spPr>
          <a:xfrm>
            <a:off x="457200" y="1280160"/>
            <a:ext cx="10149840" cy="411480"/>
          </a:xfrm>
          <a:prstGeom prst="rect">
            <a:avLst/>
          </a:prstGeom>
          <a:noFill/>
        </p:spPr>
        <p:txBody>
          <a:bodyPr wrap="square" lIns="0" tIns="0" rIns="0" bIns="0">
            <a:spAutoFit/>
          </a:bodyPr>
          <a:lstStyle/>
          <a:p>
            <a:pPr algn="l"/>
            <a:r>
              <a:rPr sz="1250" b="0" dirty="0">
                <a:solidFill>
                  <a:srgbClr val="49494D"/>
                </a:solidFill>
                <a:latin typeface="Lato"/>
              </a:rPr>
              <a:t>Bars: Northeastern EBIDA margin — (operating result + depreciation + interest) ÷ total operating revenues and other support, unrestricted basis. Lines: Moody’s private-university medians.</a:t>
            </a:r>
          </a:p>
        </p:txBody>
      </p:sp>
      <p:graphicFrame>
        <p:nvGraphicFramePr>
          <p:cNvPr id="4" name="Chart 3"/>
          <p:cNvGraphicFramePr>
            <a:graphicFrameLocks noGrp="1"/>
          </p:cNvGraphicFramePr>
          <p:nvPr/>
        </p:nvGraphicFramePr>
        <p:xfrm>
          <a:off x="502920" y="1828800"/>
          <a:ext cx="8914384" cy="419120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p:cNvSpPr/>
          <p:nvPr/>
        </p:nvSpPr>
        <p:spPr>
          <a:xfrm>
            <a:off x="9611360" y="1857248"/>
            <a:ext cx="2359152" cy="1188720"/>
          </a:xfrm>
          <a:prstGeom prst="rect">
            <a:avLst/>
          </a:prstGeom>
          <a:solidFill>
            <a:srgbClr val="F6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87712" y="1948688"/>
            <a:ext cx="1806448" cy="415498"/>
          </a:xfrm>
          <a:prstGeom prst="rect">
            <a:avLst/>
          </a:prstGeom>
          <a:noFill/>
        </p:spPr>
        <p:txBody>
          <a:bodyPr wrap="square" lIns="0" tIns="0" rIns="0" bIns="0">
            <a:spAutoFit/>
          </a:bodyPr>
          <a:lstStyle/>
          <a:p>
            <a:pPr algn="ctr"/>
            <a:r>
              <a:rPr sz="2700" b="1" dirty="0">
                <a:solidFill>
                  <a:srgbClr val="C8102E"/>
                </a:solidFill>
                <a:latin typeface="Lato"/>
              </a:rPr>
              <a:t>9.5%</a:t>
            </a:r>
          </a:p>
        </p:txBody>
      </p:sp>
      <p:sp>
        <p:nvSpPr>
          <p:cNvPr id="7" name="TextBox 6"/>
          <p:cNvSpPr txBox="1"/>
          <p:nvPr/>
        </p:nvSpPr>
        <p:spPr>
          <a:xfrm>
            <a:off x="9693656" y="2533904"/>
            <a:ext cx="2194560" cy="323165"/>
          </a:xfrm>
          <a:prstGeom prst="rect">
            <a:avLst/>
          </a:prstGeom>
          <a:noFill/>
        </p:spPr>
        <p:txBody>
          <a:bodyPr wrap="square" lIns="0" tIns="0" rIns="0" bIns="0">
            <a:spAutoFit/>
          </a:bodyPr>
          <a:lstStyle/>
          <a:p>
            <a:pPr algn="ctr"/>
            <a:r>
              <a:rPr sz="1050" b="0">
                <a:solidFill>
                  <a:srgbClr val="49494D"/>
                </a:solidFill>
                <a:latin typeface="Lato"/>
              </a:rPr>
              <a:t>FY25 EBIDA margin — the low of the series</a:t>
            </a:r>
          </a:p>
        </p:txBody>
      </p:sp>
      <p:sp>
        <p:nvSpPr>
          <p:cNvPr id="8" name="Rectangle 7"/>
          <p:cNvSpPr/>
          <p:nvPr/>
        </p:nvSpPr>
        <p:spPr>
          <a:xfrm>
            <a:off x="9611360" y="3192272"/>
            <a:ext cx="2359152" cy="1188720"/>
          </a:xfrm>
          <a:prstGeom prst="rect">
            <a:avLst/>
          </a:prstGeom>
          <a:solidFill>
            <a:srgbClr val="F6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87712" y="3283712"/>
            <a:ext cx="1806448" cy="415498"/>
          </a:xfrm>
          <a:prstGeom prst="rect">
            <a:avLst/>
          </a:prstGeom>
          <a:noFill/>
        </p:spPr>
        <p:txBody>
          <a:bodyPr wrap="square" lIns="0" tIns="0" rIns="0" bIns="0">
            <a:spAutoFit/>
          </a:bodyPr>
          <a:lstStyle/>
          <a:p>
            <a:pPr algn="ctr"/>
            <a:r>
              <a:rPr sz="2700" b="1">
                <a:solidFill>
                  <a:srgbClr val="000000"/>
                </a:solidFill>
                <a:latin typeface="Lato"/>
              </a:rPr>
              <a:t>–567 bps</a:t>
            </a:r>
          </a:p>
        </p:txBody>
      </p:sp>
      <p:sp>
        <p:nvSpPr>
          <p:cNvPr id="10" name="TextBox 9"/>
          <p:cNvSpPr txBox="1"/>
          <p:nvPr/>
        </p:nvSpPr>
        <p:spPr>
          <a:xfrm>
            <a:off x="9693656" y="3868928"/>
            <a:ext cx="2194560" cy="323165"/>
          </a:xfrm>
          <a:prstGeom prst="rect">
            <a:avLst/>
          </a:prstGeom>
          <a:noFill/>
        </p:spPr>
        <p:txBody>
          <a:bodyPr wrap="square" lIns="0" tIns="0" rIns="0" bIns="0">
            <a:spAutoFit/>
          </a:bodyPr>
          <a:lstStyle/>
          <a:p>
            <a:pPr algn="ctr"/>
            <a:r>
              <a:rPr sz="1050" b="0" dirty="0">
                <a:solidFill>
                  <a:srgbClr val="49494D"/>
                </a:solidFill>
                <a:latin typeface="Lato"/>
              </a:rPr>
              <a:t>EBIDA margin compression, FY18 to FY25</a:t>
            </a:r>
          </a:p>
        </p:txBody>
      </p:sp>
      <p:sp>
        <p:nvSpPr>
          <p:cNvPr id="11" name="Rectangle 10"/>
          <p:cNvSpPr/>
          <p:nvPr/>
        </p:nvSpPr>
        <p:spPr>
          <a:xfrm>
            <a:off x="9611360" y="4527296"/>
            <a:ext cx="2359152" cy="1188720"/>
          </a:xfrm>
          <a:prstGeom prst="rect">
            <a:avLst/>
          </a:prstGeom>
          <a:solidFill>
            <a:srgbClr val="F6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87712" y="4618736"/>
            <a:ext cx="1806448" cy="415498"/>
          </a:xfrm>
          <a:prstGeom prst="rect">
            <a:avLst/>
          </a:prstGeom>
          <a:noFill/>
        </p:spPr>
        <p:txBody>
          <a:bodyPr wrap="square" lIns="0" tIns="0" rIns="0" bIns="0">
            <a:spAutoFit/>
          </a:bodyPr>
          <a:lstStyle/>
          <a:p>
            <a:pPr algn="ctr"/>
            <a:r>
              <a:rPr sz="2700" b="1">
                <a:solidFill>
                  <a:srgbClr val="49494D"/>
                </a:solidFill>
                <a:latin typeface="Lato"/>
              </a:rPr>
              <a:t>204 bps</a:t>
            </a:r>
          </a:p>
        </p:txBody>
      </p:sp>
      <p:sp>
        <p:nvSpPr>
          <p:cNvPr id="13" name="TextBox 12"/>
          <p:cNvSpPr txBox="1"/>
          <p:nvPr/>
        </p:nvSpPr>
        <p:spPr>
          <a:xfrm>
            <a:off x="9693656" y="5203952"/>
            <a:ext cx="2194560" cy="484748"/>
          </a:xfrm>
          <a:prstGeom prst="rect">
            <a:avLst/>
          </a:prstGeom>
          <a:noFill/>
        </p:spPr>
        <p:txBody>
          <a:bodyPr wrap="square" lIns="0" tIns="0" rIns="0" bIns="0">
            <a:spAutoFit/>
          </a:bodyPr>
          <a:lstStyle/>
          <a:p>
            <a:pPr algn="ctr"/>
            <a:r>
              <a:rPr sz="1050" b="0">
                <a:solidFill>
                  <a:srgbClr val="49494D"/>
                </a:solidFill>
                <a:latin typeface="Lato"/>
              </a:rPr>
              <a:t>How far FY25 sits below the A-category median of 11.5% — 84 bps below the comprehensive median</a:t>
            </a:r>
          </a:p>
        </p:txBody>
      </p:sp>
      <p:sp>
        <p:nvSpPr>
          <p:cNvPr id="16" name="BasisTag"/>
          <p:cNvSpPr/>
          <p:nvPr/>
        </p:nvSpPr>
        <p:spPr>
          <a:xfrm>
            <a:off x="10863072" y="228600"/>
            <a:ext cx="1115568" cy="2971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Lato"/>
              </a:rPr>
              <a:t>GAAP UR OP</a:t>
            </a:r>
          </a:p>
        </p:txBody>
      </p:sp>
      <p:sp>
        <p:nvSpPr>
          <p:cNvPr id="17" name="TextBox 16"/>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Northeastern Financial Affairs; Moody’s Ratings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7744"/>
            <a:ext cx="10149840" cy="307777"/>
          </a:xfrm>
          <a:prstGeom prst="rect">
            <a:avLst/>
          </a:prstGeom>
          <a:noFill/>
        </p:spPr>
        <p:txBody>
          <a:bodyPr wrap="square" lIns="0" tIns="0" rIns="0" bIns="0">
            <a:noAutofit/>
          </a:bodyPr>
          <a:lstStyle/>
          <a:p>
            <a:pPr algn="l"/>
            <a:r>
              <a:rPr sz="2000" b="1" dirty="0">
                <a:solidFill>
                  <a:srgbClr val="000000"/>
                </a:solidFill>
                <a:latin typeface="Lato"/>
              </a:rPr>
              <a:t>On the same basis, </a:t>
            </a:r>
            <a:r>
              <a:rPr sz="2000" b="1" dirty="0" err="1">
                <a:solidFill>
                  <a:srgbClr val="000000"/>
                </a:solidFill>
                <a:latin typeface="Lato"/>
              </a:rPr>
              <a:t>Northeastern’s</a:t>
            </a:r>
            <a:r>
              <a:rPr sz="2000" b="1" dirty="0">
                <a:solidFill>
                  <a:srgbClr val="000000"/>
                </a:solidFill>
                <a:latin typeface="Lato"/>
              </a:rPr>
              <a:t> FY25 EBIDA margin ranks 13th of 22 </a:t>
            </a:r>
            <a:r>
              <a:rPr lang="en-US" sz="2000" b="1" dirty="0">
                <a:solidFill>
                  <a:srgbClr val="000000"/>
                </a:solidFill>
                <a:latin typeface="Lato"/>
              </a:rPr>
              <a:t>academic peers</a:t>
            </a:r>
            <a:endParaRPr sz="2000" b="1" dirty="0">
              <a:solidFill>
                <a:srgbClr val="000000"/>
              </a:solidFill>
              <a:latin typeface="Lato"/>
            </a:endParaRPr>
          </a:p>
        </p:txBody>
      </p:sp>
      <p:sp>
        <p:nvSpPr>
          <p:cNvPr id="3" name="TextBox 2"/>
          <p:cNvSpPr txBox="1"/>
          <p:nvPr/>
        </p:nvSpPr>
        <p:spPr>
          <a:xfrm>
            <a:off x="3099816" y="829425"/>
            <a:ext cx="5573911" cy="276999"/>
          </a:xfrm>
          <a:prstGeom prst="rect">
            <a:avLst/>
          </a:prstGeom>
          <a:noFill/>
        </p:spPr>
        <p:txBody>
          <a:bodyPr wrap="square" lIns="0" tIns="0" rIns="0" bIns="0">
            <a:spAutoFit/>
          </a:bodyPr>
          <a:lstStyle/>
          <a:p>
            <a:pPr algn="ctr"/>
            <a:r>
              <a:rPr lang="en-US" dirty="0">
                <a:solidFill>
                  <a:schemeClr val="bg1"/>
                </a:solidFill>
                <a:latin typeface="Lato"/>
              </a:rPr>
              <a:t>Peer FY25 EBIDA Margins</a:t>
            </a:r>
            <a:endParaRPr dirty="0">
              <a:solidFill>
                <a:schemeClr val="bg1"/>
              </a:solidFill>
              <a:latin typeface="Lato"/>
            </a:endParaRPr>
          </a:p>
        </p:txBody>
      </p:sp>
      <p:graphicFrame>
        <p:nvGraphicFramePr>
          <p:cNvPr id="4" name="Chart 3"/>
          <p:cNvGraphicFramePr>
            <a:graphicFrameLocks noGrp="1"/>
          </p:cNvGraphicFramePr>
          <p:nvPr/>
        </p:nvGraphicFramePr>
        <p:xfrm>
          <a:off x="502920" y="1203568"/>
          <a:ext cx="11186160" cy="4374272"/>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94008" y="5432880"/>
            <a:ext cx="10800000" cy="492443"/>
          </a:xfrm>
          <a:prstGeom prst="rect">
            <a:avLst/>
          </a:prstGeom>
          <a:solidFill>
            <a:srgbClr val="C8102E"/>
          </a:solidFill>
          <a:ln>
            <a:solidFill>
              <a:schemeClr val="bg1"/>
            </a:solidFill>
          </a:ln>
        </p:spPr>
        <p:txBody>
          <a:bodyPr wrap="square" lIns="0" tIns="0" rIns="0" bIns="0">
            <a:spAutoFit/>
          </a:bodyPr>
          <a:lstStyle/>
          <a:p>
            <a:pPr algn="ctr"/>
            <a:r>
              <a:rPr sz="1600" b="1" dirty="0">
                <a:solidFill>
                  <a:srgbClr val="FFFFFF"/>
                </a:solidFill>
                <a:latin typeface="Lato"/>
              </a:rPr>
              <a:t>Northeastern sits at 9.5% against a peer median of 9.8%, Moody’s comprehensive median of 10.3% and the broad A median of 11.5% — the A cohort being the one that matches </a:t>
            </a:r>
            <a:r>
              <a:rPr sz="1600" b="1" dirty="0" err="1">
                <a:solidFill>
                  <a:srgbClr val="FFFFFF"/>
                </a:solidFill>
                <a:latin typeface="Lato"/>
              </a:rPr>
              <a:t>Northeastern’s</a:t>
            </a:r>
            <a:r>
              <a:rPr sz="1600" b="1" dirty="0">
                <a:solidFill>
                  <a:srgbClr val="FFFFFF"/>
                </a:solidFill>
                <a:latin typeface="Lato"/>
              </a:rPr>
              <a:t> own A1 rating.</a:t>
            </a:r>
          </a:p>
        </p:txBody>
      </p:sp>
      <p:sp>
        <p:nvSpPr>
          <p:cNvPr id="9" name="BasisTag"/>
          <p:cNvSpPr/>
          <p:nvPr/>
        </p:nvSpPr>
        <p:spPr>
          <a:xfrm>
            <a:off x="10863072" y="228600"/>
            <a:ext cx="1115568" cy="2971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Lato"/>
              </a:rPr>
              <a:t>GAAP UR OP</a:t>
            </a:r>
          </a:p>
        </p:txBody>
      </p:sp>
      <p:sp>
        <p:nvSpPr>
          <p:cNvPr id="11" name="TextBox 10">
            <a:extLst>
              <a:ext uri="{FF2B5EF4-FFF2-40B4-BE49-F238E27FC236}">
                <a16:creationId xmlns:a16="http://schemas.microsoft.com/office/drawing/2014/main" id="{517BF540-0C1D-A854-6092-59C2EE39836E}"/>
              </a:ext>
            </a:extLst>
          </p:cNvPr>
          <p:cNvSpPr txBox="1"/>
          <p:nvPr/>
        </p:nvSpPr>
        <p:spPr>
          <a:xfrm>
            <a:off x="11298870" y="2971710"/>
            <a:ext cx="614271" cy="276999"/>
          </a:xfrm>
          <a:prstGeom prst="rect">
            <a:avLst/>
          </a:prstGeom>
          <a:noFill/>
        </p:spPr>
        <p:txBody>
          <a:bodyPr wrap="none" rtlCol="0">
            <a:spAutoFit/>
          </a:bodyPr>
          <a:lstStyle/>
          <a:p>
            <a:r>
              <a:rPr lang="en-US" sz="1200" dirty="0">
                <a:solidFill>
                  <a:srgbClr val="000000"/>
                </a:solidFill>
              </a:rPr>
              <a:t>11.5%</a:t>
            </a:r>
          </a:p>
        </p:txBody>
      </p:sp>
      <p:cxnSp>
        <p:nvCxnSpPr>
          <p:cNvPr id="12" name="Straight Connector 11">
            <a:extLst>
              <a:ext uri="{FF2B5EF4-FFF2-40B4-BE49-F238E27FC236}">
                <a16:creationId xmlns:a16="http://schemas.microsoft.com/office/drawing/2014/main" id="{04DAB528-F698-53BD-3CFB-B62C3CE9BB82}"/>
              </a:ext>
            </a:extLst>
          </p:cNvPr>
          <p:cNvCxnSpPr>
            <a:cxnSpLocks/>
          </p:cNvCxnSpPr>
          <p:nvPr/>
        </p:nvCxnSpPr>
        <p:spPr>
          <a:xfrm flipV="1">
            <a:off x="1529080" y="1682496"/>
            <a:ext cx="0" cy="271752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676DD6F-58D9-DF50-33E7-7DF7536F30BE}"/>
              </a:ext>
            </a:extLst>
          </p:cNvPr>
          <p:cNvCxnSpPr>
            <a:cxnSpLocks/>
          </p:cNvCxnSpPr>
          <p:nvPr/>
        </p:nvCxnSpPr>
        <p:spPr>
          <a:xfrm flipV="1">
            <a:off x="4400296" y="1682496"/>
            <a:ext cx="0" cy="271752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62A56A9-E79F-E1E9-C726-0C7333D71C4A}"/>
              </a:ext>
            </a:extLst>
          </p:cNvPr>
          <p:cNvCxnSpPr>
            <a:cxnSpLocks/>
          </p:cNvCxnSpPr>
          <p:nvPr/>
        </p:nvCxnSpPr>
        <p:spPr>
          <a:xfrm flipV="1">
            <a:off x="5826760" y="1682496"/>
            <a:ext cx="0" cy="271752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3D9AEEC-7651-4F5B-C848-733BF8A80DAD}"/>
              </a:ext>
            </a:extLst>
          </p:cNvPr>
          <p:cNvCxnSpPr>
            <a:cxnSpLocks/>
          </p:cNvCxnSpPr>
          <p:nvPr/>
        </p:nvCxnSpPr>
        <p:spPr>
          <a:xfrm flipV="1">
            <a:off x="8673727" y="1682496"/>
            <a:ext cx="0" cy="271752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9DF7EE3-5C8F-D2C9-FA7C-D8B3B3A66179}"/>
              </a:ext>
            </a:extLst>
          </p:cNvPr>
          <p:cNvCxnSpPr>
            <a:cxnSpLocks/>
          </p:cNvCxnSpPr>
          <p:nvPr/>
        </p:nvCxnSpPr>
        <p:spPr>
          <a:xfrm flipV="1">
            <a:off x="9633847" y="1682496"/>
            <a:ext cx="0" cy="271752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6272E02-90D5-4E60-D966-2460B9A608E6}"/>
              </a:ext>
            </a:extLst>
          </p:cNvPr>
          <p:cNvCxnSpPr>
            <a:cxnSpLocks/>
          </p:cNvCxnSpPr>
          <p:nvPr/>
        </p:nvCxnSpPr>
        <p:spPr>
          <a:xfrm flipV="1">
            <a:off x="10584823" y="1682496"/>
            <a:ext cx="0" cy="271752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C749822-E163-8347-F3CC-BC6BC8D411A2}"/>
              </a:ext>
            </a:extLst>
          </p:cNvPr>
          <p:cNvSpPr txBox="1"/>
          <p:nvPr/>
        </p:nvSpPr>
        <p:spPr>
          <a:xfrm>
            <a:off x="1041446" y="1567064"/>
            <a:ext cx="487634" cy="307777"/>
          </a:xfrm>
          <a:prstGeom prst="rect">
            <a:avLst/>
          </a:prstGeom>
          <a:noFill/>
        </p:spPr>
        <p:txBody>
          <a:bodyPr wrap="none" rtlCol="0">
            <a:spAutoFit/>
          </a:bodyPr>
          <a:lstStyle/>
          <a:p>
            <a:r>
              <a:rPr lang="en-US" sz="1400" b="1" i="1" dirty="0" err="1">
                <a:solidFill>
                  <a:srgbClr val="000000"/>
                </a:solidFill>
              </a:rPr>
              <a:t>Aaa</a:t>
            </a:r>
            <a:endParaRPr lang="en-US" sz="1400" b="1" i="1" dirty="0">
              <a:solidFill>
                <a:srgbClr val="000000"/>
              </a:solidFill>
            </a:endParaRPr>
          </a:p>
        </p:txBody>
      </p:sp>
      <p:sp>
        <p:nvSpPr>
          <p:cNvPr id="27" name="TextBox 26">
            <a:extLst>
              <a:ext uri="{FF2B5EF4-FFF2-40B4-BE49-F238E27FC236}">
                <a16:creationId xmlns:a16="http://schemas.microsoft.com/office/drawing/2014/main" id="{CE0C9F17-FABE-0D85-F7A1-0523BB082CBD}"/>
              </a:ext>
            </a:extLst>
          </p:cNvPr>
          <p:cNvSpPr txBox="1"/>
          <p:nvPr/>
        </p:nvSpPr>
        <p:spPr>
          <a:xfrm>
            <a:off x="2727034" y="1567064"/>
            <a:ext cx="498855" cy="307777"/>
          </a:xfrm>
          <a:prstGeom prst="rect">
            <a:avLst/>
          </a:prstGeom>
          <a:noFill/>
        </p:spPr>
        <p:txBody>
          <a:bodyPr wrap="none" rtlCol="0">
            <a:spAutoFit/>
          </a:bodyPr>
          <a:lstStyle/>
          <a:p>
            <a:r>
              <a:rPr lang="en-US" sz="1400" b="1" i="1" dirty="0">
                <a:solidFill>
                  <a:srgbClr val="000000"/>
                </a:solidFill>
              </a:rPr>
              <a:t>Aa1</a:t>
            </a:r>
          </a:p>
        </p:txBody>
      </p:sp>
      <p:sp>
        <p:nvSpPr>
          <p:cNvPr id="28" name="TextBox 27">
            <a:extLst>
              <a:ext uri="{FF2B5EF4-FFF2-40B4-BE49-F238E27FC236}">
                <a16:creationId xmlns:a16="http://schemas.microsoft.com/office/drawing/2014/main" id="{03CD8BB1-645A-3842-C5BA-D01BE4279C90}"/>
              </a:ext>
            </a:extLst>
          </p:cNvPr>
          <p:cNvSpPr txBox="1"/>
          <p:nvPr/>
        </p:nvSpPr>
        <p:spPr>
          <a:xfrm>
            <a:off x="4891532" y="1567064"/>
            <a:ext cx="498855" cy="307777"/>
          </a:xfrm>
          <a:prstGeom prst="rect">
            <a:avLst/>
          </a:prstGeom>
          <a:noFill/>
        </p:spPr>
        <p:txBody>
          <a:bodyPr wrap="none" rtlCol="0">
            <a:spAutoFit/>
          </a:bodyPr>
          <a:lstStyle/>
          <a:p>
            <a:r>
              <a:rPr lang="en-US" sz="1400" b="1" i="1" dirty="0">
                <a:solidFill>
                  <a:srgbClr val="000000"/>
                </a:solidFill>
              </a:rPr>
              <a:t>Aa2</a:t>
            </a:r>
          </a:p>
        </p:txBody>
      </p:sp>
      <p:sp>
        <p:nvSpPr>
          <p:cNvPr id="29" name="TextBox 28">
            <a:extLst>
              <a:ext uri="{FF2B5EF4-FFF2-40B4-BE49-F238E27FC236}">
                <a16:creationId xmlns:a16="http://schemas.microsoft.com/office/drawing/2014/main" id="{0F31C291-DBA3-9997-AA98-B1D81AAF82CE}"/>
              </a:ext>
            </a:extLst>
          </p:cNvPr>
          <p:cNvSpPr txBox="1"/>
          <p:nvPr/>
        </p:nvSpPr>
        <p:spPr>
          <a:xfrm>
            <a:off x="7039773" y="1567064"/>
            <a:ext cx="498855" cy="307777"/>
          </a:xfrm>
          <a:prstGeom prst="rect">
            <a:avLst/>
          </a:prstGeom>
          <a:noFill/>
        </p:spPr>
        <p:txBody>
          <a:bodyPr wrap="none" rtlCol="0">
            <a:spAutoFit/>
          </a:bodyPr>
          <a:lstStyle/>
          <a:p>
            <a:r>
              <a:rPr lang="en-US" sz="1400" b="1" i="1" dirty="0">
                <a:solidFill>
                  <a:srgbClr val="000000"/>
                </a:solidFill>
              </a:rPr>
              <a:t>Aa3</a:t>
            </a:r>
          </a:p>
        </p:txBody>
      </p:sp>
      <p:sp>
        <p:nvSpPr>
          <p:cNvPr id="30" name="TextBox 29">
            <a:extLst>
              <a:ext uri="{FF2B5EF4-FFF2-40B4-BE49-F238E27FC236}">
                <a16:creationId xmlns:a16="http://schemas.microsoft.com/office/drawing/2014/main" id="{47C4FC26-7DC5-0161-C111-70D6673FF1E6}"/>
              </a:ext>
            </a:extLst>
          </p:cNvPr>
          <p:cNvSpPr txBox="1"/>
          <p:nvPr/>
        </p:nvSpPr>
        <p:spPr>
          <a:xfrm>
            <a:off x="8929579" y="1567064"/>
            <a:ext cx="405880" cy="307777"/>
          </a:xfrm>
          <a:prstGeom prst="rect">
            <a:avLst/>
          </a:prstGeom>
          <a:noFill/>
        </p:spPr>
        <p:txBody>
          <a:bodyPr wrap="none" rtlCol="0">
            <a:spAutoFit/>
          </a:bodyPr>
          <a:lstStyle/>
          <a:p>
            <a:r>
              <a:rPr lang="en-US" sz="1400" b="1" i="1" dirty="0">
                <a:solidFill>
                  <a:srgbClr val="000000"/>
                </a:solidFill>
              </a:rPr>
              <a:t>A1</a:t>
            </a:r>
          </a:p>
        </p:txBody>
      </p:sp>
      <p:sp>
        <p:nvSpPr>
          <p:cNvPr id="31" name="TextBox 30">
            <a:extLst>
              <a:ext uri="{FF2B5EF4-FFF2-40B4-BE49-F238E27FC236}">
                <a16:creationId xmlns:a16="http://schemas.microsoft.com/office/drawing/2014/main" id="{CD92FD62-EBD1-F19C-0B58-B130F3C0A3CD}"/>
              </a:ext>
            </a:extLst>
          </p:cNvPr>
          <p:cNvSpPr txBox="1"/>
          <p:nvPr/>
        </p:nvSpPr>
        <p:spPr>
          <a:xfrm>
            <a:off x="9922513" y="1567064"/>
            <a:ext cx="405880" cy="307777"/>
          </a:xfrm>
          <a:prstGeom prst="rect">
            <a:avLst/>
          </a:prstGeom>
          <a:noFill/>
        </p:spPr>
        <p:txBody>
          <a:bodyPr wrap="none" rtlCol="0">
            <a:spAutoFit/>
          </a:bodyPr>
          <a:lstStyle/>
          <a:p>
            <a:r>
              <a:rPr lang="en-US" sz="1400" b="1" i="1" dirty="0">
                <a:solidFill>
                  <a:srgbClr val="000000"/>
                </a:solidFill>
              </a:rPr>
              <a:t>A2</a:t>
            </a:r>
          </a:p>
        </p:txBody>
      </p:sp>
      <p:sp>
        <p:nvSpPr>
          <p:cNvPr id="32" name="TextBox 31">
            <a:extLst>
              <a:ext uri="{FF2B5EF4-FFF2-40B4-BE49-F238E27FC236}">
                <a16:creationId xmlns:a16="http://schemas.microsoft.com/office/drawing/2014/main" id="{B21C8DCD-A94A-82E6-B1BA-D01841C95B89}"/>
              </a:ext>
            </a:extLst>
          </p:cNvPr>
          <p:cNvSpPr txBox="1"/>
          <p:nvPr/>
        </p:nvSpPr>
        <p:spPr>
          <a:xfrm>
            <a:off x="10946031" y="1567064"/>
            <a:ext cx="405880" cy="307777"/>
          </a:xfrm>
          <a:prstGeom prst="rect">
            <a:avLst/>
          </a:prstGeom>
          <a:noFill/>
        </p:spPr>
        <p:txBody>
          <a:bodyPr wrap="none" rtlCol="0">
            <a:spAutoFit/>
          </a:bodyPr>
          <a:lstStyle/>
          <a:p>
            <a:r>
              <a:rPr lang="en-US" sz="1400" b="1" i="1" dirty="0">
                <a:solidFill>
                  <a:srgbClr val="000000"/>
                </a:solidFill>
              </a:rPr>
              <a:t>Baa1</a:t>
            </a:r>
          </a:p>
        </p:txBody>
      </p:sp>
      <p:sp>
        <p:nvSpPr>
          <p:cNvPr id="33" name="TextBox 32"/>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institutions’ audited FY2025 financial statements; Moody’s; methodology in speaker notes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imary-logo-red-black.png"/>
          <p:cNvPicPr>
            <a:picLocks noChangeAspect="1"/>
          </p:cNvPicPr>
          <p:nvPr/>
        </p:nvPicPr>
        <p:blipFill>
          <a:blip r:embed="rId2"/>
          <a:stretch>
            <a:fillRect/>
          </a:stretch>
        </p:blipFill>
        <p:spPr>
          <a:xfrm>
            <a:off x="822960" y="731520"/>
            <a:ext cx="2220129" cy="822960"/>
          </a:xfrm>
          <a:prstGeom prst="rect">
            <a:avLst/>
          </a:prstGeom>
        </p:spPr>
      </p:pic>
      <p:sp>
        <p:nvSpPr>
          <p:cNvPr id="3" name="TextBox 2"/>
          <p:cNvSpPr txBox="1"/>
          <p:nvPr/>
        </p:nvSpPr>
        <p:spPr>
          <a:xfrm>
            <a:off x="822960" y="2468880"/>
            <a:ext cx="10515600" cy="914400"/>
          </a:xfrm>
          <a:prstGeom prst="rect">
            <a:avLst/>
          </a:prstGeom>
          <a:noFill/>
        </p:spPr>
        <p:txBody>
          <a:bodyPr wrap="square" lIns="0" rIns="0" tIns="0" bIns="0" anchor="t">
            <a:spAutoFit/>
          </a:bodyPr>
          <a:lstStyle/>
          <a:p>
            <a:pPr algn="l"/>
            <a:r>
              <a:rPr sz="5400" b="1" i="0">
                <a:solidFill>
                  <a:srgbClr val="000000"/>
                </a:solidFill>
                <a:latin typeface="Lato"/>
              </a:rPr>
              <a:t>Financial Overview</a:t>
            </a:r>
          </a:p>
        </p:txBody>
      </p:sp>
      <p:sp>
        <p:nvSpPr>
          <p:cNvPr id="4" name="TextBox 3"/>
          <p:cNvSpPr txBox="1"/>
          <p:nvPr/>
        </p:nvSpPr>
        <p:spPr>
          <a:xfrm>
            <a:off x="822960" y="3429000"/>
            <a:ext cx="10515600" cy="548640"/>
          </a:xfrm>
          <a:prstGeom prst="rect">
            <a:avLst/>
          </a:prstGeom>
          <a:noFill/>
        </p:spPr>
        <p:txBody>
          <a:bodyPr wrap="square" lIns="0" rIns="0" tIns="0" bIns="0" anchor="t">
            <a:spAutoFit/>
          </a:bodyPr>
          <a:lstStyle/>
          <a:p>
            <a:pPr algn="l"/>
            <a:r>
              <a:rPr sz="2400" b="0" i="0">
                <a:solidFill>
                  <a:srgbClr val="C8102E"/>
                </a:solidFill>
                <a:latin typeface="Lato"/>
              </a:rPr>
              <a:t>The environment, where we stand, and the challenges ahead</a:t>
            </a:r>
          </a:p>
        </p:txBody>
      </p:sp>
      <p:sp>
        <p:nvSpPr>
          <p:cNvPr id="5" name="TextBox 4"/>
          <p:cNvSpPr txBox="1"/>
          <p:nvPr/>
        </p:nvSpPr>
        <p:spPr>
          <a:xfrm>
            <a:off x="822960" y="5120640"/>
            <a:ext cx="10515600" cy="365760"/>
          </a:xfrm>
          <a:prstGeom prst="rect">
            <a:avLst/>
          </a:prstGeom>
          <a:noFill/>
        </p:spPr>
        <p:txBody>
          <a:bodyPr wrap="square" lIns="0" rIns="0" tIns="0" bIns="0" anchor="t">
            <a:spAutoFit/>
          </a:bodyPr>
          <a:lstStyle/>
          <a:p>
            <a:pPr algn="l"/>
            <a:r>
              <a:rPr sz="1600" b="0" i="0">
                <a:solidFill>
                  <a:srgbClr val="000000"/>
                </a:solidFill>
                <a:latin typeface="Lato"/>
              </a:rPr>
              <a:t>Briefing for the Office of the General Counsel</a:t>
            </a:r>
          </a:p>
        </p:txBody>
      </p:sp>
      <p:sp>
        <p:nvSpPr>
          <p:cNvPr id="6" name="TextBox 5"/>
          <p:cNvSpPr txBox="1"/>
          <p:nvPr/>
        </p:nvSpPr>
        <p:spPr>
          <a:xfrm>
            <a:off x="822960" y="5486400"/>
            <a:ext cx="10515600" cy="365760"/>
          </a:xfrm>
          <a:prstGeom prst="rect">
            <a:avLst/>
          </a:prstGeom>
          <a:noFill/>
        </p:spPr>
        <p:txBody>
          <a:bodyPr wrap="square" lIns="0" rIns="0" tIns="0" bIns="0" anchor="t">
            <a:spAutoFit/>
          </a:bodyPr>
          <a:lstStyle/>
          <a:p>
            <a:pPr algn="l"/>
            <a:r>
              <a:rPr sz="1600" b="0" i="0">
                <a:solidFill>
                  <a:srgbClr val="595959"/>
                </a:solidFill>
                <a:latin typeface="Lato"/>
              </a:rPr>
              <a:t>September 30,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Executive summary: pressure is rising, Northeastern is performing, and margin is the constraint</a:t>
            </a:r>
          </a:p>
        </p:txBody>
      </p:sp>
      <p:sp>
        <p:nvSpPr>
          <p:cNvPr id="3" name="TextBox 2"/>
          <p:cNvSpPr txBox="1"/>
          <p:nvPr/>
        </p:nvSpPr>
        <p:spPr>
          <a:xfrm>
            <a:off x="457200" y="1600200"/>
            <a:ext cx="2651760" cy="274320"/>
          </a:xfrm>
          <a:prstGeom prst="rect">
            <a:avLst/>
          </a:prstGeom>
          <a:noFill/>
        </p:spPr>
        <p:txBody>
          <a:bodyPr wrap="square" lIns="0" rIns="0" tIns="0" bIns="0" anchor="t">
            <a:spAutoFit/>
          </a:bodyPr>
          <a:lstStyle/>
          <a:p>
            <a:pPr algn="l"/>
            <a:r>
              <a:rPr sz="1000" b="1" i="0">
                <a:solidFill>
                  <a:srgbClr val="595959"/>
                </a:solidFill>
                <a:latin typeface="Lato"/>
              </a:rPr>
              <a:t>THE ENVIRONMENT</a:t>
            </a:r>
          </a:p>
        </p:txBody>
      </p:sp>
      <p:cxnSp>
        <p:nvCxnSpPr>
          <p:cNvPr id="4" name="Connector 3"/>
          <p:cNvCxnSpPr/>
          <p:nvPr/>
        </p:nvCxnSpPr>
        <p:spPr>
          <a:xfrm>
            <a:off x="457200" y="1874519"/>
            <a:ext cx="265176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2011680"/>
            <a:ext cx="2651760" cy="1005840"/>
          </a:xfrm>
          <a:prstGeom prst="rect">
            <a:avLst/>
          </a:prstGeom>
          <a:noFill/>
        </p:spPr>
        <p:txBody>
          <a:bodyPr wrap="square" lIns="0" rIns="0" tIns="0" bIns="0" anchor="t">
            <a:spAutoFit/>
          </a:bodyPr>
          <a:lstStyle/>
          <a:p>
            <a:pPr algn="l"/>
            <a:r>
              <a:rPr sz="5400" b="1" i="0">
                <a:solidFill>
                  <a:srgbClr val="C8102E"/>
                </a:solidFill>
                <a:latin typeface="Lato"/>
              </a:rPr>
              <a:t>20%</a:t>
            </a:r>
          </a:p>
        </p:txBody>
      </p:sp>
      <p:sp>
        <p:nvSpPr>
          <p:cNvPr id="6" name="TextBox 5"/>
          <p:cNvSpPr txBox="1"/>
          <p:nvPr/>
        </p:nvSpPr>
        <p:spPr>
          <a:xfrm>
            <a:off x="457200" y="3108960"/>
            <a:ext cx="2651760" cy="548640"/>
          </a:xfrm>
          <a:prstGeom prst="rect">
            <a:avLst/>
          </a:prstGeom>
          <a:noFill/>
        </p:spPr>
        <p:txBody>
          <a:bodyPr wrap="square" lIns="0" rIns="0" tIns="0" bIns="0" anchor="t">
            <a:spAutoFit/>
          </a:bodyPr>
          <a:lstStyle/>
          <a:p>
            <a:pPr algn="l"/>
            <a:r>
              <a:rPr sz="1500" b="1" i="0">
                <a:solidFill>
                  <a:srgbClr val="000000"/>
                </a:solidFill>
                <a:latin typeface="Lato"/>
              </a:rPr>
              <a:t>Fewer new foreign undergraduates</a:t>
            </a:r>
          </a:p>
        </p:txBody>
      </p:sp>
      <p:sp>
        <p:nvSpPr>
          <p:cNvPr id="7" name="TextBox 6"/>
          <p:cNvSpPr txBox="1"/>
          <p:nvPr/>
        </p:nvSpPr>
        <p:spPr>
          <a:xfrm>
            <a:off x="457200" y="3703320"/>
            <a:ext cx="2651760" cy="1280160"/>
          </a:xfrm>
          <a:prstGeom prst="rect">
            <a:avLst/>
          </a:prstGeom>
          <a:noFill/>
        </p:spPr>
        <p:txBody>
          <a:bodyPr wrap="square" lIns="0" rIns="0" tIns="0" bIns="0" anchor="t">
            <a:spAutoFit/>
          </a:bodyPr>
          <a:lstStyle/>
          <a:p>
            <a:pPr algn="l"/>
            <a:r>
              <a:rPr sz="1200" b="0" i="0">
                <a:solidFill>
                  <a:srgbClr val="000000"/>
                </a:solidFill>
                <a:latin typeface="Lato"/>
              </a:rPr>
              <a:t>New foreign undergraduate enrollment at U.S. colleges fell about 20% in spring 2026; graduate fell about 24%.</a:t>
            </a:r>
          </a:p>
        </p:txBody>
      </p:sp>
      <p:sp>
        <p:nvSpPr>
          <p:cNvPr id="8" name="TextBox 7"/>
          <p:cNvSpPr txBox="1"/>
          <p:nvPr/>
        </p:nvSpPr>
        <p:spPr>
          <a:xfrm>
            <a:off x="3331159" y="1600200"/>
            <a:ext cx="2651760" cy="274320"/>
          </a:xfrm>
          <a:prstGeom prst="rect">
            <a:avLst/>
          </a:prstGeom>
          <a:noFill/>
        </p:spPr>
        <p:txBody>
          <a:bodyPr wrap="square" lIns="0" rIns="0" tIns="0" bIns="0" anchor="t">
            <a:spAutoFit/>
          </a:bodyPr>
          <a:lstStyle/>
          <a:p>
            <a:pPr algn="l"/>
            <a:r>
              <a:rPr sz="1000" b="1" i="0">
                <a:solidFill>
                  <a:srgbClr val="595959"/>
                </a:solidFill>
                <a:latin typeface="Lato"/>
              </a:rPr>
              <a:t>WHERE WE STAND</a:t>
            </a:r>
          </a:p>
        </p:txBody>
      </p:sp>
      <p:cxnSp>
        <p:nvCxnSpPr>
          <p:cNvPr id="9" name="Connector 8"/>
          <p:cNvCxnSpPr/>
          <p:nvPr/>
        </p:nvCxnSpPr>
        <p:spPr>
          <a:xfrm>
            <a:off x="3331159" y="1874519"/>
            <a:ext cx="265176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31159" y="2011680"/>
            <a:ext cx="2651760" cy="1005840"/>
          </a:xfrm>
          <a:prstGeom prst="rect">
            <a:avLst/>
          </a:prstGeom>
          <a:noFill/>
        </p:spPr>
        <p:txBody>
          <a:bodyPr wrap="square" lIns="0" rIns="0" tIns="0" bIns="0" anchor="t">
            <a:spAutoFit/>
          </a:bodyPr>
          <a:lstStyle/>
          <a:p>
            <a:pPr algn="l"/>
            <a:r>
              <a:rPr sz="5400" b="1" i="0">
                <a:solidFill>
                  <a:srgbClr val="C8102E"/>
                </a:solidFill>
                <a:latin typeface="Lato"/>
              </a:rPr>
              <a:t>#33</a:t>
            </a:r>
          </a:p>
        </p:txBody>
      </p:sp>
      <p:sp>
        <p:nvSpPr>
          <p:cNvPr id="11" name="TextBox 10"/>
          <p:cNvSpPr txBox="1"/>
          <p:nvPr/>
        </p:nvSpPr>
        <p:spPr>
          <a:xfrm>
            <a:off x="3331159" y="3108960"/>
            <a:ext cx="2651760" cy="548640"/>
          </a:xfrm>
          <a:prstGeom prst="rect">
            <a:avLst/>
          </a:prstGeom>
          <a:noFill/>
        </p:spPr>
        <p:txBody>
          <a:bodyPr wrap="square" lIns="0" rIns="0" tIns="0" bIns="0" anchor="t">
            <a:spAutoFit/>
          </a:bodyPr>
          <a:lstStyle/>
          <a:p>
            <a:pPr algn="l"/>
            <a:r>
              <a:rPr sz="1500" b="1" i="0">
                <a:solidFill>
                  <a:srgbClr val="000000"/>
                </a:solidFill>
                <a:latin typeface="Lato"/>
              </a:rPr>
              <a:t>Private-university R&amp;D rank</a:t>
            </a:r>
          </a:p>
        </p:txBody>
      </p:sp>
      <p:sp>
        <p:nvSpPr>
          <p:cNvPr id="12" name="TextBox 11"/>
          <p:cNvSpPr txBox="1"/>
          <p:nvPr/>
        </p:nvSpPr>
        <p:spPr>
          <a:xfrm>
            <a:off x="3331159" y="3703320"/>
            <a:ext cx="2651760" cy="1280160"/>
          </a:xfrm>
          <a:prstGeom prst="rect">
            <a:avLst/>
          </a:prstGeom>
          <a:noFill/>
        </p:spPr>
        <p:txBody>
          <a:bodyPr wrap="square" lIns="0" rIns="0" tIns="0" bIns="0" anchor="t">
            <a:spAutoFit/>
          </a:bodyPr>
          <a:lstStyle/>
          <a:p>
            <a:pPr algn="l"/>
            <a:r>
              <a:rPr sz="1200" b="0" i="0">
                <a:solidFill>
                  <a:srgbClr val="000000"/>
                </a:solidFill>
                <a:latin typeface="Lato"/>
              </a:rPr>
              <a:t>Northeastern ranks #33 among private institutions by FY24 R&amp;D ($347M), up from #42 in FY14, growing 13.5% a year.</a:t>
            </a:r>
          </a:p>
        </p:txBody>
      </p:sp>
      <p:sp>
        <p:nvSpPr>
          <p:cNvPr id="13" name="TextBox 12"/>
          <p:cNvSpPr txBox="1"/>
          <p:nvPr/>
        </p:nvSpPr>
        <p:spPr>
          <a:xfrm>
            <a:off x="6205118" y="1600200"/>
            <a:ext cx="2651760" cy="274320"/>
          </a:xfrm>
          <a:prstGeom prst="rect">
            <a:avLst/>
          </a:prstGeom>
          <a:noFill/>
        </p:spPr>
        <p:txBody>
          <a:bodyPr wrap="square" lIns="0" rIns="0" tIns="0" bIns="0" anchor="t">
            <a:spAutoFit/>
          </a:bodyPr>
          <a:lstStyle/>
          <a:p>
            <a:pPr algn="l"/>
            <a:r>
              <a:rPr sz="1000" b="1" i="0">
                <a:solidFill>
                  <a:srgbClr val="595959"/>
                </a:solidFill>
                <a:latin typeface="Lato"/>
              </a:rPr>
              <a:t>WHERE WE STAND</a:t>
            </a:r>
          </a:p>
        </p:txBody>
      </p:sp>
      <p:cxnSp>
        <p:nvCxnSpPr>
          <p:cNvPr id="14" name="Connector 13"/>
          <p:cNvCxnSpPr/>
          <p:nvPr/>
        </p:nvCxnSpPr>
        <p:spPr>
          <a:xfrm>
            <a:off x="6205118" y="1874519"/>
            <a:ext cx="265176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05118" y="2011680"/>
            <a:ext cx="2651760" cy="1005840"/>
          </a:xfrm>
          <a:prstGeom prst="rect">
            <a:avLst/>
          </a:prstGeom>
          <a:noFill/>
        </p:spPr>
        <p:txBody>
          <a:bodyPr wrap="square" lIns="0" rIns="0" tIns="0" bIns="0" anchor="t">
            <a:spAutoFit/>
          </a:bodyPr>
          <a:lstStyle/>
          <a:p>
            <a:pPr algn="l"/>
            <a:r>
              <a:rPr sz="5400" b="1" i="0">
                <a:solidFill>
                  <a:srgbClr val="C8102E"/>
                </a:solidFill>
                <a:latin typeface="Lato"/>
              </a:rPr>
              <a:t>4.0%</a:t>
            </a:r>
          </a:p>
        </p:txBody>
      </p:sp>
      <p:sp>
        <p:nvSpPr>
          <p:cNvPr id="16" name="TextBox 15"/>
          <p:cNvSpPr txBox="1"/>
          <p:nvPr/>
        </p:nvSpPr>
        <p:spPr>
          <a:xfrm>
            <a:off x="6205118" y="3108960"/>
            <a:ext cx="2651760" cy="548640"/>
          </a:xfrm>
          <a:prstGeom prst="rect">
            <a:avLst/>
          </a:prstGeom>
          <a:noFill/>
        </p:spPr>
        <p:txBody>
          <a:bodyPr wrap="square" lIns="0" rIns="0" tIns="0" bIns="0" anchor="t">
            <a:spAutoFit/>
          </a:bodyPr>
          <a:lstStyle/>
          <a:p>
            <a:pPr algn="l"/>
            <a:r>
              <a:rPr sz="1500" b="1" i="0">
                <a:solidFill>
                  <a:srgbClr val="000000"/>
                </a:solidFill>
                <a:latin typeface="Lato"/>
              </a:rPr>
              <a:t>FY26 operating margin</a:t>
            </a:r>
          </a:p>
        </p:txBody>
      </p:sp>
      <p:sp>
        <p:nvSpPr>
          <p:cNvPr id="17" name="TextBox 16"/>
          <p:cNvSpPr txBox="1"/>
          <p:nvPr/>
        </p:nvSpPr>
        <p:spPr>
          <a:xfrm>
            <a:off x="6205118" y="3703320"/>
            <a:ext cx="2651760" cy="1280160"/>
          </a:xfrm>
          <a:prstGeom prst="rect">
            <a:avLst/>
          </a:prstGeom>
          <a:noFill/>
        </p:spPr>
        <p:txBody>
          <a:bodyPr wrap="square" lIns="0" rIns="0" tIns="0" bIns="0" anchor="t">
            <a:spAutoFit/>
          </a:bodyPr>
          <a:lstStyle/>
          <a:p>
            <a:pPr algn="l"/>
            <a:r>
              <a:rPr sz="1200" b="0" i="0">
                <a:solidFill>
                  <a:srgbClr val="000000"/>
                </a:solidFill>
                <a:latin typeface="Lato"/>
              </a:rPr>
              <a:t>Recovered from 1.1% in FY25, but still 320 basis points below FY18.</a:t>
            </a:r>
          </a:p>
        </p:txBody>
      </p:sp>
      <p:sp>
        <p:nvSpPr>
          <p:cNvPr id="18" name="TextBox 17"/>
          <p:cNvSpPr txBox="1"/>
          <p:nvPr/>
        </p:nvSpPr>
        <p:spPr>
          <a:xfrm>
            <a:off x="9079077" y="1600200"/>
            <a:ext cx="2651760" cy="274320"/>
          </a:xfrm>
          <a:prstGeom prst="rect">
            <a:avLst/>
          </a:prstGeom>
          <a:noFill/>
        </p:spPr>
        <p:txBody>
          <a:bodyPr wrap="square" lIns="0" rIns="0" tIns="0" bIns="0" anchor="t">
            <a:spAutoFit/>
          </a:bodyPr>
          <a:lstStyle/>
          <a:p>
            <a:pPr algn="l"/>
            <a:r>
              <a:rPr sz="1000" b="1" i="0">
                <a:solidFill>
                  <a:srgbClr val="595959"/>
                </a:solidFill>
                <a:latin typeface="Lato"/>
              </a:rPr>
              <a:t>CHALLENGES AHEAD</a:t>
            </a:r>
          </a:p>
        </p:txBody>
      </p:sp>
      <p:cxnSp>
        <p:nvCxnSpPr>
          <p:cNvPr id="19" name="Connector 18"/>
          <p:cNvCxnSpPr/>
          <p:nvPr/>
        </p:nvCxnSpPr>
        <p:spPr>
          <a:xfrm>
            <a:off x="9079077" y="1874519"/>
            <a:ext cx="265176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79077" y="2011680"/>
            <a:ext cx="2651760" cy="1005840"/>
          </a:xfrm>
          <a:prstGeom prst="rect">
            <a:avLst/>
          </a:prstGeom>
          <a:noFill/>
        </p:spPr>
        <p:txBody>
          <a:bodyPr wrap="square" lIns="0" rIns="0" tIns="0" bIns="0" anchor="t">
            <a:spAutoFit/>
          </a:bodyPr>
          <a:lstStyle/>
          <a:p>
            <a:pPr algn="l"/>
            <a:r>
              <a:rPr sz="5400" b="1" i="0">
                <a:solidFill>
                  <a:srgbClr val="C8102E"/>
                </a:solidFill>
                <a:latin typeface="Lato"/>
              </a:rPr>
              <a:t>−7.2%</a:t>
            </a:r>
          </a:p>
        </p:txBody>
      </p:sp>
      <p:sp>
        <p:nvSpPr>
          <p:cNvPr id="21" name="TextBox 20"/>
          <p:cNvSpPr txBox="1"/>
          <p:nvPr/>
        </p:nvSpPr>
        <p:spPr>
          <a:xfrm>
            <a:off x="9079077" y="3108960"/>
            <a:ext cx="2651760" cy="548640"/>
          </a:xfrm>
          <a:prstGeom prst="rect">
            <a:avLst/>
          </a:prstGeom>
          <a:noFill/>
        </p:spPr>
        <p:txBody>
          <a:bodyPr wrap="square" lIns="0" rIns="0" tIns="0" bIns="0" anchor="t">
            <a:spAutoFit/>
          </a:bodyPr>
          <a:lstStyle/>
          <a:p>
            <a:pPr algn="l"/>
            <a:r>
              <a:rPr sz="1500" b="1" i="0">
                <a:solidFill>
                  <a:srgbClr val="000000"/>
                </a:solidFill>
                <a:latin typeface="Lato"/>
              </a:rPr>
              <a:t>Degree-seeking enrollment</a:t>
            </a:r>
          </a:p>
        </p:txBody>
      </p:sp>
      <p:sp>
        <p:nvSpPr>
          <p:cNvPr id="22" name="TextBox 21"/>
          <p:cNvSpPr txBox="1"/>
          <p:nvPr/>
        </p:nvSpPr>
        <p:spPr>
          <a:xfrm>
            <a:off x="9079077" y="3703320"/>
            <a:ext cx="2651760" cy="1280160"/>
          </a:xfrm>
          <a:prstGeom prst="rect">
            <a:avLst/>
          </a:prstGeom>
          <a:noFill/>
        </p:spPr>
        <p:txBody>
          <a:bodyPr wrap="square" lIns="0" rIns="0" tIns="0" bIns="0" anchor="t">
            <a:spAutoFit/>
          </a:bodyPr>
          <a:lstStyle/>
          <a:p>
            <a:pPr algn="l"/>
            <a:r>
              <a:rPr sz="1200" b="0" i="0">
                <a:solidFill>
                  <a:srgbClr val="000000"/>
                </a:solidFill>
                <a:latin typeface="Lato"/>
              </a:rPr>
              <a:t>FY25 to FY27 in the low scenario; professional graduate falls 22.8% while net tuition holds at +0.4%.</a:t>
            </a:r>
          </a:p>
        </p:txBody>
      </p:sp>
      <p:sp>
        <p:nvSpPr>
          <p:cNvPr id="23" name="Rectangle 22"/>
          <p:cNvSpPr/>
          <p:nvPr/>
        </p:nvSpPr>
        <p:spPr>
          <a:xfrm>
            <a:off x="457200" y="5074920"/>
            <a:ext cx="11274552" cy="91440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193792"/>
            <a:ext cx="10881360" cy="685800"/>
          </a:xfrm>
          <a:prstGeom prst="rect">
            <a:avLst/>
          </a:prstGeom>
          <a:noFill/>
        </p:spPr>
        <p:txBody>
          <a:bodyPr wrap="square" lIns="0" rIns="0" tIns="0" bIns="0" anchor="ctr">
            <a:spAutoFit/>
          </a:bodyPr>
          <a:lstStyle/>
          <a:p>
            <a:pPr algn="l"/>
            <a:r>
              <a:rPr sz="1300" b="1" i="0">
                <a:solidFill>
                  <a:srgbClr val="C8102E"/>
                </a:solidFill>
                <a:latin typeface="Lato"/>
              </a:rPr>
              <a:t>Where the General Counsel’s office is likely to be engaged</a:t>
            </a:r>
          </a:p>
          <a:p>
            <a:pPr algn="l"/>
            <a:r>
              <a:rPr sz="1300" b="0" i="0">
                <a:solidFill>
                  <a:srgbClr val="000000"/>
                </a:solidFill>
                <a:latin typeface="Lato"/>
              </a:rPr>
              <a:t>Immigration and visa compliance, sponsored-research and grant compliance, workforce actions, and debt covenants and donor terms.</a:t>
            </a:r>
          </a:p>
        </p:txBody>
      </p:sp>
      <p:sp>
        <p:nvSpPr>
          <p:cNvPr id="25" name="TextBox 24"/>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Boston Globe (May 12, 2026); NSF HERD Survey FY24; Northeastern Financial Affairs (FY26 unaudited)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The storyline: three parts</a:t>
            </a:r>
          </a:p>
        </p:txBody>
      </p:sp>
      <p:cxnSp>
        <p:nvCxnSpPr>
          <p:cNvPr id="3" name="Connector 2"/>
          <p:cNvCxnSpPr/>
          <p:nvPr/>
        </p:nvCxnSpPr>
        <p:spPr>
          <a:xfrm>
            <a:off x="457200" y="1554480"/>
            <a:ext cx="1127455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783080"/>
            <a:ext cx="914400" cy="914400"/>
          </a:xfrm>
          <a:prstGeom prst="rect">
            <a:avLst/>
          </a:prstGeom>
          <a:noFill/>
        </p:spPr>
        <p:txBody>
          <a:bodyPr wrap="square" lIns="0" rIns="0" tIns="0" bIns="0" anchor="t">
            <a:spAutoFit/>
          </a:bodyPr>
          <a:lstStyle/>
          <a:p>
            <a:pPr algn="l"/>
            <a:r>
              <a:rPr sz="5400" b="1" i="0">
                <a:solidFill>
                  <a:srgbClr val="C8102E"/>
                </a:solidFill>
                <a:latin typeface="Lato"/>
              </a:rPr>
              <a:t>1</a:t>
            </a:r>
          </a:p>
        </p:txBody>
      </p:sp>
      <p:sp>
        <p:nvSpPr>
          <p:cNvPr id="5" name="TextBox 4"/>
          <p:cNvSpPr txBox="1"/>
          <p:nvPr/>
        </p:nvSpPr>
        <p:spPr>
          <a:xfrm>
            <a:off x="1645920" y="1874519"/>
            <a:ext cx="3840480" cy="731520"/>
          </a:xfrm>
          <a:prstGeom prst="rect">
            <a:avLst/>
          </a:prstGeom>
          <a:noFill/>
        </p:spPr>
        <p:txBody>
          <a:bodyPr wrap="square" lIns="0" rIns="0" tIns="0" bIns="0" anchor="t">
            <a:spAutoFit/>
          </a:bodyPr>
          <a:lstStyle/>
          <a:p>
            <a:pPr algn="l"/>
            <a:r>
              <a:rPr sz="2400" b="1" i="0">
                <a:solidFill>
                  <a:srgbClr val="000000"/>
                </a:solidFill>
                <a:latin typeface="Lato"/>
              </a:rPr>
              <a:t>The environment</a:t>
            </a:r>
          </a:p>
        </p:txBody>
      </p:sp>
      <p:sp>
        <p:nvSpPr>
          <p:cNvPr id="6" name="TextBox 5"/>
          <p:cNvSpPr txBox="1"/>
          <p:nvPr/>
        </p:nvSpPr>
        <p:spPr>
          <a:xfrm>
            <a:off x="5669280" y="1920240"/>
            <a:ext cx="6035040" cy="822960"/>
          </a:xfrm>
          <a:prstGeom prst="rect">
            <a:avLst/>
          </a:prstGeom>
          <a:noFill/>
        </p:spPr>
        <p:txBody>
          <a:bodyPr wrap="square" lIns="0" rIns="0" tIns="0" bIns="0" anchor="t">
            <a:spAutoFit/>
          </a:bodyPr>
          <a:lstStyle/>
          <a:p>
            <a:pPr algn="l"/>
            <a:r>
              <a:rPr sz="1500" b="0" i="0">
                <a:solidFill>
                  <a:srgbClr val="000000"/>
                </a:solidFill>
                <a:latin typeface="Lato"/>
              </a:rPr>
              <a:t>Pressures converging on higher education, what the headlines say, and the structural forces behind them</a:t>
            </a:r>
          </a:p>
        </p:txBody>
      </p:sp>
      <p:cxnSp>
        <p:nvCxnSpPr>
          <p:cNvPr id="7" name="Connector 6"/>
          <p:cNvCxnSpPr/>
          <p:nvPr/>
        </p:nvCxnSpPr>
        <p:spPr>
          <a:xfrm>
            <a:off x="457200" y="2971800"/>
            <a:ext cx="1127455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3200400"/>
            <a:ext cx="914400" cy="914400"/>
          </a:xfrm>
          <a:prstGeom prst="rect">
            <a:avLst/>
          </a:prstGeom>
          <a:noFill/>
        </p:spPr>
        <p:txBody>
          <a:bodyPr wrap="square" lIns="0" rIns="0" tIns="0" bIns="0" anchor="t">
            <a:spAutoFit/>
          </a:bodyPr>
          <a:lstStyle/>
          <a:p>
            <a:pPr algn="l"/>
            <a:r>
              <a:rPr sz="5400" b="1" i="0">
                <a:solidFill>
                  <a:srgbClr val="C8102E"/>
                </a:solidFill>
                <a:latin typeface="Lato"/>
              </a:rPr>
              <a:t>2</a:t>
            </a:r>
          </a:p>
        </p:txBody>
      </p:sp>
      <p:sp>
        <p:nvSpPr>
          <p:cNvPr id="9" name="TextBox 8"/>
          <p:cNvSpPr txBox="1"/>
          <p:nvPr/>
        </p:nvSpPr>
        <p:spPr>
          <a:xfrm>
            <a:off x="1645920" y="3291840"/>
            <a:ext cx="3840480" cy="731520"/>
          </a:xfrm>
          <a:prstGeom prst="rect">
            <a:avLst/>
          </a:prstGeom>
          <a:noFill/>
        </p:spPr>
        <p:txBody>
          <a:bodyPr wrap="square" lIns="0" rIns="0" tIns="0" bIns="0" anchor="t">
            <a:spAutoFit/>
          </a:bodyPr>
          <a:lstStyle/>
          <a:p>
            <a:pPr algn="l"/>
            <a:r>
              <a:rPr sz="2400" b="1" i="0">
                <a:solidFill>
                  <a:srgbClr val="000000"/>
                </a:solidFill>
                <a:latin typeface="Lato"/>
              </a:rPr>
              <a:t>Where Northeastern stands</a:t>
            </a:r>
          </a:p>
        </p:txBody>
      </p:sp>
      <p:sp>
        <p:nvSpPr>
          <p:cNvPr id="10" name="TextBox 9"/>
          <p:cNvSpPr txBox="1"/>
          <p:nvPr/>
        </p:nvSpPr>
        <p:spPr>
          <a:xfrm>
            <a:off x="5669280" y="3337560"/>
            <a:ext cx="6035040" cy="822960"/>
          </a:xfrm>
          <a:prstGeom prst="rect">
            <a:avLst/>
          </a:prstGeom>
          <a:noFill/>
        </p:spPr>
        <p:txBody>
          <a:bodyPr wrap="square" lIns="0" rIns="0" tIns="0" bIns="0" anchor="t">
            <a:spAutoFit/>
          </a:bodyPr>
          <a:lstStyle/>
          <a:p>
            <a:pPr algn="l"/>
            <a:r>
              <a:rPr sz="1500" b="0" i="0">
                <a:solidFill>
                  <a:srgbClr val="000000"/>
                </a:solidFill>
                <a:latin typeface="Lato"/>
              </a:rPr>
              <a:t>Research momentum, enrollment, staffing, operating results and the balance sheet</a:t>
            </a:r>
          </a:p>
        </p:txBody>
      </p:sp>
      <p:cxnSp>
        <p:nvCxnSpPr>
          <p:cNvPr id="11" name="Connector 10"/>
          <p:cNvCxnSpPr/>
          <p:nvPr/>
        </p:nvCxnSpPr>
        <p:spPr>
          <a:xfrm>
            <a:off x="457200" y="4389120"/>
            <a:ext cx="1127455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57200" y="4617720"/>
            <a:ext cx="914400" cy="914400"/>
          </a:xfrm>
          <a:prstGeom prst="rect">
            <a:avLst/>
          </a:prstGeom>
          <a:noFill/>
        </p:spPr>
        <p:txBody>
          <a:bodyPr wrap="square" lIns="0" rIns="0" tIns="0" bIns="0" anchor="t">
            <a:spAutoFit/>
          </a:bodyPr>
          <a:lstStyle/>
          <a:p>
            <a:pPr algn="l"/>
            <a:r>
              <a:rPr sz="5400" b="1" i="0">
                <a:solidFill>
                  <a:srgbClr val="C8102E"/>
                </a:solidFill>
                <a:latin typeface="Lato"/>
              </a:rPr>
              <a:t>3</a:t>
            </a:r>
          </a:p>
        </p:txBody>
      </p:sp>
      <p:sp>
        <p:nvSpPr>
          <p:cNvPr id="13" name="TextBox 12"/>
          <p:cNvSpPr txBox="1"/>
          <p:nvPr/>
        </p:nvSpPr>
        <p:spPr>
          <a:xfrm>
            <a:off x="1645920" y="4709159"/>
            <a:ext cx="3840480" cy="731520"/>
          </a:xfrm>
          <a:prstGeom prst="rect">
            <a:avLst/>
          </a:prstGeom>
          <a:noFill/>
        </p:spPr>
        <p:txBody>
          <a:bodyPr wrap="square" lIns="0" rIns="0" tIns="0" bIns="0" anchor="t">
            <a:spAutoFit/>
          </a:bodyPr>
          <a:lstStyle/>
          <a:p>
            <a:pPr algn="l"/>
            <a:r>
              <a:rPr sz="2400" b="1" i="0">
                <a:solidFill>
                  <a:srgbClr val="000000"/>
                </a:solidFill>
                <a:latin typeface="Lato"/>
              </a:rPr>
              <a:t>Challenges ahead</a:t>
            </a:r>
          </a:p>
        </p:txBody>
      </p:sp>
      <p:sp>
        <p:nvSpPr>
          <p:cNvPr id="14" name="TextBox 13"/>
          <p:cNvSpPr txBox="1"/>
          <p:nvPr/>
        </p:nvSpPr>
        <p:spPr>
          <a:xfrm>
            <a:off x="5669280" y="4754880"/>
            <a:ext cx="6035040" cy="822960"/>
          </a:xfrm>
          <a:prstGeom prst="rect">
            <a:avLst/>
          </a:prstGeom>
          <a:noFill/>
        </p:spPr>
        <p:txBody>
          <a:bodyPr wrap="square" lIns="0" rIns="0" tIns="0" bIns="0" anchor="t">
            <a:spAutoFit/>
          </a:bodyPr>
          <a:lstStyle/>
          <a:p>
            <a:pPr algn="l"/>
            <a:r>
              <a:rPr sz="1500" b="0" i="0">
                <a:solidFill>
                  <a:srgbClr val="000000"/>
                </a:solidFill>
                <a:latin typeface="Lato"/>
              </a:rPr>
              <a:t>Where the data points to risk, and where the General Counsel’s office is likely to be engaged</a:t>
            </a:r>
          </a:p>
        </p:txBody>
      </p:sp>
      <p:cxnSp>
        <p:nvCxnSpPr>
          <p:cNvPr id="15" name="Connector 14"/>
          <p:cNvCxnSpPr/>
          <p:nvPr/>
        </p:nvCxnSpPr>
        <p:spPr>
          <a:xfrm>
            <a:off x="457200" y="5806440"/>
            <a:ext cx="11274552"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011680"/>
            <a:ext cx="1828800" cy="1463040"/>
          </a:xfrm>
          <a:prstGeom prst="rect">
            <a:avLst/>
          </a:prstGeom>
          <a:noFill/>
        </p:spPr>
        <p:txBody>
          <a:bodyPr wrap="square" lIns="0" rIns="0" tIns="0" bIns="0" anchor="t">
            <a:spAutoFit/>
          </a:bodyPr>
          <a:lstStyle/>
          <a:p>
            <a:pPr algn="l"/>
            <a:r>
              <a:rPr sz="9600" b="1" i="0">
                <a:solidFill>
                  <a:srgbClr val="C8102E"/>
                </a:solidFill>
                <a:latin typeface="Lato"/>
              </a:rPr>
              <a:t>1</a:t>
            </a:r>
          </a:p>
        </p:txBody>
      </p:sp>
      <p:sp>
        <p:nvSpPr>
          <p:cNvPr id="3" name="TextBox 2"/>
          <p:cNvSpPr txBox="1"/>
          <p:nvPr/>
        </p:nvSpPr>
        <p:spPr>
          <a:xfrm>
            <a:off x="2834640" y="2331720"/>
            <a:ext cx="8686800" cy="822960"/>
          </a:xfrm>
          <a:prstGeom prst="rect">
            <a:avLst/>
          </a:prstGeom>
          <a:noFill/>
        </p:spPr>
        <p:txBody>
          <a:bodyPr wrap="square" lIns="0" rIns="0" tIns="0" bIns="0" anchor="t">
            <a:spAutoFit/>
          </a:bodyPr>
          <a:lstStyle/>
          <a:p>
            <a:pPr algn="l"/>
            <a:r>
              <a:rPr sz="4000" b="1" i="0">
                <a:solidFill>
                  <a:srgbClr val="000000"/>
                </a:solidFill>
                <a:latin typeface="Lato"/>
              </a:rPr>
              <a:t>The environment</a:t>
            </a:r>
          </a:p>
        </p:txBody>
      </p:sp>
      <p:sp>
        <p:nvSpPr>
          <p:cNvPr id="4" name="TextBox 3"/>
          <p:cNvSpPr txBox="1"/>
          <p:nvPr/>
        </p:nvSpPr>
        <p:spPr>
          <a:xfrm>
            <a:off x="2834640" y="3291840"/>
            <a:ext cx="8229600" cy="1097280"/>
          </a:xfrm>
          <a:prstGeom prst="rect">
            <a:avLst/>
          </a:prstGeom>
          <a:noFill/>
        </p:spPr>
        <p:txBody>
          <a:bodyPr wrap="square" lIns="0" rIns="0" tIns="0" bIns="0" anchor="t">
            <a:spAutoFit/>
          </a:bodyPr>
          <a:lstStyle/>
          <a:p>
            <a:pPr algn="l"/>
            <a:r>
              <a:rPr sz="1800" b="0" i="0">
                <a:solidFill>
                  <a:srgbClr val="595959"/>
                </a:solidFill>
                <a:latin typeface="Lato"/>
              </a:rPr>
              <a:t>Pressures on higher education, and the forces behind them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011680"/>
            <a:ext cx="1828800" cy="1463040"/>
          </a:xfrm>
          <a:prstGeom prst="rect">
            <a:avLst/>
          </a:prstGeom>
          <a:noFill/>
        </p:spPr>
        <p:txBody>
          <a:bodyPr wrap="square" lIns="0" rIns="0" tIns="0" bIns="0" anchor="t">
            <a:spAutoFit/>
          </a:bodyPr>
          <a:lstStyle/>
          <a:p>
            <a:pPr algn="l"/>
            <a:r>
              <a:rPr sz="9600" b="1" i="0">
                <a:solidFill>
                  <a:srgbClr val="C8102E"/>
                </a:solidFill>
                <a:latin typeface="Lato"/>
              </a:rPr>
              <a:t>2</a:t>
            </a:r>
          </a:p>
        </p:txBody>
      </p:sp>
      <p:sp>
        <p:nvSpPr>
          <p:cNvPr id="3" name="TextBox 2"/>
          <p:cNvSpPr txBox="1"/>
          <p:nvPr/>
        </p:nvSpPr>
        <p:spPr>
          <a:xfrm>
            <a:off x="2834640" y="2331720"/>
            <a:ext cx="8686800" cy="822960"/>
          </a:xfrm>
          <a:prstGeom prst="rect">
            <a:avLst/>
          </a:prstGeom>
          <a:noFill/>
        </p:spPr>
        <p:txBody>
          <a:bodyPr wrap="square" lIns="0" rIns="0" tIns="0" bIns="0" anchor="t">
            <a:spAutoFit/>
          </a:bodyPr>
          <a:lstStyle/>
          <a:p>
            <a:pPr algn="l"/>
            <a:r>
              <a:rPr sz="4000" b="1" i="0">
                <a:solidFill>
                  <a:srgbClr val="000000"/>
                </a:solidFill>
                <a:latin typeface="Lato"/>
              </a:rPr>
              <a:t>Where Northeastern stands</a:t>
            </a:r>
          </a:p>
        </p:txBody>
      </p:sp>
      <p:sp>
        <p:nvSpPr>
          <p:cNvPr id="4" name="TextBox 3"/>
          <p:cNvSpPr txBox="1"/>
          <p:nvPr/>
        </p:nvSpPr>
        <p:spPr>
          <a:xfrm>
            <a:off x="2834640" y="3291840"/>
            <a:ext cx="8229600" cy="1097280"/>
          </a:xfrm>
          <a:prstGeom prst="rect">
            <a:avLst/>
          </a:prstGeom>
          <a:noFill/>
        </p:spPr>
        <p:txBody>
          <a:bodyPr wrap="square" lIns="0" rIns="0" tIns="0" bIns="0" anchor="t">
            <a:spAutoFit/>
          </a:bodyPr>
          <a:lstStyle/>
          <a:p>
            <a:pPr algn="l"/>
            <a:r>
              <a:rPr sz="1800" b="0" i="0">
                <a:solidFill>
                  <a:srgbClr val="595959"/>
                </a:solidFill>
                <a:latin typeface="Lato"/>
              </a:rPr>
              <a:t>Research momentum, enrollment, staffing and financial performance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011680"/>
            <a:ext cx="1828800" cy="1463040"/>
          </a:xfrm>
          <a:prstGeom prst="rect">
            <a:avLst/>
          </a:prstGeom>
          <a:noFill/>
        </p:spPr>
        <p:txBody>
          <a:bodyPr wrap="square" lIns="0" rIns="0" tIns="0" bIns="0" anchor="t">
            <a:spAutoFit/>
          </a:bodyPr>
          <a:lstStyle/>
          <a:p>
            <a:pPr algn="l"/>
            <a:r>
              <a:rPr sz="9600" b="1" i="0">
                <a:solidFill>
                  <a:srgbClr val="C8102E"/>
                </a:solidFill>
                <a:latin typeface="Lato"/>
              </a:rPr>
              <a:t>3</a:t>
            </a:r>
          </a:p>
        </p:txBody>
      </p:sp>
      <p:sp>
        <p:nvSpPr>
          <p:cNvPr id="3" name="TextBox 2"/>
          <p:cNvSpPr txBox="1"/>
          <p:nvPr/>
        </p:nvSpPr>
        <p:spPr>
          <a:xfrm>
            <a:off x="2834640" y="2331720"/>
            <a:ext cx="8686800" cy="822960"/>
          </a:xfrm>
          <a:prstGeom prst="rect">
            <a:avLst/>
          </a:prstGeom>
          <a:noFill/>
        </p:spPr>
        <p:txBody>
          <a:bodyPr wrap="square" lIns="0" rIns="0" tIns="0" bIns="0" anchor="t">
            <a:spAutoFit/>
          </a:bodyPr>
          <a:lstStyle/>
          <a:p>
            <a:pPr algn="l"/>
            <a:r>
              <a:rPr sz="4000" b="1" i="0">
                <a:solidFill>
                  <a:srgbClr val="000000"/>
                </a:solidFill>
                <a:latin typeface="Lato"/>
              </a:rPr>
              <a:t>Challenges ahead</a:t>
            </a:r>
          </a:p>
        </p:txBody>
      </p:sp>
      <p:sp>
        <p:nvSpPr>
          <p:cNvPr id="4" name="TextBox 3"/>
          <p:cNvSpPr txBox="1"/>
          <p:nvPr/>
        </p:nvSpPr>
        <p:spPr>
          <a:xfrm>
            <a:off x="2834640" y="3291840"/>
            <a:ext cx="8229600" cy="1097280"/>
          </a:xfrm>
          <a:prstGeom prst="rect">
            <a:avLst/>
          </a:prstGeom>
          <a:noFill/>
        </p:spPr>
        <p:txBody>
          <a:bodyPr wrap="square" lIns="0" rIns="0" tIns="0" bIns="0" anchor="t">
            <a:spAutoFit/>
          </a:bodyPr>
          <a:lstStyle/>
          <a:p>
            <a:pPr algn="l"/>
            <a:r>
              <a:rPr sz="1800" b="0" i="0">
                <a:solidFill>
                  <a:srgbClr val="595959"/>
                </a:solidFill>
                <a:latin typeface="Lato"/>
              </a:rPr>
              <a:t>What to watch, and where Legal is likely to be engaged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331720"/>
            <a:ext cx="8686800" cy="822960"/>
          </a:xfrm>
          <a:prstGeom prst="rect">
            <a:avLst/>
          </a:prstGeom>
          <a:noFill/>
        </p:spPr>
        <p:txBody>
          <a:bodyPr wrap="square" lIns="0" rIns="0" tIns="0" bIns="0" anchor="t">
            <a:spAutoFit/>
          </a:bodyPr>
          <a:lstStyle/>
          <a:p>
            <a:pPr algn="l"/>
            <a:r>
              <a:rPr sz="4000" b="1" i="0">
                <a:solidFill>
                  <a:srgbClr val="000000"/>
                </a:solidFill>
                <a:latin typeface="Lato"/>
              </a:rPr>
              <a:t>Backup</a:t>
            </a:r>
          </a:p>
        </p:txBody>
      </p:sp>
      <p:sp>
        <p:nvSpPr>
          <p:cNvPr id="3" name="TextBox 2"/>
          <p:cNvSpPr txBox="1"/>
          <p:nvPr/>
        </p:nvSpPr>
        <p:spPr>
          <a:xfrm>
            <a:off x="822960" y="3291840"/>
            <a:ext cx="8229600" cy="1097280"/>
          </a:xfrm>
          <a:prstGeom prst="rect">
            <a:avLst/>
          </a:prstGeom>
          <a:noFill/>
        </p:spPr>
        <p:txBody>
          <a:bodyPr wrap="square" lIns="0" rIns="0" tIns="0" bIns="0" anchor="t">
            <a:spAutoFit/>
          </a:bodyPr>
          <a:lstStyle/>
          <a:p>
            <a:pPr algn="l"/>
            <a:r>
              <a:rPr sz="1800" b="0" i="0">
                <a:solidFill>
                  <a:srgbClr val="595959"/>
                </a:solidFill>
                <a:latin typeface="Lato"/>
              </a:rPr>
              <a:t>Sector detail, value of a degree, economic mobility, peer responses and R&amp;D detail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Six pressures are converging on higher education, and on Northeastern</a:t>
            </a:r>
          </a:p>
        </p:txBody>
      </p:sp>
      <p:sp>
        <p:nvSpPr>
          <p:cNvPr id="3" name="Rectangle 2"/>
          <p:cNvSpPr/>
          <p:nvPr/>
        </p:nvSpPr>
        <p:spPr>
          <a:xfrm>
            <a:off x="457200" y="1371600"/>
            <a:ext cx="3611880" cy="21945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08760"/>
            <a:ext cx="457200" cy="457200"/>
          </a:xfrm>
          <a:prstGeom prst="rect">
            <a:avLst/>
          </a:prstGeom>
          <a:noFill/>
        </p:spPr>
        <p:txBody>
          <a:bodyPr wrap="square" lIns="0" rIns="0" tIns="0" bIns="0" anchor="t">
            <a:spAutoFit/>
          </a:bodyPr>
          <a:lstStyle/>
          <a:p>
            <a:pPr algn="l"/>
            <a:r>
              <a:rPr sz="2600" b="1" i="0">
                <a:solidFill>
                  <a:srgbClr val="C8102E"/>
                </a:solidFill>
                <a:latin typeface="Lato"/>
              </a:rPr>
              <a:t>1</a:t>
            </a:r>
          </a:p>
        </p:txBody>
      </p:sp>
      <p:sp>
        <p:nvSpPr>
          <p:cNvPr id="5" name="TextBox 4"/>
          <p:cNvSpPr txBox="1"/>
          <p:nvPr/>
        </p:nvSpPr>
        <p:spPr>
          <a:xfrm>
            <a:off x="1051560" y="1572768"/>
            <a:ext cx="2880360" cy="365760"/>
          </a:xfrm>
          <a:prstGeom prst="rect">
            <a:avLst/>
          </a:prstGeom>
          <a:noFill/>
        </p:spPr>
        <p:txBody>
          <a:bodyPr wrap="square" lIns="0" rIns="0" tIns="0" bIns="0" anchor="t">
            <a:spAutoFit/>
          </a:bodyPr>
          <a:lstStyle/>
          <a:p>
            <a:pPr algn="l"/>
            <a:r>
              <a:rPr sz="1600" b="1" i="0">
                <a:solidFill>
                  <a:srgbClr val="000000"/>
                </a:solidFill>
                <a:latin typeface="Lato"/>
              </a:rPr>
              <a:t>Students and demand</a:t>
            </a:r>
          </a:p>
        </p:txBody>
      </p:sp>
      <p:sp>
        <p:nvSpPr>
          <p:cNvPr id="6" name="TextBox 5"/>
          <p:cNvSpPr txBox="1"/>
          <p:nvPr/>
        </p:nvSpPr>
        <p:spPr>
          <a:xfrm>
            <a:off x="640080" y="2103120"/>
            <a:ext cx="3246120" cy="1371600"/>
          </a:xfrm>
          <a:prstGeom prst="rect">
            <a:avLst/>
          </a:prstGeom>
          <a:noFill/>
        </p:spPr>
        <p:txBody>
          <a:bodyPr wrap="square" lIns="0" rIns="0" tIns="0" bIns="0">
            <a:spAutoFit/>
          </a:bodyPr>
          <a:lstStyle/>
          <a:p>
            <a:pPr marL="171450" indent="-171450">
              <a:spcAft>
                <a:spcPts val="400"/>
              </a:spcAft>
              <a:buChar char="•"/>
            </a:pPr>
            <a:r>
              <a:rPr sz="1300">
                <a:solidFill>
                  <a:srgbClr val="000000"/>
                </a:solidFill>
                <a:latin typeface="Lato"/>
              </a:rPr>
              <a:t>Ivies dipping into waitlists; enrollment- and need-aware admissions</a:t>
            </a:r>
          </a:p>
          <a:p>
            <a:pPr marL="171450" indent="-171450">
              <a:spcAft>
                <a:spcPts val="400"/>
              </a:spcAft>
              <a:buChar char="•"/>
            </a:pPr>
            <a:r>
              <a:rPr sz="1300">
                <a:solidFill>
                  <a:srgbClr val="000000"/>
                </a:solidFill>
                <a:latin typeface="Lato"/>
              </a:rPr>
              <a:t>Students opting out of college; middle class moving to public institutions</a:t>
            </a:r>
          </a:p>
          <a:p>
            <a:pPr marL="171450" indent="-171450">
              <a:spcAft>
                <a:spcPts val="400"/>
              </a:spcAft>
              <a:buChar char="•"/>
            </a:pPr>
            <a:r>
              <a:rPr sz="1300">
                <a:solidFill>
                  <a:srgbClr val="000000"/>
                </a:solidFill>
                <a:latin typeface="Lato"/>
              </a:rPr>
              <a:t>Small colleges challenged; consolidation</a:t>
            </a:r>
          </a:p>
        </p:txBody>
      </p:sp>
      <p:sp>
        <p:nvSpPr>
          <p:cNvPr id="7" name="Rectangle 6"/>
          <p:cNvSpPr/>
          <p:nvPr/>
        </p:nvSpPr>
        <p:spPr>
          <a:xfrm>
            <a:off x="4288536" y="1371600"/>
            <a:ext cx="3611880" cy="21945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71416" y="1508760"/>
            <a:ext cx="457200" cy="457200"/>
          </a:xfrm>
          <a:prstGeom prst="rect">
            <a:avLst/>
          </a:prstGeom>
          <a:noFill/>
        </p:spPr>
        <p:txBody>
          <a:bodyPr wrap="square" lIns="0" rIns="0" tIns="0" bIns="0" anchor="t">
            <a:spAutoFit/>
          </a:bodyPr>
          <a:lstStyle/>
          <a:p>
            <a:pPr algn="l"/>
            <a:r>
              <a:rPr sz="2600" b="1" i="0">
                <a:solidFill>
                  <a:srgbClr val="C8102E"/>
                </a:solidFill>
                <a:latin typeface="Lato"/>
              </a:rPr>
              <a:t>2</a:t>
            </a:r>
          </a:p>
        </p:txBody>
      </p:sp>
      <p:sp>
        <p:nvSpPr>
          <p:cNvPr id="9" name="TextBox 8"/>
          <p:cNvSpPr txBox="1"/>
          <p:nvPr/>
        </p:nvSpPr>
        <p:spPr>
          <a:xfrm>
            <a:off x="4882896" y="1572768"/>
            <a:ext cx="2880360" cy="365760"/>
          </a:xfrm>
          <a:prstGeom prst="rect">
            <a:avLst/>
          </a:prstGeom>
          <a:noFill/>
        </p:spPr>
        <p:txBody>
          <a:bodyPr wrap="square" lIns="0" rIns="0" tIns="0" bIns="0" anchor="t">
            <a:spAutoFit/>
          </a:bodyPr>
          <a:lstStyle/>
          <a:p>
            <a:pPr algn="l"/>
            <a:r>
              <a:rPr sz="1600" b="1" i="0">
                <a:solidFill>
                  <a:srgbClr val="000000"/>
                </a:solidFill>
                <a:latin typeface="Lato"/>
              </a:rPr>
              <a:t>Cost and return</a:t>
            </a:r>
          </a:p>
        </p:txBody>
      </p:sp>
      <p:sp>
        <p:nvSpPr>
          <p:cNvPr id="10" name="TextBox 9"/>
          <p:cNvSpPr txBox="1"/>
          <p:nvPr/>
        </p:nvSpPr>
        <p:spPr>
          <a:xfrm>
            <a:off x="4471416" y="2103120"/>
            <a:ext cx="3246120" cy="1371600"/>
          </a:xfrm>
          <a:prstGeom prst="rect">
            <a:avLst/>
          </a:prstGeom>
          <a:noFill/>
        </p:spPr>
        <p:txBody>
          <a:bodyPr wrap="square" lIns="0" rIns="0" tIns="0" bIns="0">
            <a:spAutoFit/>
          </a:bodyPr>
          <a:lstStyle/>
          <a:p>
            <a:pPr marL="171450" indent="-171450">
              <a:spcAft>
                <a:spcPts val="400"/>
              </a:spcAft>
              <a:buChar char="•"/>
            </a:pPr>
            <a:r>
              <a:rPr sz="1300">
                <a:solidFill>
                  <a:srgbClr val="000000"/>
                </a:solidFill>
                <a:latin typeface="Lato"/>
              </a:rPr>
              <a:t>ROI on a college degree</a:t>
            </a:r>
          </a:p>
          <a:p>
            <a:pPr marL="171450" indent="-171450">
              <a:spcAft>
                <a:spcPts val="400"/>
              </a:spcAft>
              <a:buChar char="•"/>
            </a:pPr>
            <a:r>
              <a:rPr sz="1300">
                <a:solidFill>
                  <a:srgbClr val="000000"/>
                </a:solidFill>
                <a:latin typeface="Lato"/>
              </a:rPr>
              <a:t>Cost and economic disparity</a:t>
            </a:r>
          </a:p>
          <a:p>
            <a:pPr marL="171450" indent="-171450">
              <a:spcAft>
                <a:spcPts val="400"/>
              </a:spcAft>
              <a:buChar char="•"/>
            </a:pPr>
            <a:r>
              <a:rPr sz="1300">
                <a:solidFill>
                  <a:srgbClr val="000000"/>
                </a:solidFill>
                <a:latin typeface="Lato"/>
              </a:rPr>
              <a:t>Time to degree</a:t>
            </a:r>
          </a:p>
          <a:p>
            <a:pPr marL="171450" indent="-171450">
              <a:spcAft>
                <a:spcPts val="400"/>
              </a:spcAft>
              <a:buChar char="•"/>
            </a:pPr>
            <a:r>
              <a:rPr sz="1300">
                <a:solidFill>
                  <a:srgbClr val="000000"/>
                </a:solidFill>
                <a:latin typeface="Lato"/>
              </a:rPr>
              <a:t>Colleges lowering or not increasing tuition</a:t>
            </a:r>
          </a:p>
        </p:txBody>
      </p:sp>
      <p:sp>
        <p:nvSpPr>
          <p:cNvPr id="11" name="Rectangle 10"/>
          <p:cNvSpPr/>
          <p:nvPr/>
        </p:nvSpPr>
        <p:spPr>
          <a:xfrm>
            <a:off x="8119872" y="1371600"/>
            <a:ext cx="3611880" cy="21945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508760"/>
            <a:ext cx="457200" cy="457200"/>
          </a:xfrm>
          <a:prstGeom prst="rect">
            <a:avLst/>
          </a:prstGeom>
          <a:noFill/>
        </p:spPr>
        <p:txBody>
          <a:bodyPr wrap="square" lIns="0" rIns="0" tIns="0" bIns="0" anchor="t">
            <a:spAutoFit/>
          </a:bodyPr>
          <a:lstStyle/>
          <a:p>
            <a:pPr algn="l"/>
            <a:r>
              <a:rPr sz="2600" b="1" i="0">
                <a:solidFill>
                  <a:srgbClr val="C8102E"/>
                </a:solidFill>
                <a:latin typeface="Lato"/>
              </a:rPr>
              <a:t>3</a:t>
            </a:r>
          </a:p>
        </p:txBody>
      </p:sp>
      <p:sp>
        <p:nvSpPr>
          <p:cNvPr id="13" name="TextBox 12"/>
          <p:cNvSpPr txBox="1"/>
          <p:nvPr/>
        </p:nvSpPr>
        <p:spPr>
          <a:xfrm>
            <a:off x="8714232" y="1572768"/>
            <a:ext cx="2880360" cy="365760"/>
          </a:xfrm>
          <a:prstGeom prst="rect">
            <a:avLst/>
          </a:prstGeom>
          <a:noFill/>
        </p:spPr>
        <p:txBody>
          <a:bodyPr wrap="square" lIns="0" rIns="0" tIns="0" bIns="0" anchor="t">
            <a:spAutoFit/>
          </a:bodyPr>
          <a:lstStyle/>
          <a:p>
            <a:pPr algn="l"/>
            <a:r>
              <a:rPr sz="1600" b="1" i="0">
                <a:solidFill>
                  <a:srgbClr val="000000"/>
                </a:solidFill>
                <a:latin typeface="Lato"/>
              </a:rPr>
              <a:t>International students</a:t>
            </a:r>
          </a:p>
        </p:txBody>
      </p:sp>
      <p:sp>
        <p:nvSpPr>
          <p:cNvPr id="14" name="TextBox 13"/>
          <p:cNvSpPr txBox="1"/>
          <p:nvPr/>
        </p:nvSpPr>
        <p:spPr>
          <a:xfrm>
            <a:off x="8302752" y="2103120"/>
            <a:ext cx="3246120" cy="1371600"/>
          </a:xfrm>
          <a:prstGeom prst="rect">
            <a:avLst/>
          </a:prstGeom>
          <a:noFill/>
        </p:spPr>
        <p:txBody>
          <a:bodyPr wrap="square" lIns="0" rIns="0" tIns="0" bIns="0">
            <a:spAutoFit/>
          </a:bodyPr>
          <a:lstStyle/>
          <a:p>
            <a:pPr marL="171450" indent="-171450">
              <a:spcAft>
                <a:spcPts val="400"/>
              </a:spcAft>
              <a:buChar char="•"/>
            </a:pPr>
            <a:r>
              <a:rPr sz="1300">
                <a:solidFill>
                  <a:srgbClr val="000000"/>
                </a:solidFill>
                <a:latin typeface="Lato"/>
              </a:rPr>
              <a:t>Visas and duration of stay</a:t>
            </a:r>
          </a:p>
          <a:p>
            <a:pPr marL="171450" indent="-171450">
              <a:spcAft>
                <a:spcPts val="400"/>
              </a:spcAft>
              <a:buChar char="•"/>
            </a:pPr>
            <a:r>
              <a:rPr sz="1300">
                <a:solidFill>
                  <a:srgbClr val="000000"/>
                </a:solidFill>
                <a:latin typeface="Lato"/>
              </a:rPr>
              <a:t>Geopolitics</a:t>
            </a:r>
          </a:p>
          <a:p>
            <a:pPr marL="171450" indent="-171450">
              <a:spcAft>
                <a:spcPts val="400"/>
              </a:spcAft>
              <a:buChar char="•"/>
            </a:pPr>
            <a:r>
              <a:rPr sz="1300">
                <a:solidFill>
                  <a:srgbClr val="000000"/>
                </a:solidFill>
                <a:latin typeface="Lato"/>
              </a:rPr>
              <a:t>Global competition (China, Canada)</a:t>
            </a:r>
          </a:p>
          <a:p>
            <a:pPr marL="171450" indent="-171450">
              <a:spcAft>
                <a:spcPts val="400"/>
              </a:spcAft>
              <a:buChar char="•"/>
            </a:pPr>
            <a:r>
              <a:rPr sz="1300">
                <a:solidFill>
                  <a:srgbClr val="000000"/>
                </a:solidFill>
                <a:latin typeface="Lato"/>
              </a:rPr>
              <a:t>Price elasticity in graduate programs</a:t>
            </a:r>
          </a:p>
        </p:txBody>
      </p:sp>
      <p:sp>
        <p:nvSpPr>
          <p:cNvPr id="15" name="Rectangle 14"/>
          <p:cNvSpPr/>
          <p:nvPr/>
        </p:nvSpPr>
        <p:spPr>
          <a:xfrm>
            <a:off x="457200" y="3785615"/>
            <a:ext cx="3611880" cy="21945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922776"/>
            <a:ext cx="457200" cy="457200"/>
          </a:xfrm>
          <a:prstGeom prst="rect">
            <a:avLst/>
          </a:prstGeom>
          <a:noFill/>
        </p:spPr>
        <p:txBody>
          <a:bodyPr wrap="square" lIns="0" rIns="0" tIns="0" bIns="0" anchor="t">
            <a:spAutoFit/>
          </a:bodyPr>
          <a:lstStyle/>
          <a:p>
            <a:pPr algn="l"/>
            <a:r>
              <a:rPr sz="2600" b="1" i="0">
                <a:solidFill>
                  <a:srgbClr val="C8102E"/>
                </a:solidFill>
                <a:latin typeface="Lato"/>
              </a:rPr>
              <a:t>4</a:t>
            </a:r>
          </a:p>
        </p:txBody>
      </p:sp>
      <p:sp>
        <p:nvSpPr>
          <p:cNvPr id="17" name="TextBox 16"/>
          <p:cNvSpPr txBox="1"/>
          <p:nvPr/>
        </p:nvSpPr>
        <p:spPr>
          <a:xfrm>
            <a:off x="1051560" y="3986783"/>
            <a:ext cx="2880360" cy="365760"/>
          </a:xfrm>
          <a:prstGeom prst="rect">
            <a:avLst/>
          </a:prstGeom>
          <a:noFill/>
        </p:spPr>
        <p:txBody>
          <a:bodyPr wrap="square" lIns="0" rIns="0" tIns="0" bIns="0" anchor="t">
            <a:spAutoFit/>
          </a:bodyPr>
          <a:lstStyle/>
          <a:p>
            <a:pPr algn="l"/>
            <a:r>
              <a:rPr sz="1600" b="1" i="0">
                <a:solidFill>
                  <a:srgbClr val="000000"/>
                </a:solidFill>
                <a:latin typeface="Lato"/>
              </a:rPr>
              <a:t>Federal role and research</a:t>
            </a:r>
          </a:p>
        </p:txBody>
      </p:sp>
      <p:sp>
        <p:nvSpPr>
          <p:cNvPr id="18" name="TextBox 17"/>
          <p:cNvSpPr txBox="1"/>
          <p:nvPr/>
        </p:nvSpPr>
        <p:spPr>
          <a:xfrm>
            <a:off x="640080" y="4517136"/>
            <a:ext cx="3246120" cy="1371600"/>
          </a:xfrm>
          <a:prstGeom prst="rect">
            <a:avLst/>
          </a:prstGeom>
          <a:noFill/>
        </p:spPr>
        <p:txBody>
          <a:bodyPr wrap="square" lIns="0" rIns="0" tIns="0" bIns="0">
            <a:spAutoFit/>
          </a:bodyPr>
          <a:lstStyle/>
          <a:p>
            <a:pPr marL="171450" indent="-171450">
              <a:spcAft>
                <a:spcPts val="400"/>
              </a:spcAft>
              <a:buChar char="•"/>
            </a:pPr>
            <a:r>
              <a:rPr sz="1300">
                <a:solidFill>
                  <a:srgbClr val="000000"/>
                </a:solidFill>
                <a:latin typeface="Lato"/>
              </a:rPr>
              <a:t>Role of government and funding challenges</a:t>
            </a:r>
          </a:p>
          <a:p>
            <a:pPr marL="171450" indent="-171450">
              <a:spcAft>
                <a:spcPts val="400"/>
              </a:spcAft>
              <a:buChar char="•"/>
            </a:pPr>
            <a:r>
              <a:rPr sz="1300">
                <a:solidFill>
                  <a:srgbClr val="000000"/>
                </a:solidFill>
                <a:latin typeface="Lato"/>
              </a:rPr>
              <a:t>Shifting national priorities</a:t>
            </a:r>
          </a:p>
          <a:p>
            <a:pPr marL="171450" indent="-171450">
              <a:spcAft>
                <a:spcPts val="400"/>
              </a:spcAft>
              <a:buChar char="•"/>
            </a:pPr>
            <a:r>
              <a:rPr sz="1300">
                <a:solidFill>
                  <a:srgbClr val="000000"/>
                </a:solidFill>
                <a:latin typeface="Lato"/>
              </a:rPr>
              <a:t>Security research</a:t>
            </a:r>
          </a:p>
          <a:p>
            <a:pPr marL="171450" indent="-171450">
              <a:spcAft>
                <a:spcPts val="400"/>
              </a:spcAft>
              <a:buChar char="•"/>
            </a:pPr>
            <a:r>
              <a:rPr sz="1300">
                <a:solidFill>
                  <a:srgbClr val="000000"/>
                </a:solidFill>
                <a:latin typeface="Lato"/>
              </a:rPr>
              <a:t>Time to the PhD</a:t>
            </a:r>
          </a:p>
        </p:txBody>
      </p:sp>
      <p:sp>
        <p:nvSpPr>
          <p:cNvPr id="19" name="Rectangle 18"/>
          <p:cNvSpPr/>
          <p:nvPr/>
        </p:nvSpPr>
        <p:spPr>
          <a:xfrm>
            <a:off x="4288536" y="3785615"/>
            <a:ext cx="3611880" cy="21945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1416" y="3922776"/>
            <a:ext cx="457200" cy="457200"/>
          </a:xfrm>
          <a:prstGeom prst="rect">
            <a:avLst/>
          </a:prstGeom>
          <a:noFill/>
        </p:spPr>
        <p:txBody>
          <a:bodyPr wrap="square" lIns="0" rIns="0" tIns="0" bIns="0" anchor="t">
            <a:spAutoFit/>
          </a:bodyPr>
          <a:lstStyle/>
          <a:p>
            <a:pPr algn="l"/>
            <a:r>
              <a:rPr sz="2600" b="1" i="0">
                <a:solidFill>
                  <a:srgbClr val="C8102E"/>
                </a:solidFill>
                <a:latin typeface="Lato"/>
              </a:rPr>
              <a:t>5</a:t>
            </a:r>
          </a:p>
        </p:txBody>
      </p:sp>
      <p:sp>
        <p:nvSpPr>
          <p:cNvPr id="21" name="TextBox 20"/>
          <p:cNvSpPr txBox="1"/>
          <p:nvPr/>
        </p:nvSpPr>
        <p:spPr>
          <a:xfrm>
            <a:off x="4882896" y="3986783"/>
            <a:ext cx="2880360" cy="365760"/>
          </a:xfrm>
          <a:prstGeom prst="rect">
            <a:avLst/>
          </a:prstGeom>
          <a:noFill/>
        </p:spPr>
        <p:txBody>
          <a:bodyPr wrap="square" lIns="0" rIns="0" tIns="0" bIns="0" anchor="t">
            <a:spAutoFit/>
          </a:bodyPr>
          <a:lstStyle/>
          <a:p>
            <a:pPr algn="l"/>
            <a:r>
              <a:rPr sz="1600" b="1" i="0">
                <a:solidFill>
                  <a:srgbClr val="000000"/>
                </a:solidFill>
                <a:latin typeface="Lato"/>
              </a:rPr>
              <a:t>AI and new competitors</a:t>
            </a:r>
          </a:p>
        </p:txBody>
      </p:sp>
      <p:sp>
        <p:nvSpPr>
          <p:cNvPr id="22" name="TextBox 21"/>
          <p:cNvSpPr txBox="1"/>
          <p:nvPr/>
        </p:nvSpPr>
        <p:spPr>
          <a:xfrm>
            <a:off x="4471416" y="4517136"/>
            <a:ext cx="3246120" cy="1371600"/>
          </a:xfrm>
          <a:prstGeom prst="rect">
            <a:avLst/>
          </a:prstGeom>
          <a:noFill/>
        </p:spPr>
        <p:txBody>
          <a:bodyPr wrap="square" lIns="0" rIns="0" tIns="0" bIns="0">
            <a:spAutoFit/>
          </a:bodyPr>
          <a:lstStyle/>
          <a:p>
            <a:pPr marL="171450" indent="-171450">
              <a:spcAft>
                <a:spcPts val="400"/>
              </a:spcAft>
              <a:buChar char="•"/>
            </a:pPr>
            <a:r>
              <a:rPr sz="1300">
                <a:solidFill>
                  <a:srgbClr val="000000"/>
                </a:solidFill>
                <a:latin typeface="Lato"/>
              </a:rPr>
              <a:t>Disruption from AI</a:t>
            </a:r>
          </a:p>
          <a:p>
            <a:pPr marL="171450" indent="-171450">
              <a:spcAft>
                <a:spcPts val="400"/>
              </a:spcAft>
              <a:buChar char="•"/>
            </a:pPr>
            <a:r>
              <a:rPr sz="1300">
                <a:solidFill>
                  <a:srgbClr val="000000"/>
                </a:solidFill>
                <a:latin typeface="Lato"/>
              </a:rPr>
              <a:t>Bite-sized learning</a:t>
            </a:r>
          </a:p>
          <a:p>
            <a:pPr marL="171450" indent="-171450">
              <a:spcAft>
                <a:spcPts val="400"/>
              </a:spcAft>
              <a:buChar char="•"/>
            </a:pPr>
            <a:r>
              <a:rPr sz="1300">
                <a:solidFill>
                  <a:srgbClr val="000000"/>
                </a:solidFill>
                <a:latin typeface="Lato"/>
              </a:rPr>
              <a:t>For-profits; companies and consultancies training on their own</a:t>
            </a:r>
          </a:p>
          <a:p>
            <a:pPr marL="171450" indent="-171450">
              <a:spcAft>
                <a:spcPts val="400"/>
              </a:spcAft>
              <a:buChar char="•"/>
            </a:pPr>
            <a:r>
              <a:rPr sz="1300">
                <a:solidFill>
                  <a:srgbClr val="000000"/>
                </a:solidFill>
                <a:latin typeface="Lato"/>
              </a:rPr>
              <a:t>Tech elite</a:t>
            </a:r>
          </a:p>
        </p:txBody>
      </p:sp>
      <p:sp>
        <p:nvSpPr>
          <p:cNvPr id="23" name="Rectangle 22"/>
          <p:cNvSpPr/>
          <p:nvPr/>
        </p:nvSpPr>
        <p:spPr>
          <a:xfrm>
            <a:off x="8119872" y="3785615"/>
            <a:ext cx="3611880" cy="21945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2752" y="3922776"/>
            <a:ext cx="457200" cy="457200"/>
          </a:xfrm>
          <a:prstGeom prst="rect">
            <a:avLst/>
          </a:prstGeom>
          <a:noFill/>
        </p:spPr>
        <p:txBody>
          <a:bodyPr wrap="square" lIns="0" rIns="0" tIns="0" bIns="0" anchor="t">
            <a:spAutoFit/>
          </a:bodyPr>
          <a:lstStyle/>
          <a:p>
            <a:pPr algn="l"/>
            <a:r>
              <a:rPr sz="2600" b="1" i="0">
                <a:solidFill>
                  <a:srgbClr val="C8102E"/>
                </a:solidFill>
                <a:latin typeface="Lato"/>
              </a:rPr>
              <a:t>6</a:t>
            </a:r>
          </a:p>
        </p:txBody>
      </p:sp>
      <p:sp>
        <p:nvSpPr>
          <p:cNvPr id="25" name="TextBox 24"/>
          <p:cNvSpPr txBox="1"/>
          <p:nvPr/>
        </p:nvSpPr>
        <p:spPr>
          <a:xfrm>
            <a:off x="8714232" y="3986783"/>
            <a:ext cx="2880360" cy="365760"/>
          </a:xfrm>
          <a:prstGeom prst="rect">
            <a:avLst/>
          </a:prstGeom>
          <a:noFill/>
        </p:spPr>
        <p:txBody>
          <a:bodyPr wrap="square" lIns="0" rIns="0" tIns="0" bIns="0" anchor="t">
            <a:spAutoFit/>
          </a:bodyPr>
          <a:lstStyle/>
          <a:p>
            <a:pPr algn="l"/>
            <a:r>
              <a:rPr sz="1600" b="1" i="0">
                <a:solidFill>
                  <a:srgbClr val="000000"/>
                </a:solidFill>
                <a:latin typeface="Lato"/>
              </a:rPr>
              <a:t>Public trust and compliance</a:t>
            </a:r>
          </a:p>
        </p:txBody>
      </p:sp>
      <p:sp>
        <p:nvSpPr>
          <p:cNvPr id="26" name="TextBox 25"/>
          <p:cNvSpPr txBox="1"/>
          <p:nvPr/>
        </p:nvSpPr>
        <p:spPr>
          <a:xfrm>
            <a:off x="8302752" y="4517136"/>
            <a:ext cx="3246120" cy="1371600"/>
          </a:xfrm>
          <a:prstGeom prst="rect">
            <a:avLst/>
          </a:prstGeom>
          <a:noFill/>
        </p:spPr>
        <p:txBody>
          <a:bodyPr wrap="square" lIns="0" rIns="0" tIns="0" bIns="0">
            <a:spAutoFit/>
          </a:bodyPr>
          <a:lstStyle/>
          <a:p>
            <a:pPr marL="171450" indent="-171450">
              <a:spcAft>
                <a:spcPts val="400"/>
              </a:spcAft>
              <a:buChar char="•"/>
            </a:pPr>
            <a:r>
              <a:rPr sz="1300">
                <a:solidFill>
                  <a:srgbClr val="000000"/>
                </a:solidFill>
                <a:latin typeface="Lato"/>
              </a:rPr>
              <a:t>Political and public opinion on higher education</a:t>
            </a:r>
          </a:p>
          <a:p>
            <a:pPr marL="171450" indent="-171450">
              <a:spcAft>
                <a:spcPts val="400"/>
              </a:spcAft>
              <a:buChar char="•"/>
            </a:pPr>
            <a:r>
              <a:rPr sz="1300">
                <a:solidFill>
                  <a:srgbClr val="000000"/>
                </a:solidFill>
                <a:latin typeface="Lato"/>
              </a:rPr>
              <a:t>Regulatory and compliance requirements</a:t>
            </a:r>
          </a:p>
          <a:p>
            <a:pPr marL="171450" indent="-171450">
              <a:spcAft>
                <a:spcPts val="400"/>
              </a:spcAft>
              <a:buChar char="•"/>
            </a:pPr>
            <a:r>
              <a:rPr sz="1300">
                <a:solidFill>
                  <a:srgbClr val="000000"/>
                </a:solidFill>
                <a:latin typeface="Lato"/>
              </a:rPr>
              <a:t>Federal actions, executive orders and endowment taxation</a:t>
            </a:r>
          </a:p>
        </p:txBody>
      </p:sp>
      <p:sp>
        <p:nvSpPr>
          <p:cNvPr id="27" name="TextBox 26"/>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Board of Trustees Retreat, September 24, 2026 (Landscape and Disruptors); peer actions from federal-response tracking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The headlines: international enrollment is falling and campuses are cutting</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Recent coverage, June–August 2026</a:t>
            </a:r>
          </a:p>
        </p:txBody>
      </p:sp>
      <p:sp>
        <p:nvSpPr>
          <p:cNvPr id="4" name="Rectangle 3"/>
          <p:cNvSpPr/>
          <p:nvPr/>
        </p:nvSpPr>
        <p:spPr>
          <a:xfrm>
            <a:off x="457200" y="1600200"/>
            <a:ext cx="2651760" cy="19659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709928"/>
            <a:ext cx="2377440" cy="365760"/>
          </a:xfrm>
          <a:prstGeom prst="rect">
            <a:avLst/>
          </a:prstGeom>
          <a:noFill/>
        </p:spPr>
        <p:txBody>
          <a:bodyPr wrap="square" lIns="0" rIns="0" tIns="0" bIns="0" anchor="ctr">
            <a:spAutoFit/>
          </a:bodyPr>
          <a:lstStyle/>
          <a:p>
            <a:pPr algn="ctr"/>
            <a:r>
              <a:rPr sz="1500" b="1" i="0">
                <a:solidFill>
                  <a:srgbClr val="000000"/>
                </a:solidFill>
                <a:latin typeface="Georgia"/>
              </a:rPr>
              <a:t>The Boston Globe</a:t>
            </a:r>
          </a:p>
        </p:txBody>
      </p:sp>
      <p:cxnSp>
        <p:nvCxnSpPr>
          <p:cNvPr id="6" name="Connector 5"/>
          <p:cNvCxnSpPr/>
          <p:nvPr/>
        </p:nvCxnSpPr>
        <p:spPr>
          <a:xfrm>
            <a:off x="594360" y="2130552"/>
            <a:ext cx="23774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203704"/>
            <a:ext cx="2377440" cy="228600"/>
          </a:xfrm>
          <a:prstGeom prst="rect">
            <a:avLst/>
          </a:prstGeom>
          <a:noFill/>
        </p:spPr>
        <p:txBody>
          <a:bodyPr wrap="square" lIns="0" rIns="0" tIns="0" bIns="0" anchor="t">
            <a:spAutoFit/>
          </a:bodyPr>
          <a:lstStyle/>
          <a:p>
            <a:pPr algn="ctr"/>
            <a:r>
              <a:rPr sz="800" b="1" i="0">
                <a:solidFill>
                  <a:srgbClr val="C8102E"/>
                </a:solidFill>
                <a:latin typeface="Lato"/>
              </a:rPr>
              <a:t>MAY 12, 2026</a:t>
            </a:r>
          </a:p>
        </p:txBody>
      </p:sp>
      <p:sp>
        <p:nvSpPr>
          <p:cNvPr id="8" name="TextBox 7"/>
          <p:cNvSpPr txBox="1"/>
          <p:nvPr/>
        </p:nvSpPr>
        <p:spPr>
          <a:xfrm>
            <a:off x="594360" y="2496312"/>
            <a:ext cx="2377440" cy="1005839"/>
          </a:xfrm>
          <a:prstGeom prst="rect">
            <a:avLst/>
          </a:prstGeom>
          <a:noFill/>
        </p:spPr>
        <p:txBody>
          <a:bodyPr wrap="square" lIns="0" rIns="0" tIns="0" bIns="0" anchor="t">
            <a:spAutoFit/>
          </a:bodyPr>
          <a:lstStyle/>
          <a:p>
            <a:pPr algn="l"/>
            <a:r>
              <a:rPr sz="1300" b="1" i="0">
                <a:solidFill>
                  <a:srgbClr val="000000"/>
                </a:solidFill>
                <a:latin typeface="Georgia"/>
              </a:rPr>
              <a:t>US colleges report 20 percent drop in foreign students over visa clampdown</a:t>
            </a:r>
          </a:p>
        </p:txBody>
      </p:sp>
      <p:sp>
        <p:nvSpPr>
          <p:cNvPr id="9" name="Rectangle 8"/>
          <p:cNvSpPr/>
          <p:nvPr/>
        </p:nvSpPr>
        <p:spPr>
          <a:xfrm>
            <a:off x="3331159" y="1600200"/>
            <a:ext cx="2651760" cy="19659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8319" y="1709928"/>
            <a:ext cx="2377440" cy="365760"/>
          </a:xfrm>
          <a:prstGeom prst="rect">
            <a:avLst/>
          </a:prstGeom>
          <a:noFill/>
        </p:spPr>
        <p:txBody>
          <a:bodyPr wrap="square" lIns="0" rIns="0" tIns="0" bIns="0" anchor="ctr">
            <a:spAutoFit/>
          </a:bodyPr>
          <a:lstStyle/>
          <a:p>
            <a:pPr algn="ctr"/>
            <a:r>
              <a:rPr sz="1500" b="1" i="0">
                <a:solidFill>
                  <a:srgbClr val="000000"/>
                </a:solidFill>
                <a:latin typeface="Georgia"/>
              </a:rPr>
              <a:t>The Boston Globe</a:t>
            </a:r>
          </a:p>
        </p:txBody>
      </p:sp>
      <p:cxnSp>
        <p:nvCxnSpPr>
          <p:cNvPr id="11" name="Connector 10"/>
          <p:cNvCxnSpPr/>
          <p:nvPr/>
        </p:nvCxnSpPr>
        <p:spPr>
          <a:xfrm>
            <a:off x="3468319" y="2130552"/>
            <a:ext cx="23774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468319" y="2203704"/>
            <a:ext cx="2377440" cy="228600"/>
          </a:xfrm>
          <a:prstGeom prst="rect">
            <a:avLst/>
          </a:prstGeom>
          <a:noFill/>
        </p:spPr>
        <p:txBody>
          <a:bodyPr wrap="square" lIns="0" rIns="0" tIns="0" bIns="0" anchor="t">
            <a:spAutoFit/>
          </a:bodyPr>
          <a:lstStyle/>
          <a:p>
            <a:pPr algn="ctr"/>
            <a:r>
              <a:rPr sz="800" b="1" i="0">
                <a:solidFill>
                  <a:srgbClr val="C8102E"/>
                </a:solidFill>
                <a:latin typeface="Lato"/>
              </a:rPr>
              <a:t>JULY 31, 2026</a:t>
            </a:r>
          </a:p>
        </p:txBody>
      </p:sp>
      <p:sp>
        <p:nvSpPr>
          <p:cNvPr id="13" name="TextBox 12"/>
          <p:cNvSpPr txBox="1"/>
          <p:nvPr/>
        </p:nvSpPr>
        <p:spPr>
          <a:xfrm>
            <a:off x="3468319" y="2496312"/>
            <a:ext cx="2377440" cy="1005839"/>
          </a:xfrm>
          <a:prstGeom prst="rect">
            <a:avLst/>
          </a:prstGeom>
          <a:noFill/>
        </p:spPr>
        <p:txBody>
          <a:bodyPr wrap="square" lIns="0" rIns="0" tIns="0" bIns="0" anchor="t">
            <a:spAutoFit/>
          </a:bodyPr>
          <a:lstStyle/>
          <a:p>
            <a:pPr algn="l"/>
            <a:r>
              <a:rPr sz="1300" b="1" i="0">
                <a:solidFill>
                  <a:srgbClr val="000000"/>
                </a:solidFill>
                <a:latin typeface="Georgia"/>
              </a:rPr>
              <a:t>New visa changes will upend international studies. Graduate programs are bracing for impact.</a:t>
            </a:r>
          </a:p>
        </p:txBody>
      </p:sp>
      <p:sp>
        <p:nvSpPr>
          <p:cNvPr id="14" name="Rectangle 13"/>
          <p:cNvSpPr/>
          <p:nvPr/>
        </p:nvSpPr>
        <p:spPr>
          <a:xfrm>
            <a:off x="6205118" y="1600200"/>
            <a:ext cx="2651760" cy="19659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2278" y="1709928"/>
            <a:ext cx="2377440" cy="365760"/>
          </a:xfrm>
          <a:prstGeom prst="rect">
            <a:avLst/>
          </a:prstGeom>
          <a:noFill/>
        </p:spPr>
        <p:txBody>
          <a:bodyPr wrap="square" lIns="0" rIns="0" tIns="0" bIns="0" anchor="ctr">
            <a:spAutoFit/>
          </a:bodyPr>
          <a:lstStyle/>
          <a:p>
            <a:pPr algn="ctr"/>
            <a:r>
              <a:rPr sz="1200" b="1" i="0">
                <a:solidFill>
                  <a:srgbClr val="000000"/>
                </a:solidFill>
                <a:latin typeface="Georgia"/>
              </a:rPr>
              <a:t>San Francisco Chronicle</a:t>
            </a:r>
          </a:p>
        </p:txBody>
      </p:sp>
      <p:cxnSp>
        <p:nvCxnSpPr>
          <p:cNvPr id="16" name="Connector 15"/>
          <p:cNvCxnSpPr/>
          <p:nvPr/>
        </p:nvCxnSpPr>
        <p:spPr>
          <a:xfrm>
            <a:off x="6342278" y="2130552"/>
            <a:ext cx="23774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42278" y="2203704"/>
            <a:ext cx="2377440" cy="228600"/>
          </a:xfrm>
          <a:prstGeom prst="rect">
            <a:avLst/>
          </a:prstGeom>
          <a:noFill/>
        </p:spPr>
        <p:txBody>
          <a:bodyPr wrap="square" lIns="0" rIns="0" tIns="0" bIns="0" anchor="t">
            <a:spAutoFit/>
          </a:bodyPr>
          <a:lstStyle/>
          <a:p>
            <a:pPr algn="ctr"/>
            <a:r>
              <a:rPr sz="800" b="1" i="0">
                <a:solidFill>
                  <a:srgbClr val="C8102E"/>
                </a:solidFill>
                <a:latin typeface="Lato"/>
              </a:rPr>
              <a:t>JULY 2026</a:t>
            </a:r>
          </a:p>
        </p:txBody>
      </p:sp>
      <p:sp>
        <p:nvSpPr>
          <p:cNvPr id="18" name="TextBox 17"/>
          <p:cNvSpPr txBox="1"/>
          <p:nvPr/>
        </p:nvSpPr>
        <p:spPr>
          <a:xfrm>
            <a:off x="6342278" y="2496312"/>
            <a:ext cx="2377440" cy="1005839"/>
          </a:xfrm>
          <a:prstGeom prst="rect">
            <a:avLst/>
          </a:prstGeom>
          <a:noFill/>
        </p:spPr>
        <p:txBody>
          <a:bodyPr wrap="square" lIns="0" rIns="0" tIns="0" bIns="0" anchor="t">
            <a:spAutoFit/>
          </a:bodyPr>
          <a:lstStyle/>
          <a:p>
            <a:pPr algn="l"/>
            <a:r>
              <a:rPr sz="1300" b="1" i="0">
                <a:solidFill>
                  <a:srgbClr val="000000"/>
                </a:solidFill>
                <a:latin typeface="Georgia"/>
              </a:rPr>
              <a:t>New student visa limits could ripple through Bay Area labs and campuses</a:t>
            </a:r>
          </a:p>
        </p:txBody>
      </p:sp>
      <p:sp>
        <p:nvSpPr>
          <p:cNvPr id="19" name="Rectangle 18"/>
          <p:cNvSpPr/>
          <p:nvPr/>
        </p:nvSpPr>
        <p:spPr>
          <a:xfrm>
            <a:off x="9079077" y="1600200"/>
            <a:ext cx="2651760" cy="19659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16237" y="1709928"/>
            <a:ext cx="2377440" cy="365760"/>
          </a:xfrm>
          <a:prstGeom prst="rect">
            <a:avLst/>
          </a:prstGeom>
          <a:noFill/>
        </p:spPr>
        <p:txBody>
          <a:bodyPr wrap="square" lIns="0" rIns="0" tIns="0" bIns="0" anchor="ctr">
            <a:spAutoFit/>
          </a:bodyPr>
          <a:lstStyle/>
          <a:p>
            <a:pPr algn="ctr"/>
            <a:r>
              <a:rPr sz="1500" b="1" i="0">
                <a:solidFill>
                  <a:srgbClr val="000000"/>
                </a:solidFill>
                <a:latin typeface="Georgia"/>
              </a:rPr>
              <a:t>INSIDE HIGHER ED</a:t>
            </a:r>
          </a:p>
        </p:txBody>
      </p:sp>
      <p:cxnSp>
        <p:nvCxnSpPr>
          <p:cNvPr id="21" name="Connector 20"/>
          <p:cNvCxnSpPr/>
          <p:nvPr/>
        </p:nvCxnSpPr>
        <p:spPr>
          <a:xfrm>
            <a:off x="9216237" y="2130552"/>
            <a:ext cx="23774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216237" y="2203704"/>
            <a:ext cx="2377440" cy="228600"/>
          </a:xfrm>
          <a:prstGeom prst="rect">
            <a:avLst/>
          </a:prstGeom>
          <a:noFill/>
        </p:spPr>
        <p:txBody>
          <a:bodyPr wrap="square" lIns="0" rIns="0" tIns="0" bIns="0" anchor="t">
            <a:spAutoFit/>
          </a:bodyPr>
          <a:lstStyle/>
          <a:p>
            <a:pPr algn="ctr"/>
            <a:r>
              <a:rPr sz="800" b="1" i="0">
                <a:solidFill>
                  <a:srgbClr val="C8102E"/>
                </a:solidFill>
                <a:latin typeface="Lato"/>
              </a:rPr>
              <a:t>AUGUST 24, 2026</a:t>
            </a:r>
          </a:p>
        </p:txBody>
      </p:sp>
      <p:sp>
        <p:nvSpPr>
          <p:cNvPr id="23" name="TextBox 22"/>
          <p:cNvSpPr txBox="1"/>
          <p:nvPr/>
        </p:nvSpPr>
        <p:spPr>
          <a:xfrm>
            <a:off x="9216237" y="2496312"/>
            <a:ext cx="2377440" cy="1005839"/>
          </a:xfrm>
          <a:prstGeom prst="rect">
            <a:avLst/>
          </a:prstGeom>
          <a:noFill/>
        </p:spPr>
        <p:txBody>
          <a:bodyPr wrap="square" lIns="0" rIns="0" tIns="0" bIns="0" anchor="t">
            <a:spAutoFit/>
          </a:bodyPr>
          <a:lstStyle/>
          <a:p>
            <a:pPr algn="l"/>
            <a:r>
              <a:rPr sz="1300" b="1" i="0">
                <a:solidFill>
                  <a:srgbClr val="000000"/>
                </a:solidFill>
                <a:latin typeface="Georgia"/>
              </a:rPr>
              <a:t>International Student Rule Already Spurring Disenrollments</a:t>
            </a:r>
          </a:p>
        </p:txBody>
      </p:sp>
      <p:sp>
        <p:nvSpPr>
          <p:cNvPr id="24" name="Rectangle 23"/>
          <p:cNvSpPr/>
          <p:nvPr/>
        </p:nvSpPr>
        <p:spPr>
          <a:xfrm>
            <a:off x="457200" y="3749039"/>
            <a:ext cx="2651760" cy="19659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3858768"/>
            <a:ext cx="2377440" cy="365760"/>
          </a:xfrm>
          <a:prstGeom prst="rect">
            <a:avLst/>
          </a:prstGeom>
          <a:noFill/>
        </p:spPr>
        <p:txBody>
          <a:bodyPr wrap="square" lIns="0" rIns="0" tIns="0" bIns="0" anchor="ctr">
            <a:spAutoFit/>
          </a:bodyPr>
          <a:lstStyle/>
          <a:p>
            <a:pPr algn="ctr"/>
            <a:r>
              <a:rPr sz="1500" b="1" i="0">
                <a:solidFill>
                  <a:srgbClr val="000000"/>
                </a:solidFill>
                <a:latin typeface="Georgia"/>
              </a:rPr>
              <a:t>INSIDE HIGHER ED</a:t>
            </a:r>
          </a:p>
        </p:txBody>
      </p:sp>
      <p:cxnSp>
        <p:nvCxnSpPr>
          <p:cNvPr id="26" name="Connector 25"/>
          <p:cNvCxnSpPr/>
          <p:nvPr/>
        </p:nvCxnSpPr>
        <p:spPr>
          <a:xfrm>
            <a:off x="594360" y="4279392"/>
            <a:ext cx="23774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94360" y="4352544"/>
            <a:ext cx="2377440" cy="228600"/>
          </a:xfrm>
          <a:prstGeom prst="rect">
            <a:avLst/>
          </a:prstGeom>
          <a:noFill/>
        </p:spPr>
        <p:txBody>
          <a:bodyPr wrap="square" lIns="0" rIns="0" tIns="0" bIns="0" anchor="t">
            <a:spAutoFit/>
          </a:bodyPr>
          <a:lstStyle/>
          <a:p>
            <a:pPr algn="ctr"/>
            <a:r>
              <a:rPr sz="800" b="1" i="0">
                <a:solidFill>
                  <a:srgbClr val="C8102E"/>
                </a:solidFill>
                <a:latin typeface="Lato"/>
              </a:rPr>
              <a:t>AUGUST 6, 2026</a:t>
            </a:r>
          </a:p>
        </p:txBody>
      </p:sp>
      <p:sp>
        <p:nvSpPr>
          <p:cNvPr id="28" name="TextBox 27"/>
          <p:cNvSpPr txBox="1"/>
          <p:nvPr/>
        </p:nvSpPr>
        <p:spPr>
          <a:xfrm>
            <a:off x="594360" y="4645152"/>
            <a:ext cx="2377440" cy="1005839"/>
          </a:xfrm>
          <a:prstGeom prst="rect">
            <a:avLst/>
          </a:prstGeom>
          <a:noFill/>
        </p:spPr>
        <p:txBody>
          <a:bodyPr wrap="square" lIns="0" rIns="0" tIns="0" bIns="0" anchor="t">
            <a:spAutoFit/>
          </a:bodyPr>
          <a:lstStyle/>
          <a:p>
            <a:pPr algn="l"/>
            <a:r>
              <a:rPr sz="1300" b="1" i="0">
                <a:solidFill>
                  <a:srgbClr val="000000"/>
                </a:solidFill>
                <a:latin typeface="Georgia"/>
              </a:rPr>
              <a:t>Campus Cuts Hit Even Wealthy Institutions</a:t>
            </a:r>
          </a:p>
        </p:txBody>
      </p:sp>
      <p:sp>
        <p:nvSpPr>
          <p:cNvPr id="29" name="Rectangle 28"/>
          <p:cNvSpPr/>
          <p:nvPr/>
        </p:nvSpPr>
        <p:spPr>
          <a:xfrm>
            <a:off x="3331159" y="3749039"/>
            <a:ext cx="2651760" cy="19659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68319" y="3858768"/>
            <a:ext cx="2377440" cy="365760"/>
          </a:xfrm>
          <a:prstGeom prst="rect">
            <a:avLst/>
          </a:prstGeom>
          <a:noFill/>
        </p:spPr>
        <p:txBody>
          <a:bodyPr wrap="square" lIns="0" rIns="0" tIns="0" bIns="0" anchor="ctr">
            <a:spAutoFit/>
          </a:bodyPr>
          <a:lstStyle/>
          <a:p>
            <a:pPr algn="ctr"/>
            <a:r>
              <a:rPr sz="1500" b="1" i="0">
                <a:solidFill>
                  <a:srgbClr val="000000"/>
                </a:solidFill>
                <a:latin typeface="Georgia"/>
              </a:rPr>
              <a:t>The Washington Post</a:t>
            </a:r>
          </a:p>
        </p:txBody>
      </p:sp>
      <p:cxnSp>
        <p:nvCxnSpPr>
          <p:cNvPr id="31" name="Connector 30"/>
          <p:cNvCxnSpPr/>
          <p:nvPr/>
        </p:nvCxnSpPr>
        <p:spPr>
          <a:xfrm>
            <a:off x="3468319" y="4279392"/>
            <a:ext cx="23774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468319" y="4352544"/>
            <a:ext cx="2377440" cy="228600"/>
          </a:xfrm>
          <a:prstGeom prst="rect">
            <a:avLst/>
          </a:prstGeom>
          <a:noFill/>
        </p:spPr>
        <p:txBody>
          <a:bodyPr wrap="square" lIns="0" rIns="0" tIns="0" bIns="0" anchor="t">
            <a:spAutoFit/>
          </a:bodyPr>
          <a:lstStyle/>
          <a:p>
            <a:pPr algn="ctr"/>
            <a:r>
              <a:rPr sz="800" b="1" i="0">
                <a:solidFill>
                  <a:srgbClr val="C8102E"/>
                </a:solidFill>
                <a:latin typeface="Lato"/>
              </a:rPr>
              <a:t>JUNE 29, 2026</a:t>
            </a:r>
          </a:p>
        </p:txBody>
      </p:sp>
      <p:sp>
        <p:nvSpPr>
          <p:cNvPr id="33" name="TextBox 32"/>
          <p:cNvSpPr txBox="1"/>
          <p:nvPr/>
        </p:nvSpPr>
        <p:spPr>
          <a:xfrm>
            <a:off x="3468319" y="4645152"/>
            <a:ext cx="2377440" cy="1005839"/>
          </a:xfrm>
          <a:prstGeom prst="rect">
            <a:avLst/>
          </a:prstGeom>
          <a:noFill/>
        </p:spPr>
        <p:txBody>
          <a:bodyPr wrap="square" lIns="0" rIns="0" tIns="0" bIns="0" anchor="t">
            <a:spAutoFit/>
          </a:bodyPr>
          <a:lstStyle/>
          <a:p>
            <a:pPr algn="l"/>
            <a:r>
              <a:rPr sz="1300" b="1" i="0">
                <a:solidFill>
                  <a:srgbClr val="000000"/>
                </a:solidFill>
                <a:latin typeface="Georgia"/>
              </a:rPr>
              <a:t>U.S. colleges cut programs, report budget gaps after losing foreign students</a:t>
            </a:r>
          </a:p>
        </p:txBody>
      </p:sp>
      <p:sp>
        <p:nvSpPr>
          <p:cNvPr id="34" name="Rectangle 33"/>
          <p:cNvSpPr/>
          <p:nvPr/>
        </p:nvSpPr>
        <p:spPr>
          <a:xfrm>
            <a:off x="6205118" y="3749039"/>
            <a:ext cx="2651760" cy="19659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2278" y="3858768"/>
            <a:ext cx="2377440" cy="365760"/>
          </a:xfrm>
          <a:prstGeom prst="rect">
            <a:avLst/>
          </a:prstGeom>
          <a:noFill/>
        </p:spPr>
        <p:txBody>
          <a:bodyPr wrap="square" lIns="0" rIns="0" tIns="0" bIns="0" anchor="ctr">
            <a:spAutoFit/>
          </a:bodyPr>
          <a:lstStyle/>
          <a:p>
            <a:pPr algn="ctr"/>
            <a:r>
              <a:rPr sz="1500" b="1" i="0">
                <a:solidFill>
                  <a:srgbClr val="000000"/>
                </a:solidFill>
                <a:latin typeface="Georgia"/>
              </a:rPr>
              <a:t>CNBC</a:t>
            </a:r>
          </a:p>
        </p:txBody>
      </p:sp>
      <p:cxnSp>
        <p:nvCxnSpPr>
          <p:cNvPr id="36" name="Connector 35"/>
          <p:cNvCxnSpPr/>
          <p:nvPr/>
        </p:nvCxnSpPr>
        <p:spPr>
          <a:xfrm>
            <a:off x="6342278" y="4279392"/>
            <a:ext cx="23774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342278" y="4352544"/>
            <a:ext cx="2377440" cy="228600"/>
          </a:xfrm>
          <a:prstGeom prst="rect">
            <a:avLst/>
          </a:prstGeom>
          <a:noFill/>
        </p:spPr>
        <p:txBody>
          <a:bodyPr wrap="square" lIns="0" rIns="0" tIns="0" bIns="0" anchor="t">
            <a:spAutoFit/>
          </a:bodyPr>
          <a:lstStyle/>
          <a:p>
            <a:pPr algn="ctr"/>
            <a:r>
              <a:rPr sz="800" b="1" i="0">
                <a:solidFill>
                  <a:srgbClr val="C8102E"/>
                </a:solidFill>
                <a:latin typeface="Lato"/>
              </a:rPr>
              <a:t>AUGUST 21, 2026</a:t>
            </a:r>
          </a:p>
        </p:txBody>
      </p:sp>
      <p:sp>
        <p:nvSpPr>
          <p:cNvPr id="38" name="TextBox 37"/>
          <p:cNvSpPr txBox="1"/>
          <p:nvPr/>
        </p:nvSpPr>
        <p:spPr>
          <a:xfrm>
            <a:off x="6342278" y="4645152"/>
            <a:ext cx="2377440" cy="1005839"/>
          </a:xfrm>
          <a:prstGeom prst="rect">
            <a:avLst/>
          </a:prstGeom>
          <a:noFill/>
        </p:spPr>
        <p:txBody>
          <a:bodyPr wrap="square" lIns="0" rIns="0" tIns="0" bIns="0" anchor="t">
            <a:spAutoFit/>
          </a:bodyPr>
          <a:lstStyle/>
          <a:p>
            <a:pPr algn="l"/>
            <a:r>
              <a:rPr sz="1300" b="1" i="0">
                <a:solidFill>
                  <a:srgbClr val="000000"/>
                </a:solidFill>
                <a:latin typeface="Georgia"/>
              </a:rPr>
              <a:t>International student enrollment falls amid tighter U.S. visa policies, reports show</a:t>
            </a:r>
          </a:p>
        </p:txBody>
      </p:sp>
      <p:sp>
        <p:nvSpPr>
          <p:cNvPr id="39" name="Rectangle 38"/>
          <p:cNvSpPr/>
          <p:nvPr/>
        </p:nvSpPr>
        <p:spPr>
          <a:xfrm>
            <a:off x="9079077" y="3749039"/>
            <a:ext cx="2651760" cy="19659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16237" y="3858768"/>
            <a:ext cx="2377440" cy="365760"/>
          </a:xfrm>
          <a:prstGeom prst="rect">
            <a:avLst/>
          </a:prstGeom>
          <a:noFill/>
        </p:spPr>
        <p:txBody>
          <a:bodyPr wrap="square" lIns="0" rIns="0" tIns="0" bIns="0" anchor="ctr">
            <a:spAutoFit/>
          </a:bodyPr>
          <a:lstStyle/>
          <a:p>
            <a:pPr algn="ctr"/>
            <a:r>
              <a:rPr sz="1200" b="1" i="0">
                <a:solidFill>
                  <a:srgbClr val="000000"/>
                </a:solidFill>
                <a:latin typeface="Georgia"/>
              </a:rPr>
              <a:t>The Christian Science Monitor</a:t>
            </a:r>
          </a:p>
        </p:txBody>
      </p:sp>
      <p:cxnSp>
        <p:nvCxnSpPr>
          <p:cNvPr id="41" name="Connector 40"/>
          <p:cNvCxnSpPr/>
          <p:nvPr/>
        </p:nvCxnSpPr>
        <p:spPr>
          <a:xfrm>
            <a:off x="9216237" y="4279392"/>
            <a:ext cx="237744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216237" y="4352544"/>
            <a:ext cx="2377440" cy="228600"/>
          </a:xfrm>
          <a:prstGeom prst="rect">
            <a:avLst/>
          </a:prstGeom>
          <a:noFill/>
        </p:spPr>
        <p:txBody>
          <a:bodyPr wrap="square" lIns="0" rIns="0" tIns="0" bIns="0" anchor="t">
            <a:spAutoFit/>
          </a:bodyPr>
          <a:lstStyle/>
          <a:p>
            <a:pPr algn="ctr"/>
            <a:r>
              <a:rPr sz="800" b="1" i="0">
                <a:solidFill>
                  <a:srgbClr val="C8102E"/>
                </a:solidFill>
                <a:latin typeface="Lato"/>
              </a:rPr>
              <a:t>AUGUST 13, 2026</a:t>
            </a:r>
          </a:p>
        </p:txBody>
      </p:sp>
      <p:sp>
        <p:nvSpPr>
          <p:cNvPr id="43" name="TextBox 42"/>
          <p:cNvSpPr txBox="1"/>
          <p:nvPr/>
        </p:nvSpPr>
        <p:spPr>
          <a:xfrm>
            <a:off x="9216237" y="4645152"/>
            <a:ext cx="2377440" cy="1005839"/>
          </a:xfrm>
          <a:prstGeom prst="rect">
            <a:avLst/>
          </a:prstGeom>
          <a:noFill/>
        </p:spPr>
        <p:txBody>
          <a:bodyPr wrap="square" lIns="0" rIns="0" tIns="0" bIns="0" anchor="t">
            <a:spAutoFit/>
          </a:bodyPr>
          <a:lstStyle/>
          <a:p>
            <a:pPr algn="l"/>
            <a:r>
              <a:rPr sz="1300" b="1" i="0">
                <a:solidFill>
                  <a:srgbClr val="000000"/>
                </a:solidFill>
                <a:latin typeface="Georgia"/>
              </a:rPr>
              <a:t>As financial outlook darkens, colleges cut staff, programs ahead of new school year</a:t>
            </a:r>
          </a:p>
        </p:txBody>
      </p:sp>
      <p:sp>
        <p:nvSpPr>
          <p:cNvPr id="44" name="TextBox 43"/>
          <p:cNvSpPr txBox="1"/>
          <p:nvPr/>
        </p:nvSpPr>
        <p:spPr>
          <a:xfrm>
            <a:off x="457200" y="5897880"/>
            <a:ext cx="11247120" cy="274320"/>
          </a:xfrm>
          <a:prstGeom prst="rect">
            <a:avLst/>
          </a:prstGeom>
          <a:noFill/>
        </p:spPr>
        <p:txBody>
          <a:bodyPr wrap="square" lIns="0" rIns="0" tIns="0" bIns="0" anchor="t">
            <a:spAutoFit/>
          </a:bodyPr>
          <a:lstStyle/>
          <a:p>
            <a:pPr algn="l"/>
            <a:r>
              <a:rPr sz="1300" b="1" i="0">
                <a:solidFill>
                  <a:srgbClr val="C8102E"/>
                </a:solidFill>
                <a:latin typeface="Lato"/>
              </a:rPr>
              <a:t>NAFSA projects roughly 111,000 fewer international students on U.S. campuses this fall (about −9.5%).</a:t>
            </a:r>
          </a:p>
        </p:txBody>
      </p:sp>
      <p:sp>
        <p:nvSpPr>
          <p:cNvPr id="45" name="TextBox 44"/>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headlines as published by each outlet; NAFSA/JB International analysis as reported by Inside Higher Ed, August 2026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The demographic cliff: four-year enrollment is forecast to fall about 15% from its 2025 peak</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Many colleges and universities will face declining or stagnant enrollment; the 2008 dip in births reaches college in 2025</a:t>
            </a:r>
          </a:p>
        </p:txBody>
      </p:sp>
      <p:sp>
        <p:nvSpPr>
          <p:cNvPr id="4" name="TextBox 3"/>
          <p:cNvSpPr txBox="1"/>
          <p:nvPr/>
        </p:nvSpPr>
        <p:spPr>
          <a:xfrm>
            <a:off x="457200" y="1600200"/>
            <a:ext cx="6309360" cy="274320"/>
          </a:xfrm>
          <a:prstGeom prst="rect">
            <a:avLst/>
          </a:prstGeom>
          <a:noFill/>
        </p:spPr>
        <p:txBody>
          <a:bodyPr wrap="square" lIns="0" rIns="0" tIns="0" bIns="0" anchor="t">
            <a:spAutoFit/>
          </a:bodyPr>
          <a:lstStyle/>
          <a:p>
            <a:pPr algn="l"/>
            <a:r>
              <a:rPr sz="1200" b="1" i="0">
                <a:solidFill>
                  <a:srgbClr val="000000"/>
                </a:solidFill>
                <a:latin typeface="Lato"/>
              </a:rPr>
              <a:t>Overall enrollment forecast, four-year institutions (index, 2025 peak = 100)</a:t>
            </a:r>
          </a:p>
        </p:txBody>
      </p:sp>
      <p:graphicFrame>
        <p:nvGraphicFramePr>
          <p:cNvPr id="5" name="Chart 4"/>
          <p:cNvGraphicFramePr>
            <a:graphicFrameLocks noGrp="1"/>
          </p:cNvGraphicFramePr>
          <p:nvPr/>
        </p:nvGraphicFramePr>
        <p:xfrm>
          <a:off x="457200" y="1874519"/>
          <a:ext cx="6309360" cy="2743200"/>
        </p:xfrm>
        <a:graphic>
          <a:graphicData uri="http://schemas.openxmlformats.org/drawingml/2006/chart">
            <c:chart xmlns:c="http://schemas.openxmlformats.org/drawingml/2006/chart" r:id="rId2"/>
          </a:graphicData>
        </a:graphic>
      </p:graphicFrame>
      <p:sp>
        <p:nvSpPr>
          <p:cNvPr id="6" name="TextBox 5"/>
          <p:cNvSpPr txBox="1"/>
          <p:nvPr/>
        </p:nvSpPr>
        <p:spPr>
          <a:xfrm>
            <a:off x="7132320" y="1600200"/>
            <a:ext cx="4572000" cy="274320"/>
          </a:xfrm>
          <a:prstGeom prst="rect">
            <a:avLst/>
          </a:prstGeom>
          <a:noFill/>
        </p:spPr>
        <p:txBody>
          <a:bodyPr wrap="square" lIns="0" rIns="0" tIns="0" bIns="0" anchor="t">
            <a:spAutoFit/>
          </a:bodyPr>
          <a:lstStyle/>
          <a:p>
            <a:pPr algn="l"/>
            <a:r>
              <a:rPr sz="1200" b="1" i="0">
                <a:solidFill>
                  <a:srgbClr val="000000"/>
                </a:solidFill>
                <a:latin typeface="Lato"/>
              </a:rPr>
              <a:t>U.S. total fertility rate trend</a:t>
            </a:r>
          </a:p>
        </p:txBody>
      </p:sp>
      <p:pic>
        <p:nvPicPr>
          <p:cNvPr id="7" name="Picture 6" descr="image.png"/>
          <p:cNvPicPr>
            <a:picLocks noChangeAspect="1"/>
          </p:cNvPicPr>
          <p:nvPr/>
        </p:nvPicPr>
        <p:blipFill>
          <a:blip r:embed="rId3"/>
          <a:stretch>
            <a:fillRect/>
          </a:stretch>
        </p:blipFill>
        <p:spPr>
          <a:xfrm>
            <a:off x="7132320" y="1920240"/>
            <a:ext cx="4599432" cy="2453030"/>
          </a:xfrm>
          <a:prstGeom prst="rect">
            <a:avLst/>
          </a:prstGeom>
        </p:spPr>
      </p:pic>
      <p:sp>
        <p:nvSpPr>
          <p:cNvPr id="8" name="TextBox 7"/>
          <p:cNvSpPr txBox="1"/>
          <p:nvPr/>
        </p:nvSpPr>
        <p:spPr>
          <a:xfrm>
            <a:off x="457200" y="4800600"/>
            <a:ext cx="5577840" cy="274320"/>
          </a:xfrm>
          <a:prstGeom prst="rect">
            <a:avLst/>
          </a:prstGeom>
          <a:noFill/>
        </p:spPr>
        <p:txBody>
          <a:bodyPr wrap="square" lIns="0" rIns="0" tIns="0" bIns="0" anchor="t">
            <a:spAutoFit/>
          </a:bodyPr>
          <a:lstStyle/>
          <a:p>
            <a:pPr algn="l"/>
            <a:r>
              <a:rPr sz="1300" b="1" i="0">
                <a:solidFill>
                  <a:srgbClr val="C8102E"/>
                </a:solidFill>
                <a:latin typeface="Lato"/>
              </a:rPr>
              <a:t>Fertility falls with economic cycles</a:t>
            </a:r>
          </a:p>
        </p:txBody>
      </p:sp>
      <p:sp>
        <p:nvSpPr>
          <p:cNvPr id="9" name="TextBox 8"/>
          <p:cNvSpPr txBox="1"/>
          <p:nvPr/>
        </p:nvSpPr>
        <p:spPr>
          <a:xfrm>
            <a:off x="457200" y="5120640"/>
            <a:ext cx="5577840" cy="1188720"/>
          </a:xfrm>
          <a:prstGeom prst="rect">
            <a:avLst/>
          </a:prstGeom>
          <a:noFill/>
        </p:spPr>
        <p:txBody>
          <a:bodyPr wrap="square" lIns="0" rIns="0" tIns="0" bIns="0">
            <a:spAutoFit/>
          </a:bodyPr>
          <a:lstStyle/>
          <a:p>
            <a:pPr marL="171450" indent="-171450">
              <a:spcAft>
                <a:spcPts val="400"/>
              </a:spcAft>
              <a:buChar char="•"/>
            </a:pPr>
            <a:r>
              <a:rPr sz="1100">
                <a:solidFill>
                  <a:srgbClr val="000000"/>
                </a:solidFill>
                <a:latin typeface="Lato"/>
              </a:rPr>
              <a:t>Universities anticipate up to a ~15% drop in freshman prospects beginning in 2025, driven by the fall in births during the 2008 recession.</a:t>
            </a:r>
          </a:p>
          <a:p>
            <a:pPr marL="171450" indent="-171450">
              <a:spcAft>
                <a:spcPts val="400"/>
              </a:spcAft>
              <a:buChar char="•"/>
            </a:pPr>
            <a:r>
              <a:rPr sz="1100">
                <a:solidFill>
                  <a:srgbClr val="000000"/>
                </a:solidFill>
                <a:latin typeface="Lato"/>
              </a:rPr>
              <a:t>The dip in births in 2008 corresponds to students entering college 17 years later, in 2025.</a:t>
            </a:r>
          </a:p>
        </p:txBody>
      </p:sp>
      <p:sp>
        <p:nvSpPr>
          <p:cNvPr id="10" name="TextBox 9"/>
          <p:cNvSpPr txBox="1"/>
          <p:nvPr/>
        </p:nvSpPr>
        <p:spPr>
          <a:xfrm>
            <a:off x="6309360" y="4800600"/>
            <a:ext cx="5394960" cy="274320"/>
          </a:xfrm>
          <a:prstGeom prst="rect">
            <a:avLst/>
          </a:prstGeom>
          <a:noFill/>
        </p:spPr>
        <p:txBody>
          <a:bodyPr wrap="square" lIns="0" rIns="0" tIns="0" bIns="0" anchor="t">
            <a:spAutoFit/>
          </a:bodyPr>
          <a:lstStyle/>
          <a:p>
            <a:pPr algn="l"/>
            <a:r>
              <a:rPr sz="1300" b="1" i="0">
                <a:solidFill>
                  <a:srgbClr val="C8102E"/>
                </a:solidFill>
                <a:latin typeface="Lato"/>
              </a:rPr>
              <a:t>Trends by institution type</a:t>
            </a:r>
          </a:p>
        </p:txBody>
      </p:sp>
      <p:sp>
        <p:nvSpPr>
          <p:cNvPr id="11" name="TextBox 10"/>
          <p:cNvSpPr txBox="1"/>
          <p:nvPr/>
        </p:nvSpPr>
        <p:spPr>
          <a:xfrm>
            <a:off x="6309360" y="5120640"/>
            <a:ext cx="5422392" cy="1188720"/>
          </a:xfrm>
          <a:prstGeom prst="rect">
            <a:avLst/>
          </a:prstGeom>
          <a:noFill/>
        </p:spPr>
        <p:txBody>
          <a:bodyPr wrap="square" lIns="0" rIns="0" tIns="0" bIns="0">
            <a:spAutoFit/>
          </a:bodyPr>
          <a:lstStyle/>
          <a:p>
            <a:pPr marL="171450" indent="-171450">
              <a:spcAft>
                <a:spcPts val="400"/>
              </a:spcAft>
              <a:buChar char="•"/>
            </a:pPr>
            <a:r>
              <a:rPr sz="1100">
                <a:solidFill>
                  <a:srgbClr val="000000"/>
                </a:solidFill>
                <a:latin typeface="Lato"/>
              </a:rPr>
              <a:t>Demand for elite institutions is projected to drop by much less during 2025 to 2029.</a:t>
            </a:r>
          </a:p>
          <a:p>
            <a:pPr marL="171450" indent="-171450">
              <a:spcAft>
                <a:spcPts val="400"/>
              </a:spcAft>
              <a:buChar char="•"/>
            </a:pPr>
            <a:r>
              <a:rPr sz="1100">
                <a:solidFill>
                  <a:srgbClr val="000000"/>
                </a:solidFill>
                <a:latin typeface="Lato"/>
              </a:rPr>
              <a:t>Regional four-year institutions are expected to lose more than 11 percent of their students, from 1.43 million in 2012 to 1.27 million in 2029.</a:t>
            </a:r>
          </a:p>
        </p:txBody>
      </p:sp>
      <p:sp>
        <p:nvSpPr>
          <p:cNvPr id="12" name="TextBox 11"/>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Sources: CUPA-HR, “The Looming Enrollment Cliff” (2019); Wall Street Journal, “A Visual Breakdown of America’s Stagnating Number of Births” (2023)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Regulatory complexity is a growing burden: 35 areas, about 200 statutes, about 20 agencies</a:t>
            </a:r>
          </a:p>
        </p:txBody>
      </p:sp>
      <p:cxnSp>
        <p:nvCxnSpPr>
          <p:cNvPr id="3" name="Connector 2"/>
          <p:cNvCxnSpPr/>
          <p:nvPr/>
        </p:nvCxnSpPr>
        <p:spPr>
          <a:xfrm>
            <a:off x="457200" y="1371600"/>
            <a:ext cx="3611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463040"/>
            <a:ext cx="3611880" cy="822960"/>
          </a:xfrm>
          <a:prstGeom prst="rect">
            <a:avLst/>
          </a:prstGeom>
          <a:noFill/>
        </p:spPr>
        <p:txBody>
          <a:bodyPr wrap="square" lIns="0" rIns="0" tIns="0" bIns="0" anchor="t">
            <a:spAutoFit/>
          </a:bodyPr>
          <a:lstStyle/>
          <a:p>
            <a:pPr algn="l"/>
            <a:r>
              <a:rPr sz="4800" b="1" i="0">
                <a:solidFill>
                  <a:srgbClr val="C8102E"/>
                </a:solidFill>
                <a:latin typeface="Lato"/>
              </a:rPr>
              <a:t>&gt; 35</a:t>
            </a:r>
          </a:p>
        </p:txBody>
      </p:sp>
      <p:sp>
        <p:nvSpPr>
          <p:cNvPr id="5" name="TextBox 4"/>
          <p:cNvSpPr txBox="1"/>
          <p:nvPr/>
        </p:nvSpPr>
        <p:spPr>
          <a:xfrm>
            <a:off x="457200" y="2331720"/>
            <a:ext cx="3611880" cy="320040"/>
          </a:xfrm>
          <a:prstGeom prst="rect">
            <a:avLst/>
          </a:prstGeom>
          <a:noFill/>
        </p:spPr>
        <p:txBody>
          <a:bodyPr wrap="square" lIns="0" rIns="0" tIns="0" bIns="0" anchor="t">
            <a:spAutoFit/>
          </a:bodyPr>
          <a:lstStyle/>
          <a:p>
            <a:pPr algn="l"/>
            <a:r>
              <a:rPr sz="1600" b="1" i="0">
                <a:solidFill>
                  <a:srgbClr val="000000"/>
                </a:solidFill>
                <a:latin typeface="Lato"/>
              </a:rPr>
              <a:t>different regulatory areas</a:t>
            </a:r>
          </a:p>
        </p:txBody>
      </p:sp>
      <p:sp>
        <p:nvSpPr>
          <p:cNvPr id="6" name="TextBox 5"/>
          <p:cNvSpPr txBox="1"/>
          <p:nvPr/>
        </p:nvSpPr>
        <p:spPr>
          <a:xfrm>
            <a:off x="457200" y="2697480"/>
            <a:ext cx="3611880" cy="457200"/>
          </a:xfrm>
          <a:prstGeom prst="rect">
            <a:avLst/>
          </a:prstGeom>
          <a:noFill/>
        </p:spPr>
        <p:txBody>
          <a:bodyPr wrap="square" lIns="0" rIns="0" tIns="0" bIns="0" anchor="t">
            <a:spAutoFit/>
          </a:bodyPr>
          <a:lstStyle/>
          <a:p>
            <a:pPr algn="l"/>
            <a:r>
              <a:rPr sz="1100" b="0" i="0">
                <a:solidFill>
                  <a:srgbClr val="595959"/>
                </a:solidFill>
                <a:latin typeface="Lato"/>
              </a:rPr>
              <a:t>e.g., Accreditation, Campus Safety, Financial Aid, Grants and Contracts</a:t>
            </a:r>
          </a:p>
        </p:txBody>
      </p:sp>
      <p:sp>
        <p:nvSpPr>
          <p:cNvPr id="7" name="TextBox 6"/>
          <p:cNvSpPr txBox="1"/>
          <p:nvPr/>
        </p:nvSpPr>
        <p:spPr>
          <a:xfrm>
            <a:off x="457200" y="3200400"/>
            <a:ext cx="3611880" cy="2377440"/>
          </a:xfrm>
          <a:prstGeom prst="rect">
            <a:avLst/>
          </a:prstGeom>
          <a:noFill/>
        </p:spPr>
        <p:txBody>
          <a:bodyPr wrap="square" lIns="0" rIns="0" tIns="0" bIns="0">
            <a:spAutoFit/>
          </a:bodyPr>
          <a:lstStyle/>
          <a:p>
            <a:pPr marL="171450" indent="-171450">
              <a:spcAft>
                <a:spcPts val="400"/>
              </a:spcAft>
              <a:buChar char="•"/>
            </a:pPr>
            <a:r>
              <a:rPr sz="1100">
                <a:solidFill>
                  <a:srgbClr val="000000"/>
                </a:solidFill>
                <a:latin typeface="Lato"/>
              </a:rPr>
              <a:t>Accounting</a:t>
            </a:r>
          </a:p>
          <a:p>
            <a:pPr marL="171450" indent="-171450">
              <a:spcAft>
                <a:spcPts val="400"/>
              </a:spcAft>
              <a:buChar char="•"/>
            </a:pPr>
            <a:r>
              <a:rPr sz="1100">
                <a:solidFill>
                  <a:srgbClr val="000000"/>
                </a:solidFill>
                <a:latin typeface="Lato"/>
              </a:rPr>
              <a:t>Accreditation</a:t>
            </a:r>
          </a:p>
          <a:p>
            <a:pPr marL="171450" indent="-171450">
              <a:spcAft>
                <a:spcPts val="400"/>
              </a:spcAft>
              <a:buChar char="•"/>
            </a:pPr>
            <a:r>
              <a:rPr sz="1100">
                <a:solidFill>
                  <a:srgbClr val="000000"/>
                </a:solidFill>
                <a:latin typeface="Lato"/>
              </a:rPr>
              <a:t>Affirmative Action</a:t>
            </a:r>
          </a:p>
          <a:p>
            <a:pPr marL="171450" indent="-171450">
              <a:spcAft>
                <a:spcPts val="400"/>
              </a:spcAft>
              <a:buChar char="•"/>
            </a:pPr>
            <a:r>
              <a:rPr sz="1100">
                <a:solidFill>
                  <a:srgbClr val="000000"/>
                </a:solidFill>
                <a:latin typeface="Lato"/>
              </a:rPr>
              <a:t>Americans with Disabilities Act and Section 504</a:t>
            </a:r>
          </a:p>
          <a:p>
            <a:pPr marL="171450" indent="-171450">
              <a:spcAft>
                <a:spcPts val="400"/>
              </a:spcAft>
              <a:buChar char="•"/>
            </a:pPr>
            <a:r>
              <a:rPr sz="1100">
                <a:solidFill>
                  <a:srgbClr val="000000"/>
                </a:solidFill>
                <a:latin typeface="Lato"/>
              </a:rPr>
              <a:t>Athletics</a:t>
            </a:r>
          </a:p>
          <a:p>
            <a:pPr marL="171450" indent="-171450">
              <a:spcAft>
                <a:spcPts val="400"/>
              </a:spcAft>
              <a:buChar char="•"/>
            </a:pPr>
            <a:r>
              <a:rPr sz="1100">
                <a:solidFill>
                  <a:srgbClr val="000000"/>
                </a:solidFill>
                <a:latin typeface="Lato"/>
              </a:rPr>
              <a:t>Campus Safety / Clery Act</a:t>
            </a:r>
          </a:p>
          <a:p>
            <a:pPr marL="171450" indent="-171450">
              <a:spcAft>
                <a:spcPts val="400"/>
              </a:spcAft>
              <a:buChar char="•"/>
            </a:pPr>
            <a:r>
              <a:rPr sz="1100">
                <a:solidFill>
                  <a:srgbClr val="000000"/>
                </a:solidFill>
                <a:latin typeface="Lato"/>
              </a:rPr>
              <a:t>Conflict of Interest Policies</a:t>
            </a:r>
          </a:p>
          <a:p>
            <a:pPr marL="171450" indent="-171450">
              <a:spcAft>
                <a:spcPts val="400"/>
              </a:spcAft>
              <a:buChar char="•"/>
            </a:pPr>
            <a:r>
              <a:rPr sz="1100">
                <a:solidFill>
                  <a:srgbClr val="000000"/>
                </a:solidFill>
                <a:latin typeface="Lato"/>
              </a:rPr>
              <a:t>Copyright and Fair Use</a:t>
            </a:r>
          </a:p>
          <a:p>
            <a:pPr marL="171450" indent="-171450">
              <a:spcAft>
                <a:spcPts val="400"/>
              </a:spcAft>
              <a:buChar char="•"/>
            </a:pPr>
            <a:r>
              <a:rPr sz="1100">
                <a:solidFill>
                  <a:srgbClr val="000000"/>
                </a:solidFill>
                <a:latin typeface="Lato"/>
              </a:rPr>
              <a:t>Donors and Gifts</a:t>
            </a:r>
          </a:p>
          <a:p>
            <a:pPr marL="171450" indent="-171450">
              <a:spcAft>
                <a:spcPts val="400"/>
              </a:spcAft>
              <a:buChar char="•"/>
            </a:pPr>
            <a:r>
              <a:rPr sz="1100">
                <a:solidFill>
                  <a:srgbClr val="000000"/>
                </a:solidFill>
                <a:latin typeface="Lato"/>
              </a:rPr>
              <a:t>Environmental Health and Safety</a:t>
            </a:r>
          </a:p>
        </p:txBody>
      </p:sp>
      <p:cxnSp>
        <p:nvCxnSpPr>
          <p:cNvPr id="8" name="Connector 7"/>
          <p:cNvCxnSpPr/>
          <p:nvPr/>
        </p:nvCxnSpPr>
        <p:spPr>
          <a:xfrm>
            <a:off x="4288536" y="1371600"/>
            <a:ext cx="3611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288536" y="1463040"/>
            <a:ext cx="3611880" cy="822960"/>
          </a:xfrm>
          <a:prstGeom prst="rect">
            <a:avLst/>
          </a:prstGeom>
          <a:noFill/>
        </p:spPr>
        <p:txBody>
          <a:bodyPr wrap="square" lIns="0" rIns="0" tIns="0" bIns="0" anchor="t">
            <a:spAutoFit/>
          </a:bodyPr>
          <a:lstStyle/>
          <a:p>
            <a:pPr algn="l"/>
            <a:r>
              <a:rPr sz="4800" b="1" i="0">
                <a:solidFill>
                  <a:srgbClr val="C8102E"/>
                </a:solidFill>
                <a:latin typeface="Lato"/>
              </a:rPr>
              <a:t>~200</a:t>
            </a:r>
          </a:p>
        </p:txBody>
      </p:sp>
      <p:sp>
        <p:nvSpPr>
          <p:cNvPr id="10" name="TextBox 9"/>
          <p:cNvSpPr txBox="1"/>
          <p:nvPr/>
        </p:nvSpPr>
        <p:spPr>
          <a:xfrm>
            <a:off x="4288536" y="2331720"/>
            <a:ext cx="3611880" cy="320040"/>
          </a:xfrm>
          <a:prstGeom prst="rect">
            <a:avLst/>
          </a:prstGeom>
          <a:noFill/>
        </p:spPr>
        <p:txBody>
          <a:bodyPr wrap="square" lIns="0" rIns="0" tIns="0" bIns="0" anchor="t">
            <a:spAutoFit/>
          </a:bodyPr>
          <a:lstStyle/>
          <a:p>
            <a:pPr algn="l"/>
            <a:r>
              <a:rPr sz="1600" b="1" i="0">
                <a:solidFill>
                  <a:srgbClr val="000000"/>
                </a:solidFill>
                <a:latin typeface="Lato"/>
              </a:rPr>
              <a:t>different statutes</a:t>
            </a:r>
          </a:p>
        </p:txBody>
      </p:sp>
      <p:sp>
        <p:nvSpPr>
          <p:cNvPr id="11" name="TextBox 10"/>
          <p:cNvSpPr txBox="1"/>
          <p:nvPr/>
        </p:nvSpPr>
        <p:spPr>
          <a:xfrm>
            <a:off x="4288536" y="2697480"/>
            <a:ext cx="3611880" cy="457200"/>
          </a:xfrm>
          <a:prstGeom prst="rect">
            <a:avLst/>
          </a:prstGeom>
          <a:noFill/>
        </p:spPr>
        <p:txBody>
          <a:bodyPr wrap="square" lIns="0" rIns="0" tIns="0" bIns="0" anchor="t">
            <a:spAutoFit/>
          </a:bodyPr>
          <a:lstStyle/>
          <a:p>
            <a:pPr algn="l"/>
            <a:r>
              <a:rPr sz="1100" b="0" i="0">
                <a:solidFill>
                  <a:srgbClr val="595959"/>
                </a:solidFill>
                <a:latin typeface="Lato"/>
              </a:rPr>
              <a:t>e.g., ADA, FERPA, Higher Education Act, Title IX</a:t>
            </a:r>
          </a:p>
        </p:txBody>
      </p:sp>
      <p:sp>
        <p:nvSpPr>
          <p:cNvPr id="12" name="TextBox 11"/>
          <p:cNvSpPr txBox="1"/>
          <p:nvPr/>
        </p:nvSpPr>
        <p:spPr>
          <a:xfrm>
            <a:off x="4288536" y="3200400"/>
            <a:ext cx="3611880" cy="2377440"/>
          </a:xfrm>
          <a:prstGeom prst="rect">
            <a:avLst/>
          </a:prstGeom>
          <a:noFill/>
        </p:spPr>
        <p:txBody>
          <a:bodyPr wrap="square" lIns="0" rIns="0" tIns="0" bIns="0">
            <a:spAutoFit/>
          </a:bodyPr>
          <a:lstStyle/>
          <a:p>
            <a:pPr marL="171450" indent="-171450">
              <a:spcAft>
                <a:spcPts val="400"/>
              </a:spcAft>
              <a:buChar char="•"/>
            </a:pPr>
            <a:r>
              <a:rPr sz="1100">
                <a:solidFill>
                  <a:srgbClr val="000000"/>
                </a:solidFill>
                <a:latin typeface="Lato"/>
              </a:rPr>
              <a:t>GAAP</a:t>
            </a:r>
          </a:p>
          <a:p>
            <a:pPr marL="171450" indent="-171450">
              <a:spcAft>
                <a:spcPts val="400"/>
              </a:spcAft>
              <a:buChar char="•"/>
            </a:pPr>
            <a:r>
              <a:rPr sz="1100">
                <a:solidFill>
                  <a:srgbClr val="000000"/>
                </a:solidFill>
                <a:latin typeface="Lato"/>
              </a:rPr>
              <a:t>Higher Education Opportunity Act 2008</a:t>
            </a:r>
          </a:p>
          <a:p>
            <a:pPr marL="171450" indent="-171450">
              <a:spcAft>
                <a:spcPts val="400"/>
              </a:spcAft>
              <a:buChar char="•"/>
            </a:pPr>
            <a:r>
              <a:rPr sz="1100">
                <a:solidFill>
                  <a:srgbClr val="000000"/>
                </a:solidFill>
                <a:latin typeface="Lato"/>
              </a:rPr>
              <a:t>Americans with Disabilities Act and Section 504</a:t>
            </a:r>
          </a:p>
          <a:p>
            <a:pPr marL="171450" indent="-171450">
              <a:spcAft>
                <a:spcPts val="400"/>
              </a:spcAft>
              <a:buChar char="•"/>
            </a:pPr>
            <a:r>
              <a:rPr sz="1100">
                <a:solidFill>
                  <a:srgbClr val="000000"/>
                </a:solidFill>
                <a:latin typeface="Lato"/>
              </a:rPr>
              <a:t>Title IX</a:t>
            </a:r>
          </a:p>
          <a:p>
            <a:pPr marL="171450" indent="-171450">
              <a:spcAft>
                <a:spcPts val="400"/>
              </a:spcAft>
              <a:buChar char="•"/>
            </a:pPr>
            <a:r>
              <a:rPr sz="1100">
                <a:solidFill>
                  <a:srgbClr val="000000"/>
                </a:solidFill>
                <a:latin typeface="Lato"/>
              </a:rPr>
              <a:t>Clery Act</a:t>
            </a:r>
          </a:p>
          <a:p>
            <a:pPr marL="171450" indent="-171450">
              <a:spcAft>
                <a:spcPts val="400"/>
              </a:spcAft>
              <a:buChar char="•"/>
            </a:pPr>
            <a:r>
              <a:rPr sz="1100">
                <a:solidFill>
                  <a:srgbClr val="000000"/>
                </a:solidFill>
                <a:latin typeface="Lato"/>
              </a:rPr>
              <a:t>C.F.R. and public health</a:t>
            </a:r>
          </a:p>
          <a:p>
            <a:pPr marL="171450" indent="-171450">
              <a:spcAft>
                <a:spcPts val="400"/>
              </a:spcAft>
              <a:buChar char="•"/>
            </a:pPr>
            <a:r>
              <a:rPr sz="1100">
                <a:solidFill>
                  <a:srgbClr val="000000"/>
                </a:solidFill>
                <a:latin typeface="Lato"/>
              </a:rPr>
              <a:t>Copyright Law</a:t>
            </a:r>
          </a:p>
          <a:p>
            <a:pPr marL="171450" indent="-171450">
              <a:spcAft>
                <a:spcPts val="400"/>
              </a:spcAft>
              <a:buChar char="•"/>
            </a:pPr>
            <a:r>
              <a:rPr sz="1100">
                <a:solidFill>
                  <a:srgbClr val="000000"/>
                </a:solidFill>
                <a:latin typeface="Lato"/>
              </a:rPr>
              <a:t>Uniform Prudent Management of Funds Act</a:t>
            </a:r>
          </a:p>
        </p:txBody>
      </p:sp>
      <p:cxnSp>
        <p:nvCxnSpPr>
          <p:cNvPr id="13" name="Connector 12"/>
          <p:cNvCxnSpPr/>
          <p:nvPr/>
        </p:nvCxnSpPr>
        <p:spPr>
          <a:xfrm>
            <a:off x="8119872" y="1371600"/>
            <a:ext cx="3611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19872" y="1463040"/>
            <a:ext cx="3611880" cy="822960"/>
          </a:xfrm>
          <a:prstGeom prst="rect">
            <a:avLst/>
          </a:prstGeom>
          <a:noFill/>
        </p:spPr>
        <p:txBody>
          <a:bodyPr wrap="square" lIns="0" rIns="0" tIns="0" bIns="0" anchor="t">
            <a:spAutoFit/>
          </a:bodyPr>
          <a:lstStyle/>
          <a:p>
            <a:pPr algn="l"/>
            <a:r>
              <a:rPr sz="4800" b="1" i="0">
                <a:solidFill>
                  <a:srgbClr val="C8102E"/>
                </a:solidFill>
                <a:latin typeface="Lato"/>
              </a:rPr>
              <a:t>~20</a:t>
            </a:r>
          </a:p>
        </p:txBody>
      </p:sp>
      <p:sp>
        <p:nvSpPr>
          <p:cNvPr id="15" name="TextBox 14"/>
          <p:cNvSpPr txBox="1"/>
          <p:nvPr/>
        </p:nvSpPr>
        <p:spPr>
          <a:xfrm>
            <a:off x="8119872" y="2331720"/>
            <a:ext cx="3611880" cy="320040"/>
          </a:xfrm>
          <a:prstGeom prst="rect">
            <a:avLst/>
          </a:prstGeom>
          <a:noFill/>
        </p:spPr>
        <p:txBody>
          <a:bodyPr wrap="square" lIns="0" rIns="0" tIns="0" bIns="0" anchor="t">
            <a:spAutoFit/>
          </a:bodyPr>
          <a:lstStyle/>
          <a:p>
            <a:pPr algn="l"/>
            <a:r>
              <a:rPr sz="1600" b="1" i="0">
                <a:solidFill>
                  <a:srgbClr val="000000"/>
                </a:solidFill>
                <a:latin typeface="Lato"/>
              </a:rPr>
              <a:t>different agencies to report to</a:t>
            </a:r>
          </a:p>
        </p:txBody>
      </p:sp>
      <p:sp>
        <p:nvSpPr>
          <p:cNvPr id="16" name="TextBox 15"/>
          <p:cNvSpPr txBox="1"/>
          <p:nvPr/>
        </p:nvSpPr>
        <p:spPr>
          <a:xfrm>
            <a:off x="8119872" y="2697480"/>
            <a:ext cx="3611880" cy="457200"/>
          </a:xfrm>
          <a:prstGeom prst="rect">
            <a:avLst/>
          </a:prstGeom>
          <a:noFill/>
        </p:spPr>
        <p:txBody>
          <a:bodyPr wrap="square" lIns="0" rIns="0" tIns="0" bIns="0" anchor="t">
            <a:spAutoFit/>
          </a:bodyPr>
          <a:lstStyle/>
          <a:p>
            <a:pPr algn="l"/>
            <a:r>
              <a:rPr sz="1100" b="0" i="0">
                <a:solidFill>
                  <a:srgbClr val="595959"/>
                </a:solidFill>
                <a:latin typeface="Lato"/>
              </a:rPr>
              <a:t>e.g., Dept. of Education, NSF, NIH</a:t>
            </a:r>
          </a:p>
        </p:txBody>
      </p:sp>
      <p:sp>
        <p:nvSpPr>
          <p:cNvPr id="17" name="TextBox 16"/>
          <p:cNvSpPr txBox="1"/>
          <p:nvPr/>
        </p:nvSpPr>
        <p:spPr>
          <a:xfrm>
            <a:off x="8119872" y="3200400"/>
            <a:ext cx="3611880" cy="2377440"/>
          </a:xfrm>
          <a:prstGeom prst="rect">
            <a:avLst/>
          </a:prstGeom>
          <a:noFill/>
        </p:spPr>
        <p:txBody>
          <a:bodyPr wrap="square" lIns="0" rIns="0" tIns="0" bIns="0">
            <a:spAutoFit/>
          </a:bodyPr>
          <a:lstStyle/>
          <a:p>
            <a:pPr marL="171450" indent="-171450">
              <a:spcAft>
                <a:spcPts val="400"/>
              </a:spcAft>
              <a:buChar char="•"/>
            </a:pPr>
            <a:r>
              <a:rPr sz="1100">
                <a:solidFill>
                  <a:srgbClr val="000000"/>
                </a:solidFill>
                <a:latin typeface="Lato"/>
              </a:rPr>
              <a:t>Department of Education</a:t>
            </a:r>
          </a:p>
          <a:p>
            <a:pPr marL="171450" indent="-171450">
              <a:spcAft>
                <a:spcPts val="400"/>
              </a:spcAft>
              <a:buChar char="•"/>
            </a:pPr>
            <a:r>
              <a:rPr sz="1100">
                <a:solidFill>
                  <a:srgbClr val="000000"/>
                </a:solidFill>
                <a:latin typeface="Lato"/>
              </a:rPr>
              <a:t>Department of Justice</a:t>
            </a:r>
          </a:p>
          <a:p>
            <a:pPr marL="171450" indent="-171450">
              <a:spcAft>
                <a:spcPts val="400"/>
              </a:spcAft>
              <a:buChar char="•"/>
            </a:pPr>
            <a:r>
              <a:rPr sz="1100">
                <a:solidFill>
                  <a:srgbClr val="000000"/>
                </a:solidFill>
                <a:latin typeface="Lato"/>
              </a:rPr>
              <a:t>Financial Accounting Standards Board</a:t>
            </a:r>
          </a:p>
          <a:p>
            <a:pPr marL="171450" indent="-171450">
              <a:spcAft>
                <a:spcPts val="400"/>
              </a:spcAft>
              <a:buChar char="•"/>
            </a:pPr>
            <a:r>
              <a:rPr sz="1100">
                <a:solidFill>
                  <a:srgbClr val="000000"/>
                </a:solidFill>
                <a:latin typeface="Lato"/>
              </a:rPr>
              <a:t>National Science Foundation</a:t>
            </a:r>
          </a:p>
          <a:p>
            <a:pPr marL="171450" indent="-171450">
              <a:spcAft>
                <a:spcPts val="400"/>
              </a:spcAft>
              <a:buChar char="•"/>
            </a:pPr>
            <a:r>
              <a:rPr sz="1100">
                <a:solidFill>
                  <a:srgbClr val="000000"/>
                </a:solidFill>
                <a:latin typeface="Lato"/>
              </a:rPr>
              <a:t>National Institutes of Health</a:t>
            </a:r>
          </a:p>
          <a:p>
            <a:pPr marL="171450" indent="-171450">
              <a:spcAft>
                <a:spcPts val="400"/>
              </a:spcAft>
              <a:buChar char="•"/>
            </a:pPr>
            <a:r>
              <a:rPr sz="1100">
                <a:solidFill>
                  <a:srgbClr val="000000"/>
                </a:solidFill>
                <a:latin typeface="Lato"/>
              </a:rPr>
              <a:t>Public Health Agency</a:t>
            </a:r>
          </a:p>
          <a:p>
            <a:pPr marL="171450" indent="-171450">
              <a:spcAft>
                <a:spcPts val="400"/>
              </a:spcAft>
              <a:buChar char="•"/>
            </a:pPr>
            <a:r>
              <a:rPr sz="1100">
                <a:solidFill>
                  <a:srgbClr val="000000"/>
                </a:solidFill>
                <a:latin typeface="Lato"/>
              </a:rPr>
              <a:t>FDA</a:t>
            </a:r>
          </a:p>
        </p:txBody>
      </p:sp>
      <p:sp>
        <p:nvSpPr>
          <p:cNvPr id="18" name="TextBox 17"/>
          <p:cNvSpPr txBox="1"/>
          <p:nvPr/>
        </p:nvSpPr>
        <p:spPr>
          <a:xfrm>
            <a:off x="457200" y="5577840"/>
            <a:ext cx="11274552" cy="685800"/>
          </a:xfrm>
          <a:prstGeom prst="rect">
            <a:avLst/>
          </a:prstGeom>
          <a:noFill/>
        </p:spPr>
        <p:txBody>
          <a:bodyPr wrap="square" lIns="0" rIns="0" tIns="0" bIns="0" anchor="ctr">
            <a:spAutoFit/>
          </a:bodyPr>
          <a:lstStyle/>
          <a:p>
            <a:pPr algn="l"/>
            <a:r>
              <a:rPr sz="1200" b="0" i="1">
                <a:solidFill>
                  <a:srgbClr val="000000"/>
                </a:solidFill>
                <a:latin typeface="Lato"/>
              </a:rPr>
              <a:t>“HEA totals nearly 1,000 pages; there are over 1,000 pages in the official Code of Federal Regulations devoted to higher education… on average every workday ED issues one new sub-regulatory guidance directive or clarification… No one has taken the time to ‘weed the garden.’” — Senator Lamar Alexander</a:t>
            </a:r>
          </a:p>
        </p:txBody>
      </p:sp>
      <p:sp>
        <p:nvSpPr>
          <p:cNvPr id="19" name="TextBox 18"/>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Northeastern Financial Affairs; Senator Lamar Alexander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Faculty are far less likely than administrators or trustees to see the financial challenge</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Share who agree that each group is realistic and aware of the financial challenges confronting the institution (4 or 5 on a five-point scale)</a:t>
            </a:r>
          </a:p>
        </p:txBody>
      </p:sp>
      <p:graphicFrame>
        <p:nvGraphicFramePr>
          <p:cNvPr id="4" name="Chart 3"/>
          <p:cNvGraphicFramePr>
            <a:graphicFrameLocks noGrp="1"/>
          </p:cNvGraphicFramePr>
          <p:nvPr/>
        </p:nvGraphicFramePr>
        <p:xfrm>
          <a:off x="457200" y="1828800"/>
          <a:ext cx="11274552" cy="4206240"/>
        </p:xfrm>
        <a:graphic>
          <a:graphicData uri="http://schemas.openxmlformats.org/drawingml/2006/chart">
            <c:chart xmlns:c="http://schemas.openxmlformats.org/drawingml/2006/chart" r:id="rId2"/>
          </a:graphicData>
        </a:graphic>
      </p:graphicFrame>
      <p:sp>
        <p:nvSpPr>
          <p:cNvPr id="5" name="TextBox 4"/>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Inside Higher Ed surveys of college and university business officers, 2013–2024; trustees not surveyed in 2013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Challenges ahead: margin, enrollment mix and federal exposure, and where Legal comes in</a:t>
            </a:r>
          </a:p>
        </p:txBody>
      </p:sp>
      <p:sp>
        <p:nvSpPr>
          <p:cNvPr id="3" name="TextBox 2"/>
          <p:cNvSpPr txBox="1"/>
          <p:nvPr/>
        </p:nvSpPr>
        <p:spPr>
          <a:xfrm>
            <a:off x="457200" y="1325880"/>
            <a:ext cx="2103120" cy="274320"/>
          </a:xfrm>
          <a:prstGeom prst="rect">
            <a:avLst/>
          </a:prstGeom>
          <a:noFill/>
        </p:spPr>
        <p:txBody>
          <a:bodyPr wrap="square" lIns="0" rIns="0" tIns="0" bIns="0" anchor="t">
            <a:spAutoFit/>
          </a:bodyPr>
          <a:lstStyle/>
          <a:p>
            <a:pPr algn="l"/>
            <a:r>
              <a:rPr sz="1200" b="1" i="0">
                <a:solidFill>
                  <a:srgbClr val="C8102E"/>
                </a:solidFill>
                <a:latin typeface="Lato"/>
              </a:rPr>
              <a:t>Challenge</a:t>
            </a:r>
          </a:p>
        </p:txBody>
      </p:sp>
      <p:sp>
        <p:nvSpPr>
          <p:cNvPr id="4" name="TextBox 3"/>
          <p:cNvSpPr txBox="1"/>
          <p:nvPr/>
        </p:nvSpPr>
        <p:spPr>
          <a:xfrm>
            <a:off x="2697480" y="1325880"/>
            <a:ext cx="4572000" cy="274320"/>
          </a:xfrm>
          <a:prstGeom prst="rect">
            <a:avLst/>
          </a:prstGeom>
          <a:noFill/>
        </p:spPr>
        <p:txBody>
          <a:bodyPr wrap="square" lIns="0" rIns="0" tIns="0" bIns="0" anchor="t">
            <a:spAutoFit/>
          </a:bodyPr>
          <a:lstStyle/>
          <a:p>
            <a:pPr algn="l"/>
            <a:r>
              <a:rPr sz="1200" b="1" i="0">
                <a:solidFill>
                  <a:srgbClr val="C8102E"/>
                </a:solidFill>
                <a:latin typeface="Lato"/>
              </a:rPr>
              <a:t>What the data shows</a:t>
            </a:r>
          </a:p>
        </p:txBody>
      </p:sp>
      <p:sp>
        <p:nvSpPr>
          <p:cNvPr id="5" name="TextBox 4"/>
          <p:cNvSpPr txBox="1"/>
          <p:nvPr/>
        </p:nvSpPr>
        <p:spPr>
          <a:xfrm>
            <a:off x="7406640" y="1325880"/>
            <a:ext cx="4325112" cy="274320"/>
          </a:xfrm>
          <a:prstGeom prst="rect">
            <a:avLst/>
          </a:prstGeom>
          <a:noFill/>
        </p:spPr>
        <p:txBody>
          <a:bodyPr wrap="square" lIns="0" rIns="0" tIns="0" bIns="0" anchor="t">
            <a:spAutoFit/>
          </a:bodyPr>
          <a:lstStyle/>
          <a:p>
            <a:pPr algn="l"/>
            <a:r>
              <a:rPr sz="1200" b="1" i="0">
                <a:solidFill>
                  <a:srgbClr val="C8102E"/>
                </a:solidFill>
                <a:latin typeface="Lato"/>
              </a:rPr>
              <a:t>Likely areas of GC engagement (for discussion)</a:t>
            </a:r>
          </a:p>
        </p:txBody>
      </p:sp>
      <p:cxnSp>
        <p:nvCxnSpPr>
          <p:cNvPr id="6" name="Connector 5"/>
          <p:cNvCxnSpPr/>
          <p:nvPr/>
        </p:nvCxnSpPr>
        <p:spPr>
          <a:xfrm>
            <a:off x="457200" y="1645920"/>
            <a:ext cx="11274552"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1810512"/>
            <a:ext cx="2103120" cy="731520"/>
          </a:xfrm>
          <a:prstGeom prst="rect">
            <a:avLst/>
          </a:prstGeom>
          <a:noFill/>
        </p:spPr>
        <p:txBody>
          <a:bodyPr wrap="square" lIns="0" rIns="0" tIns="0" bIns="0" anchor="t">
            <a:spAutoFit/>
          </a:bodyPr>
          <a:lstStyle/>
          <a:p>
            <a:pPr algn="l"/>
            <a:r>
              <a:rPr sz="1400" b="1" i="0">
                <a:solidFill>
                  <a:srgbClr val="000000"/>
                </a:solidFill>
                <a:latin typeface="Lato"/>
              </a:rPr>
              <a:t>Margin below history</a:t>
            </a:r>
          </a:p>
        </p:txBody>
      </p:sp>
      <p:sp>
        <p:nvSpPr>
          <p:cNvPr id="8" name="TextBox 7"/>
          <p:cNvSpPr txBox="1"/>
          <p:nvPr/>
        </p:nvSpPr>
        <p:spPr>
          <a:xfrm>
            <a:off x="2697480" y="1810512"/>
            <a:ext cx="4480560" cy="777240"/>
          </a:xfrm>
          <a:prstGeom prst="rect">
            <a:avLst/>
          </a:prstGeom>
          <a:noFill/>
        </p:spPr>
        <p:txBody>
          <a:bodyPr wrap="square" lIns="0" rIns="0" tIns="0" bIns="0" anchor="t">
            <a:spAutoFit/>
          </a:bodyPr>
          <a:lstStyle/>
          <a:p>
            <a:pPr algn="l"/>
            <a:r>
              <a:rPr sz="1200" b="0" i="0">
                <a:solidFill>
                  <a:srgbClr val="000000"/>
                </a:solidFill>
                <a:latin typeface="Lato"/>
              </a:rPr>
              <a:t>Operating margin recovered to 4.0% in FY26 from 1.1% in FY25, still 320 bp below FY18. FY25 EBIDA margin of 9.5% sits below the 11.5% A-category median.</a:t>
            </a:r>
          </a:p>
        </p:txBody>
      </p:sp>
      <p:sp>
        <p:nvSpPr>
          <p:cNvPr id="9" name="TextBox 8"/>
          <p:cNvSpPr txBox="1"/>
          <p:nvPr/>
        </p:nvSpPr>
        <p:spPr>
          <a:xfrm>
            <a:off x="7406640" y="1810512"/>
            <a:ext cx="4297680" cy="777240"/>
          </a:xfrm>
          <a:prstGeom prst="rect">
            <a:avLst/>
          </a:prstGeom>
          <a:noFill/>
        </p:spPr>
        <p:txBody>
          <a:bodyPr wrap="square" lIns="0" rIns="0" tIns="0" bIns="0" anchor="t">
            <a:spAutoFit/>
          </a:bodyPr>
          <a:lstStyle/>
          <a:p>
            <a:pPr algn="l"/>
            <a:r>
              <a:rPr sz="1200" b="0" i="0">
                <a:solidFill>
                  <a:srgbClr val="000000"/>
                </a:solidFill>
                <a:latin typeface="Lato"/>
              </a:rPr>
              <a:t>Cost-reduction actions: workforce, vendor and lease commitments; consistency of external disclosures.</a:t>
            </a:r>
          </a:p>
        </p:txBody>
      </p:sp>
      <p:cxnSp>
        <p:nvCxnSpPr>
          <p:cNvPr id="10" name="Connector 9"/>
          <p:cNvCxnSpPr/>
          <p:nvPr/>
        </p:nvCxnSpPr>
        <p:spPr>
          <a:xfrm>
            <a:off x="457200" y="2615184"/>
            <a:ext cx="11274552"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706624"/>
            <a:ext cx="2103120" cy="731520"/>
          </a:xfrm>
          <a:prstGeom prst="rect">
            <a:avLst/>
          </a:prstGeom>
          <a:noFill/>
        </p:spPr>
        <p:txBody>
          <a:bodyPr wrap="square" lIns="0" rIns="0" tIns="0" bIns="0" anchor="t">
            <a:spAutoFit/>
          </a:bodyPr>
          <a:lstStyle/>
          <a:p>
            <a:pPr algn="l"/>
            <a:r>
              <a:rPr sz="1400" b="1" i="0">
                <a:solidFill>
                  <a:srgbClr val="000000"/>
                </a:solidFill>
                <a:latin typeface="Lato"/>
              </a:rPr>
              <a:t>Enrollment mix and discount</a:t>
            </a:r>
          </a:p>
        </p:txBody>
      </p:sp>
      <p:sp>
        <p:nvSpPr>
          <p:cNvPr id="12" name="TextBox 11"/>
          <p:cNvSpPr txBox="1"/>
          <p:nvPr/>
        </p:nvSpPr>
        <p:spPr>
          <a:xfrm>
            <a:off x="2697480" y="2706624"/>
            <a:ext cx="4480560" cy="777240"/>
          </a:xfrm>
          <a:prstGeom prst="rect">
            <a:avLst/>
          </a:prstGeom>
          <a:noFill/>
        </p:spPr>
        <p:txBody>
          <a:bodyPr wrap="square" lIns="0" rIns="0" tIns="0" bIns="0" anchor="t">
            <a:spAutoFit/>
          </a:bodyPr>
          <a:lstStyle/>
          <a:p>
            <a:pPr algn="l"/>
            <a:r>
              <a:rPr sz="1200" b="0" i="0">
                <a:solidFill>
                  <a:srgbClr val="000000"/>
                </a:solidFill>
                <a:latin typeface="Lato"/>
              </a:rPr>
              <a:t>Degree-seeking enrollment down 7.2% FY25–FY27 (low scenario); professional graduate down 22.8%. Net tuition up only 0.4% as discounting rises.</a:t>
            </a:r>
          </a:p>
        </p:txBody>
      </p:sp>
      <p:sp>
        <p:nvSpPr>
          <p:cNvPr id="13" name="TextBox 12"/>
          <p:cNvSpPr txBox="1"/>
          <p:nvPr/>
        </p:nvSpPr>
        <p:spPr>
          <a:xfrm>
            <a:off x="7406640" y="2706624"/>
            <a:ext cx="4297680" cy="777240"/>
          </a:xfrm>
          <a:prstGeom prst="rect">
            <a:avLst/>
          </a:prstGeom>
          <a:noFill/>
        </p:spPr>
        <p:txBody>
          <a:bodyPr wrap="square" lIns="0" rIns="0" tIns="0" bIns="0" anchor="t">
            <a:spAutoFit/>
          </a:bodyPr>
          <a:lstStyle/>
          <a:p>
            <a:pPr algn="l"/>
            <a:r>
              <a:rPr sz="1200" b="0" i="0">
                <a:solidFill>
                  <a:srgbClr val="000000"/>
                </a:solidFill>
                <a:latin typeface="Lato"/>
              </a:rPr>
              <a:t>Immigration and SEVP compliance; the new duration-of-status visa rule; student contract and program-closure terms.</a:t>
            </a:r>
          </a:p>
        </p:txBody>
      </p:sp>
      <p:cxnSp>
        <p:nvCxnSpPr>
          <p:cNvPr id="14" name="Connector 13"/>
          <p:cNvCxnSpPr/>
          <p:nvPr/>
        </p:nvCxnSpPr>
        <p:spPr>
          <a:xfrm>
            <a:off x="457200" y="3511296"/>
            <a:ext cx="11274552"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 y="3602736"/>
            <a:ext cx="2103120" cy="731520"/>
          </a:xfrm>
          <a:prstGeom prst="rect">
            <a:avLst/>
          </a:prstGeom>
          <a:noFill/>
        </p:spPr>
        <p:txBody>
          <a:bodyPr wrap="square" lIns="0" rIns="0" tIns="0" bIns="0" anchor="t">
            <a:spAutoFit/>
          </a:bodyPr>
          <a:lstStyle/>
          <a:p>
            <a:pPr algn="l"/>
            <a:r>
              <a:rPr sz="1400" b="1" i="0">
                <a:solidFill>
                  <a:srgbClr val="000000"/>
                </a:solidFill>
                <a:latin typeface="Lato"/>
              </a:rPr>
              <a:t>Federal funding and regulation</a:t>
            </a:r>
          </a:p>
        </p:txBody>
      </p:sp>
      <p:sp>
        <p:nvSpPr>
          <p:cNvPr id="16" name="TextBox 15"/>
          <p:cNvSpPr txBox="1"/>
          <p:nvPr/>
        </p:nvSpPr>
        <p:spPr>
          <a:xfrm>
            <a:off x="2697480" y="3602736"/>
            <a:ext cx="4480560" cy="777240"/>
          </a:xfrm>
          <a:prstGeom prst="rect">
            <a:avLst/>
          </a:prstGeom>
          <a:noFill/>
        </p:spPr>
        <p:txBody>
          <a:bodyPr wrap="square" lIns="0" rIns="0" tIns="0" bIns="0" anchor="t">
            <a:spAutoFit/>
          </a:bodyPr>
          <a:lstStyle/>
          <a:p>
            <a:pPr algn="l"/>
            <a:r>
              <a:rPr sz="1200" b="0" i="0">
                <a:solidFill>
                  <a:srgbClr val="000000"/>
                </a:solidFill>
                <a:latin typeface="Lato"/>
              </a:rPr>
              <a:t>Research awards of $291M in FY26. Peers face funding cuts, executive orders and endowment taxation. Federal regulation is 20 times its 1950 page count.</a:t>
            </a:r>
          </a:p>
        </p:txBody>
      </p:sp>
      <p:sp>
        <p:nvSpPr>
          <p:cNvPr id="17" name="TextBox 16"/>
          <p:cNvSpPr txBox="1"/>
          <p:nvPr/>
        </p:nvSpPr>
        <p:spPr>
          <a:xfrm>
            <a:off x="7406640" y="3602736"/>
            <a:ext cx="4297680" cy="777240"/>
          </a:xfrm>
          <a:prstGeom prst="rect">
            <a:avLst/>
          </a:prstGeom>
          <a:noFill/>
        </p:spPr>
        <p:txBody>
          <a:bodyPr wrap="square" lIns="0" rIns="0" tIns="0" bIns="0" anchor="t">
            <a:spAutoFit/>
          </a:bodyPr>
          <a:lstStyle/>
          <a:p>
            <a:pPr algn="l"/>
            <a:r>
              <a:rPr sz="1200" b="0" i="0">
                <a:solidFill>
                  <a:srgbClr val="000000"/>
                </a:solidFill>
                <a:latin typeface="Lato"/>
              </a:rPr>
              <a:t>Grant compliance, government inquiries, executive-order response and research security.</a:t>
            </a:r>
          </a:p>
        </p:txBody>
      </p:sp>
      <p:cxnSp>
        <p:nvCxnSpPr>
          <p:cNvPr id="18" name="Connector 17"/>
          <p:cNvCxnSpPr/>
          <p:nvPr/>
        </p:nvCxnSpPr>
        <p:spPr>
          <a:xfrm>
            <a:off x="457200" y="4407408"/>
            <a:ext cx="11274552"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4498848"/>
            <a:ext cx="2103120" cy="731520"/>
          </a:xfrm>
          <a:prstGeom prst="rect">
            <a:avLst/>
          </a:prstGeom>
          <a:noFill/>
        </p:spPr>
        <p:txBody>
          <a:bodyPr wrap="square" lIns="0" rIns="0" tIns="0" bIns="0" anchor="t">
            <a:spAutoFit/>
          </a:bodyPr>
          <a:lstStyle/>
          <a:p>
            <a:pPr algn="l"/>
            <a:r>
              <a:rPr sz="1400" b="1" i="0">
                <a:solidFill>
                  <a:srgbClr val="000000"/>
                </a:solidFill>
                <a:latin typeface="Lato"/>
              </a:rPr>
              <a:t>Cost base</a:t>
            </a:r>
          </a:p>
        </p:txBody>
      </p:sp>
      <p:sp>
        <p:nvSpPr>
          <p:cNvPr id="20" name="TextBox 19"/>
          <p:cNvSpPr txBox="1"/>
          <p:nvPr/>
        </p:nvSpPr>
        <p:spPr>
          <a:xfrm>
            <a:off x="2697480" y="4498848"/>
            <a:ext cx="4480560" cy="777240"/>
          </a:xfrm>
          <a:prstGeom prst="rect">
            <a:avLst/>
          </a:prstGeom>
          <a:noFill/>
        </p:spPr>
        <p:txBody>
          <a:bodyPr wrap="square" lIns="0" rIns="0" tIns="0" bIns="0" anchor="t">
            <a:spAutoFit/>
          </a:bodyPr>
          <a:lstStyle/>
          <a:p>
            <a:pPr algn="l"/>
            <a:r>
              <a:rPr sz="1200" b="0" i="0">
                <a:solidFill>
                  <a:srgbClr val="000000"/>
                </a:solidFill>
                <a:latin typeface="Lato"/>
              </a:rPr>
              <a:t>Full-time staff up 46% since FY20 to 4,179, down 312 in the past year. 92% of growth was internally funded.</a:t>
            </a:r>
          </a:p>
        </p:txBody>
      </p:sp>
      <p:sp>
        <p:nvSpPr>
          <p:cNvPr id="21" name="TextBox 20"/>
          <p:cNvSpPr txBox="1"/>
          <p:nvPr/>
        </p:nvSpPr>
        <p:spPr>
          <a:xfrm>
            <a:off x="7406640" y="4498848"/>
            <a:ext cx="4297680" cy="777240"/>
          </a:xfrm>
          <a:prstGeom prst="rect">
            <a:avLst/>
          </a:prstGeom>
          <a:noFill/>
        </p:spPr>
        <p:txBody>
          <a:bodyPr wrap="square" lIns="0" rIns="0" tIns="0" bIns="0" anchor="t">
            <a:spAutoFit/>
          </a:bodyPr>
          <a:lstStyle/>
          <a:p>
            <a:pPr algn="l"/>
            <a:r>
              <a:rPr sz="1200" b="0" i="0">
                <a:solidFill>
                  <a:srgbClr val="000000"/>
                </a:solidFill>
                <a:latin typeface="Lato"/>
              </a:rPr>
              <a:t>Employment actions and restructuring; London and Oakland campus obligations.</a:t>
            </a:r>
          </a:p>
        </p:txBody>
      </p:sp>
      <p:cxnSp>
        <p:nvCxnSpPr>
          <p:cNvPr id="22" name="Connector 21"/>
          <p:cNvCxnSpPr/>
          <p:nvPr/>
        </p:nvCxnSpPr>
        <p:spPr>
          <a:xfrm>
            <a:off x="457200" y="5303520"/>
            <a:ext cx="11274552"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5394960"/>
            <a:ext cx="2103120" cy="731520"/>
          </a:xfrm>
          <a:prstGeom prst="rect">
            <a:avLst/>
          </a:prstGeom>
          <a:noFill/>
        </p:spPr>
        <p:txBody>
          <a:bodyPr wrap="square" lIns="0" rIns="0" tIns="0" bIns="0" anchor="t">
            <a:spAutoFit/>
          </a:bodyPr>
          <a:lstStyle/>
          <a:p>
            <a:pPr algn="l"/>
            <a:r>
              <a:rPr sz="1400" b="1" i="0">
                <a:solidFill>
                  <a:srgbClr val="000000"/>
                </a:solidFill>
                <a:latin typeface="Lato"/>
              </a:rPr>
              <a:t>Leverage and endowment</a:t>
            </a:r>
          </a:p>
        </p:txBody>
      </p:sp>
      <p:sp>
        <p:nvSpPr>
          <p:cNvPr id="24" name="TextBox 23"/>
          <p:cNvSpPr txBox="1"/>
          <p:nvPr/>
        </p:nvSpPr>
        <p:spPr>
          <a:xfrm>
            <a:off x="2697480" y="5394960"/>
            <a:ext cx="4480560" cy="777240"/>
          </a:xfrm>
          <a:prstGeom prst="rect">
            <a:avLst/>
          </a:prstGeom>
          <a:noFill/>
        </p:spPr>
        <p:txBody>
          <a:bodyPr wrap="square" lIns="0" rIns="0" tIns="0" bIns="0" anchor="t">
            <a:spAutoFit/>
          </a:bodyPr>
          <a:lstStyle/>
          <a:p>
            <a:pPr algn="l"/>
            <a:r>
              <a:rPr sz="1200" b="0" i="0">
                <a:solidFill>
                  <a:srgbClr val="000000"/>
                </a:solidFill>
                <a:latin typeface="Lato"/>
              </a:rPr>
              <a:t>Long-term debt of $1,954M (from $1,432M in FY25, incl. $485M Series 2026). Debt service coverage 3.4x. Endowment $2,361M.</a:t>
            </a:r>
          </a:p>
        </p:txBody>
      </p:sp>
      <p:sp>
        <p:nvSpPr>
          <p:cNvPr id="25" name="TextBox 24"/>
          <p:cNvSpPr txBox="1"/>
          <p:nvPr/>
        </p:nvSpPr>
        <p:spPr>
          <a:xfrm>
            <a:off x="7406640" y="5394960"/>
            <a:ext cx="4297680" cy="777240"/>
          </a:xfrm>
          <a:prstGeom prst="rect">
            <a:avLst/>
          </a:prstGeom>
          <a:noFill/>
        </p:spPr>
        <p:txBody>
          <a:bodyPr wrap="square" lIns="0" rIns="0" tIns="0" bIns="0" anchor="t">
            <a:spAutoFit/>
          </a:bodyPr>
          <a:lstStyle/>
          <a:p>
            <a:pPr algn="l"/>
            <a:r>
              <a:rPr sz="1200" b="0" i="0">
                <a:solidFill>
                  <a:srgbClr val="000000"/>
                </a:solidFill>
                <a:latin typeface="Lato"/>
              </a:rPr>
              <a:t>Bond covenants and disclosure; donor restrictions and endowment gift terms.</a:t>
            </a:r>
          </a:p>
        </p:txBody>
      </p:sp>
      <p:cxnSp>
        <p:nvCxnSpPr>
          <p:cNvPr id="26" name="Connector 25"/>
          <p:cNvCxnSpPr/>
          <p:nvPr/>
        </p:nvCxnSpPr>
        <p:spPr>
          <a:xfrm>
            <a:off x="457200" y="6199632"/>
            <a:ext cx="11274552"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Northeastern Financial Affairs (FY26 unaudited); enrollment and staffing data supplied September 2026. GC areas are proposed for discussion.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The headlines: international enrollment is falling and campuses are cutting</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Recent coverage, June–August 2026, as clipped</a:t>
            </a:r>
          </a:p>
        </p:txBody>
      </p:sp>
      <p:sp>
        <p:nvSpPr>
          <p:cNvPr id="4" name="Rectangle 3"/>
          <p:cNvSpPr/>
          <p:nvPr/>
        </p:nvSpPr>
        <p:spPr>
          <a:xfrm>
            <a:off x="457200" y="1417320"/>
            <a:ext cx="11274552" cy="45262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 name="Group 10"/>
          <p:cNvGrpSpPr/>
          <p:nvPr/>
        </p:nvGrpSpPr>
        <p:grpSpPr>
          <a:xfrm rot="21480000">
            <a:off x="629378" y="1504549"/>
            <a:ext cx="2665019" cy="2161169"/>
            <a:chOff x="629378" y="1504549"/>
            <a:chExt cx="2665019" cy="2161169"/>
          </a:xfrm>
        </p:grpSpPr>
        <p:sp>
          <p:nvSpPr>
            <p:cNvPr id="5" name="Freeform 4"/>
            <p:cNvSpPr/>
            <p:nvPr/>
          </p:nvSpPr>
          <p:spPr>
            <a:xfrm>
              <a:off x="629378" y="1504549"/>
              <a:ext cx="2665019" cy="2161169"/>
            </a:xfrm>
            <a:custGeom>
              <a:avLst/>
              <a:gdLst/>
              <a:ahLst/>
              <a:cxnLst/>
              <a:rect l="l" t="t" r="r" b="b"/>
              <a:pathLst>
                <a:path w="2665019" h="2161169">
                  <a:moveTo>
                    <a:pt x="28990" y="8962"/>
                  </a:moveTo>
                  <a:lnTo>
                    <a:pt x="150202" y="48975"/>
                  </a:lnTo>
                  <a:lnTo>
                    <a:pt x="290338" y="46490"/>
                  </a:lnTo>
                  <a:lnTo>
                    <a:pt x="397025" y="50846"/>
                  </a:lnTo>
                  <a:lnTo>
                    <a:pt x="527484" y="4769"/>
                  </a:lnTo>
                  <a:lnTo>
                    <a:pt x="646655" y="2704"/>
                  </a:lnTo>
                  <a:lnTo>
                    <a:pt x="801285" y="60259"/>
                  </a:lnTo>
                  <a:lnTo>
                    <a:pt x="887131" y="19443"/>
                  </a:lnTo>
                  <a:lnTo>
                    <a:pt x="1038922" y="12688"/>
                  </a:lnTo>
                  <a:lnTo>
                    <a:pt x="1125283" y="11710"/>
                  </a:lnTo>
                  <a:lnTo>
                    <a:pt x="1260168" y="39728"/>
                  </a:lnTo>
                  <a:lnTo>
                    <a:pt x="1423714" y="13134"/>
                  </a:lnTo>
                  <a:lnTo>
                    <a:pt x="1547349" y="35189"/>
                  </a:lnTo>
                  <a:lnTo>
                    <a:pt x="1667929" y="51998"/>
                  </a:lnTo>
                  <a:lnTo>
                    <a:pt x="1744614" y="41150"/>
                  </a:lnTo>
                  <a:lnTo>
                    <a:pt x="1866386" y="0"/>
                  </a:lnTo>
                  <a:lnTo>
                    <a:pt x="2007856" y="49149"/>
                  </a:lnTo>
                  <a:lnTo>
                    <a:pt x="2142876" y="11969"/>
                  </a:lnTo>
                  <a:lnTo>
                    <a:pt x="2284576" y="58128"/>
                  </a:lnTo>
                  <a:lnTo>
                    <a:pt x="2370016" y="28326"/>
                  </a:lnTo>
                  <a:lnTo>
                    <a:pt x="2519753" y="57396"/>
                  </a:lnTo>
                  <a:lnTo>
                    <a:pt x="2635030" y="7743"/>
                  </a:lnTo>
                  <a:lnTo>
                    <a:pt x="2638483" y="154280"/>
                  </a:lnTo>
                  <a:lnTo>
                    <a:pt x="2665019" y="276917"/>
                  </a:lnTo>
                  <a:lnTo>
                    <a:pt x="2642013" y="399554"/>
                  </a:lnTo>
                  <a:lnTo>
                    <a:pt x="2648939" y="522191"/>
                  </a:lnTo>
                  <a:lnTo>
                    <a:pt x="2652629" y="644828"/>
                  </a:lnTo>
                  <a:lnTo>
                    <a:pt x="2635485" y="767466"/>
                  </a:lnTo>
                  <a:lnTo>
                    <a:pt x="2621579" y="890103"/>
                  </a:lnTo>
                  <a:lnTo>
                    <a:pt x="2640814" y="1012740"/>
                  </a:lnTo>
                  <a:lnTo>
                    <a:pt x="2636833" y="1135377"/>
                  </a:lnTo>
                  <a:lnTo>
                    <a:pt x="2624997" y="1258014"/>
                  </a:lnTo>
                  <a:lnTo>
                    <a:pt x="2657699" y="1380651"/>
                  </a:lnTo>
                  <a:lnTo>
                    <a:pt x="2626260" y="1503289"/>
                  </a:lnTo>
                  <a:lnTo>
                    <a:pt x="2633977" y="1625926"/>
                  </a:lnTo>
                  <a:lnTo>
                    <a:pt x="2651768" y="1748563"/>
                  </a:lnTo>
                  <a:lnTo>
                    <a:pt x="2655116" y="1871200"/>
                  </a:lnTo>
                  <a:lnTo>
                    <a:pt x="2660022" y="1993837"/>
                  </a:lnTo>
                  <a:lnTo>
                    <a:pt x="2644727" y="2116475"/>
                  </a:lnTo>
                  <a:lnTo>
                    <a:pt x="2495092" y="2152050"/>
                  </a:lnTo>
                  <a:lnTo>
                    <a:pt x="2413033" y="2138467"/>
                  </a:lnTo>
                  <a:lnTo>
                    <a:pt x="2279826" y="2117865"/>
                  </a:lnTo>
                  <a:lnTo>
                    <a:pt x="2138224" y="2124942"/>
                  </a:lnTo>
                  <a:lnTo>
                    <a:pt x="1991961" y="2134497"/>
                  </a:lnTo>
                  <a:lnTo>
                    <a:pt x="1913575" y="2082136"/>
                  </a:lnTo>
                  <a:lnTo>
                    <a:pt x="1782600" y="2137590"/>
                  </a:lnTo>
                  <a:lnTo>
                    <a:pt x="1617994" y="2070463"/>
                  </a:lnTo>
                  <a:lnTo>
                    <a:pt x="1524259" y="2087712"/>
                  </a:lnTo>
                  <a:lnTo>
                    <a:pt x="1381888" y="2128884"/>
                  </a:lnTo>
                  <a:lnTo>
                    <a:pt x="1279615" y="2141950"/>
                  </a:lnTo>
                  <a:lnTo>
                    <a:pt x="1150230" y="2099447"/>
                  </a:lnTo>
                  <a:lnTo>
                    <a:pt x="990564" y="2076946"/>
                  </a:lnTo>
                  <a:lnTo>
                    <a:pt x="878008" y="2119064"/>
                  </a:lnTo>
                  <a:lnTo>
                    <a:pt x="787661" y="2086687"/>
                  </a:lnTo>
                  <a:lnTo>
                    <a:pt x="642424" y="2161169"/>
                  </a:lnTo>
                  <a:lnTo>
                    <a:pt x="519016" y="2138310"/>
                  </a:lnTo>
                  <a:lnTo>
                    <a:pt x="408865" y="2132833"/>
                  </a:lnTo>
                  <a:lnTo>
                    <a:pt x="275693" y="2121092"/>
                  </a:lnTo>
                  <a:lnTo>
                    <a:pt x="165942" y="2081770"/>
                  </a:lnTo>
                  <a:lnTo>
                    <a:pt x="28990" y="2147071"/>
                  </a:lnTo>
                  <a:lnTo>
                    <a:pt x="52857" y="1993837"/>
                  </a:lnTo>
                  <a:lnTo>
                    <a:pt x="0" y="1871200"/>
                  </a:lnTo>
                  <a:lnTo>
                    <a:pt x="9667" y="1748563"/>
                  </a:lnTo>
                  <a:lnTo>
                    <a:pt x="12910" y="1625926"/>
                  </a:lnTo>
                  <a:lnTo>
                    <a:pt x="3024" y="1503289"/>
                  </a:lnTo>
                  <a:lnTo>
                    <a:pt x="5945" y="1380651"/>
                  </a:lnTo>
                  <a:lnTo>
                    <a:pt x="38042" y="1258014"/>
                  </a:lnTo>
                  <a:lnTo>
                    <a:pt x="4859" y="1135377"/>
                  </a:lnTo>
                  <a:lnTo>
                    <a:pt x="1261" y="1012740"/>
                  </a:lnTo>
                  <a:lnTo>
                    <a:pt x="57526" y="890103"/>
                  </a:lnTo>
                  <a:lnTo>
                    <a:pt x="22718" y="767466"/>
                  </a:lnTo>
                  <a:lnTo>
                    <a:pt x="31584" y="644828"/>
                  </a:lnTo>
                  <a:lnTo>
                    <a:pt x="27333" y="522191"/>
                  </a:lnTo>
                  <a:lnTo>
                    <a:pt x="18983" y="399554"/>
                  </a:lnTo>
                  <a:lnTo>
                    <a:pt x="26059" y="276917"/>
                  </a:lnTo>
                  <a:lnTo>
                    <a:pt x="9416" y="154280"/>
                  </a:lnTo>
                  <a:close/>
                </a:path>
              </a:pathLst>
            </a:custGeom>
            <a:solidFill>
              <a:srgbClr val="FFFFFF"/>
            </a:solidFill>
            <a:ln w="6350">
              <a:solidFill>
                <a:srgbClr val="D0D0D0"/>
              </a:solidFill>
            </a:ln>
            <a:effectLst>
              <a:outerShdw blurRad="76200" dist="38100" dir="2700000" algn="t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lobe.png"/>
            <p:cNvPicPr>
              <a:picLocks noChangeAspect="1"/>
            </p:cNvPicPr>
            <p:nvPr/>
          </p:nvPicPr>
          <p:blipFill>
            <a:blip r:embed="rId2"/>
            <a:stretch>
              <a:fillRect/>
            </a:stretch>
          </p:blipFill>
          <p:spPr>
            <a:xfrm>
              <a:off x="886968" y="1670065"/>
              <a:ext cx="2148840" cy="335756"/>
            </a:xfrm>
            <a:prstGeom prst="rect">
              <a:avLst/>
            </a:prstGeom>
          </p:spPr>
        </p:pic>
        <p:cxnSp>
          <p:nvCxnSpPr>
            <p:cNvPr id="7" name="Connector 6"/>
            <p:cNvCxnSpPr/>
            <p:nvPr/>
          </p:nvCxnSpPr>
          <p:spPr>
            <a:xfrm>
              <a:off x="786384" y="2103120"/>
              <a:ext cx="2350008"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86384" y="2157984"/>
              <a:ext cx="2350008"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86384" y="2231136"/>
              <a:ext cx="2350008" cy="201168"/>
            </a:xfrm>
            <a:prstGeom prst="rect">
              <a:avLst/>
            </a:prstGeom>
            <a:noFill/>
          </p:spPr>
          <p:txBody>
            <a:bodyPr wrap="square" lIns="0" rIns="0" tIns="0" bIns="0" anchor="t">
              <a:spAutoFit/>
            </a:bodyPr>
            <a:lstStyle/>
            <a:p>
              <a:pPr algn="ctr"/>
              <a:r>
                <a:rPr sz="800" b="1" i="0">
                  <a:solidFill>
                    <a:srgbClr val="595959"/>
                  </a:solidFill>
                  <a:latin typeface="Lato"/>
                </a:rPr>
                <a:t>MAY 12, 2026</a:t>
              </a:r>
            </a:p>
          </p:txBody>
        </p:sp>
        <p:sp>
          <p:nvSpPr>
            <p:cNvPr id="10" name="TextBox 9"/>
            <p:cNvSpPr txBox="1"/>
            <p:nvPr/>
          </p:nvSpPr>
          <p:spPr>
            <a:xfrm>
              <a:off x="804672" y="2523744"/>
              <a:ext cx="2313432" cy="1042415"/>
            </a:xfrm>
            <a:prstGeom prst="rect">
              <a:avLst/>
            </a:prstGeom>
            <a:noFill/>
          </p:spPr>
          <p:txBody>
            <a:bodyPr wrap="square" lIns="0" rIns="0" tIns="0" bIns="0" anchor="t">
              <a:spAutoFit/>
            </a:bodyPr>
            <a:lstStyle/>
            <a:p>
              <a:pPr algn="l"/>
              <a:r>
                <a:rPr sz="1300" b="1" i="0">
                  <a:solidFill>
                    <a:srgbClr val="000000"/>
                  </a:solidFill>
                  <a:latin typeface="Georgia"/>
                </a:rPr>
                <a:t>US colleges report 20 percent drop in foreign students over visa clampdown</a:t>
              </a:r>
            </a:p>
          </p:txBody>
        </p:sp>
      </p:grpSp>
      <p:grpSp>
        <p:nvGrpSpPr>
          <p:cNvPr id="18" name="Group 17"/>
          <p:cNvGrpSpPr/>
          <p:nvPr/>
        </p:nvGrpSpPr>
        <p:grpSpPr>
          <a:xfrm rot="84000">
            <a:off x="3393975" y="1559469"/>
            <a:ext cx="2555397" cy="2163234"/>
            <a:chOff x="3393975" y="1559469"/>
            <a:chExt cx="2555397" cy="2163234"/>
          </a:xfrm>
        </p:grpSpPr>
        <p:sp>
          <p:nvSpPr>
            <p:cNvPr id="12" name="Freeform 11"/>
            <p:cNvSpPr/>
            <p:nvPr/>
          </p:nvSpPr>
          <p:spPr>
            <a:xfrm>
              <a:off x="3393975" y="1559469"/>
              <a:ext cx="2555397" cy="2163234"/>
            </a:xfrm>
            <a:custGeom>
              <a:avLst/>
              <a:gdLst/>
              <a:ahLst/>
              <a:cxnLst/>
              <a:rect l="l" t="t" r="r" b="b"/>
              <a:pathLst>
                <a:path w="2555397" h="2163234">
                  <a:moveTo>
                    <a:pt x="16737" y="36781"/>
                  </a:moveTo>
                  <a:lnTo>
                    <a:pt x="116941" y="61366"/>
                  </a:lnTo>
                  <a:lnTo>
                    <a:pt x="283360" y="29483"/>
                  </a:lnTo>
                  <a:lnTo>
                    <a:pt x="386429" y="13314"/>
                  </a:lnTo>
                  <a:lnTo>
                    <a:pt x="477894" y="18050"/>
                  </a:lnTo>
                  <a:lnTo>
                    <a:pt x="627767" y="13176"/>
                  </a:lnTo>
                  <a:lnTo>
                    <a:pt x="765348" y="4086"/>
                  </a:lnTo>
                  <a:lnTo>
                    <a:pt x="835304" y="5270"/>
                  </a:lnTo>
                  <a:lnTo>
                    <a:pt x="991955" y="23042"/>
                  </a:lnTo>
                  <a:lnTo>
                    <a:pt x="1092610" y="20451"/>
                  </a:lnTo>
                  <a:lnTo>
                    <a:pt x="1222961" y="25435"/>
                  </a:lnTo>
                  <a:lnTo>
                    <a:pt x="1315235" y="27116"/>
                  </a:lnTo>
                  <a:lnTo>
                    <a:pt x="1441124" y="6675"/>
                  </a:lnTo>
                  <a:lnTo>
                    <a:pt x="1594093" y="43117"/>
                  </a:lnTo>
                  <a:lnTo>
                    <a:pt x="1703684" y="56066"/>
                  </a:lnTo>
                  <a:lnTo>
                    <a:pt x="1806136" y="23859"/>
                  </a:lnTo>
                  <a:lnTo>
                    <a:pt x="1927691" y="25477"/>
                  </a:lnTo>
                  <a:lnTo>
                    <a:pt x="2063178" y="0"/>
                  </a:lnTo>
                  <a:lnTo>
                    <a:pt x="2169810" y="33832"/>
                  </a:lnTo>
                  <a:lnTo>
                    <a:pt x="2281962" y="982"/>
                  </a:lnTo>
                  <a:lnTo>
                    <a:pt x="2424689" y="187"/>
                  </a:lnTo>
                  <a:lnTo>
                    <a:pt x="2531337" y="35709"/>
                  </a:lnTo>
                  <a:lnTo>
                    <a:pt x="2509149" y="154224"/>
                  </a:lnTo>
                  <a:lnTo>
                    <a:pt x="2501546" y="276861"/>
                  </a:lnTo>
                  <a:lnTo>
                    <a:pt x="2510908" y="399498"/>
                  </a:lnTo>
                  <a:lnTo>
                    <a:pt x="2503540" y="522135"/>
                  </a:lnTo>
                  <a:lnTo>
                    <a:pt x="2508982" y="644772"/>
                  </a:lnTo>
                  <a:lnTo>
                    <a:pt x="2543170" y="767410"/>
                  </a:lnTo>
                  <a:lnTo>
                    <a:pt x="2545948" y="890047"/>
                  </a:lnTo>
                  <a:lnTo>
                    <a:pt x="2522554" y="1012684"/>
                  </a:lnTo>
                  <a:lnTo>
                    <a:pt x="2541091" y="1135321"/>
                  </a:lnTo>
                  <a:lnTo>
                    <a:pt x="2529745" y="1257958"/>
                  </a:lnTo>
                  <a:lnTo>
                    <a:pt x="2531237" y="1380595"/>
                  </a:lnTo>
                  <a:lnTo>
                    <a:pt x="2555397" y="1503233"/>
                  </a:lnTo>
                  <a:lnTo>
                    <a:pt x="2519258" y="1625870"/>
                  </a:lnTo>
                  <a:lnTo>
                    <a:pt x="2555019" y="1748507"/>
                  </a:lnTo>
                  <a:lnTo>
                    <a:pt x="2543567" y="1871144"/>
                  </a:lnTo>
                  <a:lnTo>
                    <a:pt x="2543079" y="1993781"/>
                  </a:lnTo>
                  <a:lnTo>
                    <a:pt x="2499713" y="2116418"/>
                  </a:lnTo>
                  <a:lnTo>
                    <a:pt x="2384970" y="2068489"/>
                  </a:lnTo>
                  <a:lnTo>
                    <a:pt x="2281979" y="2162105"/>
                  </a:lnTo>
                  <a:lnTo>
                    <a:pt x="2196156" y="2151093"/>
                  </a:lnTo>
                  <a:lnTo>
                    <a:pt x="2027970" y="2137487"/>
                  </a:lnTo>
                  <a:lnTo>
                    <a:pt x="1950191" y="2148090"/>
                  </a:lnTo>
                  <a:lnTo>
                    <a:pt x="1831585" y="2079582"/>
                  </a:lnTo>
                  <a:lnTo>
                    <a:pt x="1672579" y="2146380"/>
                  </a:lnTo>
                  <a:lnTo>
                    <a:pt x="1588641" y="2156610"/>
                  </a:lnTo>
                  <a:lnTo>
                    <a:pt x="1450225" y="2156316"/>
                  </a:lnTo>
                  <a:lnTo>
                    <a:pt x="1310827" y="2163234"/>
                  </a:lnTo>
                  <a:lnTo>
                    <a:pt x="1238775" y="2099782"/>
                  </a:lnTo>
                  <a:lnTo>
                    <a:pt x="1066742" y="2121389"/>
                  </a:lnTo>
                  <a:lnTo>
                    <a:pt x="986790" y="2101095"/>
                  </a:lnTo>
                  <a:lnTo>
                    <a:pt x="826613" y="2093752"/>
                  </a:lnTo>
                  <a:lnTo>
                    <a:pt x="755964" y="2074494"/>
                  </a:lnTo>
                  <a:lnTo>
                    <a:pt x="643439" y="2090817"/>
                  </a:lnTo>
                  <a:lnTo>
                    <a:pt x="476790" y="2076702"/>
                  </a:lnTo>
                  <a:lnTo>
                    <a:pt x="406755" y="2157491"/>
                  </a:lnTo>
                  <a:lnTo>
                    <a:pt x="244647" y="2075005"/>
                  </a:lnTo>
                  <a:lnTo>
                    <a:pt x="146292" y="2156111"/>
                  </a:lnTo>
                  <a:lnTo>
                    <a:pt x="16737" y="2066452"/>
                  </a:lnTo>
                  <a:lnTo>
                    <a:pt x="25252" y="1993781"/>
                  </a:lnTo>
                  <a:lnTo>
                    <a:pt x="39569" y="1871144"/>
                  </a:lnTo>
                  <a:lnTo>
                    <a:pt x="14101" y="1748507"/>
                  </a:lnTo>
                  <a:lnTo>
                    <a:pt x="21177" y="1625870"/>
                  </a:lnTo>
                  <a:lnTo>
                    <a:pt x="36212" y="1503233"/>
                  </a:lnTo>
                  <a:lnTo>
                    <a:pt x="0" y="1380595"/>
                  </a:lnTo>
                  <a:lnTo>
                    <a:pt x="2222" y="1257958"/>
                  </a:lnTo>
                  <a:lnTo>
                    <a:pt x="27004" y="1135321"/>
                  </a:lnTo>
                  <a:lnTo>
                    <a:pt x="20086" y="1012684"/>
                  </a:lnTo>
                  <a:lnTo>
                    <a:pt x="18999" y="890047"/>
                  </a:lnTo>
                  <a:lnTo>
                    <a:pt x="6134" y="767410"/>
                  </a:lnTo>
                  <a:lnTo>
                    <a:pt x="44706" y="644772"/>
                  </a:lnTo>
                  <a:lnTo>
                    <a:pt x="3176" y="522135"/>
                  </a:lnTo>
                  <a:lnTo>
                    <a:pt x="28187" y="399498"/>
                  </a:lnTo>
                  <a:lnTo>
                    <a:pt x="41966" y="276861"/>
                  </a:lnTo>
                  <a:lnTo>
                    <a:pt x="10387" y="154224"/>
                  </a:lnTo>
                  <a:close/>
                </a:path>
              </a:pathLst>
            </a:custGeom>
            <a:solidFill>
              <a:srgbClr val="FFFFFF"/>
            </a:solidFill>
            <a:ln w="6350">
              <a:solidFill>
                <a:srgbClr val="D0D0D0"/>
              </a:solidFill>
            </a:ln>
            <a:effectLst>
              <a:outerShdw blurRad="76200" dist="38100" dir="2700000" algn="t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lobe.png"/>
            <p:cNvPicPr>
              <a:picLocks noChangeAspect="1"/>
            </p:cNvPicPr>
            <p:nvPr/>
          </p:nvPicPr>
          <p:blipFill>
            <a:blip r:embed="rId2"/>
            <a:stretch>
              <a:fillRect/>
            </a:stretch>
          </p:blipFill>
          <p:spPr>
            <a:xfrm>
              <a:off x="3639312" y="1732073"/>
              <a:ext cx="2057400" cy="321468"/>
            </a:xfrm>
            <a:prstGeom prst="rect">
              <a:avLst/>
            </a:prstGeom>
          </p:spPr>
        </p:pic>
        <p:cxnSp>
          <p:nvCxnSpPr>
            <p:cNvPr id="14" name="Connector 13"/>
            <p:cNvCxnSpPr/>
            <p:nvPr/>
          </p:nvCxnSpPr>
          <p:spPr>
            <a:xfrm>
              <a:off x="3538728" y="2157984"/>
              <a:ext cx="2258568"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538728" y="2212848"/>
              <a:ext cx="2258568"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538728" y="2286000"/>
              <a:ext cx="2258568" cy="201168"/>
            </a:xfrm>
            <a:prstGeom prst="rect">
              <a:avLst/>
            </a:prstGeom>
            <a:noFill/>
          </p:spPr>
          <p:txBody>
            <a:bodyPr wrap="square" lIns="0" rIns="0" tIns="0" bIns="0" anchor="t">
              <a:spAutoFit/>
            </a:bodyPr>
            <a:lstStyle/>
            <a:p>
              <a:pPr algn="ctr"/>
              <a:r>
                <a:rPr sz="800" b="1" i="0">
                  <a:solidFill>
                    <a:srgbClr val="595959"/>
                  </a:solidFill>
                  <a:latin typeface="Lato"/>
                </a:rPr>
                <a:t>JULY 31, 2026</a:t>
              </a:r>
            </a:p>
          </p:txBody>
        </p:sp>
        <p:sp>
          <p:nvSpPr>
            <p:cNvPr id="17" name="TextBox 16"/>
            <p:cNvSpPr txBox="1"/>
            <p:nvPr/>
          </p:nvSpPr>
          <p:spPr>
            <a:xfrm>
              <a:off x="3557016" y="2578608"/>
              <a:ext cx="2221992" cy="1042415"/>
            </a:xfrm>
            <a:prstGeom prst="rect">
              <a:avLst/>
            </a:prstGeom>
            <a:noFill/>
          </p:spPr>
          <p:txBody>
            <a:bodyPr wrap="square" lIns="0" rIns="0" tIns="0" bIns="0" anchor="t">
              <a:spAutoFit/>
            </a:bodyPr>
            <a:lstStyle/>
            <a:p>
              <a:pPr algn="l"/>
              <a:r>
                <a:rPr sz="1300" b="1" i="0">
                  <a:solidFill>
                    <a:srgbClr val="000000"/>
                  </a:solidFill>
                  <a:latin typeface="Georgia"/>
                </a:rPr>
                <a:t>New visa changes will upend international studies. Graduate programs are bracing for impact.</a:t>
              </a:r>
            </a:p>
          </p:txBody>
        </p:sp>
      </p:grpSp>
      <p:grpSp>
        <p:nvGrpSpPr>
          <p:cNvPr id="25" name="Group 24"/>
          <p:cNvGrpSpPr/>
          <p:nvPr/>
        </p:nvGrpSpPr>
        <p:grpSpPr>
          <a:xfrm rot="21534000">
            <a:off x="6076675" y="1506954"/>
            <a:ext cx="2713617" cy="2159548"/>
            <a:chOff x="6076675" y="1506954"/>
            <a:chExt cx="2713617" cy="2159548"/>
          </a:xfrm>
        </p:grpSpPr>
        <p:sp>
          <p:nvSpPr>
            <p:cNvPr id="19" name="Freeform 18"/>
            <p:cNvSpPr/>
            <p:nvPr/>
          </p:nvSpPr>
          <p:spPr>
            <a:xfrm>
              <a:off x="6076675" y="1506954"/>
              <a:ext cx="2713617" cy="2159548"/>
            </a:xfrm>
            <a:custGeom>
              <a:avLst/>
              <a:gdLst/>
              <a:ahLst/>
              <a:cxnLst/>
              <a:rect l="l" t="t" r="r" b="b"/>
              <a:pathLst>
                <a:path w="2713617" h="2159548">
                  <a:moveTo>
                    <a:pt x="31517" y="6718"/>
                  </a:moveTo>
                  <a:lnTo>
                    <a:pt x="159474" y="8095"/>
                  </a:lnTo>
                  <a:lnTo>
                    <a:pt x="286188" y="36140"/>
                  </a:lnTo>
                  <a:lnTo>
                    <a:pt x="385717" y="36758"/>
                  </a:lnTo>
                  <a:lnTo>
                    <a:pt x="517895" y="0"/>
                  </a:lnTo>
                  <a:lnTo>
                    <a:pt x="636117" y="36897"/>
                  </a:lnTo>
                  <a:lnTo>
                    <a:pt x="755979" y="53526"/>
                  </a:lnTo>
                  <a:lnTo>
                    <a:pt x="890320" y="21372"/>
                  </a:lnTo>
                  <a:lnTo>
                    <a:pt x="978308" y="5430"/>
                  </a:lnTo>
                  <a:lnTo>
                    <a:pt x="1136183" y="41385"/>
                  </a:lnTo>
                  <a:lnTo>
                    <a:pt x="1243859" y="25508"/>
                  </a:lnTo>
                  <a:lnTo>
                    <a:pt x="1357463" y="11445"/>
                  </a:lnTo>
                  <a:lnTo>
                    <a:pt x="1479877" y="6537"/>
                  </a:lnTo>
                  <a:lnTo>
                    <a:pt x="1606217" y="37569"/>
                  </a:lnTo>
                  <a:lnTo>
                    <a:pt x="1729900" y="13008"/>
                  </a:lnTo>
                  <a:lnTo>
                    <a:pt x="1813420" y="18547"/>
                  </a:lnTo>
                  <a:lnTo>
                    <a:pt x="1972079" y="29872"/>
                  </a:lnTo>
                  <a:lnTo>
                    <a:pt x="2096453" y="24824"/>
                  </a:lnTo>
                  <a:lnTo>
                    <a:pt x="2194637" y="55326"/>
                  </a:lnTo>
                  <a:lnTo>
                    <a:pt x="2300359" y="10506"/>
                  </a:lnTo>
                  <a:lnTo>
                    <a:pt x="2447892" y="37648"/>
                  </a:lnTo>
                  <a:lnTo>
                    <a:pt x="2558443" y="32954"/>
                  </a:lnTo>
                  <a:lnTo>
                    <a:pt x="2683277" y="25434"/>
                  </a:lnTo>
                  <a:lnTo>
                    <a:pt x="2694073" y="151875"/>
                  </a:lnTo>
                  <a:lnTo>
                    <a:pt x="2708164" y="274512"/>
                  </a:lnTo>
                  <a:lnTo>
                    <a:pt x="2704083" y="397149"/>
                  </a:lnTo>
                  <a:lnTo>
                    <a:pt x="2692189" y="519786"/>
                  </a:lnTo>
                  <a:lnTo>
                    <a:pt x="2681365" y="642423"/>
                  </a:lnTo>
                  <a:lnTo>
                    <a:pt x="2711923" y="765061"/>
                  </a:lnTo>
                  <a:lnTo>
                    <a:pt x="2679893" y="887698"/>
                  </a:lnTo>
                  <a:lnTo>
                    <a:pt x="2691324" y="1010335"/>
                  </a:lnTo>
                  <a:lnTo>
                    <a:pt x="2706862" y="1132972"/>
                  </a:lnTo>
                  <a:lnTo>
                    <a:pt x="2695015" y="1255609"/>
                  </a:lnTo>
                  <a:lnTo>
                    <a:pt x="2676283" y="1378246"/>
                  </a:lnTo>
                  <a:lnTo>
                    <a:pt x="2698831" y="1500884"/>
                  </a:lnTo>
                  <a:lnTo>
                    <a:pt x="2689696" y="1623521"/>
                  </a:lnTo>
                  <a:lnTo>
                    <a:pt x="2709839" y="1746158"/>
                  </a:lnTo>
                  <a:lnTo>
                    <a:pt x="2691155" y="1868795"/>
                  </a:lnTo>
                  <a:lnTo>
                    <a:pt x="2685432" y="1991432"/>
                  </a:lnTo>
                  <a:lnTo>
                    <a:pt x="2713617" y="2114070"/>
                  </a:lnTo>
                  <a:lnTo>
                    <a:pt x="2564512" y="2103668"/>
                  </a:lnTo>
                  <a:lnTo>
                    <a:pt x="2470224" y="2159548"/>
                  </a:lnTo>
                  <a:lnTo>
                    <a:pt x="2300679" y="2070280"/>
                  </a:lnTo>
                  <a:lnTo>
                    <a:pt x="2224057" y="2153266"/>
                  </a:lnTo>
                  <a:lnTo>
                    <a:pt x="2073209" y="2088950"/>
                  </a:lnTo>
                  <a:lnTo>
                    <a:pt x="1971878" y="2159142"/>
                  </a:lnTo>
                  <a:lnTo>
                    <a:pt x="1821170" y="2108727"/>
                  </a:lnTo>
                  <a:lnTo>
                    <a:pt x="1729413" y="2085477"/>
                  </a:lnTo>
                  <a:lnTo>
                    <a:pt x="1593016" y="2077501"/>
                  </a:lnTo>
                  <a:lnTo>
                    <a:pt x="1476632" y="2086409"/>
                  </a:lnTo>
                  <a:lnTo>
                    <a:pt x="1330555" y="2102718"/>
                  </a:lnTo>
                  <a:lnTo>
                    <a:pt x="1214472" y="2075036"/>
                  </a:lnTo>
                  <a:lnTo>
                    <a:pt x="1093963" y="2105641"/>
                  </a:lnTo>
                  <a:lnTo>
                    <a:pt x="984134" y="2137450"/>
                  </a:lnTo>
                  <a:lnTo>
                    <a:pt x="869778" y="2087774"/>
                  </a:lnTo>
                  <a:lnTo>
                    <a:pt x="734755" y="2093292"/>
                  </a:lnTo>
                  <a:lnTo>
                    <a:pt x="649763" y="2083502"/>
                  </a:lnTo>
                  <a:lnTo>
                    <a:pt x="511431" y="2145477"/>
                  </a:lnTo>
                  <a:lnTo>
                    <a:pt x="414226" y="2110214"/>
                  </a:lnTo>
                  <a:lnTo>
                    <a:pt x="294523" y="2128650"/>
                  </a:lnTo>
                  <a:lnTo>
                    <a:pt x="134567" y="2072375"/>
                  </a:lnTo>
                  <a:lnTo>
                    <a:pt x="31517" y="2080278"/>
                  </a:lnTo>
                  <a:lnTo>
                    <a:pt x="50088" y="1991432"/>
                  </a:lnTo>
                  <a:lnTo>
                    <a:pt x="24453" y="1868795"/>
                  </a:lnTo>
                  <a:lnTo>
                    <a:pt x="53118" y="1746158"/>
                  </a:lnTo>
                  <a:lnTo>
                    <a:pt x="61439" y="1623521"/>
                  </a:lnTo>
                  <a:lnTo>
                    <a:pt x="58358" y="1500884"/>
                  </a:lnTo>
                  <a:lnTo>
                    <a:pt x="29545" y="1378246"/>
                  </a:lnTo>
                  <a:lnTo>
                    <a:pt x="0" y="1255609"/>
                  </a:lnTo>
                  <a:lnTo>
                    <a:pt x="17200" y="1132972"/>
                  </a:lnTo>
                  <a:lnTo>
                    <a:pt x="13525" y="1010335"/>
                  </a:lnTo>
                  <a:lnTo>
                    <a:pt x="41058" y="887698"/>
                  </a:lnTo>
                  <a:lnTo>
                    <a:pt x="44441" y="765061"/>
                  </a:lnTo>
                  <a:lnTo>
                    <a:pt x="58505" y="642423"/>
                  </a:lnTo>
                  <a:lnTo>
                    <a:pt x="44648" y="519786"/>
                  </a:lnTo>
                  <a:lnTo>
                    <a:pt x="60938" y="397149"/>
                  </a:lnTo>
                  <a:lnTo>
                    <a:pt x="40355" y="274512"/>
                  </a:lnTo>
                  <a:lnTo>
                    <a:pt x="29904" y="151875"/>
                  </a:lnTo>
                  <a:close/>
                </a:path>
              </a:pathLst>
            </a:custGeom>
            <a:solidFill>
              <a:srgbClr val="FFFFFF"/>
            </a:solidFill>
            <a:ln w="6350">
              <a:solidFill>
                <a:srgbClr val="D0D0D0"/>
              </a:solidFill>
            </a:ln>
            <a:effectLst>
              <a:outerShdw blurRad="76200" dist="38100" dir="2700000" algn="t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fc.png"/>
            <p:cNvPicPr>
              <a:picLocks noChangeAspect="1"/>
            </p:cNvPicPr>
            <p:nvPr/>
          </p:nvPicPr>
          <p:blipFill>
            <a:blip r:embed="rId3"/>
            <a:stretch>
              <a:fillRect/>
            </a:stretch>
          </p:blipFill>
          <p:spPr>
            <a:xfrm>
              <a:off x="6336792" y="1724787"/>
              <a:ext cx="2194560" cy="226314"/>
            </a:xfrm>
            <a:prstGeom prst="rect">
              <a:avLst/>
            </a:prstGeom>
          </p:spPr>
        </p:pic>
        <p:cxnSp>
          <p:nvCxnSpPr>
            <p:cNvPr id="21" name="Connector 20"/>
            <p:cNvCxnSpPr/>
            <p:nvPr/>
          </p:nvCxnSpPr>
          <p:spPr>
            <a:xfrm>
              <a:off x="6236207" y="2103120"/>
              <a:ext cx="2395729"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36207" y="2157984"/>
              <a:ext cx="2395729"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236207" y="2231136"/>
              <a:ext cx="2395728" cy="201168"/>
            </a:xfrm>
            <a:prstGeom prst="rect">
              <a:avLst/>
            </a:prstGeom>
            <a:noFill/>
          </p:spPr>
          <p:txBody>
            <a:bodyPr wrap="square" lIns="0" rIns="0" tIns="0" bIns="0" anchor="t">
              <a:spAutoFit/>
            </a:bodyPr>
            <a:lstStyle/>
            <a:p>
              <a:pPr algn="ctr"/>
              <a:r>
                <a:rPr sz="800" b="1" i="0">
                  <a:solidFill>
                    <a:srgbClr val="595959"/>
                  </a:solidFill>
                  <a:latin typeface="Lato"/>
                </a:rPr>
                <a:t>JULY 2026</a:t>
              </a:r>
            </a:p>
          </p:txBody>
        </p:sp>
        <p:sp>
          <p:nvSpPr>
            <p:cNvPr id="24" name="TextBox 23"/>
            <p:cNvSpPr txBox="1"/>
            <p:nvPr/>
          </p:nvSpPr>
          <p:spPr>
            <a:xfrm>
              <a:off x="6254496" y="2523744"/>
              <a:ext cx="2359152" cy="1042415"/>
            </a:xfrm>
            <a:prstGeom prst="rect">
              <a:avLst/>
            </a:prstGeom>
            <a:noFill/>
          </p:spPr>
          <p:txBody>
            <a:bodyPr wrap="square" lIns="0" rIns="0" tIns="0" bIns="0" anchor="t">
              <a:spAutoFit/>
            </a:bodyPr>
            <a:lstStyle/>
            <a:p>
              <a:pPr algn="l"/>
              <a:r>
                <a:rPr sz="1300" b="1" i="0">
                  <a:solidFill>
                    <a:srgbClr val="000000"/>
                  </a:solidFill>
                  <a:latin typeface="Georgia"/>
                </a:rPr>
                <a:t>New student visa limits could ripple through Bay Area labs and campuses</a:t>
              </a:r>
            </a:p>
          </p:txBody>
        </p:sp>
      </p:grpSp>
      <p:grpSp>
        <p:nvGrpSpPr>
          <p:cNvPr id="32" name="Group 31"/>
          <p:cNvGrpSpPr/>
          <p:nvPr/>
        </p:nvGrpSpPr>
        <p:grpSpPr>
          <a:xfrm rot="108000">
            <a:off x="8912628" y="1564315"/>
            <a:ext cx="2622263" cy="2157043"/>
            <a:chOff x="8912628" y="1564315"/>
            <a:chExt cx="2622263" cy="2157043"/>
          </a:xfrm>
        </p:grpSpPr>
        <p:sp>
          <p:nvSpPr>
            <p:cNvPr id="26" name="Freeform 25"/>
            <p:cNvSpPr/>
            <p:nvPr/>
          </p:nvSpPr>
          <p:spPr>
            <a:xfrm>
              <a:off x="8912628" y="1564315"/>
              <a:ext cx="2622263" cy="2157043"/>
            </a:xfrm>
            <a:custGeom>
              <a:avLst/>
              <a:gdLst/>
              <a:ahLst/>
              <a:cxnLst/>
              <a:rect l="l" t="t" r="r" b="b"/>
              <a:pathLst>
                <a:path w="2622263" h="2157043">
                  <a:moveTo>
                    <a:pt x="30204" y="57404"/>
                  </a:moveTo>
                  <a:lnTo>
                    <a:pt x="149326" y="40748"/>
                  </a:lnTo>
                  <a:lnTo>
                    <a:pt x="289078" y="8492"/>
                  </a:lnTo>
                  <a:lnTo>
                    <a:pt x="368955" y="33317"/>
                  </a:lnTo>
                  <a:lnTo>
                    <a:pt x="493683" y="19202"/>
                  </a:lnTo>
                  <a:lnTo>
                    <a:pt x="664748" y="50561"/>
                  </a:lnTo>
                  <a:lnTo>
                    <a:pt x="737317" y="0"/>
                  </a:lnTo>
                  <a:lnTo>
                    <a:pt x="865880" y="47741"/>
                  </a:lnTo>
                  <a:lnTo>
                    <a:pt x="975142" y="9150"/>
                  </a:lnTo>
                  <a:lnTo>
                    <a:pt x="1102344" y="2906"/>
                  </a:lnTo>
                  <a:lnTo>
                    <a:pt x="1250903" y="6478"/>
                  </a:lnTo>
                  <a:lnTo>
                    <a:pt x="1365527" y="41666"/>
                  </a:lnTo>
                  <a:lnTo>
                    <a:pt x="1507517" y="21302"/>
                  </a:lnTo>
                  <a:lnTo>
                    <a:pt x="1633478" y="31382"/>
                  </a:lnTo>
                  <a:lnTo>
                    <a:pt x="1758012" y="10667"/>
                  </a:lnTo>
                  <a:lnTo>
                    <a:pt x="1850626" y="31883"/>
                  </a:lnTo>
                  <a:lnTo>
                    <a:pt x="2009464" y="34315"/>
                  </a:lnTo>
                  <a:lnTo>
                    <a:pt x="2101224" y="10800"/>
                  </a:lnTo>
                  <a:lnTo>
                    <a:pt x="2210767" y="8549"/>
                  </a:lnTo>
                  <a:lnTo>
                    <a:pt x="2377815" y="51485"/>
                  </a:lnTo>
                  <a:lnTo>
                    <a:pt x="2493859" y="28569"/>
                  </a:lnTo>
                  <a:lnTo>
                    <a:pt x="2590523" y="40079"/>
                  </a:lnTo>
                  <a:lnTo>
                    <a:pt x="2577497" y="149378"/>
                  </a:lnTo>
                  <a:lnTo>
                    <a:pt x="2589344" y="272015"/>
                  </a:lnTo>
                  <a:lnTo>
                    <a:pt x="2567835" y="394652"/>
                  </a:lnTo>
                  <a:lnTo>
                    <a:pt x="2585412" y="517289"/>
                  </a:lnTo>
                  <a:lnTo>
                    <a:pt x="2574695" y="639926"/>
                  </a:lnTo>
                  <a:lnTo>
                    <a:pt x="2564919" y="762564"/>
                  </a:lnTo>
                  <a:lnTo>
                    <a:pt x="2617371" y="885201"/>
                  </a:lnTo>
                  <a:lnTo>
                    <a:pt x="2564708" y="1007838"/>
                  </a:lnTo>
                  <a:lnTo>
                    <a:pt x="2610554" y="1130475"/>
                  </a:lnTo>
                  <a:lnTo>
                    <a:pt x="2603298" y="1253112"/>
                  </a:lnTo>
                  <a:lnTo>
                    <a:pt x="2564284" y="1375749"/>
                  </a:lnTo>
                  <a:lnTo>
                    <a:pt x="2589573" y="1498387"/>
                  </a:lnTo>
                  <a:lnTo>
                    <a:pt x="2622263" y="1621024"/>
                  </a:lnTo>
                  <a:lnTo>
                    <a:pt x="2621687" y="1743661"/>
                  </a:lnTo>
                  <a:lnTo>
                    <a:pt x="2594575" y="1866298"/>
                  </a:lnTo>
                  <a:lnTo>
                    <a:pt x="2607921" y="1988935"/>
                  </a:lnTo>
                  <a:lnTo>
                    <a:pt x="2603880" y="2111572"/>
                  </a:lnTo>
                  <a:lnTo>
                    <a:pt x="2455275" y="2116687"/>
                  </a:lnTo>
                  <a:lnTo>
                    <a:pt x="2352888" y="2100723"/>
                  </a:lnTo>
                  <a:lnTo>
                    <a:pt x="2245182" y="2105859"/>
                  </a:lnTo>
                  <a:lnTo>
                    <a:pt x="2118813" y="2066991"/>
                  </a:lnTo>
                  <a:lnTo>
                    <a:pt x="1977396" y="2064917"/>
                  </a:lnTo>
                  <a:lnTo>
                    <a:pt x="1868402" y="2149737"/>
                  </a:lnTo>
                  <a:lnTo>
                    <a:pt x="1739865" y="2118269"/>
                  </a:lnTo>
                  <a:lnTo>
                    <a:pt x="1623004" y="2083824"/>
                  </a:lnTo>
                  <a:lnTo>
                    <a:pt x="1485963" y="2119614"/>
                  </a:lnTo>
                  <a:lnTo>
                    <a:pt x="1380687" y="2099289"/>
                  </a:lnTo>
                  <a:lnTo>
                    <a:pt x="1247955" y="2094243"/>
                  </a:lnTo>
                  <a:lnTo>
                    <a:pt x="1130959" y="2129594"/>
                  </a:lnTo>
                  <a:lnTo>
                    <a:pt x="994539" y="2130519"/>
                  </a:lnTo>
                  <a:lnTo>
                    <a:pt x="905981" y="2115304"/>
                  </a:lnTo>
                  <a:lnTo>
                    <a:pt x="792471" y="2092063"/>
                  </a:lnTo>
                  <a:lnTo>
                    <a:pt x="666659" y="2078995"/>
                  </a:lnTo>
                  <a:lnTo>
                    <a:pt x="509142" y="2144022"/>
                  </a:lnTo>
                  <a:lnTo>
                    <a:pt x="366045" y="2123298"/>
                  </a:lnTo>
                  <a:lnTo>
                    <a:pt x="297811" y="2157043"/>
                  </a:lnTo>
                  <a:lnTo>
                    <a:pt x="163785" y="2095756"/>
                  </a:lnTo>
                  <a:lnTo>
                    <a:pt x="30204" y="2094397"/>
                  </a:lnTo>
                  <a:lnTo>
                    <a:pt x="38598" y="1988935"/>
                  </a:lnTo>
                  <a:lnTo>
                    <a:pt x="2470" y="1866298"/>
                  </a:lnTo>
                  <a:lnTo>
                    <a:pt x="0" y="1743661"/>
                  </a:lnTo>
                  <a:lnTo>
                    <a:pt x="54633" y="1621024"/>
                  </a:lnTo>
                  <a:lnTo>
                    <a:pt x="38326" y="1498387"/>
                  </a:lnTo>
                  <a:lnTo>
                    <a:pt x="8624" y="1375749"/>
                  </a:lnTo>
                  <a:lnTo>
                    <a:pt x="25642" y="1253112"/>
                  </a:lnTo>
                  <a:lnTo>
                    <a:pt x="16703" y="1130475"/>
                  </a:lnTo>
                  <a:lnTo>
                    <a:pt x="53841" y="1007838"/>
                  </a:lnTo>
                  <a:lnTo>
                    <a:pt x="16521" y="885201"/>
                  </a:lnTo>
                  <a:lnTo>
                    <a:pt x="44568" y="762564"/>
                  </a:lnTo>
                  <a:lnTo>
                    <a:pt x="45808" y="639926"/>
                  </a:lnTo>
                  <a:lnTo>
                    <a:pt x="18603" y="517289"/>
                  </a:lnTo>
                  <a:lnTo>
                    <a:pt x="14336" y="394652"/>
                  </a:lnTo>
                  <a:lnTo>
                    <a:pt x="31555" y="272015"/>
                  </a:lnTo>
                  <a:lnTo>
                    <a:pt x="23785" y="149378"/>
                  </a:lnTo>
                  <a:close/>
                </a:path>
              </a:pathLst>
            </a:custGeom>
            <a:solidFill>
              <a:srgbClr val="FFFFFF"/>
            </a:solidFill>
            <a:ln w="6350">
              <a:solidFill>
                <a:srgbClr val="D0D0D0"/>
              </a:solidFill>
            </a:ln>
            <a:effectLst>
              <a:outerShdw blurRad="76200" dist="38100" dir="2700000" algn="t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he.png"/>
            <p:cNvPicPr>
              <a:picLocks noChangeAspect="1"/>
            </p:cNvPicPr>
            <p:nvPr/>
          </p:nvPicPr>
          <p:blipFill>
            <a:blip r:embed="rId4"/>
            <a:stretch>
              <a:fillRect/>
            </a:stretch>
          </p:blipFill>
          <p:spPr>
            <a:xfrm>
              <a:off x="9805064" y="1682496"/>
              <a:ext cx="835855" cy="420624"/>
            </a:xfrm>
            <a:prstGeom prst="rect">
              <a:avLst/>
            </a:prstGeom>
          </p:spPr>
        </p:pic>
        <p:cxnSp>
          <p:nvCxnSpPr>
            <p:cNvPr id="28" name="Connector 27"/>
            <p:cNvCxnSpPr/>
            <p:nvPr/>
          </p:nvCxnSpPr>
          <p:spPr>
            <a:xfrm>
              <a:off x="9070848" y="2157984"/>
              <a:ext cx="2304288"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070848" y="2212848"/>
              <a:ext cx="2304288"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070848" y="2286000"/>
              <a:ext cx="2304287" cy="201168"/>
            </a:xfrm>
            <a:prstGeom prst="rect">
              <a:avLst/>
            </a:prstGeom>
            <a:noFill/>
          </p:spPr>
          <p:txBody>
            <a:bodyPr wrap="square" lIns="0" rIns="0" tIns="0" bIns="0" anchor="t">
              <a:spAutoFit/>
            </a:bodyPr>
            <a:lstStyle/>
            <a:p>
              <a:pPr algn="ctr"/>
              <a:r>
                <a:rPr sz="800" b="1" i="0">
                  <a:solidFill>
                    <a:srgbClr val="595959"/>
                  </a:solidFill>
                  <a:latin typeface="Lato"/>
                </a:rPr>
                <a:t>AUGUST 24, 2026</a:t>
              </a:r>
            </a:p>
          </p:txBody>
        </p:sp>
        <p:sp>
          <p:nvSpPr>
            <p:cNvPr id="31" name="TextBox 30"/>
            <p:cNvSpPr txBox="1"/>
            <p:nvPr/>
          </p:nvSpPr>
          <p:spPr>
            <a:xfrm>
              <a:off x="9089136" y="2578608"/>
              <a:ext cx="2267712" cy="1042415"/>
            </a:xfrm>
            <a:prstGeom prst="rect">
              <a:avLst/>
            </a:prstGeom>
            <a:noFill/>
          </p:spPr>
          <p:txBody>
            <a:bodyPr wrap="square" lIns="0" rIns="0" tIns="0" bIns="0" anchor="t">
              <a:spAutoFit/>
            </a:bodyPr>
            <a:lstStyle/>
            <a:p>
              <a:pPr algn="l"/>
              <a:r>
                <a:rPr sz="1300" b="1" i="0">
                  <a:solidFill>
                    <a:srgbClr val="000000"/>
                  </a:solidFill>
                  <a:latin typeface="Georgia"/>
                </a:rPr>
                <a:t>International Student Rule Already Spurring Disenrollments</a:t>
              </a:r>
            </a:p>
          </p:txBody>
        </p:sp>
      </p:grpSp>
      <p:grpSp>
        <p:nvGrpSpPr>
          <p:cNvPr id="39" name="Group 38"/>
          <p:cNvGrpSpPr/>
          <p:nvPr/>
        </p:nvGrpSpPr>
        <p:grpSpPr>
          <a:xfrm rot="90000">
            <a:off x="611573" y="3705166"/>
            <a:ext cx="2620595" cy="2153115"/>
            <a:chOff x="611573" y="3705166"/>
            <a:chExt cx="2620595" cy="2153115"/>
          </a:xfrm>
        </p:grpSpPr>
        <p:sp>
          <p:nvSpPr>
            <p:cNvPr id="33" name="Freeform 32"/>
            <p:cNvSpPr/>
            <p:nvPr/>
          </p:nvSpPr>
          <p:spPr>
            <a:xfrm>
              <a:off x="611573" y="3705166"/>
              <a:ext cx="2620595" cy="2153115"/>
            </a:xfrm>
            <a:custGeom>
              <a:avLst/>
              <a:gdLst/>
              <a:ahLst/>
              <a:cxnLst/>
              <a:rect l="l" t="t" r="r" b="b"/>
              <a:pathLst>
                <a:path w="2620595" h="2153115">
                  <a:moveTo>
                    <a:pt x="28507" y="55027"/>
                  </a:moveTo>
                  <a:lnTo>
                    <a:pt x="174229" y="40429"/>
                  </a:lnTo>
                  <a:lnTo>
                    <a:pt x="254912" y="14745"/>
                  </a:lnTo>
                  <a:lnTo>
                    <a:pt x="407952" y="45217"/>
                  </a:lnTo>
                  <a:lnTo>
                    <a:pt x="485253" y="4251"/>
                  </a:lnTo>
                  <a:lnTo>
                    <a:pt x="663416" y="1142"/>
                  </a:lnTo>
                  <a:lnTo>
                    <a:pt x="769969" y="14685"/>
                  </a:lnTo>
                  <a:lnTo>
                    <a:pt x="891260" y="48774"/>
                  </a:lnTo>
                  <a:lnTo>
                    <a:pt x="1009084" y="18618"/>
                  </a:lnTo>
                  <a:lnTo>
                    <a:pt x="1114414" y="33358"/>
                  </a:lnTo>
                  <a:lnTo>
                    <a:pt x="1255920" y="19798"/>
                  </a:lnTo>
                  <a:lnTo>
                    <a:pt x="1367473" y="27911"/>
                  </a:lnTo>
                  <a:lnTo>
                    <a:pt x="1476079" y="5084"/>
                  </a:lnTo>
                  <a:lnTo>
                    <a:pt x="1617856" y="0"/>
                  </a:lnTo>
                  <a:lnTo>
                    <a:pt x="1741645" y="44903"/>
                  </a:lnTo>
                  <a:lnTo>
                    <a:pt x="1878305" y="9729"/>
                  </a:lnTo>
                  <a:lnTo>
                    <a:pt x="1973773" y="52686"/>
                  </a:lnTo>
                  <a:lnTo>
                    <a:pt x="2091538" y="57049"/>
                  </a:lnTo>
                  <a:lnTo>
                    <a:pt x="2203862" y="47396"/>
                  </a:lnTo>
                  <a:lnTo>
                    <a:pt x="2315605" y="36312"/>
                  </a:lnTo>
                  <a:lnTo>
                    <a:pt x="2486464" y="28632"/>
                  </a:lnTo>
                  <a:lnTo>
                    <a:pt x="2588827" y="34080"/>
                  </a:lnTo>
                  <a:lnTo>
                    <a:pt x="2615312" y="148223"/>
                  </a:lnTo>
                  <a:lnTo>
                    <a:pt x="2620595" y="270860"/>
                  </a:lnTo>
                  <a:lnTo>
                    <a:pt x="2568301" y="393497"/>
                  </a:lnTo>
                  <a:lnTo>
                    <a:pt x="2590278" y="516134"/>
                  </a:lnTo>
                  <a:lnTo>
                    <a:pt x="2559374" y="638771"/>
                  </a:lnTo>
                  <a:lnTo>
                    <a:pt x="2581052" y="761409"/>
                  </a:lnTo>
                  <a:lnTo>
                    <a:pt x="2566110" y="884046"/>
                  </a:lnTo>
                  <a:lnTo>
                    <a:pt x="2567080" y="1006683"/>
                  </a:lnTo>
                  <a:lnTo>
                    <a:pt x="2596817" y="1129320"/>
                  </a:lnTo>
                  <a:lnTo>
                    <a:pt x="2562230" y="1251957"/>
                  </a:lnTo>
                  <a:lnTo>
                    <a:pt x="2566680" y="1374594"/>
                  </a:lnTo>
                  <a:lnTo>
                    <a:pt x="2557449" y="1497232"/>
                  </a:lnTo>
                  <a:lnTo>
                    <a:pt x="2608895" y="1619869"/>
                  </a:lnTo>
                  <a:lnTo>
                    <a:pt x="2572421" y="1742506"/>
                  </a:lnTo>
                  <a:lnTo>
                    <a:pt x="2561449" y="1865143"/>
                  </a:lnTo>
                  <a:lnTo>
                    <a:pt x="2596573" y="1987780"/>
                  </a:lnTo>
                  <a:lnTo>
                    <a:pt x="2602753" y="2110417"/>
                  </a:lnTo>
                  <a:lnTo>
                    <a:pt x="2475262" y="2115274"/>
                  </a:lnTo>
                  <a:lnTo>
                    <a:pt x="2347200" y="2132905"/>
                  </a:lnTo>
                  <a:lnTo>
                    <a:pt x="2210922" y="2145507"/>
                  </a:lnTo>
                  <a:lnTo>
                    <a:pt x="2113556" y="2147100"/>
                  </a:lnTo>
                  <a:lnTo>
                    <a:pt x="2004226" y="2145201"/>
                  </a:lnTo>
                  <a:lnTo>
                    <a:pt x="1858533" y="2112706"/>
                  </a:lnTo>
                  <a:lnTo>
                    <a:pt x="1750344" y="2118515"/>
                  </a:lnTo>
                  <a:lnTo>
                    <a:pt x="1583250" y="2153115"/>
                  </a:lnTo>
                  <a:lnTo>
                    <a:pt x="1472286" y="2108822"/>
                  </a:lnTo>
                  <a:lnTo>
                    <a:pt x="1366578" y="2068765"/>
                  </a:lnTo>
                  <a:lnTo>
                    <a:pt x="1252716" y="2119667"/>
                  </a:lnTo>
                  <a:lnTo>
                    <a:pt x="1145827" y="2121905"/>
                  </a:lnTo>
                  <a:lnTo>
                    <a:pt x="991486" y="2117066"/>
                  </a:lnTo>
                  <a:lnTo>
                    <a:pt x="911338" y="2124413"/>
                  </a:lnTo>
                  <a:lnTo>
                    <a:pt x="782033" y="2060370"/>
                  </a:lnTo>
                  <a:lnTo>
                    <a:pt x="650242" y="2080843"/>
                  </a:lnTo>
                  <a:lnTo>
                    <a:pt x="494603" y="2093130"/>
                  </a:lnTo>
                  <a:lnTo>
                    <a:pt x="373646" y="2067989"/>
                  </a:lnTo>
                  <a:lnTo>
                    <a:pt x="253851" y="2082808"/>
                  </a:lnTo>
                  <a:lnTo>
                    <a:pt x="134389" y="2141026"/>
                  </a:lnTo>
                  <a:lnTo>
                    <a:pt x="28507" y="2067731"/>
                  </a:lnTo>
                  <a:lnTo>
                    <a:pt x="9315" y="1987780"/>
                  </a:lnTo>
                  <a:lnTo>
                    <a:pt x="0" y="1865143"/>
                  </a:lnTo>
                  <a:lnTo>
                    <a:pt x="28906" y="1742506"/>
                  </a:lnTo>
                  <a:lnTo>
                    <a:pt x="11167" y="1619869"/>
                  </a:lnTo>
                  <a:lnTo>
                    <a:pt x="30477" y="1497232"/>
                  </a:lnTo>
                  <a:lnTo>
                    <a:pt x="11720" y="1374594"/>
                  </a:lnTo>
                  <a:lnTo>
                    <a:pt x="9082" y="1251957"/>
                  </a:lnTo>
                  <a:lnTo>
                    <a:pt x="27735" y="1129320"/>
                  </a:lnTo>
                  <a:lnTo>
                    <a:pt x="1088" y="1006683"/>
                  </a:lnTo>
                  <a:lnTo>
                    <a:pt x="53125" y="884046"/>
                  </a:lnTo>
                  <a:lnTo>
                    <a:pt x="32511" y="761409"/>
                  </a:lnTo>
                  <a:lnTo>
                    <a:pt x="21805" y="638771"/>
                  </a:lnTo>
                  <a:lnTo>
                    <a:pt x="31695" y="516134"/>
                  </a:lnTo>
                  <a:lnTo>
                    <a:pt x="57139" y="393497"/>
                  </a:lnTo>
                  <a:lnTo>
                    <a:pt x="28145" y="270860"/>
                  </a:lnTo>
                  <a:lnTo>
                    <a:pt x="21732" y="148223"/>
                  </a:lnTo>
                  <a:close/>
                </a:path>
              </a:pathLst>
            </a:custGeom>
            <a:solidFill>
              <a:srgbClr val="FFFFFF"/>
            </a:solidFill>
            <a:ln w="6350">
              <a:solidFill>
                <a:srgbClr val="D0D0D0"/>
              </a:solidFill>
            </a:ln>
            <a:effectLst>
              <a:outerShdw blurRad="76200" dist="38100" dir="2700000" algn="t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he.png"/>
            <p:cNvPicPr>
              <a:picLocks noChangeAspect="1"/>
            </p:cNvPicPr>
            <p:nvPr/>
          </p:nvPicPr>
          <p:blipFill>
            <a:blip r:embed="rId4"/>
            <a:stretch>
              <a:fillRect/>
            </a:stretch>
          </p:blipFill>
          <p:spPr>
            <a:xfrm>
              <a:off x="1502312" y="3822191"/>
              <a:ext cx="835855" cy="420624"/>
            </a:xfrm>
            <a:prstGeom prst="rect">
              <a:avLst/>
            </a:prstGeom>
          </p:spPr>
        </p:pic>
        <p:cxnSp>
          <p:nvCxnSpPr>
            <p:cNvPr id="35" name="Connector 34"/>
            <p:cNvCxnSpPr/>
            <p:nvPr/>
          </p:nvCxnSpPr>
          <p:spPr>
            <a:xfrm>
              <a:off x="768096" y="4297680"/>
              <a:ext cx="2304287"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68096" y="4352544"/>
              <a:ext cx="2304287"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68096" y="4425696"/>
              <a:ext cx="2304287" cy="201168"/>
            </a:xfrm>
            <a:prstGeom prst="rect">
              <a:avLst/>
            </a:prstGeom>
            <a:noFill/>
          </p:spPr>
          <p:txBody>
            <a:bodyPr wrap="square" lIns="0" rIns="0" tIns="0" bIns="0" anchor="t">
              <a:spAutoFit/>
            </a:bodyPr>
            <a:lstStyle/>
            <a:p>
              <a:pPr algn="ctr"/>
              <a:r>
                <a:rPr sz="800" b="1" i="0">
                  <a:solidFill>
                    <a:srgbClr val="595959"/>
                  </a:solidFill>
                  <a:latin typeface="Lato"/>
                </a:rPr>
                <a:t>AUGUST 6, 2026</a:t>
              </a:r>
            </a:p>
          </p:txBody>
        </p:sp>
        <p:sp>
          <p:nvSpPr>
            <p:cNvPr id="38" name="TextBox 37"/>
            <p:cNvSpPr txBox="1"/>
            <p:nvPr/>
          </p:nvSpPr>
          <p:spPr>
            <a:xfrm>
              <a:off x="786384" y="4718304"/>
              <a:ext cx="2267712" cy="1042415"/>
            </a:xfrm>
            <a:prstGeom prst="rect">
              <a:avLst/>
            </a:prstGeom>
            <a:noFill/>
          </p:spPr>
          <p:txBody>
            <a:bodyPr wrap="square" lIns="0" rIns="0" tIns="0" bIns="0" anchor="t">
              <a:spAutoFit/>
            </a:bodyPr>
            <a:lstStyle/>
            <a:p>
              <a:pPr algn="l"/>
              <a:r>
                <a:rPr sz="1300" b="1" i="0">
                  <a:solidFill>
                    <a:srgbClr val="000000"/>
                  </a:solidFill>
                  <a:latin typeface="Georgia"/>
                </a:rPr>
                <a:t>Campus Cuts Hit Even Wealthy Institutions</a:t>
              </a:r>
            </a:p>
          </p:txBody>
        </p:sp>
      </p:grpSp>
      <p:grpSp>
        <p:nvGrpSpPr>
          <p:cNvPr id="46" name="Group 45"/>
          <p:cNvGrpSpPr/>
          <p:nvPr/>
        </p:nvGrpSpPr>
        <p:grpSpPr>
          <a:xfrm rot="21492000">
            <a:off x="3409287" y="3763057"/>
            <a:ext cx="2710545" cy="2156201"/>
            <a:chOff x="3409287" y="3763057"/>
            <a:chExt cx="2710545" cy="2156201"/>
          </a:xfrm>
        </p:grpSpPr>
        <p:sp>
          <p:nvSpPr>
            <p:cNvPr id="40" name="Freeform 39"/>
            <p:cNvSpPr/>
            <p:nvPr/>
          </p:nvSpPr>
          <p:spPr>
            <a:xfrm>
              <a:off x="3409287" y="3763057"/>
              <a:ext cx="2710545" cy="2156201"/>
            </a:xfrm>
            <a:custGeom>
              <a:avLst/>
              <a:gdLst/>
              <a:ahLst/>
              <a:cxnLst/>
              <a:rect l="l" t="t" r="r" b="b"/>
              <a:pathLst>
                <a:path w="2710545" h="2156201">
                  <a:moveTo>
                    <a:pt x="28857" y="46760"/>
                  </a:moveTo>
                  <a:lnTo>
                    <a:pt x="139733" y="41167"/>
                  </a:lnTo>
                  <a:lnTo>
                    <a:pt x="298831" y="10539"/>
                  </a:lnTo>
                  <a:lnTo>
                    <a:pt x="407635" y="11978"/>
                  </a:lnTo>
                  <a:lnTo>
                    <a:pt x="489474" y="12849"/>
                  </a:lnTo>
                  <a:lnTo>
                    <a:pt x="647610" y="0"/>
                  </a:lnTo>
                  <a:lnTo>
                    <a:pt x="762257" y="13038"/>
                  </a:lnTo>
                  <a:lnTo>
                    <a:pt x="851414" y="18085"/>
                  </a:lnTo>
                  <a:lnTo>
                    <a:pt x="985866" y="20021"/>
                  </a:lnTo>
                  <a:lnTo>
                    <a:pt x="1138062" y="49465"/>
                  </a:lnTo>
                  <a:lnTo>
                    <a:pt x="1216744" y="53785"/>
                  </a:lnTo>
                  <a:lnTo>
                    <a:pt x="1361907" y="51986"/>
                  </a:lnTo>
                  <a:lnTo>
                    <a:pt x="1495546" y="24208"/>
                  </a:lnTo>
                  <a:lnTo>
                    <a:pt x="1579857" y="50044"/>
                  </a:lnTo>
                  <a:lnTo>
                    <a:pt x="1748289" y="30548"/>
                  </a:lnTo>
                  <a:lnTo>
                    <a:pt x="1812325" y="43244"/>
                  </a:lnTo>
                  <a:lnTo>
                    <a:pt x="1974389" y="46869"/>
                  </a:lnTo>
                  <a:lnTo>
                    <a:pt x="2108432" y="53012"/>
                  </a:lnTo>
                  <a:lnTo>
                    <a:pt x="2213596" y="15674"/>
                  </a:lnTo>
                  <a:lnTo>
                    <a:pt x="2321074" y="22860"/>
                  </a:lnTo>
                  <a:lnTo>
                    <a:pt x="2456216" y="30641"/>
                  </a:lnTo>
                  <a:lnTo>
                    <a:pt x="2580955" y="23551"/>
                  </a:lnTo>
                  <a:lnTo>
                    <a:pt x="2680617" y="28323"/>
                  </a:lnTo>
                  <a:lnTo>
                    <a:pt x="2710286" y="145196"/>
                  </a:lnTo>
                  <a:lnTo>
                    <a:pt x="2699296" y="267833"/>
                  </a:lnTo>
                  <a:lnTo>
                    <a:pt x="2708214" y="390470"/>
                  </a:lnTo>
                  <a:lnTo>
                    <a:pt x="2693339" y="513107"/>
                  </a:lnTo>
                  <a:lnTo>
                    <a:pt x="2656564" y="635744"/>
                  </a:lnTo>
                  <a:lnTo>
                    <a:pt x="2675428" y="758382"/>
                  </a:lnTo>
                  <a:lnTo>
                    <a:pt x="2667218" y="881019"/>
                  </a:lnTo>
                  <a:lnTo>
                    <a:pt x="2665422" y="1003656"/>
                  </a:lnTo>
                  <a:lnTo>
                    <a:pt x="2656744" y="1126293"/>
                  </a:lnTo>
                  <a:lnTo>
                    <a:pt x="2655680" y="1248930"/>
                  </a:lnTo>
                  <a:lnTo>
                    <a:pt x="2679406" y="1371567"/>
                  </a:lnTo>
                  <a:lnTo>
                    <a:pt x="2698723" y="1494205"/>
                  </a:lnTo>
                  <a:lnTo>
                    <a:pt x="2704130" y="1616842"/>
                  </a:lnTo>
                  <a:lnTo>
                    <a:pt x="2710545" y="1739479"/>
                  </a:lnTo>
                  <a:lnTo>
                    <a:pt x="2685863" y="1862116"/>
                  </a:lnTo>
                  <a:lnTo>
                    <a:pt x="2649535" y="1984753"/>
                  </a:lnTo>
                  <a:lnTo>
                    <a:pt x="2660856" y="2107391"/>
                  </a:lnTo>
                  <a:lnTo>
                    <a:pt x="2531741" y="2145090"/>
                  </a:lnTo>
                  <a:lnTo>
                    <a:pt x="2428017" y="2130289"/>
                  </a:lnTo>
                  <a:lnTo>
                    <a:pt x="2315890" y="2115975"/>
                  </a:lnTo>
                  <a:lnTo>
                    <a:pt x="2220987" y="2123482"/>
                  </a:lnTo>
                  <a:lnTo>
                    <a:pt x="2050729" y="2121213"/>
                  </a:lnTo>
                  <a:lnTo>
                    <a:pt x="1948169" y="2156201"/>
                  </a:lnTo>
                  <a:lnTo>
                    <a:pt x="1822006" y="2080962"/>
                  </a:lnTo>
                  <a:lnTo>
                    <a:pt x="1743381" y="2098582"/>
                  </a:lnTo>
                  <a:lnTo>
                    <a:pt x="1569104" y="2137724"/>
                  </a:lnTo>
                  <a:lnTo>
                    <a:pt x="1502096" y="2106585"/>
                  </a:lnTo>
                  <a:lnTo>
                    <a:pt x="1333434" y="2144885"/>
                  </a:lnTo>
                  <a:lnTo>
                    <a:pt x="1223957" y="2081346"/>
                  </a:lnTo>
                  <a:lnTo>
                    <a:pt x="1084455" y="2146422"/>
                  </a:lnTo>
                  <a:lnTo>
                    <a:pt x="976190" y="2068505"/>
                  </a:lnTo>
                  <a:lnTo>
                    <a:pt x="863886" y="2127893"/>
                  </a:lnTo>
                  <a:lnTo>
                    <a:pt x="783875" y="2077809"/>
                  </a:lnTo>
                  <a:lnTo>
                    <a:pt x="639051" y="2083840"/>
                  </a:lnTo>
                  <a:lnTo>
                    <a:pt x="534155" y="2106092"/>
                  </a:lnTo>
                  <a:lnTo>
                    <a:pt x="402216" y="2141994"/>
                  </a:lnTo>
                  <a:lnTo>
                    <a:pt x="272157" y="2104420"/>
                  </a:lnTo>
                  <a:lnTo>
                    <a:pt x="117992" y="2073158"/>
                  </a:lnTo>
                  <a:lnTo>
                    <a:pt x="28857" y="2127090"/>
                  </a:lnTo>
                  <a:lnTo>
                    <a:pt x="45551" y="1984753"/>
                  </a:lnTo>
                  <a:lnTo>
                    <a:pt x="33831" y="1862116"/>
                  </a:lnTo>
                  <a:lnTo>
                    <a:pt x="0" y="1739479"/>
                  </a:lnTo>
                  <a:lnTo>
                    <a:pt x="44652" y="1616842"/>
                  </a:lnTo>
                  <a:lnTo>
                    <a:pt x="51200" y="1494205"/>
                  </a:lnTo>
                  <a:lnTo>
                    <a:pt x="51649" y="1371567"/>
                  </a:lnTo>
                  <a:lnTo>
                    <a:pt x="44891" y="1248930"/>
                  </a:lnTo>
                  <a:lnTo>
                    <a:pt x="39286" y="1126293"/>
                  </a:lnTo>
                  <a:lnTo>
                    <a:pt x="19227" y="1003656"/>
                  </a:lnTo>
                  <a:lnTo>
                    <a:pt x="20030" y="881019"/>
                  </a:lnTo>
                  <a:lnTo>
                    <a:pt x="9028" y="758382"/>
                  </a:lnTo>
                  <a:lnTo>
                    <a:pt x="38037" y="635744"/>
                  </a:lnTo>
                  <a:lnTo>
                    <a:pt x="18556" y="513107"/>
                  </a:lnTo>
                  <a:lnTo>
                    <a:pt x="48664" y="390470"/>
                  </a:lnTo>
                  <a:lnTo>
                    <a:pt x="11706" y="267833"/>
                  </a:lnTo>
                  <a:lnTo>
                    <a:pt x="13715" y="145196"/>
                  </a:lnTo>
                  <a:close/>
                </a:path>
              </a:pathLst>
            </a:custGeom>
            <a:solidFill>
              <a:srgbClr val="FFFFFF"/>
            </a:solidFill>
            <a:ln w="6350">
              <a:solidFill>
                <a:srgbClr val="D0D0D0"/>
              </a:solidFill>
            </a:ln>
            <a:effectLst>
              <a:outerShdw blurRad="76200" dist="38100" dir="2700000" algn="t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wapo.png"/>
            <p:cNvPicPr>
              <a:picLocks noChangeAspect="1"/>
            </p:cNvPicPr>
            <p:nvPr/>
          </p:nvPicPr>
          <p:blipFill>
            <a:blip r:embed="rId5"/>
            <a:stretch>
              <a:fillRect/>
            </a:stretch>
          </p:blipFill>
          <p:spPr>
            <a:xfrm>
              <a:off x="3769156" y="3931920"/>
              <a:ext cx="1989734" cy="310896"/>
            </a:xfrm>
            <a:prstGeom prst="rect">
              <a:avLst/>
            </a:prstGeom>
          </p:spPr>
        </p:pic>
        <p:cxnSp>
          <p:nvCxnSpPr>
            <p:cNvPr id="42" name="Connector 41"/>
            <p:cNvCxnSpPr/>
            <p:nvPr/>
          </p:nvCxnSpPr>
          <p:spPr>
            <a:xfrm>
              <a:off x="3566160" y="4352544"/>
              <a:ext cx="2395728"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566160" y="4407407"/>
              <a:ext cx="2395728"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566160" y="4480559"/>
              <a:ext cx="2395728" cy="201168"/>
            </a:xfrm>
            <a:prstGeom prst="rect">
              <a:avLst/>
            </a:prstGeom>
            <a:noFill/>
          </p:spPr>
          <p:txBody>
            <a:bodyPr wrap="square" lIns="0" rIns="0" tIns="0" bIns="0" anchor="t">
              <a:spAutoFit/>
            </a:bodyPr>
            <a:lstStyle/>
            <a:p>
              <a:pPr algn="ctr"/>
              <a:r>
                <a:rPr sz="800" b="1" i="0">
                  <a:solidFill>
                    <a:srgbClr val="595959"/>
                  </a:solidFill>
                  <a:latin typeface="Lato"/>
                </a:rPr>
                <a:t>JUNE 29, 2026</a:t>
              </a:r>
            </a:p>
          </p:txBody>
        </p:sp>
        <p:sp>
          <p:nvSpPr>
            <p:cNvPr id="45" name="TextBox 44"/>
            <p:cNvSpPr txBox="1"/>
            <p:nvPr/>
          </p:nvSpPr>
          <p:spPr>
            <a:xfrm>
              <a:off x="3584448" y="4773168"/>
              <a:ext cx="2359152" cy="1042415"/>
            </a:xfrm>
            <a:prstGeom prst="rect">
              <a:avLst/>
            </a:prstGeom>
            <a:noFill/>
          </p:spPr>
          <p:txBody>
            <a:bodyPr wrap="square" lIns="0" rIns="0" tIns="0" bIns="0" anchor="t">
              <a:spAutoFit/>
            </a:bodyPr>
            <a:lstStyle/>
            <a:p>
              <a:pPr algn="l"/>
              <a:r>
                <a:rPr sz="1300" b="1" i="0">
                  <a:solidFill>
                    <a:srgbClr val="000000"/>
                  </a:solidFill>
                  <a:latin typeface="Georgia"/>
                </a:rPr>
                <a:t>U.S. colleges cut programs, report budget gaps after losing foreign students</a:t>
              </a:r>
            </a:p>
          </p:txBody>
        </p:sp>
      </p:grpSp>
      <p:grpSp>
        <p:nvGrpSpPr>
          <p:cNvPr id="53" name="Group 52"/>
          <p:cNvGrpSpPr/>
          <p:nvPr/>
        </p:nvGrpSpPr>
        <p:grpSpPr>
          <a:xfrm rot="60000">
            <a:off x="6060080" y="3699821"/>
            <a:ext cx="2573452" cy="2165632"/>
            <a:chOff x="6060080" y="3699821"/>
            <a:chExt cx="2573452" cy="2165632"/>
          </a:xfrm>
        </p:grpSpPr>
        <p:sp>
          <p:nvSpPr>
            <p:cNvPr id="47" name="Freeform 46"/>
            <p:cNvSpPr/>
            <p:nvPr/>
          </p:nvSpPr>
          <p:spPr>
            <a:xfrm>
              <a:off x="6060080" y="3699821"/>
              <a:ext cx="2573452" cy="2165632"/>
            </a:xfrm>
            <a:custGeom>
              <a:avLst/>
              <a:gdLst/>
              <a:ahLst/>
              <a:cxnLst/>
              <a:rect l="l" t="t" r="r" b="b"/>
              <a:pathLst>
                <a:path w="2573452" h="2165632">
                  <a:moveTo>
                    <a:pt x="29824" y="44416"/>
                  </a:moveTo>
                  <a:lnTo>
                    <a:pt x="175240" y="0"/>
                  </a:lnTo>
                  <a:lnTo>
                    <a:pt x="297605" y="51477"/>
                  </a:lnTo>
                  <a:lnTo>
                    <a:pt x="360676" y="50538"/>
                  </a:lnTo>
                  <a:lnTo>
                    <a:pt x="528285" y="10941"/>
                  </a:lnTo>
                  <a:lnTo>
                    <a:pt x="658707" y="22221"/>
                  </a:lnTo>
                  <a:lnTo>
                    <a:pt x="745137" y="40772"/>
                  </a:lnTo>
                  <a:lnTo>
                    <a:pt x="880198" y="46711"/>
                  </a:lnTo>
                  <a:lnTo>
                    <a:pt x="973565" y="29907"/>
                  </a:lnTo>
                  <a:lnTo>
                    <a:pt x="1084301" y="16517"/>
                  </a:lnTo>
                  <a:lnTo>
                    <a:pt x="1226659" y="3696"/>
                  </a:lnTo>
                  <a:lnTo>
                    <a:pt x="1337319" y="51097"/>
                  </a:lnTo>
                  <a:lnTo>
                    <a:pt x="1446179" y="26670"/>
                  </a:lnTo>
                  <a:lnTo>
                    <a:pt x="1556872" y="46133"/>
                  </a:lnTo>
                  <a:lnTo>
                    <a:pt x="1680631" y="10562"/>
                  </a:lnTo>
                  <a:lnTo>
                    <a:pt x="1841669" y="27235"/>
                  </a:lnTo>
                  <a:lnTo>
                    <a:pt x="1949109" y="37920"/>
                  </a:lnTo>
                  <a:lnTo>
                    <a:pt x="2065238" y="26110"/>
                  </a:lnTo>
                  <a:lnTo>
                    <a:pt x="2163013" y="8028"/>
                  </a:lnTo>
                  <a:lnTo>
                    <a:pt x="2285981" y="14588"/>
                  </a:lnTo>
                  <a:lnTo>
                    <a:pt x="2413247" y="56010"/>
                  </a:lnTo>
                  <a:lnTo>
                    <a:pt x="2544424" y="12594"/>
                  </a:lnTo>
                  <a:lnTo>
                    <a:pt x="2520812" y="153568"/>
                  </a:lnTo>
                  <a:lnTo>
                    <a:pt x="2529627" y="276205"/>
                  </a:lnTo>
                  <a:lnTo>
                    <a:pt x="2520862" y="398842"/>
                  </a:lnTo>
                  <a:lnTo>
                    <a:pt x="2565488" y="521479"/>
                  </a:lnTo>
                  <a:lnTo>
                    <a:pt x="2573440" y="644116"/>
                  </a:lnTo>
                  <a:lnTo>
                    <a:pt x="2561434" y="766754"/>
                  </a:lnTo>
                  <a:lnTo>
                    <a:pt x="2573452" y="889391"/>
                  </a:lnTo>
                  <a:lnTo>
                    <a:pt x="2547612" y="1012028"/>
                  </a:lnTo>
                  <a:lnTo>
                    <a:pt x="2541412" y="1134665"/>
                  </a:lnTo>
                  <a:lnTo>
                    <a:pt x="2537041" y="1257302"/>
                  </a:lnTo>
                  <a:lnTo>
                    <a:pt x="2554190" y="1379939"/>
                  </a:lnTo>
                  <a:lnTo>
                    <a:pt x="2527745" y="1502577"/>
                  </a:lnTo>
                  <a:lnTo>
                    <a:pt x="2545930" y="1625214"/>
                  </a:lnTo>
                  <a:lnTo>
                    <a:pt x="2537354" y="1747851"/>
                  </a:lnTo>
                  <a:lnTo>
                    <a:pt x="2555201" y="1870488"/>
                  </a:lnTo>
                  <a:lnTo>
                    <a:pt x="2568201" y="1993125"/>
                  </a:lnTo>
                  <a:lnTo>
                    <a:pt x="2554547" y="2115762"/>
                  </a:lnTo>
                  <a:lnTo>
                    <a:pt x="2401580" y="2125335"/>
                  </a:lnTo>
                  <a:lnTo>
                    <a:pt x="2319744" y="2119627"/>
                  </a:lnTo>
                  <a:lnTo>
                    <a:pt x="2157411" y="2074194"/>
                  </a:lnTo>
                  <a:lnTo>
                    <a:pt x="2067940" y="2138035"/>
                  </a:lnTo>
                  <a:lnTo>
                    <a:pt x="1945382" y="2139176"/>
                  </a:lnTo>
                  <a:lnTo>
                    <a:pt x="1829136" y="2148883"/>
                  </a:lnTo>
                  <a:lnTo>
                    <a:pt x="1688038" y="2149715"/>
                  </a:lnTo>
                  <a:lnTo>
                    <a:pt x="1602381" y="2076256"/>
                  </a:lnTo>
                  <a:lnTo>
                    <a:pt x="1449177" y="2094621"/>
                  </a:lnTo>
                  <a:lnTo>
                    <a:pt x="1365303" y="2129929"/>
                  </a:lnTo>
                  <a:lnTo>
                    <a:pt x="1199596" y="2139862"/>
                  </a:lnTo>
                  <a:lnTo>
                    <a:pt x="1095165" y="2152998"/>
                  </a:lnTo>
                  <a:lnTo>
                    <a:pt x="973538" y="2074990"/>
                  </a:lnTo>
                  <a:lnTo>
                    <a:pt x="857227" y="2111830"/>
                  </a:lnTo>
                  <a:lnTo>
                    <a:pt x="743753" y="2119560"/>
                  </a:lnTo>
                  <a:lnTo>
                    <a:pt x="603431" y="2092556"/>
                  </a:lnTo>
                  <a:lnTo>
                    <a:pt x="479455" y="2165632"/>
                  </a:lnTo>
                  <a:lnTo>
                    <a:pt x="388240" y="2093902"/>
                  </a:lnTo>
                  <a:lnTo>
                    <a:pt x="248051" y="2126475"/>
                  </a:lnTo>
                  <a:lnTo>
                    <a:pt x="117878" y="2080730"/>
                  </a:lnTo>
                  <a:lnTo>
                    <a:pt x="29824" y="2132970"/>
                  </a:lnTo>
                  <a:lnTo>
                    <a:pt x="31604" y="1993125"/>
                  </a:lnTo>
                  <a:lnTo>
                    <a:pt x="43113" y="1870488"/>
                  </a:lnTo>
                  <a:lnTo>
                    <a:pt x="52092" y="1747851"/>
                  </a:lnTo>
                  <a:lnTo>
                    <a:pt x="18582" y="1625214"/>
                  </a:lnTo>
                  <a:lnTo>
                    <a:pt x="46664" y="1502577"/>
                  </a:lnTo>
                  <a:lnTo>
                    <a:pt x="49360" y="1379939"/>
                  </a:lnTo>
                  <a:lnTo>
                    <a:pt x="50745" y="1257302"/>
                  </a:lnTo>
                  <a:lnTo>
                    <a:pt x="32087" y="1134665"/>
                  </a:lnTo>
                  <a:lnTo>
                    <a:pt x="46690" y="1012028"/>
                  </a:lnTo>
                  <a:lnTo>
                    <a:pt x="0" y="889391"/>
                  </a:lnTo>
                  <a:lnTo>
                    <a:pt x="10066" y="766754"/>
                  </a:lnTo>
                  <a:lnTo>
                    <a:pt x="34732" y="644116"/>
                  </a:lnTo>
                  <a:lnTo>
                    <a:pt x="33338" y="521479"/>
                  </a:lnTo>
                  <a:lnTo>
                    <a:pt x="36915" y="398842"/>
                  </a:lnTo>
                  <a:lnTo>
                    <a:pt x="24381" y="276205"/>
                  </a:lnTo>
                  <a:lnTo>
                    <a:pt x="1005" y="153568"/>
                  </a:lnTo>
                  <a:close/>
                </a:path>
              </a:pathLst>
            </a:custGeom>
            <a:solidFill>
              <a:srgbClr val="FFFFFF"/>
            </a:solidFill>
            <a:ln w="6350">
              <a:solidFill>
                <a:srgbClr val="D0D0D0"/>
              </a:solidFill>
            </a:ln>
            <a:effectLst>
              <a:outerShdw blurRad="76200" dist="38100" dir="2700000" algn="t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cnbc.png"/>
            <p:cNvPicPr>
              <a:picLocks noChangeAspect="1"/>
            </p:cNvPicPr>
            <p:nvPr/>
          </p:nvPicPr>
          <p:blipFill>
            <a:blip r:embed="rId6"/>
            <a:stretch>
              <a:fillRect/>
            </a:stretch>
          </p:blipFill>
          <p:spPr>
            <a:xfrm>
              <a:off x="6689550" y="3822191"/>
              <a:ext cx="1315306" cy="420624"/>
            </a:xfrm>
            <a:prstGeom prst="rect">
              <a:avLst/>
            </a:prstGeom>
          </p:spPr>
        </p:pic>
        <p:cxnSp>
          <p:nvCxnSpPr>
            <p:cNvPr id="49" name="Connector 48"/>
            <p:cNvCxnSpPr/>
            <p:nvPr/>
          </p:nvCxnSpPr>
          <p:spPr>
            <a:xfrm>
              <a:off x="6217920" y="4297680"/>
              <a:ext cx="2258568"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217920" y="4352544"/>
              <a:ext cx="2258568"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17920" y="4425696"/>
              <a:ext cx="2258568" cy="201168"/>
            </a:xfrm>
            <a:prstGeom prst="rect">
              <a:avLst/>
            </a:prstGeom>
            <a:noFill/>
          </p:spPr>
          <p:txBody>
            <a:bodyPr wrap="square" lIns="0" rIns="0" tIns="0" bIns="0" anchor="t">
              <a:spAutoFit/>
            </a:bodyPr>
            <a:lstStyle/>
            <a:p>
              <a:pPr algn="ctr"/>
              <a:r>
                <a:rPr sz="800" b="1" i="0">
                  <a:solidFill>
                    <a:srgbClr val="595959"/>
                  </a:solidFill>
                  <a:latin typeface="Lato"/>
                </a:rPr>
                <a:t>AUGUST 21, 2026</a:t>
              </a:r>
            </a:p>
          </p:txBody>
        </p:sp>
        <p:sp>
          <p:nvSpPr>
            <p:cNvPr id="52" name="TextBox 51"/>
            <p:cNvSpPr txBox="1"/>
            <p:nvPr/>
          </p:nvSpPr>
          <p:spPr>
            <a:xfrm>
              <a:off x="6236208" y="4718304"/>
              <a:ext cx="2221992" cy="1042415"/>
            </a:xfrm>
            <a:prstGeom prst="rect">
              <a:avLst/>
            </a:prstGeom>
            <a:noFill/>
          </p:spPr>
          <p:txBody>
            <a:bodyPr wrap="square" lIns="0" rIns="0" tIns="0" bIns="0" anchor="t">
              <a:spAutoFit/>
            </a:bodyPr>
            <a:lstStyle/>
            <a:p>
              <a:pPr algn="l"/>
              <a:r>
                <a:rPr sz="1300" b="1" i="0">
                  <a:solidFill>
                    <a:srgbClr val="000000"/>
                  </a:solidFill>
                  <a:latin typeface="Georgia"/>
                </a:rPr>
                <a:t>International student enrollment falls amid tighter U.S. visa policies, reports show</a:t>
              </a:r>
            </a:p>
          </p:txBody>
        </p:sp>
      </p:grpSp>
      <p:grpSp>
        <p:nvGrpSpPr>
          <p:cNvPr id="60" name="Group 59"/>
          <p:cNvGrpSpPr/>
          <p:nvPr/>
        </p:nvGrpSpPr>
        <p:grpSpPr>
          <a:xfrm rot="21516000">
            <a:off x="8933000" y="3762433"/>
            <a:ext cx="2664629" cy="2156966"/>
            <a:chOff x="8933000" y="3762433"/>
            <a:chExt cx="2664629" cy="2156966"/>
          </a:xfrm>
        </p:grpSpPr>
        <p:sp>
          <p:nvSpPr>
            <p:cNvPr id="54" name="Freeform 53"/>
            <p:cNvSpPr/>
            <p:nvPr/>
          </p:nvSpPr>
          <p:spPr>
            <a:xfrm>
              <a:off x="8933000" y="3762433"/>
              <a:ext cx="2664629" cy="2156966"/>
            </a:xfrm>
            <a:custGeom>
              <a:avLst/>
              <a:gdLst/>
              <a:ahLst/>
              <a:cxnLst/>
              <a:rect l="l" t="t" r="r" b="b"/>
              <a:pathLst>
                <a:path w="2664629" h="2156966">
                  <a:moveTo>
                    <a:pt x="28120" y="6955"/>
                  </a:moveTo>
                  <a:lnTo>
                    <a:pt x="157420" y="53412"/>
                  </a:lnTo>
                  <a:lnTo>
                    <a:pt x="286414" y="22064"/>
                  </a:lnTo>
                  <a:lnTo>
                    <a:pt x="388184" y="0"/>
                  </a:lnTo>
                  <a:lnTo>
                    <a:pt x="556431" y="39462"/>
                  </a:lnTo>
                  <a:lnTo>
                    <a:pt x="632611" y="29225"/>
                  </a:lnTo>
                  <a:lnTo>
                    <a:pt x="786065" y="49220"/>
                  </a:lnTo>
                  <a:lnTo>
                    <a:pt x="882740" y="11242"/>
                  </a:lnTo>
                  <a:lnTo>
                    <a:pt x="1000880" y="28928"/>
                  </a:lnTo>
                  <a:lnTo>
                    <a:pt x="1172004" y="38194"/>
                  </a:lnTo>
                  <a:lnTo>
                    <a:pt x="1246021" y="14995"/>
                  </a:lnTo>
                  <a:lnTo>
                    <a:pt x="1366081" y="1479"/>
                  </a:lnTo>
                  <a:lnTo>
                    <a:pt x="1516837" y="995"/>
                  </a:lnTo>
                  <a:lnTo>
                    <a:pt x="1626697" y="6740"/>
                  </a:lnTo>
                  <a:lnTo>
                    <a:pt x="1760516" y="45951"/>
                  </a:lnTo>
                  <a:lnTo>
                    <a:pt x="1872645" y="30417"/>
                  </a:lnTo>
                  <a:lnTo>
                    <a:pt x="2007276" y="9838"/>
                  </a:lnTo>
                  <a:lnTo>
                    <a:pt x="2124871" y="41033"/>
                  </a:lnTo>
                  <a:lnTo>
                    <a:pt x="2283804" y="38059"/>
                  </a:lnTo>
                  <a:lnTo>
                    <a:pt x="2410856" y="37800"/>
                  </a:lnTo>
                  <a:lnTo>
                    <a:pt x="2497172" y="6147"/>
                  </a:lnTo>
                  <a:lnTo>
                    <a:pt x="2634160" y="27453"/>
                  </a:lnTo>
                  <a:lnTo>
                    <a:pt x="2641145" y="145820"/>
                  </a:lnTo>
                  <a:lnTo>
                    <a:pt x="2652389" y="268457"/>
                  </a:lnTo>
                  <a:lnTo>
                    <a:pt x="2660161" y="391094"/>
                  </a:lnTo>
                  <a:lnTo>
                    <a:pt x="2653221" y="513731"/>
                  </a:lnTo>
                  <a:lnTo>
                    <a:pt x="2664629" y="636368"/>
                  </a:lnTo>
                  <a:lnTo>
                    <a:pt x="2645310" y="759006"/>
                  </a:lnTo>
                  <a:lnTo>
                    <a:pt x="2645841" y="881643"/>
                  </a:lnTo>
                  <a:lnTo>
                    <a:pt x="2653316" y="1004280"/>
                  </a:lnTo>
                  <a:lnTo>
                    <a:pt x="2633964" y="1126917"/>
                  </a:lnTo>
                  <a:lnTo>
                    <a:pt x="2653236" y="1249554"/>
                  </a:lnTo>
                  <a:lnTo>
                    <a:pt x="2658181" y="1372191"/>
                  </a:lnTo>
                  <a:lnTo>
                    <a:pt x="2634947" y="1494829"/>
                  </a:lnTo>
                  <a:lnTo>
                    <a:pt x="2624105" y="1617466"/>
                  </a:lnTo>
                  <a:lnTo>
                    <a:pt x="2626545" y="1740103"/>
                  </a:lnTo>
                  <a:lnTo>
                    <a:pt x="2641358" y="1862740"/>
                  </a:lnTo>
                  <a:lnTo>
                    <a:pt x="2638389" y="1985377"/>
                  </a:lnTo>
                  <a:lnTo>
                    <a:pt x="2633844" y="2108015"/>
                  </a:lnTo>
                  <a:lnTo>
                    <a:pt x="2502977" y="2132412"/>
                  </a:lnTo>
                  <a:lnTo>
                    <a:pt x="2397790" y="2152722"/>
                  </a:lnTo>
                  <a:lnTo>
                    <a:pt x="2291446" y="2058193"/>
                  </a:lnTo>
                  <a:lnTo>
                    <a:pt x="2131399" y="2132900"/>
                  </a:lnTo>
                  <a:lnTo>
                    <a:pt x="2015981" y="2120089"/>
                  </a:lnTo>
                  <a:lnTo>
                    <a:pt x="1874023" y="2096277"/>
                  </a:lnTo>
                  <a:lnTo>
                    <a:pt x="1788579" y="2125453"/>
                  </a:lnTo>
                  <a:lnTo>
                    <a:pt x="1665610" y="2150825"/>
                  </a:lnTo>
                  <a:lnTo>
                    <a:pt x="1544221" y="2145402"/>
                  </a:lnTo>
                  <a:lnTo>
                    <a:pt x="1419798" y="2148722"/>
                  </a:lnTo>
                  <a:lnTo>
                    <a:pt x="1296601" y="2099186"/>
                  </a:lnTo>
                  <a:lnTo>
                    <a:pt x="1139092" y="2102482"/>
                  </a:lnTo>
                  <a:lnTo>
                    <a:pt x="1037967" y="2156966"/>
                  </a:lnTo>
                  <a:lnTo>
                    <a:pt x="907791" y="2100743"/>
                  </a:lnTo>
                  <a:lnTo>
                    <a:pt x="745932" y="2070306"/>
                  </a:lnTo>
                  <a:lnTo>
                    <a:pt x="620866" y="2072124"/>
                  </a:lnTo>
                  <a:lnTo>
                    <a:pt x="492530" y="2097642"/>
                  </a:lnTo>
                  <a:lnTo>
                    <a:pt x="387911" y="2154037"/>
                  </a:lnTo>
                  <a:lnTo>
                    <a:pt x="254162" y="2066295"/>
                  </a:lnTo>
                  <a:lnTo>
                    <a:pt x="177730" y="2151210"/>
                  </a:lnTo>
                  <a:lnTo>
                    <a:pt x="28120" y="2109264"/>
                  </a:lnTo>
                  <a:lnTo>
                    <a:pt x="30618" y="1985377"/>
                  </a:lnTo>
                  <a:lnTo>
                    <a:pt x="17734" y="1862740"/>
                  </a:lnTo>
                  <a:lnTo>
                    <a:pt x="21521" y="1740103"/>
                  </a:lnTo>
                  <a:lnTo>
                    <a:pt x="14176" y="1617466"/>
                  </a:lnTo>
                  <a:lnTo>
                    <a:pt x="2645" y="1494829"/>
                  </a:lnTo>
                  <a:lnTo>
                    <a:pt x="58625" y="1372191"/>
                  </a:lnTo>
                  <a:lnTo>
                    <a:pt x="51636" y="1249554"/>
                  </a:lnTo>
                  <a:lnTo>
                    <a:pt x="51349" y="1126917"/>
                  </a:lnTo>
                  <a:lnTo>
                    <a:pt x="5594" y="1004280"/>
                  </a:lnTo>
                  <a:lnTo>
                    <a:pt x="36883" y="881643"/>
                  </a:lnTo>
                  <a:lnTo>
                    <a:pt x="0" y="759006"/>
                  </a:lnTo>
                  <a:lnTo>
                    <a:pt x="41891" y="636368"/>
                  </a:lnTo>
                  <a:lnTo>
                    <a:pt x="591" y="513731"/>
                  </a:lnTo>
                  <a:lnTo>
                    <a:pt x="35098" y="391094"/>
                  </a:lnTo>
                  <a:lnTo>
                    <a:pt x="6296" y="268457"/>
                  </a:lnTo>
                  <a:lnTo>
                    <a:pt x="58765" y="145820"/>
                  </a:lnTo>
                  <a:close/>
                </a:path>
              </a:pathLst>
            </a:custGeom>
            <a:solidFill>
              <a:srgbClr val="FFFFFF"/>
            </a:solidFill>
            <a:ln w="6350">
              <a:solidFill>
                <a:srgbClr val="D0D0D0"/>
              </a:solidFill>
            </a:ln>
            <a:effectLst>
              <a:outerShdw blurRad="76200" dist="38100" dir="2700000" algn="t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csm.png"/>
            <p:cNvPicPr>
              <a:picLocks noChangeAspect="1"/>
            </p:cNvPicPr>
            <p:nvPr/>
          </p:nvPicPr>
          <p:blipFill>
            <a:blip r:embed="rId7"/>
            <a:stretch>
              <a:fillRect/>
            </a:stretch>
          </p:blipFill>
          <p:spPr>
            <a:xfrm>
              <a:off x="9428117" y="3886200"/>
              <a:ext cx="1672045" cy="402336"/>
            </a:xfrm>
            <a:prstGeom prst="rect">
              <a:avLst/>
            </a:prstGeom>
          </p:spPr>
        </p:pic>
        <p:cxnSp>
          <p:nvCxnSpPr>
            <p:cNvPr id="56" name="Connector 55"/>
            <p:cNvCxnSpPr/>
            <p:nvPr/>
          </p:nvCxnSpPr>
          <p:spPr>
            <a:xfrm>
              <a:off x="9089136" y="4352544"/>
              <a:ext cx="2350008"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089136" y="4407407"/>
              <a:ext cx="2350008"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9089136" y="4480559"/>
              <a:ext cx="2350008" cy="201168"/>
            </a:xfrm>
            <a:prstGeom prst="rect">
              <a:avLst/>
            </a:prstGeom>
            <a:noFill/>
          </p:spPr>
          <p:txBody>
            <a:bodyPr wrap="square" lIns="0" rIns="0" tIns="0" bIns="0" anchor="t">
              <a:spAutoFit/>
            </a:bodyPr>
            <a:lstStyle/>
            <a:p>
              <a:pPr algn="ctr"/>
              <a:r>
                <a:rPr sz="800" b="1" i="0">
                  <a:solidFill>
                    <a:srgbClr val="595959"/>
                  </a:solidFill>
                  <a:latin typeface="Lato"/>
                </a:rPr>
                <a:t>AUGUST 13, 2026</a:t>
              </a:r>
            </a:p>
          </p:txBody>
        </p:sp>
        <p:sp>
          <p:nvSpPr>
            <p:cNvPr id="59" name="TextBox 58"/>
            <p:cNvSpPr txBox="1"/>
            <p:nvPr/>
          </p:nvSpPr>
          <p:spPr>
            <a:xfrm>
              <a:off x="9107424" y="4773168"/>
              <a:ext cx="2313432" cy="1042415"/>
            </a:xfrm>
            <a:prstGeom prst="rect">
              <a:avLst/>
            </a:prstGeom>
            <a:noFill/>
          </p:spPr>
          <p:txBody>
            <a:bodyPr wrap="square" lIns="0" rIns="0" tIns="0" bIns="0" anchor="t">
              <a:spAutoFit/>
            </a:bodyPr>
            <a:lstStyle/>
            <a:p>
              <a:pPr algn="l"/>
              <a:r>
                <a:rPr sz="1300" b="1" i="0">
                  <a:solidFill>
                    <a:srgbClr val="000000"/>
                  </a:solidFill>
                  <a:latin typeface="Georgia"/>
                </a:rPr>
                <a:t>As financial outlook darkens, colleges cut staff, programs ahead of new school year</a:t>
              </a:r>
            </a:p>
          </p:txBody>
        </p:sp>
      </p:grpSp>
      <p:sp>
        <p:nvSpPr>
          <p:cNvPr id="61" name="TextBox 60"/>
          <p:cNvSpPr txBox="1"/>
          <p:nvPr/>
        </p:nvSpPr>
        <p:spPr>
          <a:xfrm>
            <a:off x="457200" y="6053328"/>
            <a:ext cx="11247120" cy="274320"/>
          </a:xfrm>
          <a:prstGeom prst="rect">
            <a:avLst/>
          </a:prstGeom>
          <a:noFill/>
        </p:spPr>
        <p:txBody>
          <a:bodyPr wrap="square" lIns="0" rIns="0" tIns="0" bIns="0" anchor="t">
            <a:spAutoFit/>
          </a:bodyPr>
          <a:lstStyle/>
          <a:p>
            <a:pPr algn="l"/>
            <a:r>
              <a:rPr sz="1300" b="1" i="0">
                <a:solidFill>
                  <a:srgbClr val="C8102E"/>
                </a:solidFill>
                <a:latin typeface="Lato"/>
              </a:rPr>
              <a:t>NAFSA projects roughly 111,000 fewer international students on U.S. campuses this fall (about −9.5%).</a:t>
            </a:r>
          </a:p>
        </p:txBody>
      </p:sp>
      <p:sp>
        <p:nvSpPr>
          <p:cNvPr id="62" name="TextBox 61"/>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headlines as published by each outlet; logos are the publications’ trademarks; NAFSA/JB International analysis via Inside Higher Ed, August 2026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Research, education and healthcare each face structural change</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Updated through 2025–2026 where sources publish; regulatory and compliance burden compounds each</a:t>
            </a:r>
          </a:p>
        </p:txBody>
      </p:sp>
      <p:sp>
        <p:nvSpPr>
          <p:cNvPr id="4" name="TextBox 3"/>
          <p:cNvSpPr txBox="1"/>
          <p:nvPr/>
        </p:nvSpPr>
        <p:spPr>
          <a:xfrm>
            <a:off x="457200" y="1645920"/>
            <a:ext cx="3611880" cy="365760"/>
          </a:xfrm>
          <a:prstGeom prst="rect">
            <a:avLst/>
          </a:prstGeom>
          <a:noFill/>
        </p:spPr>
        <p:txBody>
          <a:bodyPr wrap="square" lIns="0" rIns="0" tIns="0" bIns="0" anchor="t">
            <a:spAutoFit/>
          </a:bodyPr>
          <a:lstStyle/>
          <a:p>
            <a:pPr algn="l"/>
            <a:r>
              <a:rPr sz="2000" b="1" i="0">
                <a:solidFill>
                  <a:srgbClr val="C8102E"/>
                </a:solidFill>
                <a:latin typeface="Lato"/>
              </a:rPr>
              <a:t>Research</a:t>
            </a:r>
          </a:p>
        </p:txBody>
      </p:sp>
      <p:cxnSp>
        <p:nvCxnSpPr>
          <p:cNvPr id="5" name="Connector 4"/>
          <p:cNvCxnSpPr/>
          <p:nvPr/>
        </p:nvCxnSpPr>
        <p:spPr>
          <a:xfrm>
            <a:off x="457200" y="2057400"/>
            <a:ext cx="3611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2212848"/>
            <a:ext cx="3611880" cy="4023360"/>
          </a:xfrm>
          <a:prstGeom prst="rect">
            <a:avLst/>
          </a:prstGeom>
          <a:noFill/>
        </p:spPr>
        <p:txBody>
          <a:bodyPr wrap="square" lIns="0" rIns="0" tIns="0" bIns="0">
            <a:spAutoFit/>
          </a:bodyPr>
          <a:lstStyle/>
          <a:p>
            <a:pPr marL="171450" indent="-171450">
              <a:spcAft>
                <a:spcPts val="400"/>
              </a:spcAft>
              <a:buChar char="•"/>
            </a:pPr>
            <a:r>
              <a:rPr sz="1300">
                <a:solidFill>
                  <a:srgbClr val="000000"/>
                </a:solidFill>
                <a:latin typeface="Lato"/>
              </a:rPr>
              <a:t>Federal R&amp;D funding was 0.63% of GDP in 2024, versus 1.86% at its 1964 peak. The federal share of U.S. R&amp;D funding fell from 45% in 2010 to 34% in 2022.</a:t>
            </a:r>
          </a:p>
          <a:p>
            <a:pPr marL="171450" indent="-171450">
              <a:spcAft>
                <a:spcPts val="400"/>
              </a:spcAft>
              <a:buChar char="•"/>
            </a:pPr>
            <a:r>
              <a:rPr sz="1300">
                <a:solidFill>
                  <a:srgbClr val="000000"/>
                </a:solidFill>
                <a:latin typeface="Lato"/>
              </a:rPr>
              <a:t>Congress held NIH at $47.5 billion for FY2026 (+1.0%), $19.6 billion above the President’s request. NSF received $8.75 billion, down 3%.</a:t>
            </a:r>
          </a:p>
          <a:p>
            <a:pPr marL="171450" indent="-171450">
              <a:spcAft>
                <a:spcPts val="400"/>
              </a:spcAft>
              <a:buChar char="•"/>
            </a:pPr>
            <a:r>
              <a:rPr sz="1300">
                <a:solidFill>
                  <a:srgbClr val="000000"/>
                </a:solidFill>
                <a:latin typeface="Lato"/>
              </a:rPr>
              <a:t>U.S. R&amp;D totaled $937 billion in 2023, with an estimated $993 billion in 2024, driven by business funding.</a:t>
            </a:r>
          </a:p>
        </p:txBody>
      </p:sp>
      <p:sp>
        <p:nvSpPr>
          <p:cNvPr id="7" name="TextBox 6"/>
          <p:cNvSpPr txBox="1"/>
          <p:nvPr/>
        </p:nvSpPr>
        <p:spPr>
          <a:xfrm>
            <a:off x="4288536" y="1645920"/>
            <a:ext cx="3611880" cy="365760"/>
          </a:xfrm>
          <a:prstGeom prst="rect">
            <a:avLst/>
          </a:prstGeom>
          <a:noFill/>
        </p:spPr>
        <p:txBody>
          <a:bodyPr wrap="square" lIns="0" rIns="0" tIns="0" bIns="0" anchor="t">
            <a:spAutoFit/>
          </a:bodyPr>
          <a:lstStyle/>
          <a:p>
            <a:pPr algn="l"/>
            <a:r>
              <a:rPr sz="2000" b="1" i="0">
                <a:solidFill>
                  <a:srgbClr val="C8102E"/>
                </a:solidFill>
                <a:latin typeface="Lato"/>
              </a:rPr>
              <a:t>Education</a:t>
            </a:r>
          </a:p>
        </p:txBody>
      </p:sp>
      <p:cxnSp>
        <p:nvCxnSpPr>
          <p:cNvPr id="8" name="Connector 7"/>
          <p:cNvCxnSpPr/>
          <p:nvPr/>
        </p:nvCxnSpPr>
        <p:spPr>
          <a:xfrm>
            <a:off x="4288536" y="2057400"/>
            <a:ext cx="3611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288536" y="2212848"/>
            <a:ext cx="3611880" cy="4023360"/>
          </a:xfrm>
          <a:prstGeom prst="rect">
            <a:avLst/>
          </a:prstGeom>
          <a:noFill/>
        </p:spPr>
        <p:txBody>
          <a:bodyPr wrap="square" lIns="0" rIns="0" tIns="0" bIns="0">
            <a:spAutoFit/>
          </a:bodyPr>
          <a:lstStyle/>
          <a:p>
            <a:pPr marL="171450" indent="-171450">
              <a:spcAft>
                <a:spcPts val="400"/>
              </a:spcAft>
              <a:buChar char="•"/>
            </a:pPr>
            <a:r>
              <a:rPr sz="1300">
                <a:solidFill>
                  <a:srgbClr val="000000"/>
                </a:solidFill>
                <a:latin typeface="Lato"/>
              </a:rPr>
              <a:t>Federal student loan debt reached a record $1.696 trillion in December 2025, more than triple its 2007 level of $516 billion.</a:t>
            </a:r>
          </a:p>
          <a:p>
            <a:pPr marL="171450" indent="-171450">
              <a:spcAft>
                <a:spcPts val="400"/>
              </a:spcAft>
              <a:buChar char="•"/>
            </a:pPr>
            <a:r>
              <a:rPr sz="1300">
                <a:solidFill>
                  <a:srgbClr val="000000"/>
                </a:solidFill>
                <a:latin typeface="Lato"/>
              </a:rPr>
              <a:t>College closures averaged ten a year from 2014 to 2025, versus three a year from 1996 to 2013. More than 80 private nonprofit colleges closed or merged from 2020 to 2025.</a:t>
            </a:r>
          </a:p>
          <a:p>
            <a:pPr marL="171450" indent="-171450">
              <a:spcAft>
                <a:spcPts val="400"/>
              </a:spcAft>
              <a:buChar char="•"/>
            </a:pPr>
            <a:r>
              <a:rPr sz="1300">
                <a:solidFill>
                  <a:srgbClr val="000000"/>
                </a:solidFill>
                <a:latin typeface="Lato"/>
              </a:rPr>
              <a:t>Recent-graduate unemployment was about 5.6% with 42% underemployment in Q2 2026 as AI automates entry-level work. 61.1% of the fall 2019 cohort finished a credential within six years.</a:t>
            </a:r>
          </a:p>
        </p:txBody>
      </p:sp>
      <p:sp>
        <p:nvSpPr>
          <p:cNvPr id="10" name="TextBox 9"/>
          <p:cNvSpPr txBox="1"/>
          <p:nvPr/>
        </p:nvSpPr>
        <p:spPr>
          <a:xfrm>
            <a:off x="8119872" y="1645920"/>
            <a:ext cx="3611880" cy="365760"/>
          </a:xfrm>
          <a:prstGeom prst="rect">
            <a:avLst/>
          </a:prstGeom>
          <a:noFill/>
        </p:spPr>
        <p:txBody>
          <a:bodyPr wrap="square" lIns="0" rIns="0" tIns="0" bIns="0" anchor="t">
            <a:spAutoFit/>
          </a:bodyPr>
          <a:lstStyle/>
          <a:p>
            <a:pPr algn="l"/>
            <a:r>
              <a:rPr sz="2000" b="1" i="0">
                <a:solidFill>
                  <a:srgbClr val="C8102E"/>
                </a:solidFill>
                <a:latin typeface="Lato"/>
              </a:rPr>
              <a:t>Healthcare</a:t>
            </a:r>
          </a:p>
        </p:txBody>
      </p:sp>
      <p:cxnSp>
        <p:nvCxnSpPr>
          <p:cNvPr id="11" name="Connector 10"/>
          <p:cNvCxnSpPr/>
          <p:nvPr/>
        </p:nvCxnSpPr>
        <p:spPr>
          <a:xfrm>
            <a:off x="8119872" y="2057400"/>
            <a:ext cx="36118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19872" y="2212848"/>
            <a:ext cx="3611880" cy="4023360"/>
          </a:xfrm>
          <a:prstGeom prst="rect">
            <a:avLst/>
          </a:prstGeom>
          <a:noFill/>
        </p:spPr>
        <p:txBody>
          <a:bodyPr wrap="square" lIns="0" rIns="0" tIns="0" bIns="0">
            <a:spAutoFit/>
          </a:bodyPr>
          <a:lstStyle/>
          <a:p>
            <a:pPr marL="171450" indent="-171450">
              <a:spcAft>
                <a:spcPts val="400"/>
              </a:spcAft>
              <a:buChar char="•"/>
            </a:pPr>
            <a:r>
              <a:rPr sz="1300">
                <a:solidFill>
                  <a:srgbClr val="000000"/>
                </a:solidFill>
                <a:latin typeface="Lato"/>
              </a:rPr>
              <a:t>Health spending reached 18.0% of GDP in 2024, up 8.2% on the year, and is projected to reach 20.3% by 2033.</a:t>
            </a:r>
          </a:p>
          <a:p>
            <a:pPr marL="171450" indent="-171450">
              <a:spcAft>
                <a:spcPts val="400"/>
              </a:spcAft>
              <a:buChar char="•"/>
            </a:pPr>
            <a:r>
              <a:rPr sz="1300">
                <a:solidFill>
                  <a:srgbClr val="000000"/>
                </a:solidFill>
                <a:latin typeface="Lato"/>
              </a:rPr>
              <a:t>CMS projects private health insurance enrollment to fall 2.2% in 2026 when enhanced subsidies expire under current law.</a:t>
            </a:r>
          </a:p>
          <a:p>
            <a:pPr marL="171450" indent="-171450">
              <a:spcAft>
                <a:spcPts val="400"/>
              </a:spcAft>
              <a:buChar char="•"/>
            </a:pPr>
            <a:r>
              <a:rPr sz="1300">
                <a:solidFill>
                  <a:srgbClr val="000000"/>
                </a:solidFill>
                <a:latin typeface="Lato"/>
              </a:rPr>
              <a:t>All reform proposals aim to contain health’s share of GDP, driving structural transformation and a shift from volume to value.</a:t>
            </a:r>
          </a:p>
        </p:txBody>
      </p:sp>
      <p:sp>
        <p:nvSpPr>
          <p:cNvPr id="13" name="TextBox 12"/>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Sources: NCSES; CRS (P.L. 119-75); Federal Student Aid; SHEEO; NY Fed; National Student Clearinghouse; CMS Office of the Actuary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The sector grew eightfold from 1870 to 2010, peaked at 4,726 in 2012–13, and has shrunk 18% since</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U.S. degree-granting institutions, including branch campuses: start of each decade, the 2012–13 peak, and 2018 and 2022–23</a:t>
            </a:r>
          </a:p>
        </p:txBody>
      </p:sp>
      <p:graphicFrame>
        <p:nvGraphicFramePr>
          <p:cNvPr id="4" name="Chart 3"/>
          <p:cNvGraphicFramePr>
            <a:graphicFrameLocks noGrp="1"/>
          </p:cNvGraphicFramePr>
          <p:nvPr/>
        </p:nvGraphicFramePr>
        <p:xfrm>
          <a:off x="457200" y="1691640"/>
          <a:ext cx="11274552" cy="4343400"/>
        </p:xfrm>
        <a:graphic>
          <a:graphicData uri="http://schemas.openxmlformats.org/drawingml/2006/chart">
            <c:chart xmlns:c="http://schemas.openxmlformats.org/drawingml/2006/chart" r:id="rId2"/>
          </a:graphicData>
        </a:graphic>
      </p:graphicFrame>
      <p:sp>
        <p:nvSpPr>
          <p:cNvPr id="5" name="Rectangle 4"/>
          <p:cNvSpPr/>
          <p:nvPr/>
        </p:nvSpPr>
        <p:spPr>
          <a:xfrm>
            <a:off x="1234440" y="1920240"/>
            <a:ext cx="4846320" cy="91440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993392"/>
            <a:ext cx="4572000" cy="822960"/>
          </a:xfrm>
          <a:prstGeom prst="rect">
            <a:avLst/>
          </a:prstGeom>
          <a:noFill/>
        </p:spPr>
        <p:txBody>
          <a:bodyPr wrap="square" lIns="0" rIns="0" tIns="0" bIns="0" anchor="t">
            <a:spAutoFit/>
          </a:bodyPr>
          <a:lstStyle/>
          <a:p>
            <a:pPr algn="l"/>
            <a:r>
              <a:rPr sz="1100" b="1" i="0">
                <a:solidFill>
                  <a:srgbClr val="C8102E"/>
                </a:solidFill>
                <a:latin typeface="Lato"/>
              </a:rPr>
              <a:t>2023–24 update</a:t>
            </a:r>
          </a:p>
          <a:p>
            <a:pPr algn="l"/>
            <a:r>
              <a:rPr sz="1100" b="0" i="0">
                <a:solidFill>
                  <a:srgbClr val="000000"/>
                </a:solidFill>
                <a:latin typeface="Lato"/>
              </a:rPr>
              <a:t>All Title IV institutions fell 2%, from 5,918 to 5,819: 161 closed, merged or lost eligibility and 62 were added.</a:t>
            </a:r>
          </a:p>
        </p:txBody>
      </p:sp>
      <p:sp>
        <p:nvSpPr>
          <p:cNvPr id="7" name="TextBox 6"/>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NCES Digest of Education Statistics 2023, Table 317.10; NCES press release, August 21, 2024 (Title IV institutions)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Federal R&amp;D support has fallen from 1.9% of GDP to 0.6%, while other sources now fund 2.8%</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U.S. R&amp;D funding by source as a percent of GDP, 1953–2024</a:t>
            </a:r>
          </a:p>
        </p:txBody>
      </p:sp>
      <p:graphicFrame>
        <p:nvGraphicFramePr>
          <p:cNvPr id="4" name="Chart 3"/>
          <p:cNvGraphicFramePr>
            <a:graphicFrameLocks noGrp="1"/>
          </p:cNvGraphicFramePr>
          <p:nvPr/>
        </p:nvGraphicFramePr>
        <p:xfrm>
          <a:off x="457200" y="1600200"/>
          <a:ext cx="11274552" cy="4434840"/>
        </p:xfrm>
        <a:graphic>
          <a:graphicData uri="http://schemas.openxmlformats.org/drawingml/2006/chart">
            <c:chart xmlns:c="http://schemas.openxmlformats.org/drawingml/2006/chart" r:id="rId2"/>
          </a:graphicData>
        </a:graphic>
      </p:graphicFrame>
      <p:sp>
        <p:nvSpPr>
          <p:cNvPr id="5" name="Rectangle 4"/>
          <p:cNvSpPr/>
          <p:nvPr/>
        </p:nvSpPr>
        <p:spPr>
          <a:xfrm>
            <a:off x="1188720" y="1965960"/>
            <a:ext cx="4846320" cy="105156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2039112"/>
            <a:ext cx="4572000" cy="914400"/>
          </a:xfrm>
          <a:prstGeom prst="rect">
            <a:avLst/>
          </a:prstGeom>
          <a:noFill/>
        </p:spPr>
        <p:txBody>
          <a:bodyPr wrap="square" lIns="0" rIns="0" tIns="0" bIns="0" anchor="t">
            <a:spAutoFit/>
          </a:bodyPr>
          <a:lstStyle/>
          <a:p>
            <a:pPr algn="l"/>
            <a:r>
              <a:rPr sz="1100" b="1" i="0">
                <a:solidFill>
                  <a:srgbClr val="C8102E"/>
                </a:solidFill>
                <a:latin typeface="Lato"/>
              </a:rPr>
              <a:t>2024</a:t>
            </a:r>
          </a:p>
          <a:p>
            <a:pPr algn="l"/>
            <a:r>
              <a:rPr sz="1100" b="0" i="0">
                <a:solidFill>
                  <a:srgbClr val="000000"/>
                </a:solidFill>
                <a:latin typeface="Lato"/>
              </a:rPr>
              <a:t>Total U.S. R&amp;D was 3.39% of GDP: business funded 2.54%, the federal government 0.63% and other nonfederal sources 0.22%. Total R&amp;D reached $937 billion in 2023, with an estimated $993 billion in 2024.</a:t>
            </a:r>
          </a:p>
        </p:txBody>
      </p:sp>
      <p:sp>
        <p:nvSpPr>
          <p:cNvPr id="7" name="TextBox 6"/>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NSF National Center for Science and Engineering Statistics, National Patterns of R&amp;D Resources (NSF 26-314, figure 3); 2024 is an estimate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Federal regulation has grown from 9,745 pages in 1950 to 194,395 in 2024, twentyfold</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Total pages in the Code of Federal Regulations, 1950–2024. At one page a day, the full Code would take 533 years to read.</a:t>
            </a:r>
          </a:p>
        </p:txBody>
      </p:sp>
      <p:graphicFrame>
        <p:nvGraphicFramePr>
          <p:cNvPr id="4" name="Chart 3"/>
          <p:cNvGraphicFramePr>
            <a:graphicFrameLocks noGrp="1"/>
          </p:cNvGraphicFramePr>
          <p:nvPr/>
        </p:nvGraphicFramePr>
        <p:xfrm>
          <a:off x="457200" y="1600200"/>
          <a:ext cx="11274552" cy="4434840"/>
        </p:xfrm>
        <a:graphic>
          <a:graphicData uri="http://schemas.openxmlformats.org/drawingml/2006/chart">
            <c:chart xmlns:c="http://schemas.openxmlformats.org/drawingml/2006/chart" r:id="rId2"/>
          </a:graphicData>
        </a:graphic>
      </p:graphicFrame>
      <p:sp>
        <p:nvSpPr>
          <p:cNvPr id="5" name="TextBox 4"/>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George Washington University Regulatory Studies Center, Reg-Stats (Federal Register statistics; GovInfo for 2024)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The college earnings premium has grown from 28% in 1965 to 80% in 2014, and still holds today</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Median family income of adults ages 30–39, with and without a four-year college degree ($000)</a:t>
            </a:r>
          </a:p>
        </p:txBody>
      </p:sp>
      <p:graphicFrame>
        <p:nvGraphicFramePr>
          <p:cNvPr id="4" name="Chart 3"/>
          <p:cNvGraphicFramePr>
            <a:graphicFrameLocks noGrp="1"/>
          </p:cNvGraphicFramePr>
          <p:nvPr/>
        </p:nvGraphicFramePr>
        <p:xfrm>
          <a:off x="457200" y="2148840"/>
          <a:ext cx="7589520" cy="3840480"/>
        </p:xfrm>
        <a:graphic>
          <a:graphicData uri="http://schemas.openxmlformats.org/drawingml/2006/chart">
            <c:chart xmlns:c="http://schemas.openxmlformats.org/drawingml/2006/chart" r:id="rId2"/>
          </a:graphicData>
        </a:graphic>
      </p:graphicFrame>
      <p:sp>
        <p:nvSpPr>
          <p:cNvPr id="5" name="TextBox 4"/>
          <p:cNvSpPr txBox="1"/>
          <p:nvPr/>
        </p:nvSpPr>
        <p:spPr>
          <a:xfrm>
            <a:off x="457200" y="1938528"/>
            <a:ext cx="1280160" cy="228600"/>
          </a:xfrm>
          <a:prstGeom prst="rect">
            <a:avLst/>
          </a:prstGeom>
          <a:noFill/>
        </p:spPr>
        <p:txBody>
          <a:bodyPr wrap="square" lIns="0" rIns="0" tIns="0" bIns="0" anchor="t">
            <a:spAutoFit/>
          </a:bodyPr>
          <a:lstStyle/>
          <a:p>
            <a:pPr algn="l"/>
            <a:r>
              <a:rPr sz="900" b="1" i="0">
                <a:solidFill>
                  <a:srgbClr val="595959"/>
                </a:solidFill>
                <a:latin typeface="Lato"/>
              </a:rPr>
              <a:t>College premium above</a:t>
            </a:r>
          </a:p>
        </p:txBody>
      </p:sp>
      <p:sp>
        <p:nvSpPr>
          <p:cNvPr id="6" name="TextBox 5"/>
          <p:cNvSpPr txBox="1"/>
          <p:nvPr/>
        </p:nvSpPr>
        <p:spPr>
          <a:xfrm>
            <a:off x="1047902" y="1645920"/>
            <a:ext cx="1097280" cy="457200"/>
          </a:xfrm>
          <a:prstGeom prst="rect">
            <a:avLst/>
          </a:prstGeom>
          <a:noFill/>
        </p:spPr>
        <p:txBody>
          <a:bodyPr wrap="square" lIns="0" rIns="0" tIns="0" bIns="0" anchor="ctr">
            <a:spAutoFit/>
          </a:bodyPr>
          <a:lstStyle/>
          <a:p>
            <a:pPr algn="ctr"/>
            <a:r>
              <a:rPr sz="1800" b="1" i="0">
                <a:solidFill>
                  <a:srgbClr val="C8102E"/>
                </a:solidFill>
                <a:latin typeface="Lato"/>
              </a:rPr>
              <a:t>28%</a:t>
            </a:r>
          </a:p>
        </p:txBody>
      </p:sp>
      <p:sp>
        <p:nvSpPr>
          <p:cNvPr id="7" name="TextBox 6"/>
          <p:cNvSpPr txBox="1"/>
          <p:nvPr/>
        </p:nvSpPr>
        <p:spPr>
          <a:xfrm>
            <a:off x="2189073" y="1645920"/>
            <a:ext cx="1097280" cy="457200"/>
          </a:xfrm>
          <a:prstGeom prst="rect">
            <a:avLst/>
          </a:prstGeom>
          <a:noFill/>
        </p:spPr>
        <p:txBody>
          <a:bodyPr wrap="square" lIns="0" rIns="0" tIns="0" bIns="0" anchor="ctr">
            <a:spAutoFit/>
          </a:bodyPr>
          <a:lstStyle/>
          <a:p>
            <a:pPr algn="ctr"/>
            <a:r>
              <a:rPr sz="1800" b="1" i="0">
                <a:solidFill>
                  <a:srgbClr val="C8102E"/>
                </a:solidFill>
                <a:latin typeface="Lato"/>
              </a:rPr>
              <a:t>27%</a:t>
            </a:r>
          </a:p>
        </p:txBody>
      </p:sp>
      <p:sp>
        <p:nvSpPr>
          <p:cNvPr id="8" name="TextBox 7"/>
          <p:cNvSpPr txBox="1"/>
          <p:nvPr/>
        </p:nvSpPr>
        <p:spPr>
          <a:xfrm>
            <a:off x="3330244" y="1645920"/>
            <a:ext cx="1097280" cy="457200"/>
          </a:xfrm>
          <a:prstGeom prst="rect">
            <a:avLst/>
          </a:prstGeom>
          <a:noFill/>
        </p:spPr>
        <p:txBody>
          <a:bodyPr wrap="square" lIns="0" rIns="0" tIns="0" bIns="0" anchor="ctr">
            <a:spAutoFit/>
          </a:bodyPr>
          <a:lstStyle/>
          <a:p>
            <a:pPr algn="ctr"/>
            <a:r>
              <a:rPr sz="1800" b="1" i="0">
                <a:solidFill>
                  <a:srgbClr val="C8102E"/>
                </a:solidFill>
                <a:latin typeface="Lato"/>
              </a:rPr>
              <a:t>33%</a:t>
            </a:r>
          </a:p>
        </p:txBody>
      </p:sp>
      <p:sp>
        <p:nvSpPr>
          <p:cNvPr id="9" name="TextBox 8"/>
          <p:cNvSpPr txBox="1"/>
          <p:nvPr/>
        </p:nvSpPr>
        <p:spPr>
          <a:xfrm>
            <a:off x="4471416" y="1645920"/>
            <a:ext cx="1097280" cy="457200"/>
          </a:xfrm>
          <a:prstGeom prst="rect">
            <a:avLst/>
          </a:prstGeom>
          <a:noFill/>
        </p:spPr>
        <p:txBody>
          <a:bodyPr wrap="square" lIns="0" rIns="0" tIns="0" bIns="0" anchor="ctr">
            <a:spAutoFit/>
          </a:bodyPr>
          <a:lstStyle/>
          <a:p>
            <a:pPr algn="ctr"/>
            <a:r>
              <a:rPr sz="1800" b="1" i="0">
                <a:solidFill>
                  <a:srgbClr val="C8102E"/>
                </a:solidFill>
                <a:latin typeface="Lato"/>
              </a:rPr>
              <a:t>46%</a:t>
            </a:r>
          </a:p>
        </p:txBody>
      </p:sp>
      <p:sp>
        <p:nvSpPr>
          <p:cNvPr id="10" name="TextBox 9"/>
          <p:cNvSpPr txBox="1"/>
          <p:nvPr/>
        </p:nvSpPr>
        <p:spPr>
          <a:xfrm>
            <a:off x="5612587" y="1645920"/>
            <a:ext cx="1097280" cy="457200"/>
          </a:xfrm>
          <a:prstGeom prst="rect">
            <a:avLst/>
          </a:prstGeom>
          <a:noFill/>
        </p:spPr>
        <p:txBody>
          <a:bodyPr wrap="square" lIns="0" rIns="0" tIns="0" bIns="0" anchor="ctr">
            <a:spAutoFit/>
          </a:bodyPr>
          <a:lstStyle/>
          <a:p>
            <a:pPr algn="ctr"/>
            <a:r>
              <a:rPr sz="1800" b="1" i="0">
                <a:solidFill>
                  <a:srgbClr val="C8102E"/>
                </a:solidFill>
                <a:latin typeface="Lato"/>
              </a:rPr>
              <a:t>62%</a:t>
            </a:r>
          </a:p>
        </p:txBody>
      </p:sp>
      <p:sp>
        <p:nvSpPr>
          <p:cNvPr id="11" name="TextBox 10"/>
          <p:cNvSpPr txBox="1"/>
          <p:nvPr/>
        </p:nvSpPr>
        <p:spPr>
          <a:xfrm>
            <a:off x="6753758" y="1645920"/>
            <a:ext cx="1097280" cy="457200"/>
          </a:xfrm>
          <a:prstGeom prst="rect">
            <a:avLst/>
          </a:prstGeom>
          <a:noFill/>
        </p:spPr>
        <p:txBody>
          <a:bodyPr wrap="square" lIns="0" rIns="0" tIns="0" bIns="0" anchor="ctr">
            <a:spAutoFit/>
          </a:bodyPr>
          <a:lstStyle/>
          <a:p>
            <a:pPr algn="ctr"/>
            <a:r>
              <a:rPr sz="1800" b="1" i="0">
                <a:solidFill>
                  <a:srgbClr val="C8102E"/>
                </a:solidFill>
                <a:latin typeface="Lato"/>
              </a:rPr>
              <a:t>80%</a:t>
            </a:r>
          </a:p>
        </p:txBody>
      </p:sp>
      <p:sp>
        <p:nvSpPr>
          <p:cNvPr id="12" name="Rectangle 11"/>
          <p:cNvSpPr/>
          <p:nvPr/>
        </p:nvSpPr>
        <p:spPr>
          <a:xfrm>
            <a:off x="8412480" y="1645920"/>
            <a:ext cx="3319272" cy="4343400"/>
          </a:xfrm>
          <a:prstGeom prst="rect">
            <a:avLst/>
          </a:prstGeom>
          <a:no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783080"/>
            <a:ext cx="2971800" cy="274320"/>
          </a:xfrm>
          <a:prstGeom prst="rect">
            <a:avLst/>
          </a:prstGeom>
          <a:noFill/>
        </p:spPr>
        <p:txBody>
          <a:bodyPr wrap="square" lIns="0" rIns="0" tIns="0" bIns="0" anchor="t">
            <a:spAutoFit/>
          </a:bodyPr>
          <a:lstStyle/>
          <a:p>
            <a:pPr algn="l"/>
            <a:r>
              <a:rPr sz="1000" b="1" i="0">
                <a:solidFill>
                  <a:srgbClr val="C8102E"/>
                </a:solidFill>
                <a:latin typeface="Lato"/>
              </a:rPr>
              <a:t>2024–2025 UPDATE</a:t>
            </a:r>
          </a:p>
        </p:txBody>
      </p:sp>
      <p:sp>
        <p:nvSpPr>
          <p:cNvPr id="14" name="TextBox 13"/>
          <p:cNvSpPr txBox="1"/>
          <p:nvPr/>
        </p:nvSpPr>
        <p:spPr>
          <a:xfrm>
            <a:off x="8595360" y="2103120"/>
            <a:ext cx="2971800" cy="731520"/>
          </a:xfrm>
          <a:prstGeom prst="rect">
            <a:avLst/>
          </a:prstGeom>
          <a:noFill/>
        </p:spPr>
        <p:txBody>
          <a:bodyPr wrap="square" lIns="0" rIns="0" tIns="0" bIns="0" anchor="t">
            <a:spAutoFit/>
          </a:bodyPr>
          <a:lstStyle/>
          <a:p>
            <a:pPr algn="l"/>
            <a:r>
              <a:rPr sz="4000" b="1" i="0">
                <a:solidFill>
                  <a:srgbClr val="000000"/>
                </a:solidFill>
                <a:latin typeface="Lato"/>
              </a:rPr>
              <a:t>2.3×</a:t>
            </a:r>
          </a:p>
        </p:txBody>
      </p:sp>
      <p:sp>
        <p:nvSpPr>
          <p:cNvPr id="15" name="TextBox 14"/>
          <p:cNvSpPr txBox="1"/>
          <p:nvPr/>
        </p:nvSpPr>
        <p:spPr>
          <a:xfrm>
            <a:off x="8595360" y="2834640"/>
            <a:ext cx="2971800" cy="1188720"/>
          </a:xfrm>
          <a:prstGeom prst="rect">
            <a:avLst/>
          </a:prstGeom>
          <a:noFill/>
        </p:spPr>
        <p:txBody>
          <a:bodyPr wrap="square" lIns="0" rIns="0" tIns="0" bIns="0" anchor="t">
            <a:spAutoFit/>
          </a:bodyPr>
          <a:lstStyle/>
          <a:p>
            <a:pPr algn="l"/>
            <a:r>
              <a:rPr sz="1100" b="0" i="0">
                <a:solidFill>
                  <a:srgbClr val="000000"/>
                </a:solidFill>
                <a:latin typeface="Lato"/>
              </a:rPr>
              <a:t>Median household income in 2024: $132,700 when the householder has a bachelor’s degree or higher, versus $58,410 with a high school degree only (Census).</a:t>
            </a:r>
          </a:p>
        </p:txBody>
      </p:sp>
      <p:cxnSp>
        <p:nvCxnSpPr>
          <p:cNvPr id="16" name="Connector 15"/>
          <p:cNvCxnSpPr/>
          <p:nvPr/>
        </p:nvCxnSpPr>
        <p:spPr>
          <a:xfrm>
            <a:off x="8595360" y="4114800"/>
            <a:ext cx="2971800" cy="0"/>
          </a:xfrm>
          <a:prstGeom prst="line">
            <a:avLst/>
          </a:prstGeom>
          <a:ln w="6350">
            <a:solidFill>
              <a:srgbClr val="0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595360" y="4206240"/>
            <a:ext cx="2971800" cy="731520"/>
          </a:xfrm>
          <a:prstGeom prst="rect">
            <a:avLst/>
          </a:prstGeom>
          <a:noFill/>
        </p:spPr>
        <p:txBody>
          <a:bodyPr wrap="square" lIns="0" rIns="0" tIns="0" bIns="0" anchor="t">
            <a:spAutoFit/>
          </a:bodyPr>
          <a:lstStyle/>
          <a:p>
            <a:pPr algn="l"/>
            <a:r>
              <a:rPr sz="4000" b="1" i="0">
                <a:solidFill>
                  <a:srgbClr val="C8102E"/>
                </a:solidFill>
                <a:latin typeface="Lato"/>
              </a:rPr>
              <a:t>+63%</a:t>
            </a:r>
          </a:p>
        </p:txBody>
      </p:sp>
      <p:sp>
        <p:nvSpPr>
          <p:cNvPr id="18" name="TextBox 17"/>
          <p:cNvSpPr txBox="1"/>
          <p:nvPr/>
        </p:nvSpPr>
        <p:spPr>
          <a:xfrm>
            <a:off x="8595360" y="4937760"/>
            <a:ext cx="2971800" cy="1005840"/>
          </a:xfrm>
          <a:prstGeom prst="rect">
            <a:avLst/>
          </a:prstGeom>
          <a:noFill/>
        </p:spPr>
        <p:txBody>
          <a:bodyPr wrap="square" lIns="0" rIns="0" tIns="0" bIns="0" anchor="t">
            <a:spAutoFit/>
          </a:bodyPr>
          <a:lstStyle/>
          <a:p>
            <a:pPr algn="l"/>
            <a:r>
              <a:rPr sz="1100" b="0" i="0">
                <a:solidFill>
                  <a:srgbClr val="000000"/>
                </a:solidFill>
                <a:latin typeface="Lato"/>
              </a:rPr>
              <a:t>Bachelor’s degree holders’ median weekly earnings versus high school graduates in 2025; the premium was 66% in 2024 (BLS).</a:t>
            </a:r>
          </a:p>
        </p:txBody>
      </p:sp>
      <p:sp>
        <p:nvSpPr>
          <p:cNvPr id="19" name="TextBox 18"/>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Brookings tabulations of Census CPS ASEC (1965–2014); Census (Sept. 2025) and BLS Education Pays (2024, 2025) use different measures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How many colleges and universities are there in the U.S.? Not an easy question to answer</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Post-secondary institutions by level and control, 2021–22; share of each group in the bar</a:t>
            </a:r>
          </a:p>
        </p:txBody>
      </p:sp>
      <p:graphicFrame>
        <p:nvGraphicFramePr>
          <p:cNvPr id="4" name="Chart 3"/>
          <p:cNvGraphicFramePr>
            <a:graphicFrameLocks noGrp="1"/>
          </p:cNvGraphicFramePr>
          <p:nvPr/>
        </p:nvGraphicFramePr>
        <p:xfrm>
          <a:off x="457200" y="1645920"/>
          <a:ext cx="7955279" cy="4434840"/>
        </p:xfrm>
        <a:graphic>
          <a:graphicData uri="http://schemas.openxmlformats.org/drawingml/2006/chart">
            <c:chart xmlns:c="http://schemas.openxmlformats.org/drawingml/2006/chart" r:id="rId2"/>
          </a:graphicData>
        </a:graphic>
      </p:graphicFrame>
      <p:cxnSp>
        <p:nvCxnSpPr>
          <p:cNvPr id="5" name="Connector 4"/>
          <p:cNvCxnSpPr/>
          <p:nvPr/>
        </p:nvCxnSpPr>
        <p:spPr>
          <a:xfrm>
            <a:off x="8686800" y="1691640"/>
            <a:ext cx="3044952"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686800" y="1764792"/>
            <a:ext cx="3044952" cy="640080"/>
          </a:xfrm>
          <a:prstGeom prst="rect">
            <a:avLst/>
          </a:prstGeom>
          <a:noFill/>
        </p:spPr>
        <p:txBody>
          <a:bodyPr wrap="square" lIns="0" rIns="0" tIns="0" bIns="0" anchor="t">
            <a:spAutoFit/>
          </a:bodyPr>
          <a:lstStyle/>
          <a:p>
            <a:pPr algn="l"/>
            <a:r>
              <a:rPr sz="3600" b="1" i="0">
                <a:solidFill>
                  <a:srgbClr val="C8102E"/>
                </a:solidFill>
                <a:latin typeface="Lato"/>
              </a:rPr>
              <a:t>26%</a:t>
            </a:r>
          </a:p>
        </p:txBody>
      </p:sp>
      <p:sp>
        <p:nvSpPr>
          <p:cNvPr id="7" name="TextBox 6"/>
          <p:cNvSpPr txBox="1"/>
          <p:nvPr/>
        </p:nvSpPr>
        <p:spPr>
          <a:xfrm>
            <a:off x="8686800" y="2404872"/>
            <a:ext cx="3044952" cy="731520"/>
          </a:xfrm>
          <a:prstGeom prst="rect">
            <a:avLst/>
          </a:prstGeom>
          <a:noFill/>
        </p:spPr>
        <p:txBody>
          <a:bodyPr wrap="square" lIns="0" rIns="0" tIns="0" bIns="0" anchor="t">
            <a:spAutoFit/>
          </a:bodyPr>
          <a:lstStyle/>
          <a:p>
            <a:pPr algn="l"/>
            <a:r>
              <a:rPr sz="1100" b="0" i="0">
                <a:solidFill>
                  <a:srgbClr val="000000"/>
                </a:solidFill>
                <a:latin typeface="Lato"/>
              </a:rPr>
              <a:t>of all institutions are four-year private nonprofits, the group Northeastern belongs to; 13% are four-year public.</a:t>
            </a:r>
          </a:p>
        </p:txBody>
      </p:sp>
      <p:cxnSp>
        <p:nvCxnSpPr>
          <p:cNvPr id="8" name="Connector 7"/>
          <p:cNvCxnSpPr/>
          <p:nvPr/>
        </p:nvCxnSpPr>
        <p:spPr>
          <a:xfrm>
            <a:off x="8686800" y="3154680"/>
            <a:ext cx="3044952"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686800" y="3227832"/>
            <a:ext cx="3044952" cy="640080"/>
          </a:xfrm>
          <a:prstGeom prst="rect">
            <a:avLst/>
          </a:prstGeom>
          <a:noFill/>
        </p:spPr>
        <p:txBody>
          <a:bodyPr wrap="square" lIns="0" rIns="0" tIns="0" bIns="0" anchor="t">
            <a:spAutoFit/>
          </a:bodyPr>
          <a:lstStyle/>
          <a:p>
            <a:pPr algn="l"/>
            <a:r>
              <a:rPr sz="3600" b="1" i="0">
                <a:solidFill>
                  <a:srgbClr val="C8102E"/>
                </a:solidFill>
                <a:latin typeface="Lato"/>
              </a:rPr>
              <a:t>79%</a:t>
            </a:r>
          </a:p>
        </p:txBody>
      </p:sp>
      <p:sp>
        <p:nvSpPr>
          <p:cNvPr id="10" name="TextBox 9"/>
          <p:cNvSpPr txBox="1"/>
          <p:nvPr/>
        </p:nvSpPr>
        <p:spPr>
          <a:xfrm>
            <a:off x="8686800" y="3867912"/>
            <a:ext cx="3044952" cy="731520"/>
          </a:xfrm>
          <a:prstGeom prst="rect">
            <a:avLst/>
          </a:prstGeom>
          <a:noFill/>
        </p:spPr>
        <p:txBody>
          <a:bodyPr wrap="square" lIns="0" rIns="0" tIns="0" bIns="0" anchor="t">
            <a:spAutoFit/>
          </a:bodyPr>
          <a:lstStyle/>
          <a:p>
            <a:pPr algn="l"/>
            <a:r>
              <a:rPr sz="1100" b="0" i="0">
                <a:solidFill>
                  <a:srgbClr val="000000"/>
                </a:solidFill>
                <a:latin typeface="Lato"/>
              </a:rPr>
              <a:t>of the 1,940 non-degree institutions are for-profit, which is why for-profits are 38% of the total but only 18% of degree-granting institutions.</a:t>
            </a:r>
          </a:p>
        </p:txBody>
      </p:sp>
      <p:cxnSp>
        <p:nvCxnSpPr>
          <p:cNvPr id="11" name="Connector 10"/>
          <p:cNvCxnSpPr/>
          <p:nvPr/>
        </p:nvCxnSpPr>
        <p:spPr>
          <a:xfrm>
            <a:off x="8686800" y="4617720"/>
            <a:ext cx="3044952"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686800" y="4690872"/>
            <a:ext cx="3044952" cy="640080"/>
          </a:xfrm>
          <a:prstGeom prst="rect">
            <a:avLst/>
          </a:prstGeom>
          <a:noFill/>
        </p:spPr>
        <p:txBody>
          <a:bodyPr wrap="square" lIns="0" rIns="0" tIns="0" bIns="0" anchor="t">
            <a:spAutoFit/>
          </a:bodyPr>
          <a:lstStyle/>
          <a:p>
            <a:pPr algn="l"/>
            <a:r>
              <a:rPr sz="3600" b="1" i="0">
                <a:solidFill>
                  <a:srgbClr val="C8102E"/>
                </a:solidFill>
                <a:latin typeface="Lato"/>
              </a:rPr>
              <a:t>3,896</a:t>
            </a:r>
          </a:p>
        </p:txBody>
      </p:sp>
      <p:sp>
        <p:nvSpPr>
          <p:cNvPr id="13" name="TextBox 12"/>
          <p:cNvSpPr txBox="1"/>
          <p:nvPr/>
        </p:nvSpPr>
        <p:spPr>
          <a:xfrm>
            <a:off x="8686800" y="5330952"/>
            <a:ext cx="3044952" cy="731520"/>
          </a:xfrm>
          <a:prstGeom prst="rect">
            <a:avLst/>
          </a:prstGeom>
          <a:noFill/>
        </p:spPr>
        <p:txBody>
          <a:bodyPr wrap="square" lIns="0" rIns="0" tIns="0" bIns="0" anchor="t">
            <a:spAutoFit/>
          </a:bodyPr>
          <a:lstStyle/>
          <a:p>
            <a:pPr algn="l"/>
            <a:r>
              <a:rPr sz="1100" b="0" i="0">
                <a:solidFill>
                  <a:srgbClr val="000000"/>
                </a:solidFill>
                <a:latin typeface="Lato"/>
              </a:rPr>
              <a:t>degree-granting institutions in 2022–23 (2,628 four-year, 1,268 two-year), down 18% from the 2012–13 peak. All Title IV institutions fell 2% to 5,819 in 2023–24.</a:t>
            </a:r>
          </a:p>
        </p:txBody>
      </p:sp>
      <p:sp>
        <p:nvSpPr>
          <p:cNvPr id="14" name="TextBox 13"/>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NCES Digest of Education Statistics 2023 (Tables 317.10 and 317.20) and IPEDS; 2021–22 academic year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The U.S. has 6.9 colleges per million people, four times the average of large countries</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Colleges and universities per 1 million population, countries with 50 million or more people (n=29); excludes India and China</a:t>
            </a:r>
          </a:p>
        </p:txBody>
      </p:sp>
      <p:graphicFrame>
        <p:nvGraphicFramePr>
          <p:cNvPr id="4" name="Chart 3"/>
          <p:cNvGraphicFramePr>
            <a:graphicFrameLocks noGrp="1"/>
          </p:cNvGraphicFramePr>
          <p:nvPr/>
        </p:nvGraphicFramePr>
        <p:xfrm>
          <a:off x="457200" y="1600200"/>
          <a:ext cx="11274552" cy="4206240"/>
        </p:xfrm>
        <a:graphic>
          <a:graphicData uri="http://schemas.openxmlformats.org/drawingml/2006/chart">
            <c:chart xmlns:c="http://schemas.openxmlformats.org/drawingml/2006/chart" r:id="rId2"/>
          </a:graphicData>
        </a:graphic>
      </p:graphicFrame>
      <p:sp>
        <p:nvSpPr>
          <p:cNvPr id="5" name="TextBox 4"/>
          <p:cNvSpPr txBox="1"/>
          <p:nvPr/>
        </p:nvSpPr>
        <p:spPr>
          <a:xfrm>
            <a:off x="5120640" y="2011680"/>
            <a:ext cx="6217920" cy="914400"/>
          </a:xfrm>
          <a:prstGeom prst="rect">
            <a:avLst/>
          </a:prstGeom>
          <a:noFill/>
        </p:spPr>
        <p:txBody>
          <a:bodyPr wrap="square" lIns="0" rIns="0" tIns="0" bIns="0" anchor="t">
            <a:spAutoFit/>
          </a:bodyPr>
          <a:lstStyle/>
          <a:p>
            <a:pPr algn="l"/>
            <a:r>
              <a:rPr sz="1200" b="0" i="0">
                <a:solidFill>
                  <a:srgbClr val="000000"/>
                </a:solidFill>
                <a:latin typeface="Lato"/>
              </a:rPr>
              <a:t>Korea (4.71), Japan (4.61) and France (4.33) come closest, at 63% to 68% of the U.S. rate. The U.S. has 2,349 four-year institutions versus 572 in Japan.</a:t>
            </a:r>
          </a:p>
        </p:txBody>
      </p:sp>
      <p:sp>
        <p:nvSpPr>
          <p:cNvPr id="6" name="TextBox 5"/>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Sources: World Bank; HIPI university list. Excludes India (0.33 per million; 474 colleges) and China (0.28; 398 colleges).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Economic mobility has fallen: 92% of the 1940 cohort out-earned their parents, versus 50% of the 1984 cohort</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Share of children earning more than their parents, by birth cohort (parent and child income measured at age 30)</a:t>
            </a:r>
          </a:p>
        </p:txBody>
      </p:sp>
      <p:graphicFrame>
        <p:nvGraphicFramePr>
          <p:cNvPr id="4" name="Chart 3"/>
          <p:cNvGraphicFramePr>
            <a:graphicFrameLocks noGrp="1"/>
          </p:cNvGraphicFramePr>
          <p:nvPr/>
        </p:nvGraphicFramePr>
        <p:xfrm>
          <a:off x="457200" y="1737360"/>
          <a:ext cx="11274552" cy="4023360"/>
        </p:xfrm>
        <a:graphic>
          <a:graphicData uri="http://schemas.openxmlformats.org/drawingml/2006/chart">
            <c:chart xmlns:c="http://schemas.openxmlformats.org/drawingml/2006/chart" r:id="rId2"/>
          </a:graphicData>
        </a:graphic>
      </p:graphicFrame>
      <p:sp>
        <p:nvSpPr>
          <p:cNvPr id="5" name="TextBox 4"/>
          <p:cNvSpPr txBox="1"/>
          <p:nvPr/>
        </p:nvSpPr>
        <p:spPr>
          <a:xfrm>
            <a:off x="457200" y="5852160"/>
            <a:ext cx="11247120" cy="365760"/>
          </a:xfrm>
          <a:prstGeom prst="rect">
            <a:avLst/>
          </a:prstGeom>
          <a:noFill/>
        </p:spPr>
        <p:txBody>
          <a:bodyPr wrap="square" lIns="0" rIns="0" tIns="0" bIns="0" anchor="t">
            <a:spAutoFit/>
          </a:bodyPr>
          <a:lstStyle/>
          <a:p>
            <a:pPr algn="l"/>
            <a:r>
              <a:rPr sz="1100" b="0" i="1">
                <a:solidFill>
                  <a:srgbClr val="595959"/>
                </a:solidFill>
                <a:latin typeface="Lato"/>
              </a:rPr>
              <a:t>The 1984 birth cohort is the latest in Opportunity Insights’ published data (Chetty et al., Science 2017); the data table has not been extended.</a:t>
            </a:r>
          </a:p>
        </p:txBody>
      </p:sp>
      <p:sp>
        <p:nvSpPr>
          <p:cNvPr id="6" name="TextBox 5"/>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Opportunity Insights (formerly The Equality of Opportunity Project), Chetty et 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Higher attainment still pays: a bachelor’s degree earns 63% more than a high school diploma</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Median usual weekly earnings and unemployment rate by educational attainment, full-time wage and salary workers age 25 and over, 2025</a:t>
            </a:r>
          </a:p>
        </p:txBody>
      </p:sp>
      <p:sp>
        <p:nvSpPr>
          <p:cNvPr id="4" name="TextBox 3"/>
          <p:cNvSpPr txBox="1"/>
          <p:nvPr/>
        </p:nvSpPr>
        <p:spPr>
          <a:xfrm>
            <a:off x="457200" y="1691640"/>
            <a:ext cx="6675120" cy="274320"/>
          </a:xfrm>
          <a:prstGeom prst="rect">
            <a:avLst/>
          </a:prstGeom>
          <a:noFill/>
        </p:spPr>
        <p:txBody>
          <a:bodyPr wrap="square" lIns="0" rIns="0" tIns="0" bIns="0" anchor="t">
            <a:spAutoFit/>
          </a:bodyPr>
          <a:lstStyle/>
          <a:p>
            <a:pPr algn="l"/>
            <a:r>
              <a:rPr sz="1300" b="1" i="0">
                <a:solidFill>
                  <a:srgbClr val="000000"/>
                </a:solidFill>
                <a:latin typeface="Lato"/>
              </a:rPr>
              <a:t>Median usual weekly earnings ($)</a:t>
            </a:r>
          </a:p>
        </p:txBody>
      </p:sp>
      <p:graphicFrame>
        <p:nvGraphicFramePr>
          <p:cNvPr id="5" name="Chart 4"/>
          <p:cNvGraphicFramePr>
            <a:graphicFrameLocks noGrp="1"/>
          </p:cNvGraphicFramePr>
          <p:nvPr/>
        </p:nvGraphicFramePr>
        <p:xfrm>
          <a:off x="457200" y="1965960"/>
          <a:ext cx="6949440" cy="4023360"/>
        </p:xfrm>
        <a:graphic>
          <a:graphicData uri="http://schemas.openxmlformats.org/drawingml/2006/chart">
            <c:chart xmlns:c="http://schemas.openxmlformats.org/drawingml/2006/chart" r:id="rId2"/>
          </a:graphicData>
        </a:graphic>
      </p:graphicFrame>
      <p:sp>
        <p:nvSpPr>
          <p:cNvPr id="6" name="TextBox 5"/>
          <p:cNvSpPr txBox="1"/>
          <p:nvPr/>
        </p:nvSpPr>
        <p:spPr>
          <a:xfrm>
            <a:off x="7772400" y="1691640"/>
            <a:ext cx="3931920" cy="274320"/>
          </a:xfrm>
          <a:prstGeom prst="rect">
            <a:avLst/>
          </a:prstGeom>
          <a:noFill/>
        </p:spPr>
        <p:txBody>
          <a:bodyPr wrap="square" lIns="0" rIns="0" tIns="0" bIns="0" anchor="t">
            <a:spAutoFit/>
          </a:bodyPr>
          <a:lstStyle/>
          <a:p>
            <a:pPr algn="l"/>
            <a:r>
              <a:rPr sz="1300" b="1" i="0">
                <a:solidFill>
                  <a:srgbClr val="000000"/>
                </a:solidFill>
                <a:latin typeface="Lato"/>
              </a:rPr>
              <a:t>Unemployment rate</a:t>
            </a:r>
          </a:p>
        </p:txBody>
      </p:sp>
      <p:graphicFrame>
        <p:nvGraphicFramePr>
          <p:cNvPr id="7" name="Chart 6"/>
          <p:cNvGraphicFramePr>
            <a:graphicFrameLocks noGrp="1"/>
          </p:cNvGraphicFramePr>
          <p:nvPr/>
        </p:nvGraphicFramePr>
        <p:xfrm>
          <a:off x="7772400" y="1965960"/>
          <a:ext cx="3959352" cy="4023360"/>
        </p:xfrm>
        <a:graphic>
          <a:graphicData uri="http://schemas.openxmlformats.org/drawingml/2006/chart">
            <c:chart xmlns:c="http://schemas.openxmlformats.org/drawingml/2006/chart" r:id="rId3"/>
          </a:graphicData>
        </a:graphic>
      </p:graphicFrame>
      <p:sp>
        <p:nvSpPr>
          <p:cNvPr id="8" name="TextBox 7"/>
          <p:cNvSpPr txBox="1"/>
          <p:nvPr/>
        </p:nvSpPr>
        <p:spPr>
          <a:xfrm>
            <a:off x="457200" y="5989320"/>
            <a:ext cx="11247120" cy="320040"/>
          </a:xfrm>
          <a:prstGeom prst="rect">
            <a:avLst/>
          </a:prstGeom>
          <a:noFill/>
        </p:spPr>
        <p:txBody>
          <a:bodyPr wrap="square" lIns="0" rIns="0" tIns="0" bIns="0" anchor="t">
            <a:spAutoFit/>
          </a:bodyPr>
          <a:lstStyle/>
          <a:p>
            <a:pPr algn="l"/>
            <a:r>
              <a:rPr sz="1000" b="0" i="1">
                <a:solidFill>
                  <a:srgbClr val="595959"/>
                </a:solidFill>
                <a:latin typeface="Lato"/>
              </a:rPr>
              <a:t>A master’s degree earns 19% more than a bachelor’s. 2025 annual estimates are 11-month averages that exclude October (federal shutdown) and are not strictly comparable with earlier years.</a:t>
            </a:r>
          </a:p>
        </p:txBody>
      </p:sp>
      <p:sp>
        <p:nvSpPr>
          <p:cNvPr id="9" name="TextBox 8"/>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 U.S. Bureau of Labor Statistics, Current Population Survey (Education Pays, 2025)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0241280" cy="777240"/>
          </a:xfrm>
          <a:prstGeom prst="rect">
            <a:avLst/>
          </a:prstGeom>
          <a:noFill/>
        </p:spPr>
        <p:txBody>
          <a:bodyPr wrap="square" lIns="0" rIns="0" tIns="0" bIns="0" anchor="t">
            <a:spAutoFit/>
          </a:bodyPr>
          <a:lstStyle/>
          <a:p>
            <a:pPr algn="l"/>
            <a:r>
              <a:rPr sz="2400" b="1" i="0">
                <a:solidFill>
                  <a:srgbClr val="000000"/>
                </a:solidFill>
                <a:latin typeface="Lato"/>
              </a:rPr>
              <a:t>What are our spending and investment priorities as a nation?</a:t>
            </a:r>
          </a:p>
        </p:txBody>
      </p:sp>
      <p:sp>
        <p:nvSpPr>
          <p:cNvPr id="3" name="TextBox 2"/>
          <p:cNvSpPr txBox="1"/>
          <p:nvPr/>
        </p:nvSpPr>
        <p:spPr>
          <a:xfrm>
            <a:off x="457200" y="1115568"/>
            <a:ext cx="11247120" cy="274320"/>
          </a:xfrm>
          <a:prstGeom prst="rect">
            <a:avLst/>
          </a:prstGeom>
          <a:noFill/>
        </p:spPr>
        <p:txBody>
          <a:bodyPr wrap="square" lIns="0" rIns="0" tIns="0" bIns="0" anchor="t">
            <a:spAutoFit/>
          </a:bodyPr>
          <a:lstStyle/>
          <a:p>
            <a:pPr algn="l"/>
            <a:r>
              <a:rPr sz="1400" b="0" i="0">
                <a:solidFill>
                  <a:srgbClr val="595959"/>
                </a:solidFill>
                <a:latin typeface="Lato"/>
              </a:rPr>
              <a:t>U.S. spending ($ billion), latest available; items updated in this edition are labeled with their year; NIH and NSF highlighted</a:t>
            </a:r>
          </a:p>
        </p:txBody>
      </p:sp>
      <p:graphicFrame>
        <p:nvGraphicFramePr>
          <p:cNvPr id="4" name="Chart 3"/>
          <p:cNvGraphicFramePr>
            <a:graphicFrameLocks noGrp="1"/>
          </p:cNvGraphicFramePr>
          <p:nvPr/>
        </p:nvGraphicFramePr>
        <p:xfrm>
          <a:off x="457200" y="1417320"/>
          <a:ext cx="11274552" cy="4937760"/>
        </p:xfrm>
        <a:graphic>
          <a:graphicData uri="http://schemas.openxmlformats.org/drawingml/2006/chart">
            <c:chart xmlns:c="http://schemas.openxmlformats.org/drawingml/2006/chart" r:id="rId2"/>
          </a:graphicData>
        </a:graphic>
      </p:graphicFrame>
      <p:sp>
        <p:nvSpPr>
          <p:cNvPr id="5" name="TextBox 4"/>
          <p:cNvSpPr txBox="1"/>
          <p:nvPr/>
        </p:nvSpPr>
        <p:spPr>
          <a:xfrm>
            <a:off x="457200" y="6510528"/>
            <a:ext cx="7863840" cy="274320"/>
          </a:xfrm>
          <a:prstGeom prst="rect">
            <a:avLst/>
          </a:prstGeom>
          <a:noFill/>
        </p:spPr>
        <p:txBody>
          <a:bodyPr wrap="square" lIns="0" rIns="0" tIns="0" bIns="0" anchor="ctr">
            <a:spAutoFit/>
          </a:bodyPr>
          <a:lstStyle/>
          <a:p>
            <a:pPr algn="l"/>
            <a:r>
              <a:rPr sz="800" b="0" i="0">
                <a:solidFill>
                  <a:srgbClr val="595959"/>
                </a:solidFill>
                <a:latin typeface="Lato"/>
              </a:rPr>
              <a:t>Sources: APPA, AGA, NASPL, BTS, NRF, CRS/Congress.gov (NIH, NSF FY2026); other items 2024 from sources in speaker notes</a:t>
            </a:r>
          </a:p>
        </p:txBody>
      </p:sp>
    </p:spTree>
  </p:cSld>
  <p:clrMapOvr>
    <a:masterClrMapping/>
  </p:clrMapOvr>
</p:sld>
</file>

<file path=ppt/theme/theme1.xml><?xml version="1.0" encoding="utf-8"?>
<a:theme xmlns:a="http://schemas.openxmlformats.org/drawingml/2006/main" name="Light Theme">
  <a:themeElements>
    <a:clrScheme name="Update VC Template with Secondary">
      <a:dk1>
        <a:srgbClr val="000000"/>
      </a:dk1>
      <a:lt1>
        <a:srgbClr val="FFFFFF"/>
      </a:lt1>
      <a:dk2>
        <a:srgbClr val="FFFFFF"/>
      </a:dk2>
      <a:lt2>
        <a:srgbClr val="303332"/>
      </a:lt2>
      <a:accent1>
        <a:srgbClr val="000000"/>
      </a:accent1>
      <a:accent2>
        <a:srgbClr val="C8102E"/>
      </a:accent2>
      <a:accent3>
        <a:srgbClr val="595959"/>
      </a:accent3>
      <a:accent4>
        <a:srgbClr val="8C8C8C"/>
      </a:accent4>
      <a:accent5>
        <a:srgbClr val="A4804A"/>
      </a:accent5>
      <a:accent6>
        <a:srgbClr val="BFBFBF"/>
      </a:accent6>
      <a:hlink>
        <a:srgbClr val="7FB2BE"/>
      </a:hlink>
      <a:folHlink>
        <a:srgbClr val="C7E0E6"/>
      </a:folHlink>
    </a:clrScheme>
    <a:fontScheme name="Office">
      <a:majorFont>
        <a:latin typeface="Lato"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dirty="0" smtClean="0">
            <a:solidFill>
              <a:schemeClr val="bg1">
                <a:lumMod val="50000"/>
              </a:schemeClr>
            </a:solidFill>
            <a:latin typeface="Aptos" panose="020B0004020202020204" pitchFamily="34" charset="0"/>
            <a:ea typeface="Verdana" panose="020B0604030504040204" pitchFamily="34" charset="0"/>
            <a:cs typeface="Verdana" panose="020B0604030504040204" pitchFamily="34" charset="0"/>
          </a:defRPr>
        </a:defPPr>
      </a:lstStyle>
    </a:txDef>
  </a:objectDefaults>
  <a:extraClrSchemeLst/>
  <a:extLst>
    <a:ext uri="{05A4C25C-085E-4340-85A3-A5531E510DB2}">
      <thm15:themeFamily xmlns:thm15="http://schemas.microsoft.com/office/thememl/2012/main" name="MAIN VC Template_2022 update[2][13]  -  Read-Only" id="{90079FD2-B8EB-FA4C-B4DB-83476A5A78B4}" vid="{A4276F16-AFB2-4C47-992F-67554F50E76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000000"/>
      </a:accent1>
      <a:accent2>
        <a:srgbClr val="C8102E"/>
      </a:accent2>
      <a:accent3>
        <a:srgbClr val="595959"/>
      </a:accent3>
      <a:accent4>
        <a:srgbClr val="8C8C8C"/>
      </a:accent4>
      <a:accent5>
        <a:srgbClr val="A4804A"/>
      </a:accent5>
      <a:accent6>
        <a:srgbClr val="BFBFBF"/>
      </a:accent6>
      <a:hlink>
        <a:srgbClr val="0000FF"/>
      </a:hlink>
      <a:folHlink>
        <a:srgbClr val="800080"/>
      </a:folHlink>
    </a:clrScheme>
    <a:fontScheme name="Office">
      <a:majorFont>
        <a:latin typeface="La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a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fe8979a-919f-4627-833f-767a5ccaf2f6">
      <Terms xmlns="http://schemas.microsoft.com/office/infopath/2007/PartnerControls"/>
    </lcf76f155ced4ddcb4097134ff3c332f>
    <PhotoCredits xmlns="bfe8979a-919f-4627-833f-767a5ccaf2f6" xsi:nil="true"/>
    <Photoselects xmlns="bfe8979a-919f-4627-833f-767a5ccaf2f6" xsi:nil="true"/>
    <TaxCatchAll xmlns="2f3d42f6-f131-4737-b6a0-f1caefe87a11" xsi:nil="true"/>
    <Test xmlns="bfe8979a-919f-4627-833f-767a5ccaf2f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15B7CEDED188F459C3FE60B08594551" ma:contentTypeVersion="20" ma:contentTypeDescription="Create a new document." ma:contentTypeScope="" ma:versionID="27176ff47ce82f31c492b18e6ff297bc">
  <xsd:schema xmlns:xsd="http://www.w3.org/2001/XMLSchema" xmlns:xs="http://www.w3.org/2001/XMLSchema" xmlns:p="http://schemas.microsoft.com/office/2006/metadata/properties" xmlns:ns2="bfe8979a-919f-4627-833f-767a5ccaf2f6" xmlns:ns3="2f3d42f6-f131-4737-b6a0-f1caefe87a11" targetNamespace="http://schemas.microsoft.com/office/2006/metadata/properties" ma:root="true" ma:fieldsID="801b1a3878cdb03b55cbed267e221ed6" ns2:_="" ns3:_="">
    <xsd:import namespace="bfe8979a-919f-4627-833f-767a5ccaf2f6"/>
    <xsd:import namespace="2f3d42f6-f131-4737-b6a0-f1caefe87a1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3:SharedWithUsers" minOccurs="0"/>
                <xsd:element ref="ns3:SharedWithDetails" minOccurs="0"/>
                <xsd:element ref="ns2:MediaServiceSearchProperties" minOccurs="0"/>
                <xsd:element ref="ns2:Photoselects" minOccurs="0"/>
                <xsd:element ref="ns2:Test" minOccurs="0"/>
                <xsd:element ref="ns2:MediaServiceBillingMetadata" minOccurs="0"/>
                <xsd:element ref="ns2:PhotoCredi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e8979a-919f-4627-833f-767a5ccaf2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c383c50-2e5a-4ee2-a287-62075b1c8a1e"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Photoselects" ma:index="23" nillable="true" ma:displayName="Photo selects" ma:format="Dropdown" ma:internalName="Photoselects">
      <xsd:simpleType>
        <xsd:restriction base="dms:Choice">
          <xsd:enumeration value="Favorite"/>
          <xsd:enumeration value="Additional"/>
        </xsd:restriction>
      </xsd:simpleType>
    </xsd:element>
    <xsd:element name="Test" ma:index="24" nillable="true" ma:displayName="Test" ma:format="Dropdown" ma:internalName="Test">
      <xsd:simpleType>
        <xsd:restriction base="dms:Choice">
          <xsd:enumeration value="Choice 1"/>
          <xsd:enumeration value="Choice 2"/>
          <xsd:enumeration value="Choice 3"/>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PhotoCredits" ma:index="26" nillable="true" ma:displayName="Photo Credits" ma:format="Dropdown" ma:internalName="PhotoCredit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f3d42f6-f131-4737-b6a0-f1caefe87a1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d5ea68c-4cda-47b0-a9a6-241b07d8584b}" ma:internalName="TaxCatchAll" ma:showField="CatchAllData" ma:web="2f3d42f6-f131-4737-b6a0-f1caefe87a11">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13CA25-4FE8-451E-A366-15221497592B}">
  <ds:schemaRefs>
    <ds:schemaRef ds:uri="http://purl.org/dc/elements/1.1/"/>
    <ds:schemaRef ds:uri="http://schemas.microsoft.com/office/2006/metadata/properties"/>
    <ds:schemaRef ds:uri="http://schemas.openxmlformats.org/package/2006/metadata/core-properties"/>
    <ds:schemaRef ds:uri="http://schemas.microsoft.com/office/infopath/2007/PartnerControls"/>
    <ds:schemaRef ds:uri="http://schemas.microsoft.com/office/2006/documentManagement/types"/>
    <ds:schemaRef ds:uri="http://www.w3.org/XML/1998/namespace"/>
    <ds:schemaRef ds:uri="http://purl.org/dc/dcmitype/"/>
    <ds:schemaRef ds:uri="2f3d42f6-f131-4737-b6a0-f1caefe87a11"/>
    <ds:schemaRef ds:uri="bfe8979a-919f-4627-833f-767a5ccaf2f6"/>
    <ds:schemaRef ds:uri="http://purl.org/dc/terms/"/>
  </ds:schemaRefs>
</ds:datastoreItem>
</file>

<file path=customXml/itemProps2.xml><?xml version="1.0" encoding="utf-8"?>
<ds:datastoreItem xmlns:ds="http://schemas.openxmlformats.org/officeDocument/2006/customXml" ds:itemID="{7B52D33A-CE67-4424-A675-BB0F48981098}">
  <ds:schemaRefs>
    <ds:schemaRef ds:uri="http://schemas.microsoft.com/sharepoint/v3/contenttype/forms"/>
  </ds:schemaRefs>
</ds:datastoreItem>
</file>

<file path=customXml/itemProps3.xml><?xml version="1.0" encoding="utf-8"?>
<ds:datastoreItem xmlns:ds="http://schemas.openxmlformats.org/officeDocument/2006/customXml" ds:itemID="{CFF3F429-57B2-4470-9910-ED1220486640}">
  <ds:schemaRefs>
    <ds:schemaRef ds:uri="2f3d42f6-f131-4737-b6a0-f1caefe87a11"/>
    <ds:schemaRef ds:uri="bfe8979a-919f-4627-833f-767a5ccaf2f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893ce20-a697-4fd6-a4da-14011f6a471d}" enabled="1" method="Standard" siteId="{a8eec281-aaa3-4dae-ac9b-9a398b9215e7}" contentBits="0" removed="0"/>
  <clbl:label id="{ba5a7f39-e3be-4ab3-b450-67fa80faecad}" enabled="0" method="" siteId="{ba5a7f39-e3be-4ab3-b450-67fa80faecad}" removed="1"/>
</clbl:labelList>
</file>

<file path=docProps/app.xml><?xml version="1.0" encoding="utf-8"?>
<Properties xmlns="http://schemas.openxmlformats.org/officeDocument/2006/extended-properties" xmlns:vt="http://schemas.openxmlformats.org/officeDocument/2006/docPropsVTypes">
  <Template/>
  <TotalTime>17218</TotalTime>
  <Words>5044</Words>
  <Application>Microsoft Office PowerPoint</Application>
  <PresentationFormat>Widescreen</PresentationFormat>
  <Paragraphs>819</Paragraphs>
  <Slides>28</Slides>
  <Notes>9</Notes>
  <HiddenSlides>0</HiddenSlides>
  <MMClips>0</MMClips>
  <ScaleCrop>false</ScaleCrop>
  <HeadingPairs>
    <vt:vector size="6" baseType="variant">
      <vt:variant>
        <vt:lpstr>Fonts Used</vt:lpstr>
      </vt:variant>
      <vt:variant>
        <vt:i4>18</vt:i4>
      </vt:variant>
      <vt:variant>
        <vt:lpstr>Theme</vt:lpstr>
      </vt:variant>
      <vt:variant>
        <vt:i4>3</vt:i4>
      </vt:variant>
      <vt:variant>
        <vt:lpstr>Slide Titles</vt:lpstr>
      </vt:variant>
      <vt:variant>
        <vt:i4>28</vt:i4>
      </vt:variant>
    </vt:vector>
  </HeadingPairs>
  <TitlesOfParts>
    <vt:vector size="49" baseType="lpstr">
      <vt:lpstr>Abadi Extra Light</vt:lpstr>
      <vt:lpstr>Aptos</vt:lpstr>
      <vt:lpstr>Aptos Display</vt:lpstr>
      <vt:lpstr>Aptos ExtraBold</vt:lpstr>
      <vt:lpstr>Arial</vt:lpstr>
      <vt:lpstr>Calibri</vt:lpstr>
      <vt:lpstr>EB Garamond</vt:lpstr>
      <vt:lpstr>Georgia</vt:lpstr>
      <vt:lpstr>Georgia Pro Semibold</vt:lpstr>
      <vt:lpstr>Lato</vt:lpstr>
      <vt:lpstr>Lato Light</vt:lpstr>
      <vt:lpstr>Montserrat</vt:lpstr>
      <vt:lpstr>Montserrat Light</vt:lpstr>
      <vt:lpstr>Montserrat SemiBold</vt:lpstr>
      <vt:lpstr>Neue Haas Grotesk Text Pro</vt:lpstr>
      <vt:lpstr>Times New Roman</vt:lpstr>
      <vt:lpstr>Verdana</vt:lpstr>
      <vt:lpstr>Wingdings</vt:lpstr>
      <vt:lpstr>Light Theme</vt:lpstr>
      <vt:lpstr>1_Office Theme</vt:lpstr>
      <vt:lpstr>Office Theme</vt:lpstr>
      <vt:lpstr>Provost Team Financial Update</vt:lpstr>
      <vt:lpstr>A guide for our discussion today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 OF TRUST</dc:title>
  <dc:subject/>
  <dc:creator>McMillen, Michelle C</dc:creator>
  <cp:keywords/>
  <dc:description/>
  <cp:lastModifiedBy>Sweet, Brett</cp:lastModifiedBy>
  <cp:revision>63</cp:revision>
  <cp:lastPrinted>2025-09-25T21:12:48Z</cp:lastPrinted>
  <dcterms:created xsi:type="dcterms:W3CDTF">2020-09-24T23:08:57Z</dcterms:created>
  <dcterms:modified xsi:type="dcterms:W3CDTF">2026-09-29T20:31:53Z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0x010100415B7CEDED188F459C3FE60B08594551</vt:lpwstr>
  </property>
</Properties>
</file>