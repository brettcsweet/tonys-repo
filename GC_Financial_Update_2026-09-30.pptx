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style1.xml" ContentType="application/vnd.ms-office.chartstyle+xml"/>
  <Override PartName="/ppt/charts/colors1.xml" ContentType="application/vnd.ms-office.chartcolorstyle+xml"/>
  <Override PartName="/ppt/charts/chart4.xml" ContentType="application/vnd.openxmlformats-officedocument.drawingml.chart+xml"/>
  <Override PartName="/ppt/charts/chart5.xml" ContentType="application/vnd.openxmlformats-officedocument.drawingml.chart+xml"/>
  <Override PartName="/ppt/charts/style2.xml" ContentType="application/vnd.ms-office.chartstyle+xml"/>
  <Override PartName="/ppt/charts/colors2.xml" ContentType="application/vnd.ms-office.chartcolorstyl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notesSlides/notesSlide1.xml" ContentType="application/vnd.openxmlformats-officedocument.presentationml.notesSlide+xml"/>
  <Override PartName="/ppt/charts/chart12.xml" ContentType="application/vnd.openxmlformats-officedocument.drawingml.chart+xml"/>
  <Override PartName="/ppt/notesSlides/notesSlide2.xml" ContentType="application/vnd.openxmlformats-officedocument.presentationml.notesSlide+xml"/>
  <Override PartName="/ppt/charts/chart13.xml" ContentType="application/vnd.openxmlformats-officedocument.drawingml.chart+xml"/>
  <Override PartName="/ppt/notesSlides/notesSlide3.xml" ContentType="application/vnd.openxmlformats-officedocument.presentationml.notesSlide+xml"/>
  <Override PartName="/ppt/charts/chart14.xml" ContentType="application/vnd.openxmlformats-officedocument.drawingml.chart+xml"/>
  <Override PartName="/ppt/notesSlides/notesSlide4.xml" ContentType="application/vnd.openxmlformats-officedocument.presentationml.notesSlide+xml"/>
  <Override PartName="/ppt/charts/chart15.xml" ContentType="application/vnd.openxmlformats-officedocument.drawingml.chart+xml"/>
  <Override PartName="/ppt/notesSlides/notesSlide5.xml" ContentType="application/vnd.openxmlformats-officedocument.presentationml.notesSlide+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notesSlides/notesSlide6.xml" ContentType="application/vnd.openxmlformats-officedocument.presentationml.notesSlide+xml"/>
  <Override PartName="/ppt/charts/chart20.xml" ContentType="application/vnd.openxmlformats-officedocument.drawingml.chart+xml"/>
  <Override PartName="/ppt/notesSlides/notesSlide7.xml" ContentType="application/vnd.openxmlformats-officedocument.presentationml.notesSlide+xml"/>
  <Override PartName="/ppt/charts/chart21.xml" ContentType="application/vnd.openxmlformats-officedocument.drawingml.chart+xml"/>
  <Override PartName="/ppt/notesSlides/notesSlide8.xml" ContentType="application/vnd.openxmlformats-officedocument.presentationml.notesSlide+xml"/>
  <Override PartName="/ppt/charts/chart22.xml" ContentType="application/vnd.openxmlformats-officedocument.drawingml.chart+xml"/>
  <Override PartName="/ppt/charts/style3.xml" ContentType="application/vnd.ms-office.chartstyle+xml"/>
  <Override PartName="/ppt/charts/colors3.xml" ContentType="application/vnd.ms-office.chartcolorstyle+xml"/>
  <Override PartName="/ppt/drawings/drawing1.xml" ContentType="application/vnd.openxmlformats-officedocument.drawingml.chartshapes+xml"/>
  <Override PartName="/ppt/notesSlides/notesSlide9.xml" ContentType="application/vnd.openxmlformats-officedocument.presentationml.notesSlide+xml"/>
  <Override PartName="/ppt/charts/chart23.xml" ContentType="application/vnd.openxmlformats-officedocument.drawingml.chart+xml"/>
  <Override PartName="/ppt/notesSlides/notesSlide10.xml" ContentType="application/vnd.openxmlformats-officedocument.presentationml.notesSlide+xml"/>
  <Override PartName="/ppt/charts/chart24.xml" ContentType="application/vnd.openxmlformats-officedocument.drawingml.chart+xml"/>
  <Override PartName="/ppt/charts/chart25.xml" ContentType="application/vnd.openxmlformats-officedocument.drawingml.chart+xml"/>
  <Override PartName="/ppt/notesSlides/notesSlide11.xml" ContentType="application/vnd.openxmlformats-officedocument.presentationml.notesSlide+xml"/>
  <Override PartName="/ppt/charts/chart26.xml" ContentType="application/vnd.openxmlformats-officedocument.drawingml.chart+xml"/>
  <Override PartName="/ppt/notesSlides/notesSlide12.xml" ContentType="application/vnd.openxmlformats-officedocument.presentationml.notesSlide+xml"/>
  <Override PartName="/ppt/charts/chart27.xml" ContentType="application/vnd.openxmlformats-officedocument.drawingml.chart+xml"/>
  <Override PartName="/ppt/notesSlides/notesSlide13.xml" ContentType="application/vnd.openxmlformats-officedocument.presentationml.notesSlide+xml"/>
  <Override PartName="/ppt/charts/chart28.xml" ContentType="application/vnd.openxmlformats-officedocument.drawingml.chart+xml"/>
  <Override PartName="/ppt/notesSlides/notesSlide14.xml" ContentType="application/vnd.openxmlformats-officedocument.presentationml.notesSlide+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notesSlides/notesSlide15.xml" ContentType="application/vnd.openxmlformats-officedocument.presentationml.notesSlide+xml"/>
  <Override PartName="/ppt/charts/chart36.xml" ContentType="application/vnd.openxmlformats-officedocument.drawingml.chart+xml"/>
  <Override PartName="/ppt/notesSlides/notesSlide16.xml" ContentType="application/vnd.openxmlformats-officedocument.presentationml.notesSlide+xml"/>
  <Override PartName="/ppt/charts/chart37.xml" ContentType="application/vnd.openxmlformats-officedocument.drawingml.chart+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70" r:id="rId4"/>
  </p:sldMasterIdLst>
  <p:notesMasterIdLst>
    <p:notesMasterId r:id="rId51"/>
  </p:notesMasterIdLst>
  <p:sldIdLst>
    <p:sldId id="2147481610" r:id="rId5"/>
    <p:sldId id="2147481611" r:id="rId6"/>
    <p:sldId id="2147481612" r:id="rId7"/>
    <p:sldId id="2147481613" r:id="rId8"/>
    <p:sldId id="2147481617" r:id="rId9"/>
    <p:sldId id="2147481632" r:id="rId10"/>
    <p:sldId id="2147481633" r:id="rId11"/>
    <p:sldId id="2147481627" r:id="rId12"/>
    <p:sldId id="2147481634" r:id="rId13"/>
    <p:sldId id="256" r:id="rId14"/>
    <p:sldId id="2147481639" r:id="rId15"/>
    <p:sldId id="2147481581" r:id="rId16"/>
    <p:sldId id="2147481635" r:id="rId17"/>
    <p:sldId id="2147481636" r:id="rId18"/>
    <p:sldId id="2147481628" r:id="rId19"/>
    <p:sldId id="2147481647" r:id="rId20"/>
    <p:sldId id="2147481648" r:id="rId21"/>
    <p:sldId id="2147481649" r:id="rId22"/>
    <p:sldId id="2147481644" r:id="rId23"/>
    <p:sldId id="2147481614" r:id="rId24"/>
    <p:sldId id="2147481604" r:id="rId25"/>
    <p:sldId id="2147481605" r:id="rId26"/>
    <p:sldId id="261" r:id="rId27"/>
    <p:sldId id="263" r:id="rId28"/>
    <p:sldId id="335" r:id="rId29"/>
    <p:sldId id="334" r:id="rId30"/>
    <p:sldId id="2147481652" r:id="rId31"/>
    <p:sldId id="2147473812" r:id="rId32"/>
    <p:sldId id="260" r:id="rId33"/>
    <p:sldId id="275" r:id="rId34"/>
    <p:sldId id="2147481606" r:id="rId35"/>
    <p:sldId id="2147481607" r:id="rId36"/>
    <p:sldId id="2147481653" r:id="rId37"/>
    <p:sldId id="2147481650" r:id="rId38"/>
    <p:sldId id="2147481615" r:id="rId39"/>
    <p:sldId id="2147481645" r:id="rId40"/>
    <p:sldId id="2147481631" r:id="rId41"/>
    <p:sldId id="2147481651" r:id="rId42"/>
    <p:sldId id="2147481616" r:id="rId43"/>
    <p:sldId id="268" r:id="rId44"/>
    <p:sldId id="2147481638" r:id="rId45"/>
    <p:sldId id="2147481640" r:id="rId46"/>
    <p:sldId id="2147481641" r:id="rId47"/>
    <p:sldId id="2147481637" r:id="rId48"/>
    <p:sldId id="2147481642" r:id="rId49"/>
    <p:sldId id="262" r:id="rId50"/>
  </p:sldIdLst>
  <p:sldSz cx="12192000" cy="6858000"/>
  <p:notesSz cx="9296400" cy="6858000"/>
  <p:defaultTextStyle>
    <a:defPPr>
      <a:defRPr lang="en-US"/>
    </a:defPPr>
    <a:lvl1pPr marL="0" algn="l" defTabSz="914217" rtl="0" eaLnBrk="1" latinLnBrk="0" hangingPunct="1">
      <a:defRPr sz="1800" kern="1200">
        <a:solidFill>
          <a:schemeClr val="tx1"/>
        </a:solidFill>
        <a:latin typeface="+mn-lt"/>
        <a:ea typeface="+mn-ea"/>
        <a:cs typeface="+mn-cs"/>
      </a:defRPr>
    </a:lvl1pPr>
    <a:lvl2pPr marL="457109" algn="l" defTabSz="914217" rtl="0" eaLnBrk="1" latinLnBrk="0" hangingPunct="1">
      <a:defRPr sz="1800" kern="1200">
        <a:solidFill>
          <a:schemeClr val="tx1"/>
        </a:solidFill>
        <a:latin typeface="+mn-lt"/>
        <a:ea typeface="+mn-ea"/>
        <a:cs typeface="+mn-cs"/>
      </a:defRPr>
    </a:lvl2pPr>
    <a:lvl3pPr marL="914217" algn="l" defTabSz="914217" rtl="0" eaLnBrk="1" latinLnBrk="0" hangingPunct="1">
      <a:defRPr sz="1800" kern="1200">
        <a:solidFill>
          <a:schemeClr val="tx1"/>
        </a:solidFill>
        <a:latin typeface="+mn-lt"/>
        <a:ea typeface="+mn-ea"/>
        <a:cs typeface="+mn-cs"/>
      </a:defRPr>
    </a:lvl3pPr>
    <a:lvl4pPr marL="1371326" algn="l" defTabSz="914217" rtl="0" eaLnBrk="1" latinLnBrk="0" hangingPunct="1">
      <a:defRPr sz="1800" kern="1200">
        <a:solidFill>
          <a:schemeClr val="tx1"/>
        </a:solidFill>
        <a:latin typeface="+mn-lt"/>
        <a:ea typeface="+mn-ea"/>
        <a:cs typeface="+mn-cs"/>
      </a:defRPr>
    </a:lvl4pPr>
    <a:lvl5pPr marL="1828434" algn="l" defTabSz="914217" rtl="0" eaLnBrk="1" latinLnBrk="0" hangingPunct="1">
      <a:defRPr sz="1800" kern="1200">
        <a:solidFill>
          <a:schemeClr val="tx1"/>
        </a:solidFill>
        <a:latin typeface="+mn-lt"/>
        <a:ea typeface="+mn-ea"/>
        <a:cs typeface="+mn-cs"/>
      </a:defRPr>
    </a:lvl5pPr>
    <a:lvl6pPr marL="2285543" algn="l" defTabSz="914217" rtl="0" eaLnBrk="1" latinLnBrk="0" hangingPunct="1">
      <a:defRPr sz="1800" kern="1200">
        <a:solidFill>
          <a:schemeClr val="tx1"/>
        </a:solidFill>
        <a:latin typeface="+mn-lt"/>
        <a:ea typeface="+mn-ea"/>
        <a:cs typeface="+mn-cs"/>
      </a:defRPr>
    </a:lvl6pPr>
    <a:lvl7pPr marL="2742652" algn="l" defTabSz="914217" rtl="0" eaLnBrk="1" latinLnBrk="0" hangingPunct="1">
      <a:defRPr sz="1800" kern="1200">
        <a:solidFill>
          <a:schemeClr val="tx1"/>
        </a:solidFill>
        <a:latin typeface="+mn-lt"/>
        <a:ea typeface="+mn-ea"/>
        <a:cs typeface="+mn-cs"/>
      </a:defRPr>
    </a:lvl7pPr>
    <a:lvl8pPr marL="3199760" algn="l" defTabSz="914217" rtl="0" eaLnBrk="1" latinLnBrk="0" hangingPunct="1">
      <a:defRPr sz="1800" kern="1200">
        <a:solidFill>
          <a:schemeClr val="tx1"/>
        </a:solidFill>
        <a:latin typeface="+mn-lt"/>
        <a:ea typeface="+mn-ea"/>
        <a:cs typeface="+mn-cs"/>
      </a:defRPr>
    </a:lvl8pPr>
    <a:lvl9pPr marL="3656869" algn="l" defTabSz="914217"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ight Template" id="{F60DF0C7-34DF-D54B-951E-19203FE59A53}">
          <p14:sldIdLst>
            <p14:sldId id="2147481610"/>
            <p14:sldId id="2147481611"/>
            <p14:sldId id="2147481612"/>
            <p14:sldId id="2147481613"/>
            <p14:sldId id="2147481617"/>
            <p14:sldId id="2147481632"/>
            <p14:sldId id="2147481633"/>
            <p14:sldId id="2147481627"/>
            <p14:sldId id="2147481634"/>
            <p14:sldId id="256"/>
            <p14:sldId id="2147481639"/>
            <p14:sldId id="2147481581"/>
            <p14:sldId id="2147481635"/>
            <p14:sldId id="2147481636"/>
            <p14:sldId id="2147481628"/>
            <p14:sldId id="2147481647"/>
            <p14:sldId id="2147481648"/>
            <p14:sldId id="2147481649"/>
            <p14:sldId id="2147481644"/>
            <p14:sldId id="2147481614"/>
            <p14:sldId id="2147481604"/>
            <p14:sldId id="2147481605"/>
            <p14:sldId id="261"/>
            <p14:sldId id="263"/>
            <p14:sldId id="335"/>
            <p14:sldId id="334"/>
            <p14:sldId id="2147481652"/>
            <p14:sldId id="2147473812"/>
            <p14:sldId id="260"/>
            <p14:sldId id="275"/>
            <p14:sldId id="2147481606"/>
            <p14:sldId id="2147481607"/>
            <p14:sldId id="2147481653"/>
            <p14:sldId id="2147481650"/>
            <p14:sldId id="2147481615"/>
            <p14:sldId id="2147481645"/>
            <p14:sldId id="2147481631"/>
            <p14:sldId id="2147481651"/>
            <p14:sldId id="2147481616"/>
            <p14:sldId id="268"/>
            <p14:sldId id="2147481638"/>
            <p14:sldId id="2147481640"/>
            <p14:sldId id="2147481641"/>
            <p14:sldId id="2147481637"/>
            <p14:sldId id="2147481642"/>
            <p14:sldId id="262"/>
          </p14:sldIdLst>
        </p14:section>
      </p14:sectionLst>
    </p:ext>
    <p:ext uri="{EFAFB233-063F-42B5-8137-9DF3F51BA10A}">
      <p15:sldGuideLst xmlns:p15="http://schemas.microsoft.com/office/powerpoint/2012/main">
        <p15:guide id="35" pos="7680" userDrawn="1">
          <p15:clr>
            <a:srgbClr val="A4A3A4"/>
          </p15:clr>
        </p15:guide>
        <p15:guide id="52" pos="3828" userDrawn="1">
          <p15:clr>
            <a:srgbClr val="A4A3A4"/>
          </p15:clr>
        </p15:guide>
        <p15:guide id="55" userDrawn="1">
          <p15:clr>
            <a:srgbClr val="A4A3A4"/>
          </p15:clr>
        </p15:guide>
        <p15:guide id="56" orient="horz" pos="216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CAFF059-CA6E-75C1-90FA-F07F80AC6C9D}" name="Adams, Dylan J" initials="DA" userId="S::dylan.j.adams@vanderbilt.edu::c34471b3-d2d3-4ddd-9e40-7f879cbde7ea" providerId="AD"/>
  <p188:author id="{7C847F83-23C4-FD26-BBD2-BDCE259EACE3}" name="Sweet, Brett C." initials="BS" userId="S::brett.sweet@vanderbilt.edu::fb078a0d-4263-483a-a268-efecdb866e5b" providerId="AD"/>
  <p188:author id="{89D2DB94-875E-F183-D5EE-E243E61EC849}" name="Roy, Krishnendu" initials="KR" userId="S::krish.roy@vanderbilt.edu::a27cc28d-93f8-41ba-b8f0-ca4f451684c5" providerId="AD"/>
  <p188:author id="{CEEC76F3-F285-A8CA-0A47-6E630046FEA0}" name="Tiffiny Tung" initials="TT" userId="aXE65pDJqtp734YTiQWtpsfsp9zjOK8tHj+waUP5uD0="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Rodgers, Lauren P" initials="RLP" lastIdx="60" clrIdx="0">
    <p:extLst>
      <p:ext uri="{19B8F6BF-5375-455C-9EA6-DF929625EA0E}">
        <p15:presenceInfo xmlns:p15="http://schemas.microsoft.com/office/powerpoint/2012/main" userId="S::lauren.rodgers@Vanderbilt.Edu::d25ddd28-4bcd-432b-b247-1b9bf1c029fc" providerId="AD"/>
      </p:ext>
    </p:extLst>
  </p:cmAuthor>
  <p:cmAuthor id="2" name="McMillen, Michelle C" initials="MMC" lastIdx="1" clrIdx="1">
    <p:extLst>
      <p:ext uri="{19B8F6BF-5375-455C-9EA6-DF929625EA0E}">
        <p15:presenceInfo xmlns:p15="http://schemas.microsoft.com/office/powerpoint/2012/main" userId="S::michelle.mcmillen@vanderbilt.edu::52f17d12-cfa6-46fe-97e4-7993176bcb1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600"/>
    <a:srgbClr val="B49248"/>
    <a:srgbClr val="CC99FF"/>
    <a:srgbClr val="222222"/>
    <a:srgbClr val="303332"/>
    <a:srgbClr val="D8B769"/>
    <a:srgbClr val="5F4A20"/>
    <a:srgbClr val="F5F3EF"/>
    <a:srgbClr val="F5EFE2"/>
    <a:srgbClr val="E9CE86"/>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5F6E05-F143-409C-B6B7-9C383B390CA0}" v="112" dt="2026-03-31T17:06:48.494"/>
    <p1510:client id="{C788CDA6-8947-4732-A627-D0A003B2ADCA}" v="26" dt="2026-04-01T14:03:08.080"/>
  </p1510:revLst>
</p1510:revInfo>
</file>

<file path=ppt/tableStyles.xml><?xml version="1.0" encoding="utf-8"?>
<a:tblStyleLst xmlns:a="http://schemas.openxmlformats.org/drawingml/2006/main" def="{5C22544A-7EE6-4342-B048-85BDC9FD1C3A}">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4404" autoAdjust="0"/>
  </p:normalViewPr>
  <p:slideViewPr>
    <p:cSldViewPr snapToGrid="0">
      <p:cViewPr varScale="1">
        <p:scale>
          <a:sx n="155" d="100"/>
          <a:sy n="155" d="100"/>
        </p:scale>
        <p:origin x="3078" y="150"/>
      </p:cViewPr>
      <p:guideLst>
        <p:guide pos="7680"/>
        <p:guide pos="3828"/>
        <p:guide/>
        <p:guide orient="horz" pos="2160"/>
      </p:guideLst>
    </p:cSldViewPr>
  </p:slideViewPr>
  <p:notesTextViewPr>
    <p:cViewPr>
      <p:scale>
        <a:sx n="3" d="2"/>
        <a:sy n="3" d="2"/>
      </p:scale>
      <p:origin x="0" y="0"/>
    </p:cViewPr>
  </p:notesTextViewPr>
  <p:sorterViewPr>
    <p:cViewPr varScale="1">
      <p:scale>
        <a:sx n="1" d="1"/>
        <a:sy n="1" d="1"/>
      </p:scale>
      <p:origin x="0" y="0"/>
    </p:cViewPr>
  </p:sorter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presProps" Target="presProps.xml"/><Relationship Id="rId58" Type="http://schemas.microsoft.com/office/2018/10/relationships/authors" Target="authors.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tableStyles" Target="tableStyles.xml"/><Relationship Id="rId8" Type="http://schemas.openxmlformats.org/officeDocument/2006/relationships/slide" Target="slides/slide4.xml"/><Relationship Id="rId51" Type="http://schemas.openxmlformats.org/officeDocument/2006/relationships/notesMaster" Target="notesMasters/notesMaster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microsoft.com/office/2015/10/relationships/revisionInfo" Target="revisionInfo.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1.xml"/><Relationship Id="rId1" Type="http://schemas.microsoft.com/office/2011/relationships/chartStyle" Target="style1.xml"/></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2.xml"/><Relationship Id="rId1" Type="http://schemas.microsoft.com/office/2011/relationships/chartStyle" Target="style2.xml"/></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2.xml.rels><?xml version="1.0" encoding="UTF-8" standalone="yes"?>
<Relationships xmlns="http://schemas.openxmlformats.org/package/2006/relationships"><Relationship Id="rId3" Type="http://schemas.openxmlformats.org/officeDocument/2006/relationships/package" Target="../embeddings/Microsoft_Excel_Worksheet20.xlsx"/><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chartUserShapes" Target="../drawings/drawing1.xml"/></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Forecast</c:v>
                </c:pt>
              </c:strCache>
            </c:strRef>
          </c:tx>
          <c:spPr>
            <a:ln w="38100">
              <a:solidFill>
                <a:srgbClr val="000000"/>
              </a:solidFill>
            </a:ln>
          </c:spPr>
          <c:marker>
            <c:symbol val="none"/>
          </c:marker>
          <c:dLbls>
            <c:dLbl>
              <c:idx val="13"/>
              <c:tx>
                <c:rich>
                  <a:bodyPr/>
                  <a:lstStyle/>
                  <a:p>
                    <a:r>
                      <a:rPr lang="en-US" sz="1100" b="1">
                        <a:solidFill>
                          <a:srgbClr val="000000"/>
                        </a:solidFill>
                        <a:latin typeface="Lato"/>
                      </a:rPr>
                      <a:t>100 (2025)</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1D23-49A2-A0AF-E9DBAE05A12C}"/>
                </c:ext>
              </c:extLst>
            </c:dLbl>
            <c:dLbl>
              <c:idx val="17"/>
              <c:tx>
                <c:rich>
                  <a:bodyPr/>
                  <a:lstStyle/>
                  <a:p>
                    <a:r>
                      <a:rPr lang="en-US" sz="1100" b="1">
                        <a:solidFill>
                          <a:srgbClr val="C8102E"/>
                        </a:solidFill>
                        <a:latin typeface="Lato"/>
                      </a:rPr>
                      <a:t>85 (2029)</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1D23-49A2-A0AF-E9DBAE05A12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Sheet1!$A$2:$A$19</c:f>
              <c:strCache>
                <c:ptCount val="18"/>
                <c:pt idx="0">
                  <c:v>2012</c:v>
                </c:pt>
                <c:pt idx="1">
                  <c:v>2013</c:v>
                </c:pt>
                <c:pt idx="2">
                  <c:v>2014</c:v>
                </c:pt>
                <c:pt idx="3">
                  <c:v>2015</c:v>
                </c:pt>
                <c:pt idx="4">
                  <c:v>2016</c:v>
                </c:pt>
                <c:pt idx="5">
                  <c:v>2017</c:v>
                </c:pt>
                <c:pt idx="6">
                  <c:v>2018</c:v>
                </c:pt>
                <c:pt idx="7">
                  <c:v>2019</c:v>
                </c:pt>
                <c:pt idx="8">
                  <c:v>2020</c:v>
                </c:pt>
                <c:pt idx="9">
                  <c:v>2021</c:v>
                </c:pt>
                <c:pt idx="10">
                  <c:v>2022</c:v>
                </c:pt>
                <c:pt idx="11">
                  <c:v>2023</c:v>
                </c:pt>
                <c:pt idx="12">
                  <c:v>2024</c:v>
                </c:pt>
                <c:pt idx="13">
                  <c:v>2025</c:v>
                </c:pt>
                <c:pt idx="14">
                  <c:v>2026</c:v>
                </c:pt>
                <c:pt idx="15">
                  <c:v>2027</c:v>
                </c:pt>
                <c:pt idx="16">
                  <c:v>2028</c:v>
                </c:pt>
                <c:pt idx="17">
                  <c:v>2029</c:v>
                </c:pt>
              </c:strCache>
            </c:strRef>
          </c:cat>
          <c:val>
            <c:numRef>
              <c:f>Sheet1!$B$2:$B$19</c:f>
              <c:numCache>
                <c:formatCode>General</c:formatCode>
                <c:ptCount val="18"/>
                <c:pt idx="0">
                  <c:v>94</c:v>
                </c:pt>
                <c:pt idx="1">
                  <c:v>93.6</c:v>
                </c:pt>
                <c:pt idx="2">
                  <c:v>94.5</c:v>
                </c:pt>
                <c:pt idx="3">
                  <c:v>93.7</c:v>
                </c:pt>
                <c:pt idx="4">
                  <c:v>92.7</c:v>
                </c:pt>
                <c:pt idx="5">
                  <c:v>93.7</c:v>
                </c:pt>
                <c:pt idx="6">
                  <c:v>95.7</c:v>
                </c:pt>
                <c:pt idx="7">
                  <c:v>96</c:v>
                </c:pt>
                <c:pt idx="8">
                  <c:v>93.9</c:v>
                </c:pt>
                <c:pt idx="9">
                  <c:v>93.4</c:v>
                </c:pt>
                <c:pt idx="10">
                  <c:v>96</c:v>
                </c:pt>
                <c:pt idx="11">
                  <c:v>95.9</c:v>
                </c:pt>
                <c:pt idx="12">
                  <c:v>96.7</c:v>
                </c:pt>
                <c:pt idx="13">
                  <c:v>100</c:v>
                </c:pt>
                <c:pt idx="14">
                  <c:v>98.2</c:v>
                </c:pt>
                <c:pt idx="15">
                  <c:v>95.3</c:v>
                </c:pt>
                <c:pt idx="16">
                  <c:v>91.3</c:v>
                </c:pt>
                <c:pt idx="17">
                  <c:v>85.2</c:v>
                </c:pt>
              </c:numCache>
            </c:numRef>
          </c:val>
          <c:smooth val="0"/>
          <c:extLst>
            <c:ext xmlns:c16="http://schemas.microsoft.com/office/drawing/2014/chart" uri="{C3380CC4-5D6E-409C-BE32-E72D297353CC}">
              <c16:uniqueId val="{00000002-1D23-49A2-A0AF-E9DBAE05A12C}"/>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000000"/>
            </a:solidFill>
          </a:ln>
        </c:spPr>
        <c:crossAx val="2140495176"/>
        <c:crosses val="autoZero"/>
        <c:auto val="1"/>
        <c:lblAlgn val="ctr"/>
        <c:lblOffset val="100"/>
        <c:tickLblSkip val="2"/>
        <c:tickMarkSkip val="2"/>
        <c:noMultiLvlLbl val="0"/>
      </c:catAx>
      <c:valAx>
        <c:axId val="2140495176"/>
        <c:scaling>
          <c:orientation val="minMax"/>
          <c:max val="105"/>
          <c:min val="8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crossBetween val="between"/>
        <c:majorUnit val="5"/>
      </c:valAx>
    </c:plotArea>
    <c:plotVisOnly val="1"/>
    <c:dispBlanksAs val="gap"/>
    <c:showDLblsOverMax val="0"/>
  </c:chart>
  <c:txPr>
    <a:bodyPr/>
    <a:lstStyle/>
    <a:p>
      <a:pPr>
        <a:defRPr sz="1100">
          <a:solidFill>
            <a:srgbClr val="000000"/>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Institutions</c:v>
                </c:pt>
              </c:strCache>
            </c:strRef>
          </c:tx>
          <c:spPr>
            <a:solidFill>
              <a:srgbClr val="000000"/>
            </a:solidFill>
          </c:spPr>
          <c:invertIfNegative val="1"/>
          <c:dPt>
            <c:idx val="15"/>
            <c:invertIfNegative val="1"/>
            <c:bubble3D val="0"/>
            <c:spPr>
              <a:solidFill>
                <a:srgbClr val="C8102E"/>
              </a:solidFill>
            </c:spPr>
            <c:extLst>
              <c:ext xmlns:c16="http://schemas.microsoft.com/office/drawing/2014/chart" uri="{C3380CC4-5D6E-409C-BE32-E72D297353CC}">
                <c16:uniqueId val="{00000001-CE86-4CE7-A028-D14DCFCDE972}"/>
              </c:ext>
            </c:extLst>
          </c:dPt>
          <c:dPt>
            <c:idx val="17"/>
            <c:invertIfNegative val="1"/>
            <c:bubble3D val="0"/>
            <c:spPr>
              <a:solidFill>
                <a:srgbClr val="C8102E"/>
              </a:solidFill>
            </c:spPr>
            <c:extLst>
              <c:ext xmlns:c16="http://schemas.microsoft.com/office/drawing/2014/chart" uri="{C3380CC4-5D6E-409C-BE32-E72D297353CC}">
                <c16:uniqueId val="{00000003-CE86-4CE7-A028-D14DCFCDE972}"/>
              </c:ext>
            </c:extLst>
          </c:dPt>
          <c:dLbls>
            <c:dLbl>
              <c:idx val="15"/>
              <c:tx>
                <c:rich>
                  <a:bodyPr/>
                  <a:lstStyle/>
                  <a:p>
                    <a:r>
                      <a:rPr lang="en-US" sz="1100" b="1">
                        <a:solidFill>
                          <a:srgbClr val="C8102E"/>
                        </a:solidFill>
                        <a:latin typeface="Lato"/>
                      </a:rPr>
                      <a:t>4,726 peak</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CE86-4CE7-A028-D14DCFCDE972}"/>
                </c:ext>
              </c:extLst>
            </c:dLbl>
            <c:dLbl>
              <c:idx val="17"/>
              <c:tx>
                <c:rich>
                  <a:bodyPr/>
                  <a:lstStyle/>
                  <a:p>
                    <a:r>
                      <a:rPr lang="en-US" sz="1100" b="1">
                        <a:solidFill>
                          <a:srgbClr val="C8102E"/>
                        </a:solidFill>
                        <a:latin typeface="Lato"/>
                      </a:rPr>
                      <a:t>3,896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CE86-4CE7-A028-D14DCFCDE97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Sheet1!$A$2:$A$19</c:f>
              <c:strCache>
                <c:ptCount val="18"/>
                <c:pt idx="0">
                  <c:v>1870</c:v>
                </c:pt>
                <c:pt idx="1">
                  <c:v>1880</c:v>
                </c:pt>
                <c:pt idx="2">
                  <c:v>1890</c:v>
                </c:pt>
                <c:pt idx="3">
                  <c:v>1900</c:v>
                </c:pt>
                <c:pt idx="4">
                  <c:v>1910</c:v>
                </c:pt>
                <c:pt idx="5">
                  <c:v>1920</c:v>
                </c:pt>
                <c:pt idx="6">
                  <c:v>1930</c:v>
                </c:pt>
                <c:pt idx="7">
                  <c:v>1940</c:v>
                </c:pt>
                <c:pt idx="8">
                  <c:v>1950</c:v>
                </c:pt>
                <c:pt idx="9">
                  <c:v>1960</c:v>
                </c:pt>
                <c:pt idx="10">
                  <c:v>1970</c:v>
                </c:pt>
                <c:pt idx="11">
                  <c:v>1980</c:v>
                </c:pt>
                <c:pt idx="12">
                  <c:v>1990</c:v>
                </c:pt>
                <c:pt idx="13">
                  <c:v>2000</c:v>
                </c:pt>
                <c:pt idx="14">
                  <c:v>2010</c:v>
                </c:pt>
                <c:pt idx="15">
                  <c:v>2012–13</c:v>
                </c:pt>
                <c:pt idx="16">
                  <c:v>2018</c:v>
                </c:pt>
                <c:pt idx="17">
                  <c:v>2022–23</c:v>
                </c:pt>
              </c:strCache>
            </c:strRef>
          </c:cat>
          <c:val>
            <c:numRef>
              <c:f>Sheet1!$B$2:$B$19</c:f>
              <c:numCache>
                <c:formatCode>General</c:formatCode>
                <c:ptCount val="18"/>
                <c:pt idx="0">
                  <c:v>563</c:v>
                </c:pt>
                <c:pt idx="1">
                  <c:v>811</c:v>
                </c:pt>
                <c:pt idx="2">
                  <c:v>998</c:v>
                </c:pt>
                <c:pt idx="3">
                  <c:v>977</c:v>
                </c:pt>
                <c:pt idx="4">
                  <c:v>951</c:v>
                </c:pt>
                <c:pt idx="5">
                  <c:v>1041</c:v>
                </c:pt>
                <c:pt idx="6">
                  <c:v>1409</c:v>
                </c:pt>
                <c:pt idx="7">
                  <c:v>1708</c:v>
                </c:pt>
                <c:pt idx="8">
                  <c:v>1851</c:v>
                </c:pt>
                <c:pt idx="9">
                  <c:v>2004</c:v>
                </c:pt>
                <c:pt idx="10">
                  <c:v>2525</c:v>
                </c:pt>
                <c:pt idx="11">
                  <c:v>3152</c:v>
                </c:pt>
                <c:pt idx="12">
                  <c:v>3535</c:v>
                </c:pt>
                <c:pt idx="13">
                  <c:v>4084</c:v>
                </c:pt>
                <c:pt idx="14">
                  <c:v>4495</c:v>
                </c:pt>
                <c:pt idx="15">
                  <c:v>4726</c:v>
                </c:pt>
                <c:pt idx="16">
                  <c:v>4313</c:v>
                </c:pt>
                <c:pt idx="17">
                  <c:v>3896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CE86-4CE7-A028-D14DCFCDE972}"/>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txPr>
          <a:bodyPr/>
          <a:lstStyle/>
          <a:p>
            <a:pPr>
              <a:defRPr sz="1000"/>
            </a:pPr>
            <a:endParaRPr lang="en-US"/>
          </a:p>
        </c:txPr>
        <c:crossAx val="-2113994440"/>
        <c:crosses val="autoZero"/>
        <c:auto val="1"/>
        <c:lblAlgn val="ctr"/>
        <c:lblOffset val="100"/>
        <c:noMultiLvlLbl val="0"/>
      </c:catAx>
      <c:valAx>
        <c:axId val="-2113994440"/>
        <c:scaling>
          <c:orientation val="minMax"/>
          <c:max val="5000"/>
          <c:min val="0"/>
        </c:scaling>
        <c:delete val="0"/>
        <c:axPos val="l"/>
        <c:numFmt formatCode="#,##0" sourceLinked="0"/>
        <c:majorTickMark val="out"/>
        <c:minorTickMark val="none"/>
        <c:tickLblPos val="nextTo"/>
        <c:spPr>
          <a:ln>
            <a:solidFill>
              <a:schemeClr val="tx1"/>
            </a:solidFill>
          </a:ln>
        </c:spPr>
        <c:crossAx val="-2068027336"/>
        <c:crosses val="autoZero"/>
        <c:crossBetween val="between"/>
        <c:majorUnit val="1000"/>
      </c:valAx>
    </c:plotArea>
    <c:plotVisOnly val="1"/>
    <c:dispBlanksAs val="gap"/>
    <c:showDLblsOverMax val="1"/>
  </c:chart>
  <c:txPr>
    <a:bodyPr/>
    <a:lstStyle/>
    <a:p>
      <a:pPr>
        <a:defRPr sz="1200">
          <a:solidFill>
            <a:srgbClr val="000000"/>
          </a:solidFill>
          <a:latin typeface="La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Universities (count) [numerator]</c:v>
                </c:pt>
              </c:strCache>
            </c:strRef>
          </c:tx>
          <c:spPr>
            <a:solidFill>
              <a:schemeClr val="accent1"/>
            </a:solidFill>
            <a:ln>
              <a:solidFill>
                <a:schemeClr val="tx1"/>
              </a:solidFill>
            </a:ln>
            <a:effectLst/>
          </c:spPr>
          <c:invertIfNegative val="0"/>
          <c:dPt>
            <c:idx val="0"/>
            <c:invertIfNegative val="0"/>
            <c:bubble3D val="0"/>
            <c:spPr>
              <a:solidFill>
                <a:srgbClr val="C8102E"/>
              </a:solidFill>
              <a:ln>
                <a:solidFill>
                  <a:schemeClr val="tx1"/>
                </a:solidFill>
              </a:ln>
              <a:effectLst/>
            </c:spPr>
            <c:extLst>
              <c:ext xmlns:c16="http://schemas.microsoft.com/office/drawing/2014/chart" uri="{C3380CC4-5D6E-409C-BE32-E72D297353CC}">
                <c16:uniqueId val="{00000005-ADCE-452D-A338-55A394B202CA}"/>
              </c:ext>
            </c:extLst>
          </c:dPt>
          <c:dPt>
            <c:idx val="2"/>
            <c:invertIfNegative val="0"/>
            <c:bubble3D val="0"/>
            <c:spPr>
              <a:solidFill>
                <a:srgbClr val="000000"/>
              </a:solidFill>
              <a:ln>
                <a:solidFill>
                  <a:schemeClr val="tx1"/>
                </a:solidFill>
              </a:ln>
              <a:effectLst/>
            </c:spPr>
            <c:extLst>
              <c:ext xmlns:c16="http://schemas.microsoft.com/office/drawing/2014/chart" uri="{C3380CC4-5D6E-409C-BE32-E72D297353CC}">
                <c16:uniqueId val="{00000003-ADCE-452D-A338-55A394B202CA}"/>
              </c:ext>
            </c:extLst>
          </c:dPt>
          <c:dPt>
            <c:idx val="3"/>
            <c:invertIfNegative val="0"/>
            <c:bubble3D val="0"/>
            <c:spPr>
              <a:solidFill>
                <a:srgbClr val="000000"/>
              </a:solidFill>
              <a:ln>
                <a:solidFill>
                  <a:schemeClr val="tx1"/>
                </a:solidFill>
              </a:ln>
              <a:effectLst/>
            </c:spPr>
            <c:extLst>
              <c:ext xmlns:c16="http://schemas.microsoft.com/office/drawing/2014/chart" uri="{C3380CC4-5D6E-409C-BE32-E72D297353CC}">
                <c16:uniqueId val="{00000004-ADCE-452D-A338-55A394B202CA}"/>
              </c:ext>
            </c:extLst>
          </c:dPt>
          <c:cat>
            <c:strRef>
              <c:f>Sheet1!$A$2:$A$37</c:f>
              <c:strCache>
                <c:ptCount val="36"/>
                <c:pt idx="0">
                  <c:v>USA</c:v>
                </c:pt>
                <c:pt idx="1">
                  <c:v>JPN</c:v>
                </c:pt>
                <c:pt idx="2">
                  <c:v>IND</c:v>
                </c:pt>
                <c:pt idx="3">
                  <c:v>CHN</c:v>
                </c:pt>
                <c:pt idx="4">
                  <c:v>DEU</c:v>
                </c:pt>
                <c:pt idx="5">
                  <c:v>RUS</c:v>
                </c:pt>
                <c:pt idx="6">
                  <c:v>FRA</c:v>
                </c:pt>
                <c:pt idx="7">
                  <c:v>KOR</c:v>
                </c:pt>
                <c:pt idx="8">
                  <c:v>GBR</c:v>
                </c:pt>
                <c:pt idx="9">
                  <c:v>IRN</c:v>
                </c:pt>
                <c:pt idx="10">
                  <c:v>IDN</c:v>
                </c:pt>
                <c:pt idx="11">
                  <c:v>TUR</c:v>
                </c:pt>
                <c:pt idx="12">
                  <c:v>BRA</c:v>
                </c:pt>
                <c:pt idx="13">
                  <c:v>MEX</c:v>
                </c:pt>
                <c:pt idx="14">
                  <c:v>CAN</c:v>
                </c:pt>
                <c:pt idx="15">
                  <c:v>MYS</c:v>
                </c:pt>
                <c:pt idx="16">
                  <c:v>POL</c:v>
                </c:pt>
                <c:pt idx="17">
                  <c:v>PAK</c:v>
                </c:pt>
                <c:pt idx="18">
                  <c:v>PHL</c:v>
                </c:pt>
                <c:pt idx="19">
                  <c:v>NGA</c:v>
                </c:pt>
                <c:pt idx="20">
                  <c:v>COL</c:v>
                </c:pt>
                <c:pt idx="21">
                  <c:v>ESP</c:v>
                </c:pt>
                <c:pt idx="22">
                  <c:v>ITA</c:v>
                </c:pt>
                <c:pt idx="23">
                  <c:v>ARG</c:v>
                </c:pt>
                <c:pt idx="24">
                  <c:v>CHE</c:v>
                </c:pt>
                <c:pt idx="25">
                  <c:v>BGD</c:v>
                </c:pt>
                <c:pt idx="26">
                  <c:v>UKR</c:v>
                </c:pt>
                <c:pt idx="27">
                  <c:v>THA</c:v>
                </c:pt>
                <c:pt idx="28">
                  <c:v>PER</c:v>
                </c:pt>
                <c:pt idx="29">
                  <c:v>PRT</c:v>
                </c:pt>
                <c:pt idx="30">
                  <c:v>CHL</c:v>
                </c:pt>
                <c:pt idx="31">
                  <c:v>SAU</c:v>
                </c:pt>
                <c:pt idx="32">
                  <c:v>ROU</c:v>
                </c:pt>
                <c:pt idx="33">
                  <c:v>AUS</c:v>
                </c:pt>
                <c:pt idx="34">
                  <c:v>VNM</c:v>
                </c:pt>
                <c:pt idx="35">
                  <c:v>BEL</c:v>
                </c:pt>
              </c:strCache>
            </c:strRef>
          </c:cat>
          <c:val>
            <c:numRef>
              <c:f>Sheet1!$B$2:$B$37</c:f>
              <c:numCache>
                <c:formatCode>#,##0</c:formatCode>
                <c:ptCount val="36"/>
                <c:pt idx="0">
                  <c:v>2349</c:v>
                </c:pt>
                <c:pt idx="1">
                  <c:v>572</c:v>
                </c:pt>
                <c:pt idx="2">
                  <c:v>474</c:v>
                </c:pt>
                <c:pt idx="3">
                  <c:v>398</c:v>
                </c:pt>
                <c:pt idx="4">
                  <c:v>319</c:v>
                </c:pt>
                <c:pt idx="5">
                  <c:v>309</c:v>
                </c:pt>
                <c:pt idx="6">
                  <c:v>297</c:v>
                </c:pt>
                <c:pt idx="7">
                  <c:v>244</c:v>
                </c:pt>
                <c:pt idx="8">
                  <c:v>195</c:v>
                </c:pt>
                <c:pt idx="9">
                  <c:v>193</c:v>
                </c:pt>
                <c:pt idx="10">
                  <c:v>192</c:v>
                </c:pt>
                <c:pt idx="11">
                  <c:v>192</c:v>
                </c:pt>
                <c:pt idx="12">
                  <c:v>190</c:v>
                </c:pt>
                <c:pt idx="13">
                  <c:v>166</c:v>
                </c:pt>
                <c:pt idx="14">
                  <c:v>157</c:v>
                </c:pt>
                <c:pt idx="15">
                  <c:v>144</c:v>
                </c:pt>
                <c:pt idx="16">
                  <c:v>137</c:v>
                </c:pt>
                <c:pt idx="17">
                  <c:v>136</c:v>
                </c:pt>
                <c:pt idx="18">
                  <c:v>118</c:v>
                </c:pt>
                <c:pt idx="19">
                  <c:v>115</c:v>
                </c:pt>
                <c:pt idx="20">
                  <c:v>103</c:v>
                </c:pt>
                <c:pt idx="21">
                  <c:v>97</c:v>
                </c:pt>
                <c:pt idx="22">
                  <c:v>93</c:v>
                </c:pt>
                <c:pt idx="23">
                  <c:v>86</c:v>
                </c:pt>
                <c:pt idx="24">
                  <c:v>76</c:v>
                </c:pt>
                <c:pt idx="25">
                  <c:v>75</c:v>
                </c:pt>
                <c:pt idx="26">
                  <c:v>75</c:v>
                </c:pt>
                <c:pt idx="27">
                  <c:v>67</c:v>
                </c:pt>
                <c:pt idx="28">
                  <c:v>67</c:v>
                </c:pt>
                <c:pt idx="29">
                  <c:v>66</c:v>
                </c:pt>
                <c:pt idx="30">
                  <c:v>65</c:v>
                </c:pt>
                <c:pt idx="31">
                  <c:v>63</c:v>
                </c:pt>
                <c:pt idx="32">
                  <c:v>62</c:v>
                </c:pt>
                <c:pt idx="33">
                  <c:v>58</c:v>
                </c:pt>
                <c:pt idx="34">
                  <c:v>51</c:v>
                </c:pt>
                <c:pt idx="35">
                  <c:v>51</c:v>
                </c:pt>
              </c:numCache>
            </c:numRef>
          </c:val>
          <c:extLst>
            <c:ext xmlns:c16="http://schemas.microsoft.com/office/drawing/2014/chart" uri="{C3380CC4-5D6E-409C-BE32-E72D297353CC}">
              <c16:uniqueId val="{00000000-ADCE-452D-A338-55A394B202CA}"/>
            </c:ext>
          </c:extLst>
        </c:ser>
        <c:dLbls>
          <c:showLegendKey val="0"/>
          <c:showVal val="0"/>
          <c:showCatName val="0"/>
          <c:showSerName val="0"/>
          <c:showPercent val="0"/>
          <c:showBubbleSize val="0"/>
        </c:dLbls>
        <c:gapWidth val="46"/>
        <c:overlap val="-27"/>
        <c:axId val="1071510320"/>
        <c:axId val="1071511280"/>
      </c:barChart>
      <c:catAx>
        <c:axId val="1071510320"/>
        <c:scaling>
          <c:orientation val="minMax"/>
        </c:scaling>
        <c:delete val="0"/>
        <c:axPos val="b"/>
        <c:numFmt formatCode="General" sourceLinked="1"/>
        <c:majorTickMark val="out"/>
        <c:minorTickMark val="none"/>
        <c:tickLblPos val="nextTo"/>
        <c:spPr>
          <a:noFill/>
          <a:ln w="9525" cap="flat" cmpd="sng" algn="ctr">
            <a:solidFill>
              <a:schemeClr val="accent1"/>
            </a:solidFill>
            <a:round/>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071511280"/>
        <c:crosses val="autoZero"/>
        <c:auto val="1"/>
        <c:lblAlgn val="ctr"/>
        <c:lblOffset val="100"/>
        <c:tickLblSkip val="1"/>
        <c:noMultiLvlLbl val="0"/>
      </c:catAx>
      <c:valAx>
        <c:axId val="1071511280"/>
        <c:scaling>
          <c:orientation val="minMax"/>
        </c:scaling>
        <c:delete val="0"/>
        <c:axPos val="l"/>
        <c:numFmt formatCode="#,##0" sourceLinked="1"/>
        <c:majorTickMark val="out"/>
        <c:minorTickMark val="none"/>
        <c:tickLblPos val="nextTo"/>
        <c:spPr>
          <a:noFill/>
          <a:ln>
            <a:solidFill>
              <a:schemeClr val="accent1"/>
            </a:solidFill>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0715103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Colleges per million</c:v>
                </c:pt>
              </c:strCache>
            </c:strRef>
          </c:tx>
          <c:spPr>
            <a:solidFill>
              <a:srgbClr val="000000"/>
            </a:solidFill>
          </c:spPr>
          <c:invertIfNegative val="1"/>
          <c:dPt>
            <c:idx val="0"/>
            <c:invertIfNegative val="1"/>
            <c:bubble3D val="0"/>
            <c:spPr>
              <a:solidFill>
                <a:srgbClr val="C8102E"/>
              </a:solidFill>
            </c:spPr>
            <c:extLst>
              <c:ext xmlns:c16="http://schemas.microsoft.com/office/drawing/2014/chart" uri="{C3380CC4-5D6E-409C-BE32-E72D297353CC}">
                <c16:uniqueId val="{00000001-0772-4292-B8E6-65AA4AF9D77B}"/>
              </c:ext>
            </c:extLst>
          </c:dPt>
          <c:dPt>
            <c:idx val="1"/>
            <c:invertIfNegative val="1"/>
            <c:bubble3D val="0"/>
            <c:spPr>
              <a:solidFill>
                <a:srgbClr val="00B050"/>
              </a:solidFill>
            </c:spPr>
            <c:extLst>
              <c:ext xmlns:c16="http://schemas.microsoft.com/office/drawing/2014/chart" uri="{C3380CC4-5D6E-409C-BE32-E72D297353CC}">
                <c16:uniqueId val="{00000004-0772-4292-B8E6-65AA4AF9D77B}"/>
              </c:ext>
            </c:extLst>
          </c:dPt>
          <c:dPt>
            <c:idx val="2"/>
            <c:invertIfNegative val="1"/>
            <c:bubble3D val="0"/>
            <c:spPr>
              <a:solidFill>
                <a:srgbClr val="00B050"/>
              </a:solidFill>
            </c:spPr>
            <c:extLst>
              <c:ext xmlns:c16="http://schemas.microsoft.com/office/drawing/2014/chart" uri="{C3380CC4-5D6E-409C-BE32-E72D297353CC}">
                <c16:uniqueId val="{00000005-0772-4292-B8E6-65AA4AF9D77B}"/>
              </c:ext>
            </c:extLst>
          </c:dPt>
          <c:dPt>
            <c:idx val="3"/>
            <c:invertIfNegative val="1"/>
            <c:bubble3D val="0"/>
            <c:spPr>
              <a:solidFill>
                <a:srgbClr val="00B050"/>
              </a:solidFill>
            </c:spPr>
            <c:extLst>
              <c:ext xmlns:c16="http://schemas.microsoft.com/office/drawing/2014/chart" uri="{C3380CC4-5D6E-409C-BE32-E72D297353CC}">
                <c16:uniqueId val="{00000006-0772-4292-B8E6-65AA4AF9D77B}"/>
              </c:ext>
            </c:extLst>
          </c:dPt>
          <c:dPt>
            <c:idx val="7"/>
            <c:invertIfNegative val="1"/>
            <c:bubble3D val="0"/>
            <c:spPr>
              <a:solidFill>
                <a:srgbClr val="8C8C8C"/>
              </a:solidFill>
            </c:spPr>
            <c:extLst>
              <c:ext xmlns:c16="http://schemas.microsoft.com/office/drawing/2014/chart" uri="{C3380CC4-5D6E-409C-BE32-E72D297353CC}">
                <c16:uniqueId val="{00000003-8EBA-465E-B7C6-27EDB388CDB3}"/>
              </c:ext>
            </c:extLst>
          </c:dPt>
          <c:dPt>
            <c:idx val="17"/>
            <c:invertIfNegative val="1"/>
            <c:bubble3D val="0"/>
            <c:spPr>
              <a:solidFill>
                <a:srgbClr val="8C8C8C"/>
              </a:solidFill>
            </c:spPr>
            <c:extLst>
              <c:ext xmlns:c16="http://schemas.microsoft.com/office/drawing/2014/chart" uri="{C3380CC4-5D6E-409C-BE32-E72D297353CC}">
                <c16:uniqueId val="{00000005-8EBA-465E-B7C6-27EDB388CDB3}"/>
              </c:ext>
            </c:extLst>
          </c:dPt>
          <c:dPt>
            <c:idx val="31"/>
            <c:invertIfNegative val="1"/>
            <c:bubble3D val="0"/>
            <c:spPr>
              <a:solidFill>
                <a:srgbClr val="0070C0"/>
              </a:solidFill>
            </c:spPr>
            <c:extLst>
              <c:ext xmlns:c16="http://schemas.microsoft.com/office/drawing/2014/chart" uri="{C3380CC4-5D6E-409C-BE32-E72D297353CC}">
                <c16:uniqueId val="{00000003-0772-4292-B8E6-65AA4AF9D77B}"/>
              </c:ext>
            </c:extLst>
          </c:dPt>
          <c:dLbls>
            <c:dLbl>
              <c:idx val="0"/>
              <c:tx>
                <c:rich>
                  <a:bodyPr/>
                  <a:lstStyle/>
                  <a:p>
                    <a:r>
                      <a:rPr lang="en-US" sz="1100" b="1">
                        <a:solidFill>
                          <a:srgbClr val="C8102E"/>
                        </a:solidFill>
                        <a:latin typeface="Lato"/>
                      </a:rPr>
                      <a:t>6.91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0772-4292-B8E6-65AA4AF9D77B}"/>
                </c:ext>
              </c:extLst>
            </c:dLbl>
            <c:dLbl>
              <c:idx val="1"/>
              <c:tx>
                <c:rich>
                  <a:bodyPr/>
                  <a:lstStyle/>
                  <a:p>
                    <a:r>
                      <a:rPr lang="en-US" sz="1100" b="1">
                        <a:solidFill>
                          <a:srgbClr val="000000"/>
                        </a:solidFill>
                        <a:latin typeface="Lato"/>
                      </a:rPr>
                      <a:t>4.71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0772-4292-B8E6-65AA4AF9D77B}"/>
                </c:ext>
              </c:extLst>
            </c:dLbl>
            <c:dLbl>
              <c:idx val="2"/>
              <c:tx>
                <c:rich>
                  <a:bodyPr/>
                  <a:lstStyle/>
                  <a:p>
                    <a:r>
                      <a:rPr lang="en-US" sz="1100" b="1">
                        <a:solidFill>
                          <a:srgbClr val="000000"/>
                        </a:solidFill>
                        <a:latin typeface="Lato"/>
                      </a:rPr>
                      <a:t>4.61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0772-4292-B8E6-65AA4AF9D77B}"/>
                </c:ext>
              </c:extLst>
            </c:dLbl>
            <c:dLbl>
              <c:idx val="3"/>
              <c:tx>
                <c:rich>
                  <a:bodyPr/>
                  <a:lstStyle/>
                  <a:p>
                    <a:r>
                      <a:rPr lang="en-US" sz="1100" b="1">
                        <a:solidFill>
                          <a:srgbClr val="000000"/>
                        </a:solidFill>
                        <a:latin typeface="Lato"/>
                      </a:rPr>
                      <a:t>4.33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0772-4292-B8E6-65AA4AF9D77B}"/>
                </c:ext>
              </c:extLst>
            </c:dLbl>
            <c:dLbl>
              <c:idx val="4"/>
              <c:tx>
                <c:rich>
                  <a:bodyPr/>
                  <a:lstStyle/>
                  <a:p>
                    <a:r>
                      <a:rPr lang="en-US" sz="1100" b="1">
                        <a:solidFill>
                          <a:srgbClr val="000000"/>
                        </a:solidFill>
                        <a:latin typeface="Lato"/>
                      </a:rPr>
                      <a:t>3.82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0772-4292-B8E6-65AA4AF9D77B}"/>
                </c:ext>
              </c:extLst>
            </c:dLbl>
            <c:dLbl>
              <c:idx val="7"/>
              <c:tx>
                <c:rich>
                  <a:bodyPr/>
                  <a:lstStyle/>
                  <a:p>
                    <a:r>
                      <a:rPr lang="en-US" sz="1100" b="1">
                        <a:solidFill>
                          <a:srgbClr val="595959"/>
                        </a:solidFill>
                        <a:latin typeface="Lato"/>
                      </a:rPr>
                      <a:t>2.21*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8EBA-465E-B7C6-27EDB388CDB3}"/>
                </c:ext>
              </c:extLst>
            </c:dLbl>
            <c:dLbl>
              <c:idx val="17"/>
              <c:tx>
                <c:rich>
                  <a:bodyPr/>
                  <a:lstStyle/>
                  <a:p>
                    <a:r>
                      <a:rPr lang="en-US" sz="1100" b="1">
                        <a:solidFill>
                          <a:srgbClr val="595959"/>
                        </a:solidFill>
                        <a:latin typeface="Lato"/>
                      </a:rPr>
                      <a:t>0.80*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8EBA-465E-B7C6-27EDB388CDB3}"/>
                </c:ext>
              </c:extLst>
            </c:dLbl>
            <c:dLbl>
              <c:idx val="31"/>
              <c:tx>
                <c:rich>
                  <a:bodyPr/>
                  <a:lstStyle/>
                  <a:p>
                    <a:r>
                      <a:rPr lang="en-US" sz="1100" b="1">
                        <a:solidFill>
                          <a:srgbClr val="000000"/>
                        </a:solidFill>
                        <a:latin typeface="Lato"/>
                      </a:rPr>
                      <a:t>1.63 avg</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0772-4292-B8E6-65AA4AF9D77B}"/>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Sheet1!$A$2:$A$33</c:f>
              <c:strCache>
                <c:ptCount val="32"/>
                <c:pt idx="0">
                  <c:v>USA</c:v>
                </c:pt>
                <c:pt idx="1">
                  <c:v>KOR</c:v>
                </c:pt>
                <c:pt idx="2">
                  <c:v>JPN</c:v>
                </c:pt>
                <c:pt idx="3">
                  <c:v>FRA</c:v>
                </c:pt>
                <c:pt idx="4">
                  <c:v>DEU</c:v>
                </c:pt>
                <c:pt idx="5">
                  <c:v>GBR</c:v>
                </c:pt>
                <c:pt idx="6">
                  <c:v>TUR</c:v>
                </c:pt>
                <c:pt idx="7">
                  <c:v>CHN*</c:v>
                </c:pt>
                <c:pt idx="8">
                  <c:v>RUS</c:v>
                </c:pt>
                <c:pt idx="9">
                  <c:v>IRN</c:v>
                </c:pt>
                <c:pt idx="10">
                  <c:v>COL</c:v>
                </c:pt>
                <c:pt idx="11">
                  <c:v>ITA</c:v>
                </c:pt>
                <c:pt idx="12">
                  <c:v>MEX</c:v>
                </c:pt>
                <c:pt idx="13">
                  <c:v>PHL</c:v>
                </c:pt>
                <c:pt idx="14">
                  <c:v>THA</c:v>
                </c:pt>
                <c:pt idx="15">
                  <c:v>BRA</c:v>
                </c:pt>
                <c:pt idx="16">
                  <c:v>KEN</c:v>
                </c:pt>
                <c:pt idx="17">
                  <c:v>IND*</c:v>
                </c:pt>
                <c:pt idx="18">
                  <c:v>SDN</c:v>
                </c:pt>
                <c:pt idx="19">
                  <c:v>IDN</c:v>
                </c:pt>
                <c:pt idx="20">
                  <c:v>PAK</c:v>
                </c:pt>
                <c:pt idx="21">
                  <c:v>VNM</c:v>
                </c:pt>
                <c:pt idx="22">
                  <c:v>NGA</c:v>
                </c:pt>
                <c:pt idx="23">
                  <c:v>ZAF</c:v>
                </c:pt>
                <c:pt idx="24">
                  <c:v>BGD</c:v>
                </c:pt>
                <c:pt idx="25">
                  <c:v>EGY</c:v>
                </c:pt>
                <c:pt idx="26">
                  <c:v>UGA</c:v>
                </c:pt>
                <c:pt idx="27">
                  <c:v>TZA</c:v>
                </c:pt>
                <c:pt idx="28">
                  <c:v>ETH</c:v>
                </c:pt>
                <c:pt idx="29">
                  <c:v>COD</c:v>
                </c:pt>
                <c:pt idx="30">
                  <c:v>MMR</c:v>
                </c:pt>
                <c:pt idx="31">
                  <c:v>Avg</c:v>
                </c:pt>
              </c:strCache>
            </c:strRef>
          </c:cat>
          <c:val>
            <c:numRef>
              <c:f>Sheet1!$B$2:$B$33</c:f>
              <c:numCache>
                <c:formatCode>General</c:formatCode>
                <c:ptCount val="32"/>
                <c:pt idx="0">
                  <c:v>6.91</c:v>
                </c:pt>
                <c:pt idx="1">
                  <c:v>4.71</c:v>
                </c:pt>
                <c:pt idx="2">
                  <c:v>4.6100000000000003</c:v>
                </c:pt>
                <c:pt idx="3">
                  <c:v>4.33</c:v>
                </c:pt>
                <c:pt idx="4">
                  <c:v>3.82</c:v>
                </c:pt>
                <c:pt idx="5">
                  <c:v>2.82</c:v>
                </c:pt>
                <c:pt idx="6">
                  <c:v>2.25</c:v>
                </c:pt>
                <c:pt idx="7">
                  <c:v>2.21</c:v>
                </c:pt>
                <c:pt idx="8">
                  <c:v>2.15</c:v>
                </c:pt>
                <c:pt idx="9">
                  <c:v>2.11</c:v>
                </c:pt>
                <c:pt idx="10">
                  <c:v>1.95</c:v>
                </c:pt>
                <c:pt idx="11">
                  <c:v>1.58</c:v>
                </c:pt>
                <c:pt idx="12">
                  <c:v>1.27</c:v>
                </c:pt>
                <c:pt idx="13">
                  <c:v>1.02</c:v>
                </c:pt>
                <c:pt idx="14">
                  <c:v>0.93</c:v>
                </c:pt>
                <c:pt idx="15">
                  <c:v>0.9</c:v>
                </c:pt>
                <c:pt idx="16">
                  <c:v>0.87</c:v>
                </c:pt>
                <c:pt idx="17">
                  <c:v>0.8</c:v>
                </c:pt>
                <c:pt idx="18">
                  <c:v>0.69</c:v>
                </c:pt>
                <c:pt idx="19">
                  <c:v>0.68</c:v>
                </c:pt>
                <c:pt idx="20">
                  <c:v>0.54</c:v>
                </c:pt>
                <c:pt idx="21">
                  <c:v>0.51</c:v>
                </c:pt>
                <c:pt idx="22">
                  <c:v>0.49</c:v>
                </c:pt>
                <c:pt idx="23">
                  <c:v>0.45</c:v>
                </c:pt>
                <c:pt idx="24">
                  <c:v>0.43</c:v>
                </c:pt>
                <c:pt idx="25">
                  <c:v>0.38</c:v>
                </c:pt>
                <c:pt idx="26">
                  <c:v>0.36</c:v>
                </c:pt>
                <c:pt idx="27">
                  <c:v>0.28999999999999998</c:v>
                </c:pt>
                <c:pt idx="28">
                  <c:v>0.23</c:v>
                </c:pt>
                <c:pt idx="29">
                  <c:v>0.09</c:v>
                </c:pt>
                <c:pt idx="30">
                  <c:v>0.09</c:v>
                </c:pt>
                <c:pt idx="31">
                  <c:v>1.63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8-0772-4292-B8E6-65AA4AF9D77B}"/>
            </c:ext>
          </c:extLst>
        </c:ser>
        <c:dLbls>
          <c:showLegendKey val="0"/>
          <c:showVal val="0"/>
          <c:showCatName val="0"/>
          <c:showSerName val="0"/>
          <c:showPercent val="0"/>
          <c:showBubbleSize val="0"/>
        </c:dLbls>
        <c:gapWidth val="3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txPr>
          <a:bodyPr/>
          <a:lstStyle/>
          <a:p>
            <a:pPr>
              <a:defRPr sz="1050"/>
            </a:pPr>
            <a:endParaRPr lang="en-US"/>
          </a:p>
        </c:txPr>
        <c:crossAx val="-2113994440"/>
        <c:crosses val="autoZero"/>
        <c:auto val="1"/>
        <c:lblAlgn val="ctr"/>
        <c:lblOffset val="100"/>
        <c:tickLblSkip val="1"/>
        <c:tickMarkSkip val="1"/>
        <c:noMultiLvlLbl val="0"/>
      </c:catAx>
      <c:valAx>
        <c:axId val="-2113994440"/>
        <c:scaling>
          <c:orientation val="minMax"/>
          <c:max val="8"/>
          <c:min val="0"/>
        </c:scaling>
        <c:delete val="0"/>
        <c:axPos val="l"/>
        <c:majorGridlines>
          <c:spPr>
            <a:ln w="6350">
              <a:solidFill>
                <a:srgbClr val="D9D9D9"/>
              </a:solidFill>
            </a:ln>
          </c:spPr>
        </c:majorGridlines>
        <c:numFmt formatCode="0.0" sourceLinked="0"/>
        <c:majorTickMark val="out"/>
        <c:minorTickMark val="none"/>
        <c:tickLblPos val="nextTo"/>
        <c:spPr>
          <a:ln>
            <a:noFill/>
          </a:ln>
        </c:spPr>
        <c:crossAx val="-2068027336"/>
        <c:crosses val="autoZero"/>
        <c:crossBetween val="between"/>
        <c:majorUnit val="2"/>
      </c:valAx>
    </c:plotArea>
    <c:plotVisOnly val="1"/>
    <c:dispBlanksAs val="gap"/>
    <c:showDLblsOverMax val="1"/>
  </c:chart>
  <c:txPr>
    <a:bodyPr/>
    <a:lstStyle/>
    <a:p>
      <a:pPr>
        <a:defRPr sz="1100">
          <a:solidFill>
            <a:srgbClr val="000000"/>
          </a:solidFill>
          <a:latin typeface="La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8604330708661415E-2"/>
          <c:y val="0.28032369210271119"/>
          <c:w val="0.93577066929133856"/>
          <c:h val="0.45739936003364018"/>
        </c:manualLayout>
      </c:layout>
      <c:barChart>
        <c:barDir val="col"/>
        <c:grouping val="clustered"/>
        <c:varyColors val="0"/>
        <c:ser>
          <c:idx val="0"/>
          <c:order val="0"/>
          <c:tx>
            <c:strRef>
              <c:f>Sheet1!$B$1</c:f>
              <c:strCache>
                <c:ptCount val="1"/>
                <c:pt idx="0">
                  <c:v>Count of College name</c:v>
                </c:pt>
              </c:strCache>
            </c:strRef>
          </c:tx>
          <c:spPr>
            <a:solidFill>
              <a:schemeClr val="tx1">
                <a:lumMod val="65000"/>
                <a:lumOff val="35000"/>
              </a:schemeClr>
            </a:solidFill>
            <a:ln>
              <a:solidFill>
                <a:schemeClr val="tx1"/>
              </a:solidFill>
            </a:ln>
            <a:effectLst/>
          </c:spPr>
          <c:invertIfNegative val="0"/>
          <c:dPt>
            <c:idx val="11"/>
            <c:invertIfNegative val="0"/>
            <c:bubble3D val="0"/>
            <c:spPr>
              <a:solidFill>
                <a:srgbClr val="C8102E"/>
              </a:solidFill>
              <a:ln>
                <a:noFill/>
              </a:ln>
              <a:effectLst/>
            </c:spPr>
            <c:extLst>
              <c:ext xmlns:c16="http://schemas.microsoft.com/office/drawing/2014/chart" uri="{C3380CC4-5D6E-409C-BE32-E72D297353CC}">
                <c16:uniqueId val="{00000001-E23A-49D4-AED0-BE7C26E401F6}"/>
              </c:ext>
            </c:extLst>
          </c:dPt>
          <c:dLbls>
            <c:dLbl>
              <c:idx val="11"/>
              <c:tx>
                <c:rich>
                  <a:bodyPr/>
                  <a:lstStyle/>
                  <a:p>
                    <a:r>
                      <a:rPr lang="en-US" sz="900" b="1" i="1">
                        <a:solidFill>
                          <a:srgbClr val="C8102E"/>
                        </a:solidFill>
                        <a:latin typeface="Lato"/>
                      </a:rPr>
                      <a:t>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E23A-49D4-AED0-BE7C26E401F6}"/>
                </c:ext>
              </c:extLst>
            </c:dLbl>
            <c:spPr>
              <a:noFill/>
              <a:ln>
                <a:noFill/>
              </a:ln>
              <a:effectLst/>
            </c:spPr>
            <c:txPr>
              <a:bodyPr rot="0" spcFirstLastPara="1" vertOverflow="ellipsis" vert="horz" wrap="square" lIns="38100" tIns="19050" rIns="38100" bIns="19050" anchor="ctr" anchorCtr="1">
                <a:spAutoFit/>
              </a:bodyPr>
              <a:lstStyle/>
              <a:p>
                <a:pPr>
                  <a:defRPr sz="900" b="1" i="1" u="none" strike="noStrike" kern="1200" baseline="0">
                    <a:solidFill>
                      <a:schemeClr val="tx1">
                        <a:lumMod val="75000"/>
                        <a:lumOff val="25000"/>
                      </a:schemeClr>
                    </a:solidFill>
                    <a:latin typeface="Lato" panose="020B0604020202020204" pitchFamily="34" charset="0"/>
                    <a:ea typeface="+mn-ea"/>
                    <a:cs typeface="Arial" panose="020B060402020202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2015</c:v>
                </c:pt>
                <c:pt idx="1">
                  <c:v>2016</c:v>
                </c:pt>
                <c:pt idx="2">
                  <c:v>2017</c:v>
                </c:pt>
                <c:pt idx="3">
                  <c:v>2018</c:v>
                </c:pt>
                <c:pt idx="4">
                  <c:v>2019</c:v>
                </c:pt>
                <c:pt idx="5">
                  <c:v>2020</c:v>
                </c:pt>
                <c:pt idx="6">
                  <c:v>2021</c:v>
                </c:pt>
                <c:pt idx="7">
                  <c:v>2022</c:v>
                </c:pt>
                <c:pt idx="8">
                  <c:v>2023</c:v>
                </c:pt>
                <c:pt idx="9">
                  <c:v>2024</c:v>
                </c:pt>
                <c:pt idx="10">
                  <c:v>2025</c:v>
                </c:pt>
                <c:pt idx="11">
                  <c:v>2026</c:v>
                </c:pt>
              </c:strCache>
            </c:strRef>
          </c:cat>
          <c:val>
            <c:numRef>
              <c:f>Sheet1!$B$2:$B$13</c:f>
              <c:numCache>
                <c:formatCode>General</c:formatCode>
                <c:ptCount val="12"/>
                <c:pt idx="0">
                  <c:v>3</c:v>
                </c:pt>
                <c:pt idx="1">
                  <c:v>4</c:v>
                </c:pt>
                <c:pt idx="2">
                  <c:v>4</c:v>
                </c:pt>
                <c:pt idx="3">
                  <c:v>6</c:v>
                </c:pt>
                <c:pt idx="4">
                  <c:v>5</c:v>
                </c:pt>
                <c:pt idx="5">
                  <c:v>2</c:v>
                </c:pt>
                <c:pt idx="6">
                  <c:v>2</c:v>
                </c:pt>
                <c:pt idx="7">
                  <c:v>3</c:v>
                </c:pt>
                <c:pt idx="8">
                  <c:v>15</c:v>
                </c:pt>
                <c:pt idx="9">
                  <c:v>16</c:v>
                </c:pt>
                <c:pt idx="10">
                  <c:v>16</c:v>
                </c:pt>
                <c:pt idx="11">
                  <c:v>6</c:v>
                </c:pt>
              </c:numCache>
            </c:numRef>
          </c:val>
          <c:extLst>
            <c:ext xmlns:c16="http://schemas.microsoft.com/office/drawing/2014/chart" uri="{C3380CC4-5D6E-409C-BE32-E72D297353CC}">
              <c16:uniqueId val="{00000000-BB0A-4706-B929-D227A9767ACC}"/>
            </c:ext>
          </c:extLst>
        </c:ser>
        <c:dLbls>
          <c:showLegendKey val="0"/>
          <c:showVal val="0"/>
          <c:showCatName val="0"/>
          <c:showSerName val="0"/>
          <c:showPercent val="0"/>
          <c:showBubbleSize val="0"/>
        </c:dLbls>
        <c:gapWidth val="59"/>
        <c:overlap val="-27"/>
        <c:axId val="953437343"/>
        <c:axId val="953439263"/>
      </c:barChart>
      <c:catAx>
        <c:axId val="953437343"/>
        <c:scaling>
          <c:orientation val="minMax"/>
        </c:scaling>
        <c:delete val="0"/>
        <c:axPos val="b"/>
        <c:numFmt formatCode="General" sourceLinked="1"/>
        <c:majorTickMark val="out"/>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900" b="0" i="0" u="none" strike="noStrike" kern="1200" baseline="0">
                <a:solidFill>
                  <a:schemeClr val="tx1"/>
                </a:solidFill>
                <a:latin typeface="Lato" panose="020B0604020202020204" pitchFamily="34" charset="0"/>
                <a:ea typeface="+mn-ea"/>
                <a:cs typeface="Arial" panose="020B0604020202020204" pitchFamily="34" charset="0"/>
              </a:defRPr>
            </a:pPr>
            <a:endParaRPr lang="en-US"/>
          </a:p>
        </c:txPr>
        <c:crossAx val="953439263"/>
        <c:crosses val="autoZero"/>
        <c:auto val="1"/>
        <c:lblAlgn val="ctr"/>
        <c:lblOffset val="100"/>
        <c:noMultiLvlLbl val="0"/>
      </c:catAx>
      <c:valAx>
        <c:axId val="953439263"/>
        <c:scaling>
          <c:orientation val="minMax"/>
          <c:max val="16"/>
          <c:min val="0"/>
        </c:scaling>
        <c:delete val="0"/>
        <c:axPos val="l"/>
        <c:numFmt formatCode="General" sourceLinked="1"/>
        <c:majorTickMark val="out"/>
        <c:minorTickMark val="none"/>
        <c:tickLblPos val="nextTo"/>
        <c:spPr>
          <a:noFill/>
          <a:ln>
            <a:solidFill>
              <a:schemeClr val="tx1"/>
            </a:solidFill>
          </a:ln>
          <a:effectLst/>
        </c:spPr>
        <c:txPr>
          <a:bodyPr rot="-60000000" spcFirstLastPara="1" vertOverflow="ellipsis" vert="horz" wrap="square" anchor="ctr" anchorCtr="1"/>
          <a:lstStyle/>
          <a:p>
            <a:pPr>
              <a:defRPr sz="900" b="0" i="0" u="none" strike="noStrike" kern="1200" baseline="0">
                <a:solidFill>
                  <a:schemeClr val="tx1"/>
                </a:solidFill>
                <a:latin typeface="Lato" panose="020B0604020202020204" pitchFamily="34" charset="0"/>
                <a:ea typeface="+mn-ea"/>
                <a:cs typeface="Arial" panose="020B0604020202020204" pitchFamily="34" charset="0"/>
              </a:defRPr>
            </a:pPr>
            <a:endParaRPr lang="en-US"/>
          </a:p>
        </c:txPr>
        <c:crossAx val="953437343"/>
        <c:crosses val="autoZero"/>
        <c:crossBetween val="between"/>
        <c:majorUnit val="4"/>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a:solidFill>
        <a:schemeClr val="accent1"/>
      </a:solidFill>
    </a:ln>
    <a:effectLst>
      <a:outerShdw blurRad="50800" dist="38100" dir="2700000" algn="tl" rotWithShape="0">
        <a:prstClr val="black">
          <a:alpha val="40000"/>
        </a:prstClr>
      </a:outerShdw>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12"/>
          <c:w val="0.92500000000000004"/>
          <c:h val="0.72"/>
        </c:manualLayout>
      </c:layout>
      <c:lineChart>
        <c:grouping val="standard"/>
        <c:varyColors val="0"/>
        <c:ser>
          <c:idx val="0"/>
          <c:order val="0"/>
          <c:tx>
            <c:strRef>
              <c:f>Sheet1!$B$1</c:f>
              <c:strCache>
                <c:ptCount val="1"/>
                <c:pt idx="0">
                  <c:v>Federal government</c:v>
                </c:pt>
              </c:strCache>
            </c:strRef>
          </c:tx>
          <c:spPr>
            <a:ln w="38100">
              <a:solidFill>
                <a:srgbClr val="C8102E"/>
              </a:solidFill>
            </a:ln>
          </c:spPr>
          <c:marker>
            <c:symbol val="none"/>
          </c:marker>
          <c:dLbls>
            <c:dLbl>
              <c:idx val="11"/>
              <c:tx>
                <c:rich>
                  <a:bodyPr/>
                  <a:lstStyle/>
                  <a:p>
                    <a:r>
                      <a:rPr lang="en-US" sz="1100" b="1">
                        <a:solidFill>
                          <a:srgbClr val="C8102E"/>
                        </a:solidFill>
                        <a:latin typeface="Lato"/>
                      </a:rPr>
                      <a:t>1.9% (1964)</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B696-46FE-AB54-D33376F9A0A5}"/>
                </c:ext>
              </c:extLst>
            </c:dLbl>
            <c:dLbl>
              <c:idx val="71"/>
              <c:tx>
                <c:rich>
                  <a:bodyPr/>
                  <a:lstStyle/>
                  <a:p>
                    <a:r>
                      <a:rPr lang="en-US" sz="1100" b="1">
                        <a:solidFill>
                          <a:srgbClr val="C8102E"/>
                        </a:solidFill>
                        <a:latin typeface="Lato"/>
                      </a:rPr>
                      <a:t>0.6%</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B696-46FE-AB54-D33376F9A0A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Sheet1!$A$2:$A$73</c:f>
              <c:strCache>
                <c:ptCount val="72"/>
                <c:pt idx="0">
                  <c:v>1953</c:v>
                </c:pt>
                <c:pt idx="1">
                  <c:v>1954</c:v>
                </c:pt>
                <c:pt idx="2">
                  <c:v>1955</c:v>
                </c:pt>
                <c:pt idx="3">
                  <c:v>1956</c:v>
                </c:pt>
                <c:pt idx="4">
                  <c:v>1957</c:v>
                </c:pt>
                <c:pt idx="5">
                  <c:v>1958</c:v>
                </c:pt>
                <c:pt idx="6">
                  <c:v>1959</c:v>
                </c:pt>
                <c:pt idx="7">
                  <c:v>1960</c:v>
                </c:pt>
                <c:pt idx="8">
                  <c:v>1961</c:v>
                </c:pt>
                <c:pt idx="9">
                  <c:v>1962</c:v>
                </c:pt>
                <c:pt idx="10">
                  <c:v>1963</c:v>
                </c:pt>
                <c:pt idx="11">
                  <c:v>1964</c:v>
                </c:pt>
                <c:pt idx="12">
                  <c:v>1965</c:v>
                </c:pt>
                <c:pt idx="13">
                  <c:v>1966</c:v>
                </c:pt>
                <c:pt idx="14">
                  <c:v>1967</c:v>
                </c:pt>
                <c:pt idx="15">
                  <c:v>1968</c:v>
                </c:pt>
                <c:pt idx="16">
                  <c:v>1969</c:v>
                </c:pt>
                <c:pt idx="17">
                  <c:v>1970</c:v>
                </c:pt>
                <c:pt idx="18">
                  <c:v>1971</c:v>
                </c:pt>
                <c:pt idx="19">
                  <c:v>1972</c:v>
                </c:pt>
                <c:pt idx="20">
                  <c:v>1973</c:v>
                </c:pt>
                <c:pt idx="21">
                  <c:v>1974</c:v>
                </c:pt>
                <c:pt idx="22">
                  <c:v>1975</c:v>
                </c:pt>
                <c:pt idx="23">
                  <c:v>1976</c:v>
                </c:pt>
                <c:pt idx="24">
                  <c:v>1977</c:v>
                </c:pt>
                <c:pt idx="25">
                  <c:v>1978</c:v>
                </c:pt>
                <c:pt idx="26">
                  <c:v>1979</c:v>
                </c:pt>
                <c:pt idx="27">
                  <c:v>1980</c:v>
                </c:pt>
                <c:pt idx="28">
                  <c:v>1981</c:v>
                </c:pt>
                <c:pt idx="29">
                  <c:v>1982</c:v>
                </c:pt>
                <c:pt idx="30">
                  <c:v>1983</c:v>
                </c:pt>
                <c:pt idx="31">
                  <c:v>1984</c:v>
                </c:pt>
                <c:pt idx="32">
                  <c:v>1985</c:v>
                </c:pt>
                <c:pt idx="33">
                  <c:v>1986</c:v>
                </c:pt>
                <c:pt idx="34">
                  <c:v>1987</c:v>
                </c:pt>
                <c:pt idx="35">
                  <c:v>1988</c:v>
                </c:pt>
                <c:pt idx="36">
                  <c:v>1989</c:v>
                </c:pt>
                <c:pt idx="37">
                  <c:v>1990</c:v>
                </c:pt>
                <c:pt idx="38">
                  <c:v>1991</c:v>
                </c:pt>
                <c:pt idx="39">
                  <c:v>1992</c:v>
                </c:pt>
                <c:pt idx="40">
                  <c:v>1993</c:v>
                </c:pt>
                <c:pt idx="41">
                  <c:v>1994</c:v>
                </c:pt>
                <c:pt idx="42">
                  <c:v>1995</c:v>
                </c:pt>
                <c:pt idx="43">
                  <c:v>1996</c:v>
                </c:pt>
                <c:pt idx="44">
                  <c:v>1997</c:v>
                </c:pt>
                <c:pt idx="45">
                  <c:v>1998</c:v>
                </c:pt>
                <c:pt idx="46">
                  <c:v>1999</c:v>
                </c:pt>
                <c:pt idx="47">
                  <c:v>2000</c:v>
                </c:pt>
                <c:pt idx="48">
                  <c:v>2001</c:v>
                </c:pt>
                <c:pt idx="49">
                  <c:v>2002</c:v>
                </c:pt>
                <c:pt idx="50">
                  <c:v>2003</c:v>
                </c:pt>
                <c:pt idx="51">
                  <c:v>2004</c:v>
                </c:pt>
                <c:pt idx="52">
                  <c:v>2005</c:v>
                </c:pt>
                <c:pt idx="53">
                  <c:v>2006</c:v>
                </c:pt>
                <c:pt idx="54">
                  <c:v>2007</c:v>
                </c:pt>
                <c:pt idx="55">
                  <c:v>2008</c:v>
                </c:pt>
                <c:pt idx="56">
                  <c:v>2009</c:v>
                </c:pt>
                <c:pt idx="57">
                  <c:v>2010</c:v>
                </c:pt>
                <c:pt idx="58">
                  <c:v>2011</c:v>
                </c:pt>
                <c:pt idx="59">
                  <c:v>2012</c:v>
                </c:pt>
                <c:pt idx="60">
                  <c:v>2013</c:v>
                </c:pt>
                <c:pt idx="61">
                  <c:v>2014</c:v>
                </c:pt>
                <c:pt idx="62">
                  <c:v>2015</c:v>
                </c:pt>
                <c:pt idx="63">
                  <c:v>2016</c:v>
                </c:pt>
                <c:pt idx="64">
                  <c:v>2017</c:v>
                </c:pt>
                <c:pt idx="65">
                  <c:v>2018</c:v>
                </c:pt>
                <c:pt idx="66">
                  <c:v>2019</c:v>
                </c:pt>
                <c:pt idx="67">
                  <c:v>2020</c:v>
                </c:pt>
                <c:pt idx="68">
                  <c:v>2021</c:v>
                </c:pt>
                <c:pt idx="69">
                  <c:v>2022</c:v>
                </c:pt>
                <c:pt idx="70">
                  <c:v>2023</c:v>
                </c:pt>
                <c:pt idx="71">
                  <c:v>2024</c:v>
                </c:pt>
              </c:strCache>
            </c:strRef>
          </c:cat>
          <c:val>
            <c:numRef>
              <c:f>Sheet1!$B$2:$B$73</c:f>
              <c:numCache>
                <c:formatCode>General</c:formatCode>
                <c:ptCount val="72"/>
                <c:pt idx="0">
                  <c:v>7.0999999999999995E-3</c:v>
                </c:pt>
                <c:pt idx="1">
                  <c:v>7.9000000000000008E-3</c:v>
                </c:pt>
                <c:pt idx="2">
                  <c:v>8.199999999999999E-3</c:v>
                </c:pt>
                <c:pt idx="3">
                  <c:v>1.11E-2</c:v>
                </c:pt>
                <c:pt idx="4">
                  <c:v>1.3100000000000001E-2</c:v>
                </c:pt>
                <c:pt idx="5">
                  <c:v>1.4499999999999999E-2</c:v>
                </c:pt>
                <c:pt idx="6">
                  <c:v>1.5700000000000002E-2</c:v>
                </c:pt>
                <c:pt idx="7">
                  <c:v>1.6399999999999998E-2</c:v>
                </c:pt>
                <c:pt idx="8">
                  <c:v>1.6899999999999998E-2</c:v>
                </c:pt>
                <c:pt idx="9">
                  <c:v>1.6799999999999999E-2</c:v>
                </c:pt>
                <c:pt idx="10">
                  <c:v>1.83E-2</c:v>
                </c:pt>
                <c:pt idx="11">
                  <c:v>1.8600000000000002E-2</c:v>
                </c:pt>
                <c:pt idx="12">
                  <c:v>1.78E-2</c:v>
                </c:pt>
                <c:pt idx="13">
                  <c:v>1.7399999999999999E-2</c:v>
                </c:pt>
                <c:pt idx="14">
                  <c:v>1.6899999999999998E-2</c:v>
                </c:pt>
                <c:pt idx="15">
                  <c:v>1.5900000000000001E-2</c:v>
                </c:pt>
                <c:pt idx="16">
                  <c:v>1.4999999999999999E-2</c:v>
                </c:pt>
                <c:pt idx="17">
                  <c:v>1.3999999999999999E-2</c:v>
                </c:pt>
                <c:pt idx="18">
                  <c:v>1.3100000000000001E-2</c:v>
                </c:pt>
                <c:pt idx="19">
                  <c:v>1.2500000000000001E-2</c:v>
                </c:pt>
                <c:pt idx="20">
                  <c:v>1.1599999999999999E-2</c:v>
                </c:pt>
                <c:pt idx="21">
                  <c:v>1.1200000000000002E-2</c:v>
                </c:pt>
                <c:pt idx="22">
                  <c:v>1.1000000000000001E-2</c:v>
                </c:pt>
                <c:pt idx="23">
                  <c:v>1.0800000000000001E-2</c:v>
                </c:pt>
                <c:pt idx="24">
                  <c:v>1.06E-2</c:v>
                </c:pt>
                <c:pt idx="25">
                  <c:v>1.04E-2</c:v>
                </c:pt>
                <c:pt idx="26">
                  <c:v>1.04E-2</c:v>
                </c:pt>
                <c:pt idx="27">
                  <c:v>1.0500000000000001E-2</c:v>
                </c:pt>
                <c:pt idx="28">
                  <c:v>1.0500000000000001E-2</c:v>
                </c:pt>
                <c:pt idx="29">
                  <c:v>1.11E-2</c:v>
                </c:pt>
                <c:pt idx="30">
                  <c:v>1.1399999999999999E-2</c:v>
                </c:pt>
                <c:pt idx="31">
                  <c:v>1.15E-2</c:v>
                </c:pt>
                <c:pt idx="32">
                  <c:v>1.21E-2</c:v>
                </c:pt>
                <c:pt idx="33">
                  <c:v>1.1899999999999999E-2</c:v>
                </c:pt>
                <c:pt idx="34">
                  <c:v>1.21E-2</c:v>
                </c:pt>
                <c:pt idx="35">
                  <c:v>1.15E-2</c:v>
                </c:pt>
                <c:pt idx="36">
                  <c:v>1.0700000000000001E-2</c:v>
                </c:pt>
                <c:pt idx="37">
                  <c:v>1.03E-2</c:v>
                </c:pt>
                <c:pt idx="38">
                  <c:v>9.8999999999999991E-3</c:v>
                </c:pt>
                <c:pt idx="39">
                  <c:v>9.300000000000001E-3</c:v>
                </c:pt>
                <c:pt idx="40">
                  <c:v>8.8000000000000005E-3</c:v>
                </c:pt>
                <c:pt idx="41">
                  <c:v>8.3000000000000001E-3</c:v>
                </c:pt>
                <c:pt idx="42">
                  <c:v>8.199999999999999E-3</c:v>
                </c:pt>
                <c:pt idx="43">
                  <c:v>7.9000000000000008E-3</c:v>
                </c:pt>
                <c:pt idx="44">
                  <c:v>7.4999999999999997E-3</c:v>
                </c:pt>
                <c:pt idx="45">
                  <c:v>7.3000000000000001E-3</c:v>
                </c:pt>
                <c:pt idx="46">
                  <c:v>6.8999999999999999E-3</c:v>
                </c:pt>
                <c:pt idx="47">
                  <c:v>6.6E-3</c:v>
                </c:pt>
                <c:pt idx="48">
                  <c:v>6.9999999999999993E-3</c:v>
                </c:pt>
                <c:pt idx="49">
                  <c:v>7.1999999999999998E-3</c:v>
                </c:pt>
                <c:pt idx="50">
                  <c:v>7.4000000000000003E-3</c:v>
                </c:pt>
                <c:pt idx="51">
                  <c:v>7.4000000000000003E-3</c:v>
                </c:pt>
                <c:pt idx="52">
                  <c:v>7.3000000000000001E-3</c:v>
                </c:pt>
                <c:pt idx="53">
                  <c:v>7.1999999999999998E-3</c:v>
                </c:pt>
                <c:pt idx="54">
                  <c:v>7.3000000000000001E-3</c:v>
                </c:pt>
                <c:pt idx="55">
                  <c:v>8.0000000000000002E-3</c:v>
                </c:pt>
                <c:pt idx="56">
                  <c:v>8.6999999999999994E-3</c:v>
                </c:pt>
                <c:pt idx="57">
                  <c:v>8.3999999999999995E-3</c:v>
                </c:pt>
                <c:pt idx="58">
                  <c:v>8.1000000000000013E-3</c:v>
                </c:pt>
                <c:pt idx="59">
                  <c:v>7.6E-3</c:v>
                </c:pt>
                <c:pt idx="60">
                  <c:v>7.0999999999999995E-3</c:v>
                </c:pt>
                <c:pt idx="61">
                  <c:v>6.7000000000000002E-3</c:v>
                </c:pt>
                <c:pt idx="62">
                  <c:v>6.5000000000000006E-3</c:v>
                </c:pt>
                <c:pt idx="63">
                  <c:v>6.3E-3</c:v>
                </c:pt>
                <c:pt idx="64">
                  <c:v>6.1999999999999998E-3</c:v>
                </c:pt>
                <c:pt idx="65">
                  <c:v>6.3E-3</c:v>
                </c:pt>
                <c:pt idx="66">
                  <c:v>6.3E-3</c:v>
                </c:pt>
                <c:pt idx="67">
                  <c:v>6.8999999999999999E-3</c:v>
                </c:pt>
                <c:pt idx="68">
                  <c:v>6.1999999999999998E-3</c:v>
                </c:pt>
                <c:pt idx="69">
                  <c:v>6.3E-3</c:v>
                </c:pt>
                <c:pt idx="70">
                  <c:v>6.1999999999999998E-3</c:v>
                </c:pt>
                <c:pt idx="71">
                  <c:v>6.3E-3</c:v>
                </c:pt>
              </c:numCache>
            </c:numRef>
          </c:val>
          <c:smooth val="0"/>
          <c:extLst>
            <c:ext xmlns:c16="http://schemas.microsoft.com/office/drawing/2014/chart" uri="{C3380CC4-5D6E-409C-BE32-E72D297353CC}">
              <c16:uniqueId val="{00000002-B696-46FE-AB54-D33376F9A0A5}"/>
            </c:ext>
          </c:extLst>
        </c:ser>
        <c:ser>
          <c:idx val="1"/>
          <c:order val="1"/>
          <c:tx>
            <c:strRef>
              <c:f>Sheet1!$C$1</c:f>
              <c:strCache>
                <c:ptCount val="1"/>
                <c:pt idx="0">
                  <c:v>Business, universities and other nonfederal</c:v>
                </c:pt>
              </c:strCache>
            </c:strRef>
          </c:tx>
          <c:spPr>
            <a:ln w="38100">
              <a:solidFill>
                <a:srgbClr val="000000"/>
              </a:solidFill>
            </a:ln>
          </c:spPr>
          <c:marker>
            <c:symbol val="none"/>
          </c:marker>
          <c:dLbls>
            <c:dLbl>
              <c:idx val="71"/>
              <c:tx>
                <c:rich>
                  <a:bodyPr/>
                  <a:lstStyle/>
                  <a:p>
                    <a:r>
                      <a:rPr lang="en-US" sz="1100" b="1">
                        <a:solidFill>
                          <a:srgbClr val="000000"/>
                        </a:solidFill>
                        <a:latin typeface="Lato"/>
                      </a:rPr>
                      <a:t>2.8%</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B696-46FE-AB54-D33376F9A0A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Sheet1!$A$2:$A$73</c:f>
              <c:strCache>
                <c:ptCount val="72"/>
                <c:pt idx="0">
                  <c:v>1953</c:v>
                </c:pt>
                <c:pt idx="1">
                  <c:v>1954</c:v>
                </c:pt>
                <c:pt idx="2">
                  <c:v>1955</c:v>
                </c:pt>
                <c:pt idx="3">
                  <c:v>1956</c:v>
                </c:pt>
                <c:pt idx="4">
                  <c:v>1957</c:v>
                </c:pt>
                <c:pt idx="5">
                  <c:v>1958</c:v>
                </c:pt>
                <c:pt idx="6">
                  <c:v>1959</c:v>
                </c:pt>
                <c:pt idx="7">
                  <c:v>1960</c:v>
                </c:pt>
                <c:pt idx="8">
                  <c:v>1961</c:v>
                </c:pt>
                <c:pt idx="9">
                  <c:v>1962</c:v>
                </c:pt>
                <c:pt idx="10">
                  <c:v>1963</c:v>
                </c:pt>
                <c:pt idx="11">
                  <c:v>1964</c:v>
                </c:pt>
                <c:pt idx="12">
                  <c:v>1965</c:v>
                </c:pt>
                <c:pt idx="13">
                  <c:v>1966</c:v>
                </c:pt>
                <c:pt idx="14">
                  <c:v>1967</c:v>
                </c:pt>
                <c:pt idx="15">
                  <c:v>1968</c:v>
                </c:pt>
                <c:pt idx="16">
                  <c:v>1969</c:v>
                </c:pt>
                <c:pt idx="17">
                  <c:v>1970</c:v>
                </c:pt>
                <c:pt idx="18">
                  <c:v>1971</c:v>
                </c:pt>
                <c:pt idx="19">
                  <c:v>1972</c:v>
                </c:pt>
                <c:pt idx="20">
                  <c:v>1973</c:v>
                </c:pt>
                <c:pt idx="21">
                  <c:v>1974</c:v>
                </c:pt>
                <c:pt idx="22">
                  <c:v>1975</c:v>
                </c:pt>
                <c:pt idx="23">
                  <c:v>1976</c:v>
                </c:pt>
                <c:pt idx="24">
                  <c:v>1977</c:v>
                </c:pt>
                <c:pt idx="25">
                  <c:v>1978</c:v>
                </c:pt>
                <c:pt idx="26">
                  <c:v>1979</c:v>
                </c:pt>
                <c:pt idx="27">
                  <c:v>1980</c:v>
                </c:pt>
                <c:pt idx="28">
                  <c:v>1981</c:v>
                </c:pt>
                <c:pt idx="29">
                  <c:v>1982</c:v>
                </c:pt>
                <c:pt idx="30">
                  <c:v>1983</c:v>
                </c:pt>
                <c:pt idx="31">
                  <c:v>1984</c:v>
                </c:pt>
                <c:pt idx="32">
                  <c:v>1985</c:v>
                </c:pt>
                <c:pt idx="33">
                  <c:v>1986</c:v>
                </c:pt>
                <c:pt idx="34">
                  <c:v>1987</c:v>
                </c:pt>
                <c:pt idx="35">
                  <c:v>1988</c:v>
                </c:pt>
                <c:pt idx="36">
                  <c:v>1989</c:v>
                </c:pt>
                <c:pt idx="37">
                  <c:v>1990</c:v>
                </c:pt>
                <c:pt idx="38">
                  <c:v>1991</c:v>
                </c:pt>
                <c:pt idx="39">
                  <c:v>1992</c:v>
                </c:pt>
                <c:pt idx="40">
                  <c:v>1993</c:v>
                </c:pt>
                <c:pt idx="41">
                  <c:v>1994</c:v>
                </c:pt>
                <c:pt idx="42">
                  <c:v>1995</c:v>
                </c:pt>
                <c:pt idx="43">
                  <c:v>1996</c:v>
                </c:pt>
                <c:pt idx="44">
                  <c:v>1997</c:v>
                </c:pt>
                <c:pt idx="45">
                  <c:v>1998</c:v>
                </c:pt>
                <c:pt idx="46">
                  <c:v>1999</c:v>
                </c:pt>
                <c:pt idx="47">
                  <c:v>2000</c:v>
                </c:pt>
                <c:pt idx="48">
                  <c:v>2001</c:v>
                </c:pt>
                <c:pt idx="49">
                  <c:v>2002</c:v>
                </c:pt>
                <c:pt idx="50">
                  <c:v>2003</c:v>
                </c:pt>
                <c:pt idx="51">
                  <c:v>2004</c:v>
                </c:pt>
                <c:pt idx="52">
                  <c:v>2005</c:v>
                </c:pt>
                <c:pt idx="53">
                  <c:v>2006</c:v>
                </c:pt>
                <c:pt idx="54">
                  <c:v>2007</c:v>
                </c:pt>
                <c:pt idx="55">
                  <c:v>2008</c:v>
                </c:pt>
                <c:pt idx="56">
                  <c:v>2009</c:v>
                </c:pt>
                <c:pt idx="57">
                  <c:v>2010</c:v>
                </c:pt>
                <c:pt idx="58">
                  <c:v>2011</c:v>
                </c:pt>
                <c:pt idx="59">
                  <c:v>2012</c:v>
                </c:pt>
                <c:pt idx="60">
                  <c:v>2013</c:v>
                </c:pt>
                <c:pt idx="61">
                  <c:v>2014</c:v>
                </c:pt>
                <c:pt idx="62">
                  <c:v>2015</c:v>
                </c:pt>
                <c:pt idx="63">
                  <c:v>2016</c:v>
                </c:pt>
                <c:pt idx="64">
                  <c:v>2017</c:v>
                </c:pt>
                <c:pt idx="65">
                  <c:v>2018</c:v>
                </c:pt>
                <c:pt idx="66">
                  <c:v>2019</c:v>
                </c:pt>
                <c:pt idx="67">
                  <c:v>2020</c:v>
                </c:pt>
                <c:pt idx="68">
                  <c:v>2021</c:v>
                </c:pt>
                <c:pt idx="69">
                  <c:v>2022</c:v>
                </c:pt>
                <c:pt idx="70">
                  <c:v>2023</c:v>
                </c:pt>
                <c:pt idx="71">
                  <c:v>2024</c:v>
                </c:pt>
              </c:strCache>
            </c:strRef>
          </c:cat>
          <c:val>
            <c:numRef>
              <c:f>Sheet1!$C$2:$C$73</c:f>
              <c:numCache>
                <c:formatCode>General</c:formatCode>
                <c:ptCount val="72"/>
                <c:pt idx="0">
                  <c:v>6.0999999999999995E-3</c:v>
                </c:pt>
                <c:pt idx="1">
                  <c:v>6.5000000000000006E-3</c:v>
                </c:pt>
                <c:pt idx="2">
                  <c:v>6.3E-3</c:v>
                </c:pt>
                <c:pt idx="3">
                  <c:v>7.8000000000000005E-3</c:v>
                </c:pt>
                <c:pt idx="4">
                  <c:v>7.7000000000000002E-3</c:v>
                </c:pt>
                <c:pt idx="5">
                  <c:v>8.2000000000000007E-3</c:v>
                </c:pt>
                <c:pt idx="6">
                  <c:v>8.3000000000000001E-3</c:v>
                </c:pt>
                <c:pt idx="7">
                  <c:v>8.8000000000000005E-3</c:v>
                </c:pt>
                <c:pt idx="8">
                  <c:v>9.0999999999999987E-3</c:v>
                </c:pt>
                <c:pt idx="9">
                  <c:v>9.0999999999999987E-3</c:v>
                </c:pt>
                <c:pt idx="10">
                  <c:v>9.2999999999999992E-3</c:v>
                </c:pt>
                <c:pt idx="11">
                  <c:v>9.2999999999999992E-3</c:v>
                </c:pt>
                <c:pt idx="12">
                  <c:v>9.4999999999999998E-3</c:v>
                </c:pt>
                <c:pt idx="13">
                  <c:v>9.7000000000000003E-3</c:v>
                </c:pt>
                <c:pt idx="14">
                  <c:v>1.0200000000000001E-2</c:v>
                </c:pt>
                <c:pt idx="15">
                  <c:v>1.03E-2</c:v>
                </c:pt>
                <c:pt idx="16">
                  <c:v>1.0500000000000001E-2</c:v>
                </c:pt>
                <c:pt idx="17">
                  <c:v>1.0500000000000001E-2</c:v>
                </c:pt>
                <c:pt idx="18">
                  <c:v>1.01E-2</c:v>
                </c:pt>
                <c:pt idx="19">
                  <c:v>0.01</c:v>
                </c:pt>
                <c:pt idx="20">
                  <c:v>0.01</c:v>
                </c:pt>
                <c:pt idx="21">
                  <c:v>1.04E-2</c:v>
                </c:pt>
                <c:pt idx="22">
                  <c:v>1.0200000000000001E-2</c:v>
                </c:pt>
                <c:pt idx="23">
                  <c:v>1.0200000000000001E-2</c:v>
                </c:pt>
                <c:pt idx="24">
                  <c:v>1.0200000000000001E-2</c:v>
                </c:pt>
                <c:pt idx="25">
                  <c:v>1.03E-2</c:v>
                </c:pt>
                <c:pt idx="26">
                  <c:v>1.0700000000000001E-2</c:v>
                </c:pt>
                <c:pt idx="27">
                  <c:v>1.1600000000000001E-2</c:v>
                </c:pt>
                <c:pt idx="28">
                  <c:v>1.2000000000000002E-2</c:v>
                </c:pt>
                <c:pt idx="29">
                  <c:v>1.3100000000000001E-2</c:v>
                </c:pt>
                <c:pt idx="30">
                  <c:v>1.34E-2</c:v>
                </c:pt>
                <c:pt idx="31">
                  <c:v>1.3800000000000002E-2</c:v>
                </c:pt>
                <c:pt idx="32">
                  <c:v>1.4300000000000002E-2</c:v>
                </c:pt>
                <c:pt idx="33">
                  <c:v>1.4300000000000002E-2</c:v>
                </c:pt>
                <c:pt idx="34">
                  <c:v>1.4000000000000002E-2</c:v>
                </c:pt>
                <c:pt idx="35">
                  <c:v>1.4100000000000001E-2</c:v>
                </c:pt>
                <c:pt idx="36">
                  <c:v>1.4400000000000001E-2</c:v>
                </c:pt>
                <c:pt idx="37">
                  <c:v>1.52E-2</c:v>
                </c:pt>
                <c:pt idx="38">
                  <c:v>1.6299999999999999E-2</c:v>
                </c:pt>
                <c:pt idx="39">
                  <c:v>1.61E-2</c:v>
                </c:pt>
                <c:pt idx="40">
                  <c:v>1.54E-2</c:v>
                </c:pt>
                <c:pt idx="41">
                  <c:v>1.4900000000000002E-2</c:v>
                </c:pt>
                <c:pt idx="42">
                  <c:v>1.5800000000000002E-2</c:v>
                </c:pt>
                <c:pt idx="43">
                  <c:v>1.66E-2</c:v>
                </c:pt>
                <c:pt idx="44">
                  <c:v>1.7200000000000003E-2</c:v>
                </c:pt>
                <c:pt idx="45">
                  <c:v>1.7599999999999998E-2</c:v>
                </c:pt>
                <c:pt idx="46">
                  <c:v>1.8500000000000003E-2</c:v>
                </c:pt>
                <c:pt idx="47">
                  <c:v>1.9500000000000003E-2</c:v>
                </c:pt>
                <c:pt idx="48">
                  <c:v>1.9299999999999998E-2</c:v>
                </c:pt>
                <c:pt idx="49">
                  <c:v>1.8199999999999997E-2</c:v>
                </c:pt>
                <c:pt idx="50">
                  <c:v>1.8099999999999998E-2</c:v>
                </c:pt>
                <c:pt idx="51">
                  <c:v>1.7399999999999999E-2</c:v>
                </c:pt>
                <c:pt idx="52">
                  <c:v>1.7600000000000001E-2</c:v>
                </c:pt>
                <c:pt idx="53">
                  <c:v>1.8099999999999998E-2</c:v>
                </c:pt>
                <c:pt idx="54">
                  <c:v>1.89E-2</c:v>
                </c:pt>
                <c:pt idx="55">
                  <c:v>1.95E-2</c:v>
                </c:pt>
                <c:pt idx="56">
                  <c:v>1.9099999999999999E-2</c:v>
                </c:pt>
                <c:pt idx="57">
                  <c:v>1.8599999999999998E-2</c:v>
                </c:pt>
                <c:pt idx="58">
                  <c:v>1.9199999999999998E-2</c:v>
                </c:pt>
                <c:pt idx="59">
                  <c:v>1.9099999999999999E-2</c:v>
                </c:pt>
                <c:pt idx="60">
                  <c:v>1.9799999999999998E-2</c:v>
                </c:pt>
                <c:pt idx="61">
                  <c:v>2.0300000000000002E-2</c:v>
                </c:pt>
                <c:pt idx="62">
                  <c:v>2.0400000000000001E-2</c:v>
                </c:pt>
                <c:pt idx="63">
                  <c:v>2.1499999999999998E-2</c:v>
                </c:pt>
                <c:pt idx="64">
                  <c:v>2.2000000000000002E-2</c:v>
                </c:pt>
                <c:pt idx="65">
                  <c:v>2.2800000000000001E-2</c:v>
                </c:pt>
                <c:pt idx="66">
                  <c:v>2.4600000000000004E-2</c:v>
                </c:pt>
                <c:pt idx="67">
                  <c:v>2.6500000000000003E-2</c:v>
                </c:pt>
                <c:pt idx="68">
                  <c:v>2.7000000000000003E-2</c:v>
                </c:pt>
                <c:pt idx="69">
                  <c:v>2.7900000000000001E-2</c:v>
                </c:pt>
                <c:pt idx="70">
                  <c:v>2.75E-2</c:v>
                </c:pt>
                <c:pt idx="71">
                  <c:v>2.7600000000000003E-2</c:v>
                </c:pt>
              </c:numCache>
            </c:numRef>
          </c:val>
          <c:smooth val="0"/>
          <c:extLst>
            <c:ext xmlns:c16="http://schemas.microsoft.com/office/drawing/2014/chart" uri="{C3380CC4-5D6E-409C-BE32-E72D297353CC}">
              <c16:uniqueId val="{00000004-B696-46FE-AB54-D33376F9A0A5}"/>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000000"/>
            </a:solidFill>
          </a:ln>
        </c:spPr>
        <c:crossAx val="2140495176"/>
        <c:crosses val="autoZero"/>
        <c:auto val="1"/>
        <c:lblAlgn val="ctr"/>
        <c:lblOffset val="100"/>
        <c:tickLblSkip val="4"/>
        <c:tickMarkSkip val="4"/>
        <c:noMultiLvlLbl val="0"/>
      </c:catAx>
      <c:valAx>
        <c:axId val="2140495176"/>
        <c:scaling>
          <c:orientation val="minMax"/>
          <c:max val="3.2000000000000001E-2"/>
          <c:min val="0"/>
        </c:scaling>
        <c:delete val="0"/>
        <c:axPos val="l"/>
        <c:majorGridlines>
          <c:spPr>
            <a:ln w="6350">
              <a:solidFill>
                <a:srgbClr val="D9D9D9"/>
              </a:solidFill>
            </a:ln>
          </c:spPr>
        </c:majorGridlines>
        <c:numFmt formatCode="0.0%" sourceLinked="0"/>
        <c:majorTickMark val="out"/>
        <c:minorTickMark val="none"/>
        <c:tickLblPos val="nextTo"/>
        <c:spPr>
          <a:ln>
            <a:noFill/>
          </a:ln>
        </c:spPr>
        <c:crossAx val="2118791784"/>
        <c:crosses val="autoZero"/>
        <c:crossBetween val="between"/>
        <c:majorUnit val="4.0000000000000001E-3"/>
      </c:valAx>
    </c:plotArea>
    <c:legend>
      <c:legendPos val="t"/>
      <c:overlay val="0"/>
      <c:txPr>
        <a:bodyPr/>
        <a:lstStyle/>
        <a:p>
          <a:pPr>
            <a:defRPr sz="1200"/>
          </a:pPr>
          <a:endParaRPr lang="en-US"/>
        </a:p>
      </c:txPr>
    </c:legend>
    <c:plotVisOnly val="1"/>
    <c:dispBlanksAs val="gap"/>
    <c:showDLblsOverMax val="0"/>
  </c:chart>
  <c:txPr>
    <a:bodyPr/>
    <a:lstStyle/>
    <a:p>
      <a:pPr>
        <a:defRPr sz="1200">
          <a:solidFill>
            <a:srgbClr val="000000"/>
          </a:solidFill>
          <a:latin typeface="La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Pages</c:v>
                </c:pt>
              </c:strCache>
            </c:strRef>
          </c:tx>
          <c:spPr>
            <a:solidFill>
              <a:srgbClr val="000000"/>
            </a:solidFill>
          </c:spPr>
          <c:invertIfNegative val="1"/>
          <c:dPt>
            <c:idx val="0"/>
            <c:invertIfNegative val="1"/>
            <c:bubble3D val="0"/>
            <c:spPr>
              <a:solidFill>
                <a:srgbClr val="C8102E"/>
              </a:solidFill>
            </c:spPr>
            <c:extLst>
              <c:ext xmlns:c16="http://schemas.microsoft.com/office/drawing/2014/chart" uri="{C3380CC4-5D6E-409C-BE32-E72D297353CC}">
                <c16:uniqueId val="{00000001-B6A0-4619-99C5-9C70894ACA7E}"/>
              </c:ext>
            </c:extLst>
          </c:dPt>
          <c:dPt>
            <c:idx val="74"/>
            <c:invertIfNegative val="1"/>
            <c:bubble3D val="0"/>
            <c:spPr>
              <a:solidFill>
                <a:srgbClr val="C8102E"/>
              </a:solidFill>
            </c:spPr>
            <c:extLst>
              <c:ext xmlns:c16="http://schemas.microsoft.com/office/drawing/2014/chart" uri="{C3380CC4-5D6E-409C-BE32-E72D297353CC}">
                <c16:uniqueId val="{00000003-B6A0-4619-99C5-9C70894ACA7E}"/>
              </c:ext>
            </c:extLst>
          </c:dPt>
          <c:dLbls>
            <c:dLbl>
              <c:idx val="0"/>
              <c:tx>
                <c:rich>
                  <a:bodyPr/>
                  <a:lstStyle/>
                  <a:p>
                    <a:r>
                      <a:rPr lang="en-US" sz="1100" b="1">
                        <a:solidFill>
                          <a:srgbClr val="C8102E"/>
                        </a:solidFill>
                        <a:latin typeface="Lato"/>
                      </a:rPr>
                      <a:t>9,745</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B6A0-4619-99C5-9C70894ACA7E}"/>
                </c:ext>
              </c:extLst>
            </c:dLbl>
            <c:dLbl>
              <c:idx val="74"/>
              <c:tx>
                <c:rich>
                  <a:bodyPr/>
                  <a:lstStyle/>
                  <a:p>
                    <a:r>
                      <a:rPr lang="en-US" sz="1100" b="1">
                        <a:solidFill>
                          <a:srgbClr val="C8102E"/>
                        </a:solidFill>
                        <a:latin typeface="Lato"/>
                      </a:rPr>
                      <a:t>194,395</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B6A0-4619-99C5-9C70894ACA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Sheet1!$A$2:$A$76</c:f>
              <c:strCache>
                <c:ptCount val="75"/>
                <c:pt idx="0">
                  <c:v>1950</c:v>
                </c:pt>
                <c:pt idx="1">
                  <c:v>1951</c:v>
                </c:pt>
                <c:pt idx="2">
                  <c:v>1952</c:v>
                </c:pt>
                <c:pt idx="3">
                  <c:v>1953</c:v>
                </c:pt>
                <c:pt idx="4">
                  <c:v>1954</c:v>
                </c:pt>
                <c:pt idx="5">
                  <c:v>1955</c:v>
                </c:pt>
                <c:pt idx="6">
                  <c:v>1956</c:v>
                </c:pt>
                <c:pt idx="7">
                  <c:v>1957</c:v>
                </c:pt>
                <c:pt idx="8">
                  <c:v>1958</c:v>
                </c:pt>
                <c:pt idx="9">
                  <c:v>1959</c:v>
                </c:pt>
                <c:pt idx="10">
                  <c:v>1960</c:v>
                </c:pt>
                <c:pt idx="11">
                  <c:v>1961</c:v>
                </c:pt>
                <c:pt idx="12">
                  <c:v>1962</c:v>
                </c:pt>
                <c:pt idx="13">
                  <c:v>1963</c:v>
                </c:pt>
                <c:pt idx="14">
                  <c:v>1964</c:v>
                </c:pt>
                <c:pt idx="15">
                  <c:v>1965</c:v>
                </c:pt>
                <c:pt idx="16">
                  <c:v>1966</c:v>
                </c:pt>
                <c:pt idx="17">
                  <c:v>1967</c:v>
                </c:pt>
                <c:pt idx="18">
                  <c:v>1968</c:v>
                </c:pt>
                <c:pt idx="19">
                  <c:v>1969</c:v>
                </c:pt>
                <c:pt idx="20">
                  <c:v>1970</c:v>
                </c:pt>
                <c:pt idx="21">
                  <c:v>1971</c:v>
                </c:pt>
                <c:pt idx="22">
                  <c:v>1972</c:v>
                </c:pt>
                <c:pt idx="23">
                  <c:v>1973</c:v>
                </c:pt>
                <c:pt idx="24">
                  <c:v>1974</c:v>
                </c:pt>
                <c:pt idx="25">
                  <c:v>1975</c:v>
                </c:pt>
                <c:pt idx="26">
                  <c:v>1976</c:v>
                </c:pt>
                <c:pt idx="27">
                  <c:v>1977</c:v>
                </c:pt>
                <c:pt idx="28">
                  <c:v>1978</c:v>
                </c:pt>
                <c:pt idx="29">
                  <c:v>1979</c:v>
                </c:pt>
                <c:pt idx="30">
                  <c:v>1980</c:v>
                </c:pt>
                <c:pt idx="31">
                  <c:v>1981</c:v>
                </c:pt>
                <c:pt idx="32">
                  <c:v>1982</c:v>
                </c:pt>
                <c:pt idx="33">
                  <c:v>1983</c:v>
                </c:pt>
                <c:pt idx="34">
                  <c:v>1984</c:v>
                </c:pt>
                <c:pt idx="35">
                  <c:v>1985</c:v>
                </c:pt>
                <c:pt idx="36">
                  <c:v>1986</c:v>
                </c:pt>
                <c:pt idx="37">
                  <c:v>1987</c:v>
                </c:pt>
                <c:pt idx="38">
                  <c:v>1988</c:v>
                </c:pt>
                <c:pt idx="39">
                  <c:v>1989</c:v>
                </c:pt>
                <c:pt idx="40">
                  <c:v>1990</c:v>
                </c:pt>
                <c:pt idx="41">
                  <c:v>1991</c:v>
                </c:pt>
                <c:pt idx="42">
                  <c:v>1992</c:v>
                </c:pt>
                <c:pt idx="43">
                  <c:v>1993</c:v>
                </c:pt>
                <c:pt idx="44">
                  <c:v>1994</c:v>
                </c:pt>
                <c:pt idx="45">
                  <c:v>1995</c:v>
                </c:pt>
                <c:pt idx="46">
                  <c:v>1996</c:v>
                </c:pt>
                <c:pt idx="47">
                  <c:v>1997</c:v>
                </c:pt>
                <c:pt idx="48">
                  <c:v>1998</c:v>
                </c:pt>
                <c:pt idx="49">
                  <c:v>1999</c:v>
                </c:pt>
                <c:pt idx="50">
                  <c:v>2000</c:v>
                </c:pt>
                <c:pt idx="51">
                  <c:v>2001</c:v>
                </c:pt>
                <c:pt idx="52">
                  <c:v>2002</c:v>
                </c:pt>
                <c:pt idx="53">
                  <c:v>2003</c:v>
                </c:pt>
                <c:pt idx="54">
                  <c:v>2004</c:v>
                </c:pt>
                <c:pt idx="55">
                  <c:v>2005</c:v>
                </c:pt>
                <c:pt idx="56">
                  <c:v>2006</c:v>
                </c:pt>
                <c:pt idx="57">
                  <c:v>2007</c:v>
                </c:pt>
                <c:pt idx="58">
                  <c:v>2008</c:v>
                </c:pt>
                <c:pt idx="59">
                  <c:v>2009</c:v>
                </c:pt>
                <c:pt idx="60">
                  <c:v>2010</c:v>
                </c:pt>
                <c:pt idx="61">
                  <c:v>2011</c:v>
                </c:pt>
                <c:pt idx="62">
                  <c:v>2012</c:v>
                </c:pt>
                <c:pt idx="63">
                  <c:v>2013</c:v>
                </c:pt>
                <c:pt idx="64">
                  <c:v>2014</c:v>
                </c:pt>
                <c:pt idx="65">
                  <c:v>2015</c:v>
                </c:pt>
                <c:pt idx="66">
                  <c:v>2016</c:v>
                </c:pt>
                <c:pt idx="67">
                  <c:v>2017</c:v>
                </c:pt>
                <c:pt idx="68">
                  <c:v>2018</c:v>
                </c:pt>
                <c:pt idx="69">
                  <c:v>2019</c:v>
                </c:pt>
                <c:pt idx="70">
                  <c:v>2020</c:v>
                </c:pt>
                <c:pt idx="71">
                  <c:v>2021</c:v>
                </c:pt>
                <c:pt idx="72">
                  <c:v>2022</c:v>
                </c:pt>
                <c:pt idx="73">
                  <c:v>2023</c:v>
                </c:pt>
                <c:pt idx="74">
                  <c:v>2024</c:v>
                </c:pt>
              </c:strCache>
            </c:strRef>
          </c:cat>
          <c:val>
            <c:numRef>
              <c:f>Sheet1!$B$2:$B$76</c:f>
              <c:numCache>
                <c:formatCode>General</c:formatCode>
                <c:ptCount val="75"/>
                <c:pt idx="0">
                  <c:v>9745</c:v>
                </c:pt>
                <c:pt idx="1">
                  <c:v>15932</c:v>
                </c:pt>
                <c:pt idx="2">
                  <c:v>19232</c:v>
                </c:pt>
                <c:pt idx="3">
                  <c:v>18464</c:v>
                </c:pt>
                <c:pt idx="4">
                  <c:v>16502</c:v>
                </c:pt>
                <c:pt idx="5">
                  <c:v>17989</c:v>
                </c:pt>
                <c:pt idx="6">
                  <c:v>21651</c:v>
                </c:pt>
                <c:pt idx="7">
                  <c:v>19589</c:v>
                </c:pt>
                <c:pt idx="8">
                  <c:v>20643</c:v>
                </c:pt>
                <c:pt idx="9">
                  <c:v>21760</c:v>
                </c:pt>
                <c:pt idx="10">
                  <c:v>22877</c:v>
                </c:pt>
                <c:pt idx="11">
                  <c:v>25242</c:v>
                </c:pt>
                <c:pt idx="12">
                  <c:v>22863</c:v>
                </c:pt>
                <c:pt idx="13">
                  <c:v>25828</c:v>
                </c:pt>
                <c:pt idx="14">
                  <c:v>31584</c:v>
                </c:pt>
                <c:pt idx="15">
                  <c:v>34783</c:v>
                </c:pt>
                <c:pt idx="16">
                  <c:v>43118</c:v>
                </c:pt>
                <c:pt idx="17">
                  <c:v>50375</c:v>
                </c:pt>
                <c:pt idx="18">
                  <c:v>53513</c:v>
                </c:pt>
                <c:pt idx="19">
                  <c:v>52863</c:v>
                </c:pt>
                <c:pt idx="20">
                  <c:v>54834</c:v>
                </c:pt>
                <c:pt idx="21">
                  <c:v>56720</c:v>
                </c:pt>
                <c:pt idx="22">
                  <c:v>60632</c:v>
                </c:pt>
                <c:pt idx="23">
                  <c:v>64872</c:v>
                </c:pt>
                <c:pt idx="24">
                  <c:v>67860</c:v>
                </c:pt>
                <c:pt idx="25">
                  <c:v>71224</c:v>
                </c:pt>
                <c:pt idx="26">
                  <c:v>72740</c:v>
                </c:pt>
                <c:pt idx="27">
                  <c:v>84729</c:v>
                </c:pt>
                <c:pt idx="28">
                  <c:v>94151</c:v>
                </c:pt>
                <c:pt idx="29">
                  <c:v>98032</c:v>
                </c:pt>
                <c:pt idx="30">
                  <c:v>102195</c:v>
                </c:pt>
                <c:pt idx="31">
                  <c:v>107109</c:v>
                </c:pt>
                <c:pt idx="32">
                  <c:v>104938</c:v>
                </c:pt>
                <c:pt idx="33">
                  <c:v>105654</c:v>
                </c:pt>
                <c:pt idx="34">
                  <c:v>111830</c:v>
                </c:pt>
                <c:pt idx="35">
                  <c:v>105935</c:v>
                </c:pt>
                <c:pt idx="36">
                  <c:v>109509</c:v>
                </c:pt>
                <c:pt idx="37">
                  <c:v>114337</c:v>
                </c:pt>
                <c:pt idx="38">
                  <c:v>117480</c:v>
                </c:pt>
                <c:pt idx="39">
                  <c:v>122090</c:v>
                </c:pt>
                <c:pt idx="40">
                  <c:v>126893</c:v>
                </c:pt>
                <c:pt idx="41">
                  <c:v>125331</c:v>
                </c:pt>
                <c:pt idx="42">
                  <c:v>128344</c:v>
                </c:pt>
                <c:pt idx="43">
                  <c:v>132228</c:v>
                </c:pt>
                <c:pt idx="44">
                  <c:v>134196</c:v>
                </c:pt>
                <c:pt idx="45">
                  <c:v>138186</c:v>
                </c:pt>
                <c:pt idx="46">
                  <c:v>132112</c:v>
                </c:pt>
                <c:pt idx="47">
                  <c:v>131060</c:v>
                </c:pt>
                <c:pt idx="48">
                  <c:v>135127</c:v>
                </c:pt>
                <c:pt idx="49">
                  <c:v>134932</c:v>
                </c:pt>
                <c:pt idx="50">
                  <c:v>138049</c:v>
                </c:pt>
                <c:pt idx="51">
                  <c:v>141281</c:v>
                </c:pt>
                <c:pt idx="52">
                  <c:v>145099</c:v>
                </c:pt>
                <c:pt idx="53">
                  <c:v>144187</c:v>
                </c:pt>
                <c:pt idx="54">
                  <c:v>147639</c:v>
                </c:pt>
                <c:pt idx="55">
                  <c:v>151973</c:v>
                </c:pt>
                <c:pt idx="56">
                  <c:v>154107</c:v>
                </c:pt>
                <c:pt idx="57">
                  <c:v>156010</c:v>
                </c:pt>
                <c:pt idx="58">
                  <c:v>157974</c:v>
                </c:pt>
                <c:pt idx="59">
                  <c:v>163333</c:v>
                </c:pt>
                <c:pt idx="60">
                  <c:v>165494</c:v>
                </c:pt>
                <c:pt idx="61">
                  <c:v>169301</c:v>
                </c:pt>
                <c:pt idx="62">
                  <c:v>174545</c:v>
                </c:pt>
                <c:pt idx="63">
                  <c:v>175496</c:v>
                </c:pt>
                <c:pt idx="64">
                  <c:v>175274</c:v>
                </c:pt>
                <c:pt idx="65">
                  <c:v>178351</c:v>
                </c:pt>
                <c:pt idx="66">
                  <c:v>185131</c:v>
                </c:pt>
                <c:pt idx="67">
                  <c:v>186468</c:v>
                </c:pt>
                <c:pt idx="68">
                  <c:v>185544</c:v>
                </c:pt>
                <c:pt idx="69">
                  <c:v>186067</c:v>
                </c:pt>
                <c:pt idx="70">
                  <c:v>186644</c:v>
                </c:pt>
                <c:pt idx="71">
                  <c:v>188343</c:v>
                </c:pt>
                <c:pt idx="72">
                  <c:v>188148</c:v>
                </c:pt>
                <c:pt idx="73">
                  <c:v>190627</c:v>
                </c:pt>
                <c:pt idx="74">
                  <c:v>194395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B6A0-4619-99C5-9C70894ACA7E}"/>
            </c:ext>
          </c:extLst>
        </c:ser>
        <c:dLbls>
          <c:showLegendKey val="0"/>
          <c:showVal val="0"/>
          <c:showCatName val="0"/>
          <c:showSerName val="0"/>
          <c:showPercent val="0"/>
          <c:showBubbleSize val="0"/>
        </c:dLbls>
        <c:gapWidth val="2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crossAx val="-2113994440"/>
        <c:crosses val="autoZero"/>
        <c:auto val="1"/>
        <c:lblAlgn val="ctr"/>
        <c:lblOffset val="100"/>
        <c:tickLblSkip val="4"/>
        <c:tickMarkSkip val="4"/>
        <c:noMultiLvlLbl val="0"/>
      </c:catAx>
      <c:valAx>
        <c:axId val="-2113994440"/>
        <c:scaling>
          <c:orientation val="minMax"/>
          <c:max val="200000"/>
          <c:min val="0"/>
        </c:scaling>
        <c:delete val="0"/>
        <c:axPos val="l"/>
        <c:majorGridlines>
          <c:spPr>
            <a:ln w="6350">
              <a:solidFill>
                <a:srgbClr val="D9D9D9"/>
              </a:solidFill>
            </a:ln>
          </c:spPr>
        </c:majorGridlines>
        <c:numFmt formatCode="#,##0" sourceLinked="0"/>
        <c:majorTickMark val="out"/>
        <c:minorTickMark val="none"/>
        <c:tickLblPos val="nextTo"/>
        <c:spPr>
          <a:ln>
            <a:noFill/>
          </a:ln>
        </c:spPr>
        <c:crossAx val="-2068027336"/>
        <c:crosses val="autoZero"/>
        <c:crossBetween val="between"/>
        <c:majorUnit val="50000"/>
      </c:valAx>
    </c:plotArea>
    <c:plotVisOnly val="1"/>
    <c:dispBlanksAs val="gap"/>
    <c:showDLblsOverMax val="1"/>
  </c:chart>
  <c:txPr>
    <a:bodyPr/>
    <a:lstStyle/>
    <a:p>
      <a:pPr>
        <a:defRPr sz="1200">
          <a:solidFill>
            <a:srgbClr val="000000"/>
          </a:solidFill>
          <a:latin typeface="La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5"/>
          <c:y val="0.09"/>
          <c:w val="0.87"/>
          <c:h val="0.8"/>
        </c:manualLayout>
      </c:layout>
      <c:lineChart>
        <c:grouping val="standard"/>
        <c:varyColors val="0"/>
        <c:ser>
          <c:idx val="0"/>
          <c:order val="0"/>
          <c:tx>
            <c:strRef>
              <c:f>Sheet1!$B$1</c:f>
              <c:strCache>
                <c:ptCount val="1"/>
                <c:pt idx="0">
                  <c:v>U.S. Economic Policy Uncertainty Index</c:v>
                </c:pt>
              </c:strCache>
            </c:strRef>
          </c:tx>
          <c:spPr>
            <a:ln w="22225">
              <a:solidFill>
                <a:srgbClr val="000000"/>
              </a:solidFill>
            </a:ln>
          </c:spPr>
          <c:marker>
            <c:symbol val="none"/>
          </c:marker>
          <c:cat>
            <c:strRef>
              <c:f>Sheet1!$A$2:$A$501</c:f>
              <c:strCache>
                <c:ptCount val="500"/>
                <c:pt idx="0">
                  <c:v>1985</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 </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 </c:v>
                </c:pt>
                <c:pt idx="49">
                  <c:v> </c:v>
                </c:pt>
                <c:pt idx="50">
                  <c:v> </c:v>
                </c:pt>
                <c:pt idx="51">
                  <c:v> </c:v>
                </c:pt>
                <c:pt idx="52">
                  <c:v> </c:v>
                </c:pt>
                <c:pt idx="53">
                  <c:v> </c:v>
                </c:pt>
                <c:pt idx="54">
                  <c:v> </c:v>
                </c:pt>
                <c:pt idx="55">
                  <c:v> </c:v>
                </c:pt>
                <c:pt idx="56">
                  <c:v> </c:v>
                </c:pt>
                <c:pt idx="57">
                  <c:v> </c:v>
                </c:pt>
                <c:pt idx="58">
                  <c:v> </c:v>
                </c:pt>
                <c:pt idx="59">
                  <c:v> </c:v>
                </c:pt>
                <c:pt idx="60">
                  <c:v>1990</c:v>
                </c:pt>
                <c:pt idx="61">
                  <c:v> </c:v>
                </c:pt>
                <c:pt idx="62">
                  <c:v> </c:v>
                </c:pt>
                <c:pt idx="63">
                  <c:v> </c:v>
                </c:pt>
                <c:pt idx="64">
                  <c:v> </c:v>
                </c:pt>
                <c:pt idx="65">
                  <c:v> </c:v>
                </c:pt>
                <c:pt idx="66">
                  <c:v> </c:v>
                </c:pt>
                <c:pt idx="67">
                  <c:v> </c:v>
                </c:pt>
                <c:pt idx="68">
                  <c:v> </c:v>
                </c:pt>
                <c:pt idx="69">
                  <c:v> </c:v>
                </c:pt>
                <c:pt idx="70">
                  <c:v> </c:v>
                </c:pt>
                <c:pt idx="71">
                  <c:v> </c:v>
                </c:pt>
                <c:pt idx="72">
                  <c:v> </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 </c:v>
                </c:pt>
                <c:pt idx="97">
                  <c:v> </c:v>
                </c:pt>
                <c:pt idx="98">
                  <c:v> </c:v>
                </c:pt>
                <c:pt idx="99">
                  <c:v> </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1995</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 </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 </c:v>
                </c:pt>
                <c:pt idx="169">
                  <c:v> </c:v>
                </c:pt>
                <c:pt idx="170">
                  <c:v> </c:v>
                </c:pt>
                <c:pt idx="171">
                  <c:v> </c:v>
                </c:pt>
                <c:pt idx="172">
                  <c:v> </c:v>
                </c:pt>
                <c:pt idx="173">
                  <c:v> </c:v>
                </c:pt>
                <c:pt idx="174">
                  <c:v> </c:v>
                </c:pt>
                <c:pt idx="175">
                  <c:v> </c:v>
                </c:pt>
                <c:pt idx="176">
                  <c:v> </c:v>
                </c:pt>
                <c:pt idx="177">
                  <c:v> </c:v>
                </c:pt>
                <c:pt idx="178">
                  <c:v> </c:v>
                </c:pt>
                <c:pt idx="179">
                  <c:v> </c:v>
                </c:pt>
                <c:pt idx="180">
                  <c:v>2000</c:v>
                </c:pt>
                <c:pt idx="181">
                  <c:v> </c:v>
                </c:pt>
                <c:pt idx="182">
                  <c:v> </c:v>
                </c:pt>
                <c:pt idx="183">
                  <c:v> </c:v>
                </c:pt>
                <c:pt idx="184">
                  <c:v> </c:v>
                </c:pt>
                <c:pt idx="185">
                  <c:v> </c:v>
                </c:pt>
                <c:pt idx="186">
                  <c:v> </c:v>
                </c:pt>
                <c:pt idx="187">
                  <c:v> </c:v>
                </c:pt>
                <c:pt idx="188">
                  <c:v> </c:v>
                </c:pt>
                <c:pt idx="189">
                  <c:v> </c:v>
                </c:pt>
                <c:pt idx="190">
                  <c:v> </c:v>
                </c:pt>
                <c:pt idx="191">
                  <c:v> </c:v>
                </c:pt>
                <c:pt idx="192">
                  <c:v> </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 </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2005</c:v>
                </c:pt>
                <c:pt idx="241">
                  <c:v> </c:v>
                </c:pt>
                <c:pt idx="242">
                  <c:v> </c:v>
                </c:pt>
                <c:pt idx="243">
                  <c:v> </c:v>
                </c:pt>
                <c:pt idx="244">
                  <c:v> </c:v>
                </c:pt>
                <c:pt idx="245">
                  <c:v> </c:v>
                </c:pt>
                <c:pt idx="246">
                  <c:v> </c:v>
                </c:pt>
                <c:pt idx="247">
                  <c:v> </c:v>
                </c:pt>
                <c:pt idx="248">
                  <c:v> </c:v>
                </c:pt>
                <c:pt idx="249">
                  <c:v> </c:v>
                </c:pt>
                <c:pt idx="250">
                  <c:v> </c:v>
                </c:pt>
                <c:pt idx="251">
                  <c:v> </c:v>
                </c:pt>
                <c:pt idx="252">
                  <c:v> </c:v>
                </c:pt>
                <c:pt idx="253">
                  <c:v> </c:v>
                </c:pt>
                <c:pt idx="254">
                  <c:v> </c:v>
                </c:pt>
                <c:pt idx="255">
                  <c:v> </c:v>
                </c:pt>
                <c:pt idx="256">
                  <c:v> </c:v>
                </c:pt>
                <c:pt idx="257">
                  <c:v> </c:v>
                </c:pt>
                <c:pt idx="258">
                  <c:v> </c:v>
                </c:pt>
                <c:pt idx="259">
                  <c:v> </c:v>
                </c:pt>
                <c:pt idx="260">
                  <c:v> </c:v>
                </c:pt>
                <c:pt idx="261">
                  <c:v> </c:v>
                </c:pt>
                <c:pt idx="262">
                  <c:v> </c:v>
                </c:pt>
                <c:pt idx="263">
                  <c:v> </c:v>
                </c:pt>
                <c:pt idx="264">
                  <c:v> </c:v>
                </c:pt>
                <c:pt idx="265">
                  <c:v> </c:v>
                </c:pt>
                <c:pt idx="266">
                  <c:v> </c:v>
                </c:pt>
                <c:pt idx="267">
                  <c:v> </c:v>
                </c:pt>
                <c:pt idx="268">
                  <c:v> </c:v>
                </c:pt>
                <c:pt idx="269">
                  <c:v> </c:v>
                </c:pt>
                <c:pt idx="270">
                  <c:v> </c:v>
                </c:pt>
                <c:pt idx="271">
                  <c:v> </c:v>
                </c:pt>
                <c:pt idx="272">
                  <c:v> </c:v>
                </c:pt>
                <c:pt idx="273">
                  <c:v> </c:v>
                </c:pt>
                <c:pt idx="274">
                  <c:v> </c:v>
                </c:pt>
                <c:pt idx="275">
                  <c:v> </c:v>
                </c:pt>
                <c:pt idx="276">
                  <c:v> </c:v>
                </c:pt>
                <c:pt idx="277">
                  <c:v> </c:v>
                </c:pt>
                <c:pt idx="278">
                  <c:v> </c:v>
                </c:pt>
                <c:pt idx="279">
                  <c:v> </c:v>
                </c:pt>
                <c:pt idx="280">
                  <c:v> </c:v>
                </c:pt>
                <c:pt idx="281">
                  <c:v> </c:v>
                </c:pt>
                <c:pt idx="282">
                  <c:v> </c:v>
                </c:pt>
                <c:pt idx="283">
                  <c:v> </c:v>
                </c:pt>
                <c:pt idx="284">
                  <c:v> </c:v>
                </c:pt>
                <c:pt idx="285">
                  <c:v> </c:v>
                </c:pt>
                <c:pt idx="286">
                  <c:v> </c:v>
                </c:pt>
                <c:pt idx="287">
                  <c:v> </c:v>
                </c:pt>
                <c:pt idx="288">
                  <c:v> </c:v>
                </c:pt>
                <c:pt idx="289">
                  <c:v> </c:v>
                </c:pt>
                <c:pt idx="290">
                  <c:v> </c:v>
                </c:pt>
                <c:pt idx="291">
                  <c:v> </c:v>
                </c:pt>
                <c:pt idx="292">
                  <c:v> </c:v>
                </c:pt>
                <c:pt idx="293">
                  <c:v> </c:v>
                </c:pt>
                <c:pt idx="294">
                  <c:v> </c:v>
                </c:pt>
                <c:pt idx="295">
                  <c:v> </c:v>
                </c:pt>
                <c:pt idx="296">
                  <c:v> </c:v>
                </c:pt>
                <c:pt idx="297">
                  <c:v> </c:v>
                </c:pt>
                <c:pt idx="298">
                  <c:v> </c:v>
                </c:pt>
                <c:pt idx="299">
                  <c:v> </c:v>
                </c:pt>
                <c:pt idx="300">
                  <c:v>2010</c:v>
                </c:pt>
                <c:pt idx="301">
                  <c:v> </c:v>
                </c:pt>
                <c:pt idx="302">
                  <c:v> </c:v>
                </c:pt>
                <c:pt idx="303">
                  <c:v> </c:v>
                </c:pt>
                <c:pt idx="304">
                  <c:v> </c:v>
                </c:pt>
                <c:pt idx="305">
                  <c:v> </c:v>
                </c:pt>
                <c:pt idx="306">
                  <c:v> </c:v>
                </c:pt>
                <c:pt idx="307">
                  <c:v> </c:v>
                </c:pt>
                <c:pt idx="308">
                  <c:v> </c:v>
                </c:pt>
                <c:pt idx="309">
                  <c:v> </c:v>
                </c:pt>
                <c:pt idx="310">
                  <c:v> </c:v>
                </c:pt>
                <c:pt idx="311">
                  <c:v> </c:v>
                </c:pt>
                <c:pt idx="312">
                  <c:v> </c:v>
                </c:pt>
                <c:pt idx="313">
                  <c:v> </c:v>
                </c:pt>
                <c:pt idx="314">
                  <c:v> </c:v>
                </c:pt>
                <c:pt idx="315">
                  <c:v> </c:v>
                </c:pt>
                <c:pt idx="316">
                  <c:v> </c:v>
                </c:pt>
                <c:pt idx="317">
                  <c:v> </c:v>
                </c:pt>
                <c:pt idx="318">
                  <c:v> </c:v>
                </c:pt>
                <c:pt idx="319">
                  <c:v> </c:v>
                </c:pt>
                <c:pt idx="320">
                  <c:v> </c:v>
                </c:pt>
                <c:pt idx="321">
                  <c:v> </c:v>
                </c:pt>
                <c:pt idx="322">
                  <c:v> </c:v>
                </c:pt>
                <c:pt idx="323">
                  <c:v> </c:v>
                </c:pt>
                <c:pt idx="324">
                  <c:v> </c:v>
                </c:pt>
                <c:pt idx="325">
                  <c:v> </c:v>
                </c:pt>
                <c:pt idx="326">
                  <c:v> </c:v>
                </c:pt>
                <c:pt idx="327">
                  <c:v> </c:v>
                </c:pt>
                <c:pt idx="328">
                  <c:v> </c:v>
                </c:pt>
                <c:pt idx="329">
                  <c:v> </c:v>
                </c:pt>
                <c:pt idx="330">
                  <c:v> </c:v>
                </c:pt>
                <c:pt idx="331">
                  <c:v> </c:v>
                </c:pt>
                <c:pt idx="332">
                  <c:v> </c:v>
                </c:pt>
                <c:pt idx="333">
                  <c:v> </c:v>
                </c:pt>
                <c:pt idx="334">
                  <c:v> </c:v>
                </c:pt>
                <c:pt idx="335">
                  <c:v> </c:v>
                </c:pt>
                <c:pt idx="336">
                  <c:v> </c:v>
                </c:pt>
                <c:pt idx="337">
                  <c:v> </c:v>
                </c:pt>
                <c:pt idx="338">
                  <c:v> </c:v>
                </c:pt>
                <c:pt idx="339">
                  <c:v> </c:v>
                </c:pt>
                <c:pt idx="340">
                  <c:v> </c:v>
                </c:pt>
                <c:pt idx="341">
                  <c:v> </c:v>
                </c:pt>
                <c:pt idx="342">
                  <c:v> </c:v>
                </c:pt>
                <c:pt idx="343">
                  <c:v> </c:v>
                </c:pt>
                <c:pt idx="344">
                  <c:v> </c:v>
                </c:pt>
                <c:pt idx="345">
                  <c:v> </c:v>
                </c:pt>
                <c:pt idx="346">
                  <c:v> </c:v>
                </c:pt>
                <c:pt idx="347">
                  <c:v> </c:v>
                </c:pt>
                <c:pt idx="348">
                  <c:v> </c:v>
                </c:pt>
                <c:pt idx="349">
                  <c:v> </c:v>
                </c:pt>
                <c:pt idx="350">
                  <c:v> </c:v>
                </c:pt>
                <c:pt idx="351">
                  <c:v> </c:v>
                </c:pt>
                <c:pt idx="352">
                  <c:v> </c:v>
                </c:pt>
                <c:pt idx="353">
                  <c:v> </c:v>
                </c:pt>
                <c:pt idx="354">
                  <c:v> </c:v>
                </c:pt>
                <c:pt idx="355">
                  <c:v> </c:v>
                </c:pt>
                <c:pt idx="356">
                  <c:v> </c:v>
                </c:pt>
                <c:pt idx="357">
                  <c:v> </c:v>
                </c:pt>
                <c:pt idx="358">
                  <c:v> </c:v>
                </c:pt>
                <c:pt idx="359">
                  <c:v> </c:v>
                </c:pt>
                <c:pt idx="360">
                  <c:v>2015</c:v>
                </c:pt>
                <c:pt idx="361">
                  <c:v> </c:v>
                </c:pt>
                <c:pt idx="362">
                  <c:v> </c:v>
                </c:pt>
                <c:pt idx="363">
                  <c:v> </c:v>
                </c:pt>
                <c:pt idx="364">
                  <c:v> </c:v>
                </c:pt>
                <c:pt idx="365">
                  <c:v> </c:v>
                </c:pt>
                <c:pt idx="366">
                  <c:v> </c:v>
                </c:pt>
                <c:pt idx="367">
                  <c:v> </c:v>
                </c:pt>
                <c:pt idx="368">
                  <c:v> </c:v>
                </c:pt>
                <c:pt idx="369">
                  <c:v> </c:v>
                </c:pt>
                <c:pt idx="370">
                  <c:v> </c:v>
                </c:pt>
                <c:pt idx="371">
                  <c:v> </c:v>
                </c:pt>
                <c:pt idx="372">
                  <c:v> </c:v>
                </c:pt>
                <c:pt idx="373">
                  <c:v> </c:v>
                </c:pt>
                <c:pt idx="374">
                  <c:v> </c:v>
                </c:pt>
                <c:pt idx="375">
                  <c:v> </c:v>
                </c:pt>
                <c:pt idx="376">
                  <c:v> </c:v>
                </c:pt>
                <c:pt idx="377">
                  <c:v> </c:v>
                </c:pt>
                <c:pt idx="378">
                  <c:v> </c:v>
                </c:pt>
                <c:pt idx="379">
                  <c:v> </c:v>
                </c:pt>
                <c:pt idx="380">
                  <c:v> </c:v>
                </c:pt>
                <c:pt idx="381">
                  <c:v> </c:v>
                </c:pt>
                <c:pt idx="382">
                  <c:v> </c:v>
                </c:pt>
                <c:pt idx="383">
                  <c:v> </c:v>
                </c:pt>
                <c:pt idx="384">
                  <c:v> </c:v>
                </c:pt>
                <c:pt idx="385">
                  <c:v> </c:v>
                </c:pt>
                <c:pt idx="386">
                  <c:v> </c:v>
                </c:pt>
                <c:pt idx="387">
                  <c:v> </c:v>
                </c:pt>
                <c:pt idx="388">
                  <c:v> </c:v>
                </c:pt>
                <c:pt idx="389">
                  <c:v> </c:v>
                </c:pt>
                <c:pt idx="390">
                  <c:v> </c:v>
                </c:pt>
                <c:pt idx="391">
                  <c:v> </c:v>
                </c:pt>
                <c:pt idx="392">
                  <c:v> </c:v>
                </c:pt>
                <c:pt idx="393">
                  <c:v> </c:v>
                </c:pt>
                <c:pt idx="394">
                  <c:v> </c:v>
                </c:pt>
                <c:pt idx="395">
                  <c:v> </c:v>
                </c:pt>
                <c:pt idx="396">
                  <c:v> </c:v>
                </c:pt>
                <c:pt idx="397">
                  <c:v> </c:v>
                </c:pt>
                <c:pt idx="398">
                  <c:v> </c:v>
                </c:pt>
                <c:pt idx="399">
                  <c:v> </c:v>
                </c:pt>
                <c:pt idx="400">
                  <c:v> </c:v>
                </c:pt>
                <c:pt idx="401">
                  <c:v> </c:v>
                </c:pt>
                <c:pt idx="402">
                  <c:v> </c:v>
                </c:pt>
                <c:pt idx="403">
                  <c:v> </c:v>
                </c:pt>
                <c:pt idx="404">
                  <c:v> </c:v>
                </c:pt>
                <c:pt idx="405">
                  <c:v> </c:v>
                </c:pt>
                <c:pt idx="406">
                  <c:v> </c:v>
                </c:pt>
                <c:pt idx="407">
                  <c:v> </c:v>
                </c:pt>
                <c:pt idx="408">
                  <c:v> </c:v>
                </c:pt>
                <c:pt idx="409">
                  <c:v> </c:v>
                </c:pt>
                <c:pt idx="410">
                  <c:v> </c:v>
                </c:pt>
                <c:pt idx="411">
                  <c:v> </c:v>
                </c:pt>
                <c:pt idx="412">
                  <c:v> </c:v>
                </c:pt>
                <c:pt idx="413">
                  <c:v> </c:v>
                </c:pt>
                <c:pt idx="414">
                  <c:v> </c:v>
                </c:pt>
                <c:pt idx="415">
                  <c:v> </c:v>
                </c:pt>
                <c:pt idx="416">
                  <c:v> </c:v>
                </c:pt>
                <c:pt idx="417">
                  <c:v> </c:v>
                </c:pt>
                <c:pt idx="418">
                  <c:v> </c:v>
                </c:pt>
                <c:pt idx="419">
                  <c:v> </c:v>
                </c:pt>
                <c:pt idx="420">
                  <c:v>2020</c:v>
                </c:pt>
                <c:pt idx="421">
                  <c:v> </c:v>
                </c:pt>
                <c:pt idx="422">
                  <c:v> </c:v>
                </c:pt>
                <c:pt idx="423">
                  <c:v> </c:v>
                </c:pt>
                <c:pt idx="424">
                  <c:v> </c:v>
                </c:pt>
                <c:pt idx="425">
                  <c:v> </c:v>
                </c:pt>
                <c:pt idx="426">
                  <c:v> </c:v>
                </c:pt>
                <c:pt idx="427">
                  <c:v> </c:v>
                </c:pt>
                <c:pt idx="428">
                  <c:v> </c:v>
                </c:pt>
                <c:pt idx="429">
                  <c:v> </c:v>
                </c:pt>
                <c:pt idx="430">
                  <c:v> </c:v>
                </c:pt>
                <c:pt idx="431">
                  <c:v> </c:v>
                </c:pt>
                <c:pt idx="432">
                  <c:v> </c:v>
                </c:pt>
                <c:pt idx="433">
                  <c:v> </c:v>
                </c:pt>
                <c:pt idx="434">
                  <c:v> </c:v>
                </c:pt>
                <c:pt idx="435">
                  <c:v> </c:v>
                </c:pt>
                <c:pt idx="436">
                  <c:v> </c:v>
                </c:pt>
                <c:pt idx="437">
                  <c:v> </c:v>
                </c:pt>
                <c:pt idx="438">
                  <c:v> </c:v>
                </c:pt>
                <c:pt idx="439">
                  <c:v> </c:v>
                </c:pt>
                <c:pt idx="440">
                  <c:v> </c:v>
                </c:pt>
                <c:pt idx="441">
                  <c:v> </c:v>
                </c:pt>
                <c:pt idx="442">
                  <c:v> </c:v>
                </c:pt>
                <c:pt idx="443">
                  <c:v> </c:v>
                </c:pt>
                <c:pt idx="444">
                  <c:v> </c:v>
                </c:pt>
                <c:pt idx="445">
                  <c:v> </c:v>
                </c:pt>
                <c:pt idx="446">
                  <c:v> </c:v>
                </c:pt>
                <c:pt idx="447">
                  <c:v> </c:v>
                </c:pt>
                <c:pt idx="448">
                  <c:v> </c:v>
                </c:pt>
                <c:pt idx="449">
                  <c:v> </c:v>
                </c:pt>
                <c:pt idx="450">
                  <c:v> </c:v>
                </c:pt>
                <c:pt idx="451">
                  <c:v> </c:v>
                </c:pt>
                <c:pt idx="452">
                  <c:v> </c:v>
                </c:pt>
                <c:pt idx="453">
                  <c:v> </c:v>
                </c:pt>
                <c:pt idx="454">
                  <c:v> </c:v>
                </c:pt>
                <c:pt idx="455">
                  <c:v> </c:v>
                </c:pt>
                <c:pt idx="456">
                  <c:v> </c:v>
                </c:pt>
                <c:pt idx="457">
                  <c:v> </c:v>
                </c:pt>
                <c:pt idx="458">
                  <c:v> </c:v>
                </c:pt>
                <c:pt idx="459">
                  <c:v> </c:v>
                </c:pt>
                <c:pt idx="460">
                  <c:v> </c:v>
                </c:pt>
                <c:pt idx="461">
                  <c:v> </c:v>
                </c:pt>
                <c:pt idx="462">
                  <c:v> </c:v>
                </c:pt>
                <c:pt idx="463">
                  <c:v> </c:v>
                </c:pt>
                <c:pt idx="464">
                  <c:v> </c:v>
                </c:pt>
                <c:pt idx="465">
                  <c:v> </c:v>
                </c:pt>
                <c:pt idx="466">
                  <c:v> </c:v>
                </c:pt>
                <c:pt idx="467">
                  <c:v> </c:v>
                </c:pt>
                <c:pt idx="468">
                  <c:v> </c:v>
                </c:pt>
                <c:pt idx="469">
                  <c:v> </c:v>
                </c:pt>
                <c:pt idx="470">
                  <c:v> </c:v>
                </c:pt>
                <c:pt idx="471">
                  <c:v> </c:v>
                </c:pt>
                <c:pt idx="472">
                  <c:v> </c:v>
                </c:pt>
                <c:pt idx="473">
                  <c:v> </c:v>
                </c:pt>
                <c:pt idx="474">
                  <c:v> </c:v>
                </c:pt>
                <c:pt idx="475">
                  <c:v> </c:v>
                </c:pt>
                <c:pt idx="476">
                  <c:v> </c:v>
                </c:pt>
                <c:pt idx="477">
                  <c:v> </c:v>
                </c:pt>
                <c:pt idx="478">
                  <c:v> </c:v>
                </c:pt>
                <c:pt idx="479">
                  <c:v> </c:v>
                </c:pt>
                <c:pt idx="480">
                  <c:v>2025</c:v>
                </c:pt>
                <c:pt idx="481">
                  <c:v> </c:v>
                </c:pt>
                <c:pt idx="482">
                  <c:v> </c:v>
                </c:pt>
                <c:pt idx="483">
                  <c:v> </c:v>
                </c:pt>
                <c:pt idx="484">
                  <c:v> </c:v>
                </c:pt>
                <c:pt idx="485">
                  <c:v> </c:v>
                </c:pt>
                <c:pt idx="486">
                  <c:v> </c:v>
                </c:pt>
                <c:pt idx="487">
                  <c:v> </c:v>
                </c:pt>
                <c:pt idx="488">
                  <c:v> </c:v>
                </c:pt>
                <c:pt idx="489">
                  <c:v> </c:v>
                </c:pt>
                <c:pt idx="490">
                  <c:v> </c:v>
                </c:pt>
                <c:pt idx="491">
                  <c:v> </c:v>
                </c:pt>
                <c:pt idx="492">
                  <c:v> </c:v>
                </c:pt>
                <c:pt idx="493">
                  <c:v> </c:v>
                </c:pt>
                <c:pt idx="494">
                  <c:v> </c:v>
                </c:pt>
                <c:pt idx="495">
                  <c:v> </c:v>
                </c:pt>
                <c:pt idx="496">
                  <c:v> </c:v>
                </c:pt>
                <c:pt idx="497">
                  <c:v> </c:v>
                </c:pt>
                <c:pt idx="498">
                  <c:v> </c:v>
                </c:pt>
                <c:pt idx="499">
                  <c:v> </c:v>
                </c:pt>
              </c:strCache>
            </c:strRef>
          </c:cat>
          <c:val>
            <c:numRef>
              <c:f>Sheet1!$B$2:$B$501</c:f>
              <c:numCache>
                <c:formatCode>General</c:formatCode>
                <c:ptCount val="500"/>
                <c:pt idx="0">
                  <c:v>103.7</c:v>
                </c:pt>
                <c:pt idx="1">
                  <c:v>78.3</c:v>
                </c:pt>
                <c:pt idx="2">
                  <c:v>100.8</c:v>
                </c:pt>
                <c:pt idx="3">
                  <c:v>84.8</c:v>
                </c:pt>
                <c:pt idx="4">
                  <c:v>98.1</c:v>
                </c:pt>
                <c:pt idx="5">
                  <c:v>119.6</c:v>
                </c:pt>
                <c:pt idx="6">
                  <c:v>111.4</c:v>
                </c:pt>
                <c:pt idx="7">
                  <c:v>111.2</c:v>
                </c:pt>
                <c:pt idx="8">
                  <c:v>111.2</c:v>
                </c:pt>
                <c:pt idx="9">
                  <c:v>93.1</c:v>
                </c:pt>
                <c:pt idx="10">
                  <c:v>85.1</c:v>
                </c:pt>
                <c:pt idx="11">
                  <c:v>104.2</c:v>
                </c:pt>
                <c:pt idx="12">
                  <c:v>144.30000000000001</c:v>
                </c:pt>
                <c:pt idx="13">
                  <c:v>119</c:v>
                </c:pt>
                <c:pt idx="14">
                  <c:v>120.2</c:v>
                </c:pt>
                <c:pt idx="15">
                  <c:v>102.5</c:v>
                </c:pt>
                <c:pt idx="16">
                  <c:v>132.4</c:v>
                </c:pt>
                <c:pt idx="17">
                  <c:v>115.1</c:v>
                </c:pt>
                <c:pt idx="18">
                  <c:v>130.80000000000001</c:v>
                </c:pt>
                <c:pt idx="19">
                  <c:v>118.3</c:v>
                </c:pt>
                <c:pt idx="20">
                  <c:v>125.9</c:v>
                </c:pt>
                <c:pt idx="21">
                  <c:v>91.8</c:v>
                </c:pt>
                <c:pt idx="22">
                  <c:v>98.3</c:v>
                </c:pt>
                <c:pt idx="23">
                  <c:v>88</c:v>
                </c:pt>
                <c:pt idx="24">
                  <c:v>110.4</c:v>
                </c:pt>
                <c:pt idx="25">
                  <c:v>77</c:v>
                </c:pt>
                <c:pt idx="26">
                  <c:v>99.1</c:v>
                </c:pt>
                <c:pt idx="27">
                  <c:v>79.5</c:v>
                </c:pt>
                <c:pt idx="28">
                  <c:v>87.6</c:v>
                </c:pt>
                <c:pt idx="29">
                  <c:v>106.6</c:v>
                </c:pt>
                <c:pt idx="30">
                  <c:v>81.400000000000006</c:v>
                </c:pt>
                <c:pt idx="31">
                  <c:v>52.8</c:v>
                </c:pt>
                <c:pt idx="32">
                  <c:v>59.9</c:v>
                </c:pt>
                <c:pt idx="33">
                  <c:v>170.3</c:v>
                </c:pt>
                <c:pt idx="34">
                  <c:v>183.1</c:v>
                </c:pt>
                <c:pt idx="35">
                  <c:v>149</c:v>
                </c:pt>
                <c:pt idx="36">
                  <c:v>142.9</c:v>
                </c:pt>
                <c:pt idx="37">
                  <c:v>102</c:v>
                </c:pt>
                <c:pt idx="38">
                  <c:v>82.4</c:v>
                </c:pt>
                <c:pt idx="39">
                  <c:v>97.9</c:v>
                </c:pt>
                <c:pt idx="40">
                  <c:v>99.1</c:v>
                </c:pt>
                <c:pt idx="41">
                  <c:v>88.3</c:v>
                </c:pt>
                <c:pt idx="42">
                  <c:v>80.8</c:v>
                </c:pt>
                <c:pt idx="43">
                  <c:v>94.9</c:v>
                </c:pt>
                <c:pt idx="44">
                  <c:v>85.4</c:v>
                </c:pt>
                <c:pt idx="45">
                  <c:v>98.3</c:v>
                </c:pt>
                <c:pt idx="46">
                  <c:v>102.2</c:v>
                </c:pt>
                <c:pt idx="47">
                  <c:v>77.8</c:v>
                </c:pt>
                <c:pt idx="48">
                  <c:v>87.4</c:v>
                </c:pt>
                <c:pt idx="49">
                  <c:v>51.4</c:v>
                </c:pt>
                <c:pt idx="50">
                  <c:v>72.5</c:v>
                </c:pt>
                <c:pt idx="51">
                  <c:v>92.4</c:v>
                </c:pt>
                <c:pt idx="52">
                  <c:v>83.8</c:v>
                </c:pt>
                <c:pt idx="53">
                  <c:v>95.8</c:v>
                </c:pt>
                <c:pt idx="54">
                  <c:v>78.3</c:v>
                </c:pt>
                <c:pt idx="55">
                  <c:v>83.1</c:v>
                </c:pt>
                <c:pt idx="56">
                  <c:v>74.7</c:v>
                </c:pt>
                <c:pt idx="57">
                  <c:v>76.400000000000006</c:v>
                </c:pt>
                <c:pt idx="58">
                  <c:v>105</c:v>
                </c:pt>
                <c:pt idx="59">
                  <c:v>103.8</c:v>
                </c:pt>
                <c:pt idx="60">
                  <c:v>92.3</c:v>
                </c:pt>
                <c:pt idx="61">
                  <c:v>110.4</c:v>
                </c:pt>
                <c:pt idx="62">
                  <c:v>104.5</c:v>
                </c:pt>
                <c:pt idx="63">
                  <c:v>88.4</c:v>
                </c:pt>
                <c:pt idx="64">
                  <c:v>97.4</c:v>
                </c:pt>
                <c:pt idx="65">
                  <c:v>100.9</c:v>
                </c:pt>
                <c:pt idx="66">
                  <c:v>86.3</c:v>
                </c:pt>
                <c:pt idx="67">
                  <c:v>139.30000000000001</c:v>
                </c:pt>
                <c:pt idx="68">
                  <c:v>165.9</c:v>
                </c:pt>
                <c:pt idx="69">
                  <c:v>137.69999999999999</c:v>
                </c:pt>
                <c:pt idx="70">
                  <c:v>152.4</c:v>
                </c:pt>
                <c:pt idx="71">
                  <c:v>134.1</c:v>
                </c:pt>
                <c:pt idx="72">
                  <c:v>204</c:v>
                </c:pt>
                <c:pt idx="73">
                  <c:v>106.5</c:v>
                </c:pt>
                <c:pt idx="74">
                  <c:v>107.9</c:v>
                </c:pt>
                <c:pt idx="75">
                  <c:v>93</c:v>
                </c:pt>
                <c:pt idx="76">
                  <c:v>82.1</c:v>
                </c:pt>
                <c:pt idx="77">
                  <c:v>85.9</c:v>
                </c:pt>
                <c:pt idx="78">
                  <c:v>80.599999999999994</c:v>
                </c:pt>
                <c:pt idx="79">
                  <c:v>99.1</c:v>
                </c:pt>
                <c:pt idx="80">
                  <c:v>127.3</c:v>
                </c:pt>
                <c:pt idx="81">
                  <c:v>108.1</c:v>
                </c:pt>
                <c:pt idx="82">
                  <c:v>140.6</c:v>
                </c:pt>
                <c:pt idx="83">
                  <c:v>171</c:v>
                </c:pt>
                <c:pt idx="84">
                  <c:v>116.4</c:v>
                </c:pt>
                <c:pt idx="85">
                  <c:v>154.6</c:v>
                </c:pt>
                <c:pt idx="86">
                  <c:v>96.8</c:v>
                </c:pt>
                <c:pt idx="87">
                  <c:v>89.9</c:v>
                </c:pt>
                <c:pt idx="88">
                  <c:v>78.7</c:v>
                </c:pt>
                <c:pt idx="89">
                  <c:v>122.3</c:v>
                </c:pt>
                <c:pt idx="90">
                  <c:v>119.6</c:v>
                </c:pt>
                <c:pt idx="91">
                  <c:v>122.4</c:v>
                </c:pt>
                <c:pt idx="92">
                  <c:v>141.4</c:v>
                </c:pt>
                <c:pt idx="93">
                  <c:v>161.30000000000001</c:v>
                </c:pt>
                <c:pt idx="94">
                  <c:v>108.2</c:v>
                </c:pt>
                <c:pt idx="95">
                  <c:v>87.9</c:v>
                </c:pt>
                <c:pt idx="96">
                  <c:v>83.5</c:v>
                </c:pt>
                <c:pt idx="97">
                  <c:v>107</c:v>
                </c:pt>
                <c:pt idx="98">
                  <c:v>109.8</c:v>
                </c:pt>
                <c:pt idx="99">
                  <c:v>89.7</c:v>
                </c:pt>
                <c:pt idx="100">
                  <c:v>133.5</c:v>
                </c:pt>
                <c:pt idx="101">
                  <c:v>120.7</c:v>
                </c:pt>
                <c:pt idx="102">
                  <c:v>106.5</c:v>
                </c:pt>
                <c:pt idx="103">
                  <c:v>115.6</c:v>
                </c:pt>
                <c:pt idx="104">
                  <c:v>116</c:v>
                </c:pt>
                <c:pt idx="105">
                  <c:v>78.8</c:v>
                </c:pt>
                <c:pt idx="106">
                  <c:v>89.3</c:v>
                </c:pt>
                <c:pt idx="107">
                  <c:v>77.3</c:v>
                </c:pt>
                <c:pt idx="108">
                  <c:v>82.3</c:v>
                </c:pt>
                <c:pt idx="109">
                  <c:v>96.1</c:v>
                </c:pt>
                <c:pt idx="110">
                  <c:v>83.2</c:v>
                </c:pt>
                <c:pt idx="111">
                  <c:v>106.4</c:v>
                </c:pt>
                <c:pt idx="112">
                  <c:v>94.5</c:v>
                </c:pt>
                <c:pt idx="113">
                  <c:v>87.5</c:v>
                </c:pt>
                <c:pt idx="114">
                  <c:v>75.400000000000006</c:v>
                </c:pt>
                <c:pt idx="115">
                  <c:v>89</c:v>
                </c:pt>
                <c:pt idx="116">
                  <c:v>85.3</c:v>
                </c:pt>
                <c:pt idx="117">
                  <c:v>61.7</c:v>
                </c:pt>
                <c:pt idx="118">
                  <c:v>94.7</c:v>
                </c:pt>
                <c:pt idx="119">
                  <c:v>94.8</c:v>
                </c:pt>
                <c:pt idx="120">
                  <c:v>122.4</c:v>
                </c:pt>
                <c:pt idx="121">
                  <c:v>100.5</c:v>
                </c:pt>
                <c:pt idx="122">
                  <c:v>86.5</c:v>
                </c:pt>
                <c:pt idx="123">
                  <c:v>66</c:v>
                </c:pt>
                <c:pt idx="124">
                  <c:v>67.3</c:v>
                </c:pt>
                <c:pt idx="125">
                  <c:v>75.8</c:v>
                </c:pt>
                <c:pt idx="126">
                  <c:v>81.7</c:v>
                </c:pt>
                <c:pt idx="127">
                  <c:v>55.9</c:v>
                </c:pt>
                <c:pt idx="128">
                  <c:v>70.400000000000006</c:v>
                </c:pt>
                <c:pt idx="129">
                  <c:v>79.900000000000006</c:v>
                </c:pt>
                <c:pt idx="130">
                  <c:v>101.2</c:v>
                </c:pt>
                <c:pt idx="131">
                  <c:v>90.7</c:v>
                </c:pt>
                <c:pt idx="132">
                  <c:v>101.6</c:v>
                </c:pt>
                <c:pt idx="133">
                  <c:v>82</c:v>
                </c:pt>
                <c:pt idx="134">
                  <c:v>76.599999999999994</c:v>
                </c:pt>
                <c:pt idx="135">
                  <c:v>70.900000000000006</c:v>
                </c:pt>
                <c:pt idx="136">
                  <c:v>62.1</c:v>
                </c:pt>
                <c:pt idx="137">
                  <c:v>82.2</c:v>
                </c:pt>
                <c:pt idx="138">
                  <c:v>69.7</c:v>
                </c:pt>
                <c:pt idx="139">
                  <c:v>88.6</c:v>
                </c:pt>
                <c:pt idx="140">
                  <c:v>79</c:v>
                </c:pt>
                <c:pt idx="141">
                  <c:v>55.7</c:v>
                </c:pt>
                <c:pt idx="142">
                  <c:v>74.400000000000006</c:v>
                </c:pt>
                <c:pt idx="143">
                  <c:v>67.2</c:v>
                </c:pt>
                <c:pt idx="144">
                  <c:v>75.400000000000006</c:v>
                </c:pt>
                <c:pt idx="145">
                  <c:v>92.1</c:v>
                </c:pt>
                <c:pt idx="146">
                  <c:v>70.5</c:v>
                </c:pt>
                <c:pt idx="147">
                  <c:v>71.099999999999994</c:v>
                </c:pt>
                <c:pt idx="148">
                  <c:v>75.900000000000006</c:v>
                </c:pt>
                <c:pt idx="149">
                  <c:v>84.5</c:v>
                </c:pt>
                <c:pt idx="150">
                  <c:v>76.7</c:v>
                </c:pt>
                <c:pt idx="151">
                  <c:v>58.9</c:v>
                </c:pt>
                <c:pt idx="152">
                  <c:v>54.4</c:v>
                </c:pt>
                <c:pt idx="153">
                  <c:v>92.9</c:v>
                </c:pt>
                <c:pt idx="154">
                  <c:v>86</c:v>
                </c:pt>
                <c:pt idx="155">
                  <c:v>103.7</c:v>
                </c:pt>
                <c:pt idx="156">
                  <c:v>108</c:v>
                </c:pt>
                <c:pt idx="157">
                  <c:v>101.1</c:v>
                </c:pt>
                <c:pt idx="158">
                  <c:v>83.3</c:v>
                </c:pt>
                <c:pt idx="159">
                  <c:v>74.5</c:v>
                </c:pt>
                <c:pt idx="160">
                  <c:v>80.099999999999994</c:v>
                </c:pt>
                <c:pt idx="161">
                  <c:v>80.900000000000006</c:v>
                </c:pt>
                <c:pt idx="162">
                  <c:v>101.4</c:v>
                </c:pt>
                <c:pt idx="163">
                  <c:v>130.5</c:v>
                </c:pt>
                <c:pt idx="164">
                  <c:v>169</c:v>
                </c:pt>
                <c:pt idx="165">
                  <c:v>145</c:v>
                </c:pt>
                <c:pt idx="166">
                  <c:v>113.5</c:v>
                </c:pt>
                <c:pt idx="167">
                  <c:v>110.9</c:v>
                </c:pt>
                <c:pt idx="168">
                  <c:v>123.3</c:v>
                </c:pt>
                <c:pt idx="169">
                  <c:v>95</c:v>
                </c:pt>
                <c:pt idx="170">
                  <c:v>67</c:v>
                </c:pt>
                <c:pt idx="171">
                  <c:v>69.8</c:v>
                </c:pt>
                <c:pt idx="172">
                  <c:v>64.8</c:v>
                </c:pt>
                <c:pt idx="173">
                  <c:v>74.900000000000006</c:v>
                </c:pt>
                <c:pt idx="174">
                  <c:v>86.5</c:v>
                </c:pt>
                <c:pt idx="175">
                  <c:v>77</c:v>
                </c:pt>
                <c:pt idx="176">
                  <c:v>77.5</c:v>
                </c:pt>
                <c:pt idx="177">
                  <c:v>65.3</c:v>
                </c:pt>
                <c:pt idx="178">
                  <c:v>76.3</c:v>
                </c:pt>
                <c:pt idx="179">
                  <c:v>79.3</c:v>
                </c:pt>
                <c:pt idx="180">
                  <c:v>89</c:v>
                </c:pt>
                <c:pt idx="181">
                  <c:v>73.400000000000006</c:v>
                </c:pt>
                <c:pt idx="182">
                  <c:v>73.3</c:v>
                </c:pt>
                <c:pt idx="183">
                  <c:v>70.599999999999994</c:v>
                </c:pt>
                <c:pt idx="184">
                  <c:v>118.1</c:v>
                </c:pt>
                <c:pt idx="185">
                  <c:v>109.6</c:v>
                </c:pt>
                <c:pt idx="186">
                  <c:v>86.7</c:v>
                </c:pt>
                <c:pt idx="187">
                  <c:v>58.9</c:v>
                </c:pt>
                <c:pt idx="188">
                  <c:v>73.599999999999994</c:v>
                </c:pt>
                <c:pt idx="189">
                  <c:v>89.9</c:v>
                </c:pt>
                <c:pt idx="190">
                  <c:v>166.2</c:v>
                </c:pt>
                <c:pt idx="191">
                  <c:v>149.4</c:v>
                </c:pt>
                <c:pt idx="192">
                  <c:v>142.6</c:v>
                </c:pt>
                <c:pt idx="193">
                  <c:v>128.6</c:v>
                </c:pt>
                <c:pt idx="194">
                  <c:v>137.4</c:v>
                </c:pt>
                <c:pt idx="195">
                  <c:v>148.80000000000001</c:v>
                </c:pt>
                <c:pt idx="196">
                  <c:v>117.4</c:v>
                </c:pt>
                <c:pt idx="197">
                  <c:v>93.5</c:v>
                </c:pt>
                <c:pt idx="198">
                  <c:v>120.3</c:v>
                </c:pt>
                <c:pt idx="199">
                  <c:v>95.4</c:v>
                </c:pt>
                <c:pt idx="200">
                  <c:v>272.8</c:v>
                </c:pt>
                <c:pt idx="201">
                  <c:v>247.3</c:v>
                </c:pt>
                <c:pt idx="202">
                  <c:v>172.5</c:v>
                </c:pt>
                <c:pt idx="203">
                  <c:v>149.69999999999999</c:v>
                </c:pt>
                <c:pt idx="204">
                  <c:v>148.4</c:v>
                </c:pt>
                <c:pt idx="205">
                  <c:v>104.6</c:v>
                </c:pt>
                <c:pt idx="206">
                  <c:v>97.5</c:v>
                </c:pt>
                <c:pt idx="207">
                  <c:v>106.2</c:v>
                </c:pt>
                <c:pt idx="208">
                  <c:v>98.6</c:v>
                </c:pt>
                <c:pt idx="209">
                  <c:v>111.1</c:v>
                </c:pt>
                <c:pt idx="210">
                  <c:v>139.69999999999999</c:v>
                </c:pt>
                <c:pt idx="211">
                  <c:v>136.1</c:v>
                </c:pt>
                <c:pt idx="212">
                  <c:v>149.80000000000001</c:v>
                </c:pt>
                <c:pt idx="213">
                  <c:v>129</c:v>
                </c:pt>
                <c:pt idx="214">
                  <c:v>162.19999999999999</c:v>
                </c:pt>
                <c:pt idx="215">
                  <c:v>160.4</c:v>
                </c:pt>
                <c:pt idx="216">
                  <c:v>185.6</c:v>
                </c:pt>
                <c:pt idx="217">
                  <c:v>161.80000000000001</c:v>
                </c:pt>
                <c:pt idx="218">
                  <c:v>224.6</c:v>
                </c:pt>
                <c:pt idx="219">
                  <c:v>176.6</c:v>
                </c:pt>
                <c:pt idx="220">
                  <c:v>122.3</c:v>
                </c:pt>
                <c:pt idx="221">
                  <c:v>110.7</c:v>
                </c:pt>
                <c:pt idx="222">
                  <c:v>103.7</c:v>
                </c:pt>
                <c:pt idx="223">
                  <c:v>91.7</c:v>
                </c:pt>
                <c:pt idx="224">
                  <c:v>109.6</c:v>
                </c:pt>
                <c:pt idx="225">
                  <c:v>78.599999999999994</c:v>
                </c:pt>
                <c:pt idx="226">
                  <c:v>78.7</c:v>
                </c:pt>
                <c:pt idx="227">
                  <c:v>90.3</c:v>
                </c:pt>
                <c:pt idx="228">
                  <c:v>88.3</c:v>
                </c:pt>
                <c:pt idx="229">
                  <c:v>88.9</c:v>
                </c:pt>
                <c:pt idx="230">
                  <c:v>84.3</c:v>
                </c:pt>
                <c:pt idx="231">
                  <c:v>79.7</c:v>
                </c:pt>
                <c:pt idx="232">
                  <c:v>97.2</c:v>
                </c:pt>
                <c:pt idx="233">
                  <c:v>85.3</c:v>
                </c:pt>
                <c:pt idx="234">
                  <c:v>89</c:v>
                </c:pt>
                <c:pt idx="235">
                  <c:v>84.4</c:v>
                </c:pt>
                <c:pt idx="236">
                  <c:v>108.5</c:v>
                </c:pt>
                <c:pt idx="237">
                  <c:v>118.3</c:v>
                </c:pt>
                <c:pt idx="238">
                  <c:v>96.7</c:v>
                </c:pt>
                <c:pt idx="239">
                  <c:v>66.5</c:v>
                </c:pt>
                <c:pt idx="240">
                  <c:v>66.7</c:v>
                </c:pt>
                <c:pt idx="241">
                  <c:v>51.7</c:v>
                </c:pt>
                <c:pt idx="242">
                  <c:v>49.3</c:v>
                </c:pt>
                <c:pt idx="243">
                  <c:v>78.400000000000006</c:v>
                </c:pt>
                <c:pt idx="244">
                  <c:v>75.099999999999994</c:v>
                </c:pt>
                <c:pt idx="245">
                  <c:v>82</c:v>
                </c:pt>
                <c:pt idx="246">
                  <c:v>71.900000000000006</c:v>
                </c:pt>
                <c:pt idx="247">
                  <c:v>59.6</c:v>
                </c:pt>
                <c:pt idx="248">
                  <c:v>105.8</c:v>
                </c:pt>
                <c:pt idx="249">
                  <c:v>79.8</c:v>
                </c:pt>
                <c:pt idx="250">
                  <c:v>60.1</c:v>
                </c:pt>
                <c:pt idx="251">
                  <c:v>70</c:v>
                </c:pt>
                <c:pt idx="252">
                  <c:v>75.099999999999994</c:v>
                </c:pt>
                <c:pt idx="253">
                  <c:v>69.5</c:v>
                </c:pt>
                <c:pt idx="254">
                  <c:v>55</c:v>
                </c:pt>
                <c:pt idx="255">
                  <c:v>81.7</c:v>
                </c:pt>
                <c:pt idx="256">
                  <c:v>67.8</c:v>
                </c:pt>
                <c:pt idx="257">
                  <c:v>82.6</c:v>
                </c:pt>
                <c:pt idx="258">
                  <c:v>84.5</c:v>
                </c:pt>
                <c:pt idx="259">
                  <c:v>71.5</c:v>
                </c:pt>
                <c:pt idx="260">
                  <c:v>61.8</c:v>
                </c:pt>
                <c:pt idx="261">
                  <c:v>55.6</c:v>
                </c:pt>
                <c:pt idx="262">
                  <c:v>49.6</c:v>
                </c:pt>
                <c:pt idx="263">
                  <c:v>51</c:v>
                </c:pt>
                <c:pt idx="264">
                  <c:v>74.5</c:v>
                </c:pt>
                <c:pt idx="265">
                  <c:v>50.9</c:v>
                </c:pt>
                <c:pt idx="266">
                  <c:v>72.5</c:v>
                </c:pt>
                <c:pt idx="267">
                  <c:v>59.8</c:v>
                </c:pt>
                <c:pt idx="268">
                  <c:v>71.099999999999994</c:v>
                </c:pt>
                <c:pt idx="269">
                  <c:v>68.8</c:v>
                </c:pt>
                <c:pt idx="270">
                  <c:v>44.8</c:v>
                </c:pt>
                <c:pt idx="271">
                  <c:v>90</c:v>
                </c:pt>
                <c:pt idx="272">
                  <c:v>109.9</c:v>
                </c:pt>
                <c:pt idx="273">
                  <c:v>90.6</c:v>
                </c:pt>
                <c:pt idx="274">
                  <c:v>106.6</c:v>
                </c:pt>
                <c:pt idx="275">
                  <c:v>117</c:v>
                </c:pt>
                <c:pt idx="276">
                  <c:v>177</c:v>
                </c:pt>
                <c:pt idx="277">
                  <c:v>108.3</c:v>
                </c:pt>
                <c:pt idx="278">
                  <c:v>114.5</c:v>
                </c:pt>
                <c:pt idx="279">
                  <c:v>98.2</c:v>
                </c:pt>
                <c:pt idx="280">
                  <c:v>88.7</c:v>
                </c:pt>
                <c:pt idx="281">
                  <c:v>89.1</c:v>
                </c:pt>
                <c:pt idx="282">
                  <c:v>115.1</c:v>
                </c:pt>
                <c:pt idx="283">
                  <c:v>81.2</c:v>
                </c:pt>
                <c:pt idx="284">
                  <c:v>238.2</c:v>
                </c:pt>
                <c:pt idx="285">
                  <c:v>241.8</c:v>
                </c:pt>
                <c:pt idx="286">
                  <c:v>162.69999999999999</c:v>
                </c:pt>
                <c:pt idx="287">
                  <c:v>157.80000000000001</c:v>
                </c:pt>
                <c:pt idx="288">
                  <c:v>184.8</c:v>
                </c:pt>
                <c:pt idx="289">
                  <c:v>202.5</c:v>
                </c:pt>
                <c:pt idx="290">
                  <c:v>168</c:v>
                </c:pt>
                <c:pt idx="291">
                  <c:v>107.9</c:v>
                </c:pt>
                <c:pt idx="292">
                  <c:v>125.9</c:v>
                </c:pt>
                <c:pt idx="293">
                  <c:v>112.5</c:v>
                </c:pt>
                <c:pt idx="294">
                  <c:v>104.4</c:v>
                </c:pt>
                <c:pt idx="295">
                  <c:v>111.2</c:v>
                </c:pt>
                <c:pt idx="296">
                  <c:v>99</c:v>
                </c:pt>
                <c:pt idx="297">
                  <c:v>86.2</c:v>
                </c:pt>
                <c:pt idx="298">
                  <c:v>99.8</c:v>
                </c:pt>
                <c:pt idx="299">
                  <c:v>108.4</c:v>
                </c:pt>
                <c:pt idx="300">
                  <c:v>136.9</c:v>
                </c:pt>
                <c:pt idx="301">
                  <c:v>116.7</c:v>
                </c:pt>
                <c:pt idx="302">
                  <c:v>124.7</c:v>
                </c:pt>
                <c:pt idx="303">
                  <c:v>123.7</c:v>
                </c:pt>
                <c:pt idx="304">
                  <c:v>147.80000000000001</c:v>
                </c:pt>
                <c:pt idx="305">
                  <c:v>129.69999999999999</c:v>
                </c:pt>
                <c:pt idx="306">
                  <c:v>196.9</c:v>
                </c:pt>
                <c:pt idx="307">
                  <c:v>127.2</c:v>
                </c:pt>
                <c:pt idx="308">
                  <c:v>186.7</c:v>
                </c:pt>
                <c:pt idx="309">
                  <c:v>154.80000000000001</c:v>
                </c:pt>
                <c:pt idx="310">
                  <c:v>175</c:v>
                </c:pt>
                <c:pt idx="311">
                  <c:v>151.6</c:v>
                </c:pt>
                <c:pt idx="312">
                  <c:v>111.5</c:v>
                </c:pt>
                <c:pt idx="313">
                  <c:v>104.6</c:v>
                </c:pt>
                <c:pt idx="314">
                  <c:v>153.80000000000001</c:v>
                </c:pt>
                <c:pt idx="315">
                  <c:v>124.8</c:v>
                </c:pt>
                <c:pt idx="316">
                  <c:v>84.5</c:v>
                </c:pt>
                <c:pt idx="317">
                  <c:v>139</c:v>
                </c:pt>
                <c:pt idx="318">
                  <c:v>207.2</c:v>
                </c:pt>
                <c:pt idx="319">
                  <c:v>283.7</c:v>
                </c:pt>
                <c:pt idx="320">
                  <c:v>214.4</c:v>
                </c:pt>
                <c:pt idx="321">
                  <c:v>137.80000000000001</c:v>
                </c:pt>
                <c:pt idx="322">
                  <c:v>143.69999999999999</c:v>
                </c:pt>
                <c:pt idx="323">
                  <c:v>183.1</c:v>
                </c:pt>
                <c:pt idx="324">
                  <c:v>154.4</c:v>
                </c:pt>
                <c:pt idx="325">
                  <c:v>119.4</c:v>
                </c:pt>
                <c:pt idx="326">
                  <c:v>98.7</c:v>
                </c:pt>
                <c:pt idx="327">
                  <c:v>97</c:v>
                </c:pt>
                <c:pt idx="328">
                  <c:v>135.9</c:v>
                </c:pt>
                <c:pt idx="329">
                  <c:v>197.5</c:v>
                </c:pt>
                <c:pt idx="330">
                  <c:v>180.8</c:v>
                </c:pt>
                <c:pt idx="331">
                  <c:v>143</c:v>
                </c:pt>
                <c:pt idx="332">
                  <c:v>182.1</c:v>
                </c:pt>
                <c:pt idx="333">
                  <c:v>166.1</c:v>
                </c:pt>
                <c:pt idx="334">
                  <c:v>205.9</c:v>
                </c:pt>
                <c:pt idx="335">
                  <c:v>215</c:v>
                </c:pt>
                <c:pt idx="336">
                  <c:v>199.4</c:v>
                </c:pt>
                <c:pt idx="337">
                  <c:v>128.6</c:v>
                </c:pt>
                <c:pt idx="338">
                  <c:v>146.1</c:v>
                </c:pt>
                <c:pt idx="339">
                  <c:v>135.4</c:v>
                </c:pt>
                <c:pt idx="340">
                  <c:v>109</c:v>
                </c:pt>
                <c:pt idx="341">
                  <c:v>126.6</c:v>
                </c:pt>
                <c:pt idx="342">
                  <c:v>91.4</c:v>
                </c:pt>
                <c:pt idx="343">
                  <c:v>108.8</c:v>
                </c:pt>
                <c:pt idx="344">
                  <c:v>179.9</c:v>
                </c:pt>
                <c:pt idx="345">
                  <c:v>225.4</c:v>
                </c:pt>
                <c:pt idx="346">
                  <c:v>89.9</c:v>
                </c:pt>
                <c:pt idx="347">
                  <c:v>115</c:v>
                </c:pt>
                <c:pt idx="348">
                  <c:v>107.7</c:v>
                </c:pt>
                <c:pt idx="349">
                  <c:v>93.4</c:v>
                </c:pt>
                <c:pt idx="350">
                  <c:v>101</c:v>
                </c:pt>
                <c:pt idx="351">
                  <c:v>97</c:v>
                </c:pt>
                <c:pt idx="352">
                  <c:v>102</c:v>
                </c:pt>
                <c:pt idx="353">
                  <c:v>86</c:v>
                </c:pt>
                <c:pt idx="354">
                  <c:v>78.5</c:v>
                </c:pt>
                <c:pt idx="355">
                  <c:v>63.9</c:v>
                </c:pt>
                <c:pt idx="356">
                  <c:v>86.2</c:v>
                </c:pt>
                <c:pt idx="357">
                  <c:v>113.3</c:v>
                </c:pt>
                <c:pt idx="358">
                  <c:v>93.2</c:v>
                </c:pt>
                <c:pt idx="359">
                  <c:v>87.4</c:v>
                </c:pt>
                <c:pt idx="360">
                  <c:v>120.5</c:v>
                </c:pt>
                <c:pt idx="361">
                  <c:v>87.6</c:v>
                </c:pt>
                <c:pt idx="362">
                  <c:v>96</c:v>
                </c:pt>
                <c:pt idx="363">
                  <c:v>103.5</c:v>
                </c:pt>
                <c:pt idx="364">
                  <c:v>102.3</c:v>
                </c:pt>
                <c:pt idx="365">
                  <c:v>115.9</c:v>
                </c:pt>
                <c:pt idx="366">
                  <c:v>98.7</c:v>
                </c:pt>
                <c:pt idx="367">
                  <c:v>156.5</c:v>
                </c:pt>
                <c:pt idx="368">
                  <c:v>171.9</c:v>
                </c:pt>
                <c:pt idx="369">
                  <c:v>110.7</c:v>
                </c:pt>
                <c:pt idx="370">
                  <c:v>89.6</c:v>
                </c:pt>
                <c:pt idx="371">
                  <c:v>102</c:v>
                </c:pt>
                <c:pt idx="372">
                  <c:v>154.9</c:v>
                </c:pt>
                <c:pt idx="373">
                  <c:v>148.30000000000001</c:v>
                </c:pt>
                <c:pt idx="374">
                  <c:v>130.5</c:v>
                </c:pt>
                <c:pt idx="375">
                  <c:v>96.4</c:v>
                </c:pt>
                <c:pt idx="376">
                  <c:v>96.2</c:v>
                </c:pt>
                <c:pt idx="377">
                  <c:v>234</c:v>
                </c:pt>
                <c:pt idx="378">
                  <c:v>164.5</c:v>
                </c:pt>
                <c:pt idx="379">
                  <c:v>106.9</c:v>
                </c:pt>
                <c:pt idx="380">
                  <c:v>86.3</c:v>
                </c:pt>
                <c:pt idx="381">
                  <c:v>108.1</c:v>
                </c:pt>
                <c:pt idx="382">
                  <c:v>254.1</c:v>
                </c:pt>
                <c:pt idx="383">
                  <c:v>161.4</c:v>
                </c:pt>
                <c:pt idx="384">
                  <c:v>195</c:v>
                </c:pt>
                <c:pt idx="385">
                  <c:v>177.8</c:v>
                </c:pt>
                <c:pt idx="386">
                  <c:v>154.6</c:v>
                </c:pt>
                <c:pt idx="387">
                  <c:v>157.69999999999999</c:v>
                </c:pt>
                <c:pt idx="388">
                  <c:v>129.9</c:v>
                </c:pt>
                <c:pt idx="389">
                  <c:v>120.6</c:v>
                </c:pt>
                <c:pt idx="390">
                  <c:v>141.1</c:v>
                </c:pt>
                <c:pt idx="391">
                  <c:v>137.9</c:v>
                </c:pt>
                <c:pt idx="392">
                  <c:v>116.6</c:v>
                </c:pt>
                <c:pt idx="393">
                  <c:v>125.9</c:v>
                </c:pt>
                <c:pt idx="394">
                  <c:v>111.3</c:v>
                </c:pt>
                <c:pt idx="395">
                  <c:v>140.4</c:v>
                </c:pt>
                <c:pt idx="396">
                  <c:v>161</c:v>
                </c:pt>
                <c:pt idx="397">
                  <c:v>114.8</c:v>
                </c:pt>
                <c:pt idx="398">
                  <c:v>187.1</c:v>
                </c:pt>
                <c:pt idx="399">
                  <c:v>139</c:v>
                </c:pt>
                <c:pt idx="400">
                  <c:v>162.30000000000001</c:v>
                </c:pt>
                <c:pt idx="401">
                  <c:v>134.4</c:v>
                </c:pt>
                <c:pt idx="402">
                  <c:v>176.2</c:v>
                </c:pt>
                <c:pt idx="403">
                  <c:v>115</c:v>
                </c:pt>
                <c:pt idx="404">
                  <c:v>121</c:v>
                </c:pt>
                <c:pt idx="405">
                  <c:v>136.1</c:v>
                </c:pt>
                <c:pt idx="406">
                  <c:v>164.9</c:v>
                </c:pt>
                <c:pt idx="407">
                  <c:v>226.6</c:v>
                </c:pt>
                <c:pt idx="408">
                  <c:v>284.10000000000002</c:v>
                </c:pt>
                <c:pt idx="409">
                  <c:v>123.6</c:v>
                </c:pt>
                <c:pt idx="410">
                  <c:v>180.6</c:v>
                </c:pt>
                <c:pt idx="411">
                  <c:v>109.7</c:v>
                </c:pt>
                <c:pt idx="412">
                  <c:v>160.9</c:v>
                </c:pt>
                <c:pt idx="413">
                  <c:v>208</c:v>
                </c:pt>
                <c:pt idx="414">
                  <c:v>207.7</c:v>
                </c:pt>
                <c:pt idx="415">
                  <c:v>282.5</c:v>
                </c:pt>
                <c:pt idx="416">
                  <c:v>186.6</c:v>
                </c:pt>
                <c:pt idx="417">
                  <c:v>159.5</c:v>
                </c:pt>
                <c:pt idx="418">
                  <c:v>170.5</c:v>
                </c:pt>
                <c:pt idx="419">
                  <c:v>190.5</c:v>
                </c:pt>
                <c:pt idx="420">
                  <c:v>164.8</c:v>
                </c:pt>
                <c:pt idx="421">
                  <c:v>216.2</c:v>
                </c:pt>
                <c:pt idx="422">
                  <c:v>425.8</c:v>
                </c:pt>
                <c:pt idx="423">
                  <c:v>400.9</c:v>
                </c:pt>
                <c:pt idx="424">
                  <c:v>504</c:v>
                </c:pt>
                <c:pt idx="425">
                  <c:v>300.2</c:v>
                </c:pt>
                <c:pt idx="426">
                  <c:v>427.9</c:v>
                </c:pt>
                <c:pt idx="427">
                  <c:v>263.5</c:v>
                </c:pt>
                <c:pt idx="428">
                  <c:v>252.6</c:v>
                </c:pt>
                <c:pt idx="429">
                  <c:v>305.8</c:v>
                </c:pt>
                <c:pt idx="430">
                  <c:v>327.60000000000002</c:v>
                </c:pt>
                <c:pt idx="431">
                  <c:v>326.60000000000002</c:v>
                </c:pt>
                <c:pt idx="432">
                  <c:v>261.3</c:v>
                </c:pt>
                <c:pt idx="433">
                  <c:v>187.5</c:v>
                </c:pt>
                <c:pt idx="434">
                  <c:v>166.8</c:v>
                </c:pt>
                <c:pt idx="435">
                  <c:v>141.30000000000001</c:v>
                </c:pt>
                <c:pt idx="436">
                  <c:v>172.1</c:v>
                </c:pt>
                <c:pt idx="437">
                  <c:v>149.1</c:v>
                </c:pt>
                <c:pt idx="438">
                  <c:v>182.2</c:v>
                </c:pt>
                <c:pt idx="439">
                  <c:v>157.19999999999999</c:v>
                </c:pt>
                <c:pt idx="440">
                  <c:v>171.3</c:v>
                </c:pt>
                <c:pt idx="441">
                  <c:v>136.9</c:v>
                </c:pt>
                <c:pt idx="442">
                  <c:v>175.9</c:v>
                </c:pt>
                <c:pt idx="443">
                  <c:v>201.4</c:v>
                </c:pt>
                <c:pt idx="444">
                  <c:v>155.30000000000001</c:v>
                </c:pt>
                <c:pt idx="445">
                  <c:v>140.4</c:v>
                </c:pt>
                <c:pt idx="446">
                  <c:v>229.2</c:v>
                </c:pt>
                <c:pt idx="447">
                  <c:v>168.8</c:v>
                </c:pt>
                <c:pt idx="448">
                  <c:v>190.5</c:v>
                </c:pt>
                <c:pt idx="449">
                  <c:v>152.80000000000001</c:v>
                </c:pt>
                <c:pt idx="450">
                  <c:v>222.8</c:v>
                </c:pt>
                <c:pt idx="451">
                  <c:v>183</c:v>
                </c:pt>
                <c:pt idx="452">
                  <c:v>201.7</c:v>
                </c:pt>
                <c:pt idx="453">
                  <c:v>207.3</c:v>
                </c:pt>
                <c:pt idx="454">
                  <c:v>210.4</c:v>
                </c:pt>
                <c:pt idx="455">
                  <c:v>150</c:v>
                </c:pt>
                <c:pt idx="456">
                  <c:v>161.4</c:v>
                </c:pt>
                <c:pt idx="457">
                  <c:v>153</c:v>
                </c:pt>
                <c:pt idx="458">
                  <c:v>200.5</c:v>
                </c:pt>
                <c:pt idx="459">
                  <c:v>165.4</c:v>
                </c:pt>
                <c:pt idx="460">
                  <c:v>205.2</c:v>
                </c:pt>
                <c:pt idx="461">
                  <c:v>179.3</c:v>
                </c:pt>
                <c:pt idx="462">
                  <c:v>132.69999999999999</c:v>
                </c:pt>
                <c:pt idx="463">
                  <c:v>76.8</c:v>
                </c:pt>
                <c:pt idx="464">
                  <c:v>117.7</c:v>
                </c:pt>
                <c:pt idx="465">
                  <c:v>133.6</c:v>
                </c:pt>
                <c:pt idx="466">
                  <c:v>140.69999999999999</c:v>
                </c:pt>
                <c:pt idx="467">
                  <c:v>107</c:v>
                </c:pt>
                <c:pt idx="468">
                  <c:v>131.30000000000001</c:v>
                </c:pt>
                <c:pt idx="469">
                  <c:v>106.5</c:v>
                </c:pt>
                <c:pt idx="470">
                  <c:v>116.7</c:v>
                </c:pt>
                <c:pt idx="471">
                  <c:v>139.4</c:v>
                </c:pt>
                <c:pt idx="472">
                  <c:v>123.6</c:v>
                </c:pt>
                <c:pt idx="473">
                  <c:v>144.19999999999999</c:v>
                </c:pt>
                <c:pt idx="474">
                  <c:v>144.9</c:v>
                </c:pt>
                <c:pt idx="475">
                  <c:v>138.4</c:v>
                </c:pt>
                <c:pt idx="476">
                  <c:v>127.4</c:v>
                </c:pt>
                <c:pt idx="477">
                  <c:v>109.3</c:v>
                </c:pt>
                <c:pt idx="478">
                  <c:v>225</c:v>
                </c:pt>
                <c:pt idx="479">
                  <c:v>218.8</c:v>
                </c:pt>
                <c:pt idx="480">
                  <c:v>236.8</c:v>
                </c:pt>
                <c:pt idx="481">
                  <c:v>329.3</c:v>
                </c:pt>
                <c:pt idx="482">
                  <c:v>446.3</c:v>
                </c:pt>
                <c:pt idx="483">
                  <c:v>724.9</c:v>
                </c:pt>
                <c:pt idx="484">
                  <c:v>564</c:v>
                </c:pt>
                <c:pt idx="485">
                  <c:v>375.6</c:v>
                </c:pt>
                <c:pt idx="486">
                  <c:v>372.1</c:v>
                </c:pt>
                <c:pt idx="487">
                  <c:v>370.9</c:v>
                </c:pt>
                <c:pt idx="488">
                  <c:v>319.8</c:v>
                </c:pt>
                <c:pt idx="489">
                  <c:v>308.3</c:v>
                </c:pt>
                <c:pt idx="490">
                  <c:v>311.60000000000002</c:v>
                </c:pt>
                <c:pt idx="491">
                  <c:v>288.60000000000002</c:v>
                </c:pt>
                <c:pt idx="492">
                  <c:v>371.3</c:v>
                </c:pt>
                <c:pt idx="493">
                  <c:v>374.2</c:v>
                </c:pt>
                <c:pt idx="494">
                  <c:v>374.7</c:v>
                </c:pt>
                <c:pt idx="495">
                  <c:v>298.60000000000002</c:v>
                </c:pt>
                <c:pt idx="496">
                  <c:v>328.5</c:v>
                </c:pt>
                <c:pt idx="497">
                  <c:v>269.8</c:v>
                </c:pt>
                <c:pt idx="498">
                  <c:v>222.6</c:v>
                </c:pt>
                <c:pt idx="499">
                  <c:v>219.2</c:v>
                </c:pt>
              </c:numCache>
            </c:numRef>
          </c:val>
          <c:smooth val="0"/>
          <c:extLst>
            <c:ext xmlns:c16="http://schemas.microsoft.com/office/drawing/2014/chart" uri="{C3380CC4-5D6E-409C-BE32-E72D297353CC}">
              <c16:uniqueId val="{00000000-DC8A-4F4C-A0B3-CC13628D985B}"/>
            </c:ext>
          </c:extLst>
        </c:ser>
        <c:ser>
          <c:idx val="1"/>
          <c:order val="1"/>
          <c:tx>
            <c:strRef>
              <c:f>Sheet1!$C$1</c:f>
              <c:strCache>
                <c:ptCount val="1"/>
                <c:pt idx="0">
                  <c:v>Average, 1985–2026 (133)</c:v>
                </c:pt>
              </c:strCache>
            </c:strRef>
          </c:tx>
          <c:spPr>
            <a:ln w="15875">
              <a:solidFill>
                <a:srgbClr val="8C8C8C"/>
              </a:solidFill>
              <a:prstDash val="dash"/>
            </a:ln>
          </c:spPr>
          <c:marker>
            <c:symbol val="none"/>
          </c:marker>
          <c:cat>
            <c:strRef>
              <c:f>Sheet1!$A$2:$A$501</c:f>
              <c:strCache>
                <c:ptCount val="500"/>
                <c:pt idx="0">
                  <c:v>1985</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 </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 </c:v>
                </c:pt>
                <c:pt idx="49">
                  <c:v> </c:v>
                </c:pt>
                <c:pt idx="50">
                  <c:v> </c:v>
                </c:pt>
                <c:pt idx="51">
                  <c:v> </c:v>
                </c:pt>
                <c:pt idx="52">
                  <c:v> </c:v>
                </c:pt>
                <c:pt idx="53">
                  <c:v> </c:v>
                </c:pt>
                <c:pt idx="54">
                  <c:v> </c:v>
                </c:pt>
                <c:pt idx="55">
                  <c:v> </c:v>
                </c:pt>
                <c:pt idx="56">
                  <c:v> </c:v>
                </c:pt>
                <c:pt idx="57">
                  <c:v> </c:v>
                </c:pt>
                <c:pt idx="58">
                  <c:v> </c:v>
                </c:pt>
                <c:pt idx="59">
                  <c:v> </c:v>
                </c:pt>
                <c:pt idx="60">
                  <c:v>1990</c:v>
                </c:pt>
                <c:pt idx="61">
                  <c:v> </c:v>
                </c:pt>
                <c:pt idx="62">
                  <c:v> </c:v>
                </c:pt>
                <c:pt idx="63">
                  <c:v> </c:v>
                </c:pt>
                <c:pt idx="64">
                  <c:v> </c:v>
                </c:pt>
                <c:pt idx="65">
                  <c:v> </c:v>
                </c:pt>
                <c:pt idx="66">
                  <c:v> </c:v>
                </c:pt>
                <c:pt idx="67">
                  <c:v> </c:v>
                </c:pt>
                <c:pt idx="68">
                  <c:v> </c:v>
                </c:pt>
                <c:pt idx="69">
                  <c:v> </c:v>
                </c:pt>
                <c:pt idx="70">
                  <c:v> </c:v>
                </c:pt>
                <c:pt idx="71">
                  <c:v> </c:v>
                </c:pt>
                <c:pt idx="72">
                  <c:v> </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 </c:v>
                </c:pt>
                <c:pt idx="97">
                  <c:v> </c:v>
                </c:pt>
                <c:pt idx="98">
                  <c:v> </c:v>
                </c:pt>
                <c:pt idx="99">
                  <c:v> </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1995</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 </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 </c:v>
                </c:pt>
                <c:pt idx="169">
                  <c:v> </c:v>
                </c:pt>
                <c:pt idx="170">
                  <c:v> </c:v>
                </c:pt>
                <c:pt idx="171">
                  <c:v> </c:v>
                </c:pt>
                <c:pt idx="172">
                  <c:v> </c:v>
                </c:pt>
                <c:pt idx="173">
                  <c:v> </c:v>
                </c:pt>
                <c:pt idx="174">
                  <c:v> </c:v>
                </c:pt>
                <c:pt idx="175">
                  <c:v> </c:v>
                </c:pt>
                <c:pt idx="176">
                  <c:v> </c:v>
                </c:pt>
                <c:pt idx="177">
                  <c:v> </c:v>
                </c:pt>
                <c:pt idx="178">
                  <c:v> </c:v>
                </c:pt>
                <c:pt idx="179">
                  <c:v> </c:v>
                </c:pt>
                <c:pt idx="180">
                  <c:v>2000</c:v>
                </c:pt>
                <c:pt idx="181">
                  <c:v> </c:v>
                </c:pt>
                <c:pt idx="182">
                  <c:v> </c:v>
                </c:pt>
                <c:pt idx="183">
                  <c:v> </c:v>
                </c:pt>
                <c:pt idx="184">
                  <c:v> </c:v>
                </c:pt>
                <c:pt idx="185">
                  <c:v> </c:v>
                </c:pt>
                <c:pt idx="186">
                  <c:v> </c:v>
                </c:pt>
                <c:pt idx="187">
                  <c:v> </c:v>
                </c:pt>
                <c:pt idx="188">
                  <c:v> </c:v>
                </c:pt>
                <c:pt idx="189">
                  <c:v> </c:v>
                </c:pt>
                <c:pt idx="190">
                  <c:v> </c:v>
                </c:pt>
                <c:pt idx="191">
                  <c:v> </c:v>
                </c:pt>
                <c:pt idx="192">
                  <c:v> </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 </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2005</c:v>
                </c:pt>
                <c:pt idx="241">
                  <c:v> </c:v>
                </c:pt>
                <c:pt idx="242">
                  <c:v> </c:v>
                </c:pt>
                <c:pt idx="243">
                  <c:v> </c:v>
                </c:pt>
                <c:pt idx="244">
                  <c:v> </c:v>
                </c:pt>
                <c:pt idx="245">
                  <c:v> </c:v>
                </c:pt>
                <c:pt idx="246">
                  <c:v> </c:v>
                </c:pt>
                <c:pt idx="247">
                  <c:v> </c:v>
                </c:pt>
                <c:pt idx="248">
                  <c:v> </c:v>
                </c:pt>
                <c:pt idx="249">
                  <c:v> </c:v>
                </c:pt>
                <c:pt idx="250">
                  <c:v> </c:v>
                </c:pt>
                <c:pt idx="251">
                  <c:v> </c:v>
                </c:pt>
                <c:pt idx="252">
                  <c:v> </c:v>
                </c:pt>
                <c:pt idx="253">
                  <c:v> </c:v>
                </c:pt>
                <c:pt idx="254">
                  <c:v> </c:v>
                </c:pt>
                <c:pt idx="255">
                  <c:v> </c:v>
                </c:pt>
                <c:pt idx="256">
                  <c:v> </c:v>
                </c:pt>
                <c:pt idx="257">
                  <c:v> </c:v>
                </c:pt>
                <c:pt idx="258">
                  <c:v> </c:v>
                </c:pt>
                <c:pt idx="259">
                  <c:v> </c:v>
                </c:pt>
                <c:pt idx="260">
                  <c:v> </c:v>
                </c:pt>
                <c:pt idx="261">
                  <c:v> </c:v>
                </c:pt>
                <c:pt idx="262">
                  <c:v> </c:v>
                </c:pt>
                <c:pt idx="263">
                  <c:v> </c:v>
                </c:pt>
                <c:pt idx="264">
                  <c:v> </c:v>
                </c:pt>
                <c:pt idx="265">
                  <c:v> </c:v>
                </c:pt>
                <c:pt idx="266">
                  <c:v> </c:v>
                </c:pt>
                <c:pt idx="267">
                  <c:v> </c:v>
                </c:pt>
                <c:pt idx="268">
                  <c:v> </c:v>
                </c:pt>
                <c:pt idx="269">
                  <c:v> </c:v>
                </c:pt>
                <c:pt idx="270">
                  <c:v> </c:v>
                </c:pt>
                <c:pt idx="271">
                  <c:v> </c:v>
                </c:pt>
                <c:pt idx="272">
                  <c:v> </c:v>
                </c:pt>
                <c:pt idx="273">
                  <c:v> </c:v>
                </c:pt>
                <c:pt idx="274">
                  <c:v> </c:v>
                </c:pt>
                <c:pt idx="275">
                  <c:v> </c:v>
                </c:pt>
                <c:pt idx="276">
                  <c:v> </c:v>
                </c:pt>
                <c:pt idx="277">
                  <c:v> </c:v>
                </c:pt>
                <c:pt idx="278">
                  <c:v> </c:v>
                </c:pt>
                <c:pt idx="279">
                  <c:v> </c:v>
                </c:pt>
                <c:pt idx="280">
                  <c:v> </c:v>
                </c:pt>
                <c:pt idx="281">
                  <c:v> </c:v>
                </c:pt>
                <c:pt idx="282">
                  <c:v> </c:v>
                </c:pt>
                <c:pt idx="283">
                  <c:v> </c:v>
                </c:pt>
                <c:pt idx="284">
                  <c:v> </c:v>
                </c:pt>
                <c:pt idx="285">
                  <c:v> </c:v>
                </c:pt>
                <c:pt idx="286">
                  <c:v> </c:v>
                </c:pt>
                <c:pt idx="287">
                  <c:v> </c:v>
                </c:pt>
                <c:pt idx="288">
                  <c:v> </c:v>
                </c:pt>
                <c:pt idx="289">
                  <c:v> </c:v>
                </c:pt>
                <c:pt idx="290">
                  <c:v> </c:v>
                </c:pt>
                <c:pt idx="291">
                  <c:v> </c:v>
                </c:pt>
                <c:pt idx="292">
                  <c:v> </c:v>
                </c:pt>
                <c:pt idx="293">
                  <c:v> </c:v>
                </c:pt>
                <c:pt idx="294">
                  <c:v> </c:v>
                </c:pt>
                <c:pt idx="295">
                  <c:v> </c:v>
                </c:pt>
                <c:pt idx="296">
                  <c:v> </c:v>
                </c:pt>
                <c:pt idx="297">
                  <c:v> </c:v>
                </c:pt>
                <c:pt idx="298">
                  <c:v> </c:v>
                </c:pt>
                <c:pt idx="299">
                  <c:v> </c:v>
                </c:pt>
                <c:pt idx="300">
                  <c:v>2010</c:v>
                </c:pt>
                <c:pt idx="301">
                  <c:v> </c:v>
                </c:pt>
                <c:pt idx="302">
                  <c:v> </c:v>
                </c:pt>
                <c:pt idx="303">
                  <c:v> </c:v>
                </c:pt>
                <c:pt idx="304">
                  <c:v> </c:v>
                </c:pt>
                <c:pt idx="305">
                  <c:v> </c:v>
                </c:pt>
                <c:pt idx="306">
                  <c:v> </c:v>
                </c:pt>
                <c:pt idx="307">
                  <c:v> </c:v>
                </c:pt>
                <c:pt idx="308">
                  <c:v> </c:v>
                </c:pt>
                <c:pt idx="309">
                  <c:v> </c:v>
                </c:pt>
                <c:pt idx="310">
                  <c:v> </c:v>
                </c:pt>
                <c:pt idx="311">
                  <c:v> </c:v>
                </c:pt>
                <c:pt idx="312">
                  <c:v> </c:v>
                </c:pt>
                <c:pt idx="313">
                  <c:v> </c:v>
                </c:pt>
                <c:pt idx="314">
                  <c:v> </c:v>
                </c:pt>
                <c:pt idx="315">
                  <c:v> </c:v>
                </c:pt>
                <c:pt idx="316">
                  <c:v> </c:v>
                </c:pt>
                <c:pt idx="317">
                  <c:v> </c:v>
                </c:pt>
                <c:pt idx="318">
                  <c:v> </c:v>
                </c:pt>
                <c:pt idx="319">
                  <c:v> </c:v>
                </c:pt>
                <c:pt idx="320">
                  <c:v> </c:v>
                </c:pt>
                <c:pt idx="321">
                  <c:v> </c:v>
                </c:pt>
                <c:pt idx="322">
                  <c:v> </c:v>
                </c:pt>
                <c:pt idx="323">
                  <c:v> </c:v>
                </c:pt>
                <c:pt idx="324">
                  <c:v> </c:v>
                </c:pt>
                <c:pt idx="325">
                  <c:v> </c:v>
                </c:pt>
                <c:pt idx="326">
                  <c:v> </c:v>
                </c:pt>
                <c:pt idx="327">
                  <c:v> </c:v>
                </c:pt>
                <c:pt idx="328">
                  <c:v> </c:v>
                </c:pt>
                <c:pt idx="329">
                  <c:v> </c:v>
                </c:pt>
                <c:pt idx="330">
                  <c:v> </c:v>
                </c:pt>
                <c:pt idx="331">
                  <c:v> </c:v>
                </c:pt>
                <c:pt idx="332">
                  <c:v> </c:v>
                </c:pt>
                <c:pt idx="333">
                  <c:v> </c:v>
                </c:pt>
                <c:pt idx="334">
                  <c:v> </c:v>
                </c:pt>
                <c:pt idx="335">
                  <c:v> </c:v>
                </c:pt>
                <c:pt idx="336">
                  <c:v> </c:v>
                </c:pt>
                <c:pt idx="337">
                  <c:v> </c:v>
                </c:pt>
                <c:pt idx="338">
                  <c:v> </c:v>
                </c:pt>
                <c:pt idx="339">
                  <c:v> </c:v>
                </c:pt>
                <c:pt idx="340">
                  <c:v> </c:v>
                </c:pt>
                <c:pt idx="341">
                  <c:v> </c:v>
                </c:pt>
                <c:pt idx="342">
                  <c:v> </c:v>
                </c:pt>
                <c:pt idx="343">
                  <c:v> </c:v>
                </c:pt>
                <c:pt idx="344">
                  <c:v> </c:v>
                </c:pt>
                <c:pt idx="345">
                  <c:v> </c:v>
                </c:pt>
                <c:pt idx="346">
                  <c:v> </c:v>
                </c:pt>
                <c:pt idx="347">
                  <c:v> </c:v>
                </c:pt>
                <c:pt idx="348">
                  <c:v> </c:v>
                </c:pt>
                <c:pt idx="349">
                  <c:v> </c:v>
                </c:pt>
                <c:pt idx="350">
                  <c:v> </c:v>
                </c:pt>
                <c:pt idx="351">
                  <c:v> </c:v>
                </c:pt>
                <c:pt idx="352">
                  <c:v> </c:v>
                </c:pt>
                <c:pt idx="353">
                  <c:v> </c:v>
                </c:pt>
                <c:pt idx="354">
                  <c:v> </c:v>
                </c:pt>
                <c:pt idx="355">
                  <c:v> </c:v>
                </c:pt>
                <c:pt idx="356">
                  <c:v> </c:v>
                </c:pt>
                <c:pt idx="357">
                  <c:v> </c:v>
                </c:pt>
                <c:pt idx="358">
                  <c:v> </c:v>
                </c:pt>
                <c:pt idx="359">
                  <c:v> </c:v>
                </c:pt>
                <c:pt idx="360">
                  <c:v>2015</c:v>
                </c:pt>
                <c:pt idx="361">
                  <c:v> </c:v>
                </c:pt>
                <c:pt idx="362">
                  <c:v> </c:v>
                </c:pt>
                <c:pt idx="363">
                  <c:v> </c:v>
                </c:pt>
                <c:pt idx="364">
                  <c:v> </c:v>
                </c:pt>
                <c:pt idx="365">
                  <c:v> </c:v>
                </c:pt>
                <c:pt idx="366">
                  <c:v> </c:v>
                </c:pt>
                <c:pt idx="367">
                  <c:v> </c:v>
                </c:pt>
                <c:pt idx="368">
                  <c:v> </c:v>
                </c:pt>
                <c:pt idx="369">
                  <c:v> </c:v>
                </c:pt>
                <c:pt idx="370">
                  <c:v> </c:v>
                </c:pt>
                <c:pt idx="371">
                  <c:v> </c:v>
                </c:pt>
                <c:pt idx="372">
                  <c:v> </c:v>
                </c:pt>
                <c:pt idx="373">
                  <c:v> </c:v>
                </c:pt>
                <c:pt idx="374">
                  <c:v> </c:v>
                </c:pt>
                <c:pt idx="375">
                  <c:v> </c:v>
                </c:pt>
                <c:pt idx="376">
                  <c:v> </c:v>
                </c:pt>
                <c:pt idx="377">
                  <c:v> </c:v>
                </c:pt>
                <c:pt idx="378">
                  <c:v> </c:v>
                </c:pt>
                <c:pt idx="379">
                  <c:v> </c:v>
                </c:pt>
                <c:pt idx="380">
                  <c:v> </c:v>
                </c:pt>
                <c:pt idx="381">
                  <c:v> </c:v>
                </c:pt>
                <c:pt idx="382">
                  <c:v> </c:v>
                </c:pt>
                <c:pt idx="383">
                  <c:v> </c:v>
                </c:pt>
                <c:pt idx="384">
                  <c:v> </c:v>
                </c:pt>
                <c:pt idx="385">
                  <c:v> </c:v>
                </c:pt>
                <c:pt idx="386">
                  <c:v> </c:v>
                </c:pt>
                <c:pt idx="387">
                  <c:v> </c:v>
                </c:pt>
                <c:pt idx="388">
                  <c:v> </c:v>
                </c:pt>
                <c:pt idx="389">
                  <c:v> </c:v>
                </c:pt>
                <c:pt idx="390">
                  <c:v> </c:v>
                </c:pt>
                <c:pt idx="391">
                  <c:v> </c:v>
                </c:pt>
                <c:pt idx="392">
                  <c:v> </c:v>
                </c:pt>
                <c:pt idx="393">
                  <c:v> </c:v>
                </c:pt>
                <c:pt idx="394">
                  <c:v> </c:v>
                </c:pt>
                <c:pt idx="395">
                  <c:v> </c:v>
                </c:pt>
                <c:pt idx="396">
                  <c:v> </c:v>
                </c:pt>
                <c:pt idx="397">
                  <c:v> </c:v>
                </c:pt>
                <c:pt idx="398">
                  <c:v> </c:v>
                </c:pt>
                <c:pt idx="399">
                  <c:v> </c:v>
                </c:pt>
                <c:pt idx="400">
                  <c:v> </c:v>
                </c:pt>
                <c:pt idx="401">
                  <c:v> </c:v>
                </c:pt>
                <c:pt idx="402">
                  <c:v> </c:v>
                </c:pt>
                <c:pt idx="403">
                  <c:v> </c:v>
                </c:pt>
                <c:pt idx="404">
                  <c:v> </c:v>
                </c:pt>
                <c:pt idx="405">
                  <c:v> </c:v>
                </c:pt>
                <c:pt idx="406">
                  <c:v> </c:v>
                </c:pt>
                <c:pt idx="407">
                  <c:v> </c:v>
                </c:pt>
                <c:pt idx="408">
                  <c:v> </c:v>
                </c:pt>
                <c:pt idx="409">
                  <c:v> </c:v>
                </c:pt>
                <c:pt idx="410">
                  <c:v> </c:v>
                </c:pt>
                <c:pt idx="411">
                  <c:v> </c:v>
                </c:pt>
                <c:pt idx="412">
                  <c:v> </c:v>
                </c:pt>
                <c:pt idx="413">
                  <c:v> </c:v>
                </c:pt>
                <c:pt idx="414">
                  <c:v> </c:v>
                </c:pt>
                <c:pt idx="415">
                  <c:v> </c:v>
                </c:pt>
                <c:pt idx="416">
                  <c:v> </c:v>
                </c:pt>
                <c:pt idx="417">
                  <c:v> </c:v>
                </c:pt>
                <c:pt idx="418">
                  <c:v> </c:v>
                </c:pt>
                <c:pt idx="419">
                  <c:v> </c:v>
                </c:pt>
                <c:pt idx="420">
                  <c:v>2020</c:v>
                </c:pt>
                <c:pt idx="421">
                  <c:v> </c:v>
                </c:pt>
                <c:pt idx="422">
                  <c:v> </c:v>
                </c:pt>
                <c:pt idx="423">
                  <c:v> </c:v>
                </c:pt>
                <c:pt idx="424">
                  <c:v> </c:v>
                </c:pt>
                <c:pt idx="425">
                  <c:v> </c:v>
                </c:pt>
                <c:pt idx="426">
                  <c:v> </c:v>
                </c:pt>
                <c:pt idx="427">
                  <c:v> </c:v>
                </c:pt>
                <c:pt idx="428">
                  <c:v> </c:v>
                </c:pt>
                <c:pt idx="429">
                  <c:v> </c:v>
                </c:pt>
                <c:pt idx="430">
                  <c:v> </c:v>
                </c:pt>
                <c:pt idx="431">
                  <c:v> </c:v>
                </c:pt>
                <c:pt idx="432">
                  <c:v> </c:v>
                </c:pt>
                <c:pt idx="433">
                  <c:v> </c:v>
                </c:pt>
                <c:pt idx="434">
                  <c:v> </c:v>
                </c:pt>
                <c:pt idx="435">
                  <c:v> </c:v>
                </c:pt>
                <c:pt idx="436">
                  <c:v> </c:v>
                </c:pt>
                <c:pt idx="437">
                  <c:v> </c:v>
                </c:pt>
                <c:pt idx="438">
                  <c:v> </c:v>
                </c:pt>
                <c:pt idx="439">
                  <c:v> </c:v>
                </c:pt>
                <c:pt idx="440">
                  <c:v> </c:v>
                </c:pt>
                <c:pt idx="441">
                  <c:v> </c:v>
                </c:pt>
                <c:pt idx="442">
                  <c:v> </c:v>
                </c:pt>
                <c:pt idx="443">
                  <c:v> </c:v>
                </c:pt>
                <c:pt idx="444">
                  <c:v> </c:v>
                </c:pt>
                <c:pt idx="445">
                  <c:v> </c:v>
                </c:pt>
                <c:pt idx="446">
                  <c:v> </c:v>
                </c:pt>
                <c:pt idx="447">
                  <c:v> </c:v>
                </c:pt>
                <c:pt idx="448">
                  <c:v> </c:v>
                </c:pt>
                <c:pt idx="449">
                  <c:v> </c:v>
                </c:pt>
                <c:pt idx="450">
                  <c:v> </c:v>
                </c:pt>
                <c:pt idx="451">
                  <c:v> </c:v>
                </c:pt>
                <c:pt idx="452">
                  <c:v> </c:v>
                </c:pt>
                <c:pt idx="453">
                  <c:v> </c:v>
                </c:pt>
                <c:pt idx="454">
                  <c:v> </c:v>
                </c:pt>
                <c:pt idx="455">
                  <c:v> </c:v>
                </c:pt>
                <c:pt idx="456">
                  <c:v> </c:v>
                </c:pt>
                <c:pt idx="457">
                  <c:v> </c:v>
                </c:pt>
                <c:pt idx="458">
                  <c:v> </c:v>
                </c:pt>
                <c:pt idx="459">
                  <c:v> </c:v>
                </c:pt>
                <c:pt idx="460">
                  <c:v> </c:v>
                </c:pt>
                <c:pt idx="461">
                  <c:v> </c:v>
                </c:pt>
                <c:pt idx="462">
                  <c:v> </c:v>
                </c:pt>
                <c:pt idx="463">
                  <c:v> </c:v>
                </c:pt>
                <c:pt idx="464">
                  <c:v> </c:v>
                </c:pt>
                <c:pt idx="465">
                  <c:v> </c:v>
                </c:pt>
                <c:pt idx="466">
                  <c:v> </c:v>
                </c:pt>
                <c:pt idx="467">
                  <c:v> </c:v>
                </c:pt>
                <c:pt idx="468">
                  <c:v> </c:v>
                </c:pt>
                <c:pt idx="469">
                  <c:v> </c:v>
                </c:pt>
                <c:pt idx="470">
                  <c:v> </c:v>
                </c:pt>
                <c:pt idx="471">
                  <c:v> </c:v>
                </c:pt>
                <c:pt idx="472">
                  <c:v> </c:v>
                </c:pt>
                <c:pt idx="473">
                  <c:v> </c:v>
                </c:pt>
                <c:pt idx="474">
                  <c:v> </c:v>
                </c:pt>
                <c:pt idx="475">
                  <c:v> </c:v>
                </c:pt>
                <c:pt idx="476">
                  <c:v> </c:v>
                </c:pt>
                <c:pt idx="477">
                  <c:v> </c:v>
                </c:pt>
                <c:pt idx="478">
                  <c:v> </c:v>
                </c:pt>
                <c:pt idx="479">
                  <c:v> </c:v>
                </c:pt>
                <c:pt idx="480">
                  <c:v>2025</c:v>
                </c:pt>
                <c:pt idx="481">
                  <c:v> </c:v>
                </c:pt>
                <c:pt idx="482">
                  <c:v> </c:v>
                </c:pt>
                <c:pt idx="483">
                  <c:v> </c:v>
                </c:pt>
                <c:pt idx="484">
                  <c:v> </c:v>
                </c:pt>
                <c:pt idx="485">
                  <c:v> </c:v>
                </c:pt>
                <c:pt idx="486">
                  <c:v> </c:v>
                </c:pt>
                <c:pt idx="487">
                  <c:v> </c:v>
                </c:pt>
                <c:pt idx="488">
                  <c:v> </c:v>
                </c:pt>
                <c:pt idx="489">
                  <c:v> </c:v>
                </c:pt>
                <c:pt idx="490">
                  <c:v> </c:v>
                </c:pt>
                <c:pt idx="491">
                  <c:v> </c:v>
                </c:pt>
                <c:pt idx="492">
                  <c:v> </c:v>
                </c:pt>
                <c:pt idx="493">
                  <c:v> </c:v>
                </c:pt>
                <c:pt idx="494">
                  <c:v> </c:v>
                </c:pt>
                <c:pt idx="495">
                  <c:v> </c:v>
                </c:pt>
                <c:pt idx="496">
                  <c:v> </c:v>
                </c:pt>
                <c:pt idx="497">
                  <c:v> </c:v>
                </c:pt>
                <c:pt idx="498">
                  <c:v> </c:v>
                </c:pt>
                <c:pt idx="499">
                  <c:v> </c:v>
                </c:pt>
              </c:strCache>
            </c:strRef>
          </c:cat>
          <c:val>
            <c:numRef>
              <c:f>Sheet1!$C$2:$C$501</c:f>
              <c:numCache>
                <c:formatCode>General</c:formatCode>
                <c:ptCount val="500"/>
                <c:pt idx="0">
                  <c:v>133.19999999999999</c:v>
                </c:pt>
                <c:pt idx="1">
                  <c:v>133.19999999999999</c:v>
                </c:pt>
                <c:pt idx="2">
                  <c:v>133.19999999999999</c:v>
                </c:pt>
                <c:pt idx="3">
                  <c:v>133.19999999999999</c:v>
                </c:pt>
                <c:pt idx="4">
                  <c:v>133.19999999999999</c:v>
                </c:pt>
                <c:pt idx="5">
                  <c:v>133.19999999999999</c:v>
                </c:pt>
                <c:pt idx="6">
                  <c:v>133.19999999999999</c:v>
                </c:pt>
                <c:pt idx="7">
                  <c:v>133.19999999999999</c:v>
                </c:pt>
                <c:pt idx="8">
                  <c:v>133.19999999999999</c:v>
                </c:pt>
                <c:pt idx="9">
                  <c:v>133.19999999999999</c:v>
                </c:pt>
                <c:pt idx="10">
                  <c:v>133.19999999999999</c:v>
                </c:pt>
                <c:pt idx="11">
                  <c:v>133.19999999999999</c:v>
                </c:pt>
                <c:pt idx="12">
                  <c:v>133.19999999999999</c:v>
                </c:pt>
                <c:pt idx="13">
                  <c:v>133.19999999999999</c:v>
                </c:pt>
                <c:pt idx="14">
                  <c:v>133.19999999999999</c:v>
                </c:pt>
                <c:pt idx="15">
                  <c:v>133.19999999999999</c:v>
                </c:pt>
                <c:pt idx="16">
                  <c:v>133.19999999999999</c:v>
                </c:pt>
                <c:pt idx="17">
                  <c:v>133.19999999999999</c:v>
                </c:pt>
                <c:pt idx="18">
                  <c:v>133.19999999999999</c:v>
                </c:pt>
                <c:pt idx="19">
                  <c:v>133.19999999999999</c:v>
                </c:pt>
                <c:pt idx="20">
                  <c:v>133.19999999999999</c:v>
                </c:pt>
                <c:pt idx="21">
                  <c:v>133.19999999999999</c:v>
                </c:pt>
                <c:pt idx="22">
                  <c:v>133.19999999999999</c:v>
                </c:pt>
                <c:pt idx="23">
                  <c:v>133.19999999999999</c:v>
                </c:pt>
                <c:pt idx="24">
                  <c:v>133.19999999999999</c:v>
                </c:pt>
                <c:pt idx="25">
                  <c:v>133.19999999999999</c:v>
                </c:pt>
                <c:pt idx="26">
                  <c:v>133.19999999999999</c:v>
                </c:pt>
                <c:pt idx="27">
                  <c:v>133.19999999999999</c:v>
                </c:pt>
                <c:pt idx="28">
                  <c:v>133.19999999999999</c:v>
                </c:pt>
                <c:pt idx="29">
                  <c:v>133.19999999999999</c:v>
                </c:pt>
                <c:pt idx="30">
                  <c:v>133.19999999999999</c:v>
                </c:pt>
                <c:pt idx="31">
                  <c:v>133.19999999999999</c:v>
                </c:pt>
                <c:pt idx="32">
                  <c:v>133.19999999999999</c:v>
                </c:pt>
                <c:pt idx="33">
                  <c:v>133.19999999999999</c:v>
                </c:pt>
                <c:pt idx="34">
                  <c:v>133.19999999999999</c:v>
                </c:pt>
                <c:pt idx="35">
                  <c:v>133.19999999999999</c:v>
                </c:pt>
                <c:pt idx="36">
                  <c:v>133.19999999999999</c:v>
                </c:pt>
                <c:pt idx="37">
                  <c:v>133.19999999999999</c:v>
                </c:pt>
                <c:pt idx="38">
                  <c:v>133.19999999999999</c:v>
                </c:pt>
                <c:pt idx="39">
                  <c:v>133.19999999999999</c:v>
                </c:pt>
                <c:pt idx="40">
                  <c:v>133.19999999999999</c:v>
                </c:pt>
                <c:pt idx="41">
                  <c:v>133.19999999999999</c:v>
                </c:pt>
                <c:pt idx="42">
                  <c:v>133.19999999999999</c:v>
                </c:pt>
                <c:pt idx="43">
                  <c:v>133.19999999999999</c:v>
                </c:pt>
                <c:pt idx="44">
                  <c:v>133.19999999999999</c:v>
                </c:pt>
                <c:pt idx="45">
                  <c:v>133.19999999999999</c:v>
                </c:pt>
                <c:pt idx="46">
                  <c:v>133.19999999999999</c:v>
                </c:pt>
                <c:pt idx="47">
                  <c:v>133.19999999999999</c:v>
                </c:pt>
                <c:pt idx="48">
                  <c:v>133.19999999999999</c:v>
                </c:pt>
                <c:pt idx="49">
                  <c:v>133.19999999999999</c:v>
                </c:pt>
                <c:pt idx="50">
                  <c:v>133.19999999999999</c:v>
                </c:pt>
                <c:pt idx="51">
                  <c:v>133.19999999999999</c:v>
                </c:pt>
                <c:pt idx="52">
                  <c:v>133.19999999999999</c:v>
                </c:pt>
                <c:pt idx="53">
                  <c:v>133.19999999999999</c:v>
                </c:pt>
                <c:pt idx="54">
                  <c:v>133.19999999999999</c:v>
                </c:pt>
                <c:pt idx="55">
                  <c:v>133.19999999999999</c:v>
                </c:pt>
                <c:pt idx="56">
                  <c:v>133.19999999999999</c:v>
                </c:pt>
                <c:pt idx="57">
                  <c:v>133.19999999999999</c:v>
                </c:pt>
                <c:pt idx="58">
                  <c:v>133.19999999999999</c:v>
                </c:pt>
                <c:pt idx="59">
                  <c:v>133.19999999999999</c:v>
                </c:pt>
                <c:pt idx="60">
                  <c:v>133.19999999999999</c:v>
                </c:pt>
                <c:pt idx="61">
                  <c:v>133.19999999999999</c:v>
                </c:pt>
                <c:pt idx="62">
                  <c:v>133.19999999999999</c:v>
                </c:pt>
                <c:pt idx="63">
                  <c:v>133.19999999999999</c:v>
                </c:pt>
                <c:pt idx="64">
                  <c:v>133.19999999999999</c:v>
                </c:pt>
                <c:pt idx="65">
                  <c:v>133.19999999999999</c:v>
                </c:pt>
                <c:pt idx="66">
                  <c:v>133.19999999999999</c:v>
                </c:pt>
                <c:pt idx="67">
                  <c:v>133.19999999999999</c:v>
                </c:pt>
                <c:pt idx="68">
                  <c:v>133.19999999999999</c:v>
                </c:pt>
                <c:pt idx="69">
                  <c:v>133.19999999999999</c:v>
                </c:pt>
                <c:pt idx="70">
                  <c:v>133.19999999999999</c:v>
                </c:pt>
                <c:pt idx="71">
                  <c:v>133.19999999999999</c:v>
                </c:pt>
                <c:pt idx="72">
                  <c:v>133.19999999999999</c:v>
                </c:pt>
                <c:pt idx="73">
                  <c:v>133.19999999999999</c:v>
                </c:pt>
                <c:pt idx="74">
                  <c:v>133.19999999999999</c:v>
                </c:pt>
                <c:pt idx="75">
                  <c:v>133.19999999999999</c:v>
                </c:pt>
                <c:pt idx="76">
                  <c:v>133.19999999999999</c:v>
                </c:pt>
                <c:pt idx="77">
                  <c:v>133.19999999999999</c:v>
                </c:pt>
                <c:pt idx="78">
                  <c:v>133.19999999999999</c:v>
                </c:pt>
                <c:pt idx="79">
                  <c:v>133.19999999999999</c:v>
                </c:pt>
                <c:pt idx="80">
                  <c:v>133.19999999999999</c:v>
                </c:pt>
                <c:pt idx="81">
                  <c:v>133.19999999999999</c:v>
                </c:pt>
                <c:pt idx="82">
                  <c:v>133.19999999999999</c:v>
                </c:pt>
                <c:pt idx="83">
                  <c:v>133.19999999999999</c:v>
                </c:pt>
                <c:pt idx="84">
                  <c:v>133.19999999999999</c:v>
                </c:pt>
                <c:pt idx="85">
                  <c:v>133.19999999999999</c:v>
                </c:pt>
                <c:pt idx="86">
                  <c:v>133.19999999999999</c:v>
                </c:pt>
                <c:pt idx="87">
                  <c:v>133.19999999999999</c:v>
                </c:pt>
                <c:pt idx="88">
                  <c:v>133.19999999999999</c:v>
                </c:pt>
                <c:pt idx="89">
                  <c:v>133.19999999999999</c:v>
                </c:pt>
                <c:pt idx="90">
                  <c:v>133.19999999999999</c:v>
                </c:pt>
                <c:pt idx="91">
                  <c:v>133.19999999999999</c:v>
                </c:pt>
                <c:pt idx="92">
                  <c:v>133.19999999999999</c:v>
                </c:pt>
                <c:pt idx="93">
                  <c:v>133.19999999999999</c:v>
                </c:pt>
                <c:pt idx="94">
                  <c:v>133.19999999999999</c:v>
                </c:pt>
                <c:pt idx="95">
                  <c:v>133.19999999999999</c:v>
                </c:pt>
                <c:pt idx="96">
                  <c:v>133.19999999999999</c:v>
                </c:pt>
                <c:pt idx="97">
                  <c:v>133.19999999999999</c:v>
                </c:pt>
                <c:pt idx="98">
                  <c:v>133.19999999999999</c:v>
                </c:pt>
                <c:pt idx="99">
                  <c:v>133.19999999999999</c:v>
                </c:pt>
                <c:pt idx="100">
                  <c:v>133.19999999999999</c:v>
                </c:pt>
                <c:pt idx="101">
                  <c:v>133.19999999999999</c:v>
                </c:pt>
                <c:pt idx="102">
                  <c:v>133.19999999999999</c:v>
                </c:pt>
                <c:pt idx="103">
                  <c:v>133.19999999999999</c:v>
                </c:pt>
                <c:pt idx="104">
                  <c:v>133.19999999999999</c:v>
                </c:pt>
                <c:pt idx="105">
                  <c:v>133.19999999999999</c:v>
                </c:pt>
                <c:pt idx="106">
                  <c:v>133.19999999999999</c:v>
                </c:pt>
                <c:pt idx="107">
                  <c:v>133.19999999999999</c:v>
                </c:pt>
                <c:pt idx="108">
                  <c:v>133.19999999999999</c:v>
                </c:pt>
                <c:pt idx="109">
                  <c:v>133.19999999999999</c:v>
                </c:pt>
                <c:pt idx="110">
                  <c:v>133.19999999999999</c:v>
                </c:pt>
                <c:pt idx="111">
                  <c:v>133.19999999999999</c:v>
                </c:pt>
                <c:pt idx="112">
                  <c:v>133.19999999999999</c:v>
                </c:pt>
                <c:pt idx="113">
                  <c:v>133.19999999999999</c:v>
                </c:pt>
                <c:pt idx="114">
                  <c:v>133.19999999999999</c:v>
                </c:pt>
                <c:pt idx="115">
                  <c:v>133.19999999999999</c:v>
                </c:pt>
                <c:pt idx="116">
                  <c:v>133.19999999999999</c:v>
                </c:pt>
                <c:pt idx="117">
                  <c:v>133.19999999999999</c:v>
                </c:pt>
                <c:pt idx="118">
                  <c:v>133.19999999999999</c:v>
                </c:pt>
                <c:pt idx="119">
                  <c:v>133.19999999999999</c:v>
                </c:pt>
                <c:pt idx="120">
                  <c:v>133.19999999999999</c:v>
                </c:pt>
                <c:pt idx="121">
                  <c:v>133.19999999999999</c:v>
                </c:pt>
                <c:pt idx="122">
                  <c:v>133.19999999999999</c:v>
                </c:pt>
                <c:pt idx="123">
                  <c:v>133.19999999999999</c:v>
                </c:pt>
                <c:pt idx="124">
                  <c:v>133.19999999999999</c:v>
                </c:pt>
                <c:pt idx="125">
                  <c:v>133.19999999999999</c:v>
                </c:pt>
                <c:pt idx="126">
                  <c:v>133.19999999999999</c:v>
                </c:pt>
                <c:pt idx="127">
                  <c:v>133.19999999999999</c:v>
                </c:pt>
                <c:pt idx="128">
                  <c:v>133.19999999999999</c:v>
                </c:pt>
                <c:pt idx="129">
                  <c:v>133.19999999999999</c:v>
                </c:pt>
                <c:pt idx="130">
                  <c:v>133.19999999999999</c:v>
                </c:pt>
                <c:pt idx="131">
                  <c:v>133.19999999999999</c:v>
                </c:pt>
                <c:pt idx="132">
                  <c:v>133.19999999999999</c:v>
                </c:pt>
                <c:pt idx="133">
                  <c:v>133.19999999999999</c:v>
                </c:pt>
                <c:pt idx="134">
                  <c:v>133.19999999999999</c:v>
                </c:pt>
                <c:pt idx="135">
                  <c:v>133.19999999999999</c:v>
                </c:pt>
                <c:pt idx="136">
                  <c:v>133.19999999999999</c:v>
                </c:pt>
                <c:pt idx="137">
                  <c:v>133.19999999999999</c:v>
                </c:pt>
                <c:pt idx="138">
                  <c:v>133.19999999999999</c:v>
                </c:pt>
                <c:pt idx="139">
                  <c:v>133.19999999999999</c:v>
                </c:pt>
                <c:pt idx="140">
                  <c:v>133.19999999999999</c:v>
                </c:pt>
                <c:pt idx="141">
                  <c:v>133.19999999999999</c:v>
                </c:pt>
                <c:pt idx="142">
                  <c:v>133.19999999999999</c:v>
                </c:pt>
                <c:pt idx="143">
                  <c:v>133.19999999999999</c:v>
                </c:pt>
                <c:pt idx="144">
                  <c:v>133.19999999999999</c:v>
                </c:pt>
                <c:pt idx="145">
                  <c:v>133.19999999999999</c:v>
                </c:pt>
                <c:pt idx="146">
                  <c:v>133.19999999999999</c:v>
                </c:pt>
                <c:pt idx="147">
                  <c:v>133.19999999999999</c:v>
                </c:pt>
                <c:pt idx="148">
                  <c:v>133.19999999999999</c:v>
                </c:pt>
                <c:pt idx="149">
                  <c:v>133.19999999999999</c:v>
                </c:pt>
                <c:pt idx="150">
                  <c:v>133.19999999999999</c:v>
                </c:pt>
                <c:pt idx="151">
                  <c:v>133.19999999999999</c:v>
                </c:pt>
                <c:pt idx="152">
                  <c:v>133.19999999999999</c:v>
                </c:pt>
                <c:pt idx="153">
                  <c:v>133.19999999999999</c:v>
                </c:pt>
                <c:pt idx="154">
                  <c:v>133.19999999999999</c:v>
                </c:pt>
                <c:pt idx="155">
                  <c:v>133.19999999999999</c:v>
                </c:pt>
                <c:pt idx="156">
                  <c:v>133.19999999999999</c:v>
                </c:pt>
                <c:pt idx="157">
                  <c:v>133.19999999999999</c:v>
                </c:pt>
                <c:pt idx="158">
                  <c:v>133.19999999999999</c:v>
                </c:pt>
                <c:pt idx="159">
                  <c:v>133.19999999999999</c:v>
                </c:pt>
                <c:pt idx="160">
                  <c:v>133.19999999999999</c:v>
                </c:pt>
                <c:pt idx="161">
                  <c:v>133.19999999999999</c:v>
                </c:pt>
                <c:pt idx="162">
                  <c:v>133.19999999999999</c:v>
                </c:pt>
                <c:pt idx="163">
                  <c:v>133.19999999999999</c:v>
                </c:pt>
                <c:pt idx="164">
                  <c:v>133.19999999999999</c:v>
                </c:pt>
                <c:pt idx="165">
                  <c:v>133.19999999999999</c:v>
                </c:pt>
                <c:pt idx="166">
                  <c:v>133.19999999999999</c:v>
                </c:pt>
                <c:pt idx="167">
                  <c:v>133.19999999999999</c:v>
                </c:pt>
                <c:pt idx="168">
                  <c:v>133.19999999999999</c:v>
                </c:pt>
                <c:pt idx="169">
                  <c:v>133.19999999999999</c:v>
                </c:pt>
                <c:pt idx="170">
                  <c:v>133.19999999999999</c:v>
                </c:pt>
                <c:pt idx="171">
                  <c:v>133.19999999999999</c:v>
                </c:pt>
                <c:pt idx="172">
                  <c:v>133.19999999999999</c:v>
                </c:pt>
                <c:pt idx="173">
                  <c:v>133.19999999999999</c:v>
                </c:pt>
                <c:pt idx="174">
                  <c:v>133.19999999999999</c:v>
                </c:pt>
                <c:pt idx="175">
                  <c:v>133.19999999999999</c:v>
                </c:pt>
                <c:pt idx="176">
                  <c:v>133.19999999999999</c:v>
                </c:pt>
                <c:pt idx="177">
                  <c:v>133.19999999999999</c:v>
                </c:pt>
                <c:pt idx="178">
                  <c:v>133.19999999999999</c:v>
                </c:pt>
                <c:pt idx="179">
                  <c:v>133.19999999999999</c:v>
                </c:pt>
                <c:pt idx="180">
                  <c:v>133.19999999999999</c:v>
                </c:pt>
                <c:pt idx="181">
                  <c:v>133.19999999999999</c:v>
                </c:pt>
                <c:pt idx="182">
                  <c:v>133.19999999999999</c:v>
                </c:pt>
                <c:pt idx="183">
                  <c:v>133.19999999999999</c:v>
                </c:pt>
                <c:pt idx="184">
                  <c:v>133.19999999999999</c:v>
                </c:pt>
                <c:pt idx="185">
                  <c:v>133.19999999999999</c:v>
                </c:pt>
                <c:pt idx="186">
                  <c:v>133.19999999999999</c:v>
                </c:pt>
                <c:pt idx="187">
                  <c:v>133.19999999999999</c:v>
                </c:pt>
                <c:pt idx="188">
                  <c:v>133.19999999999999</c:v>
                </c:pt>
                <c:pt idx="189">
                  <c:v>133.19999999999999</c:v>
                </c:pt>
                <c:pt idx="190">
                  <c:v>133.19999999999999</c:v>
                </c:pt>
                <c:pt idx="191">
                  <c:v>133.19999999999999</c:v>
                </c:pt>
                <c:pt idx="192">
                  <c:v>133.19999999999999</c:v>
                </c:pt>
                <c:pt idx="193">
                  <c:v>133.19999999999999</c:v>
                </c:pt>
                <c:pt idx="194">
                  <c:v>133.19999999999999</c:v>
                </c:pt>
                <c:pt idx="195">
                  <c:v>133.19999999999999</c:v>
                </c:pt>
                <c:pt idx="196">
                  <c:v>133.19999999999999</c:v>
                </c:pt>
                <c:pt idx="197">
                  <c:v>133.19999999999999</c:v>
                </c:pt>
                <c:pt idx="198">
                  <c:v>133.19999999999999</c:v>
                </c:pt>
                <c:pt idx="199">
                  <c:v>133.19999999999999</c:v>
                </c:pt>
                <c:pt idx="200">
                  <c:v>133.19999999999999</c:v>
                </c:pt>
                <c:pt idx="201">
                  <c:v>133.19999999999999</c:v>
                </c:pt>
                <c:pt idx="202">
                  <c:v>133.19999999999999</c:v>
                </c:pt>
                <c:pt idx="203">
                  <c:v>133.19999999999999</c:v>
                </c:pt>
                <c:pt idx="204">
                  <c:v>133.19999999999999</c:v>
                </c:pt>
                <c:pt idx="205">
                  <c:v>133.19999999999999</c:v>
                </c:pt>
                <c:pt idx="206">
                  <c:v>133.19999999999999</c:v>
                </c:pt>
                <c:pt idx="207">
                  <c:v>133.19999999999999</c:v>
                </c:pt>
                <c:pt idx="208">
                  <c:v>133.19999999999999</c:v>
                </c:pt>
                <c:pt idx="209">
                  <c:v>133.19999999999999</c:v>
                </c:pt>
                <c:pt idx="210">
                  <c:v>133.19999999999999</c:v>
                </c:pt>
                <c:pt idx="211">
                  <c:v>133.19999999999999</c:v>
                </c:pt>
                <c:pt idx="212">
                  <c:v>133.19999999999999</c:v>
                </c:pt>
                <c:pt idx="213">
                  <c:v>133.19999999999999</c:v>
                </c:pt>
                <c:pt idx="214">
                  <c:v>133.19999999999999</c:v>
                </c:pt>
                <c:pt idx="215">
                  <c:v>133.19999999999999</c:v>
                </c:pt>
                <c:pt idx="216">
                  <c:v>133.19999999999999</c:v>
                </c:pt>
                <c:pt idx="217">
                  <c:v>133.19999999999999</c:v>
                </c:pt>
                <c:pt idx="218">
                  <c:v>133.19999999999999</c:v>
                </c:pt>
                <c:pt idx="219">
                  <c:v>133.19999999999999</c:v>
                </c:pt>
                <c:pt idx="220">
                  <c:v>133.19999999999999</c:v>
                </c:pt>
                <c:pt idx="221">
                  <c:v>133.19999999999999</c:v>
                </c:pt>
                <c:pt idx="222">
                  <c:v>133.19999999999999</c:v>
                </c:pt>
                <c:pt idx="223">
                  <c:v>133.19999999999999</c:v>
                </c:pt>
                <c:pt idx="224">
                  <c:v>133.19999999999999</c:v>
                </c:pt>
                <c:pt idx="225">
                  <c:v>133.19999999999999</c:v>
                </c:pt>
                <c:pt idx="226">
                  <c:v>133.19999999999999</c:v>
                </c:pt>
                <c:pt idx="227">
                  <c:v>133.19999999999999</c:v>
                </c:pt>
                <c:pt idx="228">
                  <c:v>133.19999999999999</c:v>
                </c:pt>
                <c:pt idx="229">
                  <c:v>133.19999999999999</c:v>
                </c:pt>
                <c:pt idx="230">
                  <c:v>133.19999999999999</c:v>
                </c:pt>
                <c:pt idx="231">
                  <c:v>133.19999999999999</c:v>
                </c:pt>
                <c:pt idx="232">
                  <c:v>133.19999999999999</c:v>
                </c:pt>
                <c:pt idx="233">
                  <c:v>133.19999999999999</c:v>
                </c:pt>
                <c:pt idx="234">
                  <c:v>133.19999999999999</c:v>
                </c:pt>
                <c:pt idx="235">
                  <c:v>133.19999999999999</c:v>
                </c:pt>
                <c:pt idx="236">
                  <c:v>133.19999999999999</c:v>
                </c:pt>
                <c:pt idx="237">
                  <c:v>133.19999999999999</c:v>
                </c:pt>
                <c:pt idx="238">
                  <c:v>133.19999999999999</c:v>
                </c:pt>
                <c:pt idx="239">
                  <c:v>133.19999999999999</c:v>
                </c:pt>
                <c:pt idx="240">
                  <c:v>133.19999999999999</c:v>
                </c:pt>
                <c:pt idx="241">
                  <c:v>133.19999999999999</c:v>
                </c:pt>
                <c:pt idx="242">
                  <c:v>133.19999999999999</c:v>
                </c:pt>
                <c:pt idx="243">
                  <c:v>133.19999999999999</c:v>
                </c:pt>
                <c:pt idx="244">
                  <c:v>133.19999999999999</c:v>
                </c:pt>
                <c:pt idx="245">
                  <c:v>133.19999999999999</c:v>
                </c:pt>
                <c:pt idx="246">
                  <c:v>133.19999999999999</c:v>
                </c:pt>
                <c:pt idx="247">
                  <c:v>133.19999999999999</c:v>
                </c:pt>
                <c:pt idx="248">
                  <c:v>133.19999999999999</c:v>
                </c:pt>
                <c:pt idx="249">
                  <c:v>133.19999999999999</c:v>
                </c:pt>
                <c:pt idx="250">
                  <c:v>133.19999999999999</c:v>
                </c:pt>
                <c:pt idx="251">
                  <c:v>133.19999999999999</c:v>
                </c:pt>
                <c:pt idx="252">
                  <c:v>133.19999999999999</c:v>
                </c:pt>
                <c:pt idx="253">
                  <c:v>133.19999999999999</c:v>
                </c:pt>
                <c:pt idx="254">
                  <c:v>133.19999999999999</c:v>
                </c:pt>
                <c:pt idx="255">
                  <c:v>133.19999999999999</c:v>
                </c:pt>
                <c:pt idx="256">
                  <c:v>133.19999999999999</c:v>
                </c:pt>
                <c:pt idx="257">
                  <c:v>133.19999999999999</c:v>
                </c:pt>
                <c:pt idx="258">
                  <c:v>133.19999999999999</c:v>
                </c:pt>
                <c:pt idx="259">
                  <c:v>133.19999999999999</c:v>
                </c:pt>
                <c:pt idx="260">
                  <c:v>133.19999999999999</c:v>
                </c:pt>
                <c:pt idx="261">
                  <c:v>133.19999999999999</c:v>
                </c:pt>
                <c:pt idx="262">
                  <c:v>133.19999999999999</c:v>
                </c:pt>
                <c:pt idx="263">
                  <c:v>133.19999999999999</c:v>
                </c:pt>
                <c:pt idx="264">
                  <c:v>133.19999999999999</c:v>
                </c:pt>
                <c:pt idx="265">
                  <c:v>133.19999999999999</c:v>
                </c:pt>
                <c:pt idx="266">
                  <c:v>133.19999999999999</c:v>
                </c:pt>
                <c:pt idx="267">
                  <c:v>133.19999999999999</c:v>
                </c:pt>
                <c:pt idx="268">
                  <c:v>133.19999999999999</c:v>
                </c:pt>
                <c:pt idx="269">
                  <c:v>133.19999999999999</c:v>
                </c:pt>
                <c:pt idx="270">
                  <c:v>133.19999999999999</c:v>
                </c:pt>
                <c:pt idx="271">
                  <c:v>133.19999999999999</c:v>
                </c:pt>
                <c:pt idx="272">
                  <c:v>133.19999999999999</c:v>
                </c:pt>
                <c:pt idx="273">
                  <c:v>133.19999999999999</c:v>
                </c:pt>
                <c:pt idx="274">
                  <c:v>133.19999999999999</c:v>
                </c:pt>
                <c:pt idx="275">
                  <c:v>133.19999999999999</c:v>
                </c:pt>
                <c:pt idx="276">
                  <c:v>133.19999999999999</c:v>
                </c:pt>
                <c:pt idx="277">
                  <c:v>133.19999999999999</c:v>
                </c:pt>
                <c:pt idx="278">
                  <c:v>133.19999999999999</c:v>
                </c:pt>
                <c:pt idx="279">
                  <c:v>133.19999999999999</c:v>
                </c:pt>
                <c:pt idx="280">
                  <c:v>133.19999999999999</c:v>
                </c:pt>
                <c:pt idx="281">
                  <c:v>133.19999999999999</c:v>
                </c:pt>
                <c:pt idx="282">
                  <c:v>133.19999999999999</c:v>
                </c:pt>
                <c:pt idx="283">
                  <c:v>133.19999999999999</c:v>
                </c:pt>
                <c:pt idx="284">
                  <c:v>133.19999999999999</c:v>
                </c:pt>
                <c:pt idx="285">
                  <c:v>133.19999999999999</c:v>
                </c:pt>
                <c:pt idx="286">
                  <c:v>133.19999999999999</c:v>
                </c:pt>
                <c:pt idx="287">
                  <c:v>133.19999999999999</c:v>
                </c:pt>
                <c:pt idx="288">
                  <c:v>133.19999999999999</c:v>
                </c:pt>
                <c:pt idx="289">
                  <c:v>133.19999999999999</c:v>
                </c:pt>
                <c:pt idx="290">
                  <c:v>133.19999999999999</c:v>
                </c:pt>
                <c:pt idx="291">
                  <c:v>133.19999999999999</c:v>
                </c:pt>
                <c:pt idx="292">
                  <c:v>133.19999999999999</c:v>
                </c:pt>
                <c:pt idx="293">
                  <c:v>133.19999999999999</c:v>
                </c:pt>
                <c:pt idx="294">
                  <c:v>133.19999999999999</c:v>
                </c:pt>
                <c:pt idx="295">
                  <c:v>133.19999999999999</c:v>
                </c:pt>
                <c:pt idx="296">
                  <c:v>133.19999999999999</c:v>
                </c:pt>
                <c:pt idx="297">
                  <c:v>133.19999999999999</c:v>
                </c:pt>
                <c:pt idx="298">
                  <c:v>133.19999999999999</c:v>
                </c:pt>
                <c:pt idx="299">
                  <c:v>133.19999999999999</c:v>
                </c:pt>
                <c:pt idx="300">
                  <c:v>133.19999999999999</c:v>
                </c:pt>
                <c:pt idx="301">
                  <c:v>133.19999999999999</c:v>
                </c:pt>
                <c:pt idx="302">
                  <c:v>133.19999999999999</c:v>
                </c:pt>
                <c:pt idx="303">
                  <c:v>133.19999999999999</c:v>
                </c:pt>
                <c:pt idx="304">
                  <c:v>133.19999999999999</c:v>
                </c:pt>
                <c:pt idx="305">
                  <c:v>133.19999999999999</c:v>
                </c:pt>
                <c:pt idx="306">
                  <c:v>133.19999999999999</c:v>
                </c:pt>
                <c:pt idx="307">
                  <c:v>133.19999999999999</c:v>
                </c:pt>
                <c:pt idx="308">
                  <c:v>133.19999999999999</c:v>
                </c:pt>
                <c:pt idx="309">
                  <c:v>133.19999999999999</c:v>
                </c:pt>
                <c:pt idx="310">
                  <c:v>133.19999999999999</c:v>
                </c:pt>
                <c:pt idx="311">
                  <c:v>133.19999999999999</c:v>
                </c:pt>
                <c:pt idx="312">
                  <c:v>133.19999999999999</c:v>
                </c:pt>
                <c:pt idx="313">
                  <c:v>133.19999999999999</c:v>
                </c:pt>
                <c:pt idx="314">
                  <c:v>133.19999999999999</c:v>
                </c:pt>
                <c:pt idx="315">
                  <c:v>133.19999999999999</c:v>
                </c:pt>
                <c:pt idx="316">
                  <c:v>133.19999999999999</c:v>
                </c:pt>
                <c:pt idx="317">
                  <c:v>133.19999999999999</c:v>
                </c:pt>
                <c:pt idx="318">
                  <c:v>133.19999999999999</c:v>
                </c:pt>
                <c:pt idx="319">
                  <c:v>133.19999999999999</c:v>
                </c:pt>
                <c:pt idx="320">
                  <c:v>133.19999999999999</c:v>
                </c:pt>
                <c:pt idx="321">
                  <c:v>133.19999999999999</c:v>
                </c:pt>
                <c:pt idx="322">
                  <c:v>133.19999999999999</c:v>
                </c:pt>
                <c:pt idx="323">
                  <c:v>133.19999999999999</c:v>
                </c:pt>
                <c:pt idx="324">
                  <c:v>133.19999999999999</c:v>
                </c:pt>
                <c:pt idx="325">
                  <c:v>133.19999999999999</c:v>
                </c:pt>
                <c:pt idx="326">
                  <c:v>133.19999999999999</c:v>
                </c:pt>
                <c:pt idx="327">
                  <c:v>133.19999999999999</c:v>
                </c:pt>
                <c:pt idx="328">
                  <c:v>133.19999999999999</c:v>
                </c:pt>
                <c:pt idx="329">
                  <c:v>133.19999999999999</c:v>
                </c:pt>
                <c:pt idx="330">
                  <c:v>133.19999999999999</c:v>
                </c:pt>
                <c:pt idx="331">
                  <c:v>133.19999999999999</c:v>
                </c:pt>
                <c:pt idx="332">
                  <c:v>133.19999999999999</c:v>
                </c:pt>
                <c:pt idx="333">
                  <c:v>133.19999999999999</c:v>
                </c:pt>
                <c:pt idx="334">
                  <c:v>133.19999999999999</c:v>
                </c:pt>
                <c:pt idx="335">
                  <c:v>133.19999999999999</c:v>
                </c:pt>
                <c:pt idx="336">
                  <c:v>133.19999999999999</c:v>
                </c:pt>
                <c:pt idx="337">
                  <c:v>133.19999999999999</c:v>
                </c:pt>
                <c:pt idx="338">
                  <c:v>133.19999999999999</c:v>
                </c:pt>
                <c:pt idx="339">
                  <c:v>133.19999999999999</c:v>
                </c:pt>
                <c:pt idx="340">
                  <c:v>133.19999999999999</c:v>
                </c:pt>
                <c:pt idx="341">
                  <c:v>133.19999999999999</c:v>
                </c:pt>
                <c:pt idx="342">
                  <c:v>133.19999999999999</c:v>
                </c:pt>
                <c:pt idx="343">
                  <c:v>133.19999999999999</c:v>
                </c:pt>
                <c:pt idx="344">
                  <c:v>133.19999999999999</c:v>
                </c:pt>
                <c:pt idx="345">
                  <c:v>133.19999999999999</c:v>
                </c:pt>
                <c:pt idx="346">
                  <c:v>133.19999999999999</c:v>
                </c:pt>
                <c:pt idx="347">
                  <c:v>133.19999999999999</c:v>
                </c:pt>
                <c:pt idx="348">
                  <c:v>133.19999999999999</c:v>
                </c:pt>
                <c:pt idx="349">
                  <c:v>133.19999999999999</c:v>
                </c:pt>
                <c:pt idx="350">
                  <c:v>133.19999999999999</c:v>
                </c:pt>
                <c:pt idx="351">
                  <c:v>133.19999999999999</c:v>
                </c:pt>
                <c:pt idx="352">
                  <c:v>133.19999999999999</c:v>
                </c:pt>
                <c:pt idx="353">
                  <c:v>133.19999999999999</c:v>
                </c:pt>
                <c:pt idx="354">
                  <c:v>133.19999999999999</c:v>
                </c:pt>
                <c:pt idx="355">
                  <c:v>133.19999999999999</c:v>
                </c:pt>
                <c:pt idx="356">
                  <c:v>133.19999999999999</c:v>
                </c:pt>
                <c:pt idx="357">
                  <c:v>133.19999999999999</c:v>
                </c:pt>
                <c:pt idx="358">
                  <c:v>133.19999999999999</c:v>
                </c:pt>
                <c:pt idx="359">
                  <c:v>133.19999999999999</c:v>
                </c:pt>
                <c:pt idx="360">
                  <c:v>133.19999999999999</c:v>
                </c:pt>
                <c:pt idx="361">
                  <c:v>133.19999999999999</c:v>
                </c:pt>
                <c:pt idx="362">
                  <c:v>133.19999999999999</c:v>
                </c:pt>
                <c:pt idx="363">
                  <c:v>133.19999999999999</c:v>
                </c:pt>
                <c:pt idx="364">
                  <c:v>133.19999999999999</c:v>
                </c:pt>
                <c:pt idx="365">
                  <c:v>133.19999999999999</c:v>
                </c:pt>
                <c:pt idx="366">
                  <c:v>133.19999999999999</c:v>
                </c:pt>
                <c:pt idx="367">
                  <c:v>133.19999999999999</c:v>
                </c:pt>
                <c:pt idx="368">
                  <c:v>133.19999999999999</c:v>
                </c:pt>
                <c:pt idx="369">
                  <c:v>133.19999999999999</c:v>
                </c:pt>
                <c:pt idx="370">
                  <c:v>133.19999999999999</c:v>
                </c:pt>
                <c:pt idx="371">
                  <c:v>133.19999999999999</c:v>
                </c:pt>
                <c:pt idx="372">
                  <c:v>133.19999999999999</c:v>
                </c:pt>
                <c:pt idx="373">
                  <c:v>133.19999999999999</c:v>
                </c:pt>
                <c:pt idx="374">
                  <c:v>133.19999999999999</c:v>
                </c:pt>
                <c:pt idx="375">
                  <c:v>133.19999999999999</c:v>
                </c:pt>
                <c:pt idx="376">
                  <c:v>133.19999999999999</c:v>
                </c:pt>
                <c:pt idx="377">
                  <c:v>133.19999999999999</c:v>
                </c:pt>
                <c:pt idx="378">
                  <c:v>133.19999999999999</c:v>
                </c:pt>
                <c:pt idx="379">
                  <c:v>133.19999999999999</c:v>
                </c:pt>
                <c:pt idx="380">
                  <c:v>133.19999999999999</c:v>
                </c:pt>
                <c:pt idx="381">
                  <c:v>133.19999999999999</c:v>
                </c:pt>
                <c:pt idx="382">
                  <c:v>133.19999999999999</c:v>
                </c:pt>
                <c:pt idx="383">
                  <c:v>133.19999999999999</c:v>
                </c:pt>
                <c:pt idx="384">
                  <c:v>133.19999999999999</c:v>
                </c:pt>
                <c:pt idx="385">
                  <c:v>133.19999999999999</c:v>
                </c:pt>
                <c:pt idx="386">
                  <c:v>133.19999999999999</c:v>
                </c:pt>
                <c:pt idx="387">
                  <c:v>133.19999999999999</c:v>
                </c:pt>
                <c:pt idx="388">
                  <c:v>133.19999999999999</c:v>
                </c:pt>
                <c:pt idx="389">
                  <c:v>133.19999999999999</c:v>
                </c:pt>
                <c:pt idx="390">
                  <c:v>133.19999999999999</c:v>
                </c:pt>
                <c:pt idx="391">
                  <c:v>133.19999999999999</c:v>
                </c:pt>
                <c:pt idx="392">
                  <c:v>133.19999999999999</c:v>
                </c:pt>
                <c:pt idx="393">
                  <c:v>133.19999999999999</c:v>
                </c:pt>
                <c:pt idx="394">
                  <c:v>133.19999999999999</c:v>
                </c:pt>
                <c:pt idx="395">
                  <c:v>133.19999999999999</c:v>
                </c:pt>
                <c:pt idx="396">
                  <c:v>133.19999999999999</c:v>
                </c:pt>
                <c:pt idx="397">
                  <c:v>133.19999999999999</c:v>
                </c:pt>
                <c:pt idx="398">
                  <c:v>133.19999999999999</c:v>
                </c:pt>
                <c:pt idx="399">
                  <c:v>133.19999999999999</c:v>
                </c:pt>
                <c:pt idx="400">
                  <c:v>133.19999999999999</c:v>
                </c:pt>
                <c:pt idx="401">
                  <c:v>133.19999999999999</c:v>
                </c:pt>
                <c:pt idx="402">
                  <c:v>133.19999999999999</c:v>
                </c:pt>
                <c:pt idx="403">
                  <c:v>133.19999999999999</c:v>
                </c:pt>
                <c:pt idx="404">
                  <c:v>133.19999999999999</c:v>
                </c:pt>
                <c:pt idx="405">
                  <c:v>133.19999999999999</c:v>
                </c:pt>
                <c:pt idx="406">
                  <c:v>133.19999999999999</c:v>
                </c:pt>
                <c:pt idx="407">
                  <c:v>133.19999999999999</c:v>
                </c:pt>
                <c:pt idx="408">
                  <c:v>133.19999999999999</c:v>
                </c:pt>
                <c:pt idx="409">
                  <c:v>133.19999999999999</c:v>
                </c:pt>
                <c:pt idx="410">
                  <c:v>133.19999999999999</c:v>
                </c:pt>
                <c:pt idx="411">
                  <c:v>133.19999999999999</c:v>
                </c:pt>
                <c:pt idx="412">
                  <c:v>133.19999999999999</c:v>
                </c:pt>
                <c:pt idx="413">
                  <c:v>133.19999999999999</c:v>
                </c:pt>
                <c:pt idx="414">
                  <c:v>133.19999999999999</c:v>
                </c:pt>
                <c:pt idx="415">
                  <c:v>133.19999999999999</c:v>
                </c:pt>
                <c:pt idx="416">
                  <c:v>133.19999999999999</c:v>
                </c:pt>
                <c:pt idx="417">
                  <c:v>133.19999999999999</c:v>
                </c:pt>
                <c:pt idx="418">
                  <c:v>133.19999999999999</c:v>
                </c:pt>
                <c:pt idx="419">
                  <c:v>133.19999999999999</c:v>
                </c:pt>
                <c:pt idx="420">
                  <c:v>133.19999999999999</c:v>
                </c:pt>
                <c:pt idx="421">
                  <c:v>133.19999999999999</c:v>
                </c:pt>
                <c:pt idx="422">
                  <c:v>133.19999999999999</c:v>
                </c:pt>
                <c:pt idx="423">
                  <c:v>133.19999999999999</c:v>
                </c:pt>
                <c:pt idx="424">
                  <c:v>133.19999999999999</c:v>
                </c:pt>
                <c:pt idx="425">
                  <c:v>133.19999999999999</c:v>
                </c:pt>
                <c:pt idx="426">
                  <c:v>133.19999999999999</c:v>
                </c:pt>
                <c:pt idx="427">
                  <c:v>133.19999999999999</c:v>
                </c:pt>
                <c:pt idx="428">
                  <c:v>133.19999999999999</c:v>
                </c:pt>
                <c:pt idx="429">
                  <c:v>133.19999999999999</c:v>
                </c:pt>
                <c:pt idx="430">
                  <c:v>133.19999999999999</c:v>
                </c:pt>
                <c:pt idx="431">
                  <c:v>133.19999999999999</c:v>
                </c:pt>
                <c:pt idx="432">
                  <c:v>133.19999999999999</c:v>
                </c:pt>
                <c:pt idx="433">
                  <c:v>133.19999999999999</c:v>
                </c:pt>
                <c:pt idx="434">
                  <c:v>133.19999999999999</c:v>
                </c:pt>
                <c:pt idx="435">
                  <c:v>133.19999999999999</c:v>
                </c:pt>
                <c:pt idx="436">
                  <c:v>133.19999999999999</c:v>
                </c:pt>
                <c:pt idx="437">
                  <c:v>133.19999999999999</c:v>
                </c:pt>
                <c:pt idx="438">
                  <c:v>133.19999999999999</c:v>
                </c:pt>
                <c:pt idx="439">
                  <c:v>133.19999999999999</c:v>
                </c:pt>
                <c:pt idx="440">
                  <c:v>133.19999999999999</c:v>
                </c:pt>
                <c:pt idx="441">
                  <c:v>133.19999999999999</c:v>
                </c:pt>
                <c:pt idx="442">
                  <c:v>133.19999999999999</c:v>
                </c:pt>
                <c:pt idx="443">
                  <c:v>133.19999999999999</c:v>
                </c:pt>
                <c:pt idx="444">
                  <c:v>133.19999999999999</c:v>
                </c:pt>
                <c:pt idx="445">
                  <c:v>133.19999999999999</c:v>
                </c:pt>
                <c:pt idx="446">
                  <c:v>133.19999999999999</c:v>
                </c:pt>
                <c:pt idx="447">
                  <c:v>133.19999999999999</c:v>
                </c:pt>
                <c:pt idx="448">
                  <c:v>133.19999999999999</c:v>
                </c:pt>
                <c:pt idx="449">
                  <c:v>133.19999999999999</c:v>
                </c:pt>
                <c:pt idx="450">
                  <c:v>133.19999999999999</c:v>
                </c:pt>
                <c:pt idx="451">
                  <c:v>133.19999999999999</c:v>
                </c:pt>
                <c:pt idx="452">
                  <c:v>133.19999999999999</c:v>
                </c:pt>
                <c:pt idx="453">
                  <c:v>133.19999999999999</c:v>
                </c:pt>
                <c:pt idx="454">
                  <c:v>133.19999999999999</c:v>
                </c:pt>
                <c:pt idx="455">
                  <c:v>133.19999999999999</c:v>
                </c:pt>
                <c:pt idx="456">
                  <c:v>133.19999999999999</c:v>
                </c:pt>
                <c:pt idx="457">
                  <c:v>133.19999999999999</c:v>
                </c:pt>
                <c:pt idx="458">
                  <c:v>133.19999999999999</c:v>
                </c:pt>
                <c:pt idx="459">
                  <c:v>133.19999999999999</c:v>
                </c:pt>
                <c:pt idx="460">
                  <c:v>133.19999999999999</c:v>
                </c:pt>
                <c:pt idx="461">
                  <c:v>133.19999999999999</c:v>
                </c:pt>
                <c:pt idx="462">
                  <c:v>133.19999999999999</c:v>
                </c:pt>
                <c:pt idx="463">
                  <c:v>133.19999999999999</c:v>
                </c:pt>
                <c:pt idx="464">
                  <c:v>133.19999999999999</c:v>
                </c:pt>
                <c:pt idx="465">
                  <c:v>133.19999999999999</c:v>
                </c:pt>
                <c:pt idx="466">
                  <c:v>133.19999999999999</c:v>
                </c:pt>
                <c:pt idx="467">
                  <c:v>133.19999999999999</c:v>
                </c:pt>
                <c:pt idx="468">
                  <c:v>133.19999999999999</c:v>
                </c:pt>
                <c:pt idx="469">
                  <c:v>133.19999999999999</c:v>
                </c:pt>
                <c:pt idx="470">
                  <c:v>133.19999999999999</c:v>
                </c:pt>
                <c:pt idx="471">
                  <c:v>133.19999999999999</c:v>
                </c:pt>
                <c:pt idx="472">
                  <c:v>133.19999999999999</c:v>
                </c:pt>
                <c:pt idx="473">
                  <c:v>133.19999999999999</c:v>
                </c:pt>
                <c:pt idx="474">
                  <c:v>133.19999999999999</c:v>
                </c:pt>
                <c:pt idx="475">
                  <c:v>133.19999999999999</c:v>
                </c:pt>
                <c:pt idx="476">
                  <c:v>133.19999999999999</c:v>
                </c:pt>
                <c:pt idx="477">
                  <c:v>133.19999999999999</c:v>
                </c:pt>
                <c:pt idx="478">
                  <c:v>133.19999999999999</c:v>
                </c:pt>
                <c:pt idx="479">
                  <c:v>133.19999999999999</c:v>
                </c:pt>
                <c:pt idx="480">
                  <c:v>133.19999999999999</c:v>
                </c:pt>
                <c:pt idx="481">
                  <c:v>133.19999999999999</c:v>
                </c:pt>
                <c:pt idx="482">
                  <c:v>133.19999999999999</c:v>
                </c:pt>
                <c:pt idx="483">
                  <c:v>133.19999999999999</c:v>
                </c:pt>
                <c:pt idx="484">
                  <c:v>133.19999999999999</c:v>
                </c:pt>
                <c:pt idx="485">
                  <c:v>133.19999999999999</c:v>
                </c:pt>
                <c:pt idx="486">
                  <c:v>133.19999999999999</c:v>
                </c:pt>
                <c:pt idx="487">
                  <c:v>133.19999999999999</c:v>
                </c:pt>
                <c:pt idx="488">
                  <c:v>133.19999999999999</c:v>
                </c:pt>
                <c:pt idx="489">
                  <c:v>133.19999999999999</c:v>
                </c:pt>
                <c:pt idx="490">
                  <c:v>133.19999999999999</c:v>
                </c:pt>
                <c:pt idx="491">
                  <c:v>133.19999999999999</c:v>
                </c:pt>
                <c:pt idx="492">
                  <c:v>133.19999999999999</c:v>
                </c:pt>
                <c:pt idx="493">
                  <c:v>133.19999999999999</c:v>
                </c:pt>
                <c:pt idx="494">
                  <c:v>133.19999999999999</c:v>
                </c:pt>
                <c:pt idx="495">
                  <c:v>133.19999999999999</c:v>
                </c:pt>
                <c:pt idx="496">
                  <c:v>133.19999999999999</c:v>
                </c:pt>
                <c:pt idx="497">
                  <c:v>133.19999999999999</c:v>
                </c:pt>
                <c:pt idx="498">
                  <c:v>133.19999999999999</c:v>
                </c:pt>
                <c:pt idx="499">
                  <c:v>133.19999999999999</c:v>
                </c:pt>
              </c:numCache>
            </c:numRef>
          </c:val>
          <c:smooth val="0"/>
          <c:extLst>
            <c:ext xmlns:c16="http://schemas.microsoft.com/office/drawing/2014/chart" uri="{C3380CC4-5D6E-409C-BE32-E72D297353CC}">
              <c16:uniqueId val="{00000001-DC8A-4F4C-A0B3-CC13628D985B}"/>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a:solidFill>
              <a:srgbClr val="000000"/>
            </a:solidFill>
          </a:ln>
        </c:spPr>
        <c:txPr>
          <a:bodyPr/>
          <a:lstStyle/>
          <a:p>
            <a:pPr>
              <a:defRPr sz="1100"/>
            </a:pPr>
            <a:endParaRPr lang="en-US"/>
          </a:p>
        </c:txPr>
        <c:crossAx val="2140495176"/>
        <c:crosses val="autoZero"/>
        <c:auto val="1"/>
        <c:lblAlgn val="ctr"/>
        <c:lblOffset val="100"/>
        <c:tickLblSkip val="1"/>
        <c:tickMarkSkip val="1"/>
        <c:noMultiLvlLbl val="0"/>
      </c:catAx>
      <c:valAx>
        <c:axId val="2140495176"/>
        <c:scaling>
          <c:orientation val="minMax"/>
          <c:max val="800"/>
          <c:min val="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crossBetween val="between"/>
        <c:majorUnit val="200"/>
      </c:valAx>
    </c:plotArea>
    <c:legend>
      <c:legendPos val="t"/>
      <c:overlay val="0"/>
      <c:txPr>
        <a:bodyPr/>
        <a:lstStyle/>
        <a:p>
          <a:pPr>
            <a:defRPr sz="1100"/>
          </a:pPr>
          <a:endParaRPr lang="en-US"/>
        </a:p>
      </c:txPr>
    </c:legend>
    <c:plotVisOnly val="1"/>
    <c:dispBlanksAs val="gap"/>
    <c:showDLblsOverMax val="0"/>
  </c:chart>
  <c:txPr>
    <a:bodyPr/>
    <a:lstStyle/>
    <a:p>
      <a:pPr>
        <a:defRPr sz="1100">
          <a:solidFill>
            <a:srgbClr val="000000"/>
          </a:solidFill>
          <a:latin typeface="La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5"/>
          <c:y val="0.09"/>
          <c:w val="0.87"/>
          <c:h val="0.8"/>
        </c:manualLayout>
      </c:layout>
      <c:lineChart>
        <c:grouping val="standard"/>
        <c:varyColors val="0"/>
        <c:ser>
          <c:idx val="0"/>
          <c:order val="0"/>
          <c:tx>
            <c:strRef>
              <c:f>Sheet1!$B$1</c:f>
              <c:strCache>
                <c:ptCount val="1"/>
                <c:pt idx="0">
                  <c:v>Global Economic Policy Uncertainty Index</c:v>
                </c:pt>
              </c:strCache>
            </c:strRef>
          </c:tx>
          <c:spPr>
            <a:ln w="22225">
              <a:solidFill>
                <a:srgbClr val="000000"/>
              </a:solidFill>
            </a:ln>
          </c:spPr>
          <c:marker>
            <c:symbol val="none"/>
          </c:marker>
          <c:cat>
            <c:strRef>
              <c:f>Sheet1!$A$2:$A$356</c:f>
              <c:strCache>
                <c:ptCount val="355"/>
                <c:pt idx="0">
                  <c:v>1997</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 </c:v>
                </c:pt>
                <c:pt idx="25">
                  <c:v> </c:v>
                </c:pt>
                <c:pt idx="26">
                  <c:v> </c:v>
                </c:pt>
                <c:pt idx="27">
                  <c:v> </c:v>
                </c:pt>
                <c:pt idx="28">
                  <c:v> </c:v>
                </c:pt>
                <c:pt idx="29">
                  <c:v> </c:v>
                </c:pt>
                <c:pt idx="30">
                  <c:v> </c:v>
                </c:pt>
                <c:pt idx="31">
                  <c:v> </c:v>
                </c:pt>
                <c:pt idx="32">
                  <c:v> </c:v>
                </c:pt>
                <c:pt idx="33">
                  <c:v> </c:v>
                </c:pt>
                <c:pt idx="34">
                  <c:v> </c:v>
                </c:pt>
                <c:pt idx="35">
                  <c:v> </c:v>
                </c:pt>
                <c:pt idx="36">
                  <c:v>2000</c:v>
                </c:pt>
                <c:pt idx="37">
                  <c:v> </c:v>
                </c:pt>
                <c:pt idx="38">
                  <c:v> </c:v>
                </c:pt>
                <c:pt idx="39">
                  <c:v> </c:v>
                </c:pt>
                <c:pt idx="40">
                  <c:v> </c:v>
                </c:pt>
                <c:pt idx="41">
                  <c:v> </c:v>
                </c:pt>
                <c:pt idx="42">
                  <c:v> </c:v>
                </c:pt>
                <c:pt idx="43">
                  <c:v> </c:v>
                </c:pt>
                <c:pt idx="44">
                  <c:v> </c:v>
                </c:pt>
                <c:pt idx="45">
                  <c:v> </c:v>
                </c:pt>
                <c:pt idx="46">
                  <c:v> </c:v>
                </c:pt>
                <c:pt idx="47">
                  <c:v> </c:v>
                </c:pt>
                <c:pt idx="48">
                  <c:v> </c:v>
                </c:pt>
                <c:pt idx="49">
                  <c:v> </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2003</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 </c:v>
                </c:pt>
                <c:pt idx="97">
                  <c:v> </c:v>
                </c:pt>
                <c:pt idx="98">
                  <c:v> </c:v>
                </c:pt>
                <c:pt idx="99">
                  <c:v> </c:v>
                </c:pt>
                <c:pt idx="100">
                  <c:v> </c:v>
                </c:pt>
                <c:pt idx="101">
                  <c:v> </c:v>
                </c:pt>
                <c:pt idx="102">
                  <c:v> </c:v>
                </c:pt>
                <c:pt idx="103">
                  <c:v> </c:v>
                </c:pt>
                <c:pt idx="104">
                  <c:v> </c:v>
                </c:pt>
                <c:pt idx="105">
                  <c:v> </c:v>
                </c:pt>
                <c:pt idx="106">
                  <c:v> </c:v>
                </c:pt>
                <c:pt idx="107">
                  <c:v> </c:v>
                </c:pt>
                <c:pt idx="108">
                  <c:v>2006</c:v>
                </c:pt>
                <c:pt idx="109">
                  <c:v> </c:v>
                </c:pt>
                <c:pt idx="110">
                  <c:v> </c:v>
                </c:pt>
                <c:pt idx="111">
                  <c:v> </c:v>
                </c:pt>
                <c:pt idx="112">
                  <c:v> </c:v>
                </c:pt>
                <c:pt idx="113">
                  <c:v> </c:v>
                </c:pt>
                <c:pt idx="114">
                  <c:v> </c:v>
                </c:pt>
                <c:pt idx="115">
                  <c:v> </c:v>
                </c:pt>
                <c:pt idx="116">
                  <c:v> </c:v>
                </c:pt>
                <c:pt idx="117">
                  <c:v> </c:v>
                </c:pt>
                <c:pt idx="118">
                  <c:v> </c:v>
                </c:pt>
                <c:pt idx="119">
                  <c:v> </c:v>
                </c:pt>
                <c:pt idx="120">
                  <c:v> </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2009</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 </c:v>
                </c:pt>
                <c:pt idx="169">
                  <c:v> </c:v>
                </c:pt>
                <c:pt idx="170">
                  <c:v> </c:v>
                </c:pt>
                <c:pt idx="171">
                  <c:v> </c:v>
                </c:pt>
                <c:pt idx="172">
                  <c:v> </c:v>
                </c:pt>
                <c:pt idx="173">
                  <c:v> </c:v>
                </c:pt>
                <c:pt idx="174">
                  <c:v> </c:v>
                </c:pt>
                <c:pt idx="175">
                  <c:v> </c:v>
                </c:pt>
                <c:pt idx="176">
                  <c:v> </c:v>
                </c:pt>
                <c:pt idx="177">
                  <c:v> </c:v>
                </c:pt>
                <c:pt idx="178">
                  <c:v> </c:v>
                </c:pt>
                <c:pt idx="179">
                  <c:v> </c:v>
                </c:pt>
                <c:pt idx="180">
                  <c:v>2012</c:v>
                </c:pt>
                <c:pt idx="181">
                  <c:v> </c:v>
                </c:pt>
                <c:pt idx="182">
                  <c:v> </c:v>
                </c:pt>
                <c:pt idx="183">
                  <c:v> </c:v>
                </c:pt>
                <c:pt idx="184">
                  <c:v> </c:v>
                </c:pt>
                <c:pt idx="185">
                  <c:v> </c:v>
                </c:pt>
                <c:pt idx="186">
                  <c:v> </c:v>
                </c:pt>
                <c:pt idx="187">
                  <c:v> </c:v>
                </c:pt>
                <c:pt idx="188">
                  <c:v> </c:v>
                </c:pt>
                <c:pt idx="189">
                  <c:v> </c:v>
                </c:pt>
                <c:pt idx="190">
                  <c:v> </c:v>
                </c:pt>
                <c:pt idx="191">
                  <c:v> </c:v>
                </c:pt>
                <c:pt idx="192">
                  <c:v> </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2015</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 </c:v>
                </c:pt>
                <c:pt idx="241">
                  <c:v> </c:v>
                </c:pt>
                <c:pt idx="242">
                  <c:v> </c:v>
                </c:pt>
                <c:pt idx="243">
                  <c:v> </c:v>
                </c:pt>
                <c:pt idx="244">
                  <c:v> </c:v>
                </c:pt>
                <c:pt idx="245">
                  <c:v> </c:v>
                </c:pt>
                <c:pt idx="246">
                  <c:v> </c:v>
                </c:pt>
                <c:pt idx="247">
                  <c:v> </c:v>
                </c:pt>
                <c:pt idx="248">
                  <c:v> </c:v>
                </c:pt>
                <c:pt idx="249">
                  <c:v> </c:v>
                </c:pt>
                <c:pt idx="250">
                  <c:v> </c:v>
                </c:pt>
                <c:pt idx="251">
                  <c:v> </c:v>
                </c:pt>
                <c:pt idx="252">
                  <c:v>2018</c:v>
                </c:pt>
                <c:pt idx="253">
                  <c:v> </c:v>
                </c:pt>
                <c:pt idx="254">
                  <c:v> </c:v>
                </c:pt>
                <c:pt idx="255">
                  <c:v> </c:v>
                </c:pt>
                <c:pt idx="256">
                  <c:v> </c:v>
                </c:pt>
                <c:pt idx="257">
                  <c:v> </c:v>
                </c:pt>
                <c:pt idx="258">
                  <c:v> </c:v>
                </c:pt>
                <c:pt idx="259">
                  <c:v> </c:v>
                </c:pt>
                <c:pt idx="260">
                  <c:v> </c:v>
                </c:pt>
                <c:pt idx="261">
                  <c:v> </c:v>
                </c:pt>
                <c:pt idx="262">
                  <c:v> </c:v>
                </c:pt>
                <c:pt idx="263">
                  <c:v> </c:v>
                </c:pt>
                <c:pt idx="264">
                  <c:v> </c:v>
                </c:pt>
                <c:pt idx="265">
                  <c:v> </c:v>
                </c:pt>
                <c:pt idx="266">
                  <c:v> </c:v>
                </c:pt>
                <c:pt idx="267">
                  <c:v> </c:v>
                </c:pt>
                <c:pt idx="268">
                  <c:v> </c:v>
                </c:pt>
                <c:pt idx="269">
                  <c:v> </c:v>
                </c:pt>
                <c:pt idx="270">
                  <c:v> </c:v>
                </c:pt>
                <c:pt idx="271">
                  <c:v> </c:v>
                </c:pt>
                <c:pt idx="272">
                  <c:v> </c:v>
                </c:pt>
                <c:pt idx="273">
                  <c:v> </c:v>
                </c:pt>
                <c:pt idx="274">
                  <c:v> </c:v>
                </c:pt>
                <c:pt idx="275">
                  <c:v> </c:v>
                </c:pt>
                <c:pt idx="276">
                  <c:v> </c:v>
                </c:pt>
                <c:pt idx="277">
                  <c:v> </c:v>
                </c:pt>
                <c:pt idx="278">
                  <c:v> </c:v>
                </c:pt>
                <c:pt idx="279">
                  <c:v> </c:v>
                </c:pt>
                <c:pt idx="280">
                  <c:v> </c:v>
                </c:pt>
                <c:pt idx="281">
                  <c:v> </c:v>
                </c:pt>
                <c:pt idx="282">
                  <c:v> </c:v>
                </c:pt>
                <c:pt idx="283">
                  <c:v> </c:v>
                </c:pt>
                <c:pt idx="284">
                  <c:v> </c:v>
                </c:pt>
                <c:pt idx="285">
                  <c:v> </c:v>
                </c:pt>
                <c:pt idx="286">
                  <c:v> </c:v>
                </c:pt>
                <c:pt idx="287">
                  <c:v> </c:v>
                </c:pt>
                <c:pt idx="288">
                  <c:v>2021</c:v>
                </c:pt>
                <c:pt idx="289">
                  <c:v> </c:v>
                </c:pt>
                <c:pt idx="290">
                  <c:v> </c:v>
                </c:pt>
                <c:pt idx="291">
                  <c:v> </c:v>
                </c:pt>
                <c:pt idx="292">
                  <c:v> </c:v>
                </c:pt>
                <c:pt idx="293">
                  <c:v> </c:v>
                </c:pt>
                <c:pt idx="294">
                  <c:v> </c:v>
                </c:pt>
                <c:pt idx="295">
                  <c:v> </c:v>
                </c:pt>
                <c:pt idx="296">
                  <c:v> </c:v>
                </c:pt>
                <c:pt idx="297">
                  <c:v> </c:v>
                </c:pt>
                <c:pt idx="298">
                  <c:v> </c:v>
                </c:pt>
                <c:pt idx="299">
                  <c:v> </c:v>
                </c:pt>
                <c:pt idx="300">
                  <c:v> </c:v>
                </c:pt>
                <c:pt idx="301">
                  <c:v> </c:v>
                </c:pt>
                <c:pt idx="302">
                  <c:v> </c:v>
                </c:pt>
                <c:pt idx="303">
                  <c:v> </c:v>
                </c:pt>
                <c:pt idx="304">
                  <c:v> </c:v>
                </c:pt>
                <c:pt idx="305">
                  <c:v> </c:v>
                </c:pt>
                <c:pt idx="306">
                  <c:v> </c:v>
                </c:pt>
                <c:pt idx="307">
                  <c:v> </c:v>
                </c:pt>
                <c:pt idx="308">
                  <c:v> </c:v>
                </c:pt>
                <c:pt idx="309">
                  <c:v> </c:v>
                </c:pt>
                <c:pt idx="310">
                  <c:v> </c:v>
                </c:pt>
                <c:pt idx="311">
                  <c:v> </c:v>
                </c:pt>
                <c:pt idx="312">
                  <c:v> </c:v>
                </c:pt>
                <c:pt idx="313">
                  <c:v> </c:v>
                </c:pt>
                <c:pt idx="314">
                  <c:v> </c:v>
                </c:pt>
                <c:pt idx="315">
                  <c:v> </c:v>
                </c:pt>
                <c:pt idx="316">
                  <c:v> </c:v>
                </c:pt>
                <c:pt idx="317">
                  <c:v> </c:v>
                </c:pt>
                <c:pt idx="318">
                  <c:v> </c:v>
                </c:pt>
                <c:pt idx="319">
                  <c:v> </c:v>
                </c:pt>
                <c:pt idx="320">
                  <c:v> </c:v>
                </c:pt>
                <c:pt idx="321">
                  <c:v> </c:v>
                </c:pt>
                <c:pt idx="322">
                  <c:v> </c:v>
                </c:pt>
                <c:pt idx="323">
                  <c:v> </c:v>
                </c:pt>
                <c:pt idx="324">
                  <c:v>2024</c:v>
                </c:pt>
                <c:pt idx="325">
                  <c:v> </c:v>
                </c:pt>
                <c:pt idx="326">
                  <c:v> </c:v>
                </c:pt>
                <c:pt idx="327">
                  <c:v> </c:v>
                </c:pt>
                <c:pt idx="328">
                  <c:v> </c:v>
                </c:pt>
                <c:pt idx="329">
                  <c:v> </c:v>
                </c:pt>
                <c:pt idx="330">
                  <c:v> </c:v>
                </c:pt>
                <c:pt idx="331">
                  <c:v> </c:v>
                </c:pt>
                <c:pt idx="332">
                  <c:v> </c:v>
                </c:pt>
                <c:pt idx="333">
                  <c:v> </c:v>
                </c:pt>
                <c:pt idx="334">
                  <c:v> </c:v>
                </c:pt>
                <c:pt idx="335">
                  <c:v> </c:v>
                </c:pt>
                <c:pt idx="336">
                  <c:v> </c:v>
                </c:pt>
                <c:pt idx="337">
                  <c:v> </c:v>
                </c:pt>
                <c:pt idx="338">
                  <c:v> </c:v>
                </c:pt>
                <c:pt idx="339">
                  <c:v> </c:v>
                </c:pt>
                <c:pt idx="340">
                  <c:v> </c:v>
                </c:pt>
                <c:pt idx="341">
                  <c:v> </c:v>
                </c:pt>
                <c:pt idx="342">
                  <c:v> </c:v>
                </c:pt>
                <c:pt idx="343">
                  <c:v> </c:v>
                </c:pt>
                <c:pt idx="344">
                  <c:v> </c:v>
                </c:pt>
                <c:pt idx="345">
                  <c:v> </c:v>
                </c:pt>
                <c:pt idx="346">
                  <c:v> </c:v>
                </c:pt>
                <c:pt idx="347">
                  <c:v> </c:v>
                </c:pt>
                <c:pt idx="348">
                  <c:v> </c:v>
                </c:pt>
                <c:pt idx="349">
                  <c:v> </c:v>
                </c:pt>
                <c:pt idx="350">
                  <c:v> </c:v>
                </c:pt>
                <c:pt idx="351">
                  <c:v> </c:v>
                </c:pt>
                <c:pt idx="352">
                  <c:v> </c:v>
                </c:pt>
                <c:pt idx="353">
                  <c:v> </c:v>
                </c:pt>
                <c:pt idx="354">
                  <c:v> </c:v>
                </c:pt>
              </c:strCache>
            </c:strRef>
          </c:cat>
          <c:val>
            <c:numRef>
              <c:f>Sheet1!$B$2:$B$356</c:f>
              <c:numCache>
                <c:formatCode>General</c:formatCode>
                <c:ptCount val="355"/>
                <c:pt idx="0">
                  <c:v>77.599999999999994</c:v>
                </c:pt>
                <c:pt idx="1">
                  <c:v>77.900000000000006</c:v>
                </c:pt>
                <c:pt idx="2">
                  <c:v>68.8</c:v>
                </c:pt>
                <c:pt idx="3">
                  <c:v>73.8</c:v>
                </c:pt>
                <c:pt idx="4">
                  <c:v>77.3</c:v>
                </c:pt>
                <c:pt idx="5">
                  <c:v>81.3</c:v>
                </c:pt>
                <c:pt idx="6">
                  <c:v>66.599999999999994</c:v>
                </c:pt>
                <c:pt idx="7">
                  <c:v>63.9</c:v>
                </c:pt>
                <c:pt idx="8">
                  <c:v>66</c:v>
                </c:pt>
                <c:pt idx="9">
                  <c:v>80.7</c:v>
                </c:pt>
                <c:pt idx="10">
                  <c:v>95.7</c:v>
                </c:pt>
                <c:pt idx="11">
                  <c:v>111.5</c:v>
                </c:pt>
                <c:pt idx="12">
                  <c:v>102.2</c:v>
                </c:pt>
                <c:pt idx="13">
                  <c:v>83.6</c:v>
                </c:pt>
                <c:pt idx="14">
                  <c:v>87.6</c:v>
                </c:pt>
                <c:pt idx="15">
                  <c:v>80.2</c:v>
                </c:pt>
                <c:pt idx="16">
                  <c:v>85.3</c:v>
                </c:pt>
                <c:pt idx="17">
                  <c:v>84.5</c:v>
                </c:pt>
                <c:pt idx="18">
                  <c:v>103.2</c:v>
                </c:pt>
                <c:pt idx="19">
                  <c:v>114.7</c:v>
                </c:pt>
                <c:pt idx="20">
                  <c:v>150.19999999999999</c:v>
                </c:pt>
                <c:pt idx="21">
                  <c:v>119.2</c:v>
                </c:pt>
                <c:pt idx="22">
                  <c:v>101.1</c:v>
                </c:pt>
                <c:pt idx="23">
                  <c:v>97.2</c:v>
                </c:pt>
                <c:pt idx="24">
                  <c:v>100.2</c:v>
                </c:pt>
                <c:pt idx="25">
                  <c:v>79.7</c:v>
                </c:pt>
                <c:pt idx="26">
                  <c:v>63.5</c:v>
                </c:pt>
                <c:pt idx="27">
                  <c:v>67.3</c:v>
                </c:pt>
                <c:pt idx="28">
                  <c:v>69.2</c:v>
                </c:pt>
                <c:pt idx="29">
                  <c:v>71.2</c:v>
                </c:pt>
                <c:pt idx="30">
                  <c:v>72.7</c:v>
                </c:pt>
                <c:pt idx="31">
                  <c:v>67.3</c:v>
                </c:pt>
                <c:pt idx="32">
                  <c:v>69.7</c:v>
                </c:pt>
                <c:pt idx="33">
                  <c:v>67</c:v>
                </c:pt>
                <c:pt idx="34">
                  <c:v>69.7</c:v>
                </c:pt>
                <c:pt idx="35">
                  <c:v>62.7</c:v>
                </c:pt>
                <c:pt idx="36">
                  <c:v>67.099999999999994</c:v>
                </c:pt>
                <c:pt idx="37">
                  <c:v>62.3</c:v>
                </c:pt>
                <c:pt idx="38">
                  <c:v>62.9</c:v>
                </c:pt>
                <c:pt idx="39">
                  <c:v>65.2</c:v>
                </c:pt>
                <c:pt idx="40">
                  <c:v>87.9</c:v>
                </c:pt>
                <c:pt idx="41">
                  <c:v>90.5</c:v>
                </c:pt>
                <c:pt idx="42">
                  <c:v>68.599999999999994</c:v>
                </c:pt>
                <c:pt idx="43">
                  <c:v>55.4</c:v>
                </c:pt>
                <c:pt idx="44">
                  <c:v>60.6</c:v>
                </c:pt>
                <c:pt idx="45">
                  <c:v>70.2</c:v>
                </c:pt>
                <c:pt idx="46">
                  <c:v>107.2</c:v>
                </c:pt>
                <c:pt idx="47">
                  <c:v>101.2</c:v>
                </c:pt>
                <c:pt idx="48">
                  <c:v>101.5</c:v>
                </c:pt>
                <c:pt idx="49">
                  <c:v>98.3</c:v>
                </c:pt>
                <c:pt idx="50">
                  <c:v>110</c:v>
                </c:pt>
                <c:pt idx="51">
                  <c:v>106.3</c:v>
                </c:pt>
                <c:pt idx="52">
                  <c:v>84.7</c:v>
                </c:pt>
                <c:pt idx="53">
                  <c:v>74</c:v>
                </c:pt>
                <c:pt idx="54">
                  <c:v>96.8</c:v>
                </c:pt>
                <c:pt idx="55">
                  <c:v>82.6</c:v>
                </c:pt>
                <c:pt idx="56">
                  <c:v>180.4</c:v>
                </c:pt>
                <c:pt idx="57">
                  <c:v>169.8</c:v>
                </c:pt>
                <c:pt idx="58">
                  <c:v>126.4</c:v>
                </c:pt>
                <c:pt idx="59">
                  <c:v>110.1</c:v>
                </c:pt>
                <c:pt idx="60">
                  <c:v>107.4</c:v>
                </c:pt>
                <c:pt idx="61">
                  <c:v>86</c:v>
                </c:pt>
                <c:pt idx="62">
                  <c:v>77.599999999999994</c:v>
                </c:pt>
                <c:pt idx="63">
                  <c:v>82.8</c:v>
                </c:pt>
                <c:pt idx="64">
                  <c:v>80.900000000000006</c:v>
                </c:pt>
                <c:pt idx="65">
                  <c:v>92.1</c:v>
                </c:pt>
                <c:pt idx="66">
                  <c:v>102.6</c:v>
                </c:pt>
                <c:pt idx="67">
                  <c:v>107</c:v>
                </c:pt>
                <c:pt idx="68">
                  <c:v>122.1</c:v>
                </c:pt>
                <c:pt idx="69">
                  <c:v>116.9</c:v>
                </c:pt>
                <c:pt idx="70">
                  <c:v>123.3</c:v>
                </c:pt>
                <c:pt idx="71">
                  <c:v>121.7</c:v>
                </c:pt>
                <c:pt idx="72">
                  <c:v>131.69999999999999</c:v>
                </c:pt>
                <c:pt idx="73">
                  <c:v>140.5</c:v>
                </c:pt>
                <c:pt idx="74">
                  <c:v>174.1</c:v>
                </c:pt>
                <c:pt idx="75">
                  <c:v>138.4</c:v>
                </c:pt>
                <c:pt idx="76">
                  <c:v>106.2</c:v>
                </c:pt>
                <c:pt idx="77">
                  <c:v>88.5</c:v>
                </c:pt>
                <c:pt idx="78">
                  <c:v>81.400000000000006</c:v>
                </c:pt>
                <c:pt idx="79">
                  <c:v>70.8</c:v>
                </c:pt>
                <c:pt idx="80">
                  <c:v>80.400000000000006</c:v>
                </c:pt>
                <c:pt idx="81">
                  <c:v>76.599999999999994</c:v>
                </c:pt>
                <c:pt idx="82">
                  <c:v>75.2</c:v>
                </c:pt>
                <c:pt idx="83">
                  <c:v>73.5</c:v>
                </c:pt>
                <c:pt idx="84">
                  <c:v>73.400000000000006</c:v>
                </c:pt>
                <c:pt idx="85">
                  <c:v>73.099999999999994</c:v>
                </c:pt>
                <c:pt idx="86">
                  <c:v>78.2</c:v>
                </c:pt>
                <c:pt idx="87">
                  <c:v>77.599999999999994</c:v>
                </c:pt>
                <c:pt idx="88">
                  <c:v>90.6</c:v>
                </c:pt>
                <c:pt idx="89">
                  <c:v>76.8</c:v>
                </c:pt>
                <c:pt idx="90">
                  <c:v>75.099999999999994</c:v>
                </c:pt>
                <c:pt idx="91">
                  <c:v>68.900000000000006</c:v>
                </c:pt>
                <c:pt idx="92">
                  <c:v>76.8</c:v>
                </c:pt>
                <c:pt idx="93">
                  <c:v>89.1</c:v>
                </c:pt>
                <c:pt idx="94">
                  <c:v>84.5</c:v>
                </c:pt>
                <c:pt idx="95">
                  <c:v>66.3</c:v>
                </c:pt>
                <c:pt idx="96">
                  <c:v>58.9</c:v>
                </c:pt>
                <c:pt idx="97">
                  <c:v>55.2</c:v>
                </c:pt>
                <c:pt idx="98">
                  <c:v>53.3</c:v>
                </c:pt>
                <c:pt idx="99">
                  <c:v>72.599999999999994</c:v>
                </c:pt>
                <c:pt idx="100">
                  <c:v>67.900000000000006</c:v>
                </c:pt>
                <c:pt idx="101">
                  <c:v>70.599999999999994</c:v>
                </c:pt>
                <c:pt idx="102">
                  <c:v>63.9</c:v>
                </c:pt>
                <c:pt idx="103">
                  <c:v>61.8</c:v>
                </c:pt>
                <c:pt idx="104">
                  <c:v>92.8</c:v>
                </c:pt>
                <c:pt idx="105">
                  <c:v>66.8</c:v>
                </c:pt>
                <c:pt idx="106">
                  <c:v>65.7</c:v>
                </c:pt>
                <c:pt idx="107">
                  <c:v>61.5</c:v>
                </c:pt>
                <c:pt idx="108">
                  <c:v>70.5</c:v>
                </c:pt>
                <c:pt idx="109">
                  <c:v>58.8</c:v>
                </c:pt>
                <c:pt idx="110">
                  <c:v>58.8</c:v>
                </c:pt>
                <c:pt idx="111">
                  <c:v>71.2</c:v>
                </c:pt>
                <c:pt idx="112">
                  <c:v>63.6</c:v>
                </c:pt>
                <c:pt idx="113">
                  <c:v>73.599999999999994</c:v>
                </c:pt>
                <c:pt idx="114">
                  <c:v>70</c:v>
                </c:pt>
                <c:pt idx="115">
                  <c:v>60.8</c:v>
                </c:pt>
                <c:pt idx="116">
                  <c:v>57.3</c:v>
                </c:pt>
                <c:pt idx="117">
                  <c:v>60.3</c:v>
                </c:pt>
                <c:pt idx="118">
                  <c:v>58</c:v>
                </c:pt>
                <c:pt idx="119">
                  <c:v>56.6</c:v>
                </c:pt>
                <c:pt idx="120">
                  <c:v>63.7</c:v>
                </c:pt>
                <c:pt idx="121">
                  <c:v>54.6</c:v>
                </c:pt>
                <c:pt idx="122">
                  <c:v>64.2</c:v>
                </c:pt>
                <c:pt idx="123">
                  <c:v>59.6</c:v>
                </c:pt>
                <c:pt idx="124">
                  <c:v>58.2</c:v>
                </c:pt>
                <c:pt idx="125">
                  <c:v>57.6</c:v>
                </c:pt>
                <c:pt idx="126">
                  <c:v>47.6</c:v>
                </c:pt>
                <c:pt idx="127">
                  <c:v>78.599999999999994</c:v>
                </c:pt>
                <c:pt idx="128">
                  <c:v>99.1</c:v>
                </c:pt>
                <c:pt idx="129">
                  <c:v>79.2</c:v>
                </c:pt>
                <c:pt idx="130">
                  <c:v>82.6</c:v>
                </c:pt>
                <c:pt idx="131">
                  <c:v>96.4</c:v>
                </c:pt>
                <c:pt idx="132">
                  <c:v>134.4</c:v>
                </c:pt>
                <c:pt idx="133">
                  <c:v>98</c:v>
                </c:pt>
                <c:pt idx="134">
                  <c:v>117.9</c:v>
                </c:pt>
                <c:pt idx="135">
                  <c:v>91.2</c:v>
                </c:pt>
                <c:pt idx="136">
                  <c:v>77.900000000000006</c:v>
                </c:pt>
                <c:pt idx="137">
                  <c:v>87.2</c:v>
                </c:pt>
                <c:pt idx="138">
                  <c:v>95.8</c:v>
                </c:pt>
                <c:pt idx="139">
                  <c:v>89.8</c:v>
                </c:pt>
                <c:pt idx="140">
                  <c:v>162</c:v>
                </c:pt>
                <c:pt idx="141">
                  <c:v>207.6</c:v>
                </c:pt>
                <c:pt idx="142">
                  <c:v>143.30000000000001</c:v>
                </c:pt>
                <c:pt idx="143">
                  <c:v>144.1</c:v>
                </c:pt>
                <c:pt idx="144">
                  <c:v>145.5</c:v>
                </c:pt>
                <c:pt idx="145">
                  <c:v>146.9</c:v>
                </c:pt>
                <c:pt idx="146">
                  <c:v>131.6</c:v>
                </c:pt>
                <c:pt idx="147">
                  <c:v>102</c:v>
                </c:pt>
                <c:pt idx="148">
                  <c:v>103</c:v>
                </c:pt>
                <c:pt idx="149">
                  <c:v>116</c:v>
                </c:pt>
                <c:pt idx="150">
                  <c:v>104.8</c:v>
                </c:pt>
                <c:pt idx="151">
                  <c:v>101.7</c:v>
                </c:pt>
                <c:pt idx="152">
                  <c:v>106.3</c:v>
                </c:pt>
                <c:pt idx="153">
                  <c:v>91.8</c:v>
                </c:pt>
                <c:pt idx="154">
                  <c:v>104.4</c:v>
                </c:pt>
                <c:pt idx="155">
                  <c:v>101.7</c:v>
                </c:pt>
                <c:pt idx="156">
                  <c:v>117.7</c:v>
                </c:pt>
                <c:pt idx="157">
                  <c:v>112.9</c:v>
                </c:pt>
                <c:pt idx="158">
                  <c:v>113.1</c:v>
                </c:pt>
                <c:pt idx="159">
                  <c:v>108.7</c:v>
                </c:pt>
                <c:pt idx="160">
                  <c:v>145.69999999999999</c:v>
                </c:pt>
                <c:pt idx="161">
                  <c:v>136.30000000000001</c:v>
                </c:pt>
                <c:pt idx="162">
                  <c:v>147.19999999999999</c:v>
                </c:pt>
                <c:pt idx="163">
                  <c:v>122.2</c:v>
                </c:pt>
                <c:pt idx="164">
                  <c:v>132.4</c:v>
                </c:pt>
                <c:pt idx="165">
                  <c:v>126.1</c:v>
                </c:pt>
                <c:pt idx="166">
                  <c:v>130</c:v>
                </c:pt>
                <c:pt idx="167">
                  <c:v>133</c:v>
                </c:pt>
                <c:pt idx="168">
                  <c:v>113.6</c:v>
                </c:pt>
                <c:pt idx="169">
                  <c:v>96</c:v>
                </c:pt>
                <c:pt idx="170">
                  <c:v>129.19999999999999</c:v>
                </c:pt>
                <c:pt idx="171">
                  <c:v>117.6</c:v>
                </c:pt>
                <c:pt idx="172">
                  <c:v>93</c:v>
                </c:pt>
                <c:pt idx="173">
                  <c:v>124</c:v>
                </c:pt>
                <c:pt idx="174">
                  <c:v>152.19999999999999</c:v>
                </c:pt>
                <c:pt idx="175">
                  <c:v>214.1</c:v>
                </c:pt>
                <c:pt idx="176">
                  <c:v>193.3</c:v>
                </c:pt>
                <c:pt idx="177">
                  <c:v>165.4</c:v>
                </c:pt>
                <c:pt idx="178">
                  <c:v>190.8</c:v>
                </c:pt>
                <c:pt idx="179">
                  <c:v>176.2</c:v>
                </c:pt>
                <c:pt idx="180">
                  <c:v>153.4</c:v>
                </c:pt>
                <c:pt idx="181">
                  <c:v>139.80000000000001</c:v>
                </c:pt>
                <c:pt idx="182">
                  <c:v>131.1</c:v>
                </c:pt>
                <c:pt idx="183">
                  <c:v>128.1</c:v>
                </c:pt>
                <c:pt idx="184">
                  <c:v>157.9</c:v>
                </c:pt>
                <c:pt idx="185">
                  <c:v>181.6</c:v>
                </c:pt>
                <c:pt idx="186">
                  <c:v>150</c:v>
                </c:pt>
                <c:pt idx="187">
                  <c:v>116.2</c:v>
                </c:pt>
                <c:pt idx="188">
                  <c:v>151.5</c:v>
                </c:pt>
                <c:pt idx="189">
                  <c:v>149.6</c:v>
                </c:pt>
                <c:pt idx="190">
                  <c:v>163.30000000000001</c:v>
                </c:pt>
                <c:pt idx="191">
                  <c:v>168.1</c:v>
                </c:pt>
                <c:pt idx="192">
                  <c:v>165</c:v>
                </c:pt>
                <c:pt idx="193">
                  <c:v>121.1</c:v>
                </c:pt>
                <c:pt idx="194">
                  <c:v>143</c:v>
                </c:pt>
                <c:pt idx="195">
                  <c:v>134.1</c:v>
                </c:pt>
                <c:pt idx="196">
                  <c:v>106.2</c:v>
                </c:pt>
                <c:pt idx="197">
                  <c:v>126.2</c:v>
                </c:pt>
                <c:pt idx="198">
                  <c:v>107.5</c:v>
                </c:pt>
                <c:pt idx="199">
                  <c:v>118.4</c:v>
                </c:pt>
                <c:pt idx="200">
                  <c:v>137</c:v>
                </c:pt>
                <c:pt idx="201">
                  <c:v>166.5</c:v>
                </c:pt>
                <c:pt idx="202">
                  <c:v>102.4</c:v>
                </c:pt>
                <c:pt idx="203">
                  <c:v>120.2</c:v>
                </c:pt>
                <c:pt idx="204">
                  <c:v>113.8</c:v>
                </c:pt>
                <c:pt idx="205">
                  <c:v>99.7</c:v>
                </c:pt>
                <c:pt idx="206">
                  <c:v>112.5</c:v>
                </c:pt>
                <c:pt idx="207">
                  <c:v>108.5</c:v>
                </c:pt>
                <c:pt idx="208">
                  <c:v>105.3</c:v>
                </c:pt>
                <c:pt idx="209">
                  <c:v>90.2</c:v>
                </c:pt>
                <c:pt idx="210">
                  <c:v>92.6</c:v>
                </c:pt>
                <c:pt idx="211">
                  <c:v>96.1</c:v>
                </c:pt>
                <c:pt idx="212">
                  <c:v>119.7</c:v>
                </c:pt>
                <c:pt idx="213">
                  <c:v>111</c:v>
                </c:pt>
                <c:pt idx="214">
                  <c:v>117.4</c:v>
                </c:pt>
                <c:pt idx="215">
                  <c:v>109.5</c:v>
                </c:pt>
                <c:pt idx="216">
                  <c:v>127</c:v>
                </c:pt>
                <c:pt idx="217">
                  <c:v>113.9</c:v>
                </c:pt>
                <c:pt idx="218">
                  <c:v>110</c:v>
                </c:pt>
                <c:pt idx="219">
                  <c:v>99.4</c:v>
                </c:pt>
                <c:pt idx="220">
                  <c:v>103</c:v>
                </c:pt>
                <c:pt idx="221">
                  <c:v>117.9</c:v>
                </c:pt>
                <c:pt idx="222">
                  <c:v>121.8</c:v>
                </c:pt>
                <c:pt idx="223">
                  <c:v>118.5</c:v>
                </c:pt>
                <c:pt idx="224">
                  <c:v>151.9</c:v>
                </c:pt>
                <c:pt idx="225">
                  <c:v>114.4</c:v>
                </c:pt>
                <c:pt idx="226">
                  <c:v>103.4</c:v>
                </c:pt>
                <c:pt idx="227">
                  <c:v>110.7</c:v>
                </c:pt>
                <c:pt idx="228">
                  <c:v>143.19999999999999</c:v>
                </c:pt>
                <c:pt idx="229">
                  <c:v>145.4</c:v>
                </c:pt>
                <c:pt idx="230">
                  <c:v>156.9</c:v>
                </c:pt>
                <c:pt idx="231">
                  <c:v>140.1</c:v>
                </c:pt>
                <c:pt idx="232">
                  <c:v>123.5</c:v>
                </c:pt>
                <c:pt idx="233">
                  <c:v>228</c:v>
                </c:pt>
                <c:pt idx="234">
                  <c:v>202.2</c:v>
                </c:pt>
                <c:pt idx="235">
                  <c:v>132.5</c:v>
                </c:pt>
                <c:pt idx="236">
                  <c:v>134.4</c:v>
                </c:pt>
                <c:pt idx="237">
                  <c:v>125</c:v>
                </c:pt>
                <c:pt idx="238">
                  <c:v>226.2</c:v>
                </c:pt>
                <c:pt idx="239">
                  <c:v>183.9</c:v>
                </c:pt>
                <c:pt idx="240">
                  <c:v>246.7</c:v>
                </c:pt>
                <c:pt idx="241">
                  <c:v>185</c:v>
                </c:pt>
                <c:pt idx="242">
                  <c:v>233.1</c:v>
                </c:pt>
                <c:pt idx="243">
                  <c:v>174.2</c:v>
                </c:pt>
                <c:pt idx="244">
                  <c:v>142.4</c:v>
                </c:pt>
                <c:pt idx="245">
                  <c:v>169.7</c:v>
                </c:pt>
                <c:pt idx="246">
                  <c:v>162.9</c:v>
                </c:pt>
                <c:pt idx="247">
                  <c:v>139.1</c:v>
                </c:pt>
                <c:pt idx="248">
                  <c:v>155.80000000000001</c:v>
                </c:pt>
                <c:pt idx="249">
                  <c:v>143.4</c:v>
                </c:pt>
                <c:pt idx="250">
                  <c:v>158.4</c:v>
                </c:pt>
                <c:pt idx="251">
                  <c:v>146.30000000000001</c:v>
                </c:pt>
                <c:pt idx="252">
                  <c:v>175.2</c:v>
                </c:pt>
                <c:pt idx="253">
                  <c:v>124.9</c:v>
                </c:pt>
                <c:pt idx="254">
                  <c:v>179.4</c:v>
                </c:pt>
                <c:pt idx="255">
                  <c:v>163.30000000000001</c:v>
                </c:pt>
                <c:pt idx="256">
                  <c:v>170.2</c:v>
                </c:pt>
                <c:pt idx="257">
                  <c:v>163.30000000000001</c:v>
                </c:pt>
                <c:pt idx="258">
                  <c:v>225.1</c:v>
                </c:pt>
                <c:pt idx="259">
                  <c:v>170.6</c:v>
                </c:pt>
                <c:pt idx="260">
                  <c:v>191.4</c:v>
                </c:pt>
                <c:pt idx="261">
                  <c:v>211.7</c:v>
                </c:pt>
                <c:pt idx="262">
                  <c:v>245.7</c:v>
                </c:pt>
                <c:pt idx="263">
                  <c:v>217.7</c:v>
                </c:pt>
                <c:pt idx="264">
                  <c:v>241.4</c:v>
                </c:pt>
                <c:pt idx="265">
                  <c:v>172.5</c:v>
                </c:pt>
                <c:pt idx="266">
                  <c:v>238.2</c:v>
                </c:pt>
                <c:pt idx="267">
                  <c:v>188.8</c:v>
                </c:pt>
                <c:pt idx="268">
                  <c:v>220.9</c:v>
                </c:pt>
                <c:pt idx="269">
                  <c:v>317.3</c:v>
                </c:pt>
                <c:pt idx="270">
                  <c:v>247.1</c:v>
                </c:pt>
                <c:pt idx="271">
                  <c:v>288.2</c:v>
                </c:pt>
                <c:pt idx="272">
                  <c:v>235.6</c:v>
                </c:pt>
                <c:pt idx="273">
                  <c:v>200.8</c:v>
                </c:pt>
                <c:pt idx="274">
                  <c:v>240.6</c:v>
                </c:pt>
                <c:pt idx="275">
                  <c:v>230.8</c:v>
                </c:pt>
                <c:pt idx="276">
                  <c:v>190.5</c:v>
                </c:pt>
                <c:pt idx="277">
                  <c:v>194.9</c:v>
                </c:pt>
                <c:pt idx="278">
                  <c:v>315</c:v>
                </c:pt>
                <c:pt idx="279">
                  <c:v>325.3</c:v>
                </c:pt>
                <c:pt idx="280">
                  <c:v>410.5</c:v>
                </c:pt>
                <c:pt idx="281">
                  <c:v>306.5</c:v>
                </c:pt>
                <c:pt idx="282">
                  <c:v>309.10000000000002</c:v>
                </c:pt>
                <c:pt idx="283">
                  <c:v>286</c:v>
                </c:pt>
                <c:pt idx="284">
                  <c:v>305.7</c:v>
                </c:pt>
                <c:pt idx="285">
                  <c:v>302.8</c:v>
                </c:pt>
                <c:pt idx="286">
                  <c:v>392.3</c:v>
                </c:pt>
                <c:pt idx="287">
                  <c:v>298.89999999999998</c:v>
                </c:pt>
                <c:pt idx="288">
                  <c:v>269.39999999999998</c:v>
                </c:pt>
                <c:pt idx="289">
                  <c:v>193</c:v>
                </c:pt>
                <c:pt idx="290">
                  <c:v>210.1</c:v>
                </c:pt>
                <c:pt idx="291">
                  <c:v>192.1</c:v>
                </c:pt>
                <c:pt idx="292">
                  <c:v>171.9</c:v>
                </c:pt>
                <c:pt idx="293">
                  <c:v>169.2</c:v>
                </c:pt>
                <c:pt idx="294">
                  <c:v>187.2</c:v>
                </c:pt>
                <c:pt idx="295">
                  <c:v>198.9</c:v>
                </c:pt>
                <c:pt idx="296">
                  <c:v>209.3</c:v>
                </c:pt>
                <c:pt idx="297">
                  <c:v>185.6</c:v>
                </c:pt>
                <c:pt idx="298">
                  <c:v>227.2</c:v>
                </c:pt>
                <c:pt idx="299">
                  <c:v>255.1</c:v>
                </c:pt>
                <c:pt idx="300">
                  <c:v>219.4</c:v>
                </c:pt>
                <c:pt idx="301">
                  <c:v>174.5</c:v>
                </c:pt>
                <c:pt idx="302">
                  <c:v>294.5</c:v>
                </c:pt>
                <c:pt idx="303">
                  <c:v>266.7</c:v>
                </c:pt>
                <c:pt idx="304">
                  <c:v>272.10000000000002</c:v>
                </c:pt>
                <c:pt idx="305">
                  <c:v>244.4</c:v>
                </c:pt>
                <c:pt idx="306">
                  <c:v>289.10000000000002</c:v>
                </c:pt>
                <c:pt idx="307">
                  <c:v>233.5</c:v>
                </c:pt>
                <c:pt idx="308">
                  <c:v>246.6</c:v>
                </c:pt>
                <c:pt idx="309">
                  <c:v>262</c:v>
                </c:pt>
                <c:pt idx="310">
                  <c:v>307</c:v>
                </c:pt>
                <c:pt idx="311">
                  <c:v>236.7</c:v>
                </c:pt>
                <c:pt idx="312">
                  <c:v>215.8</c:v>
                </c:pt>
                <c:pt idx="313">
                  <c:v>238.6</c:v>
                </c:pt>
                <c:pt idx="314">
                  <c:v>309.60000000000002</c:v>
                </c:pt>
                <c:pt idx="315">
                  <c:v>252.7</c:v>
                </c:pt>
                <c:pt idx="316">
                  <c:v>208.4</c:v>
                </c:pt>
                <c:pt idx="317">
                  <c:v>219.4</c:v>
                </c:pt>
                <c:pt idx="318">
                  <c:v>189.6</c:v>
                </c:pt>
                <c:pt idx="319">
                  <c:v>173</c:v>
                </c:pt>
                <c:pt idx="320">
                  <c:v>198</c:v>
                </c:pt>
                <c:pt idx="321">
                  <c:v>188.3</c:v>
                </c:pt>
                <c:pt idx="322">
                  <c:v>205.6</c:v>
                </c:pt>
                <c:pt idx="323">
                  <c:v>219.8</c:v>
                </c:pt>
                <c:pt idx="324">
                  <c:v>236.3</c:v>
                </c:pt>
                <c:pt idx="325">
                  <c:v>165.1</c:v>
                </c:pt>
                <c:pt idx="326">
                  <c:v>176.2</c:v>
                </c:pt>
                <c:pt idx="327">
                  <c:v>168.6</c:v>
                </c:pt>
                <c:pt idx="328">
                  <c:v>180.9</c:v>
                </c:pt>
                <c:pt idx="329">
                  <c:v>171.7</c:v>
                </c:pt>
                <c:pt idx="330">
                  <c:v>224.2</c:v>
                </c:pt>
                <c:pt idx="331">
                  <c:v>189.2</c:v>
                </c:pt>
                <c:pt idx="332">
                  <c:v>200</c:v>
                </c:pt>
                <c:pt idx="333">
                  <c:v>202.4</c:v>
                </c:pt>
                <c:pt idx="334">
                  <c:v>279</c:v>
                </c:pt>
                <c:pt idx="335">
                  <c:v>323</c:v>
                </c:pt>
                <c:pt idx="336">
                  <c:v>306.60000000000002</c:v>
                </c:pt>
                <c:pt idx="337">
                  <c:v>328.8</c:v>
                </c:pt>
                <c:pt idx="338">
                  <c:v>469.4</c:v>
                </c:pt>
                <c:pt idx="339">
                  <c:v>620.9</c:v>
                </c:pt>
                <c:pt idx="340">
                  <c:v>505.2</c:v>
                </c:pt>
                <c:pt idx="341">
                  <c:v>365.6</c:v>
                </c:pt>
                <c:pt idx="342">
                  <c:v>401.5</c:v>
                </c:pt>
                <c:pt idx="343">
                  <c:v>338.5</c:v>
                </c:pt>
                <c:pt idx="344">
                  <c:v>305</c:v>
                </c:pt>
                <c:pt idx="345">
                  <c:v>397.6</c:v>
                </c:pt>
                <c:pt idx="346">
                  <c:v>365</c:v>
                </c:pt>
                <c:pt idx="347">
                  <c:v>332.4</c:v>
                </c:pt>
                <c:pt idx="348">
                  <c:v>375.6</c:v>
                </c:pt>
                <c:pt idx="349">
                  <c:v>350.9</c:v>
                </c:pt>
                <c:pt idx="350">
                  <c:v>445.9</c:v>
                </c:pt>
                <c:pt idx="351">
                  <c:v>342.4</c:v>
                </c:pt>
                <c:pt idx="352">
                  <c:v>321.60000000000002</c:v>
                </c:pt>
                <c:pt idx="353">
                  <c:v>282.7</c:v>
                </c:pt>
                <c:pt idx="354">
                  <c:v>241.7</c:v>
                </c:pt>
              </c:numCache>
            </c:numRef>
          </c:val>
          <c:smooth val="0"/>
          <c:extLst>
            <c:ext xmlns:c16="http://schemas.microsoft.com/office/drawing/2014/chart" uri="{C3380CC4-5D6E-409C-BE32-E72D297353CC}">
              <c16:uniqueId val="{00000000-D589-443B-B617-0DCAB6CC2B6C}"/>
            </c:ext>
          </c:extLst>
        </c:ser>
        <c:ser>
          <c:idx val="1"/>
          <c:order val="1"/>
          <c:tx>
            <c:strRef>
              <c:f>Sheet1!$C$1</c:f>
              <c:strCache>
                <c:ptCount val="1"/>
                <c:pt idx="0">
                  <c:v>Average, 1997–2026 (151)</c:v>
                </c:pt>
              </c:strCache>
            </c:strRef>
          </c:tx>
          <c:spPr>
            <a:ln w="15875">
              <a:solidFill>
                <a:srgbClr val="8C8C8C"/>
              </a:solidFill>
              <a:prstDash val="dash"/>
            </a:ln>
          </c:spPr>
          <c:marker>
            <c:symbol val="none"/>
          </c:marker>
          <c:cat>
            <c:strRef>
              <c:f>Sheet1!$A$2:$A$356</c:f>
              <c:strCache>
                <c:ptCount val="355"/>
                <c:pt idx="0">
                  <c:v>1997</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 </c:v>
                </c:pt>
                <c:pt idx="25">
                  <c:v> </c:v>
                </c:pt>
                <c:pt idx="26">
                  <c:v> </c:v>
                </c:pt>
                <c:pt idx="27">
                  <c:v> </c:v>
                </c:pt>
                <c:pt idx="28">
                  <c:v> </c:v>
                </c:pt>
                <c:pt idx="29">
                  <c:v> </c:v>
                </c:pt>
                <c:pt idx="30">
                  <c:v> </c:v>
                </c:pt>
                <c:pt idx="31">
                  <c:v> </c:v>
                </c:pt>
                <c:pt idx="32">
                  <c:v> </c:v>
                </c:pt>
                <c:pt idx="33">
                  <c:v> </c:v>
                </c:pt>
                <c:pt idx="34">
                  <c:v> </c:v>
                </c:pt>
                <c:pt idx="35">
                  <c:v> </c:v>
                </c:pt>
                <c:pt idx="36">
                  <c:v>2000</c:v>
                </c:pt>
                <c:pt idx="37">
                  <c:v> </c:v>
                </c:pt>
                <c:pt idx="38">
                  <c:v> </c:v>
                </c:pt>
                <c:pt idx="39">
                  <c:v> </c:v>
                </c:pt>
                <c:pt idx="40">
                  <c:v> </c:v>
                </c:pt>
                <c:pt idx="41">
                  <c:v> </c:v>
                </c:pt>
                <c:pt idx="42">
                  <c:v> </c:v>
                </c:pt>
                <c:pt idx="43">
                  <c:v> </c:v>
                </c:pt>
                <c:pt idx="44">
                  <c:v> </c:v>
                </c:pt>
                <c:pt idx="45">
                  <c:v> </c:v>
                </c:pt>
                <c:pt idx="46">
                  <c:v> </c:v>
                </c:pt>
                <c:pt idx="47">
                  <c:v> </c:v>
                </c:pt>
                <c:pt idx="48">
                  <c:v> </c:v>
                </c:pt>
                <c:pt idx="49">
                  <c:v> </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2003</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 </c:v>
                </c:pt>
                <c:pt idx="97">
                  <c:v> </c:v>
                </c:pt>
                <c:pt idx="98">
                  <c:v> </c:v>
                </c:pt>
                <c:pt idx="99">
                  <c:v> </c:v>
                </c:pt>
                <c:pt idx="100">
                  <c:v> </c:v>
                </c:pt>
                <c:pt idx="101">
                  <c:v> </c:v>
                </c:pt>
                <c:pt idx="102">
                  <c:v> </c:v>
                </c:pt>
                <c:pt idx="103">
                  <c:v> </c:v>
                </c:pt>
                <c:pt idx="104">
                  <c:v> </c:v>
                </c:pt>
                <c:pt idx="105">
                  <c:v> </c:v>
                </c:pt>
                <c:pt idx="106">
                  <c:v> </c:v>
                </c:pt>
                <c:pt idx="107">
                  <c:v> </c:v>
                </c:pt>
                <c:pt idx="108">
                  <c:v>2006</c:v>
                </c:pt>
                <c:pt idx="109">
                  <c:v> </c:v>
                </c:pt>
                <c:pt idx="110">
                  <c:v> </c:v>
                </c:pt>
                <c:pt idx="111">
                  <c:v> </c:v>
                </c:pt>
                <c:pt idx="112">
                  <c:v> </c:v>
                </c:pt>
                <c:pt idx="113">
                  <c:v> </c:v>
                </c:pt>
                <c:pt idx="114">
                  <c:v> </c:v>
                </c:pt>
                <c:pt idx="115">
                  <c:v> </c:v>
                </c:pt>
                <c:pt idx="116">
                  <c:v> </c:v>
                </c:pt>
                <c:pt idx="117">
                  <c:v> </c:v>
                </c:pt>
                <c:pt idx="118">
                  <c:v> </c:v>
                </c:pt>
                <c:pt idx="119">
                  <c:v> </c:v>
                </c:pt>
                <c:pt idx="120">
                  <c:v> </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2009</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 </c:v>
                </c:pt>
                <c:pt idx="169">
                  <c:v> </c:v>
                </c:pt>
                <c:pt idx="170">
                  <c:v> </c:v>
                </c:pt>
                <c:pt idx="171">
                  <c:v> </c:v>
                </c:pt>
                <c:pt idx="172">
                  <c:v> </c:v>
                </c:pt>
                <c:pt idx="173">
                  <c:v> </c:v>
                </c:pt>
                <c:pt idx="174">
                  <c:v> </c:v>
                </c:pt>
                <c:pt idx="175">
                  <c:v> </c:v>
                </c:pt>
                <c:pt idx="176">
                  <c:v> </c:v>
                </c:pt>
                <c:pt idx="177">
                  <c:v> </c:v>
                </c:pt>
                <c:pt idx="178">
                  <c:v> </c:v>
                </c:pt>
                <c:pt idx="179">
                  <c:v> </c:v>
                </c:pt>
                <c:pt idx="180">
                  <c:v>2012</c:v>
                </c:pt>
                <c:pt idx="181">
                  <c:v> </c:v>
                </c:pt>
                <c:pt idx="182">
                  <c:v> </c:v>
                </c:pt>
                <c:pt idx="183">
                  <c:v> </c:v>
                </c:pt>
                <c:pt idx="184">
                  <c:v> </c:v>
                </c:pt>
                <c:pt idx="185">
                  <c:v> </c:v>
                </c:pt>
                <c:pt idx="186">
                  <c:v> </c:v>
                </c:pt>
                <c:pt idx="187">
                  <c:v> </c:v>
                </c:pt>
                <c:pt idx="188">
                  <c:v> </c:v>
                </c:pt>
                <c:pt idx="189">
                  <c:v> </c:v>
                </c:pt>
                <c:pt idx="190">
                  <c:v> </c:v>
                </c:pt>
                <c:pt idx="191">
                  <c:v> </c:v>
                </c:pt>
                <c:pt idx="192">
                  <c:v> </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2015</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 </c:v>
                </c:pt>
                <c:pt idx="241">
                  <c:v> </c:v>
                </c:pt>
                <c:pt idx="242">
                  <c:v> </c:v>
                </c:pt>
                <c:pt idx="243">
                  <c:v> </c:v>
                </c:pt>
                <c:pt idx="244">
                  <c:v> </c:v>
                </c:pt>
                <c:pt idx="245">
                  <c:v> </c:v>
                </c:pt>
                <c:pt idx="246">
                  <c:v> </c:v>
                </c:pt>
                <c:pt idx="247">
                  <c:v> </c:v>
                </c:pt>
                <c:pt idx="248">
                  <c:v> </c:v>
                </c:pt>
                <c:pt idx="249">
                  <c:v> </c:v>
                </c:pt>
                <c:pt idx="250">
                  <c:v> </c:v>
                </c:pt>
                <c:pt idx="251">
                  <c:v> </c:v>
                </c:pt>
                <c:pt idx="252">
                  <c:v>2018</c:v>
                </c:pt>
                <c:pt idx="253">
                  <c:v> </c:v>
                </c:pt>
                <c:pt idx="254">
                  <c:v> </c:v>
                </c:pt>
                <c:pt idx="255">
                  <c:v> </c:v>
                </c:pt>
                <c:pt idx="256">
                  <c:v> </c:v>
                </c:pt>
                <c:pt idx="257">
                  <c:v> </c:v>
                </c:pt>
                <c:pt idx="258">
                  <c:v> </c:v>
                </c:pt>
                <c:pt idx="259">
                  <c:v> </c:v>
                </c:pt>
                <c:pt idx="260">
                  <c:v> </c:v>
                </c:pt>
                <c:pt idx="261">
                  <c:v> </c:v>
                </c:pt>
                <c:pt idx="262">
                  <c:v> </c:v>
                </c:pt>
                <c:pt idx="263">
                  <c:v> </c:v>
                </c:pt>
                <c:pt idx="264">
                  <c:v> </c:v>
                </c:pt>
                <c:pt idx="265">
                  <c:v> </c:v>
                </c:pt>
                <c:pt idx="266">
                  <c:v> </c:v>
                </c:pt>
                <c:pt idx="267">
                  <c:v> </c:v>
                </c:pt>
                <c:pt idx="268">
                  <c:v> </c:v>
                </c:pt>
                <c:pt idx="269">
                  <c:v> </c:v>
                </c:pt>
                <c:pt idx="270">
                  <c:v> </c:v>
                </c:pt>
                <c:pt idx="271">
                  <c:v> </c:v>
                </c:pt>
                <c:pt idx="272">
                  <c:v> </c:v>
                </c:pt>
                <c:pt idx="273">
                  <c:v> </c:v>
                </c:pt>
                <c:pt idx="274">
                  <c:v> </c:v>
                </c:pt>
                <c:pt idx="275">
                  <c:v> </c:v>
                </c:pt>
                <c:pt idx="276">
                  <c:v> </c:v>
                </c:pt>
                <c:pt idx="277">
                  <c:v> </c:v>
                </c:pt>
                <c:pt idx="278">
                  <c:v> </c:v>
                </c:pt>
                <c:pt idx="279">
                  <c:v> </c:v>
                </c:pt>
                <c:pt idx="280">
                  <c:v> </c:v>
                </c:pt>
                <c:pt idx="281">
                  <c:v> </c:v>
                </c:pt>
                <c:pt idx="282">
                  <c:v> </c:v>
                </c:pt>
                <c:pt idx="283">
                  <c:v> </c:v>
                </c:pt>
                <c:pt idx="284">
                  <c:v> </c:v>
                </c:pt>
                <c:pt idx="285">
                  <c:v> </c:v>
                </c:pt>
                <c:pt idx="286">
                  <c:v> </c:v>
                </c:pt>
                <c:pt idx="287">
                  <c:v> </c:v>
                </c:pt>
                <c:pt idx="288">
                  <c:v>2021</c:v>
                </c:pt>
                <c:pt idx="289">
                  <c:v> </c:v>
                </c:pt>
                <c:pt idx="290">
                  <c:v> </c:v>
                </c:pt>
                <c:pt idx="291">
                  <c:v> </c:v>
                </c:pt>
                <c:pt idx="292">
                  <c:v> </c:v>
                </c:pt>
                <c:pt idx="293">
                  <c:v> </c:v>
                </c:pt>
                <c:pt idx="294">
                  <c:v> </c:v>
                </c:pt>
                <c:pt idx="295">
                  <c:v> </c:v>
                </c:pt>
                <c:pt idx="296">
                  <c:v> </c:v>
                </c:pt>
                <c:pt idx="297">
                  <c:v> </c:v>
                </c:pt>
                <c:pt idx="298">
                  <c:v> </c:v>
                </c:pt>
                <c:pt idx="299">
                  <c:v> </c:v>
                </c:pt>
                <c:pt idx="300">
                  <c:v> </c:v>
                </c:pt>
                <c:pt idx="301">
                  <c:v> </c:v>
                </c:pt>
                <c:pt idx="302">
                  <c:v> </c:v>
                </c:pt>
                <c:pt idx="303">
                  <c:v> </c:v>
                </c:pt>
                <c:pt idx="304">
                  <c:v> </c:v>
                </c:pt>
                <c:pt idx="305">
                  <c:v> </c:v>
                </c:pt>
                <c:pt idx="306">
                  <c:v> </c:v>
                </c:pt>
                <c:pt idx="307">
                  <c:v> </c:v>
                </c:pt>
                <c:pt idx="308">
                  <c:v> </c:v>
                </c:pt>
                <c:pt idx="309">
                  <c:v> </c:v>
                </c:pt>
                <c:pt idx="310">
                  <c:v> </c:v>
                </c:pt>
                <c:pt idx="311">
                  <c:v> </c:v>
                </c:pt>
                <c:pt idx="312">
                  <c:v> </c:v>
                </c:pt>
                <c:pt idx="313">
                  <c:v> </c:v>
                </c:pt>
                <c:pt idx="314">
                  <c:v> </c:v>
                </c:pt>
                <c:pt idx="315">
                  <c:v> </c:v>
                </c:pt>
                <c:pt idx="316">
                  <c:v> </c:v>
                </c:pt>
                <c:pt idx="317">
                  <c:v> </c:v>
                </c:pt>
                <c:pt idx="318">
                  <c:v> </c:v>
                </c:pt>
                <c:pt idx="319">
                  <c:v> </c:v>
                </c:pt>
                <c:pt idx="320">
                  <c:v> </c:v>
                </c:pt>
                <c:pt idx="321">
                  <c:v> </c:v>
                </c:pt>
                <c:pt idx="322">
                  <c:v> </c:v>
                </c:pt>
                <c:pt idx="323">
                  <c:v> </c:v>
                </c:pt>
                <c:pt idx="324">
                  <c:v>2024</c:v>
                </c:pt>
                <c:pt idx="325">
                  <c:v> </c:v>
                </c:pt>
                <c:pt idx="326">
                  <c:v> </c:v>
                </c:pt>
                <c:pt idx="327">
                  <c:v> </c:v>
                </c:pt>
                <c:pt idx="328">
                  <c:v> </c:v>
                </c:pt>
                <c:pt idx="329">
                  <c:v> </c:v>
                </c:pt>
                <c:pt idx="330">
                  <c:v> </c:v>
                </c:pt>
                <c:pt idx="331">
                  <c:v> </c:v>
                </c:pt>
                <c:pt idx="332">
                  <c:v> </c:v>
                </c:pt>
                <c:pt idx="333">
                  <c:v> </c:v>
                </c:pt>
                <c:pt idx="334">
                  <c:v> </c:v>
                </c:pt>
                <c:pt idx="335">
                  <c:v> </c:v>
                </c:pt>
                <c:pt idx="336">
                  <c:v> </c:v>
                </c:pt>
                <c:pt idx="337">
                  <c:v> </c:v>
                </c:pt>
                <c:pt idx="338">
                  <c:v> </c:v>
                </c:pt>
                <c:pt idx="339">
                  <c:v> </c:v>
                </c:pt>
                <c:pt idx="340">
                  <c:v> </c:v>
                </c:pt>
                <c:pt idx="341">
                  <c:v> </c:v>
                </c:pt>
                <c:pt idx="342">
                  <c:v> </c:v>
                </c:pt>
                <c:pt idx="343">
                  <c:v> </c:v>
                </c:pt>
                <c:pt idx="344">
                  <c:v> </c:v>
                </c:pt>
                <c:pt idx="345">
                  <c:v> </c:v>
                </c:pt>
                <c:pt idx="346">
                  <c:v> </c:v>
                </c:pt>
                <c:pt idx="347">
                  <c:v> </c:v>
                </c:pt>
                <c:pt idx="348">
                  <c:v> </c:v>
                </c:pt>
                <c:pt idx="349">
                  <c:v> </c:v>
                </c:pt>
                <c:pt idx="350">
                  <c:v> </c:v>
                </c:pt>
                <c:pt idx="351">
                  <c:v> </c:v>
                </c:pt>
                <c:pt idx="352">
                  <c:v> </c:v>
                </c:pt>
                <c:pt idx="353">
                  <c:v> </c:v>
                </c:pt>
                <c:pt idx="354">
                  <c:v> </c:v>
                </c:pt>
              </c:strCache>
            </c:strRef>
          </c:cat>
          <c:val>
            <c:numRef>
              <c:f>Sheet1!$C$2:$C$356</c:f>
              <c:numCache>
                <c:formatCode>General</c:formatCode>
                <c:ptCount val="355"/>
                <c:pt idx="0">
                  <c:v>150.9</c:v>
                </c:pt>
                <c:pt idx="1">
                  <c:v>150.9</c:v>
                </c:pt>
                <c:pt idx="2">
                  <c:v>150.9</c:v>
                </c:pt>
                <c:pt idx="3">
                  <c:v>150.9</c:v>
                </c:pt>
                <c:pt idx="4">
                  <c:v>150.9</c:v>
                </c:pt>
                <c:pt idx="5">
                  <c:v>150.9</c:v>
                </c:pt>
                <c:pt idx="6">
                  <c:v>150.9</c:v>
                </c:pt>
                <c:pt idx="7">
                  <c:v>150.9</c:v>
                </c:pt>
                <c:pt idx="8">
                  <c:v>150.9</c:v>
                </c:pt>
                <c:pt idx="9">
                  <c:v>150.9</c:v>
                </c:pt>
                <c:pt idx="10">
                  <c:v>150.9</c:v>
                </c:pt>
                <c:pt idx="11">
                  <c:v>150.9</c:v>
                </c:pt>
                <c:pt idx="12">
                  <c:v>150.9</c:v>
                </c:pt>
                <c:pt idx="13">
                  <c:v>150.9</c:v>
                </c:pt>
                <c:pt idx="14">
                  <c:v>150.9</c:v>
                </c:pt>
                <c:pt idx="15">
                  <c:v>150.9</c:v>
                </c:pt>
                <c:pt idx="16">
                  <c:v>150.9</c:v>
                </c:pt>
                <c:pt idx="17">
                  <c:v>150.9</c:v>
                </c:pt>
                <c:pt idx="18">
                  <c:v>150.9</c:v>
                </c:pt>
                <c:pt idx="19">
                  <c:v>150.9</c:v>
                </c:pt>
                <c:pt idx="20">
                  <c:v>150.9</c:v>
                </c:pt>
                <c:pt idx="21">
                  <c:v>150.9</c:v>
                </c:pt>
                <c:pt idx="22">
                  <c:v>150.9</c:v>
                </c:pt>
                <c:pt idx="23">
                  <c:v>150.9</c:v>
                </c:pt>
                <c:pt idx="24">
                  <c:v>150.9</c:v>
                </c:pt>
                <c:pt idx="25">
                  <c:v>150.9</c:v>
                </c:pt>
                <c:pt idx="26">
                  <c:v>150.9</c:v>
                </c:pt>
                <c:pt idx="27">
                  <c:v>150.9</c:v>
                </c:pt>
                <c:pt idx="28">
                  <c:v>150.9</c:v>
                </c:pt>
                <c:pt idx="29">
                  <c:v>150.9</c:v>
                </c:pt>
                <c:pt idx="30">
                  <c:v>150.9</c:v>
                </c:pt>
                <c:pt idx="31">
                  <c:v>150.9</c:v>
                </c:pt>
                <c:pt idx="32">
                  <c:v>150.9</c:v>
                </c:pt>
                <c:pt idx="33">
                  <c:v>150.9</c:v>
                </c:pt>
                <c:pt idx="34">
                  <c:v>150.9</c:v>
                </c:pt>
                <c:pt idx="35">
                  <c:v>150.9</c:v>
                </c:pt>
                <c:pt idx="36">
                  <c:v>150.9</c:v>
                </c:pt>
                <c:pt idx="37">
                  <c:v>150.9</c:v>
                </c:pt>
                <c:pt idx="38">
                  <c:v>150.9</c:v>
                </c:pt>
                <c:pt idx="39">
                  <c:v>150.9</c:v>
                </c:pt>
                <c:pt idx="40">
                  <c:v>150.9</c:v>
                </c:pt>
                <c:pt idx="41">
                  <c:v>150.9</c:v>
                </c:pt>
                <c:pt idx="42">
                  <c:v>150.9</c:v>
                </c:pt>
                <c:pt idx="43">
                  <c:v>150.9</c:v>
                </c:pt>
                <c:pt idx="44">
                  <c:v>150.9</c:v>
                </c:pt>
                <c:pt idx="45">
                  <c:v>150.9</c:v>
                </c:pt>
                <c:pt idx="46">
                  <c:v>150.9</c:v>
                </c:pt>
                <c:pt idx="47">
                  <c:v>150.9</c:v>
                </c:pt>
                <c:pt idx="48">
                  <c:v>150.9</c:v>
                </c:pt>
                <c:pt idx="49">
                  <c:v>150.9</c:v>
                </c:pt>
                <c:pt idx="50">
                  <c:v>150.9</c:v>
                </c:pt>
                <c:pt idx="51">
                  <c:v>150.9</c:v>
                </c:pt>
                <c:pt idx="52">
                  <c:v>150.9</c:v>
                </c:pt>
                <c:pt idx="53">
                  <c:v>150.9</c:v>
                </c:pt>
                <c:pt idx="54">
                  <c:v>150.9</c:v>
                </c:pt>
                <c:pt idx="55">
                  <c:v>150.9</c:v>
                </c:pt>
                <c:pt idx="56">
                  <c:v>150.9</c:v>
                </c:pt>
                <c:pt idx="57">
                  <c:v>150.9</c:v>
                </c:pt>
                <c:pt idx="58">
                  <c:v>150.9</c:v>
                </c:pt>
                <c:pt idx="59">
                  <c:v>150.9</c:v>
                </c:pt>
                <c:pt idx="60">
                  <c:v>150.9</c:v>
                </c:pt>
                <c:pt idx="61">
                  <c:v>150.9</c:v>
                </c:pt>
                <c:pt idx="62">
                  <c:v>150.9</c:v>
                </c:pt>
                <c:pt idx="63">
                  <c:v>150.9</c:v>
                </c:pt>
                <c:pt idx="64">
                  <c:v>150.9</c:v>
                </c:pt>
                <c:pt idx="65">
                  <c:v>150.9</c:v>
                </c:pt>
                <c:pt idx="66">
                  <c:v>150.9</c:v>
                </c:pt>
                <c:pt idx="67">
                  <c:v>150.9</c:v>
                </c:pt>
                <c:pt idx="68">
                  <c:v>150.9</c:v>
                </c:pt>
                <c:pt idx="69">
                  <c:v>150.9</c:v>
                </c:pt>
                <c:pt idx="70">
                  <c:v>150.9</c:v>
                </c:pt>
                <c:pt idx="71">
                  <c:v>150.9</c:v>
                </c:pt>
                <c:pt idx="72">
                  <c:v>150.9</c:v>
                </c:pt>
                <c:pt idx="73">
                  <c:v>150.9</c:v>
                </c:pt>
                <c:pt idx="74">
                  <c:v>150.9</c:v>
                </c:pt>
                <c:pt idx="75">
                  <c:v>150.9</c:v>
                </c:pt>
                <c:pt idx="76">
                  <c:v>150.9</c:v>
                </c:pt>
                <c:pt idx="77">
                  <c:v>150.9</c:v>
                </c:pt>
                <c:pt idx="78">
                  <c:v>150.9</c:v>
                </c:pt>
                <c:pt idx="79">
                  <c:v>150.9</c:v>
                </c:pt>
                <c:pt idx="80">
                  <c:v>150.9</c:v>
                </c:pt>
                <c:pt idx="81">
                  <c:v>150.9</c:v>
                </c:pt>
                <c:pt idx="82">
                  <c:v>150.9</c:v>
                </c:pt>
                <c:pt idx="83">
                  <c:v>150.9</c:v>
                </c:pt>
                <c:pt idx="84">
                  <c:v>150.9</c:v>
                </c:pt>
                <c:pt idx="85">
                  <c:v>150.9</c:v>
                </c:pt>
                <c:pt idx="86">
                  <c:v>150.9</c:v>
                </c:pt>
                <c:pt idx="87">
                  <c:v>150.9</c:v>
                </c:pt>
                <c:pt idx="88">
                  <c:v>150.9</c:v>
                </c:pt>
                <c:pt idx="89">
                  <c:v>150.9</c:v>
                </c:pt>
                <c:pt idx="90">
                  <c:v>150.9</c:v>
                </c:pt>
                <c:pt idx="91">
                  <c:v>150.9</c:v>
                </c:pt>
                <c:pt idx="92">
                  <c:v>150.9</c:v>
                </c:pt>
                <c:pt idx="93">
                  <c:v>150.9</c:v>
                </c:pt>
                <c:pt idx="94">
                  <c:v>150.9</c:v>
                </c:pt>
                <c:pt idx="95">
                  <c:v>150.9</c:v>
                </c:pt>
                <c:pt idx="96">
                  <c:v>150.9</c:v>
                </c:pt>
                <c:pt idx="97">
                  <c:v>150.9</c:v>
                </c:pt>
                <c:pt idx="98">
                  <c:v>150.9</c:v>
                </c:pt>
                <c:pt idx="99">
                  <c:v>150.9</c:v>
                </c:pt>
                <c:pt idx="100">
                  <c:v>150.9</c:v>
                </c:pt>
                <c:pt idx="101">
                  <c:v>150.9</c:v>
                </c:pt>
                <c:pt idx="102">
                  <c:v>150.9</c:v>
                </c:pt>
                <c:pt idx="103">
                  <c:v>150.9</c:v>
                </c:pt>
                <c:pt idx="104">
                  <c:v>150.9</c:v>
                </c:pt>
                <c:pt idx="105">
                  <c:v>150.9</c:v>
                </c:pt>
                <c:pt idx="106">
                  <c:v>150.9</c:v>
                </c:pt>
                <c:pt idx="107">
                  <c:v>150.9</c:v>
                </c:pt>
                <c:pt idx="108">
                  <c:v>150.9</c:v>
                </c:pt>
                <c:pt idx="109">
                  <c:v>150.9</c:v>
                </c:pt>
                <c:pt idx="110">
                  <c:v>150.9</c:v>
                </c:pt>
                <c:pt idx="111">
                  <c:v>150.9</c:v>
                </c:pt>
                <c:pt idx="112">
                  <c:v>150.9</c:v>
                </c:pt>
                <c:pt idx="113">
                  <c:v>150.9</c:v>
                </c:pt>
                <c:pt idx="114">
                  <c:v>150.9</c:v>
                </c:pt>
                <c:pt idx="115">
                  <c:v>150.9</c:v>
                </c:pt>
                <c:pt idx="116">
                  <c:v>150.9</c:v>
                </c:pt>
                <c:pt idx="117">
                  <c:v>150.9</c:v>
                </c:pt>
                <c:pt idx="118">
                  <c:v>150.9</c:v>
                </c:pt>
                <c:pt idx="119">
                  <c:v>150.9</c:v>
                </c:pt>
                <c:pt idx="120">
                  <c:v>150.9</c:v>
                </c:pt>
                <c:pt idx="121">
                  <c:v>150.9</c:v>
                </c:pt>
                <c:pt idx="122">
                  <c:v>150.9</c:v>
                </c:pt>
                <c:pt idx="123">
                  <c:v>150.9</c:v>
                </c:pt>
                <c:pt idx="124">
                  <c:v>150.9</c:v>
                </c:pt>
                <c:pt idx="125">
                  <c:v>150.9</c:v>
                </c:pt>
                <c:pt idx="126">
                  <c:v>150.9</c:v>
                </c:pt>
                <c:pt idx="127">
                  <c:v>150.9</c:v>
                </c:pt>
                <c:pt idx="128">
                  <c:v>150.9</c:v>
                </c:pt>
                <c:pt idx="129">
                  <c:v>150.9</c:v>
                </c:pt>
                <c:pt idx="130">
                  <c:v>150.9</c:v>
                </c:pt>
                <c:pt idx="131">
                  <c:v>150.9</c:v>
                </c:pt>
                <c:pt idx="132">
                  <c:v>150.9</c:v>
                </c:pt>
                <c:pt idx="133">
                  <c:v>150.9</c:v>
                </c:pt>
                <c:pt idx="134">
                  <c:v>150.9</c:v>
                </c:pt>
                <c:pt idx="135">
                  <c:v>150.9</c:v>
                </c:pt>
                <c:pt idx="136">
                  <c:v>150.9</c:v>
                </c:pt>
                <c:pt idx="137">
                  <c:v>150.9</c:v>
                </c:pt>
                <c:pt idx="138">
                  <c:v>150.9</c:v>
                </c:pt>
                <c:pt idx="139">
                  <c:v>150.9</c:v>
                </c:pt>
                <c:pt idx="140">
                  <c:v>150.9</c:v>
                </c:pt>
                <c:pt idx="141">
                  <c:v>150.9</c:v>
                </c:pt>
                <c:pt idx="142">
                  <c:v>150.9</c:v>
                </c:pt>
                <c:pt idx="143">
                  <c:v>150.9</c:v>
                </c:pt>
                <c:pt idx="144">
                  <c:v>150.9</c:v>
                </c:pt>
                <c:pt idx="145">
                  <c:v>150.9</c:v>
                </c:pt>
                <c:pt idx="146">
                  <c:v>150.9</c:v>
                </c:pt>
                <c:pt idx="147">
                  <c:v>150.9</c:v>
                </c:pt>
                <c:pt idx="148">
                  <c:v>150.9</c:v>
                </c:pt>
                <c:pt idx="149">
                  <c:v>150.9</c:v>
                </c:pt>
                <c:pt idx="150">
                  <c:v>150.9</c:v>
                </c:pt>
                <c:pt idx="151">
                  <c:v>150.9</c:v>
                </c:pt>
                <c:pt idx="152">
                  <c:v>150.9</c:v>
                </c:pt>
                <c:pt idx="153">
                  <c:v>150.9</c:v>
                </c:pt>
                <c:pt idx="154">
                  <c:v>150.9</c:v>
                </c:pt>
                <c:pt idx="155">
                  <c:v>150.9</c:v>
                </c:pt>
                <c:pt idx="156">
                  <c:v>150.9</c:v>
                </c:pt>
                <c:pt idx="157">
                  <c:v>150.9</c:v>
                </c:pt>
                <c:pt idx="158">
                  <c:v>150.9</c:v>
                </c:pt>
                <c:pt idx="159">
                  <c:v>150.9</c:v>
                </c:pt>
                <c:pt idx="160">
                  <c:v>150.9</c:v>
                </c:pt>
                <c:pt idx="161">
                  <c:v>150.9</c:v>
                </c:pt>
                <c:pt idx="162">
                  <c:v>150.9</c:v>
                </c:pt>
                <c:pt idx="163">
                  <c:v>150.9</c:v>
                </c:pt>
                <c:pt idx="164">
                  <c:v>150.9</c:v>
                </c:pt>
                <c:pt idx="165">
                  <c:v>150.9</c:v>
                </c:pt>
                <c:pt idx="166">
                  <c:v>150.9</c:v>
                </c:pt>
                <c:pt idx="167">
                  <c:v>150.9</c:v>
                </c:pt>
                <c:pt idx="168">
                  <c:v>150.9</c:v>
                </c:pt>
                <c:pt idx="169">
                  <c:v>150.9</c:v>
                </c:pt>
                <c:pt idx="170">
                  <c:v>150.9</c:v>
                </c:pt>
                <c:pt idx="171">
                  <c:v>150.9</c:v>
                </c:pt>
                <c:pt idx="172">
                  <c:v>150.9</c:v>
                </c:pt>
                <c:pt idx="173">
                  <c:v>150.9</c:v>
                </c:pt>
                <c:pt idx="174">
                  <c:v>150.9</c:v>
                </c:pt>
                <c:pt idx="175">
                  <c:v>150.9</c:v>
                </c:pt>
                <c:pt idx="176">
                  <c:v>150.9</c:v>
                </c:pt>
                <c:pt idx="177">
                  <c:v>150.9</c:v>
                </c:pt>
                <c:pt idx="178">
                  <c:v>150.9</c:v>
                </c:pt>
                <c:pt idx="179">
                  <c:v>150.9</c:v>
                </c:pt>
                <c:pt idx="180">
                  <c:v>150.9</c:v>
                </c:pt>
                <c:pt idx="181">
                  <c:v>150.9</c:v>
                </c:pt>
                <c:pt idx="182">
                  <c:v>150.9</c:v>
                </c:pt>
                <c:pt idx="183">
                  <c:v>150.9</c:v>
                </c:pt>
                <c:pt idx="184">
                  <c:v>150.9</c:v>
                </c:pt>
                <c:pt idx="185">
                  <c:v>150.9</c:v>
                </c:pt>
                <c:pt idx="186">
                  <c:v>150.9</c:v>
                </c:pt>
                <c:pt idx="187">
                  <c:v>150.9</c:v>
                </c:pt>
                <c:pt idx="188">
                  <c:v>150.9</c:v>
                </c:pt>
                <c:pt idx="189">
                  <c:v>150.9</c:v>
                </c:pt>
                <c:pt idx="190">
                  <c:v>150.9</c:v>
                </c:pt>
                <c:pt idx="191">
                  <c:v>150.9</c:v>
                </c:pt>
                <c:pt idx="192">
                  <c:v>150.9</c:v>
                </c:pt>
                <c:pt idx="193">
                  <c:v>150.9</c:v>
                </c:pt>
                <c:pt idx="194">
                  <c:v>150.9</c:v>
                </c:pt>
                <c:pt idx="195">
                  <c:v>150.9</c:v>
                </c:pt>
                <c:pt idx="196">
                  <c:v>150.9</c:v>
                </c:pt>
                <c:pt idx="197">
                  <c:v>150.9</c:v>
                </c:pt>
                <c:pt idx="198">
                  <c:v>150.9</c:v>
                </c:pt>
                <c:pt idx="199">
                  <c:v>150.9</c:v>
                </c:pt>
                <c:pt idx="200">
                  <c:v>150.9</c:v>
                </c:pt>
                <c:pt idx="201">
                  <c:v>150.9</c:v>
                </c:pt>
                <c:pt idx="202">
                  <c:v>150.9</c:v>
                </c:pt>
                <c:pt idx="203">
                  <c:v>150.9</c:v>
                </c:pt>
                <c:pt idx="204">
                  <c:v>150.9</c:v>
                </c:pt>
                <c:pt idx="205">
                  <c:v>150.9</c:v>
                </c:pt>
                <c:pt idx="206">
                  <c:v>150.9</c:v>
                </c:pt>
                <c:pt idx="207">
                  <c:v>150.9</c:v>
                </c:pt>
                <c:pt idx="208">
                  <c:v>150.9</c:v>
                </c:pt>
                <c:pt idx="209">
                  <c:v>150.9</c:v>
                </c:pt>
                <c:pt idx="210">
                  <c:v>150.9</c:v>
                </c:pt>
                <c:pt idx="211">
                  <c:v>150.9</c:v>
                </c:pt>
                <c:pt idx="212">
                  <c:v>150.9</c:v>
                </c:pt>
                <c:pt idx="213">
                  <c:v>150.9</c:v>
                </c:pt>
                <c:pt idx="214">
                  <c:v>150.9</c:v>
                </c:pt>
                <c:pt idx="215">
                  <c:v>150.9</c:v>
                </c:pt>
                <c:pt idx="216">
                  <c:v>150.9</c:v>
                </c:pt>
                <c:pt idx="217">
                  <c:v>150.9</c:v>
                </c:pt>
                <c:pt idx="218">
                  <c:v>150.9</c:v>
                </c:pt>
                <c:pt idx="219">
                  <c:v>150.9</c:v>
                </c:pt>
                <c:pt idx="220">
                  <c:v>150.9</c:v>
                </c:pt>
                <c:pt idx="221">
                  <c:v>150.9</c:v>
                </c:pt>
                <c:pt idx="222">
                  <c:v>150.9</c:v>
                </c:pt>
                <c:pt idx="223">
                  <c:v>150.9</c:v>
                </c:pt>
                <c:pt idx="224">
                  <c:v>150.9</c:v>
                </c:pt>
                <c:pt idx="225">
                  <c:v>150.9</c:v>
                </c:pt>
                <c:pt idx="226">
                  <c:v>150.9</c:v>
                </c:pt>
                <c:pt idx="227">
                  <c:v>150.9</c:v>
                </c:pt>
                <c:pt idx="228">
                  <c:v>150.9</c:v>
                </c:pt>
                <c:pt idx="229">
                  <c:v>150.9</c:v>
                </c:pt>
                <c:pt idx="230">
                  <c:v>150.9</c:v>
                </c:pt>
                <c:pt idx="231">
                  <c:v>150.9</c:v>
                </c:pt>
                <c:pt idx="232">
                  <c:v>150.9</c:v>
                </c:pt>
                <c:pt idx="233">
                  <c:v>150.9</c:v>
                </c:pt>
                <c:pt idx="234">
                  <c:v>150.9</c:v>
                </c:pt>
                <c:pt idx="235">
                  <c:v>150.9</c:v>
                </c:pt>
                <c:pt idx="236">
                  <c:v>150.9</c:v>
                </c:pt>
                <c:pt idx="237">
                  <c:v>150.9</c:v>
                </c:pt>
                <c:pt idx="238">
                  <c:v>150.9</c:v>
                </c:pt>
                <c:pt idx="239">
                  <c:v>150.9</c:v>
                </c:pt>
                <c:pt idx="240">
                  <c:v>150.9</c:v>
                </c:pt>
                <c:pt idx="241">
                  <c:v>150.9</c:v>
                </c:pt>
                <c:pt idx="242">
                  <c:v>150.9</c:v>
                </c:pt>
                <c:pt idx="243">
                  <c:v>150.9</c:v>
                </c:pt>
                <c:pt idx="244">
                  <c:v>150.9</c:v>
                </c:pt>
                <c:pt idx="245">
                  <c:v>150.9</c:v>
                </c:pt>
                <c:pt idx="246">
                  <c:v>150.9</c:v>
                </c:pt>
                <c:pt idx="247">
                  <c:v>150.9</c:v>
                </c:pt>
                <c:pt idx="248">
                  <c:v>150.9</c:v>
                </c:pt>
                <c:pt idx="249">
                  <c:v>150.9</c:v>
                </c:pt>
                <c:pt idx="250">
                  <c:v>150.9</c:v>
                </c:pt>
                <c:pt idx="251">
                  <c:v>150.9</c:v>
                </c:pt>
                <c:pt idx="252">
                  <c:v>150.9</c:v>
                </c:pt>
                <c:pt idx="253">
                  <c:v>150.9</c:v>
                </c:pt>
                <c:pt idx="254">
                  <c:v>150.9</c:v>
                </c:pt>
                <c:pt idx="255">
                  <c:v>150.9</c:v>
                </c:pt>
                <c:pt idx="256">
                  <c:v>150.9</c:v>
                </c:pt>
                <c:pt idx="257">
                  <c:v>150.9</c:v>
                </c:pt>
                <c:pt idx="258">
                  <c:v>150.9</c:v>
                </c:pt>
                <c:pt idx="259">
                  <c:v>150.9</c:v>
                </c:pt>
                <c:pt idx="260">
                  <c:v>150.9</c:v>
                </c:pt>
                <c:pt idx="261">
                  <c:v>150.9</c:v>
                </c:pt>
                <c:pt idx="262">
                  <c:v>150.9</c:v>
                </c:pt>
                <c:pt idx="263">
                  <c:v>150.9</c:v>
                </c:pt>
                <c:pt idx="264">
                  <c:v>150.9</c:v>
                </c:pt>
                <c:pt idx="265">
                  <c:v>150.9</c:v>
                </c:pt>
                <c:pt idx="266">
                  <c:v>150.9</c:v>
                </c:pt>
                <c:pt idx="267">
                  <c:v>150.9</c:v>
                </c:pt>
                <c:pt idx="268">
                  <c:v>150.9</c:v>
                </c:pt>
                <c:pt idx="269">
                  <c:v>150.9</c:v>
                </c:pt>
                <c:pt idx="270">
                  <c:v>150.9</c:v>
                </c:pt>
                <c:pt idx="271">
                  <c:v>150.9</c:v>
                </c:pt>
                <c:pt idx="272">
                  <c:v>150.9</c:v>
                </c:pt>
                <c:pt idx="273">
                  <c:v>150.9</c:v>
                </c:pt>
                <c:pt idx="274">
                  <c:v>150.9</c:v>
                </c:pt>
                <c:pt idx="275">
                  <c:v>150.9</c:v>
                </c:pt>
                <c:pt idx="276">
                  <c:v>150.9</c:v>
                </c:pt>
                <c:pt idx="277">
                  <c:v>150.9</c:v>
                </c:pt>
                <c:pt idx="278">
                  <c:v>150.9</c:v>
                </c:pt>
                <c:pt idx="279">
                  <c:v>150.9</c:v>
                </c:pt>
                <c:pt idx="280">
                  <c:v>150.9</c:v>
                </c:pt>
                <c:pt idx="281">
                  <c:v>150.9</c:v>
                </c:pt>
                <c:pt idx="282">
                  <c:v>150.9</c:v>
                </c:pt>
                <c:pt idx="283">
                  <c:v>150.9</c:v>
                </c:pt>
                <c:pt idx="284">
                  <c:v>150.9</c:v>
                </c:pt>
                <c:pt idx="285">
                  <c:v>150.9</c:v>
                </c:pt>
                <c:pt idx="286">
                  <c:v>150.9</c:v>
                </c:pt>
                <c:pt idx="287">
                  <c:v>150.9</c:v>
                </c:pt>
                <c:pt idx="288">
                  <c:v>150.9</c:v>
                </c:pt>
                <c:pt idx="289">
                  <c:v>150.9</c:v>
                </c:pt>
                <c:pt idx="290">
                  <c:v>150.9</c:v>
                </c:pt>
                <c:pt idx="291">
                  <c:v>150.9</c:v>
                </c:pt>
                <c:pt idx="292">
                  <c:v>150.9</c:v>
                </c:pt>
                <c:pt idx="293">
                  <c:v>150.9</c:v>
                </c:pt>
                <c:pt idx="294">
                  <c:v>150.9</c:v>
                </c:pt>
                <c:pt idx="295">
                  <c:v>150.9</c:v>
                </c:pt>
                <c:pt idx="296">
                  <c:v>150.9</c:v>
                </c:pt>
                <c:pt idx="297">
                  <c:v>150.9</c:v>
                </c:pt>
                <c:pt idx="298">
                  <c:v>150.9</c:v>
                </c:pt>
                <c:pt idx="299">
                  <c:v>150.9</c:v>
                </c:pt>
                <c:pt idx="300">
                  <c:v>150.9</c:v>
                </c:pt>
                <c:pt idx="301">
                  <c:v>150.9</c:v>
                </c:pt>
                <c:pt idx="302">
                  <c:v>150.9</c:v>
                </c:pt>
                <c:pt idx="303">
                  <c:v>150.9</c:v>
                </c:pt>
                <c:pt idx="304">
                  <c:v>150.9</c:v>
                </c:pt>
                <c:pt idx="305">
                  <c:v>150.9</c:v>
                </c:pt>
                <c:pt idx="306">
                  <c:v>150.9</c:v>
                </c:pt>
                <c:pt idx="307">
                  <c:v>150.9</c:v>
                </c:pt>
                <c:pt idx="308">
                  <c:v>150.9</c:v>
                </c:pt>
                <c:pt idx="309">
                  <c:v>150.9</c:v>
                </c:pt>
                <c:pt idx="310">
                  <c:v>150.9</c:v>
                </c:pt>
                <c:pt idx="311">
                  <c:v>150.9</c:v>
                </c:pt>
                <c:pt idx="312">
                  <c:v>150.9</c:v>
                </c:pt>
                <c:pt idx="313">
                  <c:v>150.9</c:v>
                </c:pt>
                <c:pt idx="314">
                  <c:v>150.9</c:v>
                </c:pt>
                <c:pt idx="315">
                  <c:v>150.9</c:v>
                </c:pt>
                <c:pt idx="316">
                  <c:v>150.9</c:v>
                </c:pt>
                <c:pt idx="317">
                  <c:v>150.9</c:v>
                </c:pt>
                <c:pt idx="318">
                  <c:v>150.9</c:v>
                </c:pt>
                <c:pt idx="319">
                  <c:v>150.9</c:v>
                </c:pt>
                <c:pt idx="320">
                  <c:v>150.9</c:v>
                </c:pt>
                <c:pt idx="321">
                  <c:v>150.9</c:v>
                </c:pt>
                <c:pt idx="322">
                  <c:v>150.9</c:v>
                </c:pt>
                <c:pt idx="323">
                  <c:v>150.9</c:v>
                </c:pt>
                <c:pt idx="324">
                  <c:v>150.9</c:v>
                </c:pt>
                <c:pt idx="325">
                  <c:v>150.9</c:v>
                </c:pt>
                <c:pt idx="326">
                  <c:v>150.9</c:v>
                </c:pt>
                <c:pt idx="327">
                  <c:v>150.9</c:v>
                </c:pt>
                <c:pt idx="328">
                  <c:v>150.9</c:v>
                </c:pt>
                <c:pt idx="329">
                  <c:v>150.9</c:v>
                </c:pt>
                <c:pt idx="330">
                  <c:v>150.9</c:v>
                </c:pt>
                <c:pt idx="331">
                  <c:v>150.9</c:v>
                </c:pt>
                <c:pt idx="332">
                  <c:v>150.9</c:v>
                </c:pt>
                <c:pt idx="333">
                  <c:v>150.9</c:v>
                </c:pt>
                <c:pt idx="334">
                  <c:v>150.9</c:v>
                </c:pt>
                <c:pt idx="335">
                  <c:v>150.9</c:v>
                </c:pt>
                <c:pt idx="336">
                  <c:v>150.9</c:v>
                </c:pt>
                <c:pt idx="337">
                  <c:v>150.9</c:v>
                </c:pt>
                <c:pt idx="338">
                  <c:v>150.9</c:v>
                </c:pt>
                <c:pt idx="339">
                  <c:v>150.9</c:v>
                </c:pt>
                <c:pt idx="340">
                  <c:v>150.9</c:v>
                </c:pt>
                <c:pt idx="341">
                  <c:v>150.9</c:v>
                </c:pt>
                <c:pt idx="342">
                  <c:v>150.9</c:v>
                </c:pt>
                <c:pt idx="343">
                  <c:v>150.9</c:v>
                </c:pt>
                <c:pt idx="344">
                  <c:v>150.9</c:v>
                </c:pt>
                <c:pt idx="345">
                  <c:v>150.9</c:v>
                </c:pt>
                <c:pt idx="346">
                  <c:v>150.9</c:v>
                </c:pt>
                <c:pt idx="347">
                  <c:v>150.9</c:v>
                </c:pt>
                <c:pt idx="348">
                  <c:v>150.9</c:v>
                </c:pt>
                <c:pt idx="349">
                  <c:v>150.9</c:v>
                </c:pt>
                <c:pt idx="350">
                  <c:v>150.9</c:v>
                </c:pt>
                <c:pt idx="351">
                  <c:v>150.9</c:v>
                </c:pt>
                <c:pt idx="352">
                  <c:v>150.9</c:v>
                </c:pt>
                <c:pt idx="353">
                  <c:v>150.9</c:v>
                </c:pt>
                <c:pt idx="354">
                  <c:v>150.9</c:v>
                </c:pt>
              </c:numCache>
            </c:numRef>
          </c:val>
          <c:smooth val="0"/>
          <c:extLst>
            <c:ext xmlns:c16="http://schemas.microsoft.com/office/drawing/2014/chart" uri="{C3380CC4-5D6E-409C-BE32-E72D297353CC}">
              <c16:uniqueId val="{00000001-D589-443B-B617-0DCAB6CC2B6C}"/>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a:solidFill>
              <a:srgbClr val="000000"/>
            </a:solidFill>
          </a:ln>
        </c:spPr>
        <c:txPr>
          <a:bodyPr/>
          <a:lstStyle/>
          <a:p>
            <a:pPr>
              <a:defRPr sz="1100"/>
            </a:pPr>
            <a:endParaRPr lang="en-US"/>
          </a:p>
        </c:txPr>
        <c:crossAx val="2140495176"/>
        <c:crosses val="autoZero"/>
        <c:auto val="1"/>
        <c:lblAlgn val="ctr"/>
        <c:lblOffset val="100"/>
        <c:tickLblSkip val="1"/>
        <c:tickMarkSkip val="1"/>
        <c:noMultiLvlLbl val="0"/>
      </c:catAx>
      <c:valAx>
        <c:axId val="2140495176"/>
        <c:scaling>
          <c:orientation val="minMax"/>
          <c:max val="700"/>
          <c:min val="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crossBetween val="between"/>
        <c:majorUnit val="100"/>
      </c:valAx>
    </c:plotArea>
    <c:legend>
      <c:legendPos val="t"/>
      <c:overlay val="0"/>
      <c:txPr>
        <a:bodyPr/>
        <a:lstStyle/>
        <a:p>
          <a:pPr>
            <a:defRPr sz="1100"/>
          </a:pPr>
          <a:endParaRPr lang="en-US"/>
        </a:p>
      </c:txPr>
    </c:legend>
    <c:plotVisOnly val="1"/>
    <c:dispBlanksAs val="gap"/>
    <c:showDLblsOverMax val="0"/>
  </c:chart>
  <c:txPr>
    <a:bodyPr/>
    <a:lstStyle/>
    <a:p>
      <a:pPr>
        <a:defRPr sz="1100">
          <a:solidFill>
            <a:srgbClr val="000000"/>
          </a:solidFill>
          <a:latin typeface="Lato"/>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5"/>
          <c:y val="0.06"/>
          <c:w val="0.93"/>
          <c:h val="0.74"/>
        </c:manualLayout>
      </c:layout>
      <c:lineChart>
        <c:grouping val="standard"/>
        <c:varyColors val="0"/>
        <c:ser>
          <c:idx val="0"/>
          <c:order val="0"/>
          <c:tx>
            <c:strRef>
              <c:f>Sheet1!$B$1</c:f>
              <c:strCache>
                <c:ptCount val="1"/>
                <c:pt idx="0">
                  <c:v>University of Michigan Index of Consumer Sentiment</c:v>
                </c:pt>
              </c:strCache>
            </c:strRef>
          </c:tx>
          <c:spPr>
            <a:ln w="22225">
              <a:solidFill>
                <a:srgbClr val="000000"/>
              </a:solidFill>
            </a:ln>
          </c:spPr>
          <c:marker>
            <c:symbol val="none"/>
          </c:marker>
          <c:cat>
            <c:strRef>
              <c:f>Sheet1!$A$2:$A$274</c:f>
              <c:strCache>
                <c:ptCount val="273"/>
                <c:pt idx="0">
                  <c:v>2004</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2006</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2008</c:v>
                </c:pt>
                <c:pt idx="49">
                  <c:v> </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2010</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2012</c:v>
                </c:pt>
                <c:pt idx="97">
                  <c:v> </c:v>
                </c:pt>
                <c:pt idx="98">
                  <c:v> </c:v>
                </c:pt>
                <c:pt idx="99">
                  <c:v> </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2014</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2016</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2018</c:v>
                </c:pt>
                <c:pt idx="169">
                  <c:v> </c:v>
                </c:pt>
                <c:pt idx="170">
                  <c:v> </c:v>
                </c:pt>
                <c:pt idx="171">
                  <c:v> </c:v>
                </c:pt>
                <c:pt idx="172">
                  <c:v> </c:v>
                </c:pt>
                <c:pt idx="173">
                  <c:v> </c:v>
                </c:pt>
                <c:pt idx="174">
                  <c:v> </c:v>
                </c:pt>
                <c:pt idx="175">
                  <c:v> </c:v>
                </c:pt>
                <c:pt idx="176">
                  <c:v> </c:v>
                </c:pt>
                <c:pt idx="177">
                  <c:v> </c:v>
                </c:pt>
                <c:pt idx="178">
                  <c:v> </c:v>
                </c:pt>
                <c:pt idx="179">
                  <c:v> </c:v>
                </c:pt>
                <c:pt idx="180">
                  <c:v> </c:v>
                </c:pt>
                <c:pt idx="181">
                  <c:v> </c:v>
                </c:pt>
                <c:pt idx="182">
                  <c:v> </c:v>
                </c:pt>
                <c:pt idx="183">
                  <c:v> </c:v>
                </c:pt>
                <c:pt idx="184">
                  <c:v> </c:v>
                </c:pt>
                <c:pt idx="185">
                  <c:v> </c:v>
                </c:pt>
                <c:pt idx="186">
                  <c:v> </c:v>
                </c:pt>
                <c:pt idx="187">
                  <c:v> </c:v>
                </c:pt>
                <c:pt idx="188">
                  <c:v> </c:v>
                </c:pt>
                <c:pt idx="189">
                  <c:v> </c:v>
                </c:pt>
                <c:pt idx="190">
                  <c:v> </c:v>
                </c:pt>
                <c:pt idx="191">
                  <c:v> </c:v>
                </c:pt>
                <c:pt idx="192">
                  <c:v>2020</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2022</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2024</c:v>
                </c:pt>
                <c:pt idx="241">
                  <c:v> </c:v>
                </c:pt>
                <c:pt idx="242">
                  <c:v> </c:v>
                </c:pt>
                <c:pt idx="243">
                  <c:v> </c:v>
                </c:pt>
                <c:pt idx="244">
                  <c:v> </c:v>
                </c:pt>
                <c:pt idx="245">
                  <c:v> </c:v>
                </c:pt>
                <c:pt idx="246">
                  <c:v> </c:v>
                </c:pt>
                <c:pt idx="247">
                  <c:v> </c:v>
                </c:pt>
                <c:pt idx="248">
                  <c:v> </c:v>
                </c:pt>
                <c:pt idx="249">
                  <c:v> </c:v>
                </c:pt>
                <c:pt idx="250">
                  <c:v> </c:v>
                </c:pt>
                <c:pt idx="251">
                  <c:v> </c:v>
                </c:pt>
                <c:pt idx="252">
                  <c:v> </c:v>
                </c:pt>
                <c:pt idx="253">
                  <c:v> </c:v>
                </c:pt>
                <c:pt idx="254">
                  <c:v> </c:v>
                </c:pt>
                <c:pt idx="255">
                  <c:v> </c:v>
                </c:pt>
                <c:pt idx="256">
                  <c:v> </c:v>
                </c:pt>
                <c:pt idx="257">
                  <c:v> </c:v>
                </c:pt>
                <c:pt idx="258">
                  <c:v> </c:v>
                </c:pt>
                <c:pt idx="259">
                  <c:v> </c:v>
                </c:pt>
                <c:pt idx="260">
                  <c:v> </c:v>
                </c:pt>
                <c:pt idx="261">
                  <c:v> </c:v>
                </c:pt>
                <c:pt idx="262">
                  <c:v> </c:v>
                </c:pt>
                <c:pt idx="263">
                  <c:v> </c:v>
                </c:pt>
                <c:pt idx="264">
                  <c:v>2026</c:v>
                </c:pt>
                <c:pt idx="265">
                  <c:v> </c:v>
                </c:pt>
                <c:pt idx="266">
                  <c:v> </c:v>
                </c:pt>
                <c:pt idx="267">
                  <c:v> </c:v>
                </c:pt>
                <c:pt idx="268">
                  <c:v> </c:v>
                </c:pt>
                <c:pt idx="269">
                  <c:v> </c:v>
                </c:pt>
                <c:pt idx="270">
                  <c:v> </c:v>
                </c:pt>
                <c:pt idx="271">
                  <c:v> </c:v>
                </c:pt>
                <c:pt idx="272">
                  <c:v> </c:v>
                </c:pt>
              </c:strCache>
            </c:strRef>
          </c:cat>
          <c:val>
            <c:numRef>
              <c:f>Sheet1!$B$2:$B$274</c:f>
              <c:numCache>
                <c:formatCode>General</c:formatCode>
                <c:ptCount val="273"/>
                <c:pt idx="0">
                  <c:v>103.8</c:v>
                </c:pt>
                <c:pt idx="1">
                  <c:v>94.4</c:v>
                </c:pt>
                <c:pt idx="2">
                  <c:v>95.8</c:v>
                </c:pt>
                <c:pt idx="3">
                  <c:v>94.2</c:v>
                </c:pt>
                <c:pt idx="4">
                  <c:v>90.2</c:v>
                </c:pt>
                <c:pt idx="5">
                  <c:v>95.6</c:v>
                </c:pt>
                <c:pt idx="6">
                  <c:v>96.7</c:v>
                </c:pt>
                <c:pt idx="7">
                  <c:v>95.9</c:v>
                </c:pt>
                <c:pt idx="8">
                  <c:v>94.2</c:v>
                </c:pt>
                <c:pt idx="9">
                  <c:v>91.7</c:v>
                </c:pt>
                <c:pt idx="10">
                  <c:v>92.8</c:v>
                </c:pt>
                <c:pt idx="11">
                  <c:v>97.1</c:v>
                </c:pt>
                <c:pt idx="12">
                  <c:v>95.5</c:v>
                </c:pt>
                <c:pt idx="13">
                  <c:v>94.1</c:v>
                </c:pt>
                <c:pt idx="14">
                  <c:v>92.6</c:v>
                </c:pt>
                <c:pt idx="15">
                  <c:v>87.7</c:v>
                </c:pt>
                <c:pt idx="16">
                  <c:v>86.9</c:v>
                </c:pt>
                <c:pt idx="17">
                  <c:v>96</c:v>
                </c:pt>
                <c:pt idx="18">
                  <c:v>96.5</c:v>
                </c:pt>
                <c:pt idx="19">
                  <c:v>89.1</c:v>
                </c:pt>
                <c:pt idx="20">
                  <c:v>76.900000000000006</c:v>
                </c:pt>
                <c:pt idx="21">
                  <c:v>74.2</c:v>
                </c:pt>
                <c:pt idx="22">
                  <c:v>81.599999999999994</c:v>
                </c:pt>
                <c:pt idx="23">
                  <c:v>91.5</c:v>
                </c:pt>
                <c:pt idx="24">
                  <c:v>91.2</c:v>
                </c:pt>
                <c:pt idx="25">
                  <c:v>86.7</c:v>
                </c:pt>
                <c:pt idx="26">
                  <c:v>88.9</c:v>
                </c:pt>
                <c:pt idx="27">
                  <c:v>87.4</c:v>
                </c:pt>
                <c:pt idx="28">
                  <c:v>79.099999999999994</c:v>
                </c:pt>
                <c:pt idx="29">
                  <c:v>84.9</c:v>
                </c:pt>
                <c:pt idx="30">
                  <c:v>84.7</c:v>
                </c:pt>
                <c:pt idx="31">
                  <c:v>82</c:v>
                </c:pt>
                <c:pt idx="32">
                  <c:v>85.4</c:v>
                </c:pt>
                <c:pt idx="33">
                  <c:v>93.6</c:v>
                </c:pt>
                <c:pt idx="34">
                  <c:v>92.1</c:v>
                </c:pt>
                <c:pt idx="35">
                  <c:v>91.7</c:v>
                </c:pt>
                <c:pt idx="36">
                  <c:v>96.9</c:v>
                </c:pt>
                <c:pt idx="37">
                  <c:v>91.3</c:v>
                </c:pt>
                <c:pt idx="38">
                  <c:v>88.4</c:v>
                </c:pt>
                <c:pt idx="39">
                  <c:v>87.1</c:v>
                </c:pt>
                <c:pt idx="40">
                  <c:v>88.3</c:v>
                </c:pt>
                <c:pt idx="41">
                  <c:v>85.3</c:v>
                </c:pt>
                <c:pt idx="42">
                  <c:v>90.4</c:v>
                </c:pt>
                <c:pt idx="43">
                  <c:v>83.4</c:v>
                </c:pt>
                <c:pt idx="44">
                  <c:v>83.4</c:v>
                </c:pt>
                <c:pt idx="45">
                  <c:v>80.900000000000006</c:v>
                </c:pt>
                <c:pt idx="46">
                  <c:v>76.099999999999994</c:v>
                </c:pt>
                <c:pt idx="47">
                  <c:v>75.5</c:v>
                </c:pt>
                <c:pt idx="48">
                  <c:v>78.400000000000006</c:v>
                </c:pt>
                <c:pt idx="49">
                  <c:v>70.8</c:v>
                </c:pt>
                <c:pt idx="50">
                  <c:v>69.5</c:v>
                </c:pt>
                <c:pt idx="51">
                  <c:v>62.6</c:v>
                </c:pt>
                <c:pt idx="52">
                  <c:v>59.8</c:v>
                </c:pt>
                <c:pt idx="53">
                  <c:v>56.4</c:v>
                </c:pt>
                <c:pt idx="54">
                  <c:v>61.2</c:v>
                </c:pt>
                <c:pt idx="55">
                  <c:v>63</c:v>
                </c:pt>
                <c:pt idx="56">
                  <c:v>70.3</c:v>
                </c:pt>
                <c:pt idx="57">
                  <c:v>57.6</c:v>
                </c:pt>
                <c:pt idx="58">
                  <c:v>55.3</c:v>
                </c:pt>
                <c:pt idx="59">
                  <c:v>60.1</c:v>
                </c:pt>
                <c:pt idx="60">
                  <c:v>61.2</c:v>
                </c:pt>
                <c:pt idx="61">
                  <c:v>56.3</c:v>
                </c:pt>
                <c:pt idx="62">
                  <c:v>57.3</c:v>
                </c:pt>
                <c:pt idx="63">
                  <c:v>65.099999999999994</c:v>
                </c:pt>
                <c:pt idx="64">
                  <c:v>68.7</c:v>
                </c:pt>
                <c:pt idx="65">
                  <c:v>70.8</c:v>
                </c:pt>
                <c:pt idx="66">
                  <c:v>66</c:v>
                </c:pt>
                <c:pt idx="67">
                  <c:v>65.7</c:v>
                </c:pt>
                <c:pt idx="68">
                  <c:v>73.5</c:v>
                </c:pt>
                <c:pt idx="69">
                  <c:v>70.599999999999994</c:v>
                </c:pt>
                <c:pt idx="70">
                  <c:v>67.400000000000006</c:v>
                </c:pt>
                <c:pt idx="71">
                  <c:v>72.5</c:v>
                </c:pt>
                <c:pt idx="72">
                  <c:v>74.400000000000006</c:v>
                </c:pt>
                <c:pt idx="73">
                  <c:v>73.599999999999994</c:v>
                </c:pt>
                <c:pt idx="74">
                  <c:v>73.599999999999994</c:v>
                </c:pt>
                <c:pt idx="75">
                  <c:v>72.2</c:v>
                </c:pt>
                <c:pt idx="76">
                  <c:v>73.599999999999994</c:v>
                </c:pt>
                <c:pt idx="77">
                  <c:v>76</c:v>
                </c:pt>
                <c:pt idx="78">
                  <c:v>67.8</c:v>
                </c:pt>
                <c:pt idx="79">
                  <c:v>68.900000000000006</c:v>
                </c:pt>
                <c:pt idx="80">
                  <c:v>68.2</c:v>
                </c:pt>
                <c:pt idx="81">
                  <c:v>67.7</c:v>
                </c:pt>
                <c:pt idx="82">
                  <c:v>71.599999999999994</c:v>
                </c:pt>
                <c:pt idx="83">
                  <c:v>74.5</c:v>
                </c:pt>
                <c:pt idx="84">
                  <c:v>74.2</c:v>
                </c:pt>
                <c:pt idx="85">
                  <c:v>77.5</c:v>
                </c:pt>
                <c:pt idx="86">
                  <c:v>67.5</c:v>
                </c:pt>
                <c:pt idx="87">
                  <c:v>69.8</c:v>
                </c:pt>
                <c:pt idx="88">
                  <c:v>74.3</c:v>
                </c:pt>
                <c:pt idx="89">
                  <c:v>71.5</c:v>
                </c:pt>
                <c:pt idx="90">
                  <c:v>63.7</c:v>
                </c:pt>
                <c:pt idx="91">
                  <c:v>55.8</c:v>
                </c:pt>
                <c:pt idx="92">
                  <c:v>59.5</c:v>
                </c:pt>
                <c:pt idx="93">
                  <c:v>60.8</c:v>
                </c:pt>
                <c:pt idx="94">
                  <c:v>63.7</c:v>
                </c:pt>
                <c:pt idx="95">
                  <c:v>69.900000000000006</c:v>
                </c:pt>
                <c:pt idx="96">
                  <c:v>75</c:v>
                </c:pt>
                <c:pt idx="97">
                  <c:v>75.3</c:v>
                </c:pt>
                <c:pt idx="98">
                  <c:v>76.2</c:v>
                </c:pt>
                <c:pt idx="99">
                  <c:v>76.400000000000006</c:v>
                </c:pt>
                <c:pt idx="100">
                  <c:v>79.3</c:v>
                </c:pt>
                <c:pt idx="101">
                  <c:v>73.2</c:v>
                </c:pt>
                <c:pt idx="102">
                  <c:v>72.3</c:v>
                </c:pt>
                <c:pt idx="103">
                  <c:v>74.3</c:v>
                </c:pt>
                <c:pt idx="104">
                  <c:v>78.3</c:v>
                </c:pt>
                <c:pt idx="105">
                  <c:v>82.6</c:v>
                </c:pt>
                <c:pt idx="106">
                  <c:v>82.7</c:v>
                </c:pt>
                <c:pt idx="107">
                  <c:v>72.900000000000006</c:v>
                </c:pt>
                <c:pt idx="108">
                  <c:v>73.8</c:v>
                </c:pt>
                <c:pt idx="109">
                  <c:v>77.599999999999994</c:v>
                </c:pt>
                <c:pt idx="110">
                  <c:v>78.599999999999994</c:v>
                </c:pt>
                <c:pt idx="111">
                  <c:v>76.400000000000006</c:v>
                </c:pt>
                <c:pt idx="112">
                  <c:v>84.5</c:v>
                </c:pt>
                <c:pt idx="113">
                  <c:v>84.1</c:v>
                </c:pt>
                <c:pt idx="114">
                  <c:v>85.1</c:v>
                </c:pt>
                <c:pt idx="115">
                  <c:v>82.1</c:v>
                </c:pt>
                <c:pt idx="116">
                  <c:v>77.5</c:v>
                </c:pt>
                <c:pt idx="117">
                  <c:v>73.2</c:v>
                </c:pt>
                <c:pt idx="118">
                  <c:v>75.099999999999994</c:v>
                </c:pt>
                <c:pt idx="119">
                  <c:v>82.5</c:v>
                </c:pt>
                <c:pt idx="120">
                  <c:v>81.2</c:v>
                </c:pt>
                <c:pt idx="121">
                  <c:v>81.599999999999994</c:v>
                </c:pt>
                <c:pt idx="122">
                  <c:v>80</c:v>
                </c:pt>
                <c:pt idx="123">
                  <c:v>84.1</c:v>
                </c:pt>
                <c:pt idx="124">
                  <c:v>81.900000000000006</c:v>
                </c:pt>
                <c:pt idx="125">
                  <c:v>82.5</c:v>
                </c:pt>
                <c:pt idx="126">
                  <c:v>81.8</c:v>
                </c:pt>
                <c:pt idx="127">
                  <c:v>82.5</c:v>
                </c:pt>
                <c:pt idx="128">
                  <c:v>84.6</c:v>
                </c:pt>
                <c:pt idx="129">
                  <c:v>86.9</c:v>
                </c:pt>
                <c:pt idx="130">
                  <c:v>88.8</c:v>
                </c:pt>
                <c:pt idx="131">
                  <c:v>93.6</c:v>
                </c:pt>
                <c:pt idx="132">
                  <c:v>98.1</c:v>
                </c:pt>
                <c:pt idx="133">
                  <c:v>95.4</c:v>
                </c:pt>
                <c:pt idx="134">
                  <c:v>93</c:v>
                </c:pt>
                <c:pt idx="135">
                  <c:v>95.9</c:v>
                </c:pt>
                <c:pt idx="136">
                  <c:v>90.7</c:v>
                </c:pt>
                <c:pt idx="137">
                  <c:v>96.1</c:v>
                </c:pt>
                <c:pt idx="138">
                  <c:v>93.1</c:v>
                </c:pt>
                <c:pt idx="139">
                  <c:v>91.9</c:v>
                </c:pt>
                <c:pt idx="140">
                  <c:v>87.2</c:v>
                </c:pt>
                <c:pt idx="141">
                  <c:v>90</c:v>
                </c:pt>
                <c:pt idx="142">
                  <c:v>91.3</c:v>
                </c:pt>
                <c:pt idx="143">
                  <c:v>92.6</c:v>
                </c:pt>
                <c:pt idx="144">
                  <c:v>92</c:v>
                </c:pt>
                <c:pt idx="145">
                  <c:v>91.7</c:v>
                </c:pt>
                <c:pt idx="146">
                  <c:v>91</c:v>
                </c:pt>
                <c:pt idx="147">
                  <c:v>89</c:v>
                </c:pt>
                <c:pt idx="148">
                  <c:v>94.7</c:v>
                </c:pt>
                <c:pt idx="149">
                  <c:v>93.5</c:v>
                </c:pt>
                <c:pt idx="150">
                  <c:v>90</c:v>
                </c:pt>
                <c:pt idx="151">
                  <c:v>89.8</c:v>
                </c:pt>
                <c:pt idx="152">
                  <c:v>91.2</c:v>
                </c:pt>
                <c:pt idx="153">
                  <c:v>87.2</c:v>
                </c:pt>
                <c:pt idx="154">
                  <c:v>93.8</c:v>
                </c:pt>
                <c:pt idx="155">
                  <c:v>98.2</c:v>
                </c:pt>
                <c:pt idx="156">
                  <c:v>98.5</c:v>
                </c:pt>
                <c:pt idx="157">
                  <c:v>96.3</c:v>
                </c:pt>
                <c:pt idx="158">
                  <c:v>96.9</c:v>
                </c:pt>
                <c:pt idx="159">
                  <c:v>97</c:v>
                </c:pt>
                <c:pt idx="160">
                  <c:v>97.1</c:v>
                </c:pt>
                <c:pt idx="161">
                  <c:v>95</c:v>
                </c:pt>
                <c:pt idx="162">
                  <c:v>93.4</c:v>
                </c:pt>
                <c:pt idx="163">
                  <c:v>96.8</c:v>
                </c:pt>
                <c:pt idx="164">
                  <c:v>95.1</c:v>
                </c:pt>
                <c:pt idx="165">
                  <c:v>100.7</c:v>
                </c:pt>
                <c:pt idx="166">
                  <c:v>98.5</c:v>
                </c:pt>
                <c:pt idx="167">
                  <c:v>95.9</c:v>
                </c:pt>
                <c:pt idx="168">
                  <c:v>95.7</c:v>
                </c:pt>
                <c:pt idx="169">
                  <c:v>99.7</c:v>
                </c:pt>
                <c:pt idx="170">
                  <c:v>101.4</c:v>
                </c:pt>
                <c:pt idx="171">
                  <c:v>98.8</c:v>
                </c:pt>
                <c:pt idx="172">
                  <c:v>98</c:v>
                </c:pt>
                <c:pt idx="173">
                  <c:v>98.2</c:v>
                </c:pt>
                <c:pt idx="174">
                  <c:v>97.9</c:v>
                </c:pt>
                <c:pt idx="175">
                  <c:v>96.2</c:v>
                </c:pt>
                <c:pt idx="176">
                  <c:v>100.1</c:v>
                </c:pt>
                <c:pt idx="177">
                  <c:v>98.6</c:v>
                </c:pt>
                <c:pt idx="178">
                  <c:v>97.5</c:v>
                </c:pt>
                <c:pt idx="179">
                  <c:v>98.3</c:v>
                </c:pt>
                <c:pt idx="180">
                  <c:v>91.2</c:v>
                </c:pt>
                <c:pt idx="181">
                  <c:v>93.8</c:v>
                </c:pt>
                <c:pt idx="182">
                  <c:v>98.4</c:v>
                </c:pt>
                <c:pt idx="183">
                  <c:v>97.2</c:v>
                </c:pt>
                <c:pt idx="184">
                  <c:v>100</c:v>
                </c:pt>
                <c:pt idx="185">
                  <c:v>98.2</c:v>
                </c:pt>
                <c:pt idx="186">
                  <c:v>98.4</c:v>
                </c:pt>
                <c:pt idx="187">
                  <c:v>89.8</c:v>
                </c:pt>
                <c:pt idx="188">
                  <c:v>93.2</c:v>
                </c:pt>
                <c:pt idx="189">
                  <c:v>95.5</c:v>
                </c:pt>
                <c:pt idx="190">
                  <c:v>96.8</c:v>
                </c:pt>
                <c:pt idx="191">
                  <c:v>99.3</c:v>
                </c:pt>
                <c:pt idx="192">
                  <c:v>99.8</c:v>
                </c:pt>
                <c:pt idx="193">
                  <c:v>101</c:v>
                </c:pt>
                <c:pt idx="194">
                  <c:v>89.1</c:v>
                </c:pt>
                <c:pt idx="195">
                  <c:v>71.8</c:v>
                </c:pt>
                <c:pt idx="196">
                  <c:v>72.3</c:v>
                </c:pt>
                <c:pt idx="197">
                  <c:v>78.099999999999994</c:v>
                </c:pt>
                <c:pt idx="198">
                  <c:v>72.5</c:v>
                </c:pt>
                <c:pt idx="199">
                  <c:v>74.099999999999994</c:v>
                </c:pt>
                <c:pt idx="200">
                  <c:v>80.400000000000006</c:v>
                </c:pt>
                <c:pt idx="201">
                  <c:v>81.8</c:v>
                </c:pt>
                <c:pt idx="202">
                  <c:v>76.900000000000006</c:v>
                </c:pt>
                <c:pt idx="203">
                  <c:v>80.7</c:v>
                </c:pt>
                <c:pt idx="204">
                  <c:v>79</c:v>
                </c:pt>
                <c:pt idx="205">
                  <c:v>76.8</c:v>
                </c:pt>
                <c:pt idx="206">
                  <c:v>84.9</c:v>
                </c:pt>
                <c:pt idx="207">
                  <c:v>88.3</c:v>
                </c:pt>
                <c:pt idx="208">
                  <c:v>82.9</c:v>
                </c:pt>
                <c:pt idx="209">
                  <c:v>85.5</c:v>
                </c:pt>
                <c:pt idx="210">
                  <c:v>81.2</c:v>
                </c:pt>
                <c:pt idx="211">
                  <c:v>70.3</c:v>
                </c:pt>
                <c:pt idx="212">
                  <c:v>72.8</c:v>
                </c:pt>
                <c:pt idx="213">
                  <c:v>71.7</c:v>
                </c:pt>
                <c:pt idx="214">
                  <c:v>67.400000000000006</c:v>
                </c:pt>
                <c:pt idx="215">
                  <c:v>70.599999999999994</c:v>
                </c:pt>
                <c:pt idx="216">
                  <c:v>67.2</c:v>
                </c:pt>
                <c:pt idx="217">
                  <c:v>62.8</c:v>
                </c:pt>
                <c:pt idx="218">
                  <c:v>59.4</c:v>
                </c:pt>
                <c:pt idx="219">
                  <c:v>65.2</c:v>
                </c:pt>
                <c:pt idx="220">
                  <c:v>58.4</c:v>
                </c:pt>
                <c:pt idx="221">
                  <c:v>50</c:v>
                </c:pt>
                <c:pt idx="222">
                  <c:v>51.5</c:v>
                </c:pt>
                <c:pt idx="223">
                  <c:v>58.2</c:v>
                </c:pt>
                <c:pt idx="224">
                  <c:v>58.6</c:v>
                </c:pt>
                <c:pt idx="225">
                  <c:v>59.9</c:v>
                </c:pt>
                <c:pt idx="226">
                  <c:v>56.7</c:v>
                </c:pt>
                <c:pt idx="227">
                  <c:v>59.8</c:v>
                </c:pt>
                <c:pt idx="228">
                  <c:v>64.900000000000006</c:v>
                </c:pt>
                <c:pt idx="229">
                  <c:v>66.900000000000006</c:v>
                </c:pt>
                <c:pt idx="230">
                  <c:v>62</c:v>
                </c:pt>
                <c:pt idx="231">
                  <c:v>63.7</c:v>
                </c:pt>
                <c:pt idx="232">
                  <c:v>59</c:v>
                </c:pt>
                <c:pt idx="233">
                  <c:v>64.2</c:v>
                </c:pt>
                <c:pt idx="234">
                  <c:v>71.5</c:v>
                </c:pt>
                <c:pt idx="235">
                  <c:v>69.400000000000006</c:v>
                </c:pt>
                <c:pt idx="236">
                  <c:v>67.8</c:v>
                </c:pt>
                <c:pt idx="237">
                  <c:v>63.8</c:v>
                </c:pt>
                <c:pt idx="238">
                  <c:v>61.3</c:v>
                </c:pt>
                <c:pt idx="239">
                  <c:v>69.7</c:v>
                </c:pt>
                <c:pt idx="240">
                  <c:v>79</c:v>
                </c:pt>
                <c:pt idx="241">
                  <c:v>76.900000000000006</c:v>
                </c:pt>
                <c:pt idx="242">
                  <c:v>79.400000000000006</c:v>
                </c:pt>
                <c:pt idx="243">
                  <c:v>77.2</c:v>
                </c:pt>
                <c:pt idx="244">
                  <c:v>69.099999999999994</c:v>
                </c:pt>
                <c:pt idx="245">
                  <c:v>68.2</c:v>
                </c:pt>
                <c:pt idx="246">
                  <c:v>66.400000000000006</c:v>
                </c:pt>
                <c:pt idx="247">
                  <c:v>67.900000000000006</c:v>
                </c:pt>
                <c:pt idx="248">
                  <c:v>70.099999999999994</c:v>
                </c:pt>
                <c:pt idx="249">
                  <c:v>70.5</c:v>
                </c:pt>
                <c:pt idx="250">
                  <c:v>71.8</c:v>
                </c:pt>
                <c:pt idx="251">
                  <c:v>74</c:v>
                </c:pt>
                <c:pt idx="252">
                  <c:v>71.7</c:v>
                </c:pt>
                <c:pt idx="253">
                  <c:v>64.7</c:v>
                </c:pt>
                <c:pt idx="254">
                  <c:v>57</c:v>
                </c:pt>
                <c:pt idx="255">
                  <c:v>52.2</c:v>
                </c:pt>
                <c:pt idx="256">
                  <c:v>52.2</c:v>
                </c:pt>
                <c:pt idx="257">
                  <c:v>60.7</c:v>
                </c:pt>
                <c:pt idx="258">
                  <c:v>61.7</c:v>
                </c:pt>
                <c:pt idx="259">
                  <c:v>58.2</c:v>
                </c:pt>
                <c:pt idx="260">
                  <c:v>55.1</c:v>
                </c:pt>
                <c:pt idx="261">
                  <c:v>53.6</c:v>
                </c:pt>
                <c:pt idx="262">
                  <c:v>51</c:v>
                </c:pt>
                <c:pt idx="263">
                  <c:v>52.9</c:v>
                </c:pt>
                <c:pt idx="264">
                  <c:v>56.4</c:v>
                </c:pt>
                <c:pt idx="265">
                  <c:v>56.6</c:v>
                </c:pt>
                <c:pt idx="266">
                  <c:v>53.3</c:v>
                </c:pt>
                <c:pt idx="267">
                  <c:v>49.8</c:v>
                </c:pt>
                <c:pt idx="268">
                  <c:v>44.8</c:v>
                </c:pt>
                <c:pt idx="269">
                  <c:v>49.5</c:v>
                </c:pt>
                <c:pt idx="270">
                  <c:v>55.2</c:v>
                </c:pt>
                <c:pt idx="271">
                  <c:v>51.7</c:v>
                </c:pt>
                <c:pt idx="272">
                  <c:v>48.1</c:v>
                </c:pt>
              </c:numCache>
            </c:numRef>
          </c:val>
          <c:smooth val="0"/>
          <c:extLst>
            <c:ext xmlns:c16="http://schemas.microsoft.com/office/drawing/2014/chart" uri="{C3380CC4-5D6E-409C-BE32-E72D297353CC}">
              <c16:uniqueId val="{00000000-B5EC-417B-BA26-F68304D1FC84}"/>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a:solidFill>
              <a:srgbClr val="000000"/>
            </a:solidFill>
          </a:ln>
        </c:spPr>
        <c:txPr>
          <a:bodyPr/>
          <a:lstStyle/>
          <a:p>
            <a:pPr>
              <a:defRPr sz="900"/>
            </a:pPr>
            <a:endParaRPr lang="en-US"/>
          </a:p>
        </c:txPr>
        <c:crossAx val="2140495176"/>
        <c:crosses val="autoZero"/>
        <c:auto val="1"/>
        <c:lblAlgn val="ctr"/>
        <c:lblOffset val="100"/>
        <c:tickLblSkip val="1"/>
        <c:tickMarkSkip val="1"/>
        <c:noMultiLvlLbl val="0"/>
      </c:catAx>
      <c:valAx>
        <c:axId val="2140495176"/>
        <c:scaling>
          <c:orientation val="minMax"/>
          <c:max val="120"/>
          <c:min val="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crossBetween val="between"/>
        <c:majorUnit val="20"/>
      </c:valAx>
    </c:plotArea>
    <c:plotVisOnly val="1"/>
    <c:dispBlanksAs val="gap"/>
    <c:showDLblsOverMax val="0"/>
  </c:chart>
  <c:txPr>
    <a:bodyPr/>
    <a:lstStyle/>
    <a:p>
      <a:pPr>
        <a:defRPr sz="1000">
          <a:solidFill>
            <a:srgbClr val="000000"/>
          </a:solidFill>
          <a:latin typeface="Lato"/>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5"/>
          <c:y val="0.14000000000000001"/>
          <c:w val="0.93"/>
          <c:h val="0.62"/>
        </c:manualLayout>
      </c:layout>
      <c:lineChart>
        <c:grouping val="standard"/>
        <c:varyColors val="0"/>
        <c:ser>
          <c:idx val="0"/>
          <c:order val="0"/>
          <c:tx>
            <c:strRef>
              <c:f>Sheet1!$B$1</c:f>
              <c:strCache>
                <c:ptCount val="1"/>
                <c:pt idx="0">
                  <c:v>United States</c:v>
                </c:pt>
              </c:strCache>
            </c:strRef>
          </c:tx>
          <c:spPr>
            <a:ln w="22225">
              <a:solidFill>
                <a:srgbClr val="000000"/>
              </a:solidFill>
            </a:ln>
          </c:spPr>
          <c:marker>
            <c:symbol val="none"/>
          </c:marker>
          <c:cat>
            <c:strRef>
              <c:f>Sheet1!$A$2:$A$274</c:f>
              <c:strCache>
                <c:ptCount val="273"/>
                <c:pt idx="0">
                  <c:v>2004</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2006</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2008</c:v>
                </c:pt>
                <c:pt idx="49">
                  <c:v> </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2010</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2012</c:v>
                </c:pt>
                <c:pt idx="97">
                  <c:v> </c:v>
                </c:pt>
                <c:pt idx="98">
                  <c:v> </c:v>
                </c:pt>
                <c:pt idx="99">
                  <c:v> </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2014</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2016</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2018</c:v>
                </c:pt>
                <c:pt idx="169">
                  <c:v> </c:v>
                </c:pt>
                <c:pt idx="170">
                  <c:v> </c:v>
                </c:pt>
                <c:pt idx="171">
                  <c:v> </c:v>
                </c:pt>
                <c:pt idx="172">
                  <c:v> </c:v>
                </c:pt>
                <c:pt idx="173">
                  <c:v> </c:v>
                </c:pt>
                <c:pt idx="174">
                  <c:v> </c:v>
                </c:pt>
                <c:pt idx="175">
                  <c:v> </c:v>
                </c:pt>
                <c:pt idx="176">
                  <c:v> </c:v>
                </c:pt>
                <c:pt idx="177">
                  <c:v> </c:v>
                </c:pt>
                <c:pt idx="178">
                  <c:v> </c:v>
                </c:pt>
                <c:pt idx="179">
                  <c:v> </c:v>
                </c:pt>
                <c:pt idx="180">
                  <c:v> </c:v>
                </c:pt>
                <c:pt idx="181">
                  <c:v> </c:v>
                </c:pt>
                <c:pt idx="182">
                  <c:v> </c:v>
                </c:pt>
                <c:pt idx="183">
                  <c:v> </c:v>
                </c:pt>
                <c:pt idx="184">
                  <c:v> </c:v>
                </c:pt>
                <c:pt idx="185">
                  <c:v> </c:v>
                </c:pt>
                <c:pt idx="186">
                  <c:v> </c:v>
                </c:pt>
                <c:pt idx="187">
                  <c:v> </c:v>
                </c:pt>
                <c:pt idx="188">
                  <c:v> </c:v>
                </c:pt>
                <c:pt idx="189">
                  <c:v> </c:v>
                </c:pt>
                <c:pt idx="190">
                  <c:v> </c:v>
                </c:pt>
                <c:pt idx="191">
                  <c:v> </c:v>
                </c:pt>
                <c:pt idx="192">
                  <c:v>2020</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2022</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2024</c:v>
                </c:pt>
                <c:pt idx="241">
                  <c:v> </c:v>
                </c:pt>
                <c:pt idx="242">
                  <c:v> </c:v>
                </c:pt>
                <c:pt idx="243">
                  <c:v> </c:v>
                </c:pt>
                <c:pt idx="244">
                  <c:v> </c:v>
                </c:pt>
                <c:pt idx="245">
                  <c:v> </c:v>
                </c:pt>
                <c:pt idx="246">
                  <c:v> </c:v>
                </c:pt>
                <c:pt idx="247">
                  <c:v> </c:v>
                </c:pt>
                <c:pt idx="248">
                  <c:v> </c:v>
                </c:pt>
                <c:pt idx="249">
                  <c:v> </c:v>
                </c:pt>
                <c:pt idx="250">
                  <c:v> </c:v>
                </c:pt>
                <c:pt idx="251">
                  <c:v> </c:v>
                </c:pt>
                <c:pt idx="252">
                  <c:v> </c:v>
                </c:pt>
                <c:pt idx="253">
                  <c:v> </c:v>
                </c:pt>
                <c:pt idx="254">
                  <c:v> </c:v>
                </c:pt>
                <c:pt idx="255">
                  <c:v> </c:v>
                </c:pt>
                <c:pt idx="256">
                  <c:v> </c:v>
                </c:pt>
                <c:pt idx="257">
                  <c:v> </c:v>
                </c:pt>
                <c:pt idx="258">
                  <c:v> </c:v>
                </c:pt>
                <c:pt idx="259">
                  <c:v> </c:v>
                </c:pt>
                <c:pt idx="260">
                  <c:v> </c:v>
                </c:pt>
                <c:pt idx="261">
                  <c:v> </c:v>
                </c:pt>
                <c:pt idx="262">
                  <c:v> </c:v>
                </c:pt>
                <c:pt idx="263">
                  <c:v> </c:v>
                </c:pt>
                <c:pt idx="264">
                  <c:v>2026</c:v>
                </c:pt>
                <c:pt idx="265">
                  <c:v> </c:v>
                </c:pt>
                <c:pt idx="266">
                  <c:v> </c:v>
                </c:pt>
                <c:pt idx="267">
                  <c:v> </c:v>
                </c:pt>
                <c:pt idx="268">
                  <c:v> </c:v>
                </c:pt>
                <c:pt idx="269">
                  <c:v> </c:v>
                </c:pt>
                <c:pt idx="270">
                  <c:v> </c:v>
                </c:pt>
                <c:pt idx="271">
                  <c:v> </c:v>
                </c:pt>
                <c:pt idx="272">
                  <c:v> </c:v>
                </c:pt>
              </c:strCache>
            </c:strRef>
          </c:cat>
          <c:val>
            <c:numRef>
              <c:f>Sheet1!$B$2:$B$274</c:f>
              <c:numCache>
                <c:formatCode>General</c:formatCode>
                <c:ptCount val="273"/>
                <c:pt idx="0">
                  <c:v>101.41160000000001</c:v>
                </c:pt>
                <c:pt idx="1">
                  <c:v>101.30629999999999</c:v>
                </c:pt>
                <c:pt idx="2">
                  <c:v>101.1508</c:v>
                </c:pt>
                <c:pt idx="3">
                  <c:v>100.99209999999999</c:v>
                </c:pt>
                <c:pt idx="4">
                  <c:v>100.9195</c:v>
                </c:pt>
                <c:pt idx="5">
                  <c:v>101.04730000000001</c:v>
                </c:pt>
                <c:pt idx="6">
                  <c:v>101.1506</c:v>
                </c:pt>
                <c:pt idx="7">
                  <c:v>101.1277</c:v>
                </c:pt>
                <c:pt idx="8">
                  <c:v>101.0175</c:v>
                </c:pt>
                <c:pt idx="9">
                  <c:v>100.9348</c:v>
                </c:pt>
                <c:pt idx="10">
                  <c:v>100.9943</c:v>
                </c:pt>
                <c:pt idx="11">
                  <c:v>101.1202</c:v>
                </c:pt>
                <c:pt idx="12">
                  <c:v>101.1065</c:v>
                </c:pt>
                <c:pt idx="13">
                  <c:v>100.9622</c:v>
                </c:pt>
                <c:pt idx="14">
                  <c:v>100.7495</c:v>
                </c:pt>
                <c:pt idx="15">
                  <c:v>100.5748</c:v>
                </c:pt>
                <c:pt idx="16">
                  <c:v>100.6378</c:v>
                </c:pt>
                <c:pt idx="17">
                  <c:v>100.86969999999999</c:v>
                </c:pt>
                <c:pt idx="18">
                  <c:v>100.783</c:v>
                </c:pt>
                <c:pt idx="19">
                  <c:v>100.2347</c:v>
                </c:pt>
                <c:pt idx="20">
                  <c:v>99.568380000000005</c:v>
                </c:pt>
                <c:pt idx="21">
                  <c:v>99.352130000000002</c:v>
                </c:pt>
                <c:pt idx="22">
                  <c:v>99.710520000000002</c:v>
                </c:pt>
                <c:pt idx="23">
                  <c:v>100.2453</c:v>
                </c:pt>
                <c:pt idx="24">
                  <c:v>100.4866</c:v>
                </c:pt>
                <c:pt idx="25">
                  <c:v>100.4415</c:v>
                </c:pt>
                <c:pt idx="26">
                  <c:v>100.3197</c:v>
                </c:pt>
                <c:pt idx="27">
                  <c:v>100.0865</c:v>
                </c:pt>
                <c:pt idx="28">
                  <c:v>99.825100000000006</c:v>
                </c:pt>
                <c:pt idx="29">
                  <c:v>99.805850000000007</c:v>
                </c:pt>
                <c:pt idx="30">
                  <c:v>99.839370000000002</c:v>
                </c:pt>
                <c:pt idx="31">
                  <c:v>99.930449999999993</c:v>
                </c:pt>
                <c:pt idx="32">
                  <c:v>100.2227</c:v>
                </c:pt>
                <c:pt idx="33">
                  <c:v>100.61190000000001</c:v>
                </c:pt>
                <c:pt idx="34">
                  <c:v>100.82599999999999</c:v>
                </c:pt>
                <c:pt idx="35">
                  <c:v>100.9329</c:v>
                </c:pt>
                <c:pt idx="36">
                  <c:v>100.96259999999999</c:v>
                </c:pt>
                <c:pt idx="37">
                  <c:v>100.75579999999999</c:v>
                </c:pt>
                <c:pt idx="38">
                  <c:v>100.504</c:v>
                </c:pt>
                <c:pt idx="39">
                  <c:v>100.34269999999999</c:v>
                </c:pt>
                <c:pt idx="40">
                  <c:v>100.2868</c:v>
                </c:pt>
                <c:pt idx="41">
                  <c:v>100.2491</c:v>
                </c:pt>
                <c:pt idx="42">
                  <c:v>100.2277</c:v>
                </c:pt>
                <c:pt idx="43">
                  <c:v>100.0153</c:v>
                </c:pt>
                <c:pt idx="44">
                  <c:v>99.778880000000001</c:v>
                </c:pt>
                <c:pt idx="45">
                  <c:v>99.505970000000005</c:v>
                </c:pt>
                <c:pt idx="46">
                  <c:v>99.241129999999998</c:v>
                </c:pt>
                <c:pt idx="47">
                  <c:v>99.085300000000004</c:v>
                </c:pt>
                <c:pt idx="48">
                  <c:v>98.935519999999997</c:v>
                </c:pt>
                <c:pt idx="49">
                  <c:v>98.575040000000001</c:v>
                </c:pt>
                <c:pt idx="50">
                  <c:v>98.140450000000001</c:v>
                </c:pt>
                <c:pt idx="51">
                  <c:v>97.650570000000002</c:v>
                </c:pt>
                <c:pt idx="52">
                  <c:v>97.298860000000005</c:v>
                </c:pt>
                <c:pt idx="53">
                  <c:v>97.188249999999996</c:v>
                </c:pt>
                <c:pt idx="54">
                  <c:v>97.376589999999993</c:v>
                </c:pt>
                <c:pt idx="55">
                  <c:v>97.615210000000005</c:v>
                </c:pt>
                <c:pt idx="56">
                  <c:v>97.685739999999996</c:v>
                </c:pt>
                <c:pt idx="57">
                  <c:v>97.358450000000005</c:v>
                </c:pt>
                <c:pt idx="58">
                  <c:v>97.120500000000007</c:v>
                </c:pt>
                <c:pt idx="59">
                  <c:v>97.113579999999999</c:v>
                </c:pt>
                <c:pt idx="60">
                  <c:v>97.120260000000002</c:v>
                </c:pt>
                <c:pt idx="61">
                  <c:v>97.096119999999999</c:v>
                </c:pt>
                <c:pt idx="62">
                  <c:v>97.283360000000002</c:v>
                </c:pt>
                <c:pt idx="63">
                  <c:v>97.698890000000006</c:v>
                </c:pt>
                <c:pt idx="64">
                  <c:v>98.056430000000006</c:v>
                </c:pt>
                <c:pt idx="65">
                  <c:v>98.204459999999997</c:v>
                </c:pt>
                <c:pt idx="66">
                  <c:v>98.162540000000007</c:v>
                </c:pt>
                <c:pt idx="67">
                  <c:v>98.203050000000005</c:v>
                </c:pt>
                <c:pt idx="68">
                  <c:v>98.367949999999993</c:v>
                </c:pt>
                <c:pt idx="69">
                  <c:v>98.395430000000005</c:v>
                </c:pt>
                <c:pt idx="70">
                  <c:v>98.408450000000002</c:v>
                </c:pt>
                <c:pt idx="71">
                  <c:v>98.569900000000004</c:v>
                </c:pt>
                <c:pt idx="72">
                  <c:v>98.719570000000004</c:v>
                </c:pt>
                <c:pt idx="73">
                  <c:v>98.770579999999995</c:v>
                </c:pt>
                <c:pt idx="74">
                  <c:v>98.767709999999994</c:v>
                </c:pt>
                <c:pt idx="75">
                  <c:v>98.748800000000003</c:v>
                </c:pt>
                <c:pt idx="76">
                  <c:v>98.747630000000001</c:v>
                </c:pt>
                <c:pt idx="77">
                  <c:v>98.659630000000007</c:v>
                </c:pt>
                <c:pt idx="78">
                  <c:v>98.396289999999993</c:v>
                </c:pt>
                <c:pt idx="79">
                  <c:v>98.235669999999999</c:v>
                </c:pt>
                <c:pt idx="80">
                  <c:v>98.188640000000007</c:v>
                </c:pt>
                <c:pt idx="81">
                  <c:v>98.279780000000002</c:v>
                </c:pt>
                <c:pt idx="82">
                  <c:v>98.51782</c:v>
                </c:pt>
                <c:pt idx="83">
                  <c:v>98.749880000000005</c:v>
                </c:pt>
                <c:pt idx="84">
                  <c:v>98.850009999999997</c:v>
                </c:pt>
                <c:pt idx="85">
                  <c:v>98.804569999999998</c:v>
                </c:pt>
                <c:pt idx="86">
                  <c:v>98.579149999999998</c:v>
                </c:pt>
                <c:pt idx="87">
                  <c:v>98.525170000000003</c:v>
                </c:pt>
                <c:pt idx="88">
                  <c:v>98.511139999999997</c:v>
                </c:pt>
                <c:pt idx="89">
                  <c:v>98.22824</c:v>
                </c:pt>
                <c:pt idx="90">
                  <c:v>97.696780000000004</c:v>
                </c:pt>
                <c:pt idx="91">
                  <c:v>97.242679999999993</c:v>
                </c:pt>
                <c:pt idx="92">
                  <c:v>97.175560000000004</c:v>
                </c:pt>
                <c:pt idx="93">
                  <c:v>97.378410000000002</c:v>
                </c:pt>
                <c:pt idx="94">
                  <c:v>97.779610000000005</c:v>
                </c:pt>
                <c:pt idx="95">
                  <c:v>98.292240000000007</c:v>
                </c:pt>
                <c:pt idx="96">
                  <c:v>98.730260000000001</c:v>
                </c:pt>
                <c:pt idx="97">
                  <c:v>98.974170000000001</c:v>
                </c:pt>
                <c:pt idx="98">
                  <c:v>99.091059999999999</c:v>
                </c:pt>
                <c:pt idx="99">
                  <c:v>99.123490000000004</c:v>
                </c:pt>
                <c:pt idx="100">
                  <c:v>99.071110000000004</c:v>
                </c:pt>
                <c:pt idx="101">
                  <c:v>98.880070000000003</c:v>
                </c:pt>
                <c:pt idx="102">
                  <c:v>98.812740000000005</c:v>
                </c:pt>
                <c:pt idx="103">
                  <c:v>98.971279999999993</c:v>
                </c:pt>
                <c:pt idx="104">
                  <c:v>99.266530000000003</c:v>
                </c:pt>
                <c:pt idx="105">
                  <c:v>99.478260000000006</c:v>
                </c:pt>
                <c:pt idx="106">
                  <c:v>99.397630000000007</c:v>
                </c:pt>
                <c:pt idx="107">
                  <c:v>99.085899999999995</c:v>
                </c:pt>
                <c:pt idx="108">
                  <c:v>98.966049999999996</c:v>
                </c:pt>
                <c:pt idx="109">
                  <c:v>99.062190000000001</c:v>
                </c:pt>
                <c:pt idx="110">
                  <c:v>99.217910000000003</c:v>
                </c:pt>
                <c:pt idx="111">
                  <c:v>99.415940000000006</c:v>
                </c:pt>
                <c:pt idx="112">
                  <c:v>99.731800000000007</c:v>
                </c:pt>
                <c:pt idx="113">
                  <c:v>99.895099999999999</c:v>
                </c:pt>
                <c:pt idx="114">
                  <c:v>99.859920000000002</c:v>
                </c:pt>
                <c:pt idx="115">
                  <c:v>99.59769</c:v>
                </c:pt>
                <c:pt idx="116">
                  <c:v>99.241870000000006</c:v>
                </c:pt>
                <c:pt idx="117">
                  <c:v>99.021889999999999</c:v>
                </c:pt>
                <c:pt idx="118">
                  <c:v>99.115690000000001</c:v>
                </c:pt>
                <c:pt idx="119">
                  <c:v>99.399199999999993</c:v>
                </c:pt>
                <c:pt idx="120">
                  <c:v>99.560419999999993</c:v>
                </c:pt>
                <c:pt idx="121">
                  <c:v>99.625559999999993</c:v>
                </c:pt>
                <c:pt idx="122">
                  <c:v>99.655670000000001</c:v>
                </c:pt>
                <c:pt idx="123">
                  <c:v>99.725139999999996</c:v>
                </c:pt>
                <c:pt idx="124">
                  <c:v>99.716610000000003</c:v>
                </c:pt>
                <c:pt idx="125">
                  <c:v>99.700069999999997</c:v>
                </c:pt>
                <c:pt idx="126">
                  <c:v>99.700710000000001</c:v>
                </c:pt>
                <c:pt idx="127">
                  <c:v>99.78107</c:v>
                </c:pt>
                <c:pt idx="128">
                  <c:v>99.963819999999998</c:v>
                </c:pt>
                <c:pt idx="129">
                  <c:v>100.22799999999999</c:v>
                </c:pt>
                <c:pt idx="130">
                  <c:v>100.556</c:v>
                </c:pt>
                <c:pt idx="131">
                  <c:v>100.9211</c:v>
                </c:pt>
                <c:pt idx="132">
                  <c:v>101.1674</c:v>
                </c:pt>
                <c:pt idx="133">
                  <c:v>101.16970000000001</c:v>
                </c:pt>
                <c:pt idx="134">
                  <c:v>101.08</c:v>
                </c:pt>
                <c:pt idx="135">
                  <c:v>101.029</c:v>
                </c:pt>
                <c:pt idx="136">
                  <c:v>100.9542</c:v>
                </c:pt>
                <c:pt idx="137">
                  <c:v>100.96729999999999</c:v>
                </c:pt>
                <c:pt idx="138">
                  <c:v>100.86060000000001</c:v>
                </c:pt>
                <c:pt idx="139">
                  <c:v>100.6842</c:v>
                </c:pt>
                <c:pt idx="140">
                  <c:v>100.5253</c:v>
                </c:pt>
                <c:pt idx="141">
                  <c:v>100.55249999999999</c:v>
                </c:pt>
                <c:pt idx="142">
                  <c:v>100.6609</c:v>
                </c:pt>
                <c:pt idx="143">
                  <c:v>100.7513</c:v>
                </c:pt>
                <c:pt idx="144">
                  <c:v>100.76349999999999</c:v>
                </c:pt>
                <c:pt idx="145">
                  <c:v>100.7287</c:v>
                </c:pt>
                <c:pt idx="146">
                  <c:v>100.69159999999999</c:v>
                </c:pt>
                <c:pt idx="147">
                  <c:v>100.7122</c:v>
                </c:pt>
                <c:pt idx="148">
                  <c:v>100.8261</c:v>
                </c:pt>
                <c:pt idx="149">
                  <c:v>100.80549999999999</c:v>
                </c:pt>
                <c:pt idx="150">
                  <c:v>100.669</c:v>
                </c:pt>
                <c:pt idx="151">
                  <c:v>100.57040000000001</c:v>
                </c:pt>
                <c:pt idx="152">
                  <c:v>100.5526</c:v>
                </c:pt>
                <c:pt idx="153">
                  <c:v>100.6242</c:v>
                </c:pt>
                <c:pt idx="154">
                  <c:v>100.9306</c:v>
                </c:pt>
                <c:pt idx="155">
                  <c:v>101.24469999999999</c:v>
                </c:pt>
                <c:pt idx="156">
                  <c:v>101.3826</c:v>
                </c:pt>
                <c:pt idx="157">
                  <c:v>101.3712</c:v>
                </c:pt>
                <c:pt idx="158">
                  <c:v>101.3425</c:v>
                </c:pt>
                <c:pt idx="159">
                  <c:v>101.3048</c:v>
                </c:pt>
                <c:pt idx="160">
                  <c:v>101.23690000000001</c:v>
                </c:pt>
                <c:pt idx="161">
                  <c:v>101.13679999999999</c:v>
                </c:pt>
                <c:pt idx="162">
                  <c:v>101.1003</c:v>
                </c:pt>
                <c:pt idx="163">
                  <c:v>101.1917</c:v>
                </c:pt>
                <c:pt idx="164">
                  <c:v>101.3049</c:v>
                </c:pt>
                <c:pt idx="165">
                  <c:v>101.4444</c:v>
                </c:pt>
                <c:pt idx="166">
                  <c:v>101.42570000000001</c:v>
                </c:pt>
                <c:pt idx="167">
                  <c:v>101.3488</c:v>
                </c:pt>
                <c:pt idx="168">
                  <c:v>101.376</c:v>
                </c:pt>
                <c:pt idx="169">
                  <c:v>101.5243</c:v>
                </c:pt>
                <c:pt idx="170">
                  <c:v>101.6165</c:v>
                </c:pt>
                <c:pt idx="171">
                  <c:v>101.5702</c:v>
                </c:pt>
                <c:pt idx="172">
                  <c:v>101.492</c:v>
                </c:pt>
                <c:pt idx="173">
                  <c:v>101.4392</c:v>
                </c:pt>
                <c:pt idx="174">
                  <c:v>101.4105</c:v>
                </c:pt>
                <c:pt idx="175">
                  <c:v>101.4207</c:v>
                </c:pt>
                <c:pt idx="176">
                  <c:v>101.4966</c:v>
                </c:pt>
                <c:pt idx="177">
                  <c:v>101.4804</c:v>
                </c:pt>
                <c:pt idx="178">
                  <c:v>101.381</c:v>
                </c:pt>
                <c:pt idx="179">
                  <c:v>101.226</c:v>
                </c:pt>
                <c:pt idx="180">
                  <c:v>101.04049999999999</c:v>
                </c:pt>
                <c:pt idx="181">
                  <c:v>101.08969999999999</c:v>
                </c:pt>
                <c:pt idx="182">
                  <c:v>101.2878</c:v>
                </c:pt>
                <c:pt idx="183">
                  <c:v>101.43300000000001</c:v>
                </c:pt>
                <c:pt idx="184">
                  <c:v>101.5129</c:v>
                </c:pt>
                <c:pt idx="185">
                  <c:v>101.4277</c:v>
                </c:pt>
                <c:pt idx="186">
                  <c:v>101.217</c:v>
                </c:pt>
                <c:pt idx="187">
                  <c:v>100.94799999999999</c:v>
                </c:pt>
                <c:pt idx="188">
                  <c:v>100.94799999999999</c:v>
                </c:pt>
                <c:pt idx="189">
                  <c:v>101.1323</c:v>
                </c:pt>
                <c:pt idx="190">
                  <c:v>101.3763</c:v>
                </c:pt>
                <c:pt idx="191">
                  <c:v>101.58329999999999</c:v>
                </c:pt>
                <c:pt idx="192">
                  <c:v>101.5818</c:v>
                </c:pt>
                <c:pt idx="193">
                  <c:v>101.193</c:v>
                </c:pt>
                <c:pt idx="194">
                  <c:v>100.28660000000001</c:v>
                </c:pt>
                <c:pt idx="195">
                  <c:v>99.300709999999995</c:v>
                </c:pt>
                <c:pt idx="196">
                  <c:v>98.846580000000003</c:v>
                </c:pt>
                <c:pt idx="197">
                  <c:v>98.801360000000003</c:v>
                </c:pt>
                <c:pt idx="198">
                  <c:v>98.817070000000001</c:v>
                </c:pt>
                <c:pt idx="199">
                  <c:v>99.000349999999997</c:v>
                </c:pt>
                <c:pt idx="200">
                  <c:v>99.284090000000006</c:v>
                </c:pt>
                <c:pt idx="201">
                  <c:v>99.419169999999994</c:v>
                </c:pt>
                <c:pt idx="202">
                  <c:v>99.380030000000005</c:v>
                </c:pt>
                <c:pt idx="203">
                  <c:v>99.382800000000003</c:v>
                </c:pt>
                <c:pt idx="204">
                  <c:v>99.388339999999999</c:v>
                </c:pt>
                <c:pt idx="205">
                  <c:v>99.515110000000007</c:v>
                </c:pt>
                <c:pt idx="206">
                  <c:v>99.847790000000003</c:v>
                </c:pt>
                <c:pt idx="207">
                  <c:v>100.0697</c:v>
                </c:pt>
                <c:pt idx="208">
                  <c:v>100.0163</c:v>
                </c:pt>
                <c:pt idx="209">
                  <c:v>99.825720000000004</c:v>
                </c:pt>
                <c:pt idx="210">
                  <c:v>99.400570000000002</c:v>
                </c:pt>
                <c:pt idx="211">
                  <c:v>98.883619999999993</c:v>
                </c:pt>
                <c:pt idx="212">
                  <c:v>98.61224</c:v>
                </c:pt>
                <c:pt idx="213">
                  <c:v>98.442710000000005</c:v>
                </c:pt>
                <c:pt idx="214">
                  <c:v>98.295259999999999</c:v>
                </c:pt>
                <c:pt idx="215">
                  <c:v>98.203119999999998</c:v>
                </c:pt>
                <c:pt idx="216">
                  <c:v>97.989580000000004</c:v>
                </c:pt>
                <c:pt idx="217">
                  <c:v>97.710189999999997</c:v>
                </c:pt>
                <c:pt idx="218">
                  <c:v>97.494349999999997</c:v>
                </c:pt>
                <c:pt idx="219">
                  <c:v>97.343220000000002</c:v>
                </c:pt>
                <c:pt idx="220">
                  <c:v>96.97363</c:v>
                </c:pt>
                <c:pt idx="221">
                  <c:v>96.603710000000007</c:v>
                </c:pt>
                <c:pt idx="222">
                  <c:v>96.578540000000004</c:v>
                </c:pt>
                <c:pt idx="223">
                  <c:v>96.820959999999999</c:v>
                </c:pt>
                <c:pt idx="224">
                  <c:v>97.020859999999999</c:v>
                </c:pt>
                <c:pt idx="225">
                  <c:v>97.12585</c:v>
                </c:pt>
                <c:pt idx="226">
                  <c:v>97.185130000000001</c:v>
                </c:pt>
                <c:pt idx="227">
                  <c:v>97.386719999999997</c:v>
                </c:pt>
                <c:pt idx="228">
                  <c:v>97.648079999999993</c:v>
                </c:pt>
                <c:pt idx="229">
                  <c:v>97.753680000000003</c:v>
                </c:pt>
                <c:pt idx="230">
                  <c:v>97.651629999999997</c:v>
                </c:pt>
                <c:pt idx="231">
                  <c:v>97.566980000000001</c:v>
                </c:pt>
                <c:pt idx="232">
                  <c:v>97.567570000000003</c:v>
                </c:pt>
                <c:pt idx="233">
                  <c:v>97.834729999999993</c:v>
                </c:pt>
                <c:pt idx="234">
                  <c:v>98.148390000000006</c:v>
                </c:pt>
                <c:pt idx="235">
                  <c:v>98.188929999999999</c:v>
                </c:pt>
                <c:pt idx="236">
                  <c:v>98.022210000000001</c:v>
                </c:pt>
                <c:pt idx="237">
                  <c:v>97.829269999999994</c:v>
                </c:pt>
                <c:pt idx="238">
                  <c:v>97.897999999999996</c:v>
                </c:pt>
                <c:pt idx="239">
                  <c:v>98.378399999999999</c:v>
                </c:pt>
                <c:pt idx="240">
                  <c:v>98.94032</c:v>
                </c:pt>
                <c:pt idx="241">
                  <c:v>99.212149999999994</c:v>
                </c:pt>
                <c:pt idx="242">
                  <c:v>99.23648</c:v>
                </c:pt>
                <c:pt idx="243">
                  <c:v>98.968429999999998</c:v>
                </c:pt>
                <c:pt idx="244">
                  <c:v>98.524900000000002</c:v>
                </c:pt>
                <c:pt idx="245">
                  <c:v>98.2119</c:v>
                </c:pt>
                <c:pt idx="246">
                  <c:v>98.081810000000004</c:v>
                </c:pt>
                <c:pt idx="247">
                  <c:v>98.147940000000006</c:v>
                </c:pt>
                <c:pt idx="248">
                  <c:v>98.317670000000007</c:v>
                </c:pt>
                <c:pt idx="249">
                  <c:v>98.490399999999994</c:v>
                </c:pt>
                <c:pt idx="250">
                  <c:v>98.628600000000006</c:v>
                </c:pt>
                <c:pt idx="251">
                  <c:v>98.628799999999998</c:v>
                </c:pt>
                <c:pt idx="252">
                  <c:v>98.325609999999998</c:v>
                </c:pt>
                <c:pt idx="253">
                  <c:v>97.732280000000003</c:v>
                </c:pt>
                <c:pt idx="254">
                  <c:v>97.092200000000005</c:v>
                </c:pt>
                <c:pt idx="255">
                  <c:v>96.706379999999996</c:v>
                </c:pt>
                <c:pt idx="256">
                  <c:v>96.730959999999996</c:v>
                </c:pt>
                <c:pt idx="257">
                  <c:v>97.037959999999998</c:v>
                </c:pt>
                <c:pt idx="258">
                  <c:v>97.190569999999994</c:v>
                </c:pt>
                <c:pt idx="259">
                  <c:v>97.06626</c:v>
                </c:pt>
                <c:pt idx="260">
                  <c:v>96.81353</c:v>
                </c:pt>
                <c:pt idx="261">
                  <c:v>96.593299999999999</c:v>
                </c:pt>
                <c:pt idx="262">
                  <c:v>96.492450000000005</c:v>
                </c:pt>
                <c:pt idx="263">
                  <c:v>96.579949999999997</c:v>
                </c:pt>
                <c:pt idx="264">
                  <c:v>96.723159999999993</c:v>
                </c:pt>
                <c:pt idx="265">
                  <c:v>96.708330000000004</c:v>
                </c:pt>
                <c:pt idx="266">
                  <c:v>96.480239999999995</c:v>
                </c:pt>
                <c:pt idx="267">
                  <c:v>96.178970000000007</c:v>
                </c:pt>
                <c:pt idx="268">
                  <c:v>96.006900000000002</c:v>
                </c:pt>
                <c:pt idx="269">
                  <c:v>96.147040000000004</c:v>
                </c:pt>
                <c:pt idx="270">
                  <c:v>96.388030000000001</c:v>
                </c:pt>
                <c:pt idx="271">
                  <c:v>96.498249999999999</c:v>
                </c:pt>
              </c:numCache>
            </c:numRef>
          </c:val>
          <c:smooth val="0"/>
          <c:extLst>
            <c:ext xmlns:c16="http://schemas.microsoft.com/office/drawing/2014/chart" uri="{C3380CC4-5D6E-409C-BE32-E72D297353CC}">
              <c16:uniqueId val="{00000000-7E5B-4A7D-BBA4-D4DB22A51F78}"/>
            </c:ext>
          </c:extLst>
        </c:ser>
        <c:ser>
          <c:idx val="1"/>
          <c:order val="1"/>
          <c:tx>
            <c:strRef>
              <c:f>Sheet1!$C$1</c:f>
              <c:strCache>
                <c:ptCount val="1"/>
                <c:pt idx="0">
                  <c:v>Euro area (20)</c:v>
                </c:pt>
              </c:strCache>
            </c:strRef>
          </c:tx>
          <c:spPr>
            <a:ln w="22225">
              <a:solidFill>
                <a:srgbClr val="C8102E"/>
              </a:solidFill>
            </a:ln>
          </c:spPr>
          <c:marker>
            <c:symbol val="none"/>
          </c:marker>
          <c:cat>
            <c:strRef>
              <c:f>Sheet1!$A$2:$A$274</c:f>
              <c:strCache>
                <c:ptCount val="273"/>
                <c:pt idx="0">
                  <c:v>2004</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2006</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2008</c:v>
                </c:pt>
                <c:pt idx="49">
                  <c:v> </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2010</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2012</c:v>
                </c:pt>
                <c:pt idx="97">
                  <c:v> </c:v>
                </c:pt>
                <c:pt idx="98">
                  <c:v> </c:v>
                </c:pt>
                <c:pt idx="99">
                  <c:v> </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2014</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2016</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2018</c:v>
                </c:pt>
                <c:pt idx="169">
                  <c:v> </c:v>
                </c:pt>
                <c:pt idx="170">
                  <c:v> </c:v>
                </c:pt>
                <c:pt idx="171">
                  <c:v> </c:v>
                </c:pt>
                <c:pt idx="172">
                  <c:v> </c:v>
                </c:pt>
                <c:pt idx="173">
                  <c:v> </c:v>
                </c:pt>
                <c:pt idx="174">
                  <c:v> </c:v>
                </c:pt>
                <c:pt idx="175">
                  <c:v> </c:v>
                </c:pt>
                <c:pt idx="176">
                  <c:v> </c:v>
                </c:pt>
                <c:pt idx="177">
                  <c:v> </c:v>
                </c:pt>
                <c:pt idx="178">
                  <c:v> </c:v>
                </c:pt>
                <c:pt idx="179">
                  <c:v> </c:v>
                </c:pt>
                <c:pt idx="180">
                  <c:v> </c:v>
                </c:pt>
                <c:pt idx="181">
                  <c:v> </c:v>
                </c:pt>
                <c:pt idx="182">
                  <c:v> </c:v>
                </c:pt>
                <c:pt idx="183">
                  <c:v> </c:v>
                </c:pt>
                <c:pt idx="184">
                  <c:v> </c:v>
                </c:pt>
                <c:pt idx="185">
                  <c:v> </c:v>
                </c:pt>
                <c:pt idx="186">
                  <c:v> </c:v>
                </c:pt>
                <c:pt idx="187">
                  <c:v> </c:v>
                </c:pt>
                <c:pt idx="188">
                  <c:v> </c:v>
                </c:pt>
                <c:pt idx="189">
                  <c:v> </c:v>
                </c:pt>
                <c:pt idx="190">
                  <c:v> </c:v>
                </c:pt>
                <c:pt idx="191">
                  <c:v> </c:v>
                </c:pt>
                <c:pt idx="192">
                  <c:v>2020</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2022</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2024</c:v>
                </c:pt>
                <c:pt idx="241">
                  <c:v> </c:v>
                </c:pt>
                <c:pt idx="242">
                  <c:v> </c:v>
                </c:pt>
                <c:pt idx="243">
                  <c:v> </c:v>
                </c:pt>
                <c:pt idx="244">
                  <c:v> </c:v>
                </c:pt>
                <c:pt idx="245">
                  <c:v> </c:v>
                </c:pt>
                <c:pt idx="246">
                  <c:v> </c:v>
                </c:pt>
                <c:pt idx="247">
                  <c:v> </c:v>
                </c:pt>
                <c:pt idx="248">
                  <c:v> </c:v>
                </c:pt>
                <c:pt idx="249">
                  <c:v> </c:v>
                </c:pt>
                <c:pt idx="250">
                  <c:v> </c:v>
                </c:pt>
                <c:pt idx="251">
                  <c:v> </c:v>
                </c:pt>
                <c:pt idx="252">
                  <c:v> </c:v>
                </c:pt>
                <c:pt idx="253">
                  <c:v> </c:v>
                </c:pt>
                <c:pt idx="254">
                  <c:v> </c:v>
                </c:pt>
                <c:pt idx="255">
                  <c:v> </c:v>
                </c:pt>
                <c:pt idx="256">
                  <c:v> </c:v>
                </c:pt>
                <c:pt idx="257">
                  <c:v> </c:v>
                </c:pt>
                <c:pt idx="258">
                  <c:v> </c:v>
                </c:pt>
                <c:pt idx="259">
                  <c:v> </c:v>
                </c:pt>
                <c:pt idx="260">
                  <c:v> </c:v>
                </c:pt>
                <c:pt idx="261">
                  <c:v> </c:v>
                </c:pt>
                <c:pt idx="262">
                  <c:v> </c:v>
                </c:pt>
                <c:pt idx="263">
                  <c:v> </c:v>
                </c:pt>
                <c:pt idx="264">
                  <c:v>2026</c:v>
                </c:pt>
                <c:pt idx="265">
                  <c:v> </c:v>
                </c:pt>
                <c:pt idx="266">
                  <c:v> </c:v>
                </c:pt>
                <c:pt idx="267">
                  <c:v> </c:v>
                </c:pt>
                <c:pt idx="268">
                  <c:v> </c:v>
                </c:pt>
                <c:pt idx="269">
                  <c:v> </c:v>
                </c:pt>
                <c:pt idx="270">
                  <c:v> </c:v>
                </c:pt>
                <c:pt idx="271">
                  <c:v> </c:v>
                </c:pt>
                <c:pt idx="272">
                  <c:v> </c:v>
                </c:pt>
              </c:strCache>
            </c:strRef>
          </c:cat>
          <c:val>
            <c:numRef>
              <c:f>Sheet1!$C$2:$C$274</c:f>
              <c:numCache>
                <c:formatCode>General</c:formatCode>
                <c:ptCount val="273"/>
                <c:pt idx="0">
                  <c:v>99.659390000000002</c:v>
                </c:pt>
                <c:pt idx="1">
                  <c:v>99.735770000000002</c:v>
                </c:pt>
                <c:pt idx="2">
                  <c:v>99.749399999999994</c:v>
                </c:pt>
                <c:pt idx="3">
                  <c:v>99.686490000000006</c:v>
                </c:pt>
                <c:pt idx="4">
                  <c:v>99.627480000000006</c:v>
                </c:pt>
                <c:pt idx="5">
                  <c:v>99.619</c:v>
                </c:pt>
                <c:pt idx="6">
                  <c:v>99.651110000000003</c:v>
                </c:pt>
                <c:pt idx="7">
                  <c:v>99.720219999999998</c:v>
                </c:pt>
                <c:pt idx="8">
                  <c:v>99.797129999999996</c:v>
                </c:pt>
                <c:pt idx="9">
                  <c:v>99.839590000000001</c:v>
                </c:pt>
                <c:pt idx="10">
                  <c:v>99.851929999999996</c:v>
                </c:pt>
                <c:pt idx="11">
                  <c:v>99.924340000000001</c:v>
                </c:pt>
                <c:pt idx="12">
                  <c:v>100.0296</c:v>
                </c:pt>
                <c:pt idx="13">
                  <c:v>100.08710000000001</c:v>
                </c:pt>
                <c:pt idx="14">
                  <c:v>100.0485</c:v>
                </c:pt>
                <c:pt idx="15">
                  <c:v>99.894720000000007</c:v>
                </c:pt>
                <c:pt idx="16">
                  <c:v>99.674729999999997</c:v>
                </c:pt>
                <c:pt idx="17">
                  <c:v>99.522729999999996</c:v>
                </c:pt>
                <c:pt idx="18">
                  <c:v>99.469110000000001</c:v>
                </c:pt>
                <c:pt idx="19">
                  <c:v>99.51052</c:v>
                </c:pt>
                <c:pt idx="20">
                  <c:v>99.55444</c:v>
                </c:pt>
                <c:pt idx="21">
                  <c:v>99.650549999999996</c:v>
                </c:pt>
                <c:pt idx="22">
                  <c:v>99.810360000000003</c:v>
                </c:pt>
                <c:pt idx="23">
                  <c:v>100.0748</c:v>
                </c:pt>
                <c:pt idx="24">
                  <c:v>100.29989999999999</c:v>
                </c:pt>
                <c:pt idx="25">
                  <c:v>100.4106</c:v>
                </c:pt>
                <c:pt idx="26">
                  <c:v>100.4756</c:v>
                </c:pt>
                <c:pt idx="27">
                  <c:v>100.5151</c:v>
                </c:pt>
                <c:pt idx="28">
                  <c:v>100.4902</c:v>
                </c:pt>
                <c:pt idx="29">
                  <c:v>100.4543</c:v>
                </c:pt>
                <c:pt idx="30">
                  <c:v>100.4962</c:v>
                </c:pt>
                <c:pt idx="31">
                  <c:v>100.55759999999999</c:v>
                </c:pt>
                <c:pt idx="32">
                  <c:v>100.6371</c:v>
                </c:pt>
                <c:pt idx="33">
                  <c:v>100.7285</c:v>
                </c:pt>
                <c:pt idx="34">
                  <c:v>100.85039999999999</c:v>
                </c:pt>
                <c:pt idx="35">
                  <c:v>100.9823</c:v>
                </c:pt>
                <c:pt idx="36">
                  <c:v>101.0514</c:v>
                </c:pt>
                <c:pt idx="37">
                  <c:v>101.1557</c:v>
                </c:pt>
                <c:pt idx="38">
                  <c:v>101.27670000000001</c:v>
                </c:pt>
                <c:pt idx="39">
                  <c:v>101.3929</c:v>
                </c:pt>
                <c:pt idx="40">
                  <c:v>101.4956</c:v>
                </c:pt>
                <c:pt idx="41">
                  <c:v>101.4727</c:v>
                </c:pt>
                <c:pt idx="42">
                  <c:v>101.3329</c:v>
                </c:pt>
                <c:pt idx="43">
                  <c:v>101.0382</c:v>
                </c:pt>
                <c:pt idx="44">
                  <c:v>100.6982</c:v>
                </c:pt>
                <c:pt idx="45">
                  <c:v>100.3733</c:v>
                </c:pt>
                <c:pt idx="46">
                  <c:v>100.006</c:v>
                </c:pt>
                <c:pt idx="47">
                  <c:v>99.718289999999996</c:v>
                </c:pt>
                <c:pt idx="48">
                  <c:v>99.469830000000002</c:v>
                </c:pt>
                <c:pt idx="49">
                  <c:v>99.318340000000006</c:v>
                </c:pt>
                <c:pt idx="50">
                  <c:v>99.177090000000007</c:v>
                </c:pt>
                <c:pt idx="51">
                  <c:v>98.911799999999999</c:v>
                </c:pt>
                <c:pt idx="52">
                  <c:v>98.454639999999998</c:v>
                </c:pt>
                <c:pt idx="53">
                  <c:v>97.905860000000004</c:v>
                </c:pt>
                <c:pt idx="54">
                  <c:v>97.581720000000004</c:v>
                </c:pt>
                <c:pt idx="55">
                  <c:v>97.608580000000003</c:v>
                </c:pt>
                <c:pt idx="56">
                  <c:v>97.674210000000002</c:v>
                </c:pt>
                <c:pt idx="57">
                  <c:v>97.546449999999993</c:v>
                </c:pt>
                <c:pt idx="58">
                  <c:v>97.389499999999998</c:v>
                </c:pt>
                <c:pt idx="59">
                  <c:v>97.20975</c:v>
                </c:pt>
                <c:pt idx="60">
                  <c:v>97.09451</c:v>
                </c:pt>
                <c:pt idx="61">
                  <c:v>97.037220000000005</c:v>
                </c:pt>
                <c:pt idx="62">
                  <c:v>97.161730000000006</c:v>
                </c:pt>
                <c:pt idx="63">
                  <c:v>97.506839999999997</c:v>
                </c:pt>
                <c:pt idx="64">
                  <c:v>97.901790000000005</c:v>
                </c:pt>
                <c:pt idx="65">
                  <c:v>98.303089999999997</c:v>
                </c:pt>
                <c:pt idx="66">
                  <c:v>98.726960000000005</c:v>
                </c:pt>
                <c:pt idx="67">
                  <c:v>99.147989999999993</c:v>
                </c:pt>
                <c:pt idx="68">
                  <c:v>99.539090000000002</c:v>
                </c:pt>
                <c:pt idx="69">
                  <c:v>99.804990000000004</c:v>
                </c:pt>
                <c:pt idx="70">
                  <c:v>99.909549999999996</c:v>
                </c:pt>
                <c:pt idx="71">
                  <c:v>99.882499999999993</c:v>
                </c:pt>
                <c:pt idx="72">
                  <c:v>99.714960000000005</c:v>
                </c:pt>
                <c:pt idx="73">
                  <c:v>99.468299999999999</c:v>
                </c:pt>
                <c:pt idx="74">
                  <c:v>99.278009999999995</c:v>
                </c:pt>
                <c:pt idx="75">
                  <c:v>99.109380000000002</c:v>
                </c:pt>
                <c:pt idx="76">
                  <c:v>98.838650000000001</c:v>
                </c:pt>
                <c:pt idx="77">
                  <c:v>98.776259999999994</c:v>
                </c:pt>
                <c:pt idx="78">
                  <c:v>99.037409999999994</c:v>
                </c:pt>
                <c:pt idx="79">
                  <c:v>99.413510000000002</c:v>
                </c:pt>
                <c:pt idx="80">
                  <c:v>99.656549999999996</c:v>
                </c:pt>
                <c:pt idx="81">
                  <c:v>99.757720000000006</c:v>
                </c:pt>
                <c:pt idx="82">
                  <c:v>99.786209999999997</c:v>
                </c:pt>
                <c:pt idx="83">
                  <c:v>99.678889999999996</c:v>
                </c:pt>
                <c:pt idx="84">
                  <c:v>99.539199999999994</c:v>
                </c:pt>
                <c:pt idx="85">
                  <c:v>99.444360000000003</c:v>
                </c:pt>
                <c:pt idx="86">
                  <c:v>99.312290000000004</c:v>
                </c:pt>
                <c:pt idx="87">
                  <c:v>99.187479999999994</c:v>
                </c:pt>
                <c:pt idx="88">
                  <c:v>99.127399999999994</c:v>
                </c:pt>
                <c:pt idx="89">
                  <c:v>99.081969999999998</c:v>
                </c:pt>
                <c:pt idx="90">
                  <c:v>98.926259999999999</c:v>
                </c:pt>
                <c:pt idx="91">
                  <c:v>98.615070000000003</c:v>
                </c:pt>
                <c:pt idx="92">
                  <c:v>98.3386</c:v>
                </c:pt>
                <c:pt idx="93">
                  <c:v>98.151769999999999</c:v>
                </c:pt>
                <c:pt idx="94">
                  <c:v>98.086950000000002</c:v>
                </c:pt>
                <c:pt idx="95">
                  <c:v>98.040729999999996</c:v>
                </c:pt>
                <c:pt idx="96">
                  <c:v>98.057010000000005</c:v>
                </c:pt>
                <c:pt idx="97">
                  <c:v>98.154960000000003</c:v>
                </c:pt>
                <c:pt idx="98">
                  <c:v>98.230919999999998</c:v>
                </c:pt>
                <c:pt idx="99">
                  <c:v>98.17868</c:v>
                </c:pt>
                <c:pt idx="100">
                  <c:v>98.086299999999994</c:v>
                </c:pt>
                <c:pt idx="101">
                  <c:v>97.988259999999997</c:v>
                </c:pt>
                <c:pt idx="102">
                  <c:v>97.848770000000002</c:v>
                </c:pt>
                <c:pt idx="103">
                  <c:v>97.659809999999993</c:v>
                </c:pt>
                <c:pt idx="104">
                  <c:v>97.471469999999997</c:v>
                </c:pt>
                <c:pt idx="105">
                  <c:v>97.389979999999994</c:v>
                </c:pt>
                <c:pt idx="106">
                  <c:v>97.356859999999998</c:v>
                </c:pt>
                <c:pt idx="107">
                  <c:v>97.394170000000003</c:v>
                </c:pt>
                <c:pt idx="108">
                  <c:v>97.555639999999997</c:v>
                </c:pt>
                <c:pt idx="109">
                  <c:v>97.698549999999997</c:v>
                </c:pt>
                <c:pt idx="110">
                  <c:v>97.785929999999993</c:v>
                </c:pt>
                <c:pt idx="111">
                  <c:v>97.852779999999996</c:v>
                </c:pt>
                <c:pt idx="112">
                  <c:v>97.89134</c:v>
                </c:pt>
                <c:pt idx="113">
                  <c:v>98.029870000000003</c:v>
                </c:pt>
                <c:pt idx="114">
                  <c:v>98.275760000000005</c:v>
                </c:pt>
                <c:pt idx="115">
                  <c:v>98.595309999999998</c:v>
                </c:pt>
                <c:pt idx="116">
                  <c:v>98.885959999999997</c:v>
                </c:pt>
                <c:pt idx="117">
                  <c:v>99.038740000000004</c:v>
                </c:pt>
                <c:pt idx="118">
                  <c:v>99.165840000000003</c:v>
                </c:pt>
                <c:pt idx="119">
                  <c:v>99.311449999999994</c:v>
                </c:pt>
                <c:pt idx="120">
                  <c:v>99.488349999999997</c:v>
                </c:pt>
                <c:pt idx="121">
                  <c:v>99.668629999999993</c:v>
                </c:pt>
                <c:pt idx="122">
                  <c:v>99.852360000000004</c:v>
                </c:pt>
                <c:pt idx="123">
                  <c:v>99.969139999999996</c:v>
                </c:pt>
                <c:pt idx="124">
                  <c:v>100.02160000000001</c:v>
                </c:pt>
                <c:pt idx="125">
                  <c:v>99.996189999999999</c:v>
                </c:pt>
                <c:pt idx="126">
                  <c:v>99.892039999999994</c:v>
                </c:pt>
                <c:pt idx="127">
                  <c:v>99.719589999999997</c:v>
                </c:pt>
                <c:pt idx="128">
                  <c:v>99.604489999999998</c:v>
                </c:pt>
                <c:pt idx="129">
                  <c:v>99.605509999999995</c:v>
                </c:pt>
                <c:pt idx="130">
                  <c:v>99.693240000000003</c:v>
                </c:pt>
                <c:pt idx="131">
                  <c:v>99.939980000000006</c:v>
                </c:pt>
                <c:pt idx="132">
                  <c:v>100.3502</c:v>
                </c:pt>
                <c:pt idx="133">
                  <c:v>100.8049</c:v>
                </c:pt>
                <c:pt idx="134">
                  <c:v>101.1147</c:v>
                </c:pt>
                <c:pt idx="135">
                  <c:v>101.1656</c:v>
                </c:pt>
                <c:pt idx="136">
                  <c:v>101.01860000000001</c:v>
                </c:pt>
                <c:pt idx="137">
                  <c:v>100.83069999999999</c:v>
                </c:pt>
                <c:pt idx="138">
                  <c:v>100.7028</c:v>
                </c:pt>
                <c:pt idx="139">
                  <c:v>100.7303</c:v>
                </c:pt>
                <c:pt idx="140">
                  <c:v>100.8318</c:v>
                </c:pt>
                <c:pt idx="141">
                  <c:v>100.96639999999999</c:v>
                </c:pt>
                <c:pt idx="142">
                  <c:v>101.1144</c:v>
                </c:pt>
                <c:pt idx="143">
                  <c:v>101.1972</c:v>
                </c:pt>
                <c:pt idx="144">
                  <c:v>101.1473</c:v>
                </c:pt>
                <c:pt idx="145">
                  <c:v>100.98950000000001</c:v>
                </c:pt>
                <c:pt idx="146">
                  <c:v>100.83620000000001</c:v>
                </c:pt>
                <c:pt idx="147">
                  <c:v>100.77200000000001</c:v>
                </c:pt>
                <c:pt idx="148">
                  <c:v>100.7349</c:v>
                </c:pt>
                <c:pt idx="149">
                  <c:v>100.71639999999999</c:v>
                </c:pt>
                <c:pt idx="150">
                  <c:v>100.6897</c:v>
                </c:pt>
                <c:pt idx="151">
                  <c:v>100.7098</c:v>
                </c:pt>
                <c:pt idx="152">
                  <c:v>100.8044</c:v>
                </c:pt>
                <c:pt idx="153">
                  <c:v>100.98009999999999</c:v>
                </c:pt>
                <c:pt idx="154">
                  <c:v>101.1563</c:v>
                </c:pt>
                <c:pt idx="155">
                  <c:v>101.26090000000001</c:v>
                </c:pt>
                <c:pt idx="156">
                  <c:v>101.27379999999999</c:v>
                </c:pt>
                <c:pt idx="157">
                  <c:v>101.23009999999999</c:v>
                </c:pt>
                <c:pt idx="158">
                  <c:v>101.2898</c:v>
                </c:pt>
                <c:pt idx="159">
                  <c:v>101.3994</c:v>
                </c:pt>
                <c:pt idx="160">
                  <c:v>101.50490000000001</c:v>
                </c:pt>
                <c:pt idx="161">
                  <c:v>101.63339999999999</c:v>
                </c:pt>
                <c:pt idx="162">
                  <c:v>101.73269999999999</c:v>
                </c:pt>
                <c:pt idx="163">
                  <c:v>101.8159</c:v>
                </c:pt>
                <c:pt idx="164">
                  <c:v>101.9166</c:v>
                </c:pt>
                <c:pt idx="165">
                  <c:v>102.0599</c:v>
                </c:pt>
                <c:pt idx="166">
                  <c:v>102.1895</c:v>
                </c:pt>
                <c:pt idx="167">
                  <c:v>102.2693</c:v>
                </c:pt>
                <c:pt idx="168">
                  <c:v>102.2363</c:v>
                </c:pt>
                <c:pt idx="169">
                  <c:v>102.1113</c:v>
                </c:pt>
                <c:pt idx="170">
                  <c:v>101.97750000000001</c:v>
                </c:pt>
                <c:pt idx="171">
                  <c:v>101.86</c:v>
                </c:pt>
                <c:pt idx="172">
                  <c:v>101.72329999999999</c:v>
                </c:pt>
                <c:pt idx="173">
                  <c:v>101.643</c:v>
                </c:pt>
                <c:pt idx="174">
                  <c:v>101.5883</c:v>
                </c:pt>
                <c:pt idx="175">
                  <c:v>101.5291</c:v>
                </c:pt>
                <c:pt idx="176">
                  <c:v>101.46420000000001</c:v>
                </c:pt>
                <c:pt idx="177">
                  <c:v>101.4251</c:v>
                </c:pt>
                <c:pt idx="178">
                  <c:v>101.3231</c:v>
                </c:pt>
                <c:pt idx="179">
                  <c:v>101.20650000000001</c:v>
                </c:pt>
                <c:pt idx="180">
                  <c:v>101.19929999999999</c:v>
                </c:pt>
                <c:pt idx="181">
                  <c:v>101.2351</c:v>
                </c:pt>
                <c:pt idx="182">
                  <c:v>101.2834</c:v>
                </c:pt>
                <c:pt idx="183">
                  <c:v>101.2861</c:v>
                </c:pt>
                <c:pt idx="184">
                  <c:v>101.27290000000001</c:v>
                </c:pt>
                <c:pt idx="185">
                  <c:v>101.2223</c:v>
                </c:pt>
                <c:pt idx="186">
                  <c:v>101.1837</c:v>
                </c:pt>
                <c:pt idx="187">
                  <c:v>101.13760000000001</c:v>
                </c:pt>
                <c:pt idx="188">
                  <c:v>101.14230000000001</c:v>
                </c:pt>
                <c:pt idx="189">
                  <c:v>101.163</c:v>
                </c:pt>
                <c:pt idx="190">
                  <c:v>101.2026</c:v>
                </c:pt>
                <c:pt idx="191">
                  <c:v>101.17189999999999</c:v>
                </c:pt>
                <c:pt idx="192">
                  <c:v>101.01439999999999</c:v>
                </c:pt>
                <c:pt idx="193">
                  <c:v>100.4361</c:v>
                </c:pt>
                <c:pt idx="194">
                  <c:v>99.200090000000003</c:v>
                </c:pt>
                <c:pt idx="195">
                  <c:v>97.949870000000004</c:v>
                </c:pt>
                <c:pt idx="196">
                  <c:v>97.836129999999997</c:v>
                </c:pt>
                <c:pt idx="197">
                  <c:v>98.411749999999998</c:v>
                </c:pt>
                <c:pt idx="198">
                  <c:v>98.891210000000001</c:v>
                </c:pt>
                <c:pt idx="199">
                  <c:v>99.1571</c:v>
                </c:pt>
                <c:pt idx="200">
                  <c:v>99.226100000000002</c:v>
                </c:pt>
                <c:pt idx="201">
                  <c:v>99.092160000000007</c:v>
                </c:pt>
                <c:pt idx="202">
                  <c:v>99.012209999999996</c:v>
                </c:pt>
                <c:pt idx="203">
                  <c:v>99.203580000000002</c:v>
                </c:pt>
                <c:pt idx="204">
                  <c:v>99.351119999999995</c:v>
                </c:pt>
                <c:pt idx="205">
                  <c:v>99.643379999999993</c:v>
                </c:pt>
                <c:pt idx="206">
                  <c:v>100.1613</c:v>
                </c:pt>
                <c:pt idx="207">
                  <c:v>100.7497</c:v>
                </c:pt>
                <c:pt idx="208">
                  <c:v>101.4539</c:v>
                </c:pt>
                <c:pt idx="209">
                  <c:v>101.9588</c:v>
                </c:pt>
                <c:pt idx="210">
                  <c:v>102.0303</c:v>
                </c:pt>
                <c:pt idx="211">
                  <c:v>101.9106</c:v>
                </c:pt>
                <c:pt idx="212">
                  <c:v>101.783</c:v>
                </c:pt>
                <c:pt idx="213">
                  <c:v>101.48220000000001</c:v>
                </c:pt>
                <c:pt idx="214">
                  <c:v>101.05840000000001</c:v>
                </c:pt>
                <c:pt idx="215">
                  <c:v>100.6694</c:v>
                </c:pt>
                <c:pt idx="216">
                  <c:v>100.2127</c:v>
                </c:pt>
                <c:pt idx="217">
                  <c:v>99.38749</c:v>
                </c:pt>
                <c:pt idx="218">
                  <c:v>98.096919999999997</c:v>
                </c:pt>
                <c:pt idx="219">
                  <c:v>97.272989999999993</c:v>
                </c:pt>
                <c:pt idx="220">
                  <c:v>96.812139999999999</c:v>
                </c:pt>
                <c:pt idx="221">
                  <c:v>96.344480000000004</c:v>
                </c:pt>
                <c:pt idx="222">
                  <c:v>95.912970000000001</c:v>
                </c:pt>
                <c:pt idx="223">
                  <c:v>95.704499999999996</c:v>
                </c:pt>
                <c:pt idx="224">
                  <c:v>95.553979999999996</c:v>
                </c:pt>
                <c:pt idx="225">
                  <c:v>95.78022</c:v>
                </c:pt>
                <c:pt idx="226">
                  <c:v>96.327129999999997</c:v>
                </c:pt>
                <c:pt idx="227">
                  <c:v>96.892110000000002</c:v>
                </c:pt>
                <c:pt idx="228">
                  <c:v>97.361140000000006</c:v>
                </c:pt>
                <c:pt idx="229">
                  <c:v>97.734830000000002</c:v>
                </c:pt>
                <c:pt idx="230">
                  <c:v>98.014020000000002</c:v>
                </c:pt>
                <c:pt idx="231">
                  <c:v>98.289720000000003</c:v>
                </c:pt>
                <c:pt idx="232">
                  <c:v>98.491320000000002</c:v>
                </c:pt>
                <c:pt idx="233">
                  <c:v>98.656360000000006</c:v>
                </c:pt>
                <c:pt idx="234">
                  <c:v>98.701719999999995</c:v>
                </c:pt>
                <c:pt idx="235">
                  <c:v>98.558570000000003</c:v>
                </c:pt>
                <c:pt idx="236">
                  <c:v>98.345299999999995</c:v>
                </c:pt>
                <c:pt idx="237">
                  <c:v>98.292400000000001</c:v>
                </c:pt>
                <c:pt idx="238">
                  <c:v>98.437460000000002</c:v>
                </c:pt>
                <c:pt idx="239">
                  <c:v>98.650829999999999</c:v>
                </c:pt>
                <c:pt idx="240">
                  <c:v>98.763279999999995</c:v>
                </c:pt>
                <c:pt idx="241">
                  <c:v>98.870919999999998</c:v>
                </c:pt>
                <c:pt idx="242">
                  <c:v>99.004589999999993</c:v>
                </c:pt>
                <c:pt idx="243">
                  <c:v>99.131249999999994</c:v>
                </c:pt>
                <c:pt idx="244">
                  <c:v>99.238590000000002</c:v>
                </c:pt>
                <c:pt idx="245">
                  <c:v>99.344729999999998</c:v>
                </c:pt>
                <c:pt idx="246">
                  <c:v>99.44547</c:v>
                </c:pt>
                <c:pt idx="247">
                  <c:v>99.48997</c:v>
                </c:pt>
                <c:pt idx="248">
                  <c:v>99.525459999999995</c:v>
                </c:pt>
                <c:pt idx="249">
                  <c:v>99.516440000000003</c:v>
                </c:pt>
                <c:pt idx="250">
                  <c:v>99.418229999999994</c:v>
                </c:pt>
                <c:pt idx="251">
                  <c:v>99.322410000000005</c:v>
                </c:pt>
                <c:pt idx="252">
                  <c:v>99.25497</c:v>
                </c:pt>
                <c:pt idx="253">
                  <c:v>99.163020000000003</c:v>
                </c:pt>
                <c:pt idx="254">
                  <c:v>99.009510000000006</c:v>
                </c:pt>
                <c:pt idx="255">
                  <c:v>98.865139999999997</c:v>
                </c:pt>
                <c:pt idx="256">
                  <c:v>98.870999999999995</c:v>
                </c:pt>
                <c:pt idx="257">
                  <c:v>98.891859999999994</c:v>
                </c:pt>
                <c:pt idx="258">
                  <c:v>98.919529999999995</c:v>
                </c:pt>
                <c:pt idx="259">
                  <c:v>98.942830000000001</c:v>
                </c:pt>
                <c:pt idx="260">
                  <c:v>99.029120000000006</c:v>
                </c:pt>
                <c:pt idx="261">
                  <c:v>99.137280000000004</c:v>
                </c:pt>
                <c:pt idx="262">
                  <c:v>99.195070000000001</c:v>
                </c:pt>
                <c:pt idx="263">
                  <c:v>99.209230000000005</c:v>
                </c:pt>
                <c:pt idx="264">
                  <c:v>99.153109999999998</c:v>
                </c:pt>
                <c:pt idx="265">
                  <c:v>98.843429999999998</c:v>
                </c:pt>
                <c:pt idx="266">
                  <c:v>98.214590000000001</c:v>
                </c:pt>
                <c:pt idx="267">
                  <c:v>97.655649999999994</c:v>
                </c:pt>
                <c:pt idx="268">
                  <c:v>97.575289999999995</c:v>
                </c:pt>
                <c:pt idx="269">
                  <c:v>97.815129999999996</c:v>
                </c:pt>
                <c:pt idx="270">
                  <c:v>98.166470000000004</c:v>
                </c:pt>
                <c:pt idx="271">
                  <c:v>98.485150000000004</c:v>
                </c:pt>
              </c:numCache>
            </c:numRef>
          </c:val>
          <c:smooth val="0"/>
          <c:extLst>
            <c:ext xmlns:c16="http://schemas.microsoft.com/office/drawing/2014/chart" uri="{C3380CC4-5D6E-409C-BE32-E72D297353CC}">
              <c16:uniqueId val="{00000001-7E5B-4A7D-BBA4-D4DB22A51F78}"/>
            </c:ext>
          </c:extLst>
        </c:ser>
        <c:ser>
          <c:idx val="2"/>
          <c:order val="2"/>
          <c:tx>
            <c:strRef>
              <c:f>Sheet1!$D$1</c:f>
              <c:strCache>
                <c:ptCount val="1"/>
                <c:pt idx="0">
                  <c:v>United Kingdom</c:v>
                </c:pt>
              </c:strCache>
            </c:strRef>
          </c:tx>
          <c:spPr>
            <a:ln w="19050">
              <a:solidFill>
                <a:srgbClr val="8C8C8C"/>
              </a:solidFill>
              <a:prstDash val="dash"/>
            </a:ln>
          </c:spPr>
          <c:marker>
            <c:symbol val="none"/>
          </c:marker>
          <c:cat>
            <c:strRef>
              <c:f>Sheet1!$A$2:$A$274</c:f>
              <c:strCache>
                <c:ptCount val="273"/>
                <c:pt idx="0">
                  <c:v>2004</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2006</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2008</c:v>
                </c:pt>
                <c:pt idx="49">
                  <c:v> </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2010</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2012</c:v>
                </c:pt>
                <c:pt idx="97">
                  <c:v> </c:v>
                </c:pt>
                <c:pt idx="98">
                  <c:v> </c:v>
                </c:pt>
                <c:pt idx="99">
                  <c:v> </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2014</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2016</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2018</c:v>
                </c:pt>
                <c:pt idx="169">
                  <c:v> </c:v>
                </c:pt>
                <c:pt idx="170">
                  <c:v> </c:v>
                </c:pt>
                <c:pt idx="171">
                  <c:v> </c:v>
                </c:pt>
                <c:pt idx="172">
                  <c:v> </c:v>
                </c:pt>
                <c:pt idx="173">
                  <c:v> </c:v>
                </c:pt>
                <c:pt idx="174">
                  <c:v> </c:v>
                </c:pt>
                <c:pt idx="175">
                  <c:v> </c:v>
                </c:pt>
                <c:pt idx="176">
                  <c:v> </c:v>
                </c:pt>
                <c:pt idx="177">
                  <c:v> </c:v>
                </c:pt>
                <c:pt idx="178">
                  <c:v> </c:v>
                </c:pt>
                <c:pt idx="179">
                  <c:v> </c:v>
                </c:pt>
                <c:pt idx="180">
                  <c:v> </c:v>
                </c:pt>
                <c:pt idx="181">
                  <c:v> </c:v>
                </c:pt>
                <c:pt idx="182">
                  <c:v> </c:v>
                </c:pt>
                <c:pt idx="183">
                  <c:v> </c:v>
                </c:pt>
                <c:pt idx="184">
                  <c:v> </c:v>
                </c:pt>
                <c:pt idx="185">
                  <c:v> </c:v>
                </c:pt>
                <c:pt idx="186">
                  <c:v> </c:v>
                </c:pt>
                <c:pt idx="187">
                  <c:v> </c:v>
                </c:pt>
                <c:pt idx="188">
                  <c:v> </c:v>
                </c:pt>
                <c:pt idx="189">
                  <c:v> </c:v>
                </c:pt>
                <c:pt idx="190">
                  <c:v> </c:v>
                </c:pt>
                <c:pt idx="191">
                  <c:v> </c:v>
                </c:pt>
                <c:pt idx="192">
                  <c:v>2020</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2022</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2024</c:v>
                </c:pt>
                <c:pt idx="241">
                  <c:v> </c:v>
                </c:pt>
                <c:pt idx="242">
                  <c:v> </c:v>
                </c:pt>
                <c:pt idx="243">
                  <c:v> </c:v>
                </c:pt>
                <c:pt idx="244">
                  <c:v> </c:v>
                </c:pt>
                <c:pt idx="245">
                  <c:v> </c:v>
                </c:pt>
                <c:pt idx="246">
                  <c:v> </c:v>
                </c:pt>
                <c:pt idx="247">
                  <c:v> </c:v>
                </c:pt>
                <c:pt idx="248">
                  <c:v> </c:v>
                </c:pt>
                <c:pt idx="249">
                  <c:v> </c:v>
                </c:pt>
                <c:pt idx="250">
                  <c:v> </c:v>
                </c:pt>
                <c:pt idx="251">
                  <c:v> </c:v>
                </c:pt>
                <c:pt idx="252">
                  <c:v> </c:v>
                </c:pt>
                <c:pt idx="253">
                  <c:v> </c:v>
                </c:pt>
                <c:pt idx="254">
                  <c:v> </c:v>
                </c:pt>
                <c:pt idx="255">
                  <c:v> </c:v>
                </c:pt>
                <c:pt idx="256">
                  <c:v> </c:v>
                </c:pt>
                <c:pt idx="257">
                  <c:v> </c:v>
                </c:pt>
                <c:pt idx="258">
                  <c:v> </c:v>
                </c:pt>
                <c:pt idx="259">
                  <c:v> </c:v>
                </c:pt>
                <c:pt idx="260">
                  <c:v> </c:v>
                </c:pt>
                <c:pt idx="261">
                  <c:v> </c:v>
                </c:pt>
                <c:pt idx="262">
                  <c:v> </c:v>
                </c:pt>
                <c:pt idx="263">
                  <c:v> </c:v>
                </c:pt>
                <c:pt idx="264">
                  <c:v>2026</c:v>
                </c:pt>
                <c:pt idx="265">
                  <c:v> </c:v>
                </c:pt>
                <c:pt idx="266">
                  <c:v> </c:v>
                </c:pt>
                <c:pt idx="267">
                  <c:v> </c:v>
                </c:pt>
                <c:pt idx="268">
                  <c:v> </c:v>
                </c:pt>
                <c:pt idx="269">
                  <c:v> </c:v>
                </c:pt>
                <c:pt idx="270">
                  <c:v> </c:v>
                </c:pt>
                <c:pt idx="271">
                  <c:v> </c:v>
                </c:pt>
                <c:pt idx="272">
                  <c:v> </c:v>
                </c:pt>
              </c:strCache>
            </c:strRef>
          </c:cat>
          <c:val>
            <c:numRef>
              <c:f>Sheet1!$D$2:$D$274</c:f>
              <c:numCache>
                <c:formatCode>General</c:formatCode>
                <c:ptCount val="273"/>
                <c:pt idx="0">
                  <c:v>101.3171</c:v>
                </c:pt>
                <c:pt idx="1">
                  <c:v>101.3755</c:v>
                </c:pt>
                <c:pt idx="2">
                  <c:v>101.4174</c:v>
                </c:pt>
                <c:pt idx="3">
                  <c:v>101.28189999999999</c:v>
                </c:pt>
                <c:pt idx="4">
                  <c:v>101.06100000000001</c:v>
                </c:pt>
                <c:pt idx="5">
                  <c:v>100.9117</c:v>
                </c:pt>
                <c:pt idx="6">
                  <c:v>100.8792</c:v>
                </c:pt>
                <c:pt idx="7">
                  <c:v>100.8721</c:v>
                </c:pt>
                <c:pt idx="8">
                  <c:v>100.91889999999999</c:v>
                </c:pt>
                <c:pt idx="9">
                  <c:v>101.1003</c:v>
                </c:pt>
                <c:pt idx="10">
                  <c:v>101.3035</c:v>
                </c:pt>
                <c:pt idx="11">
                  <c:v>101.4141</c:v>
                </c:pt>
                <c:pt idx="12">
                  <c:v>101.535</c:v>
                </c:pt>
                <c:pt idx="13">
                  <c:v>101.6769</c:v>
                </c:pt>
                <c:pt idx="14">
                  <c:v>101.7373</c:v>
                </c:pt>
                <c:pt idx="15">
                  <c:v>101.63160000000001</c:v>
                </c:pt>
                <c:pt idx="16">
                  <c:v>101.4568</c:v>
                </c:pt>
                <c:pt idx="17">
                  <c:v>101.34820000000001</c:v>
                </c:pt>
                <c:pt idx="18">
                  <c:v>101.3563</c:v>
                </c:pt>
                <c:pt idx="19">
                  <c:v>101.3312</c:v>
                </c:pt>
                <c:pt idx="20">
                  <c:v>101.21339999999999</c:v>
                </c:pt>
                <c:pt idx="21">
                  <c:v>101.0333</c:v>
                </c:pt>
                <c:pt idx="22">
                  <c:v>100.90560000000001</c:v>
                </c:pt>
                <c:pt idx="23">
                  <c:v>100.8856</c:v>
                </c:pt>
                <c:pt idx="24">
                  <c:v>100.9975</c:v>
                </c:pt>
                <c:pt idx="25">
                  <c:v>101.05589999999999</c:v>
                </c:pt>
                <c:pt idx="26">
                  <c:v>101.0012</c:v>
                </c:pt>
                <c:pt idx="27">
                  <c:v>101.0398</c:v>
                </c:pt>
                <c:pt idx="28">
                  <c:v>101.0029</c:v>
                </c:pt>
                <c:pt idx="29">
                  <c:v>100.95440000000001</c:v>
                </c:pt>
                <c:pt idx="30">
                  <c:v>100.87990000000001</c:v>
                </c:pt>
                <c:pt idx="31">
                  <c:v>100.88379999999999</c:v>
                </c:pt>
                <c:pt idx="32">
                  <c:v>100.99079999999999</c:v>
                </c:pt>
                <c:pt idx="33">
                  <c:v>101.14190000000001</c:v>
                </c:pt>
                <c:pt idx="34">
                  <c:v>101.0625</c:v>
                </c:pt>
                <c:pt idx="35">
                  <c:v>100.8571</c:v>
                </c:pt>
                <c:pt idx="36">
                  <c:v>100.6164</c:v>
                </c:pt>
                <c:pt idx="37">
                  <c:v>100.598</c:v>
                </c:pt>
                <c:pt idx="38">
                  <c:v>100.7208</c:v>
                </c:pt>
                <c:pt idx="39">
                  <c:v>100.9569</c:v>
                </c:pt>
                <c:pt idx="40">
                  <c:v>101.2332</c:v>
                </c:pt>
                <c:pt idx="41">
                  <c:v>101.32</c:v>
                </c:pt>
                <c:pt idx="42">
                  <c:v>101.3248</c:v>
                </c:pt>
                <c:pt idx="43">
                  <c:v>101.35760000000001</c:v>
                </c:pt>
                <c:pt idx="44">
                  <c:v>101.32640000000001</c:v>
                </c:pt>
                <c:pt idx="45">
                  <c:v>101.2034</c:v>
                </c:pt>
                <c:pt idx="46">
                  <c:v>100.93170000000001</c:v>
                </c:pt>
                <c:pt idx="47">
                  <c:v>100.6725</c:v>
                </c:pt>
                <c:pt idx="48">
                  <c:v>100.3807</c:v>
                </c:pt>
                <c:pt idx="49">
                  <c:v>99.939959999999999</c:v>
                </c:pt>
                <c:pt idx="50">
                  <c:v>99.305120000000002</c:v>
                </c:pt>
                <c:pt idx="51">
                  <c:v>98.396370000000005</c:v>
                </c:pt>
                <c:pt idx="52">
                  <c:v>97.460440000000006</c:v>
                </c:pt>
                <c:pt idx="53">
                  <c:v>96.587360000000004</c:v>
                </c:pt>
                <c:pt idx="54">
                  <c:v>96.024889999999999</c:v>
                </c:pt>
                <c:pt idx="55">
                  <c:v>96.032430000000005</c:v>
                </c:pt>
                <c:pt idx="56">
                  <c:v>96.200530000000001</c:v>
                </c:pt>
                <c:pt idx="57">
                  <c:v>96.238849999999999</c:v>
                </c:pt>
                <c:pt idx="58">
                  <c:v>96.156030000000001</c:v>
                </c:pt>
                <c:pt idx="59">
                  <c:v>95.898309999999995</c:v>
                </c:pt>
                <c:pt idx="60">
                  <c:v>95.631110000000007</c:v>
                </c:pt>
                <c:pt idx="61">
                  <c:v>95.84769</c:v>
                </c:pt>
                <c:pt idx="62">
                  <c:v>96.443039999999996</c:v>
                </c:pt>
                <c:pt idx="63">
                  <c:v>97.094030000000004</c:v>
                </c:pt>
                <c:pt idx="64">
                  <c:v>97.608590000000007</c:v>
                </c:pt>
                <c:pt idx="65">
                  <c:v>98.119900000000001</c:v>
                </c:pt>
                <c:pt idx="66">
                  <c:v>98.571929999999995</c:v>
                </c:pt>
                <c:pt idx="67">
                  <c:v>99.053200000000004</c:v>
                </c:pt>
                <c:pt idx="68">
                  <c:v>99.717709999999997</c:v>
                </c:pt>
                <c:pt idx="69">
                  <c:v>100.1296</c:v>
                </c:pt>
                <c:pt idx="70">
                  <c:v>100.26430000000001</c:v>
                </c:pt>
                <c:pt idx="71">
                  <c:v>100.29519999999999</c:v>
                </c:pt>
                <c:pt idx="72">
                  <c:v>100.4592</c:v>
                </c:pt>
                <c:pt idx="73">
                  <c:v>100.57859999999999</c:v>
                </c:pt>
                <c:pt idx="74">
                  <c:v>100.49290000000001</c:v>
                </c:pt>
                <c:pt idx="75">
                  <c:v>100.23860000000001</c:v>
                </c:pt>
                <c:pt idx="76">
                  <c:v>99.885859999999994</c:v>
                </c:pt>
                <c:pt idx="77">
                  <c:v>99.56908</c:v>
                </c:pt>
                <c:pt idx="78">
                  <c:v>99.292900000000003</c:v>
                </c:pt>
                <c:pt idx="79">
                  <c:v>99.099689999999995</c:v>
                </c:pt>
                <c:pt idx="80">
                  <c:v>98.749179999999996</c:v>
                </c:pt>
                <c:pt idx="81">
                  <c:v>98.433750000000003</c:v>
                </c:pt>
                <c:pt idx="82">
                  <c:v>98.134510000000006</c:v>
                </c:pt>
                <c:pt idx="83">
                  <c:v>97.837350000000001</c:v>
                </c:pt>
                <c:pt idx="84">
                  <c:v>97.434430000000006</c:v>
                </c:pt>
                <c:pt idx="85">
                  <c:v>97.195359999999994</c:v>
                </c:pt>
                <c:pt idx="86">
                  <c:v>97.051450000000003</c:v>
                </c:pt>
                <c:pt idx="87">
                  <c:v>97.083449999999999</c:v>
                </c:pt>
                <c:pt idx="88">
                  <c:v>97.441599999999994</c:v>
                </c:pt>
                <c:pt idx="89">
                  <c:v>97.46857</c:v>
                </c:pt>
                <c:pt idx="90">
                  <c:v>97.180750000000003</c:v>
                </c:pt>
                <c:pt idx="91">
                  <c:v>96.744169999999997</c:v>
                </c:pt>
                <c:pt idx="92">
                  <c:v>96.364549999999994</c:v>
                </c:pt>
                <c:pt idx="93">
                  <c:v>96.127269999999996</c:v>
                </c:pt>
                <c:pt idx="94">
                  <c:v>96.153279999999995</c:v>
                </c:pt>
                <c:pt idx="95">
                  <c:v>96.339250000000007</c:v>
                </c:pt>
                <c:pt idx="96">
                  <c:v>96.629750000000001</c:v>
                </c:pt>
                <c:pt idx="97">
                  <c:v>96.707099999999997</c:v>
                </c:pt>
                <c:pt idx="98">
                  <c:v>96.570880000000002</c:v>
                </c:pt>
                <c:pt idx="99">
                  <c:v>96.435699999999997</c:v>
                </c:pt>
                <c:pt idx="100">
                  <c:v>96.444850000000002</c:v>
                </c:pt>
                <c:pt idx="101">
                  <c:v>96.6066</c:v>
                </c:pt>
                <c:pt idx="102">
                  <c:v>96.859660000000005</c:v>
                </c:pt>
                <c:pt idx="103">
                  <c:v>96.961070000000007</c:v>
                </c:pt>
                <c:pt idx="104">
                  <c:v>96.929280000000006</c:v>
                </c:pt>
                <c:pt idx="105">
                  <c:v>97.017210000000006</c:v>
                </c:pt>
                <c:pt idx="106">
                  <c:v>97.321510000000004</c:v>
                </c:pt>
                <c:pt idx="107">
                  <c:v>97.396330000000006</c:v>
                </c:pt>
                <c:pt idx="108">
                  <c:v>97.39076</c:v>
                </c:pt>
                <c:pt idx="109">
                  <c:v>97.352620000000002</c:v>
                </c:pt>
                <c:pt idx="110">
                  <c:v>97.457700000000003</c:v>
                </c:pt>
                <c:pt idx="111">
                  <c:v>97.65016</c:v>
                </c:pt>
                <c:pt idx="112">
                  <c:v>97.984970000000004</c:v>
                </c:pt>
                <c:pt idx="113">
                  <c:v>98.534829999999999</c:v>
                </c:pt>
                <c:pt idx="114">
                  <c:v>99.303939999999997</c:v>
                </c:pt>
                <c:pt idx="115">
                  <c:v>99.802480000000003</c:v>
                </c:pt>
                <c:pt idx="116">
                  <c:v>99.992679999999993</c:v>
                </c:pt>
                <c:pt idx="117">
                  <c:v>99.964340000000007</c:v>
                </c:pt>
                <c:pt idx="118">
                  <c:v>99.943439999999995</c:v>
                </c:pt>
                <c:pt idx="119">
                  <c:v>100.1962</c:v>
                </c:pt>
                <c:pt idx="120">
                  <c:v>100.6524</c:v>
                </c:pt>
                <c:pt idx="121">
                  <c:v>101.0003</c:v>
                </c:pt>
                <c:pt idx="122">
                  <c:v>101.3245</c:v>
                </c:pt>
                <c:pt idx="123">
                  <c:v>101.584</c:v>
                </c:pt>
                <c:pt idx="124">
                  <c:v>101.7354</c:v>
                </c:pt>
                <c:pt idx="125">
                  <c:v>101.8212</c:v>
                </c:pt>
                <c:pt idx="126">
                  <c:v>101.819</c:v>
                </c:pt>
                <c:pt idx="127">
                  <c:v>101.8035</c:v>
                </c:pt>
                <c:pt idx="128">
                  <c:v>101.6511</c:v>
                </c:pt>
                <c:pt idx="129">
                  <c:v>101.577</c:v>
                </c:pt>
                <c:pt idx="130">
                  <c:v>101.5419</c:v>
                </c:pt>
                <c:pt idx="131">
                  <c:v>101.6742</c:v>
                </c:pt>
                <c:pt idx="132">
                  <c:v>101.9572</c:v>
                </c:pt>
                <c:pt idx="133">
                  <c:v>102.2209</c:v>
                </c:pt>
                <c:pt idx="134">
                  <c:v>102.4058</c:v>
                </c:pt>
                <c:pt idx="135">
                  <c:v>102.3991</c:v>
                </c:pt>
                <c:pt idx="136">
                  <c:v>102.2719</c:v>
                </c:pt>
                <c:pt idx="137">
                  <c:v>102.41030000000001</c:v>
                </c:pt>
                <c:pt idx="138">
                  <c:v>102.49930000000001</c:v>
                </c:pt>
                <c:pt idx="139">
                  <c:v>102.47790000000001</c:v>
                </c:pt>
                <c:pt idx="140">
                  <c:v>102.40089999999999</c:v>
                </c:pt>
                <c:pt idx="141">
                  <c:v>102.38500000000001</c:v>
                </c:pt>
                <c:pt idx="142">
                  <c:v>102.4379</c:v>
                </c:pt>
                <c:pt idx="143">
                  <c:v>102.623</c:v>
                </c:pt>
                <c:pt idx="144">
                  <c:v>102.6335</c:v>
                </c:pt>
                <c:pt idx="145">
                  <c:v>102.4528</c:v>
                </c:pt>
                <c:pt idx="146">
                  <c:v>102.2441</c:v>
                </c:pt>
                <c:pt idx="147">
                  <c:v>102.0346</c:v>
                </c:pt>
                <c:pt idx="148">
                  <c:v>101.7993</c:v>
                </c:pt>
                <c:pt idx="149">
                  <c:v>101.39749999999999</c:v>
                </c:pt>
                <c:pt idx="150">
                  <c:v>100.85760000000001</c:v>
                </c:pt>
                <c:pt idx="151">
                  <c:v>100.85339999999999</c:v>
                </c:pt>
                <c:pt idx="152">
                  <c:v>101.20569999999999</c:v>
                </c:pt>
                <c:pt idx="153">
                  <c:v>101.3587</c:v>
                </c:pt>
                <c:pt idx="154">
                  <c:v>101.2709</c:v>
                </c:pt>
                <c:pt idx="155">
                  <c:v>101.1871</c:v>
                </c:pt>
                <c:pt idx="156">
                  <c:v>101.0804</c:v>
                </c:pt>
                <c:pt idx="157">
                  <c:v>100.98399999999999</c:v>
                </c:pt>
                <c:pt idx="158">
                  <c:v>100.9495</c:v>
                </c:pt>
                <c:pt idx="159">
                  <c:v>100.91889999999999</c:v>
                </c:pt>
                <c:pt idx="160">
                  <c:v>100.83369999999999</c:v>
                </c:pt>
                <c:pt idx="161">
                  <c:v>100.66630000000001</c:v>
                </c:pt>
                <c:pt idx="162">
                  <c:v>100.6035</c:v>
                </c:pt>
                <c:pt idx="163">
                  <c:v>100.54349999999999</c:v>
                </c:pt>
                <c:pt idx="164">
                  <c:v>100.5314</c:v>
                </c:pt>
                <c:pt idx="165">
                  <c:v>100.5706</c:v>
                </c:pt>
                <c:pt idx="166">
                  <c:v>100.5852</c:v>
                </c:pt>
                <c:pt idx="167">
                  <c:v>100.60429999999999</c:v>
                </c:pt>
                <c:pt idx="168">
                  <c:v>100.6734</c:v>
                </c:pt>
                <c:pt idx="169">
                  <c:v>100.7847</c:v>
                </c:pt>
                <c:pt idx="170">
                  <c:v>100.88339999999999</c:v>
                </c:pt>
                <c:pt idx="171">
                  <c:v>100.93</c:v>
                </c:pt>
                <c:pt idx="172">
                  <c:v>101.0502</c:v>
                </c:pt>
                <c:pt idx="173">
                  <c:v>101.09050000000001</c:v>
                </c:pt>
                <c:pt idx="174">
                  <c:v>101.1695</c:v>
                </c:pt>
                <c:pt idx="175">
                  <c:v>101.09050000000001</c:v>
                </c:pt>
                <c:pt idx="176">
                  <c:v>100.9089</c:v>
                </c:pt>
                <c:pt idx="177">
                  <c:v>100.7127</c:v>
                </c:pt>
                <c:pt idx="178">
                  <c:v>100.4563</c:v>
                </c:pt>
                <c:pt idx="179">
                  <c:v>100.1567</c:v>
                </c:pt>
                <c:pt idx="180">
                  <c:v>99.876339999999999</c:v>
                </c:pt>
                <c:pt idx="181">
                  <c:v>99.749229999999997</c:v>
                </c:pt>
                <c:pt idx="182">
                  <c:v>99.73939</c:v>
                </c:pt>
                <c:pt idx="183">
                  <c:v>99.892189999999999</c:v>
                </c:pt>
                <c:pt idx="184">
                  <c:v>100.12050000000001</c:v>
                </c:pt>
                <c:pt idx="185">
                  <c:v>100.2009</c:v>
                </c:pt>
                <c:pt idx="186">
                  <c:v>100.2418</c:v>
                </c:pt>
                <c:pt idx="187">
                  <c:v>100.05549999999999</c:v>
                </c:pt>
                <c:pt idx="188">
                  <c:v>100.01300000000001</c:v>
                </c:pt>
                <c:pt idx="189">
                  <c:v>100.111</c:v>
                </c:pt>
                <c:pt idx="190">
                  <c:v>100.4123</c:v>
                </c:pt>
                <c:pt idx="191">
                  <c:v>100.74939999999999</c:v>
                </c:pt>
                <c:pt idx="192">
                  <c:v>100.8698</c:v>
                </c:pt>
                <c:pt idx="193">
                  <c:v>100.5222</c:v>
                </c:pt>
                <c:pt idx="194">
                  <c:v>99.485079999999996</c:v>
                </c:pt>
                <c:pt idx="195">
                  <c:v>97.988579999999999</c:v>
                </c:pt>
                <c:pt idx="196">
                  <c:v>97.254750000000001</c:v>
                </c:pt>
                <c:pt idx="197">
                  <c:v>97.389529999999993</c:v>
                </c:pt>
                <c:pt idx="198">
                  <c:v>97.867890000000003</c:v>
                </c:pt>
                <c:pt idx="199">
                  <c:v>98.070340000000002</c:v>
                </c:pt>
                <c:pt idx="200">
                  <c:v>97.89828</c:v>
                </c:pt>
                <c:pt idx="201">
                  <c:v>97.571560000000005</c:v>
                </c:pt>
                <c:pt idx="202">
                  <c:v>97.477369999999993</c:v>
                </c:pt>
                <c:pt idx="203">
                  <c:v>97.875550000000004</c:v>
                </c:pt>
                <c:pt idx="204">
                  <c:v>98.445819999999998</c:v>
                </c:pt>
                <c:pt idx="205">
                  <c:v>99.480630000000005</c:v>
                </c:pt>
                <c:pt idx="206">
                  <c:v>100.74299999999999</c:v>
                </c:pt>
                <c:pt idx="207">
                  <c:v>101.7371</c:v>
                </c:pt>
                <c:pt idx="208">
                  <c:v>102.4961</c:v>
                </c:pt>
                <c:pt idx="209">
                  <c:v>102.8373</c:v>
                </c:pt>
                <c:pt idx="210">
                  <c:v>102.78360000000001</c:v>
                </c:pt>
                <c:pt idx="211">
                  <c:v>102.2843</c:v>
                </c:pt>
                <c:pt idx="212">
                  <c:v>101.45569999999999</c:v>
                </c:pt>
                <c:pt idx="213">
                  <c:v>100.76909999999999</c:v>
                </c:pt>
                <c:pt idx="214">
                  <c:v>100.45059999999999</c:v>
                </c:pt>
                <c:pt idx="215">
                  <c:v>99.98648</c:v>
                </c:pt>
                <c:pt idx="216">
                  <c:v>99.001480000000001</c:v>
                </c:pt>
                <c:pt idx="217">
                  <c:v>97.536029999999997</c:v>
                </c:pt>
                <c:pt idx="218">
                  <c:v>96.037120000000002</c:v>
                </c:pt>
                <c:pt idx="219">
                  <c:v>94.772880000000001</c:v>
                </c:pt>
                <c:pt idx="220">
                  <c:v>94.026439999999994</c:v>
                </c:pt>
                <c:pt idx="221">
                  <c:v>93.620050000000006</c:v>
                </c:pt>
                <c:pt idx="222">
                  <c:v>93.288629999999998</c:v>
                </c:pt>
                <c:pt idx="223">
                  <c:v>92.775440000000003</c:v>
                </c:pt>
                <c:pt idx="224">
                  <c:v>92.349969999999999</c:v>
                </c:pt>
                <c:pt idx="225">
                  <c:v>92.45102</c:v>
                </c:pt>
                <c:pt idx="226">
                  <c:v>92.869299999999996</c:v>
                </c:pt>
                <c:pt idx="227">
                  <c:v>93.267830000000004</c:v>
                </c:pt>
                <c:pt idx="228">
                  <c:v>93.695830000000001</c:v>
                </c:pt>
                <c:pt idx="229">
                  <c:v>94.50094</c:v>
                </c:pt>
                <c:pt idx="230">
                  <c:v>95.404049999999998</c:v>
                </c:pt>
                <c:pt idx="231">
                  <c:v>96.434280000000001</c:v>
                </c:pt>
                <c:pt idx="232">
                  <c:v>97.274460000000005</c:v>
                </c:pt>
                <c:pt idx="233">
                  <c:v>97.722390000000004</c:v>
                </c:pt>
                <c:pt idx="234">
                  <c:v>97.720749999999995</c:v>
                </c:pt>
                <c:pt idx="235">
                  <c:v>97.903469999999999</c:v>
                </c:pt>
                <c:pt idx="236">
                  <c:v>97.9816</c:v>
                </c:pt>
                <c:pt idx="237">
                  <c:v>97.803479999999993</c:v>
                </c:pt>
                <c:pt idx="238">
                  <c:v>98.084549999999993</c:v>
                </c:pt>
                <c:pt idx="239">
                  <c:v>98.472480000000004</c:v>
                </c:pt>
                <c:pt idx="240">
                  <c:v>98.757589999999993</c:v>
                </c:pt>
                <c:pt idx="241">
                  <c:v>98.795680000000004</c:v>
                </c:pt>
                <c:pt idx="242">
                  <c:v>98.90652</c:v>
                </c:pt>
                <c:pt idx="243">
                  <c:v>99.214290000000005</c:v>
                </c:pt>
                <c:pt idx="244">
                  <c:v>99.66104</c:v>
                </c:pt>
                <c:pt idx="245">
                  <c:v>100.0718</c:v>
                </c:pt>
                <c:pt idx="246">
                  <c:v>100.2671</c:v>
                </c:pt>
                <c:pt idx="247">
                  <c:v>100.0253</c:v>
                </c:pt>
                <c:pt idx="248">
                  <c:v>99.383970000000005</c:v>
                </c:pt>
                <c:pt idx="249">
                  <c:v>99.068730000000002</c:v>
                </c:pt>
                <c:pt idx="250">
                  <c:v>99.083359999999999</c:v>
                </c:pt>
                <c:pt idx="251">
                  <c:v>99.087280000000007</c:v>
                </c:pt>
                <c:pt idx="252">
                  <c:v>98.940299999999993</c:v>
                </c:pt>
                <c:pt idx="253">
                  <c:v>98.947220000000002</c:v>
                </c:pt>
                <c:pt idx="254">
                  <c:v>98.886210000000005</c:v>
                </c:pt>
                <c:pt idx="255">
                  <c:v>98.80977</c:v>
                </c:pt>
                <c:pt idx="256">
                  <c:v>99.043620000000004</c:v>
                </c:pt>
                <c:pt idx="257">
                  <c:v>99.330920000000006</c:v>
                </c:pt>
                <c:pt idx="258">
                  <c:v>99.530619999999999</c:v>
                </c:pt>
                <c:pt idx="259">
                  <c:v>99.640940000000001</c:v>
                </c:pt>
                <c:pt idx="260">
                  <c:v>99.599559999999997</c:v>
                </c:pt>
                <c:pt idx="261">
                  <c:v>99.608429999999998</c:v>
                </c:pt>
                <c:pt idx="262">
                  <c:v>99.615780000000001</c:v>
                </c:pt>
                <c:pt idx="263">
                  <c:v>99.742260000000002</c:v>
                </c:pt>
                <c:pt idx="264">
                  <c:v>99.714359999999999</c:v>
                </c:pt>
                <c:pt idx="265">
                  <c:v>99.297129999999996</c:v>
                </c:pt>
                <c:pt idx="266">
                  <c:v>98.695040000000006</c:v>
                </c:pt>
                <c:pt idx="267">
                  <c:v>98.223410000000001</c:v>
                </c:pt>
                <c:pt idx="268">
                  <c:v>98.226929999999996</c:v>
                </c:pt>
                <c:pt idx="269">
                  <c:v>98.619050000000001</c:v>
                </c:pt>
                <c:pt idx="270">
                  <c:v>99.437820000000002</c:v>
                </c:pt>
                <c:pt idx="271">
                  <c:v>100.3916</c:v>
                </c:pt>
              </c:numCache>
            </c:numRef>
          </c:val>
          <c:smooth val="0"/>
          <c:extLst>
            <c:ext xmlns:c16="http://schemas.microsoft.com/office/drawing/2014/chart" uri="{C3380CC4-5D6E-409C-BE32-E72D297353CC}">
              <c16:uniqueId val="{00000002-7E5B-4A7D-BBA4-D4DB22A51F78}"/>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a:solidFill>
              <a:srgbClr val="000000"/>
            </a:solidFill>
          </a:ln>
        </c:spPr>
        <c:txPr>
          <a:bodyPr/>
          <a:lstStyle/>
          <a:p>
            <a:pPr>
              <a:defRPr sz="900"/>
            </a:pPr>
            <a:endParaRPr lang="en-US"/>
          </a:p>
        </c:txPr>
        <c:crossAx val="2140495176"/>
        <c:crosses val="autoZero"/>
        <c:auto val="1"/>
        <c:lblAlgn val="ctr"/>
        <c:lblOffset val="100"/>
        <c:tickLblSkip val="1"/>
        <c:tickMarkSkip val="1"/>
        <c:noMultiLvlLbl val="0"/>
      </c:catAx>
      <c:valAx>
        <c:axId val="2140495176"/>
        <c:scaling>
          <c:orientation val="minMax"/>
          <c:max val="104"/>
          <c:min val="9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crossBetween val="between"/>
        <c:majorUnit val="4"/>
      </c:valAx>
    </c:plotArea>
    <c:legend>
      <c:legendPos val="t"/>
      <c:overlay val="0"/>
      <c:txPr>
        <a:bodyPr/>
        <a:lstStyle/>
        <a:p>
          <a:pPr>
            <a:defRPr sz="1000"/>
          </a:pPr>
          <a:endParaRPr lang="en-US"/>
        </a:p>
      </c:txPr>
    </c:legend>
    <c:plotVisOnly val="1"/>
    <c:dispBlanksAs val="gap"/>
    <c:showDLblsOverMax val="0"/>
  </c:chart>
  <c:txPr>
    <a:bodyPr/>
    <a:lstStyle/>
    <a:p>
      <a:pPr>
        <a:defRPr sz="1000">
          <a:solidFill>
            <a:srgbClr val="000000"/>
          </a:solidFill>
          <a:latin typeface="Lato"/>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8.2000000000000003E-2"/>
          <c:y val="6.8376068376068397E-2"/>
          <c:w val="0.89999999999999991"/>
          <c:h val="0.79914529914529919"/>
        </c:manualLayout>
      </c:layout>
      <c:scatterChart>
        <c:scatterStyle val="lineMarker"/>
        <c:varyColors val="0"/>
        <c:ser>
          <c:idx val="0"/>
          <c:order val="0"/>
          <c:tx>
            <c:strRef>
              <c:f>Sheet1!$B$1</c:f>
              <c:strCache>
                <c:ptCount val="1"/>
                <c:pt idx="0">
                  <c:v>Private institutions</c:v>
                </c:pt>
              </c:strCache>
            </c:strRef>
          </c:tx>
          <c:spPr>
            <a:ln w="47625">
              <a:noFill/>
            </a:ln>
          </c:spPr>
          <c:marker>
            <c:symbol val="circle"/>
            <c:size val="4"/>
            <c:spPr>
              <a:solidFill>
                <a:srgbClr val="1F4FE0">
                  <a:alpha val="85000"/>
                </a:srgbClr>
              </a:solidFill>
              <a:ln>
                <a:noFill/>
              </a:ln>
            </c:spPr>
          </c:marker>
          <c:trendline>
            <c:name>Private college trendline</c:name>
            <c:spPr>
              <a:ln w="15875" cap="rnd">
                <a:solidFill>
                  <a:srgbClr val="000000"/>
                </a:solidFill>
                <a:prstDash val="solid"/>
              </a:ln>
            </c:spPr>
            <c:trendlineType val="linear"/>
            <c:dispRSqr val="0"/>
            <c:dispEq val="0"/>
          </c:trendline>
          <c:xVal>
            <c:numRef>
              <c:f>Sheet1!$A$2:$A$944</c:f>
              <c:numCache>
                <c:formatCode>General</c:formatCode>
                <c:ptCount val="943"/>
                <c:pt idx="0">
                  <c:v>4041</c:v>
                </c:pt>
                <c:pt idx="1">
                  <c:v>2508</c:v>
                </c:pt>
                <c:pt idx="2">
                  <c:v>9334</c:v>
                </c:pt>
                <c:pt idx="3">
                  <c:v>6353</c:v>
                </c:pt>
                <c:pt idx="4">
                  <c:v>9337</c:v>
                </c:pt>
                <c:pt idx="5">
                  <c:v>4665</c:v>
                </c:pt>
                <c:pt idx="6">
                  <c:v>4964</c:v>
                </c:pt>
                <c:pt idx="7">
                  <c:v>5235</c:v>
                </c:pt>
                <c:pt idx="8">
                  <c:v>5791</c:v>
                </c:pt>
                <c:pt idx="9">
                  <c:v>8387</c:v>
                </c:pt>
                <c:pt idx="10">
                  <c:v>9230</c:v>
                </c:pt>
                <c:pt idx="11">
                  <c:v>8726</c:v>
                </c:pt>
                <c:pt idx="12">
                  <c:v>7761</c:v>
                </c:pt>
                <c:pt idx="13">
                  <c:v>7646</c:v>
                </c:pt>
                <c:pt idx="14">
                  <c:v>9217</c:v>
                </c:pt>
                <c:pt idx="15">
                  <c:v>8742</c:v>
                </c:pt>
                <c:pt idx="16">
                  <c:v>25751</c:v>
                </c:pt>
                <c:pt idx="17">
                  <c:v>11117</c:v>
                </c:pt>
                <c:pt idx="18">
                  <c:v>11502</c:v>
                </c:pt>
                <c:pt idx="19">
                  <c:v>13192</c:v>
                </c:pt>
                <c:pt idx="20">
                  <c:v>4827</c:v>
                </c:pt>
                <c:pt idx="21">
                  <c:v>6425</c:v>
                </c:pt>
                <c:pt idx="22">
                  <c:v>9148</c:v>
                </c:pt>
                <c:pt idx="23">
                  <c:v>9316</c:v>
                </c:pt>
                <c:pt idx="24">
                  <c:v>7051</c:v>
                </c:pt>
                <c:pt idx="25">
                  <c:v>9026</c:v>
                </c:pt>
                <c:pt idx="26">
                  <c:v>8138</c:v>
                </c:pt>
                <c:pt idx="27">
                  <c:v>14956</c:v>
                </c:pt>
                <c:pt idx="28">
                  <c:v>21253</c:v>
                </c:pt>
                <c:pt idx="29">
                  <c:v>10627</c:v>
                </c:pt>
                <c:pt idx="30">
                  <c:v>9919</c:v>
                </c:pt>
                <c:pt idx="31">
                  <c:v>29179</c:v>
                </c:pt>
                <c:pt idx="32">
                  <c:v>12709</c:v>
                </c:pt>
                <c:pt idx="33">
                  <c:v>53517</c:v>
                </c:pt>
                <c:pt idx="34">
                  <c:v>56954</c:v>
                </c:pt>
                <c:pt idx="35">
                  <c:v>9284</c:v>
                </c:pt>
                <c:pt idx="36">
                  <c:v>21697</c:v>
                </c:pt>
                <c:pt idx="37">
                  <c:v>11458</c:v>
                </c:pt>
                <c:pt idx="38">
                  <c:v>10972</c:v>
                </c:pt>
                <c:pt idx="39">
                  <c:v>21854</c:v>
                </c:pt>
                <c:pt idx="40">
                  <c:v>20555</c:v>
                </c:pt>
                <c:pt idx="41">
                  <c:v>9788</c:v>
                </c:pt>
                <c:pt idx="42">
                  <c:v>15524</c:v>
                </c:pt>
                <c:pt idx="43">
                  <c:v>10904</c:v>
                </c:pt>
                <c:pt idx="44">
                  <c:v>12924</c:v>
                </c:pt>
                <c:pt idx="45">
                  <c:v>18250</c:v>
                </c:pt>
                <c:pt idx="46">
                  <c:v>15560</c:v>
                </c:pt>
                <c:pt idx="47">
                  <c:v>12587</c:v>
                </c:pt>
                <c:pt idx="48">
                  <c:v>20297</c:v>
                </c:pt>
                <c:pt idx="49">
                  <c:v>14135</c:v>
                </c:pt>
                <c:pt idx="50">
                  <c:v>14858</c:v>
                </c:pt>
                <c:pt idx="51">
                  <c:v>15187</c:v>
                </c:pt>
                <c:pt idx="52">
                  <c:v>13479</c:v>
                </c:pt>
                <c:pt idx="53">
                  <c:v>14271</c:v>
                </c:pt>
                <c:pt idx="54">
                  <c:v>20828</c:v>
                </c:pt>
                <c:pt idx="55">
                  <c:v>9825</c:v>
                </c:pt>
                <c:pt idx="56">
                  <c:v>33216</c:v>
                </c:pt>
                <c:pt idx="57">
                  <c:v>7092</c:v>
                </c:pt>
                <c:pt idx="58">
                  <c:v>26861</c:v>
                </c:pt>
                <c:pt idx="59">
                  <c:v>16670</c:v>
                </c:pt>
                <c:pt idx="60">
                  <c:v>49465</c:v>
                </c:pt>
                <c:pt idx="61">
                  <c:v>10958</c:v>
                </c:pt>
                <c:pt idx="62">
                  <c:v>16512</c:v>
                </c:pt>
                <c:pt idx="63">
                  <c:v>17043</c:v>
                </c:pt>
                <c:pt idx="64">
                  <c:v>13649</c:v>
                </c:pt>
                <c:pt idx="65">
                  <c:v>13335</c:v>
                </c:pt>
                <c:pt idx="66">
                  <c:v>15245</c:v>
                </c:pt>
                <c:pt idx="67">
                  <c:v>15258</c:v>
                </c:pt>
                <c:pt idx="68">
                  <c:v>13805</c:v>
                </c:pt>
                <c:pt idx="69">
                  <c:v>7099</c:v>
                </c:pt>
                <c:pt idx="70">
                  <c:v>11476</c:v>
                </c:pt>
                <c:pt idx="71">
                  <c:v>24313</c:v>
                </c:pt>
                <c:pt idx="72">
                  <c:v>13157</c:v>
                </c:pt>
                <c:pt idx="73">
                  <c:v>26500</c:v>
                </c:pt>
                <c:pt idx="74">
                  <c:v>20227</c:v>
                </c:pt>
                <c:pt idx="75">
                  <c:v>21249</c:v>
                </c:pt>
                <c:pt idx="76">
                  <c:v>29290</c:v>
                </c:pt>
                <c:pt idx="77">
                  <c:v>23238</c:v>
                </c:pt>
                <c:pt idx="78">
                  <c:v>21642</c:v>
                </c:pt>
                <c:pt idx="79">
                  <c:v>28299</c:v>
                </c:pt>
                <c:pt idx="80">
                  <c:v>18934</c:v>
                </c:pt>
                <c:pt idx="81">
                  <c:v>21269</c:v>
                </c:pt>
                <c:pt idx="82">
                  <c:v>21679</c:v>
                </c:pt>
                <c:pt idx="83">
                  <c:v>22327</c:v>
                </c:pt>
                <c:pt idx="84">
                  <c:v>20011</c:v>
                </c:pt>
                <c:pt idx="85">
                  <c:v>10964</c:v>
                </c:pt>
                <c:pt idx="86">
                  <c:v>9329</c:v>
                </c:pt>
                <c:pt idx="87">
                  <c:v>19104</c:v>
                </c:pt>
                <c:pt idx="88">
                  <c:v>30684</c:v>
                </c:pt>
                <c:pt idx="89">
                  <c:v>20925</c:v>
                </c:pt>
                <c:pt idx="90">
                  <c:v>13235</c:v>
                </c:pt>
                <c:pt idx="91">
                  <c:v>30947</c:v>
                </c:pt>
                <c:pt idx="92">
                  <c:v>5567</c:v>
                </c:pt>
                <c:pt idx="93">
                  <c:v>18328</c:v>
                </c:pt>
                <c:pt idx="94">
                  <c:v>14086</c:v>
                </c:pt>
                <c:pt idx="95">
                  <c:v>14224</c:v>
                </c:pt>
                <c:pt idx="96">
                  <c:v>15745</c:v>
                </c:pt>
                <c:pt idx="97">
                  <c:v>12030</c:v>
                </c:pt>
                <c:pt idx="98">
                  <c:v>25335</c:v>
                </c:pt>
                <c:pt idx="99">
                  <c:v>13494</c:v>
                </c:pt>
                <c:pt idx="100">
                  <c:v>26036</c:v>
                </c:pt>
                <c:pt idx="101">
                  <c:v>32265</c:v>
                </c:pt>
                <c:pt idx="102">
                  <c:v>30260</c:v>
                </c:pt>
                <c:pt idx="103">
                  <c:v>22094</c:v>
                </c:pt>
                <c:pt idx="104">
                  <c:v>5524</c:v>
                </c:pt>
                <c:pt idx="105">
                  <c:v>16315</c:v>
                </c:pt>
                <c:pt idx="106">
                  <c:v>30498</c:v>
                </c:pt>
                <c:pt idx="107">
                  <c:v>20607</c:v>
                </c:pt>
                <c:pt idx="108">
                  <c:v>12074</c:v>
                </c:pt>
                <c:pt idx="109">
                  <c:v>20896</c:v>
                </c:pt>
                <c:pt idx="110">
                  <c:v>20286</c:v>
                </c:pt>
                <c:pt idx="111">
                  <c:v>12513</c:v>
                </c:pt>
                <c:pt idx="112">
                  <c:v>25184</c:v>
                </c:pt>
                <c:pt idx="113">
                  <c:v>17800</c:v>
                </c:pt>
                <c:pt idx="114">
                  <c:v>20146</c:v>
                </c:pt>
                <c:pt idx="115">
                  <c:v>24016</c:v>
                </c:pt>
                <c:pt idx="116">
                  <c:v>20586</c:v>
                </c:pt>
                <c:pt idx="117">
                  <c:v>23151</c:v>
                </c:pt>
                <c:pt idx="118">
                  <c:v>18600</c:v>
                </c:pt>
                <c:pt idx="119">
                  <c:v>22063</c:v>
                </c:pt>
                <c:pt idx="120">
                  <c:v>16282</c:v>
                </c:pt>
                <c:pt idx="121">
                  <c:v>22075</c:v>
                </c:pt>
                <c:pt idx="122">
                  <c:v>10566</c:v>
                </c:pt>
                <c:pt idx="123">
                  <c:v>20831</c:v>
                </c:pt>
                <c:pt idx="124">
                  <c:v>19058</c:v>
                </c:pt>
                <c:pt idx="125">
                  <c:v>23283</c:v>
                </c:pt>
                <c:pt idx="126">
                  <c:v>19951</c:v>
                </c:pt>
                <c:pt idx="127">
                  <c:v>15644</c:v>
                </c:pt>
                <c:pt idx="128">
                  <c:v>15070</c:v>
                </c:pt>
                <c:pt idx="129">
                  <c:v>46080</c:v>
                </c:pt>
                <c:pt idx="130">
                  <c:v>9216</c:v>
                </c:pt>
                <c:pt idx="131">
                  <c:v>18408</c:v>
                </c:pt>
                <c:pt idx="132">
                  <c:v>23686</c:v>
                </c:pt>
                <c:pt idx="133">
                  <c:v>19849</c:v>
                </c:pt>
                <c:pt idx="134">
                  <c:v>19341</c:v>
                </c:pt>
                <c:pt idx="135">
                  <c:v>6100</c:v>
                </c:pt>
                <c:pt idx="136">
                  <c:v>12404</c:v>
                </c:pt>
                <c:pt idx="137">
                  <c:v>21311</c:v>
                </c:pt>
                <c:pt idx="138">
                  <c:v>26054</c:v>
                </c:pt>
                <c:pt idx="139">
                  <c:v>16383</c:v>
                </c:pt>
                <c:pt idx="140">
                  <c:v>29135</c:v>
                </c:pt>
                <c:pt idx="141">
                  <c:v>26972</c:v>
                </c:pt>
                <c:pt idx="142">
                  <c:v>23544</c:v>
                </c:pt>
                <c:pt idx="143">
                  <c:v>22472</c:v>
                </c:pt>
                <c:pt idx="144">
                  <c:v>26598</c:v>
                </c:pt>
                <c:pt idx="145">
                  <c:v>25263</c:v>
                </c:pt>
                <c:pt idx="146">
                  <c:v>22583</c:v>
                </c:pt>
                <c:pt idx="147">
                  <c:v>21401</c:v>
                </c:pt>
                <c:pt idx="148">
                  <c:v>24038</c:v>
                </c:pt>
                <c:pt idx="149">
                  <c:v>26569</c:v>
                </c:pt>
                <c:pt idx="150">
                  <c:v>25669</c:v>
                </c:pt>
                <c:pt idx="151">
                  <c:v>13186</c:v>
                </c:pt>
                <c:pt idx="152">
                  <c:v>22814</c:v>
                </c:pt>
                <c:pt idx="153">
                  <c:v>20894</c:v>
                </c:pt>
                <c:pt idx="154">
                  <c:v>37702</c:v>
                </c:pt>
                <c:pt idx="155">
                  <c:v>10372</c:v>
                </c:pt>
                <c:pt idx="156">
                  <c:v>19719</c:v>
                </c:pt>
                <c:pt idx="157">
                  <c:v>21063</c:v>
                </c:pt>
                <c:pt idx="158">
                  <c:v>23459</c:v>
                </c:pt>
                <c:pt idx="159">
                  <c:v>14258</c:v>
                </c:pt>
                <c:pt idx="160">
                  <c:v>15845</c:v>
                </c:pt>
                <c:pt idx="161">
                  <c:v>21677</c:v>
                </c:pt>
                <c:pt idx="162">
                  <c:v>35639</c:v>
                </c:pt>
                <c:pt idx="163">
                  <c:v>6106</c:v>
                </c:pt>
                <c:pt idx="164">
                  <c:v>21630</c:v>
                </c:pt>
                <c:pt idx="165">
                  <c:v>18086</c:v>
                </c:pt>
                <c:pt idx="166">
                  <c:v>18878</c:v>
                </c:pt>
                <c:pt idx="167">
                  <c:v>15210</c:v>
                </c:pt>
                <c:pt idx="168">
                  <c:v>20898</c:v>
                </c:pt>
                <c:pt idx="169">
                  <c:v>21741</c:v>
                </c:pt>
                <c:pt idx="170">
                  <c:v>18273</c:v>
                </c:pt>
                <c:pt idx="171">
                  <c:v>28340</c:v>
                </c:pt>
                <c:pt idx="172">
                  <c:v>20252</c:v>
                </c:pt>
                <c:pt idx="173">
                  <c:v>27426</c:v>
                </c:pt>
                <c:pt idx="174">
                  <c:v>31027</c:v>
                </c:pt>
                <c:pt idx="175">
                  <c:v>23931</c:v>
                </c:pt>
                <c:pt idx="176">
                  <c:v>22085</c:v>
                </c:pt>
                <c:pt idx="177">
                  <c:v>22960</c:v>
                </c:pt>
                <c:pt idx="178">
                  <c:v>23509</c:v>
                </c:pt>
                <c:pt idx="179">
                  <c:v>29249</c:v>
                </c:pt>
                <c:pt idx="180">
                  <c:v>22382</c:v>
                </c:pt>
                <c:pt idx="181">
                  <c:v>31872</c:v>
                </c:pt>
                <c:pt idx="182">
                  <c:v>25480</c:v>
                </c:pt>
                <c:pt idx="183">
                  <c:v>20951</c:v>
                </c:pt>
                <c:pt idx="184">
                  <c:v>27642</c:v>
                </c:pt>
                <c:pt idx="185">
                  <c:v>19616</c:v>
                </c:pt>
                <c:pt idx="186">
                  <c:v>29579</c:v>
                </c:pt>
                <c:pt idx="187">
                  <c:v>20082</c:v>
                </c:pt>
                <c:pt idx="188">
                  <c:v>12724</c:v>
                </c:pt>
                <c:pt idx="189">
                  <c:v>16641</c:v>
                </c:pt>
                <c:pt idx="190">
                  <c:v>21131</c:v>
                </c:pt>
                <c:pt idx="191">
                  <c:v>17360</c:v>
                </c:pt>
                <c:pt idx="192">
                  <c:v>12756</c:v>
                </c:pt>
                <c:pt idx="193">
                  <c:v>11404</c:v>
                </c:pt>
                <c:pt idx="194">
                  <c:v>19923</c:v>
                </c:pt>
                <c:pt idx="195">
                  <c:v>18605</c:v>
                </c:pt>
                <c:pt idx="196">
                  <c:v>16646</c:v>
                </c:pt>
                <c:pt idx="197">
                  <c:v>18277</c:v>
                </c:pt>
                <c:pt idx="198">
                  <c:v>24906</c:v>
                </c:pt>
                <c:pt idx="199">
                  <c:v>19910</c:v>
                </c:pt>
                <c:pt idx="200">
                  <c:v>29357</c:v>
                </c:pt>
                <c:pt idx="201">
                  <c:v>22051</c:v>
                </c:pt>
                <c:pt idx="202">
                  <c:v>26674</c:v>
                </c:pt>
                <c:pt idx="203">
                  <c:v>18885</c:v>
                </c:pt>
                <c:pt idx="204">
                  <c:v>21005</c:v>
                </c:pt>
                <c:pt idx="205">
                  <c:v>14107</c:v>
                </c:pt>
                <c:pt idx="206">
                  <c:v>25817</c:v>
                </c:pt>
                <c:pt idx="207">
                  <c:v>17707</c:v>
                </c:pt>
                <c:pt idx="208">
                  <c:v>27061</c:v>
                </c:pt>
                <c:pt idx="209">
                  <c:v>21751</c:v>
                </c:pt>
                <c:pt idx="210">
                  <c:v>22715</c:v>
                </c:pt>
                <c:pt idx="211">
                  <c:v>16927</c:v>
                </c:pt>
                <c:pt idx="212">
                  <c:v>19932</c:v>
                </c:pt>
                <c:pt idx="213">
                  <c:v>16334</c:v>
                </c:pt>
                <c:pt idx="214">
                  <c:v>32020</c:v>
                </c:pt>
                <c:pt idx="215">
                  <c:v>8709</c:v>
                </c:pt>
                <c:pt idx="216">
                  <c:v>20689</c:v>
                </c:pt>
                <c:pt idx="217">
                  <c:v>8470</c:v>
                </c:pt>
                <c:pt idx="218">
                  <c:v>26005</c:v>
                </c:pt>
                <c:pt idx="219">
                  <c:v>29529</c:v>
                </c:pt>
                <c:pt idx="220">
                  <c:v>12641</c:v>
                </c:pt>
                <c:pt idx="221">
                  <c:v>22371</c:v>
                </c:pt>
                <c:pt idx="222">
                  <c:v>25942</c:v>
                </c:pt>
                <c:pt idx="223">
                  <c:v>17432</c:v>
                </c:pt>
                <c:pt idx="224">
                  <c:v>21666</c:v>
                </c:pt>
                <c:pt idx="225">
                  <c:v>49430</c:v>
                </c:pt>
                <c:pt idx="226">
                  <c:v>14836</c:v>
                </c:pt>
                <c:pt idx="227">
                  <c:v>31072</c:v>
                </c:pt>
                <c:pt idx="228">
                  <c:v>19748</c:v>
                </c:pt>
                <c:pt idx="229">
                  <c:v>21983</c:v>
                </c:pt>
                <c:pt idx="230">
                  <c:v>20148</c:v>
                </c:pt>
                <c:pt idx="231">
                  <c:v>16692</c:v>
                </c:pt>
                <c:pt idx="232">
                  <c:v>26683</c:v>
                </c:pt>
                <c:pt idx="233">
                  <c:v>22344</c:v>
                </c:pt>
                <c:pt idx="234">
                  <c:v>28882</c:v>
                </c:pt>
                <c:pt idx="235">
                  <c:v>21662</c:v>
                </c:pt>
                <c:pt idx="236">
                  <c:v>25163</c:v>
                </c:pt>
                <c:pt idx="237">
                  <c:v>15676</c:v>
                </c:pt>
                <c:pt idx="238">
                  <c:v>27431</c:v>
                </c:pt>
                <c:pt idx="239">
                  <c:v>24425</c:v>
                </c:pt>
                <c:pt idx="240">
                  <c:v>31625</c:v>
                </c:pt>
                <c:pt idx="241">
                  <c:v>34649</c:v>
                </c:pt>
                <c:pt idx="242">
                  <c:v>17882</c:v>
                </c:pt>
                <c:pt idx="243">
                  <c:v>18669</c:v>
                </c:pt>
                <c:pt idx="244">
                  <c:v>21365</c:v>
                </c:pt>
                <c:pt idx="245">
                  <c:v>21649</c:v>
                </c:pt>
                <c:pt idx="246">
                  <c:v>28333</c:v>
                </c:pt>
                <c:pt idx="247">
                  <c:v>27006</c:v>
                </c:pt>
                <c:pt idx="248">
                  <c:v>19310</c:v>
                </c:pt>
                <c:pt idx="249">
                  <c:v>22227</c:v>
                </c:pt>
                <c:pt idx="250">
                  <c:v>20519</c:v>
                </c:pt>
                <c:pt idx="251">
                  <c:v>31942</c:v>
                </c:pt>
                <c:pt idx="252">
                  <c:v>17131</c:v>
                </c:pt>
                <c:pt idx="253">
                  <c:v>12287</c:v>
                </c:pt>
                <c:pt idx="254">
                  <c:v>18460</c:v>
                </c:pt>
                <c:pt idx="255">
                  <c:v>19533</c:v>
                </c:pt>
                <c:pt idx="256">
                  <c:v>25365</c:v>
                </c:pt>
                <c:pt idx="257">
                  <c:v>24034</c:v>
                </c:pt>
                <c:pt idx="258">
                  <c:v>22451</c:v>
                </c:pt>
                <c:pt idx="259">
                  <c:v>2835</c:v>
                </c:pt>
                <c:pt idx="260">
                  <c:v>18853</c:v>
                </c:pt>
                <c:pt idx="261">
                  <c:v>22034</c:v>
                </c:pt>
                <c:pt idx="262">
                  <c:v>20301</c:v>
                </c:pt>
                <c:pt idx="263">
                  <c:v>20473</c:v>
                </c:pt>
                <c:pt idx="264">
                  <c:v>23206</c:v>
                </c:pt>
                <c:pt idx="265">
                  <c:v>18504</c:v>
                </c:pt>
                <c:pt idx="266">
                  <c:v>19061</c:v>
                </c:pt>
                <c:pt idx="267">
                  <c:v>29791</c:v>
                </c:pt>
                <c:pt idx="268">
                  <c:v>19444</c:v>
                </c:pt>
                <c:pt idx="269">
                  <c:v>12595</c:v>
                </c:pt>
                <c:pt idx="270">
                  <c:v>21574</c:v>
                </c:pt>
                <c:pt idx="271">
                  <c:v>27712</c:v>
                </c:pt>
                <c:pt idx="272">
                  <c:v>26299</c:v>
                </c:pt>
                <c:pt idx="273">
                  <c:v>16577</c:v>
                </c:pt>
                <c:pt idx="274">
                  <c:v>17540</c:v>
                </c:pt>
                <c:pt idx="275">
                  <c:v>22270</c:v>
                </c:pt>
                <c:pt idx="276">
                  <c:v>27371</c:v>
                </c:pt>
                <c:pt idx="277">
                  <c:v>15464</c:v>
                </c:pt>
                <c:pt idx="278">
                  <c:v>21393</c:v>
                </c:pt>
                <c:pt idx="279">
                  <c:v>23626</c:v>
                </c:pt>
                <c:pt idx="280">
                  <c:v>24639</c:v>
                </c:pt>
                <c:pt idx="281">
                  <c:v>30587</c:v>
                </c:pt>
                <c:pt idx="282">
                  <c:v>17674</c:v>
                </c:pt>
                <c:pt idx="283">
                  <c:v>21656</c:v>
                </c:pt>
                <c:pt idx="284">
                  <c:v>24704</c:v>
                </c:pt>
                <c:pt idx="285">
                  <c:v>26672</c:v>
                </c:pt>
                <c:pt idx="286">
                  <c:v>23206</c:v>
                </c:pt>
                <c:pt idx="287">
                  <c:v>22227</c:v>
                </c:pt>
                <c:pt idx="288">
                  <c:v>20311</c:v>
                </c:pt>
                <c:pt idx="289">
                  <c:v>17649</c:v>
                </c:pt>
                <c:pt idx="290">
                  <c:v>22723</c:v>
                </c:pt>
                <c:pt idx="291">
                  <c:v>21293</c:v>
                </c:pt>
                <c:pt idx="292">
                  <c:v>23627</c:v>
                </c:pt>
                <c:pt idx="293">
                  <c:v>20251</c:v>
                </c:pt>
                <c:pt idx="294">
                  <c:v>20958</c:v>
                </c:pt>
                <c:pt idx="295">
                  <c:v>19532</c:v>
                </c:pt>
                <c:pt idx="296">
                  <c:v>20556</c:v>
                </c:pt>
                <c:pt idx="297">
                  <c:v>19481</c:v>
                </c:pt>
                <c:pt idx="298">
                  <c:v>24153</c:v>
                </c:pt>
                <c:pt idx="299">
                  <c:v>20150</c:v>
                </c:pt>
                <c:pt idx="300">
                  <c:v>16442</c:v>
                </c:pt>
                <c:pt idx="301">
                  <c:v>36483</c:v>
                </c:pt>
                <c:pt idx="302">
                  <c:v>21456</c:v>
                </c:pt>
                <c:pt idx="303">
                  <c:v>20194</c:v>
                </c:pt>
                <c:pt idx="304">
                  <c:v>20144</c:v>
                </c:pt>
                <c:pt idx="305">
                  <c:v>19581</c:v>
                </c:pt>
                <c:pt idx="306">
                  <c:v>17879</c:v>
                </c:pt>
                <c:pt idx="307">
                  <c:v>18610</c:v>
                </c:pt>
                <c:pt idx="308">
                  <c:v>25573</c:v>
                </c:pt>
                <c:pt idx="309">
                  <c:v>25021</c:v>
                </c:pt>
                <c:pt idx="310">
                  <c:v>20948</c:v>
                </c:pt>
                <c:pt idx="311">
                  <c:v>28035</c:v>
                </c:pt>
                <c:pt idx="312">
                  <c:v>22601</c:v>
                </c:pt>
                <c:pt idx="313">
                  <c:v>14601</c:v>
                </c:pt>
                <c:pt idx="314">
                  <c:v>22766</c:v>
                </c:pt>
                <c:pt idx="315">
                  <c:v>44089</c:v>
                </c:pt>
                <c:pt idx="316">
                  <c:v>19751</c:v>
                </c:pt>
                <c:pt idx="317">
                  <c:v>20599</c:v>
                </c:pt>
                <c:pt idx="318">
                  <c:v>36861</c:v>
                </c:pt>
                <c:pt idx="319">
                  <c:v>18846</c:v>
                </c:pt>
                <c:pt idx="320">
                  <c:v>21872</c:v>
                </c:pt>
                <c:pt idx="321">
                  <c:v>28354</c:v>
                </c:pt>
                <c:pt idx="322">
                  <c:v>19360</c:v>
                </c:pt>
                <c:pt idx="323">
                  <c:v>11916</c:v>
                </c:pt>
                <c:pt idx="324">
                  <c:v>15635</c:v>
                </c:pt>
                <c:pt idx="325">
                  <c:v>26337</c:v>
                </c:pt>
                <c:pt idx="326">
                  <c:v>16813</c:v>
                </c:pt>
                <c:pt idx="327">
                  <c:v>14598</c:v>
                </c:pt>
                <c:pt idx="328">
                  <c:v>25491</c:v>
                </c:pt>
                <c:pt idx="329">
                  <c:v>30525</c:v>
                </c:pt>
                <c:pt idx="330">
                  <c:v>24860</c:v>
                </c:pt>
                <c:pt idx="331">
                  <c:v>19943</c:v>
                </c:pt>
                <c:pt idx="332">
                  <c:v>22421</c:v>
                </c:pt>
                <c:pt idx="333">
                  <c:v>16626</c:v>
                </c:pt>
                <c:pt idx="334">
                  <c:v>22566</c:v>
                </c:pt>
                <c:pt idx="335">
                  <c:v>35013</c:v>
                </c:pt>
                <c:pt idx="336">
                  <c:v>26649</c:v>
                </c:pt>
                <c:pt idx="337">
                  <c:v>27686</c:v>
                </c:pt>
                <c:pt idx="338">
                  <c:v>29310</c:v>
                </c:pt>
                <c:pt idx="339">
                  <c:v>27511</c:v>
                </c:pt>
                <c:pt idx="340">
                  <c:v>22347</c:v>
                </c:pt>
                <c:pt idx="341">
                  <c:v>18499</c:v>
                </c:pt>
                <c:pt idx="342">
                  <c:v>992</c:v>
                </c:pt>
                <c:pt idx="343">
                  <c:v>25907</c:v>
                </c:pt>
                <c:pt idx="344">
                  <c:v>32917</c:v>
                </c:pt>
                <c:pt idx="345">
                  <c:v>20406</c:v>
                </c:pt>
                <c:pt idx="346">
                  <c:v>22213</c:v>
                </c:pt>
                <c:pt idx="347">
                  <c:v>25890</c:v>
                </c:pt>
                <c:pt idx="348">
                  <c:v>23589</c:v>
                </c:pt>
                <c:pt idx="349">
                  <c:v>19676</c:v>
                </c:pt>
                <c:pt idx="350">
                  <c:v>36708</c:v>
                </c:pt>
                <c:pt idx="351">
                  <c:v>27807</c:v>
                </c:pt>
                <c:pt idx="352">
                  <c:v>23624</c:v>
                </c:pt>
                <c:pt idx="353">
                  <c:v>20359</c:v>
                </c:pt>
                <c:pt idx="354">
                  <c:v>26265</c:v>
                </c:pt>
                <c:pt idx="355">
                  <c:v>26728</c:v>
                </c:pt>
                <c:pt idx="356">
                  <c:v>29500</c:v>
                </c:pt>
                <c:pt idx="357">
                  <c:v>20961</c:v>
                </c:pt>
                <c:pt idx="358">
                  <c:v>12148</c:v>
                </c:pt>
                <c:pt idx="359">
                  <c:v>27705</c:v>
                </c:pt>
                <c:pt idx="360">
                  <c:v>24714</c:v>
                </c:pt>
                <c:pt idx="361">
                  <c:v>27047</c:v>
                </c:pt>
                <c:pt idx="362">
                  <c:v>21807</c:v>
                </c:pt>
                <c:pt idx="363">
                  <c:v>22662</c:v>
                </c:pt>
                <c:pt idx="364">
                  <c:v>20786</c:v>
                </c:pt>
                <c:pt idx="365">
                  <c:v>17133</c:v>
                </c:pt>
                <c:pt idx="366">
                  <c:v>22671</c:v>
                </c:pt>
                <c:pt idx="367">
                  <c:v>19693</c:v>
                </c:pt>
                <c:pt idx="368">
                  <c:v>31152</c:v>
                </c:pt>
                <c:pt idx="369">
                  <c:v>23386</c:v>
                </c:pt>
                <c:pt idx="370">
                  <c:v>21989</c:v>
                </c:pt>
                <c:pt idx="371">
                  <c:v>24452</c:v>
                </c:pt>
                <c:pt idx="372">
                  <c:v>20449</c:v>
                </c:pt>
                <c:pt idx="373">
                  <c:v>18805</c:v>
                </c:pt>
                <c:pt idx="374">
                  <c:v>16530</c:v>
                </c:pt>
                <c:pt idx="375">
                  <c:v>22925</c:v>
                </c:pt>
                <c:pt idx="376">
                  <c:v>22488</c:v>
                </c:pt>
                <c:pt idx="377">
                  <c:v>17545</c:v>
                </c:pt>
                <c:pt idx="378">
                  <c:v>19076</c:v>
                </c:pt>
                <c:pt idx="379">
                  <c:v>45597</c:v>
                </c:pt>
                <c:pt idx="380">
                  <c:v>18083</c:v>
                </c:pt>
                <c:pt idx="381">
                  <c:v>32839</c:v>
                </c:pt>
                <c:pt idx="382">
                  <c:v>17349</c:v>
                </c:pt>
                <c:pt idx="383">
                  <c:v>19372</c:v>
                </c:pt>
                <c:pt idx="384">
                  <c:v>26662</c:v>
                </c:pt>
                <c:pt idx="385">
                  <c:v>22409</c:v>
                </c:pt>
                <c:pt idx="386">
                  <c:v>13113</c:v>
                </c:pt>
                <c:pt idx="387">
                  <c:v>29580</c:v>
                </c:pt>
                <c:pt idx="388">
                  <c:v>25203</c:v>
                </c:pt>
                <c:pt idx="389">
                  <c:v>19353</c:v>
                </c:pt>
                <c:pt idx="390">
                  <c:v>20875</c:v>
                </c:pt>
                <c:pt idx="391">
                  <c:v>20079</c:v>
                </c:pt>
                <c:pt idx="392">
                  <c:v>22204</c:v>
                </c:pt>
                <c:pt idx="393">
                  <c:v>38071</c:v>
                </c:pt>
                <c:pt idx="394">
                  <c:v>20590</c:v>
                </c:pt>
                <c:pt idx="395">
                  <c:v>25243</c:v>
                </c:pt>
                <c:pt idx="396">
                  <c:v>14493</c:v>
                </c:pt>
                <c:pt idx="397">
                  <c:v>17758</c:v>
                </c:pt>
                <c:pt idx="398">
                  <c:v>27970</c:v>
                </c:pt>
                <c:pt idx="399">
                  <c:v>14072</c:v>
                </c:pt>
                <c:pt idx="400">
                  <c:v>16774</c:v>
                </c:pt>
                <c:pt idx="401">
                  <c:v>14095</c:v>
                </c:pt>
                <c:pt idx="402">
                  <c:v>26441</c:v>
                </c:pt>
                <c:pt idx="403">
                  <c:v>27715</c:v>
                </c:pt>
                <c:pt idx="404">
                  <c:v>24883</c:v>
                </c:pt>
                <c:pt idx="405">
                  <c:v>26267</c:v>
                </c:pt>
                <c:pt idx="406">
                  <c:v>17127</c:v>
                </c:pt>
                <c:pt idx="407">
                  <c:v>24865</c:v>
                </c:pt>
                <c:pt idx="408">
                  <c:v>24314</c:v>
                </c:pt>
                <c:pt idx="409">
                  <c:v>21507</c:v>
                </c:pt>
                <c:pt idx="410">
                  <c:v>28082</c:v>
                </c:pt>
                <c:pt idx="411">
                  <c:v>20794</c:v>
                </c:pt>
                <c:pt idx="412">
                  <c:v>28856</c:v>
                </c:pt>
                <c:pt idx="413">
                  <c:v>15376</c:v>
                </c:pt>
                <c:pt idx="414">
                  <c:v>29954</c:v>
                </c:pt>
                <c:pt idx="415">
                  <c:v>23965</c:v>
                </c:pt>
                <c:pt idx="416">
                  <c:v>25807</c:v>
                </c:pt>
                <c:pt idx="417">
                  <c:v>18298</c:v>
                </c:pt>
                <c:pt idx="418">
                  <c:v>20748</c:v>
                </c:pt>
                <c:pt idx="419">
                  <c:v>20942</c:v>
                </c:pt>
                <c:pt idx="420">
                  <c:v>16053</c:v>
                </c:pt>
                <c:pt idx="421">
                  <c:v>23911</c:v>
                </c:pt>
                <c:pt idx="422">
                  <c:v>21774</c:v>
                </c:pt>
                <c:pt idx="423">
                  <c:v>27477</c:v>
                </c:pt>
                <c:pt idx="424">
                  <c:v>22130</c:v>
                </c:pt>
                <c:pt idx="425">
                  <c:v>39013</c:v>
                </c:pt>
                <c:pt idx="426">
                  <c:v>58741</c:v>
                </c:pt>
                <c:pt idx="427">
                  <c:v>23696</c:v>
                </c:pt>
                <c:pt idx="428">
                  <c:v>21988</c:v>
                </c:pt>
                <c:pt idx="429">
                  <c:v>22778</c:v>
                </c:pt>
                <c:pt idx="430">
                  <c:v>22470</c:v>
                </c:pt>
                <c:pt idx="431">
                  <c:v>23125</c:v>
                </c:pt>
                <c:pt idx="432">
                  <c:v>19285</c:v>
                </c:pt>
                <c:pt idx="433">
                  <c:v>23274</c:v>
                </c:pt>
                <c:pt idx="434">
                  <c:v>22540</c:v>
                </c:pt>
                <c:pt idx="435">
                  <c:v>27891</c:v>
                </c:pt>
                <c:pt idx="436">
                  <c:v>12547</c:v>
                </c:pt>
                <c:pt idx="437">
                  <c:v>20729</c:v>
                </c:pt>
                <c:pt idx="438">
                  <c:v>23280</c:v>
                </c:pt>
                <c:pt idx="439">
                  <c:v>21526</c:v>
                </c:pt>
                <c:pt idx="440">
                  <c:v>19638</c:v>
                </c:pt>
                <c:pt idx="441">
                  <c:v>19237</c:v>
                </c:pt>
                <c:pt idx="442">
                  <c:v>26364</c:v>
                </c:pt>
                <c:pt idx="443">
                  <c:v>27154</c:v>
                </c:pt>
                <c:pt idx="444">
                  <c:v>8221</c:v>
                </c:pt>
                <c:pt idx="445">
                  <c:v>15921</c:v>
                </c:pt>
                <c:pt idx="446">
                  <c:v>29627</c:v>
                </c:pt>
                <c:pt idx="447">
                  <c:v>17800</c:v>
                </c:pt>
                <c:pt idx="448">
                  <c:v>16525</c:v>
                </c:pt>
                <c:pt idx="449">
                  <c:v>23634</c:v>
                </c:pt>
                <c:pt idx="450">
                  <c:v>21937</c:v>
                </c:pt>
                <c:pt idx="451">
                  <c:v>18489</c:v>
                </c:pt>
                <c:pt idx="452">
                  <c:v>41437</c:v>
                </c:pt>
                <c:pt idx="453">
                  <c:v>21602</c:v>
                </c:pt>
                <c:pt idx="454">
                  <c:v>20789</c:v>
                </c:pt>
                <c:pt idx="455">
                  <c:v>24345</c:v>
                </c:pt>
                <c:pt idx="456">
                  <c:v>20503</c:v>
                </c:pt>
                <c:pt idx="457">
                  <c:v>19735</c:v>
                </c:pt>
                <c:pt idx="458">
                  <c:v>18499</c:v>
                </c:pt>
                <c:pt idx="459">
                  <c:v>24456</c:v>
                </c:pt>
                <c:pt idx="460">
                  <c:v>22320</c:v>
                </c:pt>
                <c:pt idx="461">
                  <c:v>9302</c:v>
                </c:pt>
                <c:pt idx="462">
                  <c:v>24691</c:v>
                </c:pt>
                <c:pt idx="463">
                  <c:v>15644</c:v>
                </c:pt>
                <c:pt idx="464">
                  <c:v>26034</c:v>
                </c:pt>
                <c:pt idx="465">
                  <c:v>19859</c:v>
                </c:pt>
                <c:pt idx="466">
                  <c:v>24654</c:v>
                </c:pt>
                <c:pt idx="467">
                  <c:v>20397</c:v>
                </c:pt>
                <c:pt idx="468">
                  <c:v>21829</c:v>
                </c:pt>
                <c:pt idx="469">
                  <c:v>27171</c:v>
                </c:pt>
                <c:pt idx="470">
                  <c:v>18924</c:v>
                </c:pt>
                <c:pt idx="471">
                  <c:v>24066</c:v>
                </c:pt>
                <c:pt idx="472">
                  <c:v>20205</c:v>
                </c:pt>
                <c:pt idx="473">
                  <c:v>26502</c:v>
                </c:pt>
                <c:pt idx="474">
                  <c:v>18436</c:v>
                </c:pt>
                <c:pt idx="475">
                  <c:v>27603</c:v>
                </c:pt>
                <c:pt idx="476">
                  <c:v>22576</c:v>
                </c:pt>
                <c:pt idx="477">
                  <c:v>21616</c:v>
                </c:pt>
                <c:pt idx="478">
                  <c:v>26312</c:v>
                </c:pt>
                <c:pt idx="479">
                  <c:v>21058</c:v>
                </c:pt>
                <c:pt idx="480">
                  <c:v>23377</c:v>
                </c:pt>
                <c:pt idx="481">
                  <c:v>16590</c:v>
                </c:pt>
                <c:pt idx="482">
                  <c:v>27817</c:v>
                </c:pt>
                <c:pt idx="483">
                  <c:v>29207</c:v>
                </c:pt>
                <c:pt idx="484">
                  <c:v>20614</c:v>
                </c:pt>
                <c:pt idx="485">
                  <c:v>23907</c:v>
                </c:pt>
                <c:pt idx="486">
                  <c:v>21383</c:v>
                </c:pt>
                <c:pt idx="487">
                  <c:v>22857</c:v>
                </c:pt>
                <c:pt idx="488">
                  <c:v>23245</c:v>
                </c:pt>
                <c:pt idx="489">
                  <c:v>21913</c:v>
                </c:pt>
                <c:pt idx="490">
                  <c:v>20694</c:v>
                </c:pt>
                <c:pt idx="491">
                  <c:v>19555</c:v>
                </c:pt>
                <c:pt idx="492">
                  <c:v>22436</c:v>
                </c:pt>
                <c:pt idx="493">
                  <c:v>24595</c:v>
                </c:pt>
                <c:pt idx="494">
                  <c:v>24588</c:v>
                </c:pt>
                <c:pt idx="495">
                  <c:v>24516</c:v>
                </c:pt>
                <c:pt idx="496">
                  <c:v>25620</c:v>
                </c:pt>
                <c:pt idx="497">
                  <c:v>20216</c:v>
                </c:pt>
                <c:pt idx="498">
                  <c:v>22288</c:v>
                </c:pt>
                <c:pt idx="499">
                  <c:v>35671</c:v>
                </c:pt>
                <c:pt idx="500">
                  <c:v>18649</c:v>
                </c:pt>
                <c:pt idx="501">
                  <c:v>22084</c:v>
                </c:pt>
                <c:pt idx="502">
                  <c:v>18260</c:v>
                </c:pt>
                <c:pt idx="503">
                  <c:v>23130</c:v>
                </c:pt>
                <c:pt idx="504">
                  <c:v>19971</c:v>
                </c:pt>
                <c:pt idx="505">
                  <c:v>23716</c:v>
                </c:pt>
                <c:pt idx="506">
                  <c:v>28138</c:v>
                </c:pt>
                <c:pt idx="507">
                  <c:v>25629</c:v>
                </c:pt>
                <c:pt idx="508">
                  <c:v>19509</c:v>
                </c:pt>
                <c:pt idx="509">
                  <c:v>28551</c:v>
                </c:pt>
                <c:pt idx="510">
                  <c:v>18196</c:v>
                </c:pt>
                <c:pt idx="511">
                  <c:v>22855</c:v>
                </c:pt>
                <c:pt idx="512">
                  <c:v>14271</c:v>
                </c:pt>
                <c:pt idx="513">
                  <c:v>24479</c:v>
                </c:pt>
                <c:pt idx="514">
                  <c:v>24468</c:v>
                </c:pt>
                <c:pt idx="515">
                  <c:v>31320</c:v>
                </c:pt>
                <c:pt idx="516">
                  <c:v>25368</c:v>
                </c:pt>
                <c:pt idx="517">
                  <c:v>24739</c:v>
                </c:pt>
                <c:pt idx="518">
                  <c:v>27963</c:v>
                </c:pt>
                <c:pt idx="519">
                  <c:v>33393</c:v>
                </c:pt>
                <c:pt idx="520">
                  <c:v>26196</c:v>
                </c:pt>
                <c:pt idx="521">
                  <c:v>20897</c:v>
                </c:pt>
                <c:pt idx="522">
                  <c:v>29824</c:v>
                </c:pt>
                <c:pt idx="523">
                  <c:v>21260</c:v>
                </c:pt>
                <c:pt idx="524">
                  <c:v>19125</c:v>
                </c:pt>
                <c:pt idx="525">
                  <c:v>26182</c:v>
                </c:pt>
                <c:pt idx="526">
                  <c:v>22107</c:v>
                </c:pt>
                <c:pt idx="527">
                  <c:v>23401</c:v>
                </c:pt>
                <c:pt idx="528">
                  <c:v>23388</c:v>
                </c:pt>
                <c:pt idx="529">
                  <c:v>28278</c:v>
                </c:pt>
                <c:pt idx="530">
                  <c:v>38107</c:v>
                </c:pt>
                <c:pt idx="531">
                  <c:v>33147</c:v>
                </c:pt>
                <c:pt idx="532">
                  <c:v>20629</c:v>
                </c:pt>
                <c:pt idx="533">
                  <c:v>24212</c:v>
                </c:pt>
                <c:pt idx="534">
                  <c:v>22613</c:v>
                </c:pt>
                <c:pt idx="535">
                  <c:v>32811</c:v>
                </c:pt>
                <c:pt idx="536">
                  <c:v>36201</c:v>
                </c:pt>
                <c:pt idx="537">
                  <c:v>26106</c:v>
                </c:pt>
                <c:pt idx="538">
                  <c:v>17248</c:v>
                </c:pt>
                <c:pt idx="539">
                  <c:v>32908</c:v>
                </c:pt>
                <c:pt idx="540">
                  <c:v>19140</c:v>
                </c:pt>
                <c:pt idx="541">
                  <c:v>28062</c:v>
                </c:pt>
                <c:pt idx="542">
                  <c:v>24754</c:v>
                </c:pt>
                <c:pt idx="543">
                  <c:v>21032</c:v>
                </c:pt>
                <c:pt idx="544">
                  <c:v>18558</c:v>
                </c:pt>
                <c:pt idx="545">
                  <c:v>22235</c:v>
                </c:pt>
                <c:pt idx="546">
                  <c:v>18327</c:v>
                </c:pt>
                <c:pt idx="547">
                  <c:v>29357</c:v>
                </c:pt>
                <c:pt idx="548">
                  <c:v>19567</c:v>
                </c:pt>
                <c:pt idx="549">
                  <c:v>22775</c:v>
                </c:pt>
                <c:pt idx="550">
                  <c:v>31495</c:v>
                </c:pt>
                <c:pt idx="551">
                  <c:v>28516</c:v>
                </c:pt>
                <c:pt idx="552">
                  <c:v>16164</c:v>
                </c:pt>
                <c:pt idx="553">
                  <c:v>29224</c:v>
                </c:pt>
                <c:pt idx="554">
                  <c:v>25121</c:v>
                </c:pt>
                <c:pt idx="555">
                  <c:v>23988</c:v>
                </c:pt>
                <c:pt idx="556">
                  <c:v>34666</c:v>
                </c:pt>
                <c:pt idx="557">
                  <c:v>26565</c:v>
                </c:pt>
                <c:pt idx="558">
                  <c:v>21145</c:v>
                </c:pt>
                <c:pt idx="559">
                  <c:v>27221</c:v>
                </c:pt>
                <c:pt idx="560">
                  <c:v>20873</c:v>
                </c:pt>
                <c:pt idx="561">
                  <c:v>28185</c:v>
                </c:pt>
                <c:pt idx="562">
                  <c:v>32647</c:v>
                </c:pt>
                <c:pt idx="563">
                  <c:v>18745</c:v>
                </c:pt>
                <c:pt idx="564">
                  <c:v>15788</c:v>
                </c:pt>
                <c:pt idx="565">
                  <c:v>25355</c:v>
                </c:pt>
                <c:pt idx="566">
                  <c:v>21083</c:v>
                </c:pt>
                <c:pt idx="567">
                  <c:v>27074</c:v>
                </c:pt>
                <c:pt idx="568">
                  <c:v>15404</c:v>
                </c:pt>
                <c:pt idx="569">
                  <c:v>22829</c:v>
                </c:pt>
                <c:pt idx="570">
                  <c:v>9854</c:v>
                </c:pt>
                <c:pt idx="571">
                  <c:v>17124</c:v>
                </c:pt>
                <c:pt idx="572">
                  <c:v>22386</c:v>
                </c:pt>
                <c:pt idx="573">
                  <c:v>15488</c:v>
                </c:pt>
                <c:pt idx="574">
                  <c:v>40045</c:v>
                </c:pt>
                <c:pt idx="575">
                  <c:v>30857</c:v>
                </c:pt>
                <c:pt idx="576">
                  <c:v>18759</c:v>
                </c:pt>
                <c:pt idx="577">
                  <c:v>12199</c:v>
                </c:pt>
                <c:pt idx="578">
                  <c:v>27804</c:v>
                </c:pt>
                <c:pt idx="579">
                  <c:v>20503</c:v>
                </c:pt>
                <c:pt idx="580">
                  <c:v>15193</c:v>
                </c:pt>
                <c:pt idx="581">
                  <c:v>24503</c:v>
                </c:pt>
                <c:pt idx="582">
                  <c:v>33036</c:v>
                </c:pt>
                <c:pt idx="583">
                  <c:v>18129</c:v>
                </c:pt>
                <c:pt idx="584">
                  <c:v>11704</c:v>
                </c:pt>
                <c:pt idx="585">
                  <c:v>22610</c:v>
                </c:pt>
                <c:pt idx="586">
                  <c:v>20716</c:v>
                </c:pt>
                <c:pt idx="587">
                  <c:v>24338</c:v>
                </c:pt>
                <c:pt idx="588">
                  <c:v>34732</c:v>
                </c:pt>
                <c:pt idx="589">
                  <c:v>22917</c:v>
                </c:pt>
                <c:pt idx="590">
                  <c:v>29466</c:v>
                </c:pt>
                <c:pt idx="591">
                  <c:v>40654</c:v>
                </c:pt>
                <c:pt idx="592">
                  <c:v>38645</c:v>
                </c:pt>
                <c:pt idx="593">
                  <c:v>23847</c:v>
                </c:pt>
                <c:pt idx="594">
                  <c:v>26172</c:v>
                </c:pt>
                <c:pt idx="595">
                  <c:v>22992</c:v>
                </c:pt>
                <c:pt idx="596">
                  <c:v>35860</c:v>
                </c:pt>
                <c:pt idx="597">
                  <c:v>26441</c:v>
                </c:pt>
                <c:pt idx="598">
                  <c:v>27182</c:v>
                </c:pt>
                <c:pt idx="599">
                  <c:v>30298</c:v>
                </c:pt>
                <c:pt idx="600">
                  <c:v>27866</c:v>
                </c:pt>
                <c:pt idx="601">
                  <c:v>32622</c:v>
                </c:pt>
                <c:pt idx="602">
                  <c:v>18235</c:v>
                </c:pt>
                <c:pt idx="603">
                  <c:v>26534</c:v>
                </c:pt>
                <c:pt idx="604">
                  <c:v>24717</c:v>
                </c:pt>
                <c:pt idx="605">
                  <c:v>10970</c:v>
                </c:pt>
                <c:pt idx="606">
                  <c:v>20024</c:v>
                </c:pt>
                <c:pt idx="607">
                  <c:v>18838</c:v>
                </c:pt>
                <c:pt idx="608">
                  <c:v>24018</c:v>
                </c:pt>
                <c:pt idx="609">
                  <c:v>14301</c:v>
                </c:pt>
                <c:pt idx="610">
                  <c:v>25578</c:v>
                </c:pt>
                <c:pt idx="611">
                  <c:v>23873</c:v>
                </c:pt>
                <c:pt idx="612">
                  <c:v>20991</c:v>
                </c:pt>
                <c:pt idx="613">
                  <c:v>22553</c:v>
                </c:pt>
                <c:pt idx="614">
                  <c:v>13630</c:v>
                </c:pt>
                <c:pt idx="615">
                  <c:v>27555</c:v>
                </c:pt>
                <c:pt idx="616">
                  <c:v>17755</c:v>
                </c:pt>
                <c:pt idx="617">
                  <c:v>25319</c:v>
                </c:pt>
                <c:pt idx="618">
                  <c:v>30371</c:v>
                </c:pt>
                <c:pt idx="619">
                  <c:v>23894</c:v>
                </c:pt>
                <c:pt idx="620">
                  <c:v>19359</c:v>
                </c:pt>
                <c:pt idx="621">
                  <c:v>17562</c:v>
                </c:pt>
                <c:pt idx="622">
                  <c:v>21936</c:v>
                </c:pt>
                <c:pt idx="623">
                  <c:v>19764</c:v>
                </c:pt>
                <c:pt idx="624">
                  <c:v>24902</c:v>
                </c:pt>
                <c:pt idx="625">
                  <c:v>25292</c:v>
                </c:pt>
                <c:pt idx="626">
                  <c:v>21835</c:v>
                </c:pt>
                <c:pt idx="627">
                  <c:v>36211</c:v>
                </c:pt>
                <c:pt idx="628">
                  <c:v>18659</c:v>
                </c:pt>
                <c:pt idx="629">
                  <c:v>22519</c:v>
                </c:pt>
                <c:pt idx="630">
                  <c:v>25757</c:v>
                </c:pt>
                <c:pt idx="631">
                  <c:v>23093</c:v>
                </c:pt>
                <c:pt idx="632">
                  <c:v>24691</c:v>
                </c:pt>
                <c:pt idx="633">
                  <c:v>21241</c:v>
                </c:pt>
                <c:pt idx="634">
                  <c:v>16948</c:v>
                </c:pt>
                <c:pt idx="635">
                  <c:v>29657</c:v>
                </c:pt>
                <c:pt idx="636">
                  <c:v>23458</c:v>
                </c:pt>
                <c:pt idx="637">
                  <c:v>26113</c:v>
                </c:pt>
                <c:pt idx="638">
                  <c:v>31679</c:v>
                </c:pt>
                <c:pt idx="639">
                  <c:v>20493</c:v>
                </c:pt>
                <c:pt idx="640">
                  <c:v>22347</c:v>
                </c:pt>
                <c:pt idx="641">
                  <c:v>28358</c:v>
                </c:pt>
                <c:pt idx="642">
                  <c:v>23097</c:v>
                </c:pt>
                <c:pt idx="643">
                  <c:v>18462</c:v>
                </c:pt>
                <c:pt idx="644">
                  <c:v>15554</c:v>
                </c:pt>
                <c:pt idx="645">
                  <c:v>27989</c:v>
                </c:pt>
                <c:pt idx="646">
                  <c:v>33062</c:v>
                </c:pt>
                <c:pt idx="647">
                  <c:v>23510</c:v>
                </c:pt>
                <c:pt idx="648">
                  <c:v>16898</c:v>
                </c:pt>
                <c:pt idx="649">
                  <c:v>22866</c:v>
                </c:pt>
                <c:pt idx="650">
                  <c:v>38967</c:v>
                </c:pt>
                <c:pt idx="651">
                  <c:v>21044</c:v>
                </c:pt>
                <c:pt idx="652">
                  <c:v>34192</c:v>
                </c:pt>
                <c:pt idx="653">
                  <c:v>34028</c:v>
                </c:pt>
                <c:pt idx="654">
                  <c:v>20528</c:v>
                </c:pt>
                <c:pt idx="655">
                  <c:v>11745</c:v>
                </c:pt>
                <c:pt idx="656">
                  <c:v>24149</c:v>
                </c:pt>
                <c:pt idx="657">
                  <c:v>35273</c:v>
                </c:pt>
                <c:pt idx="658">
                  <c:v>12548</c:v>
                </c:pt>
                <c:pt idx="659">
                  <c:v>21916</c:v>
                </c:pt>
                <c:pt idx="660">
                  <c:v>17940</c:v>
                </c:pt>
                <c:pt idx="661">
                  <c:v>20168</c:v>
                </c:pt>
                <c:pt idx="662">
                  <c:v>30282</c:v>
                </c:pt>
                <c:pt idx="663">
                  <c:v>23131</c:v>
                </c:pt>
                <c:pt idx="664">
                  <c:v>17770</c:v>
                </c:pt>
                <c:pt idx="665">
                  <c:v>18556</c:v>
                </c:pt>
                <c:pt idx="666">
                  <c:v>20744</c:v>
                </c:pt>
                <c:pt idx="667">
                  <c:v>31320</c:v>
                </c:pt>
                <c:pt idx="668">
                  <c:v>41832</c:v>
                </c:pt>
                <c:pt idx="669">
                  <c:v>17550</c:v>
                </c:pt>
                <c:pt idx="670">
                  <c:v>31643</c:v>
                </c:pt>
                <c:pt idx="671">
                  <c:v>21107</c:v>
                </c:pt>
                <c:pt idx="672">
                  <c:v>25239</c:v>
                </c:pt>
                <c:pt idx="673">
                  <c:v>38707</c:v>
                </c:pt>
                <c:pt idx="674">
                  <c:v>15000</c:v>
                </c:pt>
                <c:pt idx="675">
                  <c:v>24185</c:v>
                </c:pt>
                <c:pt idx="676">
                  <c:v>26285</c:v>
                </c:pt>
                <c:pt idx="677">
                  <c:v>26939</c:v>
                </c:pt>
                <c:pt idx="678">
                  <c:v>28819</c:v>
                </c:pt>
                <c:pt idx="679">
                  <c:v>23960</c:v>
                </c:pt>
                <c:pt idx="680">
                  <c:v>18693</c:v>
                </c:pt>
                <c:pt idx="681">
                  <c:v>45566</c:v>
                </c:pt>
                <c:pt idx="682">
                  <c:v>28673</c:v>
                </c:pt>
                <c:pt idx="683">
                  <c:v>30670</c:v>
                </c:pt>
                <c:pt idx="684">
                  <c:v>23329</c:v>
                </c:pt>
                <c:pt idx="685">
                  <c:v>21499</c:v>
                </c:pt>
                <c:pt idx="686">
                  <c:v>22940</c:v>
                </c:pt>
                <c:pt idx="687">
                  <c:v>26505</c:v>
                </c:pt>
                <c:pt idx="688">
                  <c:v>28119</c:v>
                </c:pt>
                <c:pt idx="689">
                  <c:v>23526</c:v>
                </c:pt>
                <c:pt idx="690">
                  <c:v>22066</c:v>
                </c:pt>
                <c:pt idx="691">
                  <c:v>23003</c:v>
                </c:pt>
                <c:pt idx="692">
                  <c:v>36013</c:v>
                </c:pt>
                <c:pt idx="693">
                  <c:v>24792</c:v>
                </c:pt>
                <c:pt idx="694">
                  <c:v>13143</c:v>
                </c:pt>
                <c:pt idx="695">
                  <c:v>28714</c:v>
                </c:pt>
                <c:pt idx="696">
                  <c:v>26598</c:v>
                </c:pt>
                <c:pt idx="697">
                  <c:v>26979</c:v>
                </c:pt>
                <c:pt idx="698">
                  <c:v>22277</c:v>
                </c:pt>
                <c:pt idx="699">
                  <c:v>17648</c:v>
                </c:pt>
                <c:pt idx="700">
                  <c:v>49180</c:v>
                </c:pt>
                <c:pt idx="701">
                  <c:v>28746</c:v>
                </c:pt>
                <c:pt idx="702">
                  <c:v>19994</c:v>
                </c:pt>
                <c:pt idx="703">
                  <c:v>33013</c:v>
                </c:pt>
                <c:pt idx="704">
                  <c:v>22736</c:v>
                </c:pt>
                <c:pt idx="705">
                  <c:v>32165</c:v>
                </c:pt>
                <c:pt idx="706">
                  <c:v>50539</c:v>
                </c:pt>
                <c:pt idx="707">
                  <c:v>18578</c:v>
                </c:pt>
                <c:pt idx="708">
                  <c:v>26640</c:v>
                </c:pt>
                <c:pt idx="709">
                  <c:v>39949</c:v>
                </c:pt>
                <c:pt idx="710">
                  <c:v>19108</c:v>
                </c:pt>
                <c:pt idx="711">
                  <c:v>22313</c:v>
                </c:pt>
                <c:pt idx="712">
                  <c:v>27743</c:v>
                </c:pt>
                <c:pt idx="713">
                  <c:v>25265</c:v>
                </c:pt>
                <c:pt idx="714">
                  <c:v>33926</c:v>
                </c:pt>
                <c:pt idx="715">
                  <c:v>24280</c:v>
                </c:pt>
                <c:pt idx="716">
                  <c:v>26975</c:v>
                </c:pt>
                <c:pt idx="717">
                  <c:v>28556</c:v>
                </c:pt>
                <c:pt idx="718">
                  <c:v>25301</c:v>
                </c:pt>
                <c:pt idx="719">
                  <c:v>32149</c:v>
                </c:pt>
                <c:pt idx="720">
                  <c:v>19035</c:v>
                </c:pt>
                <c:pt idx="721">
                  <c:v>13006</c:v>
                </c:pt>
                <c:pt idx="722">
                  <c:v>38729</c:v>
                </c:pt>
                <c:pt idx="723">
                  <c:v>27579</c:v>
                </c:pt>
                <c:pt idx="724">
                  <c:v>22655</c:v>
                </c:pt>
                <c:pt idx="725">
                  <c:v>18526</c:v>
                </c:pt>
                <c:pt idx="726">
                  <c:v>37485</c:v>
                </c:pt>
                <c:pt idx="727">
                  <c:v>24488</c:v>
                </c:pt>
                <c:pt idx="728">
                  <c:v>29053</c:v>
                </c:pt>
                <c:pt idx="729">
                  <c:v>32997</c:v>
                </c:pt>
                <c:pt idx="730">
                  <c:v>27872</c:v>
                </c:pt>
                <c:pt idx="731">
                  <c:v>39986</c:v>
                </c:pt>
                <c:pt idx="732">
                  <c:v>28115</c:v>
                </c:pt>
                <c:pt idx="733">
                  <c:v>33375</c:v>
                </c:pt>
                <c:pt idx="734">
                  <c:v>19169</c:v>
                </c:pt>
                <c:pt idx="735">
                  <c:v>20161</c:v>
                </c:pt>
                <c:pt idx="736">
                  <c:v>27898</c:v>
                </c:pt>
                <c:pt idx="737">
                  <c:v>23874</c:v>
                </c:pt>
                <c:pt idx="738">
                  <c:v>22257</c:v>
                </c:pt>
                <c:pt idx="739">
                  <c:v>19072</c:v>
                </c:pt>
                <c:pt idx="740">
                  <c:v>22900</c:v>
                </c:pt>
                <c:pt idx="741">
                  <c:v>33692</c:v>
                </c:pt>
                <c:pt idx="742">
                  <c:v>21696</c:v>
                </c:pt>
                <c:pt idx="743">
                  <c:v>41104</c:v>
                </c:pt>
                <c:pt idx="744">
                  <c:v>27846</c:v>
                </c:pt>
                <c:pt idx="745">
                  <c:v>17028</c:v>
                </c:pt>
                <c:pt idx="746">
                  <c:v>27094</c:v>
                </c:pt>
                <c:pt idx="747">
                  <c:v>20781</c:v>
                </c:pt>
                <c:pt idx="748">
                  <c:v>28585</c:v>
                </c:pt>
                <c:pt idx="749">
                  <c:v>22212</c:v>
                </c:pt>
                <c:pt idx="750">
                  <c:v>22719</c:v>
                </c:pt>
                <c:pt idx="751">
                  <c:v>20433</c:v>
                </c:pt>
                <c:pt idx="752">
                  <c:v>28945</c:v>
                </c:pt>
                <c:pt idx="753">
                  <c:v>19589</c:v>
                </c:pt>
                <c:pt idx="754">
                  <c:v>25884</c:v>
                </c:pt>
                <c:pt idx="755">
                  <c:v>27483</c:v>
                </c:pt>
                <c:pt idx="756">
                  <c:v>28651</c:v>
                </c:pt>
                <c:pt idx="757">
                  <c:v>19409</c:v>
                </c:pt>
                <c:pt idx="758">
                  <c:v>29618</c:v>
                </c:pt>
                <c:pt idx="759">
                  <c:v>29137</c:v>
                </c:pt>
                <c:pt idx="760">
                  <c:v>22878</c:v>
                </c:pt>
                <c:pt idx="761">
                  <c:v>33313</c:v>
                </c:pt>
                <c:pt idx="762">
                  <c:v>22400</c:v>
                </c:pt>
                <c:pt idx="763">
                  <c:v>25522</c:v>
                </c:pt>
                <c:pt idx="764">
                  <c:v>29822</c:v>
                </c:pt>
                <c:pt idx="765">
                  <c:v>40007</c:v>
                </c:pt>
                <c:pt idx="766">
                  <c:v>25002</c:v>
                </c:pt>
                <c:pt idx="767">
                  <c:v>30988</c:v>
                </c:pt>
                <c:pt idx="768">
                  <c:v>25180</c:v>
                </c:pt>
                <c:pt idx="769">
                  <c:v>50507</c:v>
                </c:pt>
                <c:pt idx="770">
                  <c:v>26706</c:v>
                </c:pt>
                <c:pt idx="771">
                  <c:v>36660</c:v>
                </c:pt>
                <c:pt idx="772">
                  <c:v>30308</c:v>
                </c:pt>
                <c:pt idx="773">
                  <c:v>30109</c:v>
                </c:pt>
                <c:pt idx="774">
                  <c:v>30902</c:v>
                </c:pt>
                <c:pt idx="775">
                  <c:v>31563</c:v>
                </c:pt>
                <c:pt idx="776">
                  <c:v>18732</c:v>
                </c:pt>
                <c:pt idx="777">
                  <c:v>34176</c:v>
                </c:pt>
                <c:pt idx="778">
                  <c:v>28905</c:v>
                </c:pt>
                <c:pt idx="779">
                  <c:v>32918</c:v>
                </c:pt>
                <c:pt idx="780">
                  <c:v>32297</c:v>
                </c:pt>
                <c:pt idx="781">
                  <c:v>29351</c:v>
                </c:pt>
                <c:pt idx="782">
                  <c:v>34191</c:v>
                </c:pt>
                <c:pt idx="783">
                  <c:v>29999</c:v>
                </c:pt>
                <c:pt idx="784">
                  <c:v>38394</c:v>
                </c:pt>
                <c:pt idx="785">
                  <c:v>24336</c:v>
                </c:pt>
                <c:pt idx="786">
                  <c:v>46555</c:v>
                </c:pt>
                <c:pt idx="787">
                  <c:v>22443</c:v>
                </c:pt>
                <c:pt idx="788">
                  <c:v>31446</c:v>
                </c:pt>
                <c:pt idx="789">
                  <c:v>37607</c:v>
                </c:pt>
                <c:pt idx="790">
                  <c:v>37999</c:v>
                </c:pt>
                <c:pt idx="791">
                  <c:v>30892</c:v>
                </c:pt>
                <c:pt idx="792">
                  <c:v>41008</c:v>
                </c:pt>
                <c:pt idx="793">
                  <c:v>22264</c:v>
                </c:pt>
                <c:pt idx="794">
                  <c:v>24398</c:v>
                </c:pt>
                <c:pt idx="795">
                  <c:v>28199</c:v>
                </c:pt>
                <c:pt idx="796">
                  <c:v>25759</c:v>
                </c:pt>
                <c:pt idx="797">
                  <c:v>15232</c:v>
                </c:pt>
                <c:pt idx="798">
                  <c:v>36131</c:v>
                </c:pt>
                <c:pt idx="799">
                  <c:v>49965</c:v>
                </c:pt>
                <c:pt idx="800">
                  <c:v>39343</c:v>
                </c:pt>
                <c:pt idx="801">
                  <c:v>31490</c:v>
                </c:pt>
                <c:pt idx="802">
                  <c:v>36079</c:v>
                </c:pt>
                <c:pt idx="803">
                  <c:v>23464</c:v>
                </c:pt>
                <c:pt idx="804">
                  <c:v>38512</c:v>
                </c:pt>
                <c:pt idx="805">
                  <c:v>29127</c:v>
                </c:pt>
                <c:pt idx="806">
                  <c:v>48661</c:v>
                </c:pt>
                <c:pt idx="807">
                  <c:v>18397</c:v>
                </c:pt>
                <c:pt idx="808">
                  <c:v>21413</c:v>
                </c:pt>
                <c:pt idx="809">
                  <c:v>30031</c:v>
                </c:pt>
                <c:pt idx="810">
                  <c:v>36967</c:v>
                </c:pt>
                <c:pt idx="811">
                  <c:v>27290</c:v>
                </c:pt>
                <c:pt idx="812">
                  <c:v>29561</c:v>
                </c:pt>
                <c:pt idx="813">
                  <c:v>34779</c:v>
                </c:pt>
                <c:pt idx="814">
                  <c:v>29188</c:v>
                </c:pt>
                <c:pt idx="815">
                  <c:v>30536</c:v>
                </c:pt>
                <c:pt idx="816">
                  <c:v>29155</c:v>
                </c:pt>
                <c:pt idx="817">
                  <c:v>30177</c:v>
                </c:pt>
                <c:pt idx="818">
                  <c:v>31568</c:v>
                </c:pt>
                <c:pt idx="819">
                  <c:v>28241</c:v>
                </c:pt>
                <c:pt idx="820">
                  <c:v>41555</c:v>
                </c:pt>
                <c:pt idx="821">
                  <c:v>32568</c:v>
                </c:pt>
                <c:pt idx="822">
                  <c:v>37730</c:v>
                </c:pt>
                <c:pt idx="823">
                  <c:v>29498</c:v>
                </c:pt>
                <c:pt idx="824">
                  <c:v>36175</c:v>
                </c:pt>
                <c:pt idx="825">
                  <c:v>46174</c:v>
                </c:pt>
                <c:pt idx="826">
                  <c:v>31759</c:v>
                </c:pt>
                <c:pt idx="827">
                  <c:v>34662</c:v>
                </c:pt>
                <c:pt idx="828">
                  <c:v>37244</c:v>
                </c:pt>
                <c:pt idx="829">
                  <c:v>30783</c:v>
                </c:pt>
                <c:pt idx="830">
                  <c:v>25407</c:v>
                </c:pt>
                <c:pt idx="831">
                  <c:v>29533</c:v>
                </c:pt>
                <c:pt idx="832">
                  <c:v>37927</c:v>
                </c:pt>
                <c:pt idx="833">
                  <c:v>24258</c:v>
                </c:pt>
                <c:pt idx="834">
                  <c:v>15564</c:v>
                </c:pt>
                <c:pt idx="835">
                  <c:v>38263</c:v>
                </c:pt>
                <c:pt idx="836">
                  <c:v>33733</c:v>
                </c:pt>
                <c:pt idx="837">
                  <c:v>36425</c:v>
                </c:pt>
                <c:pt idx="838">
                  <c:v>31309</c:v>
                </c:pt>
                <c:pt idx="839">
                  <c:v>31483</c:v>
                </c:pt>
                <c:pt idx="840">
                  <c:v>34906</c:v>
                </c:pt>
                <c:pt idx="841">
                  <c:v>25672</c:v>
                </c:pt>
                <c:pt idx="842">
                  <c:v>35736</c:v>
                </c:pt>
                <c:pt idx="843">
                  <c:v>36041</c:v>
                </c:pt>
                <c:pt idx="844">
                  <c:v>41943</c:v>
                </c:pt>
                <c:pt idx="845">
                  <c:v>28928</c:v>
                </c:pt>
                <c:pt idx="846">
                  <c:v>36294</c:v>
                </c:pt>
                <c:pt idx="847">
                  <c:v>23367</c:v>
                </c:pt>
                <c:pt idx="848">
                  <c:v>33016</c:v>
                </c:pt>
                <c:pt idx="849">
                  <c:v>19285</c:v>
                </c:pt>
                <c:pt idx="850">
                  <c:v>24347</c:v>
                </c:pt>
                <c:pt idx="851">
                  <c:v>41544</c:v>
                </c:pt>
                <c:pt idx="852">
                  <c:v>28719</c:v>
                </c:pt>
                <c:pt idx="853">
                  <c:v>31487</c:v>
                </c:pt>
                <c:pt idx="854">
                  <c:v>48381</c:v>
                </c:pt>
                <c:pt idx="855">
                  <c:v>40892</c:v>
                </c:pt>
                <c:pt idx="856">
                  <c:v>28985</c:v>
                </c:pt>
                <c:pt idx="857">
                  <c:v>25447</c:v>
                </c:pt>
                <c:pt idx="858">
                  <c:v>26536</c:v>
                </c:pt>
                <c:pt idx="859">
                  <c:v>30378</c:v>
                </c:pt>
                <c:pt idx="860">
                  <c:v>35119</c:v>
                </c:pt>
                <c:pt idx="861">
                  <c:v>29278</c:v>
                </c:pt>
                <c:pt idx="862">
                  <c:v>38793</c:v>
                </c:pt>
                <c:pt idx="863">
                  <c:v>25314</c:v>
                </c:pt>
                <c:pt idx="864">
                  <c:v>22585</c:v>
                </c:pt>
                <c:pt idx="865">
                  <c:v>23149</c:v>
                </c:pt>
                <c:pt idx="866">
                  <c:v>17180</c:v>
                </c:pt>
                <c:pt idx="867">
                  <c:v>28800</c:v>
                </c:pt>
                <c:pt idx="868">
                  <c:v>24478</c:v>
                </c:pt>
                <c:pt idx="869">
                  <c:v>17379</c:v>
                </c:pt>
                <c:pt idx="870">
                  <c:v>37050</c:v>
                </c:pt>
                <c:pt idx="871">
                  <c:v>18425</c:v>
                </c:pt>
                <c:pt idx="872">
                  <c:v>30574</c:v>
                </c:pt>
                <c:pt idx="873">
                  <c:v>34170</c:v>
                </c:pt>
                <c:pt idx="874">
                  <c:v>14398</c:v>
                </c:pt>
                <c:pt idx="875">
                  <c:v>28210</c:v>
                </c:pt>
                <c:pt idx="876">
                  <c:v>58098</c:v>
                </c:pt>
                <c:pt idx="877">
                  <c:v>39998</c:v>
                </c:pt>
                <c:pt idx="878">
                  <c:v>24402</c:v>
                </c:pt>
                <c:pt idx="879">
                  <c:v>40675</c:v>
                </c:pt>
                <c:pt idx="880">
                  <c:v>13269</c:v>
                </c:pt>
                <c:pt idx="881">
                  <c:v>18725</c:v>
                </c:pt>
                <c:pt idx="882">
                  <c:v>40287</c:v>
                </c:pt>
                <c:pt idx="883">
                  <c:v>41272</c:v>
                </c:pt>
                <c:pt idx="884">
                  <c:v>38509</c:v>
                </c:pt>
                <c:pt idx="885">
                  <c:v>35333</c:v>
                </c:pt>
                <c:pt idx="886">
                  <c:v>25496</c:v>
                </c:pt>
                <c:pt idx="887">
                  <c:v>22102</c:v>
                </c:pt>
                <c:pt idx="888">
                  <c:v>28786</c:v>
                </c:pt>
                <c:pt idx="889">
                  <c:v>44338</c:v>
                </c:pt>
                <c:pt idx="890">
                  <c:v>21786</c:v>
                </c:pt>
                <c:pt idx="891">
                  <c:v>27256</c:v>
                </c:pt>
                <c:pt idx="892">
                  <c:v>30365</c:v>
                </c:pt>
                <c:pt idx="893">
                  <c:v>29689</c:v>
                </c:pt>
                <c:pt idx="894">
                  <c:v>48523</c:v>
                </c:pt>
                <c:pt idx="895">
                  <c:v>18809</c:v>
                </c:pt>
                <c:pt idx="896">
                  <c:v>41190</c:v>
                </c:pt>
                <c:pt idx="897">
                  <c:v>34561</c:v>
                </c:pt>
                <c:pt idx="898">
                  <c:v>17716</c:v>
                </c:pt>
                <c:pt idx="899">
                  <c:v>48095</c:v>
                </c:pt>
                <c:pt idx="900">
                  <c:v>22453</c:v>
                </c:pt>
                <c:pt idx="901">
                  <c:v>29167</c:v>
                </c:pt>
                <c:pt idx="902">
                  <c:v>30305</c:v>
                </c:pt>
                <c:pt idx="903">
                  <c:v>13370</c:v>
                </c:pt>
                <c:pt idx="904">
                  <c:v>41431</c:v>
                </c:pt>
                <c:pt idx="905">
                  <c:v>41219</c:v>
                </c:pt>
                <c:pt idx="906">
                  <c:v>38782</c:v>
                </c:pt>
                <c:pt idx="907">
                  <c:v>34832</c:v>
                </c:pt>
                <c:pt idx="908">
                  <c:v>36586</c:v>
                </c:pt>
                <c:pt idx="909">
                  <c:v>34433</c:v>
                </c:pt>
                <c:pt idx="910">
                  <c:v>15846</c:v>
                </c:pt>
                <c:pt idx="911">
                  <c:v>14860</c:v>
                </c:pt>
                <c:pt idx="912">
                  <c:v>32740</c:v>
                </c:pt>
                <c:pt idx="913">
                  <c:v>25181</c:v>
                </c:pt>
                <c:pt idx="914">
                  <c:v>30915</c:v>
                </c:pt>
                <c:pt idx="915">
                  <c:v>25184</c:v>
                </c:pt>
                <c:pt idx="916">
                  <c:v>40766</c:v>
                </c:pt>
                <c:pt idx="917">
                  <c:v>23781</c:v>
                </c:pt>
                <c:pt idx="918">
                  <c:v>34660</c:v>
                </c:pt>
                <c:pt idx="919">
                  <c:v>29519</c:v>
                </c:pt>
                <c:pt idx="920">
                  <c:v>29612</c:v>
                </c:pt>
                <c:pt idx="921">
                  <c:v>26780</c:v>
                </c:pt>
                <c:pt idx="922">
                  <c:v>43756</c:v>
                </c:pt>
                <c:pt idx="923">
                  <c:v>23777</c:v>
                </c:pt>
                <c:pt idx="924">
                  <c:v>19066</c:v>
                </c:pt>
                <c:pt idx="925">
                  <c:v>36228</c:v>
                </c:pt>
                <c:pt idx="926">
                  <c:v>21590</c:v>
                </c:pt>
                <c:pt idx="927">
                  <c:v>43071</c:v>
                </c:pt>
                <c:pt idx="928">
                  <c:v>40815</c:v>
                </c:pt>
                <c:pt idx="929">
                  <c:v>41704</c:v>
                </c:pt>
                <c:pt idx="930">
                  <c:v>28690</c:v>
                </c:pt>
                <c:pt idx="931">
                  <c:v>28849</c:v>
                </c:pt>
                <c:pt idx="932">
                  <c:v>36931</c:v>
                </c:pt>
                <c:pt idx="933">
                  <c:v>41346</c:v>
                </c:pt>
                <c:pt idx="934">
                  <c:v>50062</c:v>
                </c:pt>
                <c:pt idx="935">
                  <c:v>6128</c:v>
                </c:pt>
                <c:pt idx="936">
                  <c:v>28699</c:v>
                </c:pt>
                <c:pt idx="937">
                  <c:v>31944</c:v>
                </c:pt>
                <c:pt idx="938">
                  <c:v>37930</c:v>
                </c:pt>
                <c:pt idx="939">
                  <c:v>13807</c:v>
                </c:pt>
                <c:pt idx="940">
                  <c:v>16075</c:v>
                </c:pt>
                <c:pt idx="941">
                  <c:v>35924</c:v>
                </c:pt>
                <c:pt idx="942">
                  <c:v>20111</c:v>
                </c:pt>
              </c:numCache>
            </c:numRef>
          </c:xVal>
          <c:yVal>
            <c:numRef>
              <c:f>Sheet1!$B$2:$B$944</c:f>
              <c:numCache>
                <c:formatCode>General</c:formatCode>
                <c:ptCount val="943"/>
                <c:pt idx="0">
                  <c:v>19761</c:v>
                </c:pt>
                <c:pt idx="1">
                  <c:v>20064</c:v>
                </c:pt>
                <c:pt idx="2">
                  <c:v>20902</c:v>
                </c:pt>
                <c:pt idx="3">
                  <c:v>21123</c:v>
                </c:pt>
                <c:pt idx="4">
                  <c:v>21256</c:v>
                </c:pt>
                <c:pt idx="5">
                  <c:v>22842</c:v>
                </c:pt>
                <c:pt idx="6">
                  <c:v>22842</c:v>
                </c:pt>
                <c:pt idx="7">
                  <c:v>22842</c:v>
                </c:pt>
                <c:pt idx="8">
                  <c:v>22842</c:v>
                </c:pt>
                <c:pt idx="9">
                  <c:v>22844</c:v>
                </c:pt>
                <c:pt idx="10">
                  <c:v>23132</c:v>
                </c:pt>
                <c:pt idx="11">
                  <c:v>23204</c:v>
                </c:pt>
                <c:pt idx="12">
                  <c:v>24328</c:v>
                </c:pt>
                <c:pt idx="13">
                  <c:v>24490</c:v>
                </c:pt>
                <c:pt idx="14">
                  <c:v>24539</c:v>
                </c:pt>
                <c:pt idx="15">
                  <c:v>24776</c:v>
                </c:pt>
                <c:pt idx="16">
                  <c:v>24900</c:v>
                </c:pt>
                <c:pt idx="17">
                  <c:v>24908</c:v>
                </c:pt>
                <c:pt idx="18">
                  <c:v>24908</c:v>
                </c:pt>
                <c:pt idx="19">
                  <c:v>24908</c:v>
                </c:pt>
                <c:pt idx="20">
                  <c:v>25021</c:v>
                </c:pt>
                <c:pt idx="21">
                  <c:v>25272</c:v>
                </c:pt>
                <c:pt idx="22">
                  <c:v>25416</c:v>
                </c:pt>
                <c:pt idx="23">
                  <c:v>25827</c:v>
                </c:pt>
                <c:pt idx="24">
                  <c:v>26223</c:v>
                </c:pt>
                <c:pt idx="25">
                  <c:v>26721</c:v>
                </c:pt>
                <c:pt idx="26">
                  <c:v>26946</c:v>
                </c:pt>
                <c:pt idx="27">
                  <c:v>27981</c:v>
                </c:pt>
                <c:pt idx="28">
                  <c:v>28396</c:v>
                </c:pt>
                <c:pt idx="29">
                  <c:v>28418</c:v>
                </c:pt>
                <c:pt idx="30">
                  <c:v>28465</c:v>
                </c:pt>
                <c:pt idx="31">
                  <c:v>28720</c:v>
                </c:pt>
                <c:pt idx="32">
                  <c:v>29288</c:v>
                </c:pt>
                <c:pt idx="33">
                  <c:v>29420</c:v>
                </c:pt>
                <c:pt idx="34">
                  <c:v>29813</c:v>
                </c:pt>
                <c:pt idx="35">
                  <c:v>29936</c:v>
                </c:pt>
                <c:pt idx="36">
                  <c:v>29963</c:v>
                </c:pt>
                <c:pt idx="37">
                  <c:v>30180</c:v>
                </c:pt>
                <c:pt idx="38">
                  <c:v>30497</c:v>
                </c:pt>
                <c:pt idx="39">
                  <c:v>30573</c:v>
                </c:pt>
                <c:pt idx="40">
                  <c:v>30614</c:v>
                </c:pt>
                <c:pt idx="41">
                  <c:v>30821</c:v>
                </c:pt>
                <c:pt idx="42">
                  <c:v>31053</c:v>
                </c:pt>
                <c:pt idx="43">
                  <c:v>31670</c:v>
                </c:pt>
                <c:pt idx="44">
                  <c:v>31754</c:v>
                </c:pt>
                <c:pt idx="45">
                  <c:v>31902</c:v>
                </c:pt>
                <c:pt idx="46">
                  <c:v>32229</c:v>
                </c:pt>
                <c:pt idx="47">
                  <c:v>32275</c:v>
                </c:pt>
                <c:pt idx="48">
                  <c:v>32465</c:v>
                </c:pt>
                <c:pt idx="49">
                  <c:v>32568</c:v>
                </c:pt>
                <c:pt idx="50">
                  <c:v>32568</c:v>
                </c:pt>
                <c:pt idx="51">
                  <c:v>32568</c:v>
                </c:pt>
                <c:pt idx="52">
                  <c:v>32600</c:v>
                </c:pt>
                <c:pt idx="53">
                  <c:v>32627</c:v>
                </c:pt>
                <c:pt idx="54">
                  <c:v>32864</c:v>
                </c:pt>
                <c:pt idx="55">
                  <c:v>32992</c:v>
                </c:pt>
                <c:pt idx="56">
                  <c:v>33022</c:v>
                </c:pt>
                <c:pt idx="57">
                  <c:v>33159</c:v>
                </c:pt>
                <c:pt idx="58">
                  <c:v>33291</c:v>
                </c:pt>
                <c:pt idx="59">
                  <c:v>33338</c:v>
                </c:pt>
                <c:pt idx="60">
                  <c:v>33647</c:v>
                </c:pt>
                <c:pt idx="61">
                  <c:v>33752</c:v>
                </c:pt>
                <c:pt idx="62">
                  <c:v>34409</c:v>
                </c:pt>
                <c:pt idx="63">
                  <c:v>34724</c:v>
                </c:pt>
                <c:pt idx="64">
                  <c:v>34782</c:v>
                </c:pt>
                <c:pt idx="65">
                  <c:v>35339</c:v>
                </c:pt>
                <c:pt idx="66">
                  <c:v>35348</c:v>
                </c:pt>
                <c:pt idx="67">
                  <c:v>35421</c:v>
                </c:pt>
                <c:pt idx="68">
                  <c:v>35422</c:v>
                </c:pt>
                <c:pt idx="69">
                  <c:v>35594</c:v>
                </c:pt>
                <c:pt idx="70">
                  <c:v>35715</c:v>
                </c:pt>
                <c:pt idx="71">
                  <c:v>35730</c:v>
                </c:pt>
                <c:pt idx="72">
                  <c:v>35833</c:v>
                </c:pt>
                <c:pt idx="73">
                  <c:v>35942</c:v>
                </c:pt>
                <c:pt idx="74">
                  <c:v>35983</c:v>
                </c:pt>
                <c:pt idx="75">
                  <c:v>36260</c:v>
                </c:pt>
                <c:pt idx="76">
                  <c:v>36355</c:v>
                </c:pt>
                <c:pt idx="77">
                  <c:v>36624</c:v>
                </c:pt>
                <c:pt idx="78">
                  <c:v>36630</c:v>
                </c:pt>
                <c:pt idx="79">
                  <c:v>36654</c:v>
                </c:pt>
                <c:pt idx="80">
                  <c:v>36909</c:v>
                </c:pt>
                <c:pt idx="81">
                  <c:v>36909</c:v>
                </c:pt>
                <c:pt idx="82">
                  <c:v>36909</c:v>
                </c:pt>
                <c:pt idx="83">
                  <c:v>36909</c:v>
                </c:pt>
                <c:pt idx="84">
                  <c:v>37275</c:v>
                </c:pt>
                <c:pt idx="85">
                  <c:v>37709</c:v>
                </c:pt>
                <c:pt idx="86">
                  <c:v>37722</c:v>
                </c:pt>
                <c:pt idx="87">
                  <c:v>37852</c:v>
                </c:pt>
                <c:pt idx="88">
                  <c:v>38109</c:v>
                </c:pt>
                <c:pt idx="89">
                  <c:v>38208</c:v>
                </c:pt>
                <c:pt idx="90">
                  <c:v>38275</c:v>
                </c:pt>
                <c:pt idx="91">
                  <c:v>38289</c:v>
                </c:pt>
                <c:pt idx="92">
                  <c:v>38298</c:v>
                </c:pt>
                <c:pt idx="93">
                  <c:v>38342</c:v>
                </c:pt>
                <c:pt idx="94">
                  <c:v>38412</c:v>
                </c:pt>
                <c:pt idx="95">
                  <c:v>38427</c:v>
                </c:pt>
                <c:pt idx="96">
                  <c:v>38484</c:v>
                </c:pt>
                <c:pt idx="97">
                  <c:v>38518</c:v>
                </c:pt>
                <c:pt idx="98">
                  <c:v>38740</c:v>
                </c:pt>
                <c:pt idx="99">
                  <c:v>38857</c:v>
                </c:pt>
                <c:pt idx="100">
                  <c:v>38951</c:v>
                </c:pt>
                <c:pt idx="101">
                  <c:v>39016</c:v>
                </c:pt>
                <c:pt idx="102">
                  <c:v>39115</c:v>
                </c:pt>
                <c:pt idx="103">
                  <c:v>39196</c:v>
                </c:pt>
                <c:pt idx="104">
                  <c:v>39248</c:v>
                </c:pt>
                <c:pt idx="105">
                  <c:v>39533</c:v>
                </c:pt>
                <c:pt idx="106">
                  <c:v>39696</c:v>
                </c:pt>
                <c:pt idx="107">
                  <c:v>39813</c:v>
                </c:pt>
                <c:pt idx="108">
                  <c:v>39863</c:v>
                </c:pt>
                <c:pt idx="109">
                  <c:v>40075</c:v>
                </c:pt>
                <c:pt idx="110">
                  <c:v>40117</c:v>
                </c:pt>
                <c:pt idx="111">
                  <c:v>40183</c:v>
                </c:pt>
                <c:pt idx="112">
                  <c:v>40264</c:v>
                </c:pt>
                <c:pt idx="113">
                  <c:v>40304</c:v>
                </c:pt>
                <c:pt idx="114">
                  <c:v>40391</c:v>
                </c:pt>
                <c:pt idx="115">
                  <c:v>40421</c:v>
                </c:pt>
                <c:pt idx="116">
                  <c:v>40457</c:v>
                </c:pt>
                <c:pt idx="117">
                  <c:v>40523</c:v>
                </c:pt>
                <c:pt idx="118">
                  <c:v>40573</c:v>
                </c:pt>
                <c:pt idx="119">
                  <c:v>40596</c:v>
                </c:pt>
                <c:pt idx="120">
                  <c:v>40650</c:v>
                </c:pt>
                <c:pt idx="121">
                  <c:v>40650</c:v>
                </c:pt>
                <c:pt idx="122">
                  <c:v>40694</c:v>
                </c:pt>
                <c:pt idx="123">
                  <c:v>40694</c:v>
                </c:pt>
                <c:pt idx="124">
                  <c:v>40803</c:v>
                </c:pt>
                <c:pt idx="125">
                  <c:v>40867</c:v>
                </c:pt>
                <c:pt idx="126">
                  <c:v>41000</c:v>
                </c:pt>
                <c:pt idx="127">
                  <c:v>41066</c:v>
                </c:pt>
                <c:pt idx="128">
                  <c:v>41129</c:v>
                </c:pt>
                <c:pt idx="129">
                  <c:v>41198</c:v>
                </c:pt>
                <c:pt idx="130">
                  <c:v>41216</c:v>
                </c:pt>
                <c:pt idx="131">
                  <c:v>41338</c:v>
                </c:pt>
                <c:pt idx="132">
                  <c:v>41478</c:v>
                </c:pt>
                <c:pt idx="133">
                  <c:v>41544</c:v>
                </c:pt>
                <c:pt idx="134">
                  <c:v>41583</c:v>
                </c:pt>
                <c:pt idx="135">
                  <c:v>41592</c:v>
                </c:pt>
                <c:pt idx="136">
                  <c:v>41663</c:v>
                </c:pt>
                <c:pt idx="137">
                  <c:v>42002</c:v>
                </c:pt>
                <c:pt idx="138">
                  <c:v>42009</c:v>
                </c:pt>
                <c:pt idx="139">
                  <c:v>42051</c:v>
                </c:pt>
                <c:pt idx="140">
                  <c:v>42091</c:v>
                </c:pt>
                <c:pt idx="141">
                  <c:v>42092</c:v>
                </c:pt>
                <c:pt idx="142">
                  <c:v>42101</c:v>
                </c:pt>
                <c:pt idx="143">
                  <c:v>42186</c:v>
                </c:pt>
                <c:pt idx="144">
                  <c:v>42195</c:v>
                </c:pt>
                <c:pt idx="145">
                  <c:v>42198</c:v>
                </c:pt>
                <c:pt idx="146">
                  <c:v>42359</c:v>
                </c:pt>
                <c:pt idx="147">
                  <c:v>42368</c:v>
                </c:pt>
                <c:pt idx="148">
                  <c:v>42375</c:v>
                </c:pt>
                <c:pt idx="149">
                  <c:v>42401</c:v>
                </c:pt>
                <c:pt idx="150">
                  <c:v>42488</c:v>
                </c:pt>
                <c:pt idx="151">
                  <c:v>42631</c:v>
                </c:pt>
                <c:pt idx="152">
                  <c:v>42643</c:v>
                </c:pt>
                <c:pt idx="153">
                  <c:v>42680</c:v>
                </c:pt>
                <c:pt idx="154">
                  <c:v>42712</c:v>
                </c:pt>
                <c:pt idx="155">
                  <c:v>42836</c:v>
                </c:pt>
                <c:pt idx="156">
                  <c:v>42937</c:v>
                </c:pt>
                <c:pt idx="157">
                  <c:v>43035</c:v>
                </c:pt>
                <c:pt idx="158">
                  <c:v>43071</c:v>
                </c:pt>
                <c:pt idx="159">
                  <c:v>43087</c:v>
                </c:pt>
                <c:pt idx="160">
                  <c:v>43101</c:v>
                </c:pt>
                <c:pt idx="161">
                  <c:v>43112</c:v>
                </c:pt>
                <c:pt idx="162">
                  <c:v>43137</c:v>
                </c:pt>
                <c:pt idx="163">
                  <c:v>43150</c:v>
                </c:pt>
                <c:pt idx="164">
                  <c:v>43185</c:v>
                </c:pt>
                <c:pt idx="165">
                  <c:v>43221</c:v>
                </c:pt>
                <c:pt idx="166">
                  <c:v>43222</c:v>
                </c:pt>
                <c:pt idx="167">
                  <c:v>43283</c:v>
                </c:pt>
                <c:pt idx="168">
                  <c:v>43299</c:v>
                </c:pt>
                <c:pt idx="169">
                  <c:v>43326</c:v>
                </c:pt>
                <c:pt idx="170">
                  <c:v>43411</c:v>
                </c:pt>
                <c:pt idx="171">
                  <c:v>43415</c:v>
                </c:pt>
                <c:pt idx="172">
                  <c:v>43418</c:v>
                </c:pt>
                <c:pt idx="173">
                  <c:v>43418</c:v>
                </c:pt>
                <c:pt idx="174">
                  <c:v>43418</c:v>
                </c:pt>
                <c:pt idx="175">
                  <c:v>43445</c:v>
                </c:pt>
                <c:pt idx="176">
                  <c:v>43457</c:v>
                </c:pt>
                <c:pt idx="177">
                  <c:v>43503</c:v>
                </c:pt>
                <c:pt idx="178">
                  <c:v>43545</c:v>
                </c:pt>
                <c:pt idx="179">
                  <c:v>43596</c:v>
                </c:pt>
                <c:pt idx="180">
                  <c:v>43611</c:v>
                </c:pt>
                <c:pt idx="181">
                  <c:v>43845</c:v>
                </c:pt>
                <c:pt idx="182">
                  <c:v>44096</c:v>
                </c:pt>
                <c:pt idx="183">
                  <c:v>44130</c:v>
                </c:pt>
                <c:pt idx="184">
                  <c:v>44172</c:v>
                </c:pt>
                <c:pt idx="185">
                  <c:v>44232</c:v>
                </c:pt>
                <c:pt idx="186">
                  <c:v>44246</c:v>
                </c:pt>
                <c:pt idx="187">
                  <c:v>44296</c:v>
                </c:pt>
                <c:pt idx="188">
                  <c:v>44317</c:v>
                </c:pt>
                <c:pt idx="189">
                  <c:v>44354</c:v>
                </c:pt>
                <c:pt idx="190">
                  <c:v>44367</c:v>
                </c:pt>
                <c:pt idx="191">
                  <c:v>44384</c:v>
                </c:pt>
                <c:pt idx="192">
                  <c:v>44427</c:v>
                </c:pt>
                <c:pt idx="193">
                  <c:v>44468</c:v>
                </c:pt>
                <c:pt idx="194">
                  <c:v>44498</c:v>
                </c:pt>
                <c:pt idx="195">
                  <c:v>44512</c:v>
                </c:pt>
                <c:pt idx="196">
                  <c:v>44604</c:v>
                </c:pt>
                <c:pt idx="197">
                  <c:v>44640</c:v>
                </c:pt>
                <c:pt idx="198">
                  <c:v>44644</c:v>
                </c:pt>
                <c:pt idx="199">
                  <c:v>44781</c:v>
                </c:pt>
                <c:pt idx="200">
                  <c:v>44813</c:v>
                </c:pt>
                <c:pt idx="201">
                  <c:v>44976</c:v>
                </c:pt>
                <c:pt idx="202">
                  <c:v>44985</c:v>
                </c:pt>
                <c:pt idx="203">
                  <c:v>44991</c:v>
                </c:pt>
                <c:pt idx="204">
                  <c:v>45025</c:v>
                </c:pt>
                <c:pt idx="205">
                  <c:v>45036</c:v>
                </c:pt>
                <c:pt idx="206">
                  <c:v>45064</c:v>
                </c:pt>
                <c:pt idx="207">
                  <c:v>45099</c:v>
                </c:pt>
                <c:pt idx="208">
                  <c:v>45151</c:v>
                </c:pt>
                <c:pt idx="209">
                  <c:v>45354</c:v>
                </c:pt>
                <c:pt idx="210">
                  <c:v>45378</c:v>
                </c:pt>
                <c:pt idx="211">
                  <c:v>45389</c:v>
                </c:pt>
                <c:pt idx="212">
                  <c:v>45411</c:v>
                </c:pt>
                <c:pt idx="213">
                  <c:v>45421</c:v>
                </c:pt>
                <c:pt idx="214">
                  <c:v>45454</c:v>
                </c:pt>
                <c:pt idx="215">
                  <c:v>45500</c:v>
                </c:pt>
                <c:pt idx="216">
                  <c:v>45543</c:v>
                </c:pt>
                <c:pt idx="217">
                  <c:v>45577</c:v>
                </c:pt>
                <c:pt idx="218">
                  <c:v>45593</c:v>
                </c:pt>
                <c:pt idx="219">
                  <c:v>45606</c:v>
                </c:pt>
                <c:pt idx="220">
                  <c:v>45799</c:v>
                </c:pt>
                <c:pt idx="221">
                  <c:v>45846</c:v>
                </c:pt>
                <c:pt idx="222">
                  <c:v>45856</c:v>
                </c:pt>
                <c:pt idx="223">
                  <c:v>45873</c:v>
                </c:pt>
                <c:pt idx="224">
                  <c:v>45898</c:v>
                </c:pt>
                <c:pt idx="225">
                  <c:v>45954</c:v>
                </c:pt>
                <c:pt idx="226">
                  <c:v>45989</c:v>
                </c:pt>
                <c:pt idx="227">
                  <c:v>45998</c:v>
                </c:pt>
                <c:pt idx="228">
                  <c:v>46086</c:v>
                </c:pt>
                <c:pt idx="229">
                  <c:v>46092</c:v>
                </c:pt>
                <c:pt idx="230">
                  <c:v>46110</c:v>
                </c:pt>
                <c:pt idx="231">
                  <c:v>46116</c:v>
                </c:pt>
                <c:pt idx="232">
                  <c:v>46145</c:v>
                </c:pt>
                <c:pt idx="233">
                  <c:v>46165</c:v>
                </c:pt>
                <c:pt idx="234">
                  <c:v>46236</c:v>
                </c:pt>
                <c:pt idx="235">
                  <c:v>46238</c:v>
                </c:pt>
                <c:pt idx="236">
                  <c:v>46264</c:v>
                </c:pt>
                <c:pt idx="237">
                  <c:v>46440</c:v>
                </c:pt>
                <c:pt idx="238">
                  <c:v>46474</c:v>
                </c:pt>
                <c:pt idx="239">
                  <c:v>46541</c:v>
                </c:pt>
                <c:pt idx="240">
                  <c:v>46543</c:v>
                </c:pt>
                <c:pt idx="241">
                  <c:v>46543</c:v>
                </c:pt>
                <c:pt idx="242">
                  <c:v>46566</c:v>
                </c:pt>
                <c:pt idx="243">
                  <c:v>46573</c:v>
                </c:pt>
                <c:pt idx="244">
                  <c:v>46641</c:v>
                </c:pt>
                <c:pt idx="245">
                  <c:v>46643</c:v>
                </c:pt>
                <c:pt idx="246">
                  <c:v>46651</c:v>
                </c:pt>
                <c:pt idx="247">
                  <c:v>46660</c:v>
                </c:pt>
                <c:pt idx="248">
                  <c:v>46672</c:v>
                </c:pt>
                <c:pt idx="249">
                  <c:v>46700</c:v>
                </c:pt>
                <c:pt idx="250">
                  <c:v>46721</c:v>
                </c:pt>
                <c:pt idx="251">
                  <c:v>46744</c:v>
                </c:pt>
                <c:pt idx="252">
                  <c:v>46747</c:v>
                </c:pt>
                <c:pt idx="253">
                  <c:v>46789</c:v>
                </c:pt>
                <c:pt idx="254">
                  <c:v>46802</c:v>
                </c:pt>
                <c:pt idx="255">
                  <c:v>46827</c:v>
                </c:pt>
                <c:pt idx="256">
                  <c:v>46885</c:v>
                </c:pt>
                <c:pt idx="257">
                  <c:v>46938</c:v>
                </c:pt>
                <c:pt idx="258">
                  <c:v>46945</c:v>
                </c:pt>
                <c:pt idx="259">
                  <c:v>46989</c:v>
                </c:pt>
                <c:pt idx="260">
                  <c:v>47139</c:v>
                </c:pt>
                <c:pt idx="261">
                  <c:v>47195</c:v>
                </c:pt>
                <c:pt idx="262">
                  <c:v>47314</c:v>
                </c:pt>
                <c:pt idx="263">
                  <c:v>47327</c:v>
                </c:pt>
                <c:pt idx="264">
                  <c:v>47327</c:v>
                </c:pt>
                <c:pt idx="265">
                  <c:v>47361</c:v>
                </c:pt>
                <c:pt idx="266">
                  <c:v>47385</c:v>
                </c:pt>
                <c:pt idx="267">
                  <c:v>47397</c:v>
                </c:pt>
                <c:pt idx="268">
                  <c:v>47452</c:v>
                </c:pt>
                <c:pt idx="269">
                  <c:v>47482</c:v>
                </c:pt>
                <c:pt idx="270">
                  <c:v>47485</c:v>
                </c:pt>
                <c:pt idx="271">
                  <c:v>47485</c:v>
                </c:pt>
                <c:pt idx="272">
                  <c:v>47495</c:v>
                </c:pt>
                <c:pt idx="273">
                  <c:v>47540</c:v>
                </c:pt>
                <c:pt idx="274">
                  <c:v>47540</c:v>
                </c:pt>
                <c:pt idx="275">
                  <c:v>47590</c:v>
                </c:pt>
                <c:pt idx="276">
                  <c:v>47597</c:v>
                </c:pt>
                <c:pt idx="277">
                  <c:v>47756</c:v>
                </c:pt>
                <c:pt idx="278">
                  <c:v>47907</c:v>
                </c:pt>
                <c:pt idx="279">
                  <c:v>47913</c:v>
                </c:pt>
                <c:pt idx="280">
                  <c:v>47937</c:v>
                </c:pt>
                <c:pt idx="281">
                  <c:v>48036</c:v>
                </c:pt>
                <c:pt idx="282">
                  <c:v>48039</c:v>
                </c:pt>
                <c:pt idx="283">
                  <c:v>48040</c:v>
                </c:pt>
                <c:pt idx="284">
                  <c:v>48050</c:v>
                </c:pt>
                <c:pt idx="285">
                  <c:v>48057</c:v>
                </c:pt>
                <c:pt idx="286">
                  <c:v>48150</c:v>
                </c:pt>
                <c:pt idx="287">
                  <c:v>48179</c:v>
                </c:pt>
                <c:pt idx="288">
                  <c:v>48231</c:v>
                </c:pt>
                <c:pt idx="289">
                  <c:v>48296</c:v>
                </c:pt>
                <c:pt idx="290">
                  <c:v>48309</c:v>
                </c:pt>
                <c:pt idx="291">
                  <c:v>48364</c:v>
                </c:pt>
                <c:pt idx="292">
                  <c:v>48376</c:v>
                </c:pt>
                <c:pt idx="293">
                  <c:v>48382</c:v>
                </c:pt>
                <c:pt idx="294">
                  <c:v>48434</c:v>
                </c:pt>
                <c:pt idx="295">
                  <c:v>48440</c:v>
                </c:pt>
                <c:pt idx="296">
                  <c:v>48466</c:v>
                </c:pt>
                <c:pt idx="297">
                  <c:v>48473</c:v>
                </c:pt>
                <c:pt idx="298">
                  <c:v>48491</c:v>
                </c:pt>
                <c:pt idx="299">
                  <c:v>48555</c:v>
                </c:pt>
                <c:pt idx="300">
                  <c:v>48675</c:v>
                </c:pt>
                <c:pt idx="301">
                  <c:v>48684</c:v>
                </c:pt>
                <c:pt idx="302">
                  <c:v>48707</c:v>
                </c:pt>
                <c:pt idx="303">
                  <c:v>48712</c:v>
                </c:pt>
                <c:pt idx="304">
                  <c:v>48745</c:v>
                </c:pt>
                <c:pt idx="305">
                  <c:v>48779</c:v>
                </c:pt>
                <c:pt idx="306">
                  <c:v>48793</c:v>
                </c:pt>
                <c:pt idx="307">
                  <c:v>48860</c:v>
                </c:pt>
                <c:pt idx="308">
                  <c:v>48896</c:v>
                </c:pt>
                <c:pt idx="309">
                  <c:v>48899</c:v>
                </c:pt>
                <c:pt idx="310">
                  <c:v>48909</c:v>
                </c:pt>
                <c:pt idx="311">
                  <c:v>48917</c:v>
                </c:pt>
                <c:pt idx="312">
                  <c:v>48936</c:v>
                </c:pt>
                <c:pt idx="313">
                  <c:v>48991</c:v>
                </c:pt>
                <c:pt idx="314">
                  <c:v>48991</c:v>
                </c:pt>
                <c:pt idx="315">
                  <c:v>49006</c:v>
                </c:pt>
                <c:pt idx="316">
                  <c:v>49036</c:v>
                </c:pt>
                <c:pt idx="317">
                  <c:v>49130</c:v>
                </c:pt>
                <c:pt idx="318">
                  <c:v>49131</c:v>
                </c:pt>
                <c:pt idx="319">
                  <c:v>49156</c:v>
                </c:pt>
                <c:pt idx="320">
                  <c:v>49203</c:v>
                </c:pt>
                <c:pt idx="321">
                  <c:v>49232</c:v>
                </c:pt>
                <c:pt idx="322">
                  <c:v>49279</c:v>
                </c:pt>
                <c:pt idx="323">
                  <c:v>49295</c:v>
                </c:pt>
                <c:pt idx="324">
                  <c:v>49316</c:v>
                </c:pt>
                <c:pt idx="325">
                  <c:v>49351</c:v>
                </c:pt>
                <c:pt idx="326">
                  <c:v>49378</c:v>
                </c:pt>
                <c:pt idx="327">
                  <c:v>49416</c:v>
                </c:pt>
                <c:pt idx="328">
                  <c:v>49438</c:v>
                </c:pt>
                <c:pt idx="329">
                  <c:v>49483</c:v>
                </c:pt>
                <c:pt idx="330">
                  <c:v>49520</c:v>
                </c:pt>
                <c:pt idx="331">
                  <c:v>49547</c:v>
                </c:pt>
                <c:pt idx="332">
                  <c:v>49555</c:v>
                </c:pt>
                <c:pt idx="333">
                  <c:v>49584</c:v>
                </c:pt>
                <c:pt idx="334">
                  <c:v>49601</c:v>
                </c:pt>
                <c:pt idx="335">
                  <c:v>49641</c:v>
                </c:pt>
                <c:pt idx="336">
                  <c:v>49669</c:v>
                </c:pt>
                <c:pt idx="337">
                  <c:v>49694</c:v>
                </c:pt>
                <c:pt idx="338">
                  <c:v>49697</c:v>
                </c:pt>
                <c:pt idx="339">
                  <c:v>49705</c:v>
                </c:pt>
                <c:pt idx="340">
                  <c:v>49714</c:v>
                </c:pt>
                <c:pt idx="341">
                  <c:v>49716</c:v>
                </c:pt>
                <c:pt idx="342">
                  <c:v>49766</c:v>
                </c:pt>
                <c:pt idx="343">
                  <c:v>49802</c:v>
                </c:pt>
                <c:pt idx="344">
                  <c:v>49898</c:v>
                </c:pt>
                <c:pt idx="345">
                  <c:v>49956</c:v>
                </c:pt>
                <c:pt idx="346">
                  <c:v>50002</c:v>
                </c:pt>
                <c:pt idx="347">
                  <c:v>50004</c:v>
                </c:pt>
                <c:pt idx="348">
                  <c:v>50030</c:v>
                </c:pt>
                <c:pt idx="349">
                  <c:v>50074</c:v>
                </c:pt>
                <c:pt idx="350">
                  <c:v>50318</c:v>
                </c:pt>
                <c:pt idx="351">
                  <c:v>50323</c:v>
                </c:pt>
                <c:pt idx="352">
                  <c:v>50330</c:v>
                </c:pt>
                <c:pt idx="353">
                  <c:v>50369</c:v>
                </c:pt>
                <c:pt idx="354">
                  <c:v>50412</c:v>
                </c:pt>
                <c:pt idx="355">
                  <c:v>50416</c:v>
                </c:pt>
                <c:pt idx="356">
                  <c:v>50416</c:v>
                </c:pt>
                <c:pt idx="357">
                  <c:v>50417</c:v>
                </c:pt>
                <c:pt idx="358">
                  <c:v>50660</c:v>
                </c:pt>
                <c:pt idx="359">
                  <c:v>50755</c:v>
                </c:pt>
                <c:pt idx="360">
                  <c:v>50797</c:v>
                </c:pt>
                <c:pt idx="361">
                  <c:v>50876</c:v>
                </c:pt>
                <c:pt idx="362">
                  <c:v>50968</c:v>
                </c:pt>
                <c:pt idx="363">
                  <c:v>51006</c:v>
                </c:pt>
                <c:pt idx="364">
                  <c:v>51051</c:v>
                </c:pt>
                <c:pt idx="365">
                  <c:v>51110</c:v>
                </c:pt>
                <c:pt idx="366">
                  <c:v>51152</c:v>
                </c:pt>
                <c:pt idx="367">
                  <c:v>51165</c:v>
                </c:pt>
                <c:pt idx="368">
                  <c:v>51173</c:v>
                </c:pt>
                <c:pt idx="369">
                  <c:v>51190</c:v>
                </c:pt>
                <c:pt idx="370">
                  <c:v>51262</c:v>
                </c:pt>
                <c:pt idx="371">
                  <c:v>51303</c:v>
                </c:pt>
                <c:pt idx="372">
                  <c:v>51500</c:v>
                </c:pt>
                <c:pt idx="373">
                  <c:v>51504</c:v>
                </c:pt>
                <c:pt idx="374">
                  <c:v>51509</c:v>
                </c:pt>
                <c:pt idx="375">
                  <c:v>51516</c:v>
                </c:pt>
                <c:pt idx="376">
                  <c:v>51539</c:v>
                </c:pt>
                <c:pt idx="377">
                  <c:v>51540</c:v>
                </c:pt>
                <c:pt idx="378">
                  <c:v>51562</c:v>
                </c:pt>
                <c:pt idx="379">
                  <c:v>51584</c:v>
                </c:pt>
                <c:pt idx="380">
                  <c:v>51593</c:v>
                </c:pt>
                <c:pt idx="381">
                  <c:v>51612</c:v>
                </c:pt>
                <c:pt idx="382">
                  <c:v>51641</c:v>
                </c:pt>
                <c:pt idx="383">
                  <c:v>51642</c:v>
                </c:pt>
                <c:pt idx="384">
                  <c:v>51655</c:v>
                </c:pt>
                <c:pt idx="385">
                  <c:v>51673</c:v>
                </c:pt>
                <c:pt idx="386">
                  <c:v>51700</c:v>
                </c:pt>
                <c:pt idx="387">
                  <c:v>51719</c:v>
                </c:pt>
                <c:pt idx="388">
                  <c:v>51724</c:v>
                </c:pt>
                <c:pt idx="389">
                  <c:v>51732</c:v>
                </c:pt>
                <c:pt idx="390">
                  <c:v>51745</c:v>
                </c:pt>
                <c:pt idx="391">
                  <c:v>51748</c:v>
                </c:pt>
                <c:pt idx="392">
                  <c:v>51748</c:v>
                </c:pt>
                <c:pt idx="393">
                  <c:v>51819</c:v>
                </c:pt>
                <c:pt idx="394">
                  <c:v>51838</c:v>
                </c:pt>
                <c:pt idx="395">
                  <c:v>51892</c:v>
                </c:pt>
                <c:pt idx="396">
                  <c:v>51943</c:v>
                </c:pt>
                <c:pt idx="397">
                  <c:v>51943</c:v>
                </c:pt>
                <c:pt idx="398">
                  <c:v>52015</c:v>
                </c:pt>
                <c:pt idx="399">
                  <c:v>52055</c:v>
                </c:pt>
                <c:pt idx="400">
                  <c:v>52064</c:v>
                </c:pt>
                <c:pt idx="401">
                  <c:v>52074</c:v>
                </c:pt>
                <c:pt idx="402">
                  <c:v>52084</c:v>
                </c:pt>
                <c:pt idx="403">
                  <c:v>52113</c:v>
                </c:pt>
                <c:pt idx="404">
                  <c:v>52119</c:v>
                </c:pt>
                <c:pt idx="405">
                  <c:v>52163</c:v>
                </c:pt>
                <c:pt idx="406">
                  <c:v>52184</c:v>
                </c:pt>
                <c:pt idx="407">
                  <c:v>52198</c:v>
                </c:pt>
                <c:pt idx="408">
                  <c:v>52199</c:v>
                </c:pt>
                <c:pt idx="409">
                  <c:v>52228</c:v>
                </c:pt>
                <c:pt idx="410">
                  <c:v>52248</c:v>
                </c:pt>
                <c:pt idx="411">
                  <c:v>52341</c:v>
                </c:pt>
                <c:pt idx="412">
                  <c:v>52343</c:v>
                </c:pt>
                <c:pt idx="413">
                  <c:v>52374</c:v>
                </c:pt>
                <c:pt idx="414">
                  <c:v>52410</c:v>
                </c:pt>
                <c:pt idx="415">
                  <c:v>52415</c:v>
                </c:pt>
                <c:pt idx="416">
                  <c:v>52559</c:v>
                </c:pt>
                <c:pt idx="417">
                  <c:v>52575</c:v>
                </c:pt>
                <c:pt idx="418">
                  <c:v>52649</c:v>
                </c:pt>
                <c:pt idx="419">
                  <c:v>52766</c:v>
                </c:pt>
                <c:pt idx="420">
                  <c:v>52773</c:v>
                </c:pt>
                <c:pt idx="421">
                  <c:v>52788</c:v>
                </c:pt>
                <c:pt idx="422">
                  <c:v>52824</c:v>
                </c:pt>
                <c:pt idx="423">
                  <c:v>52873</c:v>
                </c:pt>
                <c:pt idx="424">
                  <c:v>52876</c:v>
                </c:pt>
                <c:pt idx="425">
                  <c:v>52889</c:v>
                </c:pt>
                <c:pt idx="426">
                  <c:v>52901</c:v>
                </c:pt>
                <c:pt idx="427">
                  <c:v>52927</c:v>
                </c:pt>
                <c:pt idx="428">
                  <c:v>52928</c:v>
                </c:pt>
                <c:pt idx="429">
                  <c:v>52946</c:v>
                </c:pt>
                <c:pt idx="430">
                  <c:v>53023</c:v>
                </c:pt>
                <c:pt idx="431">
                  <c:v>53038</c:v>
                </c:pt>
                <c:pt idx="432">
                  <c:v>53096</c:v>
                </c:pt>
                <c:pt idx="433">
                  <c:v>53124</c:v>
                </c:pt>
                <c:pt idx="434">
                  <c:v>53145</c:v>
                </c:pt>
                <c:pt idx="435">
                  <c:v>53175</c:v>
                </c:pt>
                <c:pt idx="436">
                  <c:v>53187</c:v>
                </c:pt>
                <c:pt idx="437">
                  <c:v>53213</c:v>
                </c:pt>
                <c:pt idx="438">
                  <c:v>53217</c:v>
                </c:pt>
                <c:pt idx="439">
                  <c:v>53260</c:v>
                </c:pt>
                <c:pt idx="440">
                  <c:v>53278</c:v>
                </c:pt>
                <c:pt idx="441">
                  <c:v>53313</c:v>
                </c:pt>
                <c:pt idx="442">
                  <c:v>53316</c:v>
                </c:pt>
                <c:pt idx="443">
                  <c:v>53353</c:v>
                </c:pt>
                <c:pt idx="444">
                  <c:v>53406</c:v>
                </c:pt>
                <c:pt idx="445">
                  <c:v>53409</c:v>
                </c:pt>
                <c:pt idx="446">
                  <c:v>53419</c:v>
                </c:pt>
                <c:pt idx="447">
                  <c:v>53453</c:v>
                </c:pt>
                <c:pt idx="448">
                  <c:v>53459</c:v>
                </c:pt>
                <c:pt idx="449">
                  <c:v>53460</c:v>
                </c:pt>
                <c:pt idx="450">
                  <c:v>53501</c:v>
                </c:pt>
                <c:pt idx="451">
                  <c:v>53565</c:v>
                </c:pt>
                <c:pt idx="452">
                  <c:v>53603</c:v>
                </c:pt>
                <c:pt idx="453">
                  <c:v>53610</c:v>
                </c:pt>
                <c:pt idx="454">
                  <c:v>53623</c:v>
                </c:pt>
                <c:pt idx="455">
                  <c:v>53723</c:v>
                </c:pt>
                <c:pt idx="456">
                  <c:v>53726</c:v>
                </c:pt>
                <c:pt idx="457">
                  <c:v>53728</c:v>
                </c:pt>
                <c:pt idx="458">
                  <c:v>53770</c:v>
                </c:pt>
                <c:pt idx="459">
                  <c:v>53787</c:v>
                </c:pt>
                <c:pt idx="460">
                  <c:v>53800</c:v>
                </c:pt>
                <c:pt idx="461">
                  <c:v>53804</c:v>
                </c:pt>
                <c:pt idx="462">
                  <c:v>53843</c:v>
                </c:pt>
                <c:pt idx="463">
                  <c:v>53844</c:v>
                </c:pt>
                <c:pt idx="464">
                  <c:v>53848</c:v>
                </c:pt>
                <c:pt idx="465">
                  <c:v>53861</c:v>
                </c:pt>
                <c:pt idx="466">
                  <c:v>53863</c:v>
                </c:pt>
                <c:pt idx="467">
                  <c:v>53907</c:v>
                </c:pt>
                <c:pt idx="468">
                  <c:v>53957</c:v>
                </c:pt>
                <c:pt idx="469">
                  <c:v>53990</c:v>
                </c:pt>
                <c:pt idx="470">
                  <c:v>54003</c:v>
                </c:pt>
                <c:pt idx="471">
                  <c:v>54053</c:v>
                </c:pt>
                <c:pt idx="472">
                  <c:v>54058</c:v>
                </c:pt>
                <c:pt idx="473">
                  <c:v>54064</c:v>
                </c:pt>
                <c:pt idx="474">
                  <c:v>54089</c:v>
                </c:pt>
                <c:pt idx="475">
                  <c:v>54122</c:v>
                </c:pt>
                <c:pt idx="476">
                  <c:v>54143</c:v>
                </c:pt>
                <c:pt idx="477">
                  <c:v>54271</c:v>
                </c:pt>
                <c:pt idx="478">
                  <c:v>54272</c:v>
                </c:pt>
                <c:pt idx="479">
                  <c:v>54311</c:v>
                </c:pt>
                <c:pt idx="480">
                  <c:v>54317</c:v>
                </c:pt>
                <c:pt idx="481">
                  <c:v>54338</c:v>
                </c:pt>
                <c:pt idx="482">
                  <c:v>54340</c:v>
                </c:pt>
                <c:pt idx="483">
                  <c:v>54400</c:v>
                </c:pt>
                <c:pt idx="484">
                  <c:v>54434</c:v>
                </c:pt>
                <c:pt idx="485">
                  <c:v>54475</c:v>
                </c:pt>
                <c:pt idx="486">
                  <c:v>54521</c:v>
                </c:pt>
                <c:pt idx="487">
                  <c:v>54655</c:v>
                </c:pt>
                <c:pt idx="488">
                  <c:v>54664</c:v>
                </c:pt>
                <c:pt idx="489">
                  <c:v>54705</c:v>
                </c:pt>
                <c:pt idx="490">
                  <c:v>54742</c:v>
                </c:pt>
                <c:pt idx="491">
                  <c:v>54771</c:v>
                </c:pt>
                <c:pt idx="492">
                  <c:v>54794</c:v>
                </c:pt>
                <c:pt idx="493">
                  <c:v>54820</c:v>
                </c:pt>
                <c:pt idx="494">
                  <c:v>54869</c:v>
                </c:pt>
                <c:pt idx="495">
                  <c:v>54886</c:v>
                </c:pt>
                <c:pt idx="496">
                  <c:v>54897</c:v>
                </c:pt>
                <c:pt idx="497">
                  <c:v>54902</c:v>
                </c:pt>
                <c:pt idx="498">
                  <c:v>54914</c:v>
                </c:pt>
                <c:pt idx="499">
                  <c:v>54914</c:v>
                </c:pt>
                <c:pt idx="500">
                  <c:v>54947</c:v>
                </c:pt>
                <c:pt idx="501">
                  <c:v>54951</c:v>
                </c:pt>
                <c:pt idx="502">
                  <c:v>55017</c:v>
                </c:pt>
                <c:pt idx="503">
                  <c:v>55031</c:v>
                </c:pt>
                <c:pt idx="504">
                  <c:v>55041</c:v>
                </c:pt>
                <c:pt idx="505">
                  <c:v>55045</c:v>
                </c:pt>
                <c:pt idx="506">
                  <c:v>55055</c:v>
                </c:pt>
                <c:pt idx="507">
                  <c:v>55204</c:v>
                </c:pt>
                <c:pt idx="508">
                  <c:v>55232</c:v>
                </c:pt>
                <c:pt idx="509">
                  <c:v>55294</c:v>
                </c:pt>
                <c:pt idx="510">
                  <c:v>55362</c:v>
                </c:pt>
                <c:pt idx="511">
                  <c:v>55376</c:v>
                </c:pt>
                <c:pt idx="512">
                  <c:v>55383</c:v>
                </c:pt>
                <c:pt idx="513">
                  <c:v>55396</c:v>
                </c:pt>
                <c:pt idx="514">
                  <c:v>55443</c:v>
                </c:pt>
                <c:pt idx="515">
                  <c:v>55494</c:v>
                </c:pt>
                <c:pt idx="516">
                  <c:v>55504</c:v>
                </c:pt>
                <c:pt idx="517">
                  <c:v>55541</c:v>
                </c:pt>
                <c:pt idx="518">
                  <c:v>55552</c:v>
                </c:pt>
                <c:pt idx="519">
                  <c:v>55552</c:v>
                </c:pt>
                <c:pt idx="520">
                  <c:v>55619</c:v>
                </c:pt>
                <c:pt idx="521">
                  <c:v>55624</c:v>
                </c:pt>
                <c:pt idx="522">
                  <c:v>55646</c:v>
                </c:pt>
                <c:pt idx="523">
                  <c:v>55660</c:v>
                </c:pt>
                <c:pt idx="524">
                  <c:v>55700</c:v>
                </c:pt>
                <c:pt idx="525">
                  <c:v>55736</c:v>
                </c:pt>
                <c:pt idx="526">
                  <c:v>55774</c:v>
                </c:pt>
                <c:pt idx="527">
                  <c:v>55789</c:v>
                </c:pt>
                <c:pt idx="528">
                  <c:v>55817</c:v>
                </c:pt>
                <c:pt idx="529">
                  <c:v>55838</c:v>
                </c:pt>
                <c:pt idx="530">
                  <c:v>55921</c:v>
                </c:pt>
                <c:pt idx="531">
                  <c:v>55930</c:v>
                </c:pt>
                <c:pt idx="532">
                  <c:v>55933</c:v>
                </c:pt>
                <c:pt idx="533">
                  <c:v>55961</c:v>
                </c:pt>
                <c:pt idx="534">
                  <c:v>55966</c:v>
                </c:pt>
                <c:pt idx="535">
                  <c:v>56075</c:v>
                </c:pt>
                <c:pt idx="536">
                  <c:v>56075</c:v>
                </c:pt>
                <c:pt idx="537">
                  <c:v>56132</c:v>
                </c:pt>
                <c:pt idx="538">
                  <c:v>56196</c:v>
                </c:pt>
                <c:pt idx="539">
                  <c:v>56201</c:v>
                </c:pt>
                <c:pt idx="540">
                  <c:v>56210</c:v>
                </c:pt>
                <c:pt idx="541">
                  <c:v>56257</c:v>
                </c:pt>
                <c:pt idx="542">
                  <c:v>56274</c:v>
                </c:pt>
                <c:pt idx="543">
                  <c:v>56309</c:v>
                </c:pt>
                <c:pt idx="544">
                  <c:v>56313</c:v>
                </c:pt>
                <c:pt idx="545">
                  <c:v>56380</c:v>
                </c:pt>
                <c:pt idx="546">
                  <c:v>56405</c:v>
                </c:pt>
                <c:pt idx="547">
                  <c:v>56458</c:v>
                </c:pt>
                <c:pt idx="548">
                  <c:v>56621</c:v>
                </c:pt>
                <c:pt idx="549">
                  <c:v>56733</c:v>
                </c:pt>
                <c:pt idx="550">
                  <c:v>56778</c:v>
                </c:pt>
                <c:pt idx="551">
                  <c:v>56807</c:v>
                </c:pt>
                <c:pt idx="552">
                  <c:v>56878</c:v>
                </c:pt>
                <c:pt idx="553">
                  <c:v>56878</c:v>
                </c:pt>
                <c:pt idx="554">
                  <c:v>56911</c:v>
                </c:pt>
                <c:pt idx="555">
                  <c:v>56918</c:v>
                </c:pt>
                <c:pt idx="556">
                  <c:v>56930</c:v>
                </c:pt>
                <c:pt idx="557">
                  <c:v>56950</c:v>
                </c:pt>
                <c:pt idx="558">
                  <c:v>56955</c:v>
                </c:pt>
                <c:pt idx="559">
                  <c:v>56996</c:v>
                </c:pt>
                <c:pt idx="560">
                  <c:v>57089</c:v>
                </c:pt>
                <c:pt idx="561">
                  <c:v>57103</c:v>
                </c:pt>
                <c:pt idx="562">
                  <c:v>57106</c:v>
                </c:pt>
                <c:pt idx="563">
                  <c:v>57125</c:v>
                </c:pt>
                <c:pt idx="564">
                  <c:v>57165</c:v>
                </c:pt>
                <c:pt idx="565">
                  <c:v>57165</c:v>
                </c:pt>
                <c:pt idx="566">
                  <c:v>57180</c:v>
                </c:pt>
                <c:pt idx="567">
                  <c:v>57214</c:v>
                </c:pt>
                <c:pt idx="568">
                  <c:v>57273</c:v>
                </c:pt>
                <c:pt idx="569">
                  <c:v>57273</c:v>
                </c:pt>
                <c:pt idx="570">
                  <c:v>57478</c:v>
                </c:pt>
                <c:pt idx="571">
                  <c:v>57529</c:v>
                </c:pt>
                <c:pt idx="572">
                  <c:v>57550</c:v>
                </c:pt>
                <c:pt idx="573">
                  <c:v>57556</c:v>
                </c:pt>
                <c:pt idx="574">
                  <c:v>57602</c:v>
                </c:pt>
                <c:pt idx="575">
                  <c:v>57673</c:v>
                </c:pt>
                <c:pt idx="576">
                  <c:v>57687</c:v>
                </c:pt>
                <c:pt idx="577">
                  <c:v>57815</c:v>
                </c:pt>
                <c:pt idx="578">
                  <c:v>57817</c:v>
                </c:pt>
                <c:pt idx="579">
                  <c:v>57949</c:v>
                </c:pt>
                <c:pt idx="580">
                  <c:v>58009</c:v>
                </c:pt>
                <c:pt idx="581">
                  <c:v>58047</c:v>
                </c:pt>
                <c:pt idx="582">
                  <c:v>58063</c:v>
                </c:pt>
                <c:pt idx="583">
                  <c:v>58099</c:v>
                </c:pt>
                <c:pt idx="584">
                  <c:v>58170</c:v>
                </c:pt>
                <c:pt idx="585">
                  <c:v>58285</c:v>
                </c:pt>
                <c:pt idx="586">
                  <c:v>58289</c:v>
                </c:pt>
                <c:pt idx="587">
                  <c:v>58289</c:v>
                </c:pt>
                <c:pt idx="588">
                  <c:v>58295</c:v>
                </c:pt>
                <c:pt idx="589">
                  <c:v>58316</c:v>
                </c:pt>
                <c:pt idx="590">
                  <c:v>58336</c:v>
                </c:pt>
                <c:pt idx="591">
                  <c:v>58336</c:v>
                </c:pt>
                <c:pt idx="592">
                  <c:v>58343</c:v>
                </c:pt>
                <c:pt idx="593">
                  <c:v>58354</c:v>
                </c:pt>
                <c:pt idx="594">
                  <c:v>58363</c:v>
                </c:pt>
                <c:pt idx="595">
                  <c:v>58375</c:v>
                </c:pt>
                <c:pt idx="596">
                  <c:v>58386</c:v>
                </c:pt>
                <c:pt idx="597">
                  <c:v>58418</c:v>
                </c:pt>
                <c:pt idx="598">
                  <c:v>58427</c:v>
                </c:pt>
                <c:pt idx="599">
                  <c:v>58433</c:v>
                </c:pt>
                <c:pt idx="600">
                  <c:v>58448</c:v>
                </c:pt>
                <c:pt idx="601">
                  <c:v>58469</c:v>
                </c:pt>
                <c:pt idx="602">
                  <c:v>58537</c:v>
                </c:pt>
                <c:pt idx="603">
                  <c:v>58561</c:v>
                </c:pt>
                <c:pt idx="604">
                  <c:v>58572</c:v>
                </c:pt>
                <c:pt idx="605">
                  <c:v>58656</c:v>
                </c:pt>
                <c:pt idx="606">
                  <c:v>58700</c:v>
                </c:pt>
                <c:pt idx="607">
                  <c:v>58709</c:v>
                </c:pt>
                <c:pt idx="608">
                  <c:v>58759</c:v>
                </c:pt>
                <c:pt idx="609">
                  <c:v>58799</c:v>
                </c:pt>
                <c:pt idx="610">
                  <c:v>58826</c:v>
                </c:pt>
                <c:pt idx="611">
                  <c:v>58829</c:v>
                </c:pt>
                <c:pt idx="612">
                  <c:v>58832</c:v>
                </c:pt>
                <c:pt idx="613">
                  <c:v>58845</c:v>
                </c:pt>
                <c:pt idx="614">
                  <c:v>58896</c:v>
                </c:pt>
                <c:pt idx="615">
                  <c:v>59045</c:v>
                </c:pt>
                <c:pt idx="616">
                  <c:v>59058</c:v>
                </c:pt>
                <c:pt idx="617">
                  <c:v>59159</c:v>
                </c:pt>
                <c:pt idx="618">
                  <c:v>59209</c:v>
                </c:pt>
                <c:pt idx="619">
                  <c:v>59217</c:v>
                </c:pt>
                <c:pt idx="620">
                  <c:v>59224</c:v>
                </c:pt>
                <c:pt idx="621">
                  <c:v>59268</c:v>
                </c:pt>
                <c:pt idx="622">
                  <c:v>59274</c:v>
                </c:pt>
                <c:pt idx="623">
                  <c:v>59282</c:v>
                </c:pt>
                <c:pt idx="624">
                  <c:v>59317</c:v>
                </c:pt>
                <c:pt idx="625">
                  <c:v>59354</c:v>
                </c:pt>
                <c:pt idx="626">
                  <c:v>59384</c:v>
                </c:pt>
                <c:pt idx="627">
                  <c:v>59436</c:v>
                </c:pt>
                <c:pt idx="628">
                  <c:v>59460</c:v>
                </c:pt>
                <c:pt idx="629">
                  <c:v>59483</c:v>
                </c:pt>
                <c:pt idx="630">
                  <c:v>59492</c:v>
                </c:pt>
                <c:pt idx="631">
                  <c:v>59498</c:v>
                </c:pt>
                <c:pt idx="632">
                  <c:v>59531</c:v>
                </c:pt>
                <c:pt idx="633">
                  <c:v>59541</c:v>
                </c:pt>
                <c:pt idx="634">
                  <c:v>59572</c:v>
                </c:pt>
                <c:pt idx="635">
                  <c:v>59593</c:v>
                </c:pt>
                <c:pt idx="636">
                  <c:v>59629</c:v>
                </c:pt>
                <c:pt idx="637">
                  <c:v>59728</c:v>
                </c:pt>
                <c:pt idx="638">
                  <c:v>59761</c:v>
                </c:pt>
                <c:pt idx="639">
                  <c:v>59764</c:v>
                </c:pt>
                <c:pt idx="640">
                  <c:v>59831</c:v>
                </c:pt>
                <c:pt idx="641">
                  <c:v>59841</c:v>
                </c:pt>
                <c:pt idx="642">
                  <c:v>59850</c:v>
                </c:pt>
                <c:pt idx="643">
                  <c:v>59871</c:v>
                </c:pt>
                <c:pt idx="644">
                  <c:v>59892</c:v>
                </c:pt>
                <c:pt idx="645">
                  <c:v>59908</c:v>
                </c:pt>
                <c:pt idx="646">
                  <c:v>59950</c:v>
                </c:pt>
                <c:pt idx="647">
                  <c:v>59982</c:v>
                </c:pt>
                <c:pt idx="648">
                  <c:v>59986</c:v>
                </c:pt>
                <c:pt idx="649">
                  <c:v>59986</c:v>
                </c:pt>
                <c:pt idx="650">
                  <c:v>59993</c:v>
                </c:pt>
                <c:pt idx="651">
                  <c:v>60123</c:v>
                </c:pt>
                <c:pt idx="652">
                  <c:v>60126</c:v>
                </c:pt>
                <c:pt idx="653">
                  <c:v>60144</c:v>
                </c:pt>
                <c:pt idx="654">
                  <c:v>60194</c:v>
                </c:pt>
                <c:pt idx="655">
                  <c:v>60327</c:v>
                </c:pt>
                <c:pt idx="656">
                  <c:v>60376</c:v>
                </c:pt>
                <c:pt idx="657">
                  <c:v>60583</c:v>
                </c:pt>
                <c:pt idx="658">
                  <c:v>60615</c:v>
                </c:pt>
                <c:pt idx="659">
                  <c:v>60663</c:v>
                </c:pt>
                <c:pt idx="660">
                  <c:v>60681</c:v>
                </c:pt>
                <c:pt idx="661">
                  <c:v>60787</c:v>
                </c:pt>
                <c:pt idx="662">
                  <c:v>60823</c:v>
                </c:pt>
                <c:pt idx="663">
                  <c:v>60883</c:v>
                </c:pt>
                <c:pt idx="664">
                  <c:v>60909</c:v>
                </c:pt>
                <c:pt idx="665">
                  <c:v>61012</c:v>
                </c:pt>
                <c:pt idx="666">
                  <c:v>61106</c:v>
                </c:pt>
                <c:pt idx="667">
                  <c:v>61107</c:v>
                </c:pt>
                <c:pt idx="668">
                  <c:v>61171</c:v>
                </c:pt>
                <c:pt idx="669">
                  <c:v>61289</c:v>
                </c:pt>
                <c:pt idx="670">
                  <c:v>61295</c:v>
                </c:pt>
                <c:pt idx="671">
                  <c:v>61296</c:v>
                </c:pt>
                <c:pt idx="672">
                  <c:v>61317</c:v>
                </c:pt>
                <c:pt idx="673">
                  <c:v>61389</c:v>
                </c:pt>
                <c:pt idx="674">
                  <c:v>61408</c:v>
                </c:pt>
                <c:pt idx="675">
                  <c:v>61462</c:v>
                </c:pt>
                <c:pt idx="676">
                  <c:v>61504</c:v>
                </c:pt>
                <c:pt idx="677">
                  <c:v>61511</c:v>
                </c:pt>
                <c:pt idx="678">
                  <c:v>61723</c:v>
                </c:pt>
                <c:pt idx="679">
                  <c:v>61772</c:v>
                </c:pt>
                <c:pt idx="680">
                  <c:v>61808</c:v>
                </c:pt>
                <c:pt idx="681">
                  <c:v>61824</c:v>
                </c:pt>
                <c:pt idx="682">
                  <c:v>61825</c:v>
                </c:pt>
                <c:pt idx="683">
                  <c:v>61860</c:v>
                </c:pt>
                <c:pt idx="684">
                  <c:v>61885</c:v>
                </c:pt>
                <c:pt idx="685">
                  <c:v>62069</c:v>
                </c:pt>
                <c:pt idx="686">
                  <c:v>62069</c:v>
                </c:pt>
                <c:pt idx="687">
                  <c:v>62079</c:v>
                </c:pt>
                <c:pt idx="688">
                  <c:v>62092</c:v>
                </c:pt>
                <c:pt idx="689">
                  <c:v>62101</c:v>
                </c:pt>
                <c:pt idx="690">
                  <c:v>62105</c:v>
                </c:pt>
                <c:pt idx="691">
                  <c:v>62105</c:v>
                </c:pt>
                <c:pt idx="692">
                  <c:v>62205</c:v>
                </c:pt>
                <c:pt idx="693">
                  <c:v>62208</c:v>
                </c:pt>
                <c:pt idx="694">
                  <c:v>62235</c:v>
                </c:pt>
                <c:pt idx="695">
                  <c:v>62381</c:v>
                </c:pt>
                <c:pt idx="696">
                  <c:v>62399</c:v>
                </c:pt>
                <c:pt idx="697">
                  <c:v>62621</c:v>
                </c:pt>
                <c:pt idx="698">
                  <c:v>62731</c:v>
                </c:pt>
                <c:pt idx="699">
                  <c:v>62830</c:v>
                </c:pt>
                <c:pt idx="700">
                  <c:v>62832</c:v>
                </c:pt>
                <c:pt idx="701">
                  <c:v>62860</c:v>
                </c:pt>
                <c:pt idx="702">
                  <c:v>62909</c:v>
                </c:pt>
                <c:pt idx="703">
                  <c:v>62927</c:v>
                </c:pt>
                <c:pt idx="704">
                  <c:v>62971</c:v>
                </c:pt>
                <c:pt idx="705">
                  <c:v>62972</c:v>
                </c:pt>
                <c:pt idx="706">
                  <c:v>63066</c:v>
                </c:pt>
                <c:pt idx="707">
                  <c:v>63191</c:v>
                </c:pt>
                <c:pt idx="708">
                  <c:v>63260</c:v>
                </c:pt>
                <c:pt idx="709">
                  <c:v>63268</c:v>
                </c:pt>
                <c:pt idx="710">
                  <c:v>63277</c:v>
                </c:pt>
                <c:pt idx="711">
                  <c:v>63446</c:v>
                </c:pt>
                <c:pt idx="712">
                  <c:v>63454</c:v>
                </c:pt>
                <c:pt idx="713">
                  <c:v>63494</c:v>
                </c:pt>
                <c:pt idx="714">
                  <c:v>63548</c:v>
                </c:pt>
                <c:pt idx="715">
                  <c:v>63646</c:v>
                </c:pt>
                <c:pt idx="716">
                  <c:v>63756</c:v>
                </c:pt>
                <c:pt idx="717">
                  <c:v>63764</c:v>
                </c:pt>
                <c:pt idx="718">
                  <c:v>63855</c:v>
                </c:pt>
                <c:pt idx="719">
                  <c:v>63878</c:v>
                </c:pt>
                <c:pt idx="720">
                  <c:v>63905</c:v>
                </c:pt>
                <c:pt idx="721">
                  <c:v>63926</c:v>
                </c:pt>
                <c:pt idx="722">
                  <c:v>63998</c:v>
                </c:pt>
                <c:pt idx="723">
                  <c:v>64027</c:v>
                </c:pt>
                <c:pt idx="724">
                  <c:v>64072</c:v>
                </c:pt>
                <c:pt idx="725">
                  <c:v>64249</c:v>
                </c:pt>
                <c:pt idx="726">
                  <c:v>64313</c:v>
                </c:pt>
                <c:pt idx="727">
                  <c:v>64506</c:v>
                </c:pt>
                <c:pt idx="728">
                  <c:v>64778</c:v>
                </c:pt>
                <c:pt idx="729">
                  <c:v>64873</c:v>
                </c:pt>
                <c:pt idx="730">
                  <c:v>64911</c:v>
                </c:pt>
                <c:pt idx="731">
                  <c:v>64973</c:v>
                </c:pt>
                <c:pt idx="732">
                  <c:v>65083</c:v>
                </c:pt>
                <c:pt idx="733">
                  <c:v>65222</c:v>
                </c:pt>
                <c:pt idx="734">
                  <c:v>65344</c:v>
                </c:pt>
                <c:pt idx="735">
                  <c:v>65464</c:v>
                </c:pt>
                <c:pt idx="736">
                  <c:v>65518</c:v>
                </c:pt>
                <c:pt idx="737">
                  <c:v>65543</c:v>
                </c:pt>
                <c:pt idx="738">
                  <c:v>65575</c:v>
                </c:pt>
                <c:pt idx="739">
                  <c:v>65590</c:v>
                </c:pt>
                <c:pt idx="740">
                  <c:v>65607</c:v>
                </c:pt>
                <c:pt idx="741">
                  <c:v>65668</c:v>
                </c:pt>
                <c:pt idx="742">
                  <c:v>65756</c:v>
                </c:pt>
                <c:pt idx="743">
                  <c:v>65793</c:v>
                </c:pt>
                <c:pt idx="744">
                  <c:v>65934</c:v>
                </c:pt>
                <c:pt idx="745">
                  <c:v>66099</c:v>
                </c:pt>
                <c:pt idx="746">
                  <c:v>66215</c:v>
                </c:pt>
                <c:pt idx="747">
                  <c:v>66240</c:v>
                </c:pt>
                <c:pt idx="748">
                  <c:v>66651</c:v>
                </c:pt>
                <c:pt idx="749">
                  <c:v>66677</c:v>
                </c:pt>
                <c:pt idx="750">
                  <c:v>66852</c:v>
                </c:pt>
                <c:pt idx="751">
                  <c:v>66942</c:v>
                </c:pt>
                <c:pt idx="752">
                  <c:v>66944</c:v>
                </c:pt>
                <c:pt idx="753">
                  <c:v>66990</c:v>
                </c:pt>
                <c:pt idx="754">
                  <c:v>67102</c:v>
                </c:pt>
                <c:pt idx="755">
                  <c:v>67145</c:v>
                </c:pt>
                <c:pt idx="756">
                  <c:v>67258</c:v>
                </c:pt>
                <c:pt idx="757">
                  <c:v>67416</c:v>
                </c:pt>
                <c:pt idx="758">
                  <c:v>67506</c:v>
                </c:pt>
                <c:pt idx="759">
                  <c:v>67516</c:v>
                </c:pt>
                <c:pt idx="760">
                  <c:v>67548</c:v>
                </c:pt>
                <c:pt idx="761">
                  <c:v>67589</c:v>
                </c:pt>
                <c:pt idx="762">
                  <c:v>67640</c:v>
                </c:pt>
                <c:pt idx="763">
                  <c:v>67705</c:v>
                </c:pt>
                <c:pt idx="764">
                  <c:v>67725</c:v>
                </c:pt>
                <c:pt idx="765">
                  <c:v>67753</c:v>
                </c:pt>
                <c:pt idx="766">
                  <c:v>67918</c:v>
                </c:pt>
                <c:pt idx="767">
                  <c:v>67991</c:v>
                </c:pt>
                <c:pt idx="768">
                  <c:v>68010</c:v>
                </c:pt>
                <c:pt idx="769">
                  <c:v>68140</c:v>
                </c:pt>
                <c:pt idx="770">
                  <c:v>68245</c:v>
                </c:pt>
                <c:pt idx="771">
                  <c:v>68424</c:v>
                </c:pt>
                <c:pt idx="772">
                  <c:v>68635</c:v>
                </c:pt>
                <c:pt idx="773">
                  <c:v>68712</c:v>
                </c:pt>
                <c:pt idx="774">
                  <c:v>68751</c:v>
                </c:pt>
                <c:pt idx="775">
                  <c:v>68831</c:v>
                </c:pt>
                <c:pt idx="776">
                  <c:v>68964</c:v>
                </c:pt>
                <c:pt idx="777">
                  <c:v>69039</c:v>
                </c:pt>
                <c:pt idx="778">
                  <c:v>69107</c:v>
                </c:pt>
                <c:pt idx="779">
                  <c:v>69151</c:v>
                </c:pt>
                <c:pt idx="780">
                  <c:v>69363</c:v>
                </c:pt>
                <c:pt idx="781">
                  <c:v>69498</c:v>
                </c:pt>
                <c:pt idx="782">
                  <c:v>69512</c:v>
                </c:pt>
                <c:pt idx="783">
                  <c:v>69571</c:v>
                </c:pt>
                <c:pt idx="784">
                  <c:v>69594</c:v>
                </c:pt>
                <c:pt idx="785">
                  <c:v>69952</c:v>
                </c:pt>
                <c:pt idx="786">
                  <c:v>70070</c:v>
                </c:pt>
                <c:pt idx="787">
                  <c:v>70080</c:v>
                </c:pt>
                <c:pt idx="788">
                  <c:v>70196</c:v>
                </c:pt>
                <c:pt idx="789">
                  <c:v>70204</c:v>
                </c:pt>
                <c:pt idx="790">
                  <c:v>70266</c:v>
                </c:pt>
                <c:pt idx="791">
                  <c:v>70378</c:v>
                </c:pt>
                <c:pt idx="792">
                  <c:v>70484</c:v>
                </c:pt>
                <c:pt idx="793">
                  <c:v>70527</c:v>
                </c:pt>
                <c:pt idx="794">
                  <c:v>70783</c:v>
                </c:pt>
                <c:pt idx="795">
                  <c:v>70871</c:v>
                </c:pt>
                <c:pt idx="796">
                  <c:v>70920</c:v>
                </c:pt>
                <c:pt idx="797">
                  <c:v>71030</c:v>
                </c:pt>
                <c:pt idx="798">
                  <c:v>71155</c:v>
                </c:pt>
                <c:pt idx="799">
                  <c:v>71353</c:v>
                </c:pt>
                <c:pt idx="800">
                  <c:v>71366</c:v>
                </c:pt>
                <c:pt idx="801">
                  <c:v>71517</c:v>
                </c:pt>
                <c:pt idx="802">
                  <c:v>71530</c:v>
                </c:pt>
                <c:pt idx="803">
                  <c:v>71668</c:v>
                </c:pt>
                <c:pt idx="804">
                  <c:v>71830</c:v>
                </c:pt>
                <c:pt idx="805">
                  <c:v>71901</c:v>
                </c:pt>
                <c:pt idx="806">
                  <c:v>71958</c:v>
                </c:pt>
                <c:pt idx="807">
                  <c:v>72105</c:v>
                </c:pt>
                <c:pt idx="808">
                  <c:v>72379</c:v>
                </c:pt>
                <c:pt idx="809">
                  <c:v>72690</c:v>
                </c:pt>
                <c:pt idx="810">
                  <c:v>72975</c:v>
                </c:pt>
                <c:pt idx="811">
                  <c:v>73157</c:v>
                </c:pt>
                <c:pt idx="812">
                  <c:v>73250</c:v>
                </c:pt>
                <c:pt idx="813">
                  <c:v>73371</c:v>
                </c:pt>
                <c:pt idx="814">
                  <c:v>73595</c:v>
                </c:pt>
                <c:pt idx="815">
                  <c:v>73721</c:v>
                </c:pt>
                <c:pt idx="816">
                  <c:v>73739</c:v>
                </c:pt>
                <c:pt idx="817">
                  <c:v>73897</c:v>
                </c:pt>
                <c:pt idx="818">
                  <c:v>73911</c:v>
                </c:pt>
                <c:pt idx="819">
                  <c:v>74360</c:v>
                </c:pt>
                <c:pt idx="820">
                  <c:v>74545</c:v>
                </c:pt>
                <c:pt idx="821">
                  <c:v>74652</c:v>
                </c:pt>
                <c:pt idx="822">
                  <c:v>74742</c:v>
                </c:pt>
                <c:pt idx="823">
                  <c:v>74895</c:v>
                </c:pt>
                <c:pt idx="824">
                  <c:v>75001</c:v>
                </c:pt>
                <c:pt idx="825">
                  <c:v>75059</c:v>
                </c:pt>
                <c:pt idx="826">
                  <c:v>75217</c:v>
                </c:pt>
                <c:pt idx="827">
                  <c:v>75272</c:v>
                </c:pt>
                <c:pt idx="828">
                  <c:v>75328</c:v>
                </c:pt>
                <c:pt idx="829">
                  <c:v>75482</c:v>
                </c:pt>
                <c:pt idx="830">
                  <c:v>75525</c:v>
                </c:pt>
                <c:pt idx="831">
                  <c:v>75537</c:v>
                </c:pt>
                <c:pt idx="832">
                  <c:v>75584</c:v>
                </c:pt>
                <c:pt idx="833">
                  <c:v>75701</c:v>
                </c:pt>
                <c:pt idx="834">
                  <c:v>75790</c:v>
                </c:pt>
                <c:pt idx="835">
                  <c:v>75951</c:v>
                </c:pt>
                <c:pt idx="836">
                  <c:v>76079</c:v>
                </c:pt>
                <c:pt idx="837">
                  <c:v>76124</c:v>
                </c:pt>
                <c:pt idx="838">
                  <c:v>76178</c:v>
                </c:pt>
                <c:pt idx="839">
                  <c:v>76310</c:v>
                </c:pt>
                <c:pt idx="840">
                  <c:v>76571</c:v>
                </c:pt>
                <c:pt idx="841">
                  <c:v>76786</c:v>
                </c:pt>
                <c:pt idx="842">
                  <c:v>77231</c:v>
                </c:pt>
                <c:pt idx="843">
                  <c:v>77235</c:v>
                </c:pt>
                <c:pt idx="844">
                  <c:v>77370</c:v>
                </c:pt>
                <c:pt idx="845">
                  <c:v>77449</c:v>
                </c:pt>
                <c:pt idx="846">
                  <c:v>77539</c:v>
                </c:pt>
                <c:pt idx="847">
                  <c:v>77644</c:v>
                </c:pt>
                <c:pt idx="848">
                  <c:v>77745</c:v>
                </c:pt>
                <c:pt idx="849">
                  <c:v>77779</c:v>
                </c:pt>
                <c:pt idx="850">
                  <c:v>77789</c:v>
                </c:pt>
                <c:pt idx="851">
                  <c:v>77819</c:v>
                </c:pt>
                <c:pt idx="852">
                  <c:v>78158</c:v>
                </c:pt>
                <c:pt idx="853">
                  <c:v>78257</c:v>
                </c:pt>
                <c:pt idx="854">
                  <c:v>78349</c:v>
                </c:pt>
                <c:pt idx="855">
                  <c:v>78354</c:v>
                </c:pt>
                <c:pt idx="856">
                  <c:v>78411</c:v>
                </c:pt>
                <c:pt idx="857">
                  <c:v>78445</c:v>
                </c:pt>
                <c:pt idx="858">
                  <c:v>78638</c:v>
                </c:pt>
                <c:pt idx="859">
                  <c:v>78812</c:v>
                </c:pt>
                <c:pt idx="860">
                  <c:v>78892</c:v>
                </c:pt>
                <c:pt idx="861">
                  <c:v>79042</c:v>
                </c:pt>
                <c:pt idx="862">
                  <c:v>79164</c:v>
                </c:pt>
                <c:pt idx="863">
                  <c:v>79966</c:v>
                </c:pt>
                <c:pt idx="864">
                  <c:v>80137</c:v>
                </c:pt>
                <c:pt idx="865">
                  <c:v>80257</c:v>
                </c:pt>
                <c:pt idx="866">
                  <c:v>80490</c:v>
                </c:pt>
                <c:pt idx="867">
                  <c:v>80516</c:v>
                </c:pt>
                <c:pt idx="868">
                  <c:v>80928</c:v>
                </c:pt>
                <c:pt idx="869">
                  <c:v>81400</c:v>
                </c:pt>
                <c:pt idx="870">
                  <c:v>82509</c:v>
                </c:pt>
                <c:pt idx="871">
                  <c:v>82592</c:v>
                </c:pt>
                <c:pt idx="872">
                  <c:v>82652</c:v>
                </c:pt>
                <c:pt idx="873">
                  <c:v>82721</c:v>
                </c:pt>
                <c:pt idx="874">
                  <c:v>82735</c:v>
                </c:pt>
                <c:pt idx="875">
                  <c:v>82804</c:v>
                </c:pt>
                <c:pt idx="876">
                  <c:v>82939</c:v>
                </c:pt>
                <c:pt idx="877">
                  <c:v>83214</c:v>
                </c:pt>
                <c:pt idx="878">
                  <c:v>83238</c:v>
                </c:pt>
                <c:pt idx="879">
                  <c:v>83759</c:v>
                </c:pt>
                <c:pt idx="880">
                  <c:v>83847</c:v>
                </c:pt>
                <c:pt idx="881">
                  <c:v>84131</c:v>
                </c:pt>
                <c:pt idx="882">
                  <c:v>84131</c:v>
                </c:pt>
                <c:pt idx="883">
                  <c:v>84131</c:v>
                </c:pt>
                <c:pt idx="884">
                  <c:v>84648</c:v>
                </c:pt>
                <c:pt idx="885">
                  <c:v>84713</c:v>
                </c:pt>
                <c:pt idx="886">
                  <c:v>84803</c:v>
                </c:pt>
                <c:pt idx="887">
                  <c:v>85035</c:v>
                </c:pt>
                <c:pt idx="888">
                  <c:v>85139</c:v>
                </c:pt>
                <c:pt idx="889">
                  <c:v>85569</c:v>
                </c:pt>
                <c:pt idx="890">
                  <c:v>86182</c:v>
                </c:pt>
                <c:pt idx="891">
                  <c:v>86316</c:v>
                </c:pt>
                <c:pt idx="892">
                  <c:v>86522</c:v>
                </c:pt>
                <c:pt idx="893">
                  <c:v>86881</c:v>
                </c:pt>
                <c:pt idx="894">
                  <c:v>87054</c:v>
                </c:pt>
                <c:pt idx="895">
                  <c:v>87555</c:v>
                </c:pt>
                <c:pt idx="896">
                  <c:v>87989</c:v>
                </c:pt>
                <c:pt idx="897">
                  <c:v>88604</c:v>
                </c:pt>
                <c:pt idx="898">
                  <c:v>88665</c:v>
                </c:pt>
                <c:pt idx="899">
                  <c:v>88794</c:v>
                </c:pt>
                <c:pt idx="900">
                  <c:v>89070</c:v>
                </c:pt>
                <c:pt idx="901">
                  <c:v>89363</c:v>
                </c:pt>
                <c:pt idx="902">
                  <c:v>89696</c:v>
                </c:pt>
                <c:pt idx="903">
                  <c:v>89718</c:v>
                </c:pt>
                <c:pt idx="904">
                  <c:v>89812</c:v>
                </c:pt>
                <c:pt idx="905">
                  <c:v>90008</c:v>
                </c:pt>
                <c:pt idx="906">
                  <c:v>90543</c:v>
                </c:pt>
                <c:pt idx="907">
                  <c:v>90779</c:v>
                </c:pt>
                <c:pt idx="908">
                  <c:v>90873</c:v>
                </c:pt>
                <c:pt idx="909">
                  <c:v>91410</c:v>
                </c:pt>
                <c:pt idx="910">
                  <c:v>91565</c:v>
                </c:pt>
                <c:pt idx="911">
                  <c:v>91885</c:v>
                </c:pt>
                <c:pt idx="912">
                  <c:v>92498</c:v>
                </c:pt>
                <c:pt idx="913">
                  <c:v>92538</c:v>
                </c:pt>
                <c:pt idx="914">
                  <c:v>92538</c:v>
                </c:pt>
                <c:pt idx="915">
                  <c:v>93487</c:v>
                </c:pt>
                <c:pt idx="916">
                  <c:v>93807</c:v>
                </c:pt>
                <c:pt idx="917">
                  <c:v>94810</c:v>
                </c:pt>
                <c:pt idx="918">
                  <c:v>94823</c:v>
                </c:pt>
                <c:pt idx="919">
                  <c:v>97434</c:v>
                </c:pt>
                <c:pt idx="920">
                  <c:v>97800</c:v>
                </c:pt>
                <c:pt idx="921">
                  <c:v>99980</c:v>
                </c:pt>
                <c:pt idx="922">
                  <c:v>100423</c:v>
                </c:pt>
                <c:pt idx="923">
                  <c:v>100533</c:v>
                </c:pt>
                <c:pt idx="924">
                  <c:v>101817</c:v>
                </c:pt>
                <c:pt idx="925">
                  <c:v>102051</c:v>
                </c:pt>
                <c:pt idx="926">
                  <c:v>102491</c:v>
                </c:pt>
                <c:pt idx="927">
                  <c:v>103470</c:v>
                </c:pt>
                <c:pt idx="928">
                  <c:v>103494</c:v>
                </c:pt>
                <c:pt idx="929">
                  <c:v>103937</c:v>
                </c:pt>
                <c:pt idx="930">
                  <c:v>104043</c:v>
                </c:pt>
                <c:pt idx="931">
                  <c:v>104736</c:v>
                </c:pt>
                <c:pt idx="932">
                  <c:v>105584</c:v>
                </c:pt>
                <c:pt idx="933">
                  <c:v>108772</c:v>
                </c:pt>
                <c:pt idx="934">
                  <c:v>109183</c:v>
                </c:pt>
                <c:pt idx="935">
                  <c:v>110066</c:v>
                </c:pt>
                <c:pt idx="936">
                  <c:v>111371</c:v>
                </c:pt>
                <c:pt idx="937">
                  <c:v>114862</c:v>
                </c:pt>
                <c:pt idx="938">
                  <c:v>120959</c:v>
                </c:pt>
                <c:pt idx="939">
                  <c:v>124080</c:v>
                </c:pt>
                <c:pt idx="940">
                  <c:v>128566</c:v>
                </c:pt>
                <c:pt idx="941">
                  <c:v>138687</c:v>
                </c:pt>
                <c:pt idx="942">
                  <c:v>143372</c:v>
                </c:pt>
              </c:numCache>
            </c:numRef>
          </c:yVal>
          <c:smooth val="0"/>
          <c:extLst>
            <c:ext xmlns:c16="http://schemas.microsoft.com/office/drawing/2014/chart" uri="{C3380CC4-5D6E-409C-BE32-E72D297353CC}">
              <c16:uniqueId val="{00000001-A6C2-4C08-9A2C-13704BF64019}"/>
            </c:ext>
          </c:extLst>
        </c:ser>
        <c:ser>
          <c:idx val="1"/>
          <c:order val="1"/>
          <c:tx>
            <c:strRef>
              <c:f>Sheet1!$B$946</c:f>
              <c:strCache>
                <c:ptCount val="1"/>
                <c:pt idx="0">
                  <c:v>Public institutions</c:v>
                </c:pt>
              </c:strCache>
            </c:strRef>
          </c:tx>
          <c:spPr>
            <a:ln w="47625">
              <a:noFill/>
            </a:ln>
          </c:spPr>
          <c:marker>
            <c:symbol val="circle"/>
            <c:size val="3"/>
            <c:spPr>
              <a:solidFill>
                <a:srgbClr val="8A8D8F">
                  <a:alpha val="80000"/>
                </a:srgbClr>
              </a:solidFill>
              <a:ln w="3175">
                <a:solidFill>
                  <a:srgbClr val="000000"/>
                </a:solidFill>
              </a:ln>
            </c:spPr>
          </c:marker>
          <c:xVal>
            <c:numRef>
              <c:f>Sheet1!$A$947:$A$1529</c:f>
              <c:numCache>
                <c:formatCode>General</c:formatCode>
                <c:ptCount val="583"/>
                <c:pt idx="0">
                  <c:v>13648</c:v>
                </c:pt>
                <c:pt idx="1">
                  <c:v>2789</c:v>
                </c:pt>
                <c:pt idx="2">
                  <c:v>7765</c:v>
                </c:pt>
                <c:pt idx="3">
                  <c:v>12675</c:v>
                </c:pt>
                <c:pt idx="4">
                  <c:v>10680</c:v>
                </c:pt>
                <c:pt idx="5">
                  <c:v>12945</c:v>
                </c:pt>
                <c:pt idx="6">
                  <c:v>10176</c:v>
                </c:pt>
                <c:pt idx="7">
                  <c:v>9922</c:v>
                </c:pt>
                <c:pt idx="8">
                  <c:v>10990</c:v>
                </c:pt>
                <c:pt idx="9">
                  <c:v>9686</c:v>
                </c:pt>
                <c:pt idx="10">
                  <c:v>5258</c:v>
                </c:pt>
                <c:pt idx="11">
                  <c:v>11504</c:v>
                </c:pt>
                <c:pt idx="12">
                  <c:v>13096</c:v>
                </c:pt>
                <c:pt idx="13">
                  <c:v>14810</c:v>
                </c:pt>
                <c:pt idx="14">
                  <c:v>8484</c:v>
                </c:pt>
                <c:pt idx="15">
                  <c:v>20435</c:v>
                </c:pt>
                <c:pt idx="16">
                  <c:v>6842</c:v>
                </c:pt>
                <c:pt idx="17">
                  <c:v>1807</c:v>
                </c:pt>
                <c:pt idx="18">
                  <c:v>12653</c:v>
                </c:pt>
                <c:pt idx="19">
                  <c:v>8767</c:v>
                </c:pt>
                <c:pt idx="20">
                  <c:v>9175</c:v>
                </c:pt>
                <c:pt idx="21">
                  <c:v>8598</c:v>
                </c:pt>
                <c:pt idx="22">
                  <c:v>8040</c:v>
                </c:pt>
                <c:pt idx="23">
                  <c:v>13265</c:v>
                </c:pt>
                <c:pt idx="24">
                  <c:v>7770</c:v>
                </c:pt>
                <c:pt idx="25">
                  <c:v>10338</c:v>
                </c:pt>
                <c:pt idx="26">
                  <c:v>3957</c:v>
                </c:pt>
                <c:pt idx="27">
                  <c:v>14287</c:v>
                </c:pt>
                <c:pt idx="28">
                  <c:v>7177</c:v>
                </c:pt>
                <c:pt idx="29">
                  <c:v>6440</c:v>
                </c:pt>
                <c:pt idx="30">
                  <c:v>1133</c:v>
                </c:pt>
                <c:pt idx="31">
                  <c:v>14265</c:v>
                </c:pt>
                <c:pt idx="32">
                  <c:v>8105</c:v>
                </c:pt>
                <c:pt idx="33">
                  <c:v>5364</c:v>
                </c:pt>
                <c:pt idx="34">
                  <c:v>8172</c:v>
                </c:pt>
                <c:pt idx="35">
                  <c:v>7276</c:v>
                </c:pt>
                <c:pt idx="36">
                  <c:v>12088</c:v>
                </c:pt>
                <c:pt idx="37">
                  <c:v>13684</c:v>
                </c:pt>
                <c:pt idx="38">
                  <c:v>18097</c:v>
                </c:pt>
                <c:pt idx="39">
                  <c:v>3815</c:v>
                </c:pt>
                <c:pt idx="40">
                  <c:v>4904</c:v>
                </c:pt>
                <c:pt idx="41">
                  <c:v>7469</c:v>
                </c:pt>
                <c:pt idx="42">
                  <c:v>12798</c:v>
                </c:pt>
                <c:pt idx="43">
                  <c:v>16590</c:v>
                </c:pt>
                <c:pt idx="44">
                  <c:v>23836</c:v>
                </c:pt>
                <c:pt idx="45">
                  <c:v>8889</c:v>
                </c:pt>
                <c:pt idx="46">
                  <c:v>8522</c:v>
                </c:pt>
                <c:pt idx="47">
                  <c:v>8471</c:v>
                </c:pt>
                <c:pt idx="48">
                  <c:v>14006</c:v>
                </c:pt>
                <c:pt idx="49">
                  <c:v>15261</c:v>
                </c:pt>
                <c:pt idx="50">
                  <c:v>19092</c:v>
                </c:pt>
                <c:pt idx="51">
                  <c:v>14381</c:v>
                </c:pt>
                <c:pt idx="52">
                  <c:v>4571</c:v>
                </c:pt>
                <c:pt idx="53">
                  <c:v>5203</c:v>
                </c:pt>
                <c:pt idx="54">
                  <c:v>3877</c:v>
                </c:pt>
                <c:pt idx="55">
                  <c:v>6364</c:v>
                </c:pt>
                <c:pt idx="56">
                  <c:v>10912</c:v>
                </c:pt>
                <c:pt idx="57">
                  <c:v>7892</c:v>
                </c:pt>
                <c:pt idx="58">
                  <c:v>5012</c:v>
                </c:pt>
                <c:pt idx="59">
                  <c:v>22356</c:v>
                </c:pt>
                <c:pt idx="60">
                  <c:v>10924</c:v>
                </c:pt>
                <c:pt idx="61">
                  <c:v>11139</c:v>
                </c:pt>
                <c:pt idx="62">
                  <c:v>9427</c:v>
                </c:pt>
                <c:pt idx="63">
                  <c:v>17621</c:v>
                </c:pt>
                <c:pt idx="64">
                  <c:v>11898</c:v>
                </c:pt>
                <c:pt idx="65">
                  <c:v>12361</c:v>
                </c:pt>
                <c:pt idx="66">
                  <c:v>7035</c:v>
                </c:pt>
                <c:pt idx="67">
                  <c:v>10574</c:v>
                </c:pt>
                <c:pt idx="68">
                  <c:v>19809</c:v>
                </c:pt>
                <c:pt idx="69">
                  <c:v>11225</c:v>
                </c:pt>
                <c:pt idx="70">
                  <c:v>12767</c:v>
                </c:pt>
                <c:pt idx="71">
                  <c:v>6135</c:v>
                </c:pt>
                <c:pt idx="72">
                  <c:v>8970</c:v>
                </c:pt>
                <c:pt idx="73">
                  <c:v>12970</c:v>
                </c:pt>
                <c:pt idx="74">
                  <c:v>13286</c:v>
                </c:pt>
                <c:pt idx="75">
                  <c:v>6624</c:v>
                </c:pt>
                <c:pt idx="76">
                  <c:v>13540</c:v>
                </c:pt>
                <c:pt idx="77">
                  <c:v>16527</c:v>
                </c:pt>
                <c:pt idx="78">
                  <c:v>7065</c:v>
                </c:pt>
                <c:pt idx="79">
                  <c:v>4128</c:v>
                </c:pt>
                <c:pt idx="80">
                  <c:v>14027</c:v>
                </c:pt>
                <c:pt idx="81">
                  <c:v>15363</c:v>
                </c:pt>
                <c:pt idx="82">
                  <c:v>1471</c:v>
                </c:pt>
                <c:pt idx="83">
                  <c:v>12366</c:v>
                </c:pt>
                <c:pt idx="84">
                  <c:v>12007</c:v>
                </c:pt>
                <c:pt idx="85">
                  <c:v>13251</c:v>
                </c:pt>
                <c:pt idx="86">
                  <c:v>9966</c:v>
                </c:pt>
                <c:pt idx="87">
                  <c:v>15796</c:v>
                </c:pt>
                <c:pt idx="88">
                  <c:v>12335</c:v>
                </c:pt>
                <c:pt idx="89">
                  <c:v>17683</c:v>
                </c:pt>
                <c:pt idx="90">
                  <c:v>15359</c:v>
                </c:pt>
                <c:pt idx="91">
                  <c:v>9862</c:v>
                </c:pt>
                <c:pt idx="92">
                  <c:v>15314</c:v>
                </c:pt>
                <c:pt idx="93">
                  <c:v>14977</c:v>
                </c:pt>
                <c:pt idx="94">
                  <c:v>6928</c:v>
                </c:pt>
                <c:pt idx="95">
                  <c:v>9793</c:v>
                </c:pt>
                <c:pt idx="96">
                  <c:v>16558</c:v>
                </c:pt>
                <c:pt idx="97">
                  <c:v>15939</c:v>
                </c:pt>
                <c:pt idx="98">
                  <c:v>15366</c:v>
                </c:pt>
                <c:pt idx="99">
                  <c:v>5130</c:v>
                </c:pt>
                <c:pt idx="100">
                  <c:v>20077</c:v>
                </c:pt>
                <c:pt idx="101">
                  <c:v>10260</c:v>
                </c:pt>
                <c:pt idx="102">
                  <c:v>7247</c:v>
                </c:pt>
                <c:pt idx="103">
                  <c:v>23405</c:v>
                </c:pt>
                <c:pt idx="104">
                  <c:v>11386</c:v>
                </c:pt>
                <c:pt idx="105">
                  <c:v>10990</c:v>
                </c:pt>
                <c:pt idx="106">
                  <c:v>12250</c:v>
                </c:pt>
                <c:pt idx="107">
                  <c:v>15882</c:v>
                </c:pt>
                <c:pt idx="108">
                  <c:v>7813</c:v>
                </c:pt>
                <c:pt idx="109">
                  <c:v>21708</c:v>
                </c:pt>
                <c:pt idx="110">
                  <c:v>10701</c:v>
                </c:pt>
                <c:pt idx="111">
                  <c:v>12684</c:v>
                </c:pt>
                <c:pt idx="112">
                  <c:v>10648</c:v>
                </c:pt>
                <c:pt idx="113">
                  <c:v>16524</c:v>
                </c:pt>
                <c:pt idx="114">
                  <c:v>9735</c:v>
                </c:pt>
                <c:pt idx="115">
                  <c:v>13739</c:v>
                </c:pt>
                <c:pt idx="116">
                  <c:v>10104</c:v>
                </c:pt>
                <c:pt idx="117">
                  <c:v>12980</c:v>
                </c:pt>
                <c:pt idx="118">
                  <c:v>13224</c:v>
                </c:pt>
                <c:pt idx="119">
                  <c:v>16857</c:v>
                </c:pt>
                <c:pt idx="120">
                  <c:v>10846</c:v>
                </c:pt>
                <c:pt idx="121">
                  <c:v>16784</c:v>
                </c:pt>
                <c:pt idx="122">
                  <c:v>13115</c:v>
                </c:pt>
                <c:pt idx="123">
                  <c:v>16039</c:v>
                </c:pt>
                <c:pt idx="124">
                  <c:v>15282</c:v>
                </c:pt>
                <c:pt idx="125">
                  <c:v>9096</c:v>
                </c:pt>
                <c:pt idx="126">
                  <c:v>15489</c:v>
                </c:pt>
                <c:pt idx="127">
                  <c:v>15983</c:v>
                </c:pt>
                <c:pt idx="128">
                  <c:v>7413</c:v>
                </c:pt>
                <c:pt idx="129">
                  <c:v>8653</c:v>
                </c:pt>
                <c:pt idx="130">
                  <c:v>8683</c:v>
                </c:pt>
                <c:pt idx="131">
                  <c:v>18701</c:v>
                </c:pt>
                <c:pt idx="132">
                  <c:v>8039</c:v>
                </c:pt>
                <c:pt idx="133">
                  <c:v>18913</c:v>
                </c:pt>
                <c:pt idx="134">
                  <c:v>14279</c:v>
                </c:pt>
                <c:pt idx="135">
                  <c:v>17248</c:v>
                </c:pt>
                <c:pt idx="136">
                  <c:v>24319</c:v>
                </c:pt>
                <c:pt idx="137">
                  <c:v>9210</c:v>
                </c:pt>
                <c:pt idx="138">
                  <c:v>13479</c:v>
                </c:pt>
                <c:pt idx="139">
                  <c:v>12710</c:v>
                </c:pt>
                <c:pt idx="140">
                  <c:v>11135</c:v>
                </c:pt>
                <c:pt idx="141">
                  <c:v>12542</c:v>
                </c:pt>
                <c:pt idx="142">
                  <c:v>13799</c:v>
                </c:pt>
                <c:pt idx="143">
                  <c:v>20787</c:v>
                </c:pt>
                <c:pt idx="144">
                  <c:v>13570</c:v>
                </c:pt>
                <c:pt idx="145">
                  <c:v>12170</c:v>
                </c:pt>
                <c:pt idx="146">
                  <c:v>12947</c:v>
                </c:pt>
                <c:pt idx="147">
                  <c:v>12997</c:v>
                </c:pt>
                <c:pt idx="148">
                  <c:v>15840</c:v>
                </c:pt>
                <c:pt idx="149">
                  <c:v>11641</c:v>
                </c:pt>
                <c:pt idx="150">
                  <c:v>12193</c:v>
                </c:pt>
                <c:pt idx="151">
                  <c:v>10999</c:v>
                </c:pt>
                <c:pt idx="152">
                  <c:v>14459</c:v>
                </c:pt>
                <c:pt idx="153">
                  <c:v>11040</c:v>
                </c:pt>
                <c:pt idx="154">
                  <c:v>15103</c:v>
                </c:pt>
                <c:pt idx="155">
                  <c:v>13171</c:v>
                </c:pt>
                <c:pt idx="156">
                  <c:v>14838</c:v>
                </c:pt>
                <c:pt idx="157">
                  <c:v>16511</c:v>
                </c:pt>
                <c:pt idx="158">
                  <c:v>15635</c:v>
                </c:pt>
                <c:pt idx="159">
                  <c:v>12411</c:v>
                </c:pt>
                <c:pt idx="160">
                  <c:v>17296</c:v>
                </c:pt>
                <c:pt idx="161">
                  <c:v>7502</c:v>
                </c:pt>
                <c:pt idx="162">
                  <c:v>12493</c:v>
                </c:pt>
                <c:pt idx="163">
                  <c:v>13154</c:v>
                </c:pt>
                <c:pt idx="164">
                  <c:v>9977</c:v>
                </c:pt>
                <c:pt idx="165">
                  <c:v>5718</c:v>
                </c:pt>
                <c:pt idx="166">
                  <c:v>13946</c:v>
                </c:pt>
                <c:pt idx="167">
                  <c:v>15911</c:v>
                </c:pt>
                <c:pt idx="168">
                  <c:v>8317</c:v>
                </c:pt>
                <c:pt idx="169">
                  <c:v>13466</c:v>
                </c:pt>
                <c:pt idx="170">
                  <c:v>16425</c:v>
                </c:pt>
                <c:pt idx="171">
                  <c:v>9032</c:v>
                </c:pt>
                <c:pt idx="172">
                  <c:v>12549</c:v>
                </c:pt>
                <c:pt idx="173">
                  <c:v>13606</c:v>
                </c:pt>
                <c:pt idx="174">
                  <c:v>11632</c:v>
                </c:pt>
                <c:pt idx="175">
                  <c:v>15360</c:v>
                </c:pt>
                <c:pt idx="176">
                  <c:v>13530</c:v>
                </c:pt>
                <c:pt idx="177">
                  <c:v>14085</c:v>
                </c:pt>
                <c:pt idx="178">
                  <c:v>8134</c:v>
                </c:pt>
                <c:pt idx="179">
                  <c:v>15343</c:v>
                </c:pt>
                <c:pt idx="180">
                  <c:v>13966</c:v>
                </c:pt>
                <c:pt idx="181">
                  <c:v>15931</c:v>
                </c:pt>
                <c:pt idx="182">
                  <c:v>7022</c:v>
                </c:pt>
                <c:pt idx="183">
                  <c:v>7888</c:v>
                </c:pt>
                <c:pt idx="184">
                  <c:v>16261</c:v>
                </c:pt>
                <c:pt idx="185">
                  <c:v>12923</c:v>
                </c:pt>
                <c:pt idx="186">
                  <c:v>15812</c:v>
                </c:pt>
                <c:pt idx="187">
                  <c:v>13171</c:v>
                </c:pt>
                <c:pt idx="188">
                  <c:v>13338</c:v>
                </c:pt>
                <c:pt idx="189">
                  <c:v>10740</c:v>
                </c:pt>
                <c:pt idx="190">
                  <c:v>15844</c:v>
                </c:pt>
                <c:pt idx="191">
                  <c:v>11456</c:v>
                </c:pt>
                <c:pt idx="192">
                  <c:v>11856</c:v>
                </c:pt>
                <c:pt idx="193">
                  <c:v>15268</c:v>
                </c:pt>
                <c:pt idx="194">
                  <c:v>13624</c:v>
                </c:pt>
                <c:pt idx="195">
                  <c:v>12384</c:v>
                </c:pt>
                <c:pt idx="196">
                  <c:v>16244</c:v>
                </c:pt>
                <c:pt idx="197">
                  <c:v>24022</c:v>
                </c:pt>
                <c:pt idx="198">
                  <c:v>7195</c:v>
                </c:pt>
                <c:pt idx="199">
                  <c:v>14656</c:v>
                </c:pt>
                <c:pt idx="200">
                  <c:v>16068</c:v>
                </c:pt>
                <c:pt idx="201">
                  <c:v>10965</c:v>
                </c:pt>
                <c:pt idx="202">
                  <c:v>6079</c:v>
                </c:pt>
                <c:pt idx="203">
                  <c:v>18309</c:v>
                </c:pt>
                <c:pt idx="204">
                  <c:v>3637</c:v>
                </c:pt>
                <c:pt idx="205">
                  <c:v>10873</c:v>
                </c:pt>
                <c:pt idx="206">
                  <c:v>12397</c:v>
                </c:pt>
                <c:pt idx="207">
                  <c:v>13787</c:v>
                </c:pt>
                <c:pt idx="208">
                  <c:v>12357</c:v>
                </c:pt>
                <c:pt idx="209">
                  <c:v>14246</c:v>
                </c:pt>
                <c:pt idx="210">
                  <c:v>13359</c:v>
                </c:pt>
                <c:pt idx="211">
                  <c:v>13557</c:v>
                </c:pt>
                <c:pt idx="212">
                  <c:v>17510</c:v>
                </c:pt>
                <c:pt idx="213">
                  <c:v>12019</c:v>
                </c:pt>
                <c:pt idx="214">
                  <c:v>10892</c:v>
                </c:pt>
                <c:pt idx="215">
                  <c:v>12569</c:v>
                </c:pt>
                <c:pt idx="216">
                  <c:v>17936</c:v>
                </c:pt>
                <c:pt idx="217">
                  <c:v>12822</c:v>
                </c:pt>
                <c:pt idx="218">
                  <c:v>9364</c:v>
                </c:pt>
                <c:pt idx="219">
                  <c:v>16732</c:v>
                </c:pt>
                <c:pt idx="220">
                  <c:v>8365</c:v>
                </c:pt>
                <c:pt idx="221">
                  <c:v>13910</c:v>
                </c:pt>
                <c:pt idx="222">
                  <c:v>11363</c:v>
                </c:pt>
                <c:pt idx="223">
                  <c:v>10945</c:v>
                </c:pt>
                <c:pt idx="224">
                  <c:v>5127</c:v>
                </c:pt>
                <c:pt idx="225">
                  <c:v>17648</c:v>
                </c:pt>
                <c:pt idx="226">
                  <c:v>13315</c:v>
                </c:pt>
                <c:pt idx="227">
                  <c:v>11081</c:v>
                </c:pt>
                <c:pt idx="228">
                  <c:v>15415</c:v>
                </c:pt>
                <c:pt idx="229">
                  <c:v>12664</c:v>
                </c:pt>
                <c:pt idx="230">
                  <c:v>14462</c:v>
                </c:pt>
                <c:pt idx="231">
                  <c:v>12786</c:v>
                </c:pt>
                <c:pt idx="232">
                  <c:v>12220</c:v>
                </c:pt>
                <c:pt idx="233">
                  <c:v>4831</c:v>
                </c:pt>
                <c:pt idx="234">
                  <c:v>14260</c:v>
                </c:pt>
                <c:pt idx="235">
                  <c:v>9366</c:v>
                </c:pt>
                <c:pt idx="236">
                  <c:v>15280</c:v>
                </c:pt>
                <c:pt idx="237">
                  <c:v>17613</c:v>
                </c:pt>
                <c:pt idx="238">
                  <c:v>3968</c:v>
                </c:pt>
                <c:pt idx="239">
                  <c:v>13596</c:v>
                </c:pt>
                <c:pt idx="240">
                  <c:v>16242</c:v>
                </c:pt>
                <c:pt idx="241">
                  <c:v>17148</c:v>
                </c:pt>
                <c:pt idx="242">
                  <c:v>15091</c:v>
                </c:pt>
                <c:pt idx="243">
                  <c:v>9823</c:v>
                </c:pt>
                <c:pt idx="244">
                  <c:v>8191</c:v>
                </c:pt>
                <c:pt idx="245">
                  <c:v>10462</c:v>
                </c:pt>
                <c:pt idx="246">
                  <c:v>11841</c:v>
                </c:pt>
                <c:pt idx="247">
                  <c:v>18212</c:v>
                </c:pt>
                <c:pt idx="248">
                  <c:v>15016</c:v>
                </c:pt>
                <c:pt idx="249">
                  <c:v>17997</c:v>
                </c:pt>
                <c:pt idx="250">
                  <c:v>15784</c:v>
                </c:pt>
                <c:pt idx="251">
                  <c:v>17249</c:v>
                </c:pt>
                <c:pt idx="252">
                  <c:v>6817</c:v>
                </c:pt>
                <c:pt idx="253">
                  <c:v>14985</c:v>
                </c:pt>
                <c:pt idx="254">
                  <c:v>13803</c:v>
                </c:pt>
                <c:pt idx="255">
                  <c:v>14092</c:v>
                </c:pt>
                <c:pt idx="256">
                  <c:v>19487</c:v>
                </c:pt>
                <c:pt idx="257">
                  <c:v>8837</c:v>
                </c:pt>
                <c:pt idx="258">
                  <c:v>9403</c:v>
                </c:pt>
                <c:pt idx="259">
                  <c:v>21057</c:v>
                </c:pt>
                <c:pt idx="260">
                  <c:v>13314</c:v>
                </c:pt>
                <c:pt idx="261">
                  <c:v>16804</c:v>
                </c:pt>
                <c:pt idx="262">
                  <c:v>7482</c:v>
                </c:pt>
                <c:pt idx="263">
                  <c:v>11772</c:v>
                </c:pt>
                <c:pt idx="264">
                  <c:v>14265</c:v>
                </c:pt>
                <c:pt idx="265">
                  <c:v>15291</c:v>
                </c:pt>
                <c:pt idx="266">
                  <c:v>12090</c:v>
                </c:pt>
                <c:pt idx="267">
                  <c:v>17595</c:v>
                </c:pt>
                <c:pt idx="268">
                  <c:v>13194</c:v>
                </c:pt>
                <c:pt idx="269">
                  <c:v>17225</c:v>
                </c:pt>
                <c:pt idx="270">
                  <c:v>21610</c:v>
                </c:pt>
                <c:pt idx="271">
                  <c:v>12703</c:v>
                </c:pt>
                <c:pt idx="272">
                  <c:v>15407</c:v>
                </c:pt>
                <c:pt idx="273">
                  <c:v>17237</c:v>
                </c:pt>
                <c:pt idx="274">
                  <c:v>14940</c:v>
                </c:pt>
                <c:pt idx="275">
                  <c:v>16836</c:v>
                </c:pt>
                <c:pt idx="276">
                  <c:v>15225</c:v>
                </c:pt>
                <c:pt idx="277">
                  <c:v>15301</c:v>
                </c:pt>
                <c:pt idx="278">
                  <c:v>19858</c:v>
                </c:pt>
                <c:pt idx="279">
                  <c:v>10775</c:v>
                </c:pt>
                <c:pt idx="280">
                  <c:v>12786</c:v>
                </c:pt>
                <c:pt idx="281">
                  <c:v>14559</c:v>
                </c:pt>
                <c:pt idx="282">
                  <c:v>10327</c:v>
                </c:pt>
                <c:pt idx="283">
                  <c:v>15327</c:v>
                </c:pt>
                <c:pt idx="284">
                  <c:v>14764</c:v>
                </c:pt>
                <c:pt idx="285">
                  <c:v>17760</c:v>
                </c:pt>
                <c:pt idx="286">
                  <c:v>14109</c:v>
                </c:pt>
                <c:pt idx="287">
                  <c:v>11864</c:v>
                </c:pt>
                <c:pt idx="288">
                  <c:v>11346</c:v>
                </c:pt>
                <c:pt idx="289">
                  <c:v>19066</c:v>
                </c:pt>
                <c:pt idx="290">
                  <c:v>16114</c:v>
                </c:pt>
                <c:pt idx="291">
                  <c:v>13369</c:v>
                </c:pt>
                <c:pt idx="292">
                  <c:v>25110</c:v>
                </c:pt>
                <c:pt idx="293">
                  <c:v>21637</c:v>
                </c:pt>
                <c:pt idx="294">
                  <c:v>11890</c:v>
                </c:pt>
                <c:pt idx="295">
                  <c:v>16053</c:v>
                </c:pt>
                <c:pt idx="296">
                  <c:v>19608</c:v>
                </c:pt>
                <c:pt idx="297">
                  <c:v>15071</c:v>
                </c:pt>
                <c:pt idx="298">
                  <c:v>20783</c:v>
                </c:pt>
                <c:pt idx="299">
                  <c:v>14068</c:v>
                </c:pt>
                <c:pt idx="300">
                  <c:v>7007</c:v>
                </c:pt>
                <c:pt idx="301">
                  <c:v>15267</c:v>
                </c:pt>
                <c:pt idx="302">
                  <c:v>22499</c:v>
                </c:pt>
                <c:pt idx="303">
                  <c:v>13297</c:v>
                </c:pt>
                <c:pt idx="304">
                  <c:v>12766</c:v>
                </c:pt>
                <c:pt idx="305">
                  <c:v>5579</c:v>
                </c:pt>
                <c:pt idx="306">
                  <c:v>10542</c:v>
                </c:pt>
                <c:pt idx="307">
                  <c:v>15273</c:v>
                </c:pt>
                <c:pt idx="308">
                  <c:v>14578</c:v>
                </c:pt>
                <c:pt idx="309">
                  <c:v>15261</c:v>
                </c:pt>
                <c:pt idx="310">
                  <c:v>21331</c:v>
                </c:pt>
                <c:pt idx="311">
                  <c:v>14262</c:v>
                </c:pt>
                <c:pt idx="312">
                  <c:v>17988</c:v>
                </c:pt>
                <c:pt idx="313">
                  <c:v>13441</c:v>
                </c:pt>
                <c:pt idx="314">
                  <c:v>14936</c:v>
                </c:pt>
                <c:pt idx="315">
                  <c:v>11676</c:v>
                </c:pt>
                <c:pt idx="316">
                  <c:v>12937</c:v>
                </c:pt>
                <c:pt idx="317">
                  <c:v>16404</c:v>
                </c:pt>
                <c:pt idx="318">
                  <c:v>15897</c:v>
                </c:pt>
                <c:pt idx="319">
                  <c:v>16481</c:v>
                </c:pt>
                <c:pt idx="320">
                  <c:v>11196</c:v>
                </c:pt>
                <c:pt idx="321">
                  <c:v>17887</c:v>
                </c:pt>
                <c:pt idx="322">
                  <c:v>14158</c:v>
                </c:pt>
                <c:pt idx="323">
                  <c:v>14054</c:v>
                </c:pt>
                <c:pt idx="324">
                  <c:v>8109</c:v>
                </c:pt>
                <c:pt idx="325">
                  <c:v>16353</c:v>
                </c:pt>
                <c:pt idx="326">
                  <c:v>18749</c:v>
                </c:pt>
                <c:pt idx="327">
                  <c:v>19298</c:v>
                </c:pt>
                <c:pt idx="328">
                  <c:v>12568</c:v>
                </c:pt>
                <c:pt idx="329">
                  <c:v>15788</c:v>
                </c:pt>
                <c:pt idx="330">
                  <c:v>14831</c:v>
                </c:pt>
                <c:pt idx="331">
                  <c:v>8624</c:v>
                </c:pt>
                <c:pt idx="332">
                  <c:v>25648</c:v>
                </c:pt>
                <c:pt idx="333">
                  <c:v>14638</c:v>
                </c:pt>
                <c:pt idx="334">
                  <c:v>20109</c:v>
                </c:pt>
                <c:pt idx="335">
                  <c:v>15014</c:v>
                </c:pt>
                <c:pt idx="336">
                  <c:v>10359</c:v>
                </c:pt>
                <c:pt idx="337">
                  <c:v>20857</c:v>
                </c:pt>
                <c:pt idx="338">
                  <c:v>19841</c:v>
                </c:pt>
                <c:pt idx="339">
                  <c:v>10809</c:v>
                </c:pt>
                <c:pt idx="340">
                  <c:v>11286</c:v>
                </c:pt>
                <c:pt idx="341">
                  <c:v>28384</c:v>
                </c:pt>
                <c:pt idx="342">
                  <c:v>15739</c:v>
                </c:pt>
                <c:pt idx="343">
                  <c:v>15901</c:v>
                </c:pt>
                <c:pt idx="344">
                  <c:v>11668</c:v>
                </c:pt>
                <c:pt idx="345">
                  <c:v>20787</c:v>
                </c:pt>
                <c:pt idx="346">
                  <c:v>14158</c:v>
                </c:pt>
                <c:pt idx="347">
                  <c:v>6376</c:v>
                </c:pt>
                <c:pt idx="348">
                  <c:v>16715</c:v>
                </c:pt>
                <c:pt idx="349">
                  <c:v>14305</c:v>
                </c:pt>
                <c:pt idx="350">
                  <c:v>10051</c:v>
                </c:pt>
                <c:pt idx="351">
                  <c:v>11656</c:v>
                </c:pt>
                <c:pt idx="352">
                  <c:v>18952</c:v>
                </c:pt>
                <c:pt idx="353">
                  <c:v>13529</c:v>
                </c:pt>
                <c:pt idx="354">
                  <c:v>17597</c:v>
                </c:pt>
                <c:pt idx="355">
                  <c:v>9197</c:v>
                </c:pt>
                <c:pt idx="356">
                  <c:v>9337</c:v>
                </c:pt>
                <c:pt idx="357">
                  <c:v>15634</c:v>
                </c:pt>
                <c:pt idx="358">
                  <c:v>12723</c:v>
                </c:pt>
                <c:pt idx="359">
                  <c:v>16317</c:v>
                </c:pt>
                <c:pt idx="360">
                  <c:v>18134</c:v>
                </c:pt>
                <c:pt idx="361">
                  <c:v>3203</c:v>
                </c:pt>
                <c:pt idx="362">
                  <c:v>12780</c:v>
                </c:pt>
                <c:pt idx="363">
                  <c:v>10258</c:v>
                </c:pt>
                <c:pt idx="364">
                  <c:v>11430</c:v>
                </c:pt>
                <c:pt idx="365">
                  <c:v>9478</c:v>
                </c:pt>
                <c:pt idx="366">
                  <c:v>10154</c:v>
                </c:pt>
                <c:pt idx="367">
                  <c:v>14889</c:v>
                </c:pt>
                <c:pt idx="368">
                  <c:v>23726</c:v>
                </c:pt>
                <c:pt idx="369">
                  <c:v>17156</c:v>
                </c:pt>
                <c:pt idx="370">
                  <c:v>18960</c:v>
                </c:pt>
                <c:pt idx="371">
                  <c:v>21067</c:v>
                </c:pt>
                <c:pt idx="372">
                  <c:v>11963</c:v>
                </c:pt>
                <c:pt idx="373">
                  <c:v>15996</c:v>
                </c:pt>
                <c:pt idx="374">
                  <c:v>8752</c:v>
                </c:pt>
                <c:pt idx="375">
                  <c:v>13599</c:v>
                </c:pt>
                <c:pt idx="376">
                  <c:v>17747</c:v>
                </c:pt>
                <c:pt idx="377">
                  <c:v>16805</c:v>
                </c:pt>
                <c:pt idx="378">
                  <c:v>19139</c:v>
                </c:pt>
                <c:pt idx="379">
                  <c:v>4456</c:v>
                </c:pt>
                <c:pt idx="380">
                  <c:v>15649</c:v>
                </c:pt>
                <c:pt idx="381">
                  <c:v>13323</c:v>
                </c:pt>
                <c:pt idx="382">
                  <c:v>9833</c:v>
                </c:pt>
                <c:pt idx="383">
                  <c:v>10836</c:v>
                </c:pt>
                <c:pt idx="384">
                  <c:v>8615</c:v>
                </c:pt>
                <c:pt idx="385">
                  <c:v>12447</c:v>
                </c:pt>
                <c:pt idx="386">
                  <c:v>19406</c:v>
                </c:pt>
                <c:pt idx="387">
                  <c:v>15435</c:v>
                </c:pt>
                <c:pt idx="388">
                  <c:v>19216</c:v>
                </c:pt>
                <c:pt idx="389">
                  <c:v>16721</c:v>
                </c:pt>
                <c:pt idx="390">
                  <c:v>17447</c:v>
                </c:pt>
                <c:pt idx="391">
                  <c:v>16383</c:v>
                </c:pt>
                <c:pt idx="392">
                  <c:v>15048</c:v>
                </c:pt>
                <c:pt idx="393">
                  <c:v>16236</c:v>
                </c:pt>
                <c:pt idx="394">
                  <c:v>20670</c:v>
                </c:pt>
                <c:pt idx="395">
                  <c:v>15664</c:v>
                </c:pt>
                <c:pt idx="396">
                  <c:v>9812</c:v>
                </c:pt>
                <c:pt idx="397">
                  <c:v>18745</c:v>
                </c:pt>
                <c:pt idx="398">
                  <c:v>13391</c:v>
                </c:pt>
                <c:pt idx="399">
                  <c:v>13886</c:v>
                </c:pt>
                <c:pt idx="400">
                  <c:v>9552</c:v>
                </c:pt>
                <c:pt idx="401">
                  <c:v>3148</c:v>
                </c:pt>
                <c:pt idx="402">
                  <c:v>12212</c:v>
                </c:pt>
                <c:pt idx="403">
                  <c:v>18809</c:v>
                </c:pt>
                <c:pt idx="404">
                  <c:v>17490</c:v>
                </c:pt>
                <c:pt idx="405">
                  <c:v>23433</c:v>
                </c:pt>
                <c:pt idx="406">
                  <c:v>20686</c:v>
                </c:pt>
                <c:pt idx="407">
                  <c:v>12329</c:v>
                </c:pt>
                <c:pt idx="408">
                  <c:v>18209</c:v>
                </c:pt>
                <c:pt idx="409">
                  <c:v>10411</c:v>
                </c:pt>
                <c:pt idx="410">
                  <c:v>11282</c:v>
                </c:pt>
                <c:pt idx="411">
                  <c:v>17503</c:v>
                </c:pt>
                <c:pt idx="412">
                  <c:v>16550</c:v>
                </c:pt>
                <c:pt idx="413">
                  <c:v>16857</c:v>
                </c:pt>
                <c:pt idx="414">
                  <c:v>9120</c:v>
                </c:pt>
                <c:pt idx="415">
                  <c:v>15563</c:v>
                </c:pt>
                <c:pt idx="416">
                  <c:v>5652</c:v>
                </c:pt>
                <c:pt idx="417">
                  <c:v>18851</c:v>
                </c:pt>
                <c:pt idx="418">
                  <c:v>7021</c:v>
                </c:pt>
                <c:pt idx="419">
                  <c:v>17604</c:v>
                </c:pt>
                <c:pt idx="420">
                  <c:v>3967</c:v>
                </c:pt>
                <c:pt idx="421">
                  <c:v>22420</c:v>
                </c:pt>
                <c:pt idx="422">
                  <c:v>13663</c:v>
                </c:pt>
                <c:pt idx="423">
                  <c:v>13310</c:v>
                </c:pt>
                <c:pt idx="424">
                  <c:v>9492</c:v>
                </c:pt>
                <c:pt idx="425">
                  <c:v>4564</c:v>
                </c:pt>
                <c:pt idx="426">
                  <c:v>16674</c:v>
                </c:pt>
                <c:pt idx="427">
                  <c:v>22408</c:v>
                </c:pt>
                <c:pt idx="428">
                  <c:v>18441</c:v>
                </c:pt>
                <c:pt idx="429">
                  <c:v>22345</c:v>
                </c:pt>
                <c:pt idx="430">
                  <c:v>9288</c:v>
                </c:pt>
                <c:pt idx="431">
                  <c:v>18976</c:v>
                </c:pt>
                <c:pt idx="432">
                  <c:v>16210</c:v>
                </c:pt>
                <c:pt idx="433">
                  <c:v>19158</c:v>
                </c:pt>
                <c:pt idx="434">
                  <c:v>11488</c:v>
                </c:pt>
                <c:pt idx="435">
                  <c:v>12940</c:v>
                </c:pt>
                <c:pt idx="436">
                  <c:v>14767</c:v>
                </c:pt>
                <c:pt idx="437">
                  <c:v>16197</c:v>
                </c:pt>
                <c:pt idx="438">
                  <c:v>17339</c:v>
                </c:pt>
                <c:pt idx="439">
                  <c:v>23015</c:v>
                </c:pt>
                <c:pt idx="440">
                  <c:v>21279</c:v>
                </c:pt>
                <c:pt idx="441">
                  <c:v>20667</c:v>
                </c:pt>
                <c:pt idx="442">
                  <c:v>15927</c:v>
                </c:pt>
                <c:pt idx="443">
                  <c:v>13381</c:v>
                </c:pt>
                <c:pt idx="444">
                  <c:v>3103</c:v>
                </c:pt>
                <c:pt idx="445">
                  <c:v>7000</c:v>
                </c:pt>
                <c:pt idx="446">
                  <c:v>19151</c:v>
                </c:pt>
                <c:pt idx="447">
                  <c:v>23331</c:v>
                </c:pt>
                <c:pt idx="448">
                  <c:v>22182</c:v>
                </c:pt>
                <c:pt idx="449">
                  <c:v>13868</c:v>
                </c:pt>
                <c:pt idx="450">
                  <c:v>15566</c:v>
                </c:pt>
                <c:pt idx="451">
                  <c:v>28014</c:v>
                </c:pt>
                <c:pt idx="452">
                  <c:v>17743</c:v>
                </c:pt>
                <c:pt idx="453">
                  <c:v>18476</c:v>
                </c:pt>
                <c:pt idx="454">
                  <c:v>11297</c:v>
                </c:pt>
                <c:pt idx="455">
                  <c:v>16032</c:v>
                </c:pt>
                <c:pt idx="456">
                  <c:v>18796</c:v>
                </c:pt>
                <c:pt idx="457">
                  <c:v>18059</c:v>
                </c:pt>
                <c:pt idx="458">
                  <c:v>19398</c:v>
                </c:pt>
                <c:pt idx="459">
                  <c:v>9849</c:v>
                </c:pt>
                <c:pt idx="460">
                  <c:v>22811</c:v>
                </c:pt>
                <c:pt idx="461">
                  <c:v>15543</c:v>
                </c:pt>
                <c:pt idx="462">
                  <c:v>14276</c:v>
                </c:pt>
                <c:pt idx="463">
                  <c:v>19070</c:v>
                </c:pt>
                <c:pt idx="464">
                  <c:v>19343</c:v>
                </c:pt>
                <c:pt idx="465">
                  <c:v>21193</c:v>
                </c:pt>
                <c:pt idx="466">
                  <c:v>18743</c:v>
                </c:pt>
                <c:pt idx="467">
                  <c:v>14967</c:v>
                </c:pt>
                <c:pt idx="468">
                  <c:v>19095</c:v>
                </c:pt>
                <c:pt idx="469">
                  <c:v>4195</c:v>
                </c:pt>
                <c:pt idx="470">
                  <c:v>10229</c:v>
                </c:pt>
                <c:pt idx="471">
                  <c:v>6555</c:v>
                </c:pt>
                <c:pt idx="472">
                  <c:v>15300</c:v>
                </c:pt>
                <c:pt idx="473">
                  <c:v>2984</c:v>
                </c:pt>
                <c:pt idx="474">
                  <c:v>6067</c:v>
                </c:pt>
                <c:pt idx="475">
                  <c:v>13951</c:v>
                </c:pt>
                <c:pt idx="476">
                  <c:v>18589</c:v>
                </c:pt>
                <c:pt idx="477">
                  <c:v>20268</c:v>
                </c:pt>
                <c:pt idx="478">
                  <c:v>8370</c:v>
                </c:pt>
                <c:pt idx="479">
                  <c:v>18551</c:v>
                </c:pt>
                <c:pt idx="480">
                  <c:v>28198</c:v>
                </c:pt>
                <c:pt idx="481">
                  <c:v>16264</c:v>
                </c:pt>
                <c:pt idx="482">
                  <c:v>19604</c:v>
                </c:pt>
                <c:pt idx="483">
                  <c:v>14480</c:v>
                </c:pt>
                <c:pt idx="484">
                  <c:v>15815</c:v>
                </c:pt>
                <c:pt idx="485">
                  <c:v>11900</c:v>
                </c:pt>
                <c:pt idx="486">
                  <c:v>14164</c:v>
                </c:pt>
                <c:pt idx="487">
                  <c:v>11983</c:v>
                </c:pt>
                <c:pt idx="488">
                  <c:v>17413</c:v>
                </c:pt>
                <c:pt idx="489">
                  <c:v>10440</c:v>
                </c:pt>
                <c:pt idx="490">
                  <c:v>16863</c:v>
                </c:pt>
                <c:pt idx="491">
                  <c:v>22531</c:v>
                </c:pt>
                <c:pt idx="492">
                  <c:v>17163</c:v>
                </c:pt>
                <c:pt idx="493">
                  <c:v>9338</c:v>
                </c:pt>
                <c:pt idx="494">
                  <c:v>15364</c:v>
                </c:pt>
                <c:pt idx="495">
                  <c:v>22063</c:v>
                </c:pt>
                <c:pt idx="496">
                  <c:v>24323</c:v>
                </c:pt>
                <c:pt idx="497">
                  <c:v>32654</c:v>
                </c:pt>
                <c:pt idx="498">
                  <c:v>17707</c:v>
                </c:pt>
                <c:pt idx="499">
                  <c:v>12885</c:v>
                </c:pt>
                <c:pt idx="500">
                  <c:v>3776</c:v>
                </c:pt>
                <c:pt idx="501">
                  <c:v>15350</c:v>
                </c:pt>
                <c:pt idx="502">
                  <c:v>17945</c:v>
                </c:pt>
                <c:pt idx="503">
                  <c:v>18202</c:v>
                </c:pt>
                <c:pt idx="504">
                  <c:v>30434</c:v>
                </c:pt>
                <c:pt idx="505">
                  <c:v>9992</c:v>
                </c:pt>
                <c:pt idx="506">
                  <c:v>10864</c:v>
                </c:pt>
                <c:pt idx="507">
                  <c:v>23805</c:v>
                </c:pt>
                <c:pt idx="508">
                  <c:v>16200</c:v>
                </c:pt>
                <c:pt idx="509">
                  <c:v>19680</c:v>
                </c:pt>
                <c:pt idx="510">
                  <c:v>18211</c:v>
                </c:pt>
                <c:pt idx="511">
                  <c:v>18173</c:v>
                </c:pt>
                <c:pt idx="512">
                  <c:v>14304</c:v>
                </c:pt>
                <c:pt idx="513">
                  <c:v>17167</c:v>
                </c:pt>
                <c:pt idx="514">
                  <c:v>12278</c:v>
                </c:pt>
                <c:pt idx="515">
                  <c:v>18267</c:v>
                </c:pt>
                <c:pt idx="516">
                  <c:v>17890</c:v>
                </c:pt>
                <c:pt idx="517">
                  <c:v>13936</c:v>
                </c:pt>
                <c:pt idx="518">
                  <c:v>10974</c:v>
                </c:pt>
                <c:pt idx="519">
                  <c:v>17303</c:v>
                </c:pt>
                <c:pt idx="520">
                  <c:v>20927</c:v>
                </c:pt>
                <c:pt idx="521">
                  <c:v>14971</c:v>
                </c:pt>
                <c:pt idx="522">
                  <c:v>16778</c:v>
                </c:pt>
                <c:pt idx="523">
                  <c:v>25346</c:v>
                </c:pt>
                <c:pt idx="524">
                  <c:v>21440</c:v>
                </c:pt>
                <c:pt idx="525">
                  <c:v>10867</c:v>
                </c:pt>
                <c:pt idx="526">
                  <c:v>23322</c:v>
                </c:pt>
                <c:pt idx="527">
                  <c:v>16467</c:v>
                </c:pt>
                <c:pt idx="528">
                  <c:v>20995</c:v>
                </c:pt>
                <c:pt idx="529">
                  <c:v>9320</c:v>
                </c:pt>
                <c:pt idx="530">
                  <c:v>22253</c:v>
                </c:pt>
                <c:pt idx="531">
                  <c:v>4815</c:v>
                </c:pt>
                <c:pt idx="532">
                  <c:v>6541</c:v>
                </c:pt>
                <c:pt idx="533">
                  <c:v>22383</c:v>
                </c:pt>
                <c:pt idx="534">
                  <c:v>11531</c:v>
                </c:pt>
                <c:pt idx="535">
                  <c:v>20723</c:v>
                </c:pt>
                <c:pt idx="536">
                  <c:v>21315</c:v>
                </c:pt>
                <c:pt idx="537">
                  <c:v>11655</c:v>
                </c:pt>
                <c:pt idx="538">
                  <c:v>20183</c:v>
                </c:pt>
                <c:pt idx="539">
                  <c:v>15706</c:v>
                </c:pt>
                <c:pt idx="540">
                  <c:v>14600</c:v>
                </c:pt>
                <c:pt idx="541">
                  <c:v>17799</c:v>
                </c:pt>
                <c:pt idx="542">
                  <c:v>27646</c:v>
                </c:pt>
                <c:pt idx="543">
                  <c:v>19096</c:v>
                </c:pt>
                <c:pt idx="544">
                  <c:v>17354</c:v>
                </c:pt>
                <c:pt idx="545">
                  <c:v>25097</c:v>
                </c:pt>
                <c:pt idx="546">
                  <c:v>18745</c:v>
                </c:pt>
                <c:pt idx="547">
                  <c:v>19703</c:v>
                </c:pt>
                <c:pt idx="548">
                  <c:v>24406</c:v>
                </c:pt>
                <c:pt idx="549">
                  <c:v>18784</c:v>
                </c:pt>
                <c:pt idx="550">
                  <c:v>16109</c:v>
                </c:pt>
                <c:pt idx="551">
                  <c:v>19857</c:v>
                </c:pt>
                <c:pt idx="552">
                  <c:v>3033</c:v>
                </c:pt>
                <c:pt idx="553">
                  <c:v>17915</c:v>
                </c:pt>
                <c:pt idx="554">
                  <c:v>9873</c:v>
                </c:pt>
                <c:pt idx="555">
                  <c:v>16510</c:v>
                </c:pt>
                <c:pt idx="556">
                  <c:v>17113</c:v>
                </c:pt>
                <c:pt idx="557">
                  <c:v>14182</c:v>
                </c:pt>
                <c:pt idx="558">
                  <c:v>10163</c:v>
                </c:pt>
                <c:pt idx="559">
                  <c:v>12319</c:v>
                </c:pt>
                <c:pt idx="560">
                  <c:v>14091</c:v>
                </c:pt>
                <c:pt idx="561">
                  <c:v>13760</c:v>
                </c:pt>
                <c:pt idx="562">
                  <c:v>21620</c:v>
                </c:pt>
                <c:pt idx="563">
                  <c:v>14251</c:v>
                </c:pt>
                <c:pt idx="564">
                  <c:v>14741</c:v>
                </c:pt>
                <c:pt idx="565">
                  <c:v>14355</c:v>
                </c:pt>
                <c:pt idx="566">
                  <c:v>24953</c:v>
                </c:pt>
                <c:pt idx="567">
                  <c:v>21582</c:v>
                </c:pt>
                <c:pt idx="568">
                  <c:v>12548</c:v>
                </c:pt>
                <c:pt idx="569">
                  <c:v>15678</c:v>
                </c:pt>
                <c:pt idx="570">
                  <c:v>16298</c:v>
                </c:pt>
                <c:pt idx="571">
                  <c:v>13138</c:v>
                </c:pt>
                <c:pt idx="572">
                  <c:v>16504</c:v>
                </c:pt>
                <c:pt idx="573">
                  <c:v>12470</c:v>
                </c:pt>
                <c:pt idx="574">
                  <c:v>21565</c:v>
                </c:pt>
                <c:pt idx="575">
                  <c:v>23414</c:v>
                </c:pt>
                <c:pt idx="576">
                  <c:v>6174</c:v>
                </c:pt>
                <c:pt idx="577">
                  <c:v>16665</c:v>
                </c:pt>
                <c:pt idx="578">
                  <c:v>13481</c:v>
                </c:pt>
                <c:pt idx="579">
                  <c:v>20555</c:v>
                </c:pt>
                <c:pt idx="580">
                  <c:v>22367</c:v>
                </c:pt>
                <c:pt idx="581">
                  <c:v>28690</c:v>
                </c:pt>
                <c:pt idx="582">
                  <c:v>12116</c:v>
                </c:pt>
              </c:numCache>
            </c:numRef>
          </c:xVal>
          <c:yVal>
            <c:numRef>
              <c:f>Sheet1!$B$947:$B$1529</c:f>
              <c:numCache>
                <c:formatCode>General</c:formatCode>
                <c:ptCount val="583"/>
                <c:pt idx="0">
                  <c:v>23906</c:v>
                </c:pt>
                <c:pt idx="1">
                  <c:v>27836</c:v>
                </c:pt>
                <c:pt idx="2">
                  <c:v>27997</c:v>
                </c:pt>
                <c:pt idx="3">
                  <c:v>29521</c:v>
                </c:pt>
                <c:pt idx="4">
                  <c:v>30512</c:v>
                </c:pt>
                <c:pt idx="5">
                  <c:v>30626</c:v>
                </c:pt>
                <c:pt idx="6">
                  <c:v>30958</c:v>
                </c:pt>
                <c:pt idx="7">
                  <c:v>31088</c:v>
                </c:pt>
                <c:pt idx="8">
                  <c:v>31394</c:v>
                </c:pt>
                <c:pt idx="9">
                  <c:v>31919</c:v>
                </c:pt>
                <c:pt idx="10">
                  <c:v>33252</c:v>
                </c:pt>
                <c:pt idx="11">
                  <c:v>33261</c:v>
                </c:pt>
                <c:pt idx="12">
                  <c:v>33267</c:v>
                </c:pt>
                <c:pt idx="13">
                  <c:v>34042</c:v>
                </c:pt>
                <c:pt idx="14">
                  <c:v>34409</c:v>
                </c:pt>
                <c:pt idx="15">
                  <c:v>34502</c:v>
                </c:pt>
                <c:pt idx="16">
                  <c:v>34996</c:v>
                </c:pt>
                <c:pt idx="17">
                  <c:v>35171</c:v>
                </c:pt>
                <c:pt idx="18">
                  <c:v>35550</c:v>
                </c:pt>
                <c:pt idx="19">
                  <c:v>35697</c:v>
                </c:pt>
                <c:pt idx="20">
                  <c:v>35723</c:v>
                </c:pt>
                <c:pt idx="21">
                  <c:v>35946</c:v>
                </c:pt>
                <c:pt idx="22">
                  <c:v>36382</c:v>
                </c:pt>
                <c:pt idx="23">
                  <c:v>36421</c:v>
                </c:pt>
                <c:pt idx="24">
                  <c:v>36596</c:v>
                </c:pt>
                <c:pt idx="25">
                  <c:v>36666</c:v>
                </c:pt>
                <c:pt idx="26">
                  <c:v>36739</c:v>
                </c:pt>
                <c:pt idx="27">
                  <c:v>36902</c:v>
                </c:pt>
                <c:pt idx="28">
                  <c:v>37096</c:v>
                </c:pt>
                <c:pt idx="29">
                  <c:v>37195</c:v>
                </c:pt>
                <c:pt idx="30">
                  <c:v>37378</c:v>
                </c:pt>
                <c:pt idx="31">
                  <c:v>37837</c:v>
                </c:pt>
                <c:pt idx="32">
                  <c:v>37871</c:v>
                </c:pt>
                <c:pt idx="33">
                  <c:v>37894</c:v>
                </c:pt>
                <c:pt idx="34">
                  <c:v>37981</c:v>
                </c:pt>
                <c:pt idx="35">
                  <c:v>38112</c:v>
                </c:pt>
                <c:pt idx="36">
                  <c:v>38203</c:v>
                </c:pt>
                <c:pt idx="37">
                  <c:v>38217</c:v>
                </c:pt>
                <c:pt idx="38">
                  <c:v>38262</c:v>
                </c:pt>
                <c:pt idx="39">
                  <c:v>38315</c:v>
                </c:pt>
                <c:pt idx="40">
                  <c:v>38550</c:v>
                </c:pt>
                <c:pt idx="41">
                  <c:v>38681</c:v>
                </c:pt>
                <c:pt idx="42">
                  <c:v>38924</c:v>
                </c:pt>
                <c:pt idx="43">
                  <c:v>38924</c:v>
                </c:pt>
                <c:pt idx="44">
                  <c:v>39060</c:v>
                </c:pt>
                <c:pt idx="45">
                  <c:v>39067</c:v>
                </c:pt>
                <c:pt idx="46">
                  <c:v>39095</c:v>
                </c:pt>
                <c:pt idx="47">
                  <c:v>39289</c:v>
                </c:pt>
                <c:pt idx="48">
                  <c:v>39315</c:v>
                </c:pt>
                <c:pt idx="49">
                  <c:v>39318</c:v>
                </c:pt>
                <c:pt idx="50">
                  <c:v>39463</c:v>
                </c:pt>
                <c:pt idx="51">
                  <c:v>39596</c:v>
                </c:pt>
                <c:pt idx="52">
                  <c:v>39664</c:v>
                </c:pt>
                <c:pt idx="53">
                  <c:v>39903</c:v>
                </c:pt>
                <c:pt idx="54">
                  <c:v>39990</c:v>
                </c:pt>
                <c:pt idx="55">
                  <c:v>40026</c:v>
                </c:pt>
                <c:pt idx="56">
                  <c:v>40118</c:v>
                </c:pt>
                <c:pt idx="57">
                  <c:v>40144</c:v>
                </c:pt>
                <c:pt idx="58">
                  <c:v>40251</c:v>
                </c:pt>
                <c:pt idx="59">
                  <c:v>40318</c:v>
                </c:pt>
                <c:pt idx="60">
                  <c:v>40342</c:v>
                </c:pt>
                <c:pt idx="61">
                  <c:v>40492</c:v>
                </c:pt>
                <c:pt idx="62">
                  <c:v>40624</c:v>
                </c:pt>
                <c:pt idx="63">
                  <c:v>40628</c:v>
                </c:pt>
                <c:pt idx="64">
                  <c:v>40674</c:v>
                </c:pt>
                <c:pt idx="65">
                  <c:v>40863</c:v>
                </c:pt>
                <c:pt idx="66">
                  <c:v>40956</c:v>
                </c:pt>
                <c:pt idx="67">
                  <c:v>41102</c:v>
                </c:pt>
                <c:pt idx="68">
                  <c:v>41109</c:v>
                </c:pt>
                <c:pt idx="69">
                  <c:v>41110</c:v>
                </c:pt>
                <c:pt idx="70">
                  <c:v>41544</c:v>
                </c:pt>
                <c:pt idx="71">
                  <c:v>41728</c:v>
                </c:pt>
                <c:pt idx="72">
                  <c:v>41733</c:v>
                </c:pt>
                <c:pt idx="73">
                  <c:v>41766</c:v>
                </c:pt>
                <c:pt idx="74">
                  <c:v>41871</c:v>
                </c:pt>
                <c:pt idx="75">
                  <c:v>41913</c:v>
                </c:pt>
                <c:pt idx="76">
                  <c:v>41991</c:v>
                </c:pt>
                <c:pt idx="77">
                  <c:v>42062</c:v>
                </c:pt>
                <c:pt idx="78">
                  <c:v>42205</c:v>
                </c:pt>
                <c:pt idx="79">
                  <c:v>42244</c:v>
                </c:pt>
                <c:pt idx="80">
                  <c:v>42386</c:v>
                </c:pt>
                <c:pt idx="81">
                  <c:v>42396</c:v>
                </c:pt>
                <c:pt idx="82">
                  <c:v>42557</c:v>
                </c:pt>
                <c:pt idx="83">
                  <c:v>42617</c:v>
                </c:pt>
                <c:pt idx="84">
                  <c:v>42620</c:v>
                </c:pt>
                <c:pt idx="85">
                  <c:v>42647</c:v>
                </c:pt>
                <c:pt idx="86">
                  <c:v>42703</c:v>
                </c:pt>
                <c:pt idx="87">
                  <c:v>42730</c:v>
                </c:pt>
                <c:pt idx="88">
                  <c:v>42778</c:v>
                </c:pt>
                <c:pt idx="89">
                  <c:v>42957</c:v>
                </c:pt>
                <c:pt idx="90">
                  <c:v>42968</c:v>
                </c:pt>
                <c:pt idx="91">
                  <c:v>43140</c:v>
                </c:pt>
                <c:pt idx="92">
                  <c:v>43166</c:v>
                </c:pt>
                <c:pt idx="93">
                  <c:v>43167</c:v>
                </c:pt>
                <c:pt idx="94">
                  <c:v>43184</c:v>
                </c:pt>
                <c:pt idx="95">
                  <c:v>43197</c:v>
                </c:pt>
                <c:pt idx="96">
                  <c:v>43229</c:v>
                </c:pt>
                <c:pt idx="97">
                  <c:v>43295</c:v>
                </c:pt>
                <c:pt idx="98">
                  <c:v>43296</c:v>
                </c:pt>
                <c:pt idx="99">
                  <c:v>43361</c:v>
                </c:pt>
                <c:pt idx="100">
                  <c:v>43371</c:v>
                </c:pt>
                <c:pt idx="101">
                  <c:v>43407</c:v>
                </c:pt>
                <c:pt idx="102">
                  <c:v>43421</c:v>
                </c:pt>
                <c:pt idx="103">
                  <c:v>43459</c:v>
                </c:pt>
                <c:pt idx="104">
                  <c:v>43888</c:v>
                </c:pt>
                <c:pt idx="105">
                  <c:v>43889</c:v>
                </c:pt>
                <c:pt idx="106">
                  <c:v>44030</c:v>
                </c:pt>
                <c:pt idx="107">
                  <c:v>44030</c:v>
                </c:pt>
                <c:pt idx="108">
                  <c:v>44127</c:v>
                </c:pt>
                <c:pt idx="109">
                  <c:v>44140</c:v>
                </c:pt>
                <c:pt idx="110">
                  <c:v>44213</c:v>
                </c:pt>
                <c:pt idx="111">
                  <c:v>44232</c:v>
                </c:pt>
                <c:pt idx="112">
                  <c:v>44236</c:v>
                </c:pt>
                <c:pt idx="113">
                  <c:v>44296</c:v>
                </c:pt>
                <c:pt idx="114">
                  <c:v>44301</c:v>
                </c:pt>
                <c:pt idx="115">
                  <c:v>44349</c:v>
                </c:pt>
                <c:pt idx="116">
                  <c:v>44358</c:v>
                </c:pt>
                <c:pt idx="117">
                  <c:v>44372</c:v>
                </c:pt>
                <c:pt idx="118">
                  <c:v>44391</c:v>
                </c:pt>
                <c:pt idx="119">
                  <c:v>44433</c:v>
                </c:pt>
                <c:pt idx="120">
                  <c:v>44440</c:v>
                </c:pt>
                <c:pt idx="121">
                  <c:v>44511</c:v>
                </c:pt>
                <c:pt idx="122">
                  <c:v>44544</c:v>
                </c:pt>
                <c:pt idx="123">
                  <c:v>44570</c:v>
                </c:pt>
                <c:pt idx="124">
                  <c:v>44666</c:v>
                </c:pt>
                <c:pt idx="125">
                  <c:v>44737</c:v>
                </c:pt>
                <c:pt idx="126">
                  <c:v>44792</c:v>
                </c:pt>
                <c:pt idx="127">
                  <c:v>44859</c:v>
                </c:pt>
                <c:pt idx="128">
                  <c:v>44933</c:v>
                </c:pt>
                <c:pt idx="129">
                  <c:v>44947</c:v>
                </c:pt>
                <c:pt idx="130">
                  <c:v>44962</c:v>
                </c:pt>
                <c:pt idx="131">
                  <c:v>45030</c:v>
                </c:pt>
                <c:pt idx="132">
                  <c:v>45079</c:v>
                </c:pt>
                <c:pt idx="133">
                  <c:v>45092</c:v>
                </c:pt>
                <c:pt idx="134">
                  <c:v>45235</c:v>
                </c:pt>
                <c:pt idx="135">
                  <c:v>45265</c:v>
                </c:pt>
                <c:pt idx="136">
                  <c:v>45320</c:v>
                </c:pt>
                <c:pt idx="137">
                  <c:v>45325</c:v>
                </c:pt>
                <c:pt idx="138">
                  <c:v>45344</c:v>
                </c:pt>
                <c:pt idx="139">
                  <c:v>45379</c:v>
                </c:pt>
                <c:pt idx="140">
                  <c:v>45388</c:v>
                </c:pt>
                <c:pt idx="141">
                  <c:v>45388</c:v>
                </c:pt>
                <c:pt idx="142">
                  <c:v>45388</c:v>
                </c:pt>
                <c:pt idx="143">
                  <c:v>45388</c:v>
                </c:pt>
                <c:pt idx="144">
                  <c:v>45411</c:v>
                </c:pt>
                <c:pt idx="145">
                  <c:v>45415</c:v>
                </c:pt>
                <c:pt idx="146">
                  <c:v>45454</c:v>
                </c:pt>
                <c:pt idx="147">
                  <c:v>45515</c:v>
                </c:pt>
                <c:pt idx="148">
                  <c:v>45543</c:v>
                </c:pt>
                <c:pt idx="149">
                  <c:v>45603</c:v>
                </c:pt>
                <c:pt idx="150">
                  <c:v>45608</c:v>
                </c:pt>
                <c:pt idx="151">
                  <c:v>45634</c:v>
                </c:pt>
                <c:pt idx="152">
                  <c:v>45744</c:v>
                </c:pt>
                <c:pt idx="153">
                  <c:v>45795</c:v>
                </c:pt>
                <c:pt idx="154">
                  <c:v>45823</c:v>
                </c:pt>
                <c:pt idx="155">
                  <c:v>45872</c:v>
                </c:pt>
                <c:pt idx="156">
                  <c:v>45937</c:v>
                </c:pt>
                <c:pt idx="157">
                  <c:v>45938</c:v>
                </c:pt>
                <c:pt idx="158">
                  <c:v>46001</c:v>
                </c:pt>
                <c:pt idx="159">
                  <c:v>46128</c:v>
                </c:pt>
                <c:pt idx="160">
                  <c:v>46349</c:v>
                </c:pt>
                <c:pt idx="161">
                  <c:v>46354</c:v>
                </c:pt>
                <c:pt idx="162">
                  <c:v>46453</c:v>
                </c:pt>
                <c:pt idx="163">
                  <c:v>46482</c:v>
                </c:pt>
                <c:pt idx="164">
                  <c:v>46490</c:v>
                </c:pt>
                <c:pt idx="165">
                  <c:v>46498</c:v>
                </c:pt>
                <c:pt idx="166">
                  <c:v>46600</c:v>
                </c:pt>
                <c:pt idx="167">
                  <c:v>46674</c:v>
                </c:pt>
                <c:pt idx="168">
                  <c:v>46680</c:v>
                </c:pt>
                <c:pt idx="169">
                  <c:v>46769</c:v>
                </c:pt>
                <c:pt idx="170">
                  <c:v>46833</c:v>
                </c:pt>
                <c:pt idx="171">
                  <c:v>46857</c:v>
                </c:pt>
                <c:pt idx="172">
                  <c:v>47002</c:v>
                </c:pt>
                <c:pt idx="173">
                  <c:v>47021</c:v>
                </c:pt>
                <c:pt idx="174">
                  <c:v>47071</c:v>
                </c:pt>
                <c:pt idx="175">
                  <c:v>47075</c:v>
                </c:pt>
                <c:pt idx="176">
                  <c:v>47089</c:v>
                </c:pt>
                <c:pt idx="177">
                  <c:v>47107</c:v>
                </c:pt>
                <c:pt idx="178">
                  <c:v>47156</c:v>
                </c:pt>
                <c:pt idx="179">
                  <c:v>47185</c:v>
                </c:pt>
                <c:pt idx="180">
                  <c:v>47258</c:v>
                </c:pt>
                <c:pt idx="181">
                  <c:v>47384</c:v>
                </c:pt>
                <c:pt idx="182">
                  <c:v>47477</c:v>
                </c:pt>
                <c:pt idx="183">
                  <c:v>47596</c:v>
                </c:pt>
                <c:pt idx="184">
                  <c:v>47601</c:v>
                </c:pt>
                <c:pt idx="185">
                  <c:v>47605</c:v>
                </c:pt>
                <c:pt idx="186">
                  <c:v>47618</c:v>
                </c:pt>
                <c:pt idx="187">
                  <c:v>47626</c:v>
                </c:pt>
                <c:pt idx="188">
                  <c:v>47697</c:v>
                </c:pt>
                <c:pt idx="189">
                  <c:v>47728</c:v>
                </c:pt>
                <c:pt idx="190">
                  <c:v>47730</c:v>
                </c:pt>
                <c:pt idx="191">
                  <c:v>47828</c:v>
                </c:pt>
                <c:pt idx="192">
                  <c:v>47856</c:v>
                </c:pt>
                <c:pt idx="193">
                  <c:v>47860</c:v>
                </c:pt>
                <c:pt idx="194">
                  <c:v>47866</c:v>
                </c:pt>
                <c:pt idx="195">
                  <c:v>47872</c:v>
                </c:pt>
                <c:pt idx="196">
                  <c:v>47885</c:v>
                </c:pt>
                <c:pt idx="197">
                  <c:v>47896</c:v>
                </c:pt>
                <c:pt idx="198">
                  <c:v>48082</c:v>
                </c:pt>
                <c:pt idx="199">
                  <c:v>48088</c:v>
                </c:pt>
                <c:pt idx="200">
                  <c:v>48102</c:v>
                </c:pt>
                <c:pt idx="201">
                  <c:v>48160</c:v>
                </c:pt>
                <c:pt idx="202">
                  <c:v>48318</c:v>
                </c:pt>
                <c:pt idx="203">
                  <c:v>48351</c:v>
                </c:pt>
                <c:pt idx="204">
                  <c:v>48386</c:v>
                </c:pt>
                <c:pt idx="205">
                  <c:v>48387</c:v>
                </c:pt>
                <c:pt idx="206">
                  <c:v>48458</c:v>
                </c:pt>
                <c:pt idx="207">
                  <c:v>48472</c:v>
                </c:pt>
                <c:pt idx="208">
                  <c:v>48475</c:v>
                </c:pt>
                <c:pt idx="209">
                  <c:v>48501</c:v>
                </c:pt>
                <c:pt idx="210">
                  <c:v>48541</c:v>
                </c:pt>
                <c:pt idx="211">
                  <c:v>48587</c:v>
                </c:pt>
                <c:pt idx="212">
                  <c:v>48653</c:v>
                </c:pt>
                <c:pt idx="213">
                  <c:v>48757</c:v>
                </c:pt>
                <c:pt idx="214">
                  <c:v>48866</c:v>
                </c:pt>
                <c:pt idx="215">
                  <c:v>48928</c:v>
                </c:pt>
                <c:pt idx="216">
                  <c:v>48992</c:v>
                </c:pt>
                <c:pt idx="217">
                  <c:v>49045</c:v>
                </c:pt>
                <c:pt idx="218">
                  <c:v>49137</c:v>
                </c:pt>
                <c:pt idx="219">
                  <c:v>49175</c:v>
                </c:pt>
                <c:pt idx="220">
                  <c:v>49179</c:v>
                </c:pt>
                <c:pt idx="221">
                  <c:v>49307</c:v>
                </c:pt>
                <c:pt idx="222">
                  <c:v>49358</c:v>
                </c:pt>
                <c:pt idx="223">
                  <c:v>49361</c:v>
                </c:pt>
                <c:pt idx="224">
                  <c:v>49365</c:v>
                </c:pt>
                <c:pt idx="225">
                  <c:v>49379</c:v>
                </c:pt>
                <c:pt idx="226">
                  <c:v>49458</c:v>
                </c:pt>
                <c:pt idx="227">
                  <c:v>49500</c:v>
                </c:pt>
                <c:pt idx="228">
                  <c:v>49500</c:v>
                </c:pt>
                <c:pt idx="229">
                  <c:v>49505</c:v>
                </c:pt>
                <c:pt idx="230">
                  <c:v>49560</c:v>
                </c:pt>
                <c:pt idx="231">
                  <c:v>49587</c:v>
                </c:pt>
                <c:pt idx="232">
                  <c:v>49606</c:v>
                </c:pt>
                <c:pt idx="233">
                  <c:v>49620</c:v>
                </c:pt>
                <c:pt idx="234">
                  <c:v>49634</c:v>
                </c:pt>
                <c:pt idx="235">
                  <c:v>49652</c:v>
                </c:pt>
                <c:pt idx="236">
                  <c:v>49774</c:v>
                </c:pt>
                <c:pt idx="237">
                  <c:v>49827</c:v>
                </c:pt>
                <c:pt idx="238">
                  <c:v>49917</c:v>
                </c:pt>
                <c:pt idx="239">
                  <c:v>49958</c:v>
                </c:pt>
                <c:pt idx="240">
                  <c:v>50105</c:v>
                </c:pt>
                <c:pt idx="241">
                  <c:v>50112</c:v>
                </c:pt>
                <c:pt idx="242">
                  <c:v>50116</c:v>
                </c:pt>
                <c:pt idx="243">
                  <c:v>50135</c:v>
                </c:pt>
                <c:pt idx="244">
                  <c:v>50220</c:v>
                </c:pt>
                <c:pt idx="245">
                  <c:v>50296</c:v>
                </c:pt>
                <c:pt idx="246">
                  <c:v>50296</c:v>
                </c:pt>
                <c:pt idx="247">
                  <c:v>50331</c:v>
                </c:pt>
                <c:pt idx="248">
                  <c:v>50445</c:v>
                </c:pt>
                <c:pt idx="249">
                  <c:v>50527</c:v>
                </c:pt>
                <c:pt idx="250">
                  <c:v>50579</c:v>
                </c:pt>
                <c:pt idx="251">
                  <c:v>50632</c:v>
                </c:pt>
                <c:pt idx="252">
                  <c:v>50669</c:v>
                </c:pt>
                <c:pt idx="253">
                  <c:v>50698</c:v>
                </c:pt>
                <c:pt idx="254">
                  <c:v>50712</c:v>
                </c:pt>
                <c:pt idx="255">
                  <c:v>50720</c:v>
                </c:pt>
                <c:pt idx="256">
                  <c:v>50741</c:v>
                </c:pt>
                <c:pt idx="257">
                  <c:v>50919</c:v>
                </c:pt>
                <c:pt idx="258">
                  <c:v>50923</c:v>
                </c:pt>
                <c:pt idx="259">
                  <c:v>50970</c:v>
                </c:pt>
                <c:pt idx="260">
                  <c:v>50994</c:v>
                </c:pt>
                <c:pt idx="261">
                  <c:v>51019</c:v>
                </c:pt>
                <c:pt idx="262">
                  <c:v>51077</c:v>
                </c:pt>
                <c:pt idx="263">
                  <c:v>51129</c:v>
                </c:pt>
                <c:pt idx="264">
                  <c:v>51151</c:v>
                </c:pt>
                <c:pt idx="265">
                  <c:v>51342</c:v>
                </c:pt>
                <c:pt idx="266">
                  <c:v>51450</c:v>
                </c:pt>
                <c:pt idx="267">
                  <c:v>51513</c:v>
                </c:pt>
                <c:pt idx="268">
                  <c:v>51532</c:v>
                </c:pt>
                <c:pt idx="269">
                  <c:v>51629</c:v>
                </c:pt>
                <c:pt idx="270">
                  <c:v>51658</c:v>
                </c:pt>
                <c:pt idx="271">
                  <c:v>51759</c:v>
                </c:pt>
                <c:pt idx="272">
                  <c:v>51793</c:v>
                </c:pt>
                <c:pt idx="273">
                  <c:v>51815</c:v>
                </c:pt>
                <c:pt idx="274">
                  <c:v>51833</c:v>
                </c:pt>
                <c:pt idx="275">
                  <c:v>51836</c:v>
                </c:pt>
                <c:pt idx="276">
                  <c:v>51865</c:v>
                </c:pt>
                <c:pt idx="277">
                  <c:v>51871</c:v>
                </c:pt>
                <c:pt idx="278">
                  <c:v>51926</c:v>
                </c:pt>
                <c:pt idx="279">
                  <c:v>51955</c:v>
                </c:pt>
                <c:pt idx="280">
                  <c:v>51989</c:v>
                </c:pt>
                <c:pt idx="281">
                  <c:v>52021</c:v>
                </c:pt>
                <c:pt idx="282">
                  <c:v>52075</c:v>
                </c:pt>
                <c:pt idx="283">
                  <c:v>52093</c:v>
                </c:pt>
                <c:pt idx="284">
                  <c:v>52131</c:v>
                </c:pt>
                <c:pt idx="285">
                  <c:v>52231</c:v>
                </c:pt>
                <c:pt idx="286">
                  <c:v>52234</c:v>
                </c:pt>
                <c:pt idx="287">
                  <c:v>52279</c:v>
                </c:pt>
                <c:pt idx="288">
                  <c:v>52334</c:v>
                </c:pt>
                <c:pt idx="289">
                  <c:v>52347</c:v>
                </c:pt>
                <c:pt idx="290">
                  <c:v>52349</c:v>
                </c:pt>
                <c:pt idx="291">
                  <c:v>52528</c:v>
                </c:pt>
                <c:pt idx="292">
                  <c:v>52567</c:v>
                </c:pt>
                <c:pt idx="293">
                  <c:v>52581</c:v>
                </c:pt>
                <c:pt idx="294">
                  <c:v>52725</c:v>
                </c:pt>
                <c:pt idx="295">
                  <c:v>52745</c:v>
                </c:pt>
                <c:pt idx="296">
                  <c:v>53032</c:v>
                </c:pt>
                <c:pt idx="297">
                  <c:v>53037</c:v>
                </c:pt>
                <c:pt idx="298">
                  <c:v>53040</c:v>
                </c:pt>
                <c:pt idx="299">
                  <c:v>53166</c:v>
                </c:pt>
                <c:pt idx="300">
                  <c:v>53230</c:v>
                </c:pt>
                <c:pt idx="301">
                  <c:v>53236</c:v>
                </c:pt>
                <c:pt idx="302">
                  <c:v>53263</c:v>
                </c:pt>
                <c:pt idx="303">
                  <c:v>53390</c:v>
                </c:pt>
                <c:pt idx="304">
                  <c:v>53493</c:v>
                </c:pt>
                <c:pt idx="305">
                  <c:v>53501</c:v>
                </c:pt>
                <c:pt idx="306">
                  <c:v>53551</c:v>
                </c:pt>
                <c:pt idx="307">
                  <c:v>53562</c:v>
                </c:pt>
                <c:pt idx="308">
                  <c:v>53739</c:v>
                </c:pt>
                <c:pt idx="309">
                  <c:v>53755</c:v>
                </c:pt>
                <c:pt idx="310">
                  <c:v>53775</c:v>
                </c:pt>
                <c:pt idx="311">
                  <c:v>53874</c:v>
                </c:pt>
                <c:pt idx="312">
                  <c:v>53899</c:v>
                </c:pt>
                <c:pt idx="313">
                  <c:v>53909</c:v>
                </c:pt>
                <c:pt idx="314">
                  <c:v>54022</c:v>
                </c:pt>
                <c:pt idx="315">
                  <c:v>54080</c:v>
                </c:pt>
                <c:pt idx="316">
                  <c:v>54163</c:v>
                </c:pt>
                <c:pt idx="317">
                  <c:v>54211</c:v>
                </c:pt>
                <c:pt idx="318">
                  <c:v>54247</c:v>
                </c:pt>
                <c:pt idx="319">
                  <c:v>54329</c:v>
                </c:pt>
                <c:pt idx="320">
                  <c:v>54338</c:v>
                </c:pt>
                <c:pt idx="321">
                  <c:v>54368</c:v>
                </c:pt>
                <c:pt idx="322">
                  <c:v>54384</c:v>
                </c:pt>
                <c:pt idx="323">
                  <c:v>54458</c:v>
                </c:pt>
                <c:pt idx="324">
                  <c:v>54467</c:v>
                </c:pt>
                <c:pt idx="325">
                  <c:v>54496</c:v>
                </c:pt>
                <c:pt idx="326">
                  <c:v>54501</c:v>
                </c:pt>
                <c:pt idx="327">
                  <c:v>54537</c:v>
                </c:pt>
                <c:pt idx="328">
                  <c:v>54560</c:v>
                </c:pt>
                <c:pt idx="329">
                  <c:v>54659</c:v>
                </c:pt>
                <c:pt idx="330">
                  <c:v>54670</c:v>
                </c:pt>
                <c:pt idx="331">
                  <c:v>54735</c:v>
                </c:pt>
                <c:pt idx="332">
                  <c:v>54810</c:v>
                </c:pt>
                <c:pt idx="333">
                  <c:v>54914</c:v>
                </c:pt>
                <c:pt idx="334">
                  <c:v>54967</c:v>
                </c:pt>
                <c:pt idx="335">
                  <c:v>54990</c:v>
                </c:pt>
                <c:pt idx="336">
                  <c:v>55037</c:v>
                </c:pt>
                <c:pt idx="337">
                  <c:v>55043</c:v>
                </c:pt>
                <c:pt idx="338">
                  <c:v>55070</c:v>
                </c:pt>
                <c:pt idx="339">
                  <c:v>55076</c:v>
                </c:pt>
                <c:pt idx="340">
                  <c:v>55076</c:v>
                </c:pt>
                <c:pt idx="341">
                  <c:v>55076</c:v>
                </c:pt>
                <c:pt idx="342">
                  <c:v>55146</c:v>
                </c:pt>
                <c:pt idx="343">
                  <c:v>55177</c:v>
                </c:pt>
                <c:pt idx="344">
                  <c:v>55198</c:v>
                </c:pt>
                <c:pt idx="345">
                  <c:v>55246</c:v>
                </c:pt>
                <c:pt idx="346">
                  <c:v>55356</c:v>
                </c:pt>
                <c:pt idx="347">
                  <c:v>55486</c:v>
                </c:pt>
                <c:pt idx="348">
                  <c:v>55493</c:v>
                </c:pt>
                <c:pt idx="349">
                  <c:v>55548</c:v>
                </c:pt>
                <c:pt idx="350">
                  <c:v>55563</c:v>
                </c:pt>
                <c:pt idx="351">
                  <c:v>55747</c:v>
                </c:pt>
                <c:pt idx="352">
                  <c:v>55763</c:v>
                </c:pt>
                <c:pt idx="353">
                  <c:v>55813</c:v>
                </c:pt>
                <c:pt idx="354">
                  <c:v>55874</c:v>
                </c:pt>
                <c:pt idx="355">
                  <c:v>55939</c:v>
                </c:pt>
                <c:pt idx="356">
                  <c:v>55939</c:v>
                </c:pt>
                <c:pt idx="357">
                  <c:v>55939</c:v>
                </c:pt>
                <c:pt idx="358">
                  <c:v>56073</c:v>
                </c:pt>
                <c:pt idx="359">
                  <c:v>56118</c:v>
                </c:pt>
                <c:pt idx="360">
                  <c:v>56148</c:v>
                </c:pt>
                <c:pt idx="361">
                  <c:v>56195</c:v>
                </c:pt>
                <c:pt idx="362">
                  <c:v>56280</c:v>
                </c:pt>
                <c:pt idx="363">
                  <c:v>56287</c:v>
                </c:pt>
                <c:pt idx="364">
                  <c:v>56310</c:v>
                </c:pt>
                <c:pt idx="365">
                  <c:v>56318</c:v>
                </c:pt>
                <c:pt idx="366">
                  <c:v>56343</c:v>
                </c:pt>
                <c:pt idx="367">
                  <c:v>56346</c:v>
                </c:pt>
                <c:pt idx="368">
                  <c:v>56351</c:v>
                </c:pt>
                <c:pt idx="369">
                  <c:v>56403</c:v>
                </c:pt>
                <c:pt idx="370">
                  <c:v>56416</c:v>
                </c:pt>
                <c:pt idx="371">
                  <c:v>56469</c:v>
                </c:pt>
                <c:pt idx="372">
                  <c:v>56544</c:v>
                </c:pt>
                <c:pt idx="373">
                  <c:v>56662</c:v>
                </c:pt>
                <c:pt idx="374">
                  <c:v>56746</c:v>
                </c:pt>
                <c:pt idx="375">
                  <c:v>56880</c:v>
                </c:pt>
                <c:pt idx="376">
                  <c:v>56887</c:v>
                </c:pt>
                <c:pt idx="377">
                  <c:v>56906</c:v>
                </c:pt>
                <c:pt idx="378">
                  <c:v>56922</c:v>
                </c:pt>
                <c:pt idx="379">
                  <c:v>56945</c:v>
                </c:pt>
                <c:pt idx="380">
                  <c:v>57010</c:v>
                </c:pt>
                <c:pt idx="381">
                  <c:v>57053</c:v>
                </c:pt>
                <c:pt idx="382">
                  <c:v>57103</c:v>
                </c:pt>
                <c:pt idx="383">
                  <c:v>57131</c:v>
                </c:pt>
                <c:pt idx="384">
                  <c:v>57162</c:v>
                </c:pt>
                <c:pt idx="385">
                  <c:v>57237</c:v>
                </c:pt>
                <c:pt idx="386">
                  <c:v>57262</c:v>
                </c:pt>
                <c:pt idx="387">
                  <c:v>57289</c:v>
                </c:pt>
                <c:pt idx="388">
                  <c:v>57304</c:v>
                </c:pt>
                <c:pt idx="389">
                  <c:v>57346</c:v>
                </c:pt>
                <c:pt idx="390">
                  <c:v>57413</c:v>
                </c:pt>
                <c:pt idx="391">
                  <c:v>57466</c:v>
                </c:pt>
                <c:pt idx="392">
                  <c:v>57552</c:v>
                </c:pt>
                <c:pt idx="393">
                  <c:v>57566</c:v>
                </c:pt>
                <c:pt idx="394">
                  <c:v>57602</c:v>
                </c:pt>
                <c:pt idx="395">
                  <c:v>57624</c:v>
                </c:pt>
                <c:pt idx="396">
                  <c:v>57743</c:v>
                </c:pt>
                <c:pt idx="397">
                  <c:v>57780</c:v>
                </c:pt>
                <c:pt idx="398">
                  <c:v>57808</c:v>
                </c:pt>
                <c:pt idx="399">
                  <c:v>57897</c:v>
                </c:pt>
                <c:pt idx="400">
                  <c:v>57906</c:v>
                </c:pt>
                <c:pt idx="401">
                  <c:v>58013</c:v>
                </c:pt>
                <c:pt idx="402">
                  <c:v>58056</c:v>
                </c:pt>
                <c:pt idx="403">
                  <c:v>58073</c:v>
                </c:pt>
                <c:pt idx="404">
                  <c:v>58084</c:v>
                </c:pt>
                <c:pt idx="405">
                  <c:v>58128</c:v>
                </c:pt>
                <c:pt idx="406">
                  <c:v>58140</c:v>
                </c:pt>
                <c:pt idx="407">
                  <c:v>58169</c:v>
                </c:pt>
                <c:pt idx="408">
                  <c:v>58191</c:v>
                </c:pt>
                <c:pt idx="409">
                  <c:v>58308</c:v>
                </c:pt>
                <c:pt idx="410">
                  <c:v>58526</c:v>
                </c:pt>
                <c:pt idx="411">
                  <c:v>58532</c:v>
                </c:pt>
                <c:pt idx="412">
                  <c:v>58561</c:v>
                </c:pt>
                <c:pt idx="413">
                  <c:v>58562</c:v>
                </c:pt>
                <c:pt idx="414">
                  <c:v>58612</c:v>
                </c:pt>
                <c:pt idx="415">
                  <c:v>59004</c:v>
                </c:pt>
                <c:pt idx="416">
                  <c:v>59009</c:v>
                </c:pt>
                <c:pt idx="417">
                  <c:v>59025</c:v>
                </c:pt>
                <c:pt idx="418">
                  <c:v>59115</c:v>
                </c:pt>
                <c:pt idx="419">
                  <c:v>59115</c:v>
                </c:pt>
                <c:pt idx="420">
                  <c:v>59211</c:v>
                </c:pt>
                <c:pt idx="421">
                  <c:v>59221</c:v>
                </c:pt>
                <c:pt idx="422">
                  <c:v>59247</c:v>
                </c:pt>
                <c:pt idx="423">
                  <c:v>59637</c:v>
                </c:pt>
                <c:pt idx="424">
                  <c:v>59649</c:v>
                </c:pt>
                <c:pt idx="425">
                  <c:v>59977</c:v>
                </c:pt>
                <c:pt idx="426">
                  <c:v>59979</c:v>
                </c:pt>
                <c:pt idx="427">
                  <c:v>59988</c:v>
                </c:pt>
                <c:pt idx="428">
                  <c:v>60110</c:v>
                </c:pt>
                <c:pt idx="429">
                  <c:v>60236</c:v>
                </c:pt>
                <c:pt idx="430">
                  <c:v>60249</c:v>
                </c:pt>
                <c:pt idx="431">
                  <c:v>60249</c:v>
                </c:pt>
                <c:pt idx="432">
                  <c:v>60378</c:v>
                </c:pt>
                <c:pt idx="433">
                  <c:v>60386</c:v>
                </c:pt>
                <c:pt idx="434">
                  <c:v>60409</c:v>
                </c:pt>
                <c:pt idx="435">
                  <c:v>60409</c:v>
                </c:pt>
                <c:pt idx="436">
                  <c:v>60409</c:v>
                </c:pt>
                <c:pt idx="437">
                  <c:v>60409</c:v>
                </c:pt>
                <c:pt idx="438">
                  <c:v>60409</c:v>
                </c:pt>
                <c:pt idx="439">
                  <c:v>60509</c:v>
                </c:pt>
                <c:pt idx="440">
                  <c:v>60543</c:v>
                </c:pt>
                <c:pt idx="441">
                  <c:v>60613</c:v>
                </c:pt>
                <c:pt idx="442">
                  <c:v>60614</c:v>
                </c:pt>
                <c:pt idx="443">
                  <c:v>60624</c:v>
                </c:pt>
                <c:pt idx="444">
                  <c:v>60752</c:v>
                </c:pt>
                <c:pt idx="445">
                  <c:v>61244</c:v>
                </c:pt>
                <c:pt idx="446">
                  <c:v>61251</c:v>
                </c:pt>
                <c:pt idx="447">
                  <c:v>61258</c:v>
                </c:pt>
                <c:pt idx="448">
                  <c:v>61324</c:v>
                </c:pt>
                <c:pt idx="449">
                  <c:v>61335</c:v>
                </c:pt>
                <c:pt idx="450">
                  <c:v>61415</c:v>
                </c:pt>
                <c:pt idx="451">
                  <c:v>61415</c:v>
                </c:pt>
                <c:pt idx="452">
                  <c:v>61515</c:v>
                </c:pt>
                <c:pt idx="453">
                  <c:v>61580</c:v>
                </c:pt>
                <c:pt idx="454">
                  <c:v>61675</c:v>
                </c:pt>
                <c:pt idx="455">
                  <c:v>61760</c:v>
                </c:pt>
                <c:pt idx="456">
                  <c:v>61767</c:v>
                </c:pt>
                <c:pt idx="457">
                  <c:v>61945</c:v>
                </c:pt>
                <c:pt idx="458">
                  <c:v>62117</c:v>
                </c:pt>
                <c:pt idx="459">
                  <c:v>62152</c:v>
                </c:pt>
                <c:pt idx="460">
                  <c:v>62177</c:v>
                </c:pt>
                <c:pt idx="461">
                  <c:v>62203</c:v>
                </c:pt>
                <c:pt idx="462">
                  <c:v>62377</c:v>
                </c:pt>
                <c:pt idx="463">
                  <c:v>62454</c:v>
                </c:pt>
                <c:pt idx="464">
                  <c:v>62472</c:v>
                </c:pt>
                <c:pt idx="465">
                  <c:v>62569</c:v>
                </c:pt>
                <c:pt idx="466">
                  <c:v>62616</c:v>
                </c:pt>
                <c:pt idx="467">
                  <c:v>62668</c:v>
                </c:pt>
                <c:pt idx="468">
                  <c:v>62696</c:v>
                </c:pt>
                <c:pt idx="469">
                  <c:v>62763</c:v>
                </c:pt>
                <c:pt idx="470">
                  <c:v>62908</c:v>
                </c:pt>
                <c:pt idx="471">
                  <c:v>62951</c:v>
                </c:pt>
                <c:pt idx="472">
                  <c:v>63126</c:v>
                </c:pt>
                <c:pt idx="473">
                  <c:v>63163</c:v>
                </c:pt>
                <c:pt idx="474">
                  <c:v>63188</c:v>
                </c:pt>
                <c:pt idx="475">
                  <c:v>63199</c:v>
                </c:pt>
                <c:pt idx="476">
                  <c:v>63386</c:v>
                </c:pt>
                <c:pt idx="477">
                  <c:v>63403</c:v>
                </c:pt>
                <c:pt idx="478">
                  <c:v>63496</c:v>
                </c:pt>
                <c:pt idx="479">
                  <c:v>63552</c:v>
                </c:pt>
                <c:pt idx="480">
                  <c:v>63727</c:v>
                </c:pt>
                <c:pt idx="481">
                  <c:v>63742</c:v>
                </c:pt>
                <c:pt idx="482">
                  <c:v>64010</c:v>
                </c:pt>
                <c:pt idx="483">
                  <c:v>64172</c:v>
                </c:pt>
                <c:pt idx="484">
                  <c:v>64209</c:v>
                </c:pt>
                <c:pt idx="485">
                  <c:v>64270</c:v>
                </c:pt>
                <c:pt idx="486">
                  <c:v>64355</c:v>
                </c:pt>
                <c:pt idx="487">
                  <c:v>64368</c:v>
                </c:pt>
                <c:pt idx="488">
                  <c:v>64390</c:v>
                </c:pt>
                <c:pt idx="489">
                  <c:v>64403</c:v>
                </c:pt>
                <c:pt idx="490">
                  <c:v>64705</c:v>
                </c:pt>
                <c:pt idx="491">
                  <c:v>64762</c:v>
                </c:pt>
                <c:pt idx="492">
                  <c:v>64874</c:v>
                </c:pt>
                <c:pt idx="493">
                  <c:v>64876</c:v>
                </c:pt>
                <c:pt idx="494">
                  <c:v>64909</c:v>
                </c:pt>
                <c:pt idx="495">
                  <c:v>65287</c:v>
                </c:pt>
                <c:pt idx="496">
                  <c:v>65337</c:v>
                </c:pt>
                <c:pt idx="497">
                  <c:v>65703</c:v>
                </c:pt>
                <c:pt idx="498">
                  <c:v>65865</c:v>
                </c:pt>
                <c:pt idx="499">
                  <c:v>65986</c:v>
                </c:pt>
                <c:pt idx="500">
                  <c:v>66039</c:v>
                </c:pt>
                <c:pt idx="501">
                  <c:v>66125</c:v>
                </c:pt>
                <c:pt idx="502">
                  <c:v>66125</c:v>
                </c:pt>
                <c:pt idx="503">
                  <c:v>66125</c:v>
                </c:pt>
                <c:pt idx="504">
                  <c:v>66125</c:v>
                </c:pt>
                <c:pt idx="505">
                  <c:v>66479</c:v>
                </c:pt>
                <c:pt idx="506">
                  <c:v>66479</c:v>
                </c:pt>
                <c:pt idx="507">
                  <c:v>66479</c:v>
                </c:pt>
                <c:pt idx="508">
                  <c:v>67170</c:v>
                </c:pt>
                <c:pt idx="509">
                  <c:v>67253</c:v>
                </c:pt>
                <c:pt idx="510">
                  <c:v>67316</c:v>
                </c:pt>
                <c:pt idx="511">
                  <c:v>67541</c:v>
                </c:pt>
                <c:pt idx="512">
                  <c:v>67699</c:v>
                </c:pt>
                <c:pt idx="513">
                  <c:v>67979</c:v>
                </c:pt>
                <c:pt idx="514">
                  <c:v>68077</c:v>
                </c:pt>
                <c:pt idx="515">
                  <c:v>68227</c:v>
                </c:pt>
                <c:pt idx="516">
                  <c:v>68396</c:v>
                </c:pt>
                <c:pt idx="517">
                  <c:v>68726</c:v>
                </c:pt>
                <c:pt idx="518">
                  <c:v>68740</c:v>
                </c:pt>
                <c:pt idx="519">
                  <c:v>68758</c:v>
                </c:pt>
                <c:pt idx="520">
                  <c:v>68804</c:v>
                </c:pt>
                <c:pt idx="521">
                  <c:v>68905</c:v>
                </c:pt>
                <c:pt idx="522">
                  <c:v>69020</c:v>
                </c:pt>
                <c:pt idx="523">
                  <c:v>69738</c:v>
                </c:pt>
                <c:pt idx="524">
                  <c:v>69743</c:v>
                </c:pt>
                <c:pt idx="525">
                  <c:v>69781</c:v>
                </c:pt>
                <c:pt idx="526">
                  <c:v>69954</c:v>
                </c:pt>
                <c:pt idx="527">
                  <c:v>69960</c:v>
                </c:pt>
                <c:pt idx="528">
                  <c:v>70814</c:v>
                </c:pt>
                <c:pt idx="529">
                  <c:v>71401</c:v>
                </c:pt>
                <c:pt idx="530">
                  <c:v>71513</c:v>
                </c:pt>
                <c:pt idx="531">
                  <c:v>71588</c:v>
                </c:pt>
                <c:pt idx="532">
                  <c:v>71588</c:v>
                </c:pt>
                <c:pt idx="533">
                  <c:v>71631</c:v>
                </c:pt>
                <c:pt idx="534">
                  <c:v>71902</c:v>
                </c:pt>
                <c:pt idx="535">
                  <c:v>72085</c:v>
                </c:pt>
                <c:pt idx="536">
                  <c:v>72097</c:v>
                </c:pt>
                <c:pt idx="537">
                  <c:v>72200</c:v>
                </c:pt>
                <c:pt idx="538">
                  <c:v>72257</c:v>
                </c:pt>
                <c:pt idx="539">
                  <c:v>72273</c:v>
                </c:pt>
                <c:pt idx="540">
                  <c:v>72424</c:v>
                </c:pt>
                <c:pt idx="541">
                  <c:v>72950</c:v>
                </c:pt>
                <c:pt idx="542">
                  <c:v>73323</c:v>
                </c:pt>
                <c:pt idx="543">
                  <c:v>73490</c:v>
                </c:pt>
                <c:pt idx="544">
                  <c:v>73792</c:v>
                </c:pt>
                <c:pt idx="545">
                  <c:v>73997</c:v>
                </c:pt>
                <c:pt idx="546">
                  <c:v>74479</c:v>
                </c:pt>
                <c:pt idx="547">
                  <c:v>74479</c:v>
                </c:pt>
                <c:pt idx="548">
                  <c:v>74479</c:v>
                </c:pt>
                <c:pt idx="549">
                  <c:v>74502</c:v>
                </c:pt>
                <c:pt idx="550">
                  <c:v>74915</c:v>
                </c:pt>
                <c:pt idx="551">
                  <c:v>75121</c:v>
                </c:pt>
                <c:pt idx="552">
                  <c:v>75971</c:v>
                </c:pt>
                <c:pt idx="553">
                  <c:v>76343</c:v>
                </c:pt>
                <c:pt idx="554">
                  <c:v>76489</c:v>
                </c:pt>
                <c:pt idx="555">
                  <c:v>76813</c:v>
                </c:pt>
                <c:pt idx="556">
                  <c:v>77369</c:v>
                </c:pt>
                <c:pt idx="557">
                  <c:v>78198</c:v>
                </c:pt>
                <c:pt idx="558">
                  <c:v>78466</c:v>
                </c:pt>
                <c:pt idx="559">
                  <c:v>78466</c:v>
                </c:pt>
                <c:pt idx="560">
                  <c:v>78466</c:v>
                </c:pt>
                <c:pt idx="561">
                  <c:v>78988</c:v>
                </c:pt>
                <c:pt idx="562">
                  <c:v>80596</c:v>
                </c:pt>
                <c:pt idx="563">
                  <c:v>80735</c:v>
                </c:pt>
                <c:pt idx="564">
                  <c:v>80838</c:v>
                </c:pt>
                <c:pt idx="565">
                  <c:v>81054</c:v>
                </c:pt>
                <c:pt idx="566">
                  <c:v>81698</c:v>
                </c:pt>
                <c:pt idx="567">
                  <c:v>82392</c:v>
                </c:pt>
                <c:pt idx="568">
                  <c:v>82511</c:v>
                </c:pt>
                <c:pt idx="569">
                  <c:v>82860</c:v>
                </c:pt>
                <c:pt idx="570">
                  <c:v>82957</c:v>
                </c:pt>
                <c:pt idx="571">
                  <c:v>83648</c:v>
                </c:pt>
                <c:pt idx="572">
                  <c:v>84276</c:v>
                </c:pt>
                <c:pt idx="573">
                  <c:v>84943</c:v>
                </c:pt>
                <c:pt idx="574">
                  <c:v>86863</c:v>
                </c:pt>
                <c:pt idx="575">
                  <c:v>89964</c:v>
                </c:pt>
                <c:pt idx="576">
                  <c:v>90610</c:v>
                </c:pt>
                <c:pt idx="577">
                  <c:v>90768</c:v>
                </c:pt>
                <c:pt idx="578">
                  <c:v>92446</c:v>
                </c:pt>
                <c:pt idx="579">
                  <c:v>94784</c:v>
                </c:pt>
                <c:pt idx="580">
                  <c:v>95951</c:v>
                </c:pt>
                <c:pt idx="581">
                  <c:v>97335</c:v>
                </c:pt>
                <c:pt idx="582">
                  <c:v>102772</c:v>
                </c:pt>
              </c:numCache>
            </c:numRef>
          </c:yVal>
          <c:smooth val="0"/>
          <c:extLst>
            <c:ext xmlns:c16="http://schemas.microsoft.com/office/drawing/2014/chart" uri="{C3380CC4-5D6E-409C-BE32-E72D297353CC}">
              <c16:uniqueId val="{00000002-A6C2-4C08-9A2C-13704BF64019}"/>
            </c:ext>
          </c:extLst>
        </c:ser>
        <c:ser>
          <c:idx val="2"/>
          <c:order val="2"/>
          <c:tx>
            <c:strRef>
              <c:f>Sheet1!$B$1531</c:f>
              <c:strCache>
                <c:ptCount val="1"/>
                <c:pt idx="0">
                  <c:v>Northeastern</c:v>
                </c:pt>
              </c:strCache>
            </c:strRef>
          </c:tx>
          <c:spPr>
            <a:ln w="47625">
              <a:noFill/>
            </a:ln>
          </c:spPr>
          <c:marker>
            <c:symbol val="circle"/>
            <c:size val="11"/>
            <c:spPr>
              <a:solidFill>
                <a:srgbClr val="C8102E"/>
              </a:solidFill>
              <a:ln w="15875">
                <a:solidFill>
                  <a:srgbClr val="FFFFFF"/>
                </a:solidFill>
              </a:ln>
            </c:spPr>
          </c:marker>
          <c:xVal>
            <c:numRef>
              <c:f>Sheet1!$A$1532:$A$1532</c:f>
              <c:numCache>
                <c:formatCode>General</c:formatCode>
                <c:ptCount val="1"/>
                <c:pt idx="0">
                  <c:v>30915</c:v>
                </c:pt>
              </c:numCache>
            </c:numRef>
          </c:xVal>
          <c:yVal>
            <c:numRef>
              <c:f>Sheet1!$B$1532:$B$1532</c:f>
              <c:numCache>
                <c:formatCode>General</c:formatCode>
                <c:ptCount val="1"/>
                <c:pt idx="0">
                  <c:v>92538</c:v>
                </c:pt>
              </c:numCache>
            </c:numRef>
          </c:yVal>
          <c:smooth val="0"/>
          <c:extLst>
            <c:ext xmlns:c16="http://schemas.microsoft.com/office/drawing/2014/chart" uri="{C3380CC4-5D6E-409C-BE32-E72D297353CC}">
              <c16:uniqueId val="{00000003-A6C2-4C08-9A2C-13704BF64019}"/>
            </c:ext>
          </c:extLst>
        </c:ser>
        <c:dLbls>
          <c:showLegendKey val="0"/>
          <c:showVal val="0"/>
          <c:showCatName val="0"/>
          <c:showSerName val="0"/>
          <c:showPercent val="0"/>
          <c:showBubbleSize val="0"/>
        </c:dLbls>
        <c:axId val="-2128940872"/>
        <c:axId val="-2129643912"/>
      </c:scatterChart>
      <c:valAx>
        <c:axId val="-2128940872"/>
        <c:scaling>
          <c:orientation val="minMax"/>
          <c:max val="60000"/>
          <c:min val="0"/>
        </c:scaling>
        <c:delete val="0"/>
        <c:axPos val="b"/>
        <c:title>
          <c:tx>
            <c:rich>
              <a:bodyPr/>
              <a:lstStyle/>
              <a:p>
                <a:pPr>
                  <a:defRPr/>
                </a:pPr>
                <a:r>
                  <a:rPr lang="en-US" sz="1000" b="1">
                    <a:solidFill>
                      <a:srgbClr val="000000"/>
                    </a:solidFill>
                    <a:latin typeface="Lato"/>
                  </a:rPr>
                  <a:t>Average annual net cost of attendance (2)</a:t>
                </a:r>
              </a:p>
            </c:rich>
          </c:tx>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9643912"/>
        <c:crosses val="autoZero"/>
        <c:crossBetween val="midCat"/>
        <c:majorUnit val="10000"/>
      </c:valAx>
      <c:valAx>
        <c:axId val="-2129643912"/>
        <c:scaling>
          <c:orientation val="minMax"/>
          <c:max val="150000"/>
          <c:min val="0"/>
        </c:scaling>
        <c:delete val="0"/>
        <c:axPos val="l"/>
        <c:title>
          <c:tx>
            <c:rich>
              <a:bodyPr rot="-5400000" vert="horz"/>
              <a:lstStyle/>
              <a:p>
                <a:pPr>
                  <a:defRPr/>
                </a:pPr>
                <a:r>
                  <a:rPr lang="en-US" sz="1000" b="1">
                    <a:solidFill>
                      <a:srgbClr val="000000"/>
                    </a:solidFill>
                    <a:latin typeface="Lato"/>
                  </a:rPr>
                  <a:t>Median earnings ten years after entry (1)</a:t>
                </a:r>
              </a:p>
            </c:rich>
          </c:tx>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8940872"/>
        <c:crosses val="autoZero"/>
        <c:crossBetween val="midCat"/>
        <c:majorUnit val="10000"/>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3"/>
          <c:w val="0.93500000000000005"/>
          <c:h val="0.86"/>
        </c:manualLayout>
      </c:layout>
      <c:barChart>
        <c:barDir val="col"/>
        <c:grouping val="clustered"/>
        <c:varyColors val="1"/>
        <c:ser>
          <c:idx val="0"/>
          <c:order val="0"/>
          <c:tx>
            <c:strRef>
              <c:f>Sheet1!$B$1</c:f>
              <c:strCache>
                <c:ptCount val="1"/>
                <c:pt idx="0">
                  <c:v>R&amp;D</c:v>
                </c:pt>
              </c:strCache>
            </c:strRef>
          </c:tx>
          <c:spPr>
            <a:solidFill>
              <a:srgbClr val="B8BBBD"/>
            </a:solidFill>
          </c:spPr>
          <c:invertIfNegative val="1"/>
          <c:dPt>
            <c:idx val="0"/>
            <c:invertIfNegative val="1"/>
            <c:bubble3D val="0"/>
            <c:spPr>
              <a:solidFill>
                <a:srgbClr val="000000"/>
              </a:solidFill>
            </c:spPr>
            <c:extLst>
              <c:ext xmlns:c16="http://schemas.microsoft.com/office/drawing/2014/chart" uri="{C3380CC4-5D6E-409C-BE32-E72D297353CC}">
                <c16:uniqueId val="{00000001-F512-4BA7-B525-0309C134ED20}"/>
              </c:ext>
            </c:extLst>
          </c:dPt>
          <c:dPt>
            <c:idx val="1"/>
            <c:invertIfNegative val="1"/>
            <c:bubble3D val="0"/>
            <c:spPr>
              <a:solidFill>
                <a:srgbClr val="000000"/>
              </a:solidFill>
            </c:spPr>
            <c:extLst>
              <c:ext xmlns:c16="http://schemas.microsoft.com/office/drawing/2014/chart" uri="{C3380CC4-5D6E-409C-BE32-E72D297353CC}">
                <c16:uniqueId val="{00000003-F512-4BA7-B525-0309C134ED20}"/>
              </c:ext>
            </c:extLst>
          </c:dPt>
          <c:dPt>
            <c:idx val="2"/>
            <c:invertIfNegative val="1"/>
            <c:bubble3D val="0"/>
            <c:spPr>
              <a:solidFill>
                <a:srgbClr val="000000"/>
              </a:solidFill>
            </c:spPr>
            <c:extLst>
              <c:ext xmlns:c16="http://schemas.microsoft.com/office/drawing/2014/chart" uri="{C3380CC4-5D6E-409C-BE32-E72D297353CC}">
                <c16:uniqueId val="{00000005-F512-4BA7-B525-0309C134ED20}"/>
              </c:ext>
            </c:extLst>
          </c:dPt>
          <c:dPt>
            <c:idx val="3"/>
            <c:invertIfNegative val="1"/>
            <c:bubble3D val="0"/>
            <c:spPr>
              <a:solidFill>
                <a:srgbClr val="000000"/>
              </a:solidFill>
            </c:spPr>
            <c:extLst>
              <c:ext xmlns:c16="http://schemas.microsoft.com/office/drawing/2014/chart" uri="{C3380CC4-5D6E-409C-BE32-E72D297353CC}">
                <c16:uniqueId val="{00000007-F512-4BA7-B525-0309C134ED20}"/>
              </c:ext>
            </c:extLst>
          </c:dPt>
          <c:dPt>
            <c:idx val="4"/>
            <c:invertIfNegative val="1"/>
            <c:bubble3D val="0"/>
            <c:spPr>
              <a:solidFill>
                <a:srgbClr val="000000"/>
              </a:solidFill>
            </c:spPr>
            <c:extLst>
              <c:ext xmlns:c16="http://schemas.microsoft.com/office/drawing/2014/chart" uri="{C3380CC4-5D6E-409C-BE32-E72D297353CC}">
                <c16:uniqueId val="{00000009-F512-4BA7-B525-0309C134ED20}"/>
              </c:ext>
            </c:extLst>
          </c:dPt>
          <c:dPt>
            <c:idx val="5"/>
            <c:invertIfNegative val="1"/>
            <c:bubble3D val="0"/>
            <c:spPr>
              <a:solidFill>
                <a:srgbClr val="000000"/>
              </a:solidFill>
            </c:spPr>
            <c:extLst>
              <c:ext xmlns:c16="http://schemas.microsoft.com/office/drawing/2014/chart" uri="{C3380CC4-5D6E-409C-BE32-E72D297353CC}">
                <c16:uniqueId val="{0000000B-F512-4BA7-B525-0309C134ED20}"/>
              </c:ext>
            </c:extLst>
          </c:dPt>
          <c:dPt>
            <c:idx val="6"/>
            <c:invertIfNegative val="1"/>
            <c:bubble3D val="0"/>
            <c:spPr>
              <a:solidFill>
                <a:srgbClr val="000000"/>
              </a:solidFill>
            </c:spPr>
            <c:extLst>
              <c:ext xmlns:c16="http://schemas.microsoft.com/office/drawing/2014/chart" uri="{C3380CC4-5D6E-409C-BE32-E72D297353CC}">
                <c16:uniqueId val="{0000000D-F512-4BA7-B525-0309C134ED20}"/>
              </c:ext>
            </c:extLst>
          </c:dPt>
          <c:dPt>
            <c:idx val="7"/>
            <c:invertIfNegative val="1"/>
            <c:bubble3D val="0"/>
            <c:spPr>
              <a:solidFill>
                <a:srgbClr val="000000"/>
              </a:solidFill>
            </c:spPr>
            <c:extLst>
              <c:ext xmlns:c16="http://schemas.microsoft.com/office/drawing/2014/chart" uri="{C3380CC4-5D6E-409C-BE32-E72D297353CC}">
                <c16:uniqueId val="{0000000F-F512-4BA7-B525-0309C134ED20}"/>
              </c:ext>
            </c:extLst>
          </c:dPt>
          <c:dPt>
            <c:idx val="8"/>
            <c:invertIfNegative val="1"/>
            <c:bubble3D val="0"/>
            <c:spPr>
              <a:solidFill>
                <a:srgbClr val="000000"/>
              </a:solidFill>
            </c:spPr>
            <c:extLst>
              <c:ext xmlns:c16="http://schemas.microsoft.com/office/drawing/2014/chart" uri="{C3380CC4-5D6E-409C-BE32-E72D297353CC}">
                <c16:uniqueId val="{00000011-F512-4BA7-B525-0309C134ED20}"/>
              </c:ext>
            </c:extLst>
          </c:dPt>
          <c:dPt>
            <c:idx val="9"/>
            <c:invertIfNegative val="1"/>
            <c:bubble3D val="0"/>
            <c:spPr>
              <a:solidFill>
                <a:srgbClr val="000000"/>
              </a:solidFill>
            </c:spPr>
            <c:extLst>
              <c:ext xmlns:c16="http://schemas.microsoft.com/office/drawing/2014/chart" uri="{C3380CC4-5D6E-409C-BE32-E72D297353CC}">
                <c16:uniqueId val="{00000013-F512-4BA7-B525-0309C134ED20}"/>
              </c:ext>
            </c:extLst>
          </c:dPt>
          <c:dPt>
            <c:idx val="10"/>
            <c:invertIfNegative val="1"/>
            <c:bubble3D val="0"/>
            <c:spPr>
              <a:solidFill>
                <a:srgbClr val="000000"/>
              </a:solidFill>
            </c:spPr>
            <c:extLst>
              <c:ext xmlns:c16="http://schemas.microsoft.com/office/drawing/2014/chart" uri="{C3380CC4-5D6E-409C-BE32-E72D297353CC}">
                <c16:uniqueId val="{00000015-F512-4BA7-B525-0309C134ED20}"/>
              </c:ext>
            </c:extLst>
          </c:dPt>
          <c:dPt>
            <c:idx val="11"/>
            <c:invertIfNegative val="1"/>
            <c:bubble3D val="0"/>
            <c:spPr>
              <a:solidFill>
                <a:srgbClr val="000000"/>
              </a:solidFill>
            </c:spPr>
            <c:extLst>
              <c:ext xmlns:c16="http://schemas.microsoft.com/office/drawing/2014/chart" uri="{C3380CC4-5D6E-409C-BE32-E72D297353CC}">
                <c16:uniqueId val="{00000017-F512-4BA7-B525-0309C134ED20}"/>
              </c:ext>
            </c:extLst>
          </c:dPt>
          <c:dPt>
            <c:idx val="12"/>
            <c:invertIfNegative val="1"/>
            <c:bubble3D val="0"/>
            <c:spPr>
              <a:solidFill>
                <a:srgbClr val="000000"/>
              </a:solidFill>
            </c:spPr>
            <c:extLst>
              <c:ext xmlns:c16="http://schemas.microsoft.com/office/drawing/2014/chart" uri="{C3380CC4-5D6E-409C-BE32-E72D297353CC}">
                <c16:uniqueId val="{00000019-F512-4BA7-B525-0309C134ED20}"/>
              </c:ext>
            </c:extLst>
          </c:dPt>
          <c:dPt>
            <c:idx val="13"/>
            <c:invertIfNegative val="1"/>
            <c:bubble3D val="0"/>
            <c:spPr>
              <a:solidFill>
                <a:srgbClr val="000000"/>
              </a:solidFill>
            </c:spPr>
            <c:extLst>
              <c:ext xmlns:c16="http://schemas.microsoft.com/office/drawing/2014/chart" uri="{C3380CC4-5D6E-409C-BE32-E72D297353CC}">
                <c16:uniqueId val="{0000001B-F512-4BA7-B525-0309C134ED20}"/>
              </c:ext>
            </c:extLst>
          </c:dPt>
          <c:dPt>
            <c:idx val="14"/>
            <c:invertIfNegative val="1"/>
            <c:bubble3D val="0"/>
            <c:extLst>
              <c:ext xmlns:c16="http://schemas.microsoft.com/office/drawing/2014/chart" uri="{C3380CC4-5D6E-409C-BE32-E72D297353CC}">
                <c16:uniqueId val="{0000001D-F512-4BA7-B525-0309C134ED20}"/>
              </c:ext>
            </c:extLst>
          </c:dPt>
          <c:dPt>
            <c:idx val="15"/>
            <c:invertIfNegative val="1"/>
            <c:bubble3D val="0"/>
            <c:spPr>
              <a:solidFill>
                <a:srgbClr val="000000"/>
              </a:solidFill>
            </c:spPr>
            <c:extLst>
              <c:ext xmlns:c16="http://schemas.microsoft.com/office/drawing/2014/chart" uri="{C3380CC4-5D6E-409C-BE32-E72D297353CC}">
                <c16:uniqueId val="{0000001F-F512-4BA7-B525-0309C134ED20}"/>
              </c:ext>
            </c:extLst>
          </c:dPt>
          <c:dPt>
            <c:idx val="16"/>
            <c:invertIfNegative val="1"/>
            <c:bubble3D val="0"/>
            <c:spPr>
              <a:solidFill>
                <a:srgbClr val="000000"/>
              </a:solidFill>
            </c:spPr>
            <c:extLst>
              <c:ext xmlns:c16="http://schemas.microsoft.com/office/drawing/2014/chart" uri="{C3380CC4-5D6E-409C-BE32-E72D297353CC}">
                <c16:uniqueId val="{00000021-F512-4BA7-B525-0309C134ED20}"/>
              </c:ext>
            </c:extLst>
          </c:dPt>
          <c:dPt>
            <c:idx val="17"/>
            <c:invertIfNegative val="1"/>
            <c:bubble3D val="0"/>
            <c:spPr>
              <a:solidFill>
                <a:srgbClr val="000000"/>
              </a:solidFill>
            </c:spPr>
            <c:extLst>
              <c:ext xmlns:c16="http://schemas.microsoft.com/office/drawing/2014/chart" uri="{C3380CC4-5D6E-409C-BE32-E72D297353CC}">
                <c16:uniqueId val="{00000023-F512-4BA7-B525-0309C134ED20}"/>
              </c:ext>
            </c:extLst>
          </c:dPt>
          <c:dPt>
            <c:idx val="18"/>
            <c:invertIfNegative val="1"/>
            <c:bubble3D val="0"/>
            <c:spPr>
              <a:solidFill>
                <a:srgbClr val="000000"/>
              </a:solidFill>
            </c:spPr>
            <c:extLst>
              <c:ext xmlns:c16="http://schemas.microsoft.com/office/drawing/2014/chart" uri="{C3380CC4-5D6E-409C-BE32-E72D297353CC}">
                <c16:uniqueId val="{00000025-F512-4BA7-B525-0309C134ED20}"/>
              </c:ext>
            </c:extLst>
          </c:dPt>
          <c:dPt>
            <c:idx val="19"/>
            <c:invertIfNegative val="1"/>
            <c:bubble3D val="0"/>
            <c:spPr>
              <a:solidFill>
                <a:srgbClr val="000000"/>
              </a:solidFill>
            </c:spPr>
            <c:extLst>
              <c:ext xmlns:c16="http://schemas.microsoft.com/office/drawing/2014/chart" uri="{C3380CC4-5D6E-409C-BE32-E72D297353CC}">
                <c16:uniqueId val="{00000027-F512-4BA7-B525-0309C134ED20}"/>
              </c:ext>
            </c:extLst>
          </c:dPt>
          <c:dPt>
            <c:idx val="20"/>
            <c:invertIfNegative val="1"/>
            <c:bubble3D val="0"/>
            <c:spPr>
              <a:solidFill>
                <a:srgbClr val="000000"/>
              </a:solidFill>
            </c:spPr>
            <c:extLst>
              <c:ext xmlns:c16="http://schemas.microsoft.com/office/drawing/2014/chart" uri="{C3380CC4-5D6E-409C-BE32-E72D297353CC}">
                <c16:uniqueId val="{00000029-F512-4BA7-B525-0309C134ED20}"/>
              </c:ext>
            </c:extLst>
          </c:dPt>
          <c:dPt>
            <c:idx val="21"/>
            <c:invertIfNegative val="1"/>
            <c:bubble3D val="0"/>
            <c:spPr>
              <a:solidFill>
                <a:srgbClr val="000000"/>
              </a:solidFill>
            </c:spPr>
            <c:extLst>
              <c:ext xmlns:c16="http://schemas.microsoft.com/office/drawing/2014/chart" uri="{C3380CC4-5D6E-409C-BE32-E72D297353CC}">
                <c16:uniqueId val="{0000002B-F512-4BA7-B525-0309C134ED20}"/>
              </c:ext>
            </c:extLst>
          </c:dPt>
          <c:dPt>
            <c:idx val="22"/>
            <c:invertIfNegative val="1"/>
            <c:bubble3D val="0"/>
            <c:extLst>
              <c:ext xmlns:c16="http://schemas.microsoft.com/office/drawing/2014/chart" uri="{C3380CC4-5D6E-409C-BE32-E72D297353CC}">
                <c16:uniqueId val="{0000002D-F512-4BA7-B525-0309C134ED20}"/>
              </c:ext>
            </c:extLst>
          </c:dPt>
          <c:dPt>
            <c:idx val="23"/>
            <c:invertIfNegative val="1"/>
            <c:bubble3D val="0"/>
            <c:spPr>
              <a:solidFill>
                <a:srgbClr val="000000"/>
              </a:solidFill>
            </c:spPr>
            <c:extLst>
              <c:ext xmlns:c16="http://schemas.microsoft.com/office/drawing/2014/chart" uri="{C3380CC4-5D6E-409C-BE32-E72D297353CC}">
                <c16:uniqueId val="{0000002F-F512-4BA7-B525-0309C134ED20}"/>
              </c:ext>
            </c:extLst>
          </c:dPt>
          <c:dPt>
            <c:idx val="24"/>
            <c:invertIfNegative val="1"/>
            <c:bubble3D val="0"/>
            <c:spPr>
              <a:solidFill>
                <a:srgbClr val="000000"/>
              </a:solidFill>
            </c:spPr>
            <c:extLst>
              <c:ext xmlns:c16="http://schemas.microsoft.com/office/drawing/2014/chart" uri="{C3380CC4-5D6E-409C-BE32-E72D297353CC}">
                <c16:uniqueId val="{00000031-F512-4BA7-B525-0309C134ED20}"/>
              </c:ext>
            </c:extLst>
          </c:dPt>
          <c:dPt>
            <c:idx val="25"/>
            <c:invertIfNegative val="1"/>
            <c:bubble3D val="0"/>
            <c:spPr>
              <a:solidFill>
                <a:srgbClr val="000000"/>
              </a:solidFill>
            </c:spPr>
            <c:extLst>
              <c:ext xmlns:c16="http://schemas.microsoft.com/office/drawing/2014/chart" uri="{C3380CC4-5D6E-409C-BE32-E72D297353CC}">
                <c16:uniqueId val="{00000033-F512-4BA7-B525-0309C134ED20}"/>
              </c:ext>
            </c:extLst>
          </c:dPt>
          <c:dPt>
            <c:idx val="26"/>
            <c:invertIfNegative val="1"/>
            <c:bubble3D val="0"/>
            <c:spPr>
              <a:solidFill>
                <a:srgbClr val="000000"/>
              </a:solidFill>
            </c:spPr>
            <c:extLst>
              <c:ext xmlns:c16="http://schemas.microsoft.com/office/drawing/2014/chart" uri="{C3380CC4-5D6E-409C-BE32-E72D297353CC}">
                <c16:uniqueId val="{00000035-F512-4BA7-B525-0309C134ED20}"/>
              </c:ext>
            </c:extLst>
          </c:dPt>
          <c:dPt>
            <c:idx val="27"/>
            <c:invertIfNegative val="1"/>
            <c:bubble3D val="0"/>
            <c:spPr>
              <a:solidFill>
                <a:srgbClr val="000000"/>
              </a:solidFill>
            </c:spPr>
            <c:extLst>
              <c:ext xmlns:c16="http://schemas.microsoft.com/office/drawing/2014/chart" uri="{C3380CC4-5D6E-409C-BE32-E72D297353CC}">
                <c16:uniqueId val="{00000037-F512-4BA7-B525-0309C134ED20}"/>
              </c:ext>
            </c:extLst>
          </c:dPt>
          <c:dPt>
            <c:idx val="28"/>
            <c:invertIfNegative val="1"/>
            <c:bubble3D val="0"/>
            <c:spPr>
              <a:solidFill>
                <a:srgbClr val="000000"/>
              </a:solidFill>
            </c:spPr>
            <c:extLst>
              <c:ext xmlns:c16="http://schemas.microsoft.com/office/drawing/2014/chart" uri="{C3380CC4-5D6E-409C-BE32-E72D297353CC}">
                <c16:uniqueId val="{00000039-F512-4BA7-B525-0309C134ED20}"/>
              </c:ext>
            </c:extLst>
          </c:dPt>
          <c:dPt>
            <c:idx val="29"/>
            <c:invertIfNegative val="1"/>
            <c:bubble3D val="0"/>
            <c:spPr>
              <a:solidFill>
                <a:srgbClr val="000000"/>
              </a:solidFill>
            </c:spPr>
            <c:extLst>
              <c:ext xmlns:c16="http://schemas.microsoft.com/office/drawing/2014/chart" uri="{C3380CC4-5D6E-409C-BE32-E72D297353CC}">
                <c16:uniqueId val="{0000003B-F512-4BA7-B525-0309C134ED20}"/>
              </c:ext>
            </c:extLst>
          </c:dPt>
          <c:dPt>
            <c:idx val="30"/>
            <c:invertIfNegative val="1"/>
            <c:bubble3D val="0"/>
            <c:spPr>
              <a:solidFill>
                <a:srgbClr val="000000"/>
              </a:solidFill>
            </c:spPr>
            <c:extLst>
              <c:ext xmlns:c16="http://schemas.microsoft.com/office/drawing/2014/chart" uri="{C3380CC4-5D6E-409C-BE32-E72D297353CC}">
                <c16:uniqueId val="{0000003D-F512-4BA7-B525-0309C134ED20}"/>
              </c:ext>
            </c:extLst>
          </c:dPt>
          <c:dPt>
            <c:idx val="31"/>
            <c:invertIfNegative val="1"/>
            <c:bubble3D val="0"/>
            <c:extLst>
              <c:ext xmlns:c16="http://schemas.microsoft.com/office/drawing/2014/chart" uri="{C3380CC4-5D6E-409C-BE32-E72D297353CC}">
                <c16:uniqueId val="{0000003F-F512-4BA7-B525-0309C134ED20}"/>
              </c:ext>
            </c:extLst>
          </c:dPt>
          <c:dPt>
            <c:idx val="32"/>
            <c:invertIfNegative val="1"/>
            <c:bubble3D val="0"/>
            <c:extLst>
              <c:ext xmlns:c16="http://schemas.microsoft.com/office/drawing/2014/chart" uri="{C3380CC4-5D6E-409C-BE32-E72D297353CC}">
                <c16:uniqueId val="{00000041-F512-4BA7-B525-0309C134ED20}"/>
              </c:ext>
            </c:extLst>
          </c:dPt>
          <c:dPt>
            <c:idx val="33"/>
            <c:invertIfNegative val="1"/>
            <c:bubble3D val="0"/>
            <c:spPr>
              <a:solidFill>
                <a:srgbClr val="000000"/>
              </a:solidFill>
            </c:spPr>
            <c:extLst>
              <c:ext xmlns:c16="http://schemas.microsoft.com/office/drawing/2014/chart" uri="{C3380CC4-5D6E-409C-BE32-E72D297353CC}">
                <c16:uniqueId val="{00000043-F512-4BA7-B525-0309C134ED20}"/>
              </c:ext>
            </c:extLst>
          </c:dPt>
          <c:dPt>
            <c:idx val="34"/>
            <c:invertIfNegative val="1"/>
            <c:bubble3D val="0"/>
            <c:spPr>
              <a:solidFill>
                <a:srgbClr val="000000"/>
              </a:solidFill>
            </c:spPr>
            <c:extLst>
              <c:ext xmlns:c16="http://schemas.microsoft.com/office/drawing/2014/chart" uri="{C3380CC4-5D6E-409C-BE32-E72D297353CC}">
                <c16:uniqueId val="{00000045-F512-4BA7-B525-0309C134ED20}"/>
              </c:ext>
            </c:extLst>
          </c:dPt>
          <c:dPt>
            <c:idx val="35"/>
            <c:invertIfNegative val="1"/>
            <c:bubble3D val="0"/>
            <c:spPr>
              <a:solidFill>
                <a:srgbClr val="000000"/>
              </a:solidFill>
            </c:spPr>
            <c:extLst>
              <c:ext xmlns:c16="http://schemas.microsoft.com/office/drawing/2014/chart" uri="{C3380CC4-5D6E-409C-BE32-E72D297353CC}">
                <c16:uniqueId val="{00000047-F512-4BA7-B525-0309C134ED20}"/>
              </c:ext>
            </c:extLst>
          </c:dPt>
          <c:dPt>
            <c:idx val="36"/>
            <c:invertIfNegative val="1"/>
            <c:bubble3D val="0"/>
            <c:extLst>
              <c:ext xmlns:c16="http://schemas.microsoft.com/office/drawing/2014/chart" uri="{C3380CC4-5D6E-409C-BE32-E72D297353CC}">
                <c16:uniqueId val="{00000049-F512-4BA7-B525-0309C134ED20}"/>
              </c:ext>
            </c:extLst>
          </c:dPt>
          <c:dPt>
            <c:idx val="37"/>
            <c:invertIfNegative val="1"/>
            <c:bubble3D val="0"/>
            <c:spPr>
              <a:solidFill>
                <a:srgbClr val="000000"/>
              </a:solidFill>
            </c:spPr>
            <c:extLst>
              <c:ext xmlns:c16="http://schemas.microsoft.com/office/drawing/2014/chart" uri="{C3380CC4-5D6E-409C-BE32-E72D297353CC}">
                <c16:uniqueId val="{0000004B-F512-4BA7-B525-0309C134ED20}"/>
              </c:ext>
            </c:extLst>
          </c:dPt>
          <c:dPt>
            <c:idx val="38"/>
            <c:invertIfNegative val="1"/>
            <c:bubble3D val="0"/>
            <c:extLst>
              <c:ext xmlns:c16="http://schemas.microsoft.com/office/drawing/2014/chart" uri="{C3380CC4-5D6E-409C-BE32-E72D297353CC}">
                <c16:uniqueId val="{0000004D-F512-4BA7-B525-0309C134ED20}"/>
              </c:ext>
            </c:extLst>
          </c:dPt>
          <c:dPt>
            <c:idx val="39"/>
            <c:invertIfNegative val="1"/>
            <c:bubble3D val="0"/>
            <c:spPr>
              <a:solidFill>
                <a:srgbClr val="000000"/>
              </a:solidFill>
            </c:spPr>
            <c:extLst>
              <c:ext xmlns:c16="http://schemas.microsoft.com/office/drawing/2014/chart" uri="{C3380CC4-5D6E-409C-BE32-E72D297353CC}">
                <c16:uniqueId val="{0000004F-F512-4BA7-B525-0309C134ED20}"/>
              </c:ext>
            </c:extLst>
          </c:dPt>
          <c:dPt>
            <c:idx val="40"/>
            <c:invertIfNegative val="1"/>
            <c:bubble3D val="0"/>
            <c:spPr>
              <a:solidFill>
                <a:srgbClr val="000000"/>
              </a:solidFill>
            </c:spPr>
            <c:extLst>
              <c:ext xmlns:c16="http://schemas.microsoft.com/office/drawing/2014/chart" uri="{C3380CC4-5D6E-409C-BE32-E72D297353CC}">
                <c16:uniqueId val="{00000051-F512-4BA7-B525-0309C134ED20}"/>
              </c:ext>
            </c:extLst>
          </c:dPt>
          <c:dPt>
            <c:idx val="41"/>
            <c:invertIfNegative val="1"/>
            <c:bubble3D val="0"/>
            <c:spPr>
              <a:solidFill>
                <a:srgbClr val="000000"/>
              </a:solidFill>
            </c:spPr>
            <c:extLst>
              <c:ext xmlns:c16="http://schemas.microsoft.com/office/drawing/2014/chart" uri="{C3380CC4-5D6E-409C-BE32-E72D297353CC}">
                <c16:uniqueId val="{00000053-F512-4BA7-B525-0309C134ED20}"/>
              </c:ext>
            </c:extLst>
          </c:dPt>
          <c:dPt>
            <c:idx val="42"/>
            <c:invertIfNegative val="1"/>
            <c:bubble3D val="0"/>
            <c:spPr>
              <a:solidFill>
                <a:srgbClr val="000000"/>
              </a:solidFill>
            </c:spPr>
            <c:extLst>
              <c:ext xmlns:c16="http://schemas.microsoft.com/office/drawing/2014/chart" uri="{C3380CC4-5D6E-409C-BE32-E72D297353CC}">
                <c16:uniqueId val="{00000055-F512-4BA7-B525-0309C134ED20}"/>
              </c:ext>
            </c:extLst>
          </c:dPt>
          <c:dPt>
            <c:idx val="43"/>
            <c:invertIfNegative val="1"/>
            <c:bubble3D val="0"/>
            <c:spPr>
              <a:solidFill>
                <a:srgbClr val="000000"/>
              </a:solidFill>
            </c:spPr>
            <c:extLst>
              <c:ext xmlns:c16="http://schemas.microsoft.com/office/drawing/2014/chart" uri="{C3380CC4-5D6E-409C-BE32-E72D297353CC}">
                <c16:uniqueId val="{00000057-F512-4BA7-B525-0309C134ED20}"/>
              </c:ext>
            </c:extLst>
          </c:dPt>
          <c:dPt>
            <c:idx val="44"/>
            <c:invertIfNegative val="1"/>
            <c:bubble3D val="0"/>
            <c:spPr>
              <a:solidFill>
                <a:srgbClr val="000000"/>
              </a:solidFill>
            </c:spPr>
            <c:extLst>
              <c:ext xmlns:c16="http://schemas.microsoft.com/office/drawing/2014/chart" uri="{C3380CC4-5D6E-409C-BE32-E72D297353CC}">
                <c16:uniqueId val="{00000059-F512-4BA7-B525-0309C134ED20}"/>
              </c:ext>
            </c:extLst>
          </c:dPt>
          <c:dPt>
            <c:idx val="45"/>
            <c:invertIfNegative val="1"/>
            <c:bubble3D val="0"/>
            <c:spPr>
              <a:solidFill>
                <a:srgbClr val="000000"/>
              </a:solidFill>
            </c:spPr>
            <c:extLst>
              <c:ext xmlns:c16="http://schemas.microsoft.com/office/drawing/2014/chart" uri="{C3380CC4-5D6E-409C-BE32-E72D297353CC}">
                <c16:uniqueId val="{0000005B-F512-4BA7-B525-0309C134ED20}"/>
              </c:ext>
            </c:extLst>
          </c:dPt>
          <c:dPt>
            <c:idx val="46"/>
            <c:invertIfNegative val="1"/>
            <c:bubble3D val="0"/>
            <c:spPr>
              <a:solidFill>
                <a:srgbClr val="000000"/>
              </a:solidFill>
            </c:spPr>
            <c:extLst>
              <c:ext xmlns:c16="http://schemas.microsoft.com/office/drawing/2014/chart" uri="{C3380CC4-5D6E-409C-BE32-E72D297353CC}">
                <c16:uniqueId val="{0000005D-F512-4BA7-B525-0309C134ED20}"/>
              </c:ext>
            </c:extLst>
          </c:dPt>
          <c:dPt>
            <c:idx val="47"/>
            <c:invertIfNegative val="1"/>
            <c:bubble3D val="0"/>
            <c:spPr>
              <a:solidFill>
                <a:srgbClr val="000000"/>
              </a:solidFill>
            </c:spPr>
            <c:extLst>
              <c:ext xmlns:c16="http://schemas.microsoft.com/office/drawing/2014/chart" uri="{C3380CC4-5D6E-409C-BE32-E72D297353CC}">
                <c16:uniqueId val="{0000005F-F512-4BA7-B525-0309C134ED20}"/>
              </c:ext>
            </c:extLst>
          </c:dPt>
          <c:dPt>
            <c:idx val="48"/>
            <c:invertIfNegative val="1"/>
            <c:bubble3D val="0"/>
            <c:spPr>
              <a:solidFill>
                <a:srgbClr val="000000"/>
              </a:solidFill>
            </c:spPr>
            <c:extLst>
              <c:ext xmlns:c16="http://schemas.microsoft.com/office/drawing/2014/chart" uri="{C3380CC4-5D6E-409C-BE32-E72D297353CC}">
                <c16:uniqueId val="{00000061-F512-4BA7-B525-0309C134ED20}"/>
              </c:ext>
            </c:extLst>
          </c:dPt>
          <c:dPt>
            <c:idx val="49"/>
            <c:invertIfNegative val="1"/>
            <c:bubble3D val="0"/>
            <c:spPr>
              <a:solidFill>
                <a:srgbClr val="000000"/>
              </a:solidFill>
            </c:spPr>
            <c:extLst>
              <c:ext xmlns:c16="http://schemas.microsoft.com/office/drawing/2014/chart" uri="{C3380CC4-5D6E-409C-BE32-E72D297353CC}">
                <c16:uniqueId val="{00000063-F512-4BA7-B525-0309C134ED20}"/>
              </c:ext>
            </c:extLst>
          </c:dPt>
          <c:dPt>
            <c:idx val="50"/>
            <c:invertIfNegative val="1"/>
            <c:bubble3D val="0"/>
            <c:extLst>
              <c:ext xmlns:c16="http://schemas.microsoft.com/office/drawing/2014/chart" uri="{C3380CC4-5D6E-409C-BE32-E72D297353CC}">
                <c16:uniqueId val="{00000065-F512-4BA7-B525-0309C134ED20}"/>
              </c:ext>
            </c:extLst>
          </c:dPt>
          <c:dPt>
            <c:idx val="51"/>
            <c:invertIfNegative val="1"/>
            <c:bubble3D val="0"/>
            <c:extLst>
              <c:ext xmlns:c16="http://schemas.microsoft.com/office/drawing/2014/chart" uri="{C3380CC4-5D6E-409C-BE32-E72D297353CC}">
                <c16:uniqueId val="{00000067-F512-4BA7-B525-0309C134ED20}"/>
              </c:ext>
            </c:extLst>
          </c:dPt>
          <c:dPt>
            <c:idx val="52"/>
            <c:invertIfNegative val="1"/>
            <c:bubble3D val="0"/>
            <c:spPr>
              <a:solidFill>
                <a:srgbClr val="000000"/>
              </a:solidFill>
            </c:spPr>
            <c:extLst>
              <c:ext xmlns:c16="http://schemas.microsoft.com/office/drawing/2014/chart" uri="{C3380CC4-5D6E-409C-BE32-E72D297353CC}">
                <c16:uniqueId val="{00000069-F512-4BA7-B525-0309C134ED20}"/>
              </c:ext>
            </c:extLst>
          </c:dPt>
          <c:dPt>
            <c:idx val="53"/>
            <c:invertIfNegative val="1"/>
            <c:bubble3D val="0"/>
            <c:spPr>
              <a:solidFill>
                <a:srgbClr val="000000"/>
              </a:solidFill>
            </c:spPr>
            <c:extLst>
              <c:ext xmlns:c16="http://schemas.microsoft.com/office/drawing/2014/chart" uri="{C3380CC4-5D6E-409C-BE32-E72D297353CC}">
                <c16:uniqueId val="{0000006B-F512-4BA7-B525-0309C134ED20}"/>
              </c:ext>
            </c:extLst>
          </c:dPt>
          <c:dPt>
            <c:idx val="54"/>
            <c:invertIfNegative val="1"/>
            <c:bubble3D val="0"/>
            <c:spPr>
              <a:solidFill>
                <a:srgbClr val="000000"/>
              </a:solidFill>
            </c:spPr>
            <c:extLst>
              <c:ext xmlns:c16="http://schemas.microsoft.com/office/drawing/2014/chart" uri="{C3380CC4-5D6E-409C-BE32-E72D297353CC}">
                <c16:uniqueId val="{0000006D-F512-4BA7-B525-0309C134ED20}"/>
              </c:ext>
            </c:extLst>
          </c:dPt>
          <c:dPt>
            <c:idx val="55"/>
            <c:invertIfNegative val="1"/>
            <c:bubble3D val="0"/>
            <c:spPr>
              <a:solidFill>
                <a:srgbClr val="000000"/>
              </a:solidFill>
            </c:spPr>
            <c:extLst>
              <c:ext xmlns:c16="http://schemas.microsoft.com/office/drawing/2014/chart" uri="{C3380CC4-5D6E-409C-BE32-E72D297353CC}">
                <c16:uniqueId val="{0000006F-F512-4BA7-B525-0309C134ED20}"/>
              </c:ext>
            </c:extLst>
          </c:dPt>
          <c:dPt>
            <c:idx val="56"/>
            <c:invertIfNegative val="1"/>
            <c:bubble3D val="0"/>
            <c:spPr>
              <a:solidFill>
                <a:srgbClr val="000000"/>
              </a:solidFill>
            </c:spPr>
            <c:extLst>
              <c:ext xmlns:c16="http://schemas.microsoft.com/office/drawing/2014/chart" uri="{C3380CC4-5D6E-409C-BE32-E72D297353CC}">
                <c16:uniqueId val="{00000071-F512-4BA7-B525-0309C134ED20}"/>
              </c:ext>
            </c:extLst>
          </c:dPt>
          <c:dPt>
            <c:idx val="57"/>
            <c:invertIfNegative val="1"/>
            <c:bubble3D val="0"/>
            <c:spPr>
              <a:solidFill>
                <a:srgbClr val="000000"/>
              </a:solidFill>
            </c:spPr>
            <c:extLst>
              <c:ext xmlns:c16="http://schemas.microsoft.com/office/drawing/2014/chart" uri="{C3380CC4-5D6E-409C-BE32-E72D297353CC}">
                <c16:uniqueId val="{00000073-F512-4BA7-B525-0309C134ED20}"/>
              </c:ext>
            </c:extLst>
          </c:dPt>
          <c:dPt>
            <c:idx val="58"/>
            <c:invertIfNegative val="1"/>
            <c:bubble3D val="0"/>
            <c:extLst>
              <c:ext xmlns:c16="http://schemas.microsoft.com/office/drawing/2014/chart" uri="{C3380CC4-5D6E-409C-BE32-E72D297353CC}">
                <c16:uniqueId val="{00000075-F512-4BA7-B525-0309C134ED20}"/>
              </c:ext>
            </c:extLst>
          </c:dPt>
          <c:dPt>
            <c:idx val="59"/>
            <c:invertIfNegative val="1"/>
            <c:bubble3D val="0"/>
            <c:spPr>
              <a:solidFill>
                <a:srgbClr val="000000"/>
              </a:solidFill>
            </c:spPr>
            <c:extLst>
              <c:ext xmlns:c16="http://schemas.microsoft.com/office/drawing/2014/chart" uri="{C3380CC4-5D6E-409C-BE32-E72D297353CC}">
                <c16:uniqueId val="{00000077-F512-4BA7-B525-0309C134ED20}"/>
              </c:ext>
            </c:extLst>
          </c:dPt>
          <c:dPt>
            <c:idx val="60"/>
            <c:invertIfNegative val="1"/>
            <c:bubble3D val="0"/>
            <c:spPr>
              <a:solidFill>
                <a:srgbClr val="000000"/>
              </a:solidFill>
            </c:spPr>
            <c:extLst>
              <c:ext xmlns:c16="http://schemas.microsoft.com/office/drawing/2014/chart" uri="{C3380CC4-5D6E-409C-BE32-E72D297353CC}">
                <c16:uniqueId val="{00000079-F512-4BA7-B525-0309C134ED20}"/>
              </c:ext>
            </c:extLst>
          </c:dPt>
          <c:dPt>
            <c:idx val="61"/>
            <c:invertIfNegative val="1"/>
            <c:bubble3D val="0"/>
            <c:extLst>
              <c:ext xmlns:c16="http://schemas.microsoft.com/office/drawing/2014/chart" uri="{C3380CC4-5D6E-409C-BE32-E72D297353CC}">
                <c16:uniqueId val="{0000007B-F512-4BA7-B525-0309C134ED20}"/>
              </c:ext>
            </c:extLst>
          </c:dPt>
          <c:dPt>
            <c:idx val="62"/>
            <c:invertIfNegative val="1"/>
            <c:bubble3D val="0"/>
            <c:spPr>
              <a:solidFill>
                <a:srgbClr val="000000"/>
              </a:solidFill>
            </c:spPr>
            <c:extLst>
              <c:ext xmlns:c16="http://schemas.microsoft.com/office/drawing/2014/chart" uri="{C3380CC4-5D6E-409C-BE32-E72D297353CC}">
                <c16:uniqueId val="{0000007D-F512-4BA7-B525-0309C134ED20}"/>
              </c:ext>
            </c:extLst>
          </c:dPt>
          <c:dPt>
            <c:idx val="63"/>
            <c:invertIfNegative val="1"/>
            <c:bubble3D val="0"/>
            <c:spPr>
              <a:solidFill>
                <a:srgbClr val="000000"/>
              </a:solidFill>
            </c:spPr>
            <c:extLst>
              <c:ext xmlns:c16="http://schemas.microsoft.com/office/drawing/2014/chart" uri="{C3380CC4-5D6E-409C-BE32-E72D297353CC}">
                <c16:uniqueId val="{0000007F-F512-4BA7-B525-0309C134ED20}"/>
              </c:ext>
            </c:extLst>
          </c:dPt>
          <c:dPt>
            <c:idx val="64"/>
            <c:invertIfNegative val="1"/>
            <c:bubble3D val="0"/>
            <c:spPr>
              <a:solidFill>
                <a:srgbClr val="000000"/>
              </a:solidFill>
            </c:spPr>
            <c:extLst>
              <c:ext xmlns:c16="http://schemas.microsoft.com/office/drawing/2014/chart" uri="{C3380CC4-5D6E-409C-BE32-E72D297353CC}">
                <c16:uniqueId val="{00000081-F512-4BA7-B525-0309C134ED20}"/>
              </c:ext>
            </c:extLst>
          </c:dPt>
          <c:dPt>
            <c:idx val="65"/>
            <c:invertIfNegative val="1"/>
            <c:bubble3D val="0"/>
            <c:spPr>
              <a:solidFill>
                <a:srgbClr val="000000"/>
              </a:solidFill>
            </c:spPr>
            <c:extLst>
              <c:ext xmlns:c16="http://schemas.microsoft.com/office/drawing/2014/chart" uri="{C3380CC4-5D6E-409C-BE32-E72D297353CC}">
                <c16:uniqueId val="{00000083-F512-4BA7-B525-0309C134ED20}"/>
              </c:ext>
            </c:extLst>
          </c:dPt>
          <c:dPt>
            <c:idx val="66"/>
            <c:invertIfNegative val="1"/>
            <c:bubble3D val="0"/>
            <c:spPr>
              <a:solidFill>
                <a:srgbClr val="000000"/>
              </a:solidFill>
            </c:spPr>
            <c:extLst>
              <c:ext xmlns:c16="http://schemas.microsoft.com/office/drawing/2014/chart" uri="{C3380CC4-5D6E-409C-BE32-E72D297353CC}">
                <c16:uniqueId val="{00000085-F512-4BA7-B525-0309C134ED20}"/>
              </c:ext>
            </c:extLst>
          </c:dPt>
          <c:dPt>
            <c:idx val="67"/>
            <c:invertIfNegative val="1"/>
            <c:bubble3D val="0"/>
            <c:spPr>
              <a:solidFill>
                <a:srgbClr val="000000"/>
              </a:solidFill>
            </c:spPr>
            <c:extLst>
              <c:ext xmlns:c16="http://schemas.microsoft.com/office/drawing/2014/chart" uri="{C3380CC4-5D6E-409C-BE32-E72D297353CC}">
                <c16:uniqueId val="{00000087-F512-4BA7-B525-0309C134ED20}"/>
              </c:ext>
            </c:extLst>
          </c:dPt>
          <c:dPt>
            <c:idx val="68"/>
            <c:invertIfNegative val="1"/>
            <c:bubble3D val="0"/>
            <c:spPr>
              <a:solidFill>
                <a:srgbClr val="000000"/>
              </a:solidFill>
            </c:spPr>
            <c:extLst>
              <c:ext xmlns:c16="http://schemas.microsoft.com/office/drawing/2014/chart" uri="{C3380CC4-5D6E-409C-BE32-E72D297353CC}">
                <c16:uniqueId val="{00000089-F512-4BA7-B525-0309C134ED20}"/>
              </c:ext>
            </c:extLst>
          </c:dPt>
          <c:dPt>
            <c:idx val="69"/>
            <c:invertIfNegative val="1"/>
            <c:bubble3D val="0"/>
            <c:spPr>
              <a:solidFill>
                <a:srgbClr val="000000"/>
              </a:solidFill>
            </c:spPr>
            <c:extLst>
              <c:ext xmlns:c16="http://schemas.microsoft.com/office/drawing/2014/chart" uri="{C3380CC4-5D6E-409C-BE32-E72D297353CC}">
                <c16:uniqueId val="{0000008B-F512-4BA7-B525-0309C134ED20}"/>
              </c:ext>
            </c:extLst>
          </c:dPt>
          <c:dPt>
            <c:idx val="70"/>
            <c:invertIfNegative val="1"/>
            <c:bubble3D val="0"/>
            <c:extLst>
              <c:ext xmlns:c16="http://schemas.microsoft.com/office/drawing/2014/chart" uri="{C3380CC4-5D6E-409C-BE32-E72D297353CC}">
                <c16:uniqueId val="{0000008D-F512-4BA7-B525-0309C134ED20}"/>
              </c:ext>
            </c:extLst>
          </c:dPt>
          <c:dPt>
            <c:idx val="71"/>
            <c:invertIfNegative val="1"/>
            <c:bubble3D val="0"/>
            <c:extLst>
              <c:ext xmlns:c16="http://schemas.microsoft.com/office/drawing/2014/chart" uri="{C3380CC4-5D6E-409C-BE32-E72D297353CC}">
                <c16:uniqueId val="{0000008F-F512-4BA7-B525-0309C134ED20}"/>
              </c:ext>
            </c:extLst>
          </c:dPt>
          <c:dPt>
            <c:idx val="72"/>
            <c:invertIfNegative val="1"/>
            <c:bubble3D val="0"/>
            <c:spPr>
              <a:solidFill>
                <a:srgbClr val="000000"/>
              </a:solidFill>
            </c:spPr>
            <c:extLst>
              <c:ext xmlns:c16="http://schemas.microsoft.com/office/drawing/2014/chart" uri="{C3380CC4-5D6E-409C-BE32-E72D297353CC}">
                <c16:uniqueId val="{00000091-F512-4BA7-B525-0309C134ED20}"/>
              </c:ext>
            </c:extLst>
          </c:dPt>
          <c:dPt>
            <c:idx val="73"/>
            <c:invertIfNegative val="1"/>
            <c:bubble3D val="0"/>
            <c:spPr>
              <a:solidFill>
                <a:srgbClr val="000000"/>
              </a:solidFill>
            </c:spPr>
            <c:extLst>
              <c:ext xmlns:c16="http://schemas.microsoft.com/office/drawing/2014/chart" uri="{C3380CC4-5D6E-409C-BE32-E72D297353CC}">
                <c16:uniqueId val="{00000093-F512-4BA7-B525-0309C134ED20}"/>
              </c:ext>
            </c:extLst>
          </c:dPt>
          <c:dPt>
            <c:idx val="74"/>
            <c:invertIfNegative val="1"/>
            <c:bubble3D val="0"/>
            <c:extLst>
              <c:ext xmlns:c16="http://schemas.microsoft.com/office/drawing/2014/chart" uri="{C3380CC4-5D6E-409C-BE32-E72D297353CC}">
                <c16:uniqueId val="{00000095-F512-4BA7-B525-0309C134ED20}"/>
              </c:ext>
            </c:extLst>
          </c:dPt>
          <c:dPt>
            <c:idx val="75"/>
            <c:invertIfNegative val="1"/>
            <c:bubble3D val="0"/>
            <c:extLst>
              <c:ext xmlns:c16="http://schemas.microsoft.com/office/drawing/2014/chart" uri="{C3380CC4-5D6E-409C-BE32-E72D297353CC}">
                <c16:uniqueId val="{00000097-F512-4BA7-B525-0309C134ED20}"/>
              </c:ext>
            </c:extLst>
          </c:dPt>
          <c:dPt>
            <c:idx val="76"/>
            <c:invertIfNegative val="1"/>
            <c:bubble3D val="0"/>
            <c:extLst>
              <c:ext xmlns:c16="http://schemas.microsoft.com/office/drawing/2014/chart" uri="{C3380CC4-5D6E-409C-BE32-E72D297353CC}">
                <c16:uniqueId val="{00000099-F512-4BA7-B525-0309C134ED20}"/>
              </c:ext>
            </c:extLst>
          </c:dPt>
          <c:dPt>
            <c:idx val="77"/>
            <c:invertIfNegative val="1"/>
            <c:bubble3D val="0"/>
            <c:extLst>
              <c:ext xmlns:c16="http://schemas.microsoft.com/office/drawing/2014/chart" uri="{C3380CC4-5D6E-409C-BE32-E72D297353CC}">
                <c16:uniqueId val="{0000009B-F512-4BA7-B525-0309C134ED20}"/>
              </c:ext>
            </c:extLst>
          </c:dPt>
          <c:dPt>
            <c:idx val="78"/>
            <c:invertIfNegative val="1"/>
            <c:bubble3D val="0"/>
            <c:spPr>
              <a:solidFill>
                <a:srgbClr val="000000"/>
              </a:solidFill>
            </c:spPr>
            <c:extLst>
              <c:ext xmlns:c16="http://schemas.microsoft.com/office/drawing/2014/chart" uri="{C3380CC4-5D6E-409C-BE32-E72D297353CC}">
                <c16:uniqueId val="{0000009D-F512-4BA7-B525-0309C134ED20}"/>
              </c:ext>
            </c:extLst>
          </c:dPt>
          <c:dPt>
            <c:idx val="79"/>
            <c:invertIfNegative val="1"/>
            <c:bubble3D val="0"/>
            <c:extLst>
              <c:ext xmlns:c16="http://schemas.microsoft.com/office/drawing/2014/chart" uri="{C3380CC4-5D6E-409C-BE32-E72D297353CC}">
                <c16:uniqueId val="{0000009F-F512-4BA7-B525-0309C134ED20}"/>
              </c:ext>
            </c:extLst>
          </c:dPt>
          <c:dPt>
            <c:idx val="80"/>
            <c:invertIfNegative val="1"/>
            <c:bubble3D val="0"/>
            <c:extLst>
              <c:ext xmlns:c16="http://schemas.microsoft.com/office/drawing/2014/chart" uri="{C3380CC4-5D6E-409C-BE32-E72D297353CC}">
                <c16:uniqueId val="{000000A1-F512-4BA7-B525-0309C134ED20}"/>
              </c:ext>
            </c:extLst>
          </c:dPt>
          <c:dPt>
            <c:idx val="81"/>
            <c:invertIfNegative val="1"/>
            <c:bubble3D val="0"/>
            <c:spPr>
              <a:solidFill>
                <a:srgbClr val="000000"/>
              </a:solidFill>
            </c:spPr>
            <c:extLst>
              <c:ext xmlns:c16="http://schemas.microsoft.com/office/drawing/2014/chart" uri="{C3380CC4-5D6E-409C-BE32-E72D297353CC}">
                <c16:uniqueId val="{000000A3-F512-4BA7-B525-0309C134ED20}"/>
              </c:ext>
            </c:extLst>
          </c:dPt>
          <c:dPt>
            <c:idx val="82"/>
            <c:invertIfNegative val="1"/>
            <c:bubble3D val="0"/>
            <c:extLst>
              <c:ext xmlns:c16="http://schemas.microsoft.com/office/drawing/2014/chart" uri="{C3380CC4-5D6E-409C-BE32-E72D297353CC}">
                <c16:uniqueId val="{000000A5-F512-4BA7-B525-0309C134ED20}"/>
              </c:ext>
            </c:extLst>
          </c:dPt>
          <c:dPt>
            <c:idx val="83"/>
            <c:invertIfNegative val="1"/>
            <c:bubble3D val="0"/>
            <c:spPr>
              <a:solidFill>
                <a:srgbClr val="000000"/>
              </a:solidFill>
            </c:spPr>
            <c:extLst>
              <c:ext xmlns:c16="http://schemas.microsoft.com/office/drawing/2014/chart" uri="{C3380CC4-5D6E-409C-BE32-E72D297353CC}">
                <c16:uniqueId val="{000000A7-F512-4BA7-B525-0309C134ED20}"/>
              </c:ext>
            </c:extLst>
          </c:dPt>
          <c:dPt>
            <c:idx val="84"/>
            <c:invertIfNegative val="1"/>
            <c:bubble3D val="0"/>
            <c:spPr>
              <a:solidFill>
                <a:srgbClr val="000000"/>
              </a:solidFill>
            </c:spPr>
            <c:extLst>
              <c:ext xmlns:c16="http://schemas.microsoft.com/office/drawing/2014/chart" uri="{C3380CC4-5D6E-409C-BE32-E72D297353CC}">
                <c16:uniqueId val="{000000A9-F512-4BA7-B525-0309C134ED20}"/>
              </c:ext>
            </c:extLst>
          </c:dPt>
          <c:dPt>
            <c:idx val="85"/>
            <c:invertIfNegative val="1"/>
            <c:bubble3D val="0"/>
            <c:spPr>
              <a:solidFill>
                <a:srgbClr val="000000"/>
              </a:solidFill>
            </c:spPr>
            <c:extLst>
              <c:ext xmlns:c16="http://schemas.microsoft.com/office/drawing/2014/chart" uri="{C3380CC4-5D6E-409C-BE32-E72D297353CC}">
                <c16:uniqueId val="{000000AB-F512-4BA7-B525-0309C134ED20}"/>
              </c:ext>
            </c:extLst>
          </c:dPt>
          <c:dPt>
            <c:idx val="86"/>
            <c:invertIfNegative val="1"/>
            <c:bubble3D val="0"/>
            <c:extLst>
              <c:ext xmlns:c16="http://schemas.microsoft.com/office/drawing/2014/chart" uri="{C3380CC4-5D6E-409C-BE32-E72D297353CC}">
                <c16:uniqueId val="{000000AD-F512-4BA7-B525-0309C134ED20}"/>
              </c:ext>
            </c:extLst>
          </c:dPt>
          <c:dPt>
            <c:idx val="87"/>
            <c:invertIfNegative val="1"/>
            <c:bubble3D val="0"/>
            <c:extLst>
              <c:ext xmlns:c16="http://schemas.microsoft.com/office/drawing/2014/chart" uri="{C3380CC4-5D6E-409C-BE32-E72D297353CC}">
                <c16:uniqueId val="{000000AF-F512-4BA7-B525-0309C134ED20}"/>
              </c:ext>
            </c:extLst>
          </c:dPt>
          <c:dPt>
            <c:idx val="88"/>
            <c:invertIfNegative val="1"/>
            <c:bubble3D val="0"/>
            <c:extLst>
              <c:ext xmlns:c16="http://schemas.microsoft.com/office/drawing/2014/chart" uri="{C3380CC4-5D6E-409C-BE32-E72D297353CC}">
                <c16:uniqueId val="{000000B1-F512-4BA7-B525-0309C134ED20}"/>
              </c:ext>
            </c:extLst>
          </c:dPt>
          <c:dPt>
            <c:idx val="89"/>
            <c:invertIfNegative val="1"/>
            <c:bubble3D val="0"/>
            <c:spPr>
              <a:solidFill>
                <a:srgbClr val="000000"/>
              </a:solidFill>
            </c:spPr>
            <c:extLst>
              <c:ext xmlns:c16="http://schemas.microsoft.com/office/drawing/2014/chart" uri="{C3380CC4-5D6E-409C-BE32-E72D297353CC}">
                <c16:uniqueId val="{000000B3-F512-4BA7-B525-0309C134ED20}"/>
              </c:ext>
            </c:extLst>
          </c:dPt>
          <c:dPt>
            <c:idx val="90"/>
            <c:invertIfNegative val="1"/>
            <c:bubble3D val="0"/>
            <c:spPr>
              <a:solidFill>
                <a:srgbClr val="000000"/>
              </a:solidFill>
            </c:spPr>
            <c:extLst>
              <c:ext xmlns:c16="http://schemas.microsoft.com/office/drawing/2014/chart" uri="{C3380CC4-5D6E-409C-BE32-E72D297353CC}">
                <c16:uniqueId val="{000000B5-F512-4BA7-B525-0309C134ED20}"/>
              </c:ext>
            </c:extLst>
          </c:dPt>
          <c:dPt>
            <c:idx val="91"/>
            <c:invertIfNegative val="1"/>
            <c:bubble3D val="0"/>
            <c:spPr>
              <a:solidFill>
                <a:srgbClr val="000000"/>
              </a:solidFill>
            </c:spPr>
            <c:extLst>
              <c:ext xmlns:c16="http://schemas.microsoft.com/office/drawing/2014/chart" uri="{C3380CC4-5D6E-409C-BE32-E72D297353CC}">
                <c16:uniqueId val="{000000B7-F512-4BA7-B525-0309C134ED20}"/>
              </c:ext>
            </c:extLst>
          </c:dPt>
          <c:dPt>
            <c:idx val="92"/>
            <c:invertIfNegative val="1"/>
            <c:bubble3D val="0"/>
            <c:spPr>
              <a:solidFill>
                <a:srgbClr val="000000"/>
              </a:solidFill>
            </c:spPr>
            <c:extLst>
              <c:ext xmlns:c16="http://schemas.microsoft.com/office/drawing/2014/chart" uri="{C3380CC4-5D6E-409C-BE32-E72D297353CC}">
                <c16:uniqueId val="{000000B9-F512-4BA7-B525-0309C134ED20}"/>
              </c:ext>
            </c:extLst>
          </c:dPt>
          <c:dPt>
            <c:idx val="93"/>
            <c:invertIfNegative val="1"/>
            <c:bubble3D val="0"/>
            <c:extLst>
              <c:ext xmlns:c16="http://schemas.microsoft.com/office/drawing/2014/chart" uri="{C3380CC4-5D6E-409C-BE32-E72D297353CC}">
                <c16:uniqueId val="{000000BB-F512-4BA7-B525-0309C134ED20}"/>
              </c:ext>
            </c:extLst>
          </c:dPt>
          <c:dPt>
            <c:idx val="94"/>
            <c:invertIfNegative val="1"/>
            <c:bubble3D val="0"/>
            <c:spPr>
              <a:solidFill>
                <a:srgbClr val="000000"/>
              </a:solidFill>
            </c:spPr>
            <c:extLst>
              <c:ext xmlns:c16="http://schemas.microsoft.com/office/drawing/2014/chart" uri="{C3380CC4-5D6E-409C-BE32-E72D297353CC}">
                <c16:uniqueId val="{000000BD-F512-4BA7-B525-0309C134ED20}"/>
              </c:ext>
            </c:extLst>
          </c:dPt>
          <c:dPt>
            <c:idx val="95"/>
            <c:invertIfNegative val="1"/>
            <c:bubble3D val="0"/>
            <c:spPr>
              <a:solidFill>
                <a:srgbClr val="000000"/>
              </a:solidFill>
            </c:spPr>
            <c:extLst>
              <c:ext xmlns:c16="http://schemas.microsoft.com/office/drawing/2014/chart" uri="{C3380CC4-5D6E-409C-BE32-E72D297353CC}">
                <c16:uniqueId val="{000000BF-F512-4BA7-B525-0309C134ED20}"/>
              </c:ext>
            </c:extLst>
          </c:dPt>
          <c:dPt>
            <c:idx val="96"/>
            <c:invertIfNegative val="1"/>
            <c:bubble3D val="0"/>
            <c:spPr>
              <a:solidFill>
                <a:srgbClr val="000000"/>
              </a:solidFill>
            </c:spPr>
            <c:extLst>
              <c:ext xmlns:c16="http://schemas.microsoft.com/office/drawing/2014/chart" uri="{C3380CC4-5D6E-409C-BE32-E72D297353CC}">
                <c16:uniqueId val="{000000C1-F512-4BA7-B525-0309C134ED20}"/>
              </c:ext>
            </c:extLst>
          </c:dPt>
          <c:dPt>
            <c:idx val="97"/>
            <c:invertIfNegative val="1"/>
            <c:bubble3D val="0"/>
            <c:spPr>
              <a:solidFill>
                <a:srgbClr val="000000"/>
              </a:solidFill>
            </c:spPr>
            <c:extLst>
              <c:ext xmlns:c16="http://schemas.microsoft.com/office/drawing/2014/chart" uri="{C3380CC4-5D6E-409C-BE32-E72D297353CC}">
                <c16:uniqueId val="{000000C3-F512-4BA7-B525-0309C134ED20}"/>
              </c:ext>
            </c:extLst>
          </c:dPt>
          <c:dPt>
            <c:idx val="98"/>
            <c:invertIfNegative val="1"/>
            <c:bubble3D val="0"/>
            <c:spPr>
              <a:solidFill>
                <a:srgbClr val="C8102E"/>
              </a:solidFill>
            </c:spPr>
            <c:extLst>
              <c:ext xmlns:c16="http://schemas.microsoft.com/office/drawing/2014/chart" uri="{C3380CC4-5D6E-409C-BE32-E72D297353CC}">
                <c16:uniqueId val="{000000C5-F512-4BA7-B525-0309C134ED20}"/>
              </c:ext>
            </c:extLst>
          </c:dPt>
          <c:dPt>
            <c:idx val="99"/>
            <c:invertIfNegative val="1"/>
            <c:bubble3D val="0"/>
            <c:extLst>
              <c:ext xmlns:c16="http://schemas.microsoft.com/office/drawing/2014/chart" uri="{C3380CC4-5D6E-409C-BE32-E72D297353CC}">
                <c16:uniqueId val="{000000C7-F512-4BA7-B525-0309C134ED20}"/>
              </c:ext>
            </c:extLst>
          </c:dPt>
          <c:dPt>
            <c:idx val="100"/>
            <c:invertIfNegative val="1"/>
            <c:bubble3D val="0"/>
            <c:spPr>
              <a:solidFill>
                <a:srgbClr val="000000"/>
              </a:solidFill>
            </c:spPr>
            <c:extLst>
              <c:ext xmlns:c16="http://schemas.microsoft.com/office/drawing/2014/chart" uri="{C3380CC4-5D6E-409C-BE32-E72D297353CC}">
                <c16:uniqueId val="{000000C9-F512-4BA7-B525-0309C134ED20}"/>
              </c:ext>
            </c:extLst>
          </c:dPt>
          <c:dPt>
            <c:idx val="101"/>
            <c:invertIfNegative val="1"/>
            <c:bubble3D val="0"/>
            <c:extLst>
              <c:ext xmlns:c16="http://schemas.microsoft.com/office/drawing/2014/chart" uri="{C3380CC4-5D6E-409C-BE32-E72D297353CC}">
                <c16:uniqueId val="{000000CB-F512-4BA7-B525-0309C134ED20}"/>
              </c:ext>
            </c:extLst>
          </c:dPt>
          <c:dPt>
            <c:idx val="102"/>
            <c:invertIfNegative val="1"/>
            <c:bubble3D val="0"/>
            <c:extLst>
              <c:ext xmlns:c16="http://schemas.microsoft.com/office/drawing/2014/chart" uri="{C3380CC4-5D6E-409C-BE32-E72D297353CC}">
                <c16:uniqueId val="{000000CD-F512-4BA7-B525-0309C134ED20}"/>
              </c:ext>
            </c:extLst>
          </c:dPt>
          <c:dPt>
            <c:idx val="103"/>
            <c:invertIfNegative val="1"/>
            <c:bubble3D val="0"/>
            <c:spPr>
              <a:solidFill>
                <a:srgbClr val="000000"/>
              </a:solidFill>
            </c:spPr>
            <c:extLst>
              <c:ext xmlns:c16="http://schemas.microsoft.com/office/drawing/2014/chart" uri="{C3380CC4-5D6E-409C-BE32-E72D297353CC}">
                <c16:uniqueId val="{000000CF-F512-4BA7-B525-0309C134ED20}"/>
              </c:ext>
            </c:extLst>
          </c:dPt>
          <c:dPt>
            <c:idx val="104"/>
            <c:invertIfNegative val="1"/>
            <c:bubble3D val="0"/>
            <c:spPr>
              <a:solidFill>
                <a:srgbClr val="000000"/>
              </a:solidFill>
            </c:spPr>
            <c:extLst>
              <c:ext xmlns:c16="http://schemas.microsoft.com/office/drawing/2014/chart" uri="{C3380CC4-5D6E-409C-BE32-E72D297353CC}">
                <c16:uniqueId val="{000000D1-F512-4BA7-B525-0309C134ED20}"/>
              </c:ext>
            </c:extLst>
          </c:dPt>
          <c:dPt>
            <c:idx val="105"/>
            <c:invertIfNegative val="1"/>
            <c:bubble3D val="0"/>
            <c:spPr>
              <a:solidFill>
                <a:srgbClr val="000000"/>
              </a:solidFill>
            </c:spPr>
            <c:extLst>
              <c:ext xmlns:c16="http://schemas.microsoft.com/office/drawing/2014/chart" uri="{C3380CC4-5D6E-409C-BE32-E72D297353CC}">
                <c16:uniqueId val="{000000D3-F512-4BA7-B525-0309C134ED20}"/>
              </c:ext>
            </c:extLst>
          </c:dPt>
          <c:dPt>
            <c:idx val="106"/>
            <c:invertIfNegative val="1"/>
            <c:bubble3D val="0"/>
            <c:spPr>
              <a:solidFill>
                <a:srgbClr val="000000"/>
              </a:solidFill>
            </c:spPr>
            <c:extLst>
              <c:ext xmlns:c16="http://schemas.microsoft.com/office/drawing/2014/chart" uri="{C3380CC4-5D6E-409C-BE32-E72D297353CC}">
                <c16:uniqueId val="{000000D5-F512-4BA7-B525-0309C134ED20}"/>
              </c:ext>
            </c:extLst>
          </c:dPt>
          <c:dPt>
            <c:idx val="107"/>
            <c:invertIfNegative val="1"/>
            <c:bubble3D val="0"/>
            <c:spPr>
              <a:solidFill>
                <a:srgbClr val="000000"/>
              </a:solidFill>
            </c:spPr>
            <c:extLst>
              <c:ext xmlns:c16="http://schemas.microsoft.com/office/drawing/2014/chart" uri="{C3380CC4-5D6E-409C-BE32-E72D297353CC}">
                <c16:uniqueId val="{000000D7-F512-4BA7-B525-0309C134ED20}"/>
              </c:ext>
            </c:extLst>
          </c:dPt>
          <c:dPt>
            <c:idx val="108"/>
            <c:invertIfNegative val="1"/>
            <c:bubble3D val="0"/>
            <c:extLst>
              <c:ext xmlns:c16="http://schemas.microsoft.com/office/drawing/2014/chart" uri="{C3380CC4-5D6E-409C-BE32-E72D297353CC}">
                <c16:uniqueId val="{000000D9-F512-4BA7-B525-0309C134ED20}"/>
              </c:ext>
            </c:extLst>
          </c:dPt>
          <c:dPt>
            <c:idx val="109"/>
            <c:invertIfNegative val="1"/>
            <c:bubble3D val="0"/>
            <c:extLst>
              <c:ext xmlns:c16="http://schemas.microsoft.com/office/drawing/2014/chart" uri="{C3380CC4-5D6E-409C-BE32-E72D297353CC}">
                <c16:uniqueId val="{000000DB-F512-4BA7-B525-0309C134ED20}"/>
              </c:ext>
            </c:extLst>
          </c:dPt>
          <c:dPt>
            <c:idx val="110"/>
            <c:invertIfNegative val="1"/>
            <c:bubble3D val="0"/>
            <c:extLst>
              <c:ext xmlns:c16="http://schemas.microsoft.com/office/drawing/2014/chart" uri="{C3380CC4-5D6E-409C-BE32-E72D297353CC}">
                <c16:uniqueId val="{000000DD-F512-4BA7-B525-0309C134ED20}"/>
              </c:ext>
            </c:extLst>
          </c:dPt>
          <c:dPt>
            <c:idx val="111"/>
            <c:invertIfNegative val="1"/>
            <c:bubble3D val="0"/>
            <c:spPr>
              <a:solidFill>
                <a:srgbClr val="000000"/>
              </a:solidFill>
            </c:spPr>
            <c:extLst>
              <c:ext xmlns:c16="http://schemas.microsoft.com/office/drawing/2014/chart" uri="{C3380CC4-5D6E-409C-BE32-E72D297353CC}">
                <c16:uniqueId val="{000000DF-F512-4BA7-B525-0309C134ED20}"/>
              </c:ext>
            </c:extLst>
          </c:dPt>
          <c:dPt>
            <c:idx val="112"/>
            <c:invertIfNegative val="1"/>
            <c:bubble3D val="0"/>
            <c:spPr>
              <a:solidFill>
                <a:srgbClr val="000000"/>
              </a:solidFill>
            </c:spPr>
            <c:extLst>
              <c:ext xmlns:c16="http://schemas.microsoft.com/office/drawing/2014/chart" uri="{C3380CC4-5D6E-409C-BE32-E72D297353CC}">
                <c16:uniqueId val="{000000E1-F512-4BA7-B525-0309C134ED20}"/>
              </c:ext>
            </c:extLst>
          </c:dPt>
          <c:dPt>
            <c:idx val="113"/>
            <c:invertIfNegative val="1"/>
            <c:bubble3D val="0"/>
            <c:extLst>
              <c:ext xmlns:c16="http://schemas.microsoft.com/office/drawing/2014/chart" uri="{C3380CC4-5D6E-409C-BE32-E72D297353CC}">
                <c16:uniqueId val="{000000E3-F512-4BA7-B525-0309C134ED20}"/>
              </c:ext>
            </c:extLst>
          </c:dPt>
          <c:dPt>
            <c:idx val="114"/>
            <c:invertIfNegative val="1"/>
            <c:bubble3D val="0"/>
            <c:extLst>
              <c:ext xmlns:c16="http://schemas.microsoft.com/office/drawing/2014/chart" uri="{C3380CC4-5D6E-409C-BE32-E72D297353CC}">
                <c16:uniqueId val="{000000E5-F512-4BA7-B525-0309C134ED20}"/>
              </c:ext>
            </c:extLst>
          </c:dPt>
          <c:dPt>
            <c:idx val="115"/>
            <c:invertIfNegative val="1"/>
            <c:bubble3D val="0"/>
            <c:spPr>
              <a:solidFill>
                <a:srgbClr val="000000"/>
              </a:solidFill>
            </c:spPr>
            <c:extLst>
              <c:ext xmlns:c16="http://schemas.microsoft.com/office/drawing/2014/chart" uri="{C3380CC4-5D6E-409C-BE32-E72D297353CC}">
                <c16:uniqueId val="{000000E7-F512-4BA7-B525-0309C134ED20}"/>
              </c:ext>
            </c:extLst>
          </c:dPt>
          <c:dPt>
            <c:idx val="116"/>
            <c:invertIfNegative val="1"/>
            <c:bubble3D val="0"/>
            <c:extLst>
              <c:ext xmlns:c16="http://schemas.microsoft.com/office/drawing/2014/chart" uri="{C3380CC4-5D6E-409C-BE32-E72D297353CC}">
                <c16:uniqueId val="{000000E9-F512-4BA7-B525-0309C134ED20}"/>
              </c:ext>
            </c:extLst>
          </c:dPt>
          <c:dPt>
            <c:idx val="117"/>
            <c:invertIfNegative val="1"/>
            <c:bubble3D val="0"/>
            <c:spPr>
              <a:solidFill>
                <a:srgbClr val="000000"/>
              </a:solidFill>
            </c:spPr>
            <c:extLst>
              <c:ext xmlns:c16="http://schemas.microsoft.com/office/drawing/2014/chart" uri="{C3380CC4-5D6E-409C-BE32-E72D297353CC}">
                <c16:uniqueId val="{000000EB-F512-4BA7-B525-0309C134ED20}"/>
              </c:ext>
            </c:extLst>
          </c:dPt>
          <c:dPt>
            <c:idx val="118"/>
            <c:invertIfNegative val="1"/>
            <c:bubble3D val="0"/>
            <c:spPr>
              <a:solidFill>
                <a:srgbClr val="000000"/>
              </a:solidFill>
            </c:spPr>
            <c:extLst>
              <c:ext xmlns:c16="http://schemas.microsoft.com/office/drawing/2014/chart" uri="{C3380CC4-5D6E-409C-BE32-E72D297353CC}">
                <c16:uniqueId val="{000000ED-F512-4BA7-B525-0309C134ED20}"/>
              </c:ext>
            </c:extLst>
          </c:dPt>
          <c:dPt>
            <c:idx val="119"/>
            <c:invertIfNegative val="1"/>
            <c:bubble3D val="0"/>
            <c:spPr>
              <a:solidFill>
                <a:srgbClr val="000000"/>
              </a:solidFill>
            </c:spPr>
            <c:extLst>
              <c:ext xmlns:c16="http://schemas.microsoft.com/office/drawing/2014/chart" uri="{C3380CC4-5D6E-409C-BE32-E72D297353CC}">
                <c16:uniqueId val="{000000EF-F512-4BA7-B525-0309C134ED20}"/>
              </c:ext>
            </c:extLst>
          </c:dPt>
          <c:dPt>
            <c:idx val="120"/>
            <c:invertIfNegative val="1"/>
            <c:bubble3D val="0"/>
            <c:extLst>
              <c:ext xmlns:c16="http://schemas.microsoft.com/office/drawing/2014/chart" uri="{C3380CC4-5D6E-409C-BE32-E72D297353CC}">
                <c16:uniqueId val="{000000F1-F512-4BA7-B525-0309C134ED20}"/>
              </c:ext>
            </c:extLst>
          </c:dPt>
          <c:dPt>
            <c:idx val="121"/>
            <c:invertIfNegative val="1"/>
            <c:bubble3D val="0"/>
            <c:spPr>
              <a:solidFill>
                <a:srgbClr val="000000"/>
              </a:solidFill>
            </c:spPr>
            <c:extLst>
              <c:ext xmlns:c16="http://schemas.microsoft.com/office/drawing/2014/chart" uri="{C3380CC4-5D6E-409C-BE32-E72D297353CC}">
                <c16:uniqueId val="{000000F3-F512-4BA7-B525-0309C134ED20}"/>
              </c:ext>
            </c:extLst>
          </c:dPt>
          <c:dPt>
            <c:idx val="122"/>
            <c:invertIfNegative val="1"/>
            <c:bubble3D val="0"/>
            <c:extLst>
              <c:ext xmlns:c16="http://schemas.microsoft.com/office/drawing/2014/chart" uri="{C3380CC4-5D6E-409C-BE32-E72D297353CC}">
                <c16:uniqueId val="{000000F5-F512-4BA7-B525-0309C134ED20}"/>
              </c:ext>
            </c:extLst>
          </c:dPt>
          <c:dPt>
            <c:idx val="123"/>
            <c:invertIfNegative val="1"/>
            <c:bubble3D val="0"/>
            <c:extLst>
              <c:ext xmlns:c16="http://schemas.microsoft.com/office/drawing/2014/chart" uri="{C3380CC4-5D6E-409C-BE32-E72D297353CC}">
                <c16:uniqueId val="{000000F7-F512-4BA7-B525-0309C134ED20}"/>
              </c:ext>
            </c:extLst>
          </c:dPt>
          <c:dPt>
            <c:idx val="124"/>
            <c:invertIfNegative val="1"/>
            <c:bubble3D val="0"/>
            <c:extLst>
              <c:ext xmlns:c16="http://schemas.microsoft.com/office/drawing/2014/chart" uri="{C3380CC4-5D6E-409C-BE32-E72D297353CC}">
                <c16:uniqueId val="{000000F9-F512-4BA7-B525-0309C134ED20}"/>
              </c:ext>
            </c:extLst>
          </c:dPt>
          <c:dPt>
            <c:idx val="125"/>
            <c:invertIfNegative val="1"/>
            <c:bubble3D val="0"/>
            <c:extLst>
              <c:ext xmlns:c16="http://schemas.microsoft.com/office/drawing/2014/chart" uri="{C3380CC4-5D6E-409C-BE32-E72D297353CC}">
                <c16:uniqueId val="{000000FB-F512-4BA7-B525-0309C134ED20}"/>
              </c:ext>
            </c:extLst>
          </c:dPt>
          <c:dPt>
            <c:idx val="126"/>
            <c:invertIfNegative val="1"/>
            <c:bubble3D val="0"/>
            <c:extLst>
              <c:ext xmlns:c16="http://schemas.microsoft.com/office/drawing/2014/chart" uri="{C3380CC4-5D6E-409C-BE32-E72D297353CC}">
                <c16:uniqueId val="{000000FD-F512-4BA7-B525-0309C134ED20}"/>
              </c:ext>
            </c:extLst>
          </c:dPt>
          <c:dPt>
            <c:idx val="127"/>
            <c:invertIfNegative val="1"/>
            <c:bubble3D val="0"/>
            <c:extLst>
              <c:ext xmlns:c16="http://schemas.microsoft.com/office/drawing/2014/chart" uri="{C3380CC4-5D6E-409C-BE32-E72D297353CC}">
                <c16:uniqueId val="{000000FF-F512-4BA7-B525-0309C134ED20}"/>
              </c:ext>
            </c:extLst>
          </c:dPt>
          <c:dPt>
            <c:idx val="128"/>
            <c:invertIfNegative val="1"/>
            <c:bubble3D val="0"/>
            <c:spPr>
              <a:solidFill>
                <a:srgbClr val="000000"/>
              </a:solidFill>
            </c:spPr>
            <c:extLst>
              <c:ext xmlns:c16="http://schemas.microsoft.com/office/drawing/2014/chart" uri="{C3380CC4-5D6E-409C-BE32-E72D297353CC}">
                <c16:uniqueId val="{00000101-F512-4BA7-B525-0309C134ED20}"/>
              </c:ext>
            </c:extLst>
          </c:dPt>
          <c:dPt>
            <c:idx val="129"/>
            <c:invertIfNegative val="1"/>
            <c:bubble3D val="0"/>
            <c:extLst>
              <c:ext xmlns:c16="http://schemas.microsoft.com/office/drawing/2014/chart" uri="{C3380CC4-5D6E-409C-BE32-E72D297353CC}">
                <c16:uniqueId val="{00000103-F512-4BA7-B525-0309C134ED20}"/>
              </c:ext>
            </c:extLst>
          </c:dPt>
          <c:dPt>
            <c:idx val="130"/>
            <c:invertIfNegative val="1"/>
            <c:bubble3D val="0"/>
            <c:spPr>
              <a:solidFill>
                <a:srgbClr val="000000"/>
              </a:solidFill>
            </c:spPr>
            <c:extLst>
              <c:ext xmlns:c16="http://schemas.microsoft.com/office/drawing/2014/chart" uri="{C3380CC4-5D6E-409C-BE32-E72D297353CC}">
                <c16:uniqueId val="{00000105-F512-4BA7-B525-0309C134ED20}"/>
              </c:ext>
            </c:extLst>
          </c:dPt>
          <c:dPt>
            <c:idx val="131"/>
            <c:invertIfNegative val="1"/>
            <c:bubble3D val="0"/>
            <c:spPr>
              <a:solidFill>
                <a:srgbClr val="000000"/>
              </a:solidFill>
            </c:spPr>
            <c:extLst>
              <c:ext xmlns:c16="http://schemas.microsoft.com/office/drawing/2014/chart" uri="{C3380CC4-5D6E-409C-BE32-E72D297353CC}">
                <c16:uniqueId val="{00000107-F512-4BA7-B525-0309C134ED20}"/>
              </c:ext>
            </c:extLst>
          </c:dPt>
          <c:dPt>
            <c:idx val="132"/>
            <c:invertIfNegative val="1"/>
            <c:bubble3D val="0"/>
            <c:spPr>
              <a:solidFill>
                <a:srgbClr val="000000"/>
              </a:solidFill>
            </c:spPr>
            <c:extLst>
              <c:ext xmlns:c16="http://schemas.microsoft.com/office/drawing/2014/chart" uri="{C3380CC4-5D6E-409C-BE32-E72D297353CC}">
                <c16:uniqueId val="{00000109-F512-4BA7-B525-0309C134ED20}"/>
              </c:ext>
            </c:extLst>
          </c:dPt>
          <c:dPt>
            <c:idx val="133"/>
            <c:invertIfNegative val="1"/>
            <c:bubble3D val="0"/>
            <c:extLst>
              <c:ext xmlns:c16="http://schemas.microsoft.com/office/drawing/2014/chart" uri="{C3380CC4-5D6E-409C-BE32-E72D297353CC}">
                <c16:uniqueId val="{0000010B-F512-4BA7-B525-0309C134ED20}"/>
              </c:ext>
            </c:extLst>
          </c:dPt>
          <c:dPt>
            <c:idx val="134"/>
            <c:invertIfNegative val="1"/>
            <c:bubble3D val="0"/>
            <c:extLst>
              <c:ext xmlns:c16="http://schemas.microsoft.com/office/drawing/2014/chart" uri="{C3380CC4-5D6E-409C-BE32-E72D297353CC}">
                <c16:uniqueId val="{0000010D-F512-4BA7-B525-0309C134ED20}"/>
              </c:ext>
            </c:extLst>
          </c:dPt>
          <c:dPt>
            <c:idx val="135"/>
            <c:invertIfNegative val="1"/>
            <c:bubble3D val="0"/>
            <c:spPr>
              <a:solidFill>
                <a:srgbClr val="000000"/>
              </a:solidFill>
            </c:spPr>
            <c:extLst>
              <c:ext xmlns:c16="http://schemas.microsoft.com/office/drawing/2014/chart" uri="{C3380CC4-5D6E-409C-BE32-E72D297353CC}">
                <c16:uniqueId val="{0000010F-F512-4BA7-B525-0309C134ED20}"/>
              </c:ext>
            </c:extLst>
          </c:dPt>
          <c:dPt>
            <c:idx val="136"/>
            <c:invertIfNegative val="1"/>
            <c:bubble3D val="0"/>
            <c:spPr>
              <a:solidFill>
                <a:srgbClr val="000000"/>
              </a:solidFill>
            </c:spPr>
            <c:extLst>
              <c:ext xmlns:c16="http://schemas.microsoft.com/office/drawing/2014/chart" uri="{C3380CC4-5D6E-409C-BE32-E72D297353CC}">
                <c16:uniqueId val="{00000111-F512-4BA7-B525-0309C134ED20}"/>
              </c:ext>
            </c:extLst>
          </c:dPt>
          <c:dPt>
            <c:idx val="137"/>
            <c:invertIfNegative val="1"/>
            <c:bubble3D val="0"/>
            <c:extLst>
              <c:ext xmlns:c16="http://schemas.microsoft.com/office/drawing/2014/chart" uri="{C3380CC4-5D6E-409C-BE32-E72D297353CC}">
                <c16:uniqueId val="{00000113-F512-4BA7-B525-0309C134ED20}"/>
              </c:ext>
            </c:extLst>
          </c:dPt>
          <c:dPt>
            <c:idx val="138"/>
            <c:invertIfNegative val="1"/>
            <c:bubble3D val="0"/>
            <c:extLst>
              <c:ext xmlns:c16="http://schemas.microsoft.com/office/drawing/2014/chart" uri="{C3380CC4-5D6E-409C-BE32-E72D297353CC}">
                <c16:uniqueId val="{00000115-F512-4BA7-B525-0309C134ED20}"/>
              </c:ext>
            </c:extLst>
          </c:dPt>
          <c:dPt>
            <c:idx val="139"/>
            <c:invertIfNegative val="1"/>
            <c:bubble3D val="0"/>
            <c:extLst>
              <c:ext xmlns:c16="http://schemas.microsoft.com/office/drawing/2014/chart" uri="{C3380CC4-5D6E-409C-BE32-E72D297353CC}">
                <c16:uniqueId val="{00000117-F512-4BA7-B525-0309C134ED20}"/>
              </c:ext>
            </c:extLst>
          </c:dPt>
          <c:dPt>
            <c:idx val="140"/>
            <c:invertIfNegative val="1"/>
            <c:bubble3D val="0"/>
            <c:extLst>
              <c:ext xmlns:c16="http://schemas.microsoft.com/office/drawing/2014/chart" uri="{C3380CC4-5D6E-409C-BE32-E72D297353CC}">
                <c16:uniqueId val="{00000119-F512-4BA7-B525-0309C134ED20}"/>
              </c:ext>
            </c:extLst>
          </c:dPt>
          <c:dPt>
            <c:idx val="141"/>
            <c:invertIfNegative val="1"/>
            <c:bubble3D val="0"/>
            <c:extLst>
              <c:ext xmlns:c16="http://schemas.microsoft.com/office/drawing/2014/chart" uri="{C3380CC4-5D6E-409C-BE32-E72D297353CC}">
                <c16:uniqueId val="{0000011B-F512-4BA7-B525-0309C134ED20}"/>
              </c:ext>
            </c:extLst>
          </c:dPt>
          <c:dPt>
            <c:idx val="142"/>
            <c:invertIfNegative val="1"/>
            <c:bubble3D val="0"/>
            <c:spPr>
              <a:solidFill>
                <a:srgbClr val="000000"/>
              </a:solidFill>
            </c:spPr>
            <c:extLst>
              <c:ext xmlns:c16="http://schemas.microsoft.com/office/drawing/2014/chart" uri="{C3380CC4-5D6E-409C-BE32-E72D297353CC}">
                <c16:uniqueId val="{0000011D-F512-4BA7-B525-0309C134ED20}"/>
              </c:ext>
            </c:extLst>
          </c:dPt>
          <c:dPt>
            <c:idx val="143"/>
            <c:invertIfNegative val="1"/>
            <c:bubble3D val="0"/>
            <c:spPr>
              <a:solidFill>
                <a:srgbClr val="000000"/>
              </a:solidFill>
            </c:spPr>
            <c:extLst>
              <c:ext xmlns:c16="http://schemas.microsoft.com/office/drawing/2014/chart" uri="{C3380CC4-5D6E-409C-BE32-E72D297353CC}">
                <c16:uniqueId val="{0000011F-F512-4BA7-B525-0309C134ED20}"/>
              </c:ext>
            </c:extLst>
          </c:dPt>
          <c:dPt>
            <c:idx val="144"/>
            <c:invertIfNegative val="1"/>
            <c:bubble3D val="0"/>
            <c:spPr>
              <a:solidFill>
                <a:srgbClr val="000000"/>
              </a:solidFill>
            </c:spPr>
            <c:extLst>
              <c:ext xmlns:c16="http://schemas.microsoft.com/office/drawing/2014/chart" uri="{C3380CC4-5D6E-409C-BE32-E72D297353CC}">
                <c16:uniqueId val="{00000121-F512-4BA7-B525-0309C134ED20}"/>
              </c:ext>
            </c:extLst>
          </c:dPt>
          <c:dPt>
            <c:idx val="145"/>
            <c:invertIfNegative val="1"/>
            <c:bubble3D val="0"/>
            <c:extLst>
              <c:ext xmlns:c16="http://schemas.microsoft.com/office/drawing/2014/chart" uri="{C3380CC4-5D6E-409C-BE32-E72D297353CC}">
                <c16:uniqueId val="{00000123-F512-4BA7-B525-0309C134ED20}"/>
              </c:ext>
            </c:extLst>
          </c:dPt>
          <c:dPt>
            <c:idx val="146"/>
            <c:invertIfNegative val="1"/>
            <c:bubble3D val="0"/>
            <c:extLst>
              <c:ext xmlns:c16="http://schemas.microsoft.com/office/drawing/2014/chart" uri="{C3380CC4-5D6E-409C-BE32-E72D297353CC}">
                <c16:uniqueId val="{00000125-F512-4BA7-B525-0309C134ED20}"/>
              </c:ext>
            </c:extLst>
          </c:dPt>
          <c:dPt>
            <c:idx val="147"/>
            <c:invertIfNegative val="1"/>
            <c:bubble3D val="0"/>
            <c:extLst>
              <c:ext xmlns:c16="http://schemas.microsoft.com/office/drawing/2014/chart" uri="{C3380CC4-5D6E-409C-BE32-E72D297353CC}">
                <c16:uniqueId val="{00000127-F512-4BA7-B525-0309C134ED20}"/>
              </c:ext>
            </c:extLst>
          </c:dPt>
          <c:dPt>
            <c:idx val="148"/>
            <c:invertIfNegative val="1"/>
            <c:bubble3D val="0"/>
            <c:extLst>
              <c:ext xmlns:c16="http://schemas.microsoft.com/office/drawing/2014/chart" uri="{C3380CC4-5D6E-409C-BE32-E72D297353CC}">
                <c16:uniqueId val="{00000129-F512-4BA7-B525-0309C134ED20}"/>
              </c:ext>
            </c:extLst>
          </c:dPt>
          <c:dPt>
            <c:idx val="149"/>
            <c:invertIfNegative val="1"/>
            <c:bubble3D val="0"/>
            <c:extLst>
              <c:ext xmlns:c16="http://schemas.microsoft.com/office/drawing/2014/chart" uri="{C3380CC4-5D6E-409C-BE32-E72D297353CC}">
                <c16:uniqueId val="{0000012B-F512-4BA7-B525-0309C134ED20}"/>
              </c:ext>
            </c:extLst>
          </c:dPt>
          <c:cat>
            <c:strRef>
              <c:f>Sheet1!$A$2:$A$151</c:f>
              <c:strCache>
                <c:ptCount val="15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strCache>
            </c:strRef>
          </c:cat>
          <c:val>
            <c:numRef>
              <c:f>Sheet1!$B$2:$B$151</c:f>
              <c:numCache>
                <c:formatCode>General</c:formatCode>
                <c:ptCount val="150"/>
                <c:pt idx="0">
                  <c:v>4.129264</c:v>
                </c:pt>
                <c:pt idx="1">
                  <c:v>2.1675040000000001</c:v>
                </c:pt>
                <c:pt idx="2">
                  <c:v>2.127637</c:v>
                </c:pt>
                <c:pt idx="3">
                  <c:v>2.1109610000000001</c:v>
                </c:pt>
                <c:pt idx="4">
                  <c:v>1.9332290000000001</c:v>
                </c:pt>
                <c:pt idx="5">
                  <c:v>1.8962270000000001</c:v>
                </c:pt>
                <c:pt idx="6">
                  <c:v>1.881289</c:v>
                </c:pt>
                <c:pt idx="7">
                  <c:v>1.6913020000000001</c:v>
                </c:pt>
                <c:pt idx="8">
                  <c:v>1.641961</c:v>
                </c:pt>
                <c:pt idx="9">
                  <c:v>1.613631</c:v>
                </c:pt>
                <c:pt idx="10">
                  <c:v>1.598751</c:v>
                </c:pt>
                <c:pt idx="11">
                  <c:v>1.5815699999999999</c:v>
                </c:pt>
                <c:pt idx="12">
                  <c:v>1.580756</c:v>
                </c:pt>
                <c:pt idx="13">
                  <c:v>1.53952</c:v>
                </c:pt>
                <c:pt idx="14">
                  <c:v>1.528637</c:v>
                </c:pt>
                <c:pt idx="15">
                  <c:v>1.5196940000000001</c:v>
                </c:pt>
                <c:pt idx="16">
                  <c:v>1.5046649999999999</c:v>
                </c:pt>
                <c:pt idx="17">
                  <c:v>1.500732</c:v>
                </c:pt>
                <c:pt idx="18">
                  <c:v>1.4945269999999999</c:v>
                </c:pt>
                <c:pt idx="19">
                  <c:v>1.449535</c:v>
                </c:pt>
                <c:pt idx="20">
                  <c:v>1.40971</c:v>
                </c:pt>
                <c:pt idx="21">
                  <c:v>1.3938250000000001</c:v>
                </c:pt>
                <c:pt idx="22">
                  <c:v>1.363321</c:v>
                </c:pt>
                <c:pt idx="23">
                  <c:v>1.3278700000000001</c:v>
                </c:pt>
                <c:pt idx="24">
                  <c:v>1.3029710000000001</c:v>
                </c:pt>
                <c:pt idx="25">
                  <c:v>1.2724930000000001</c:v>
                </c:pt>
                <c:pt idx="26">
                  <c:v>1.264197</c:v>
                </c:pt>
                <c:pt idx="27">
                  <c:v>1.2578590000000001</c:v>
                </c:pt>
                <c:pt idx="28">
                  <c:v>1.246507</c:v>
                </c:pt>
                <c:pt idx="29">
                  <c:v>1.243115</c:v>
                </c:pt>
                <c:pt idx="30">
                  <c:v>1.1439170000000001</c:v>
                </c:pt>
                <c:pt idx="31">
                  <c:v>1.126782</c:v>
                </c:pt>
                <c:pt idx="32">
                  <c:v>1.0655539999999999</c:v>
                </c:pt>
                <c:pt idx="33">
                  <c:v>1.0156000000000001</c:v>
                </c:pt>
                <c:pt idx="34">
                  <c:v>1.0124040000000001</c:v>
                </c:pt>
                <c:pt idx="35">
                  <c:v>1.005757</c:v>
                </c:pt>
                <c:pt idx="36">
                  <c:v>1.003271</c:v>
                </c:pt>
                <c:pt idx="37">
                  <c:v>0.93184800000000001</c:v>
                </c:pt>
                <c:pt idx="38">
                  <c:v>0.93151300000000004</c:v>
                </c:pt>
                <c:pt idx="39">
                  <c:v>0.90675099999999997</c:v>
                </c:pt>
                <c:pt idx="40">
                  <c:v>0.89698299999999997</c:v>
                </c:pt>
                <c:pt idx="41">
                  <c:v>0.88122599999999995</c:v>
                </c:pt>
                <c:pt idx="42">
                  <c:v>0.86929699999999999</c:v>
                </c:pt>
                <c:pt idx="43">
                  <c:v>0.86586799999999997</c:v>
                </c:pt>
                <c:pt idx="44">
                  <c:v>0.83679999999999999</c:v>
                </c:pt>
                <c:pt idx="45">
                  <c:v>0.81377200000000005</c:v>
                </c:pt>
                <c:pt idx="46">
                  <c:v>0.78927099999999994</c:v>
                </c:pt>
                <c:pt idx="47">
                  <c:v>0.78435500000000002</c:v>
                </c:pt>
                <c:pt idx="48">
                  <c:v>0.74164300000000005</c:v>
                </c:pt>
                <c:pt idx="49">
                  <c:v>0.73987800000000004</c:v>
                </c:pt>
                <c:pt idx="50">
                  <c:v>0.71792</c:v>
                </c:pt>
                <c:pt idx="51">
                  <c:v>0.71700399999999997</c:v>
                </c:pt>
                <c:pt idx="52">
                  <c:v>0.70332600000000001</c:v>
                </c:pt>
                <c:pt idx="53">
                  <c:v>0.68075300000000005</c:v>
                </c:pt>
                <c:pt idx="54">
                  <c:v>0.65746800000000005</c:v>
                </c:pt>
                <c:pt idx="55">
                  <c:v>0.65691600000000006</c:v>
                </c:pt>
                <c:pt idx="56">
                  <c:v>0.64494799999999997</c:v>
                </c:pt>
                <c:pt idx="57">
                  <c:v>0.64254599999999995</c:v>
                </c:pt>
                <c:pt idx="58">
                  <c:v>0.62811700000000004</c:v>
                </c:pt>
                <c:pt idx="59">
                  <c:v>0.56904999999999994</c:v>
                </c:pt>
                <c:pt idx="60">
                  <c:v>0.55901299999999998</c:v>
                </c:pt>
                <c:pt idx="61">
                  <c:v>0.55862400000000001</c:v>
                </c:pt>
                <c:pt idx="62">
                  <c:v>0.54610999999999998</c:v>
                </c:pt>
                <c:pt idx="63">
                  <c:v>0.54521399999999998</c:v>
                </c:pt>
                <c:pt idx="64">
                  <c:v>0.54188000000000003</c:v>
                </c:pt>
                <c:pt idx="65">
                  <c:v>0.53218100000000002</c:v>
                </c:pt>
                <c:pt idx="66">
                  <c:v>0.52765799999999996</c:v>
                </c:pt>
                <c:pt idx="67">
                  <c:v>0.52429499999999996</c:v>
                </c:pt>
                <c:pt idx="68">
                  <c:v>0.52189200000000002</c:v>
                </c:pt>
                <c:pt idx="69">
                  <c:v>0.50858000000000003</c:v>
                </c:pt>
                <c:pt idx="70">
                  <c:v>0.50526199999999999</c:v>
                </c:pt>
                <c:pt idx="71">
                  <c:v>0.50146800000000002</c:v>
                </c:pt>
                <c:pt idx="72">
                  <c:v>0.49237199999999998</c:v>
                </c:pt>
                <c:pt idx="73">
                  <c:v>0.47404299999999999</c:v>
                </c:pt>
                <c:pt idx="74">
                  <c:v>0.471605</c:v>
                </c:pt>
                <c:pt idx="75">
                  <c:v>0.46638600000000002</c:v>
                </c:pt>
                <c:pt idx="76">
                  <c:v>0.46578000000000003</c:v>
                </c:pt>
                <c:pt idx="77">
                  <c:v>0.46234700000000001</c:v>
                </c:pt>
                <c:pt idx="78">
                  <c:v>0.460733</c:v>
                </c:pt>
                <c:pt idx="79">
                  <c:v>0.45137899999999997</c:v>
                </c:pt>
                <c:pt idx="80">
                  <c:v>0.44517299999999999</c:v>
                </c:pt>
                <c:pt idx="81">
                  <c:v>0.43354500000000001</c:v>
                </c:pt>
                <c:pt idx="82">
                  <c:v>0.43143900000000002</c:v>
                </c:pt>
                <c:pt idx="83">
                  <c:v>0.41912300000000002</c:v>
                </c:pt>
                <c:pt idx="84">
                  <c:v>0.418429</c:v>
                </c:pt>
                <c:pt idx="85">
                  <c:v>0.40336899999999998</c:v>
                </c:pt>
                <c:pt idx="86">
                  <c:v>0.39355699999999999</c:v>
                </c:pt>
                <c:pt idx="87">
                  <c:v>0.39233299999999999</c:v>
                </c:pt>
                <c:pt idx="88">
                  <c:v>0.38694899999999999</c:v>
                </c:pt>
                <c:pt idx="89">
                  <c:v>0.38158199999999998</c:v>
                </c:pt>
                <c:pt idx="90">
                  <c:v>0.37659999999999999</c:v>
                </c:pt>
                <c:pt idx="91">
                  <c:v>0.37563099999999999</c:v>
                </c:pt>
                <c:pt idx="92">
                  <c:v>0.374504</c:v>
                </c:pt>
                <c:pt idx="93">
                  <c:v>0.37190400000000001</c:v>
                </c:pt>
                <c:pt idx="94">
                  <c:v>0.36078900000000003</c:v>
                </c:pt>
                <c:pt idx="95">
                  <c:v>0.36030899999999999</c:v>
                </c:pt>
                <c:pt idx="96">
                  <c:v>0.35487400000000002</c:v>
                </c:pt>
                <c:pt idx="97">
                  <c:v>0.34961599999999998</c:v>
                </c:pt>
                <c:pt idx="98">
                  <c:v>0.34689999999999999</c:v>
                </c:pt>
                <c:pt idx="99">
                  <c:v>0.34579100000000002</c:v>
                </c:pt>
                <c:pt idx="100">
                  <c:v>0.34451700000000002</c:v>
                </c:pt>
                <c:pt idx="101">
                  <c:v>0.34213199999999999</c:v>
                </c:pt>
                <c:pt idx="102">
                  <c:v>0.33853299999999997</c:v>
                </c:pt>
                <c:pt idx="103">
                  <c:v>0.32578499999999999</c:v>
                </c:pt>
                <c:pt idx="104">
                  <c:v>0.32099</c:v>
                </c:pt>
                <c:pt idx="105">
                  <c:v>0.31925799999999999</c:v>
                </c:pt>
                <c:pt idx="106">
                  <c:v>0.31499899999999997</c:v>
                </c:pt>
                <c:pt idx="107">
                  <c:v>0.31279099999999999</c:v>
                </c:pt>
                <c:pt idx="108">
                  <c:v>0.30824000000000001</c:v>
                </c:pt>
                <c:pt idx="109">
                  <c:v>0.30530000000000002</c:v>
                </c:pt>
                <c:pt idx="110">
                  <c:v>0.30344599999999999</c:v>
                </c:pt>
                <c:pt idx="111">
                  <c:v>0.29168899999999998</c:v>
                </c:pt>
                <c:pt idx="112">
                  <c:v>0.284943</c:v>
                </c:pt>
                <c:pt idx="113">
                  <c:v>0.28172999999999998</c:v>
                </c:pt>
                <c:pt idx="114">
                  <c:v>0.28169699999999998</c:v>
                </c:pt>
                <c:pt idx="115">
                  <c:v>0.278304</c:v>
                </c:pt>
                <c:pt idx="116">
                  <c:v>0.27768300000000001</c:v>
                </c:pt>
                <c:pt idx="117">
                  <c:v>0.27732899999999999</c:v>
                </c:pt>
                <c:pt idx="118">
                  <c:v>0.27588499999999999</c:v>
                </c:pt>
                <c:pt idx="119">
                  <c:v>0.27119799999999999</c:v>
                </c:pt>
                <c:pt idx="120">
                  <c:v>0.264961</c:v>
                </c:pt>
                <c:pt idx="121">
                  <c:v>0.25907200000000002</c:v>
                </c:pt>
                <c:pt idx="122">
                  <c:v>0.25792700000000002</c:v>
                </c:pt>
                <c:pt idx="123">
                  <c:v>0.25691900000000001</c:v>
                </c:pt>
                <c:pt idx="124">
                  <c:v>0.25488300000000003</c:v>
                </c:pt>
                <c:pt idx="125">
                  <c:v>0.25377</c:v>
                </c:pt>
                <c:pt idx="126">
                  <c:v>0.25253700000000001</c:v>
                </c:pt>
                <c:pt idx="127">
                  <c:v>0.24629499999999999</c:v>
                </c:pt>
                <c:pt idx="128">
                  <c:v>0.24623999999999999</c:v>
                </c:pt>
                <c:pt idx="129">
                  <c:v>0.241115</c:v>
                </c:pt>
                <c:pt idx="130">
                  <c:v>0.24107200000000001</c:v>
                </c:pt>
                <c:pt idx="131">
                  <c:v>0.23899599999999999</c:v>
                </c:pt>
                <c:pt idx="132">
                  <c:v>0.231596</c:v>
                </c:pt>
                <c:pt idx="133">
                  <c:v>0.230626</c:v>
                </c:pt>
                <c:pt idx="134">
                  <c:v>0.23022400000000001</c:v>
                </c:pt>
                <c:pt idx="135">
                  <c:v>0.22684199999999999</c:v>
                </c:pt>
                <c:pt idx="136">
                  <c:v>0.224969</c:v>
                </c:pt>
                <c:pt idx="137">
                  <c:v>0.22123499999999999</c:v>
                </c:pt>
                <c:pt idx="138">
                  <c:v>0.21842600000000001</c:v>
                </c:pt>
                <c:pt idx="139">
                  <c:v>0.19988500000000001</c:v>
                </c:pt>
                <c:pt idx="140">
                  <c:v>0.19886999999999999</c:v>
                </c:pt>
                <c:pt idx="141">
                  <c:v>0.19875000000000001</c:v>
                </c:pt>
                <c:pt idx="142">
                  <c:v>0.19742799999999999</c:v>
                </c:pt>
                <c:pt idx="143">
                  <c:v>0.194131</c:v>
                </c:pt>
                <c:pt idx="144">
                  <c:v>0.18991</c:v>
                </c:pt>
                <c:pt idx="145">
                  <c:v>0.18179500000000001</c:v>
                </c:pt>
                <c:pt idx="146">
                  <c:v>0.18160000000000001</c:v>
                </c:pt>
                <c:pt idx="147">
                  <c:v>0.174785</c:v>
                </c:pt>
                <c:pt idx="148">
                  <c:v>0.171741</c:v>
                </c:pt>
                <c:pt idx="149">
                  <c:v>0.17152800000000001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12C-F512-4BA7-B525-0309C134ED20}"/>
            </c:ext>
          </c:extLst>
        </c:ser>
        <c:dLbls>
          <c:showLegendKey val="0"/>
          <c:showVal val="0"/>
          <c:showCatName val="0"/>
          <c:showSerName val="0"/>
          <c:showPercent val="0"/>
          <c:showBubbleSize val="0"/>
        </c:dLbls>
        <c:gapWidth val="25"/>
        <c:axId val="-2068027336"/>
        <c:axId val="-2113994440"/>
      </c:barChart>
      <c:catAx>
        <c:axId val="-2068027336"/>
        <c:scaling>
          <c:orientation val="minMax"/>
        </c:scaling>
        <c:delete val="0"/>
        <c:axPos val="b"/>
        <c:numFmt formatCode="General" sourceLinked="0"/>
        <c:majorTickMark val="none"/>
        <c:minorTickMark val="none"/>
        <c:tickLblPos val="none"/>
        <c:spPr>
          <a:ln w="9525">
            <a:solidFill>
              <a:srgbClr val="8A8F98"/>
            </a:solidFill>
          </a:ln>
        </c:spPr>
        <c:txPr>
          <a:bodyPr/>
          <a:lstStyle/>
          <a:p>
            <a:pPr>
              <a:defRPr sz="1000">
                <a:solidFill>
                  <a:srgbClr val="6B6B70"/>
                </a:solidFill>
                <a:latin typeface="Lato"/>
              </a:defRPr>
            </a:pPr>
            <a:endParaRPr lang="en-US"/>
          </a:p>
        </c:txPr>
        <c:crossAx val="-2113994440"/>
        <c:crosses val="autoZero"/>
        <c:auto val="1"/>
        <c:lblAlgn val="ctr"/>
        <c:lblOffset val="100"/>
        <c:noMultiLvlLbl val="0"/>
      </c:catAx>
      <c:valAx>
        <c:axId val="-2113994440"/>
        <c:scaling>
          <c:orientation val="minMax"/>
          <c:max val="4.5"/>
          <c:min val="0"/>
        </c:scaling>
        <c:delete val="0"/>
        <c:axPos val="l"/>
        <c:majorGridlines>
          <c:spPr>
            <a:ln w="9525">
              <a:solidFill>
                <a:srgbClr val="E4E4E6"/>
              </a:solidFill>
            </a:ln>
          </c:spPr>
        </c:majorGridlines>
        <c:numFmt formatCode="&quot;$&quot;0&quot;B&quot;"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1"/>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3"/>
          <c:w val="0.93500000000000005"/>
          <c:h val="0.6"/>
        </c:manualLayout>
      </c:layout>
      <c:barChart>
        <c:barDir val="col"/>
        <c:grouping val="clustered"/>
        <c:varyColors val="1"/>
        <c:ser>
          <c:idx val="0"/>
          <c:order val="0"/>
          <c:tx>
            <c:strRef>
              <c:f>Sheet1!$B$1</c:f>
              <c:strCache>
                <c:ptCount val="1"/>
                <c:pt idx="0">
                  <c:v>R&amp;D</c:v>
                </c:pt>
              </c:strCache>
            </c:strRef>
          </c:tx>
          <c:invertIfNegative val="1"/>
          <c:dPt>
            <c:idx val="0"/>
            <c:invertIfNegative val="1"/>
            <c:bubble3D val="0"/>
            <c:spPr>
              <a:solidFill>
                <a:srgbClr val="000000"/>
              </a:solidFill>
            </c:spPr>
            <c:extLst>
              <c:ext xmlns:c16="http://schemas.microsoft.com/office/drawing/2014/chart" uri="{C3380CC4-5D6E-409C-BE32-E72D297353CC}">
                <c16:uniqueId val="{00000001-20ED-4B97-8E6B-74497B686389}"/>
              </c:ext>
            </c:extLst>
          </c:dPt>
          <c:dPt>
            <c:idx val="1"/>
            <c:invertIfNegative val="1"/>
            <c:bubble3D val="0"/>
            <c:spPr>
              <a:solidFill>
                <a:srgbClr val="000000"/>
              </a:solidFill>
            </c:spPr>
            <c:extLst>
              <c:ext xmlns:c16="http://schemas.microsoft.com/office/drawing/2014/chart" uri="{C3380CC4-5D6E-409C-BE32-E72D297353CC}">
                <c16:uniqueId val="{00000003-20ED-4B97-8E6B-74497B686389}"/>
              </c:ext>
            </c:extLst>
          </c:dPt>
          <c:dPt>
            <c:idx val="2"/>
            <c:invertIfNegative val="1"/>
            <c:bubble3D val="0"/>
            <c:spPr>
              <a:solidFill>
                <a:srgbClr val="000000"/>
              </a:solidFill>
            </c:spPr>
            <c:extLst>
              <c:ext xmlns:c16="http://schemas.microsoft.com/office/drawing/2014/chart" uri="{C3380CC4-5D6E-409C-BE32-E72D297353CC}">
                <c16:uniqueId val="{00000005-20ED-4B97-8E6B-74497B686389}"/>
              </c:ext>
            </c:extLst>
          </c:dPt>
          <c:dPt>
            <c:idx val="3"/>
            <c:invertIfNegative val="1"/>
            <c:bubble3D val="0"/>
            <c:spPr>
              <a:solidFill>
                <a:srgbClr val="000000"/>
              </a:solidFill>
            </c:spPr>
            <c:extLst>
              <c:ext xmlns:c16="http://schemas.microsoft.com/office/drawing/2014/chart" uri="{C3380CC4-5D6E-409C-BE32-E72D297353CC}">
                <c16:uniqueId val="{00000007-20ED-4B97-8E6B-74497B686389}"/>
              </c:ext>
            </c:extLst>
          </c:dPt>
          <c:dPt>
            <c:idx val="4"/>
            <c:invertIfNegative val="1"/>
            <c:bubble3D val="0"/>
            <c:spPr>
              <a:solidFill>
                <a:srgbClr val="000000"/>
              </a:solidFill>
            </c:spPr>
            <c:extLst>
              <c:ext xmlns:c16="http://schemas.microsoft.com/office/drawing/2014/chart" uri="{C3380CC4-5D6E-409C-BE32-E72D297353CC}">
                <c16:uniqueId val="{00000009-20ED-4B97-8E6B-74497B686389}"/>
              </c:ext>
            </c:extLst>
          </c:dPt>
          <c:dPt>
            <c:idx val="5"/>
            <c:invertIfNegative val="1"/>
            <c:bubble3D val="0"/>
            <c:spPr>
              <a:solidFill>
                <a:srgbClr val="000000"/>
              </a:solidFill>
            </c:spPr>
            <c:extLst>
              <c:ext xmlns:c16="http://schemas.microsoft.com/office/drawing/2014/chart" uri="{C3380CC4-5D6E-409C-BE32-E72D297353CC}">
                <c16:uniqueId val="{0000000B-20ED-4B97-8E6B-74497B686389}"/>
              </c:ext>
            </c:extLst>
          </c:dPt>
          <c:dPt>
            <c:idx val="6"/>
            <c:invertIfNegative val="1"/>
            <c:bubble3D val="0"/>
            <c:spPr>
              <a:solidFill>
                <a:srgbClr val="000000"/>
              </a:solidFill>
            </c:spPr>
            <c:extLst>
              <c:ext xmlns:c16="http://schemas.microsoft.com/office/drawing/2014/chart" uri="{C3380CC4-5D6E-409C-BE32-E72D297353CC}">
                <c16:uniqueId val="{0000000D-20ED-4B97-8E6B-74497B686389}"/>
              </c:ext>
            </c:extLst>
          </c:dPt>
          <c:dPt>
            <c:idx val="7"/>
            <c:invertIfNegative val="1"/>
            <c:bubble3D val="0"/>
            <c:spPr>
              <a:solidFill>
                <a:srgbClr val="000000"/>
              </a:solidFill>
            </c:spPr>
            <c:extLst>
              <c:ext xmlns:c16="http://schemas.microsoft.com/office/drawing/2014/chart" uri="{C3380CC4-5D6E-409C-BE32-E72D297353CC}">
                <c16:uniqueId val="{0000000F-20ED-4B97-8E6B-74497B686389}"/>
              </c:ext>
            </c:extLst>
          </c:dPt>
          <c:dPt>
            <c:idx val="8"/>
            <c:invertIfNegative val="1"/>
            <c:bubble3D val="0"/>
            <c:spPr>
              <a:solidFill>
                <a:srgbClr val="000000"/>
              </a:solidFill>
            </c:spPr>
            <c:extLst>
              <c:ext xmlns:c16="http://schemas.microsoft.com/office/drawing/2014/chart" uri="{C3380CC4-5D6E-409C-BE32-E72D297353CC}">
                <c16:uniqueId val="{00000011-20ED-4B97-8E6B-74497B686389}"/>
              </c:ext>
            </c:extLst>
          </c:dPt>
          <c:dPt>
            <c:idx val="9"/>
            <c:invertIfNegative val="1"/>
            <c:bubble3D val="0"/>
            <c:spPr>
              <a:solidFill>
                <a:srgbClr val="000000"/>
              </a:solidFill>
            </c:spPr>
            <c:extLst>
              <c:ext xmlns:c16="http://schemas.microsoft.com/office/drawing/2014/chart" uri="{C3380CC4-5D6E-409C-BE32-E72D297353CC}">
                <c16:uniqueId val="{00000013-20ED-4B97-8E6B-74497B686389}"/>
              </c:ext>
            </c:extLst>
          </c:dPt>
          <c:dPt>
            <c:idx val="10"/>
            <c:invertIfNegative val="1"/>
            <c:bubble3D val="0"/>
            <c:spPr>
              <a:solidFill>
                <a:srgbClr val="000000"/>
              </a:solidFill>
            </c:spPr>
            <c:extLst>
              <c:ext xmlns:c16="http://schemas.microsoft.com/office/drawing/2014/chart" uri="{C3380CC4-5D6E-409C-BE32-E72D297353CC}">
                <c16:uniqueId val="{00000015-20ED-4B97-8E6B-74497B686389}"/>
              </c:ext>
            </c:extLst>
          </c:dPt>
          <c:dPt>
            <c:idx val="11"/>
            <c:invertIfNegative val="1"/>
            <c:bubble3D val="0"/>
            <c:spPr>
              <a:solidFill>
                <a:srgbClr val="000000"/>
              </a:solidFill>
            </c:spPr>
            <c:extLst>
              <c:ext xmlns:c16="http://schemas.microsoft.com/office/drawing/2014/chart" uri="{C3380CC4-5D6E-409C-BE32-E72D297353CC}">
                <c16:uniqueId val="{00000017-20ED-4B97-8E6B-74497B686389}"/>
              </c:ext>
            </c:extLst>
          </c:dPt>
          <c:dPt>
            <c:idx val="12"/>
            <c:invertIfNegative val="1"/>
            <c:bubble3D val="0"/>
            <c:spPr>
              <a:solidFill>
                <a:srgbClr val="000000"/>
              </a:solidFill>
            </c:spPr>
            <c:extLst>
              <c:ext xmlns:c16="http://schemas.microsoft.com/office/drawing/2014/chart" uri="{C3380CC4-5D6E-409C-BE32-E72D297353CC}">
                <c16:uniqueId val="{00000019-20ED-4B97-8E6B-74497B686389}"/>
              </c:ext>
            </c:extLst>
          </c:dPt>
          <c:dPt>
            <c:idx val="13"/>
            <c:invertIfNegative val="1"/>
            <c:bubble3D val="0"/>
            <c:spPr>
              <a:solidFill>
                <a:srgbClr val="000000"/>
              </a:solidFill>
            </c:spPr>
            <c:extLst>
              <c:ext xmlns:c16="http://schemas.microsoft.com/office/drawing/2014/chart" uri="{C3380CC4-5D6E-409C-BE32-E72D297353CC}">
                <c16:uniqueId val="{0000001B-20ED-4B97-8E6B-74497B686389}"/>
              </c:ext>
            </c:extLst>
          </c:dPt>
          <c:dPt>
            <c:idx val="14"/>
            <c:invertIfNegative val="1"/>
            <c:bubble3D val="0"/>
            <c:spPr>
              <a:solidFill>
                <a:srgbClr val="B8BBBD"/>
              </a:solidFill>
            </c:spPr>
            <c:extLst>
              <c:ext xmlns:c16="http://schemas.microsoft.com/office/drawing/2014/chart" uri="{C3380CC4-5D6E-409C-BE32-E72D297353CC}">
                <c16:uniqueId val="{0000001D-20ED-4B97-8E6B-74497B686389}"/>
              </c:ext>
            </c:extLst>
          </c:dPt>
          <c:dPt>
            <c:idx val="15"/>
            <c:invertIfNegative val="1"/>
            <c:bubble3D val="0"/>
            <c:spPr>
              <a:solidFill>
                <a:srgbClr val="000000"/>
              </a:solidFill>
            </c:spPr>
            <c:extLst>
              <c:ext xmlns:c16="http://schemas.microsoft.com/office/drawing/2014/chart" uri="{C3380CC4-5D6E-409C-BE32-E72D297353CC}">
                <c16:uniqueId val="{0000001F-20ED-4B97-8E6B-74497B686389}"/>
              </c:ext>
            </c:extLst>
          </c:dPt>
          <c:dPt>
            <c:idx val="16"/>
            <c:invertIfNegative val="1"/>
            <c:bubble3D val="0"/>
            <c:spPr>
              <a:solidFill>
                <a:srgbClr val="000000"/>
              </a:solidFill>
            </c:spPr>
            <c:extLst>
              <c:ext xmlns:c16="http://schemas.microsoft.com/office/drawing/2014/chart" uri="{C3380CC4-5D6E-409C-BE32-E72D297353CC}">
                <c16:uniqueId val="{00000021-20ED-4B97-8E6B-74497B686389}"/>
              </c:ext>
            </c:extLst>
          </c:dPt>
          <c:dPt>
            <c:idx val="17"/>
            <c:invertIfNegative val="1"/>
            <c:bubble3D val="0"/>
            <c:spPr>
              <a:solidFill>
                <a:srgbClr val="000000"/>
              </a:solidFill>
            </c:spPr>
            <c:extLst>
              <c:ext xmlns:c16="http://schemas.microsoft.com/office/drawing/2014/chart" uri="{C3380CC4-5D6E-409C-BE32-E72D297353CC}">
                <c16:uniqueId val="{00000023-20ED-4B97-8E6B-74497B686389}"/>
              </c:ext>
            </c:extLst>
          </c:dPt>
          <c:dPt>
            <c:idx val="18"/>
            <c:invertIfNegative val="1"/>
            <c:bubble3D val="0"/>
            <c:spPr>
              <a:solidFill>
                <a:srgbClr val="000000"/>
              </a:solidFill>
            </c:spPr>
            <c:extLst>
              <c:ext xmlns:c16="http://schemas.microsoft.com/office/drawing/2014/chart" uri="{C3380CC4-5D6E-409C-BE32-E72D297353CC}">
                <c16:uniqueId val="{00000025-20ED-4B97-8E6B-74497B686389}"/>
              </c:ext>
            </c:extLst>
          </c:dPt>
          <c:dPt>
            <c:idx val="19"/>
            <c:invertIfNegative val="1"/>
            <c:bubble3D val="0"/>
            <c:spPr>
              <a:solidFill>
                <a:srgbClr val="000000"/>
              </a:solidFill>
            </c:spPr>
            <c:extLst>
              <c:ext xmlns:c16="http://schemas.microsoft.com/office/drawing/2014/chart" uri="{C3380CC4-5D6E-409C-BE32-E72D297353CC}">
                <c16:uniqueId val="{00000027-20ED-4B97-8E6B-74497B686389}"/>
              </c:ext>
            </c:extLst>
          </c:dPt>
          <c:dPt>
            <c:idx val="20"/>
            <c:invertIfNegative val="1"/>
            <c:bubble3D val="0"/>
            <c:spPr>
              <a:solidFill>
                <a:srgbClr val="000000"/>
              </a:solidFill>
            </c:spPr>
            <c:extLst>
              <c:ext xmlns:c16="http://schemas.microsoft.com/office/drawing/2014/chart" uri="{C3380CC4-5D6E-409C-BE32-E72D297353CC}">
                <c16:uniqueId val="{00000029-20ED-4B97-8E6B-74497B686389}"/>
              </c:ext>
            </c:extLst>
          </c:dPt>
          <c:dPt>
            <c:idx val="21"/>
            <c:invertIfNegative val="1"/>
            <c:bubble3D val="0"/>
            <c:spPr>
              <a:solidFill>
                <a:srgbClr val="B8BBBD"/>
              </a:solidFill>
            </c:spPr>
            <c:extLst>
              <c:ext xmlns:c16="http://schemas.microsoft.com/office/drawing/2014/chart" uri="{C3380CC4-5D6E-409C-BE32-E72D297353CC}">
                <c16:uniqueId val="{0000002B-20ED-4B97-8E6B-74497B686389}"/>
              </c:ext>
            </c:extLst>
          </c:dPt>
          <c:dPt>
            <c:idx val="22"/>
            <c:invertIfNegative val="1"/>
            <c:bubble3D val="0"/>
            <c:spPr>
              <a:solidFill>
                <a:srgbClr val="B8BBBD"/>
              </a:solidFill>
            </c:spPr>
            <c:extLst>
              <c:ext xmlns:c16="http://schemas.microsoft.com/office/drawing/2014/chart" uri="{C3380CC4-5D6E-409C-BE32-E72D297353CC}">
                <c16:uniqueId val="{0000002D-20ED-4B97-8E6B-74497B686389}"/>
              </c:ext>
            </c:extLst>
          </c:dPt>
          <c:dPt>
            <c:idx val="23"/>
            <c:invertIfNegative val="1"/>
            <c:bubble3D val="0"/>
            <c:spPr>
              <a:solidFill>
                <a:srgbClr val="B8BBBD"/>
              </a:solidFill>
            </c:spPr>
            <c:extLst>
              <c:ext xmlns:c16="http://schemas.microsoft.com/office/drawing/2014/chart" uri="{C3380CC4-5D6E-409C-BE32-E72D297353CC}">
                <c16:uniqueId val="{0000002F-20ED-4B97-8E6B-74497B686389}"/>
              </c:ext>
            </c:extLst>
          </c:dPt>
          <c:dPt>
            <c:idx val="24"/>
            <c:invertIfNegative val="1"/>
            <c:bubble3D val="0"/>
            <c:spPr>
              <a:solidFill>
                <a:srgbClr val="000000"/>
              </a:solidFill>
            </c:spPr>
            <c:extLst>
              <c:ext xmlns:c16="http://schemas.microsoft.com/office/drawing/2014/chart" uri="{C3380CC4-5D6E-409C-BE32-E72D297353CC}">
                <c16:uniqueId val="{00000031-20ED-4B97-8E6B-74497B686389}"/>
              </c:ext>
            </c:extLst>
          </c:dPt>
          <c:dPt>
            <c:idx val="25"/>
            <c:invertIfNegative val="1"/>
            <c:bubble3D val="0"/>
            <c:spPr>
              <a:solidFill>
                <a:srgbClr val="B8BBBD"/>
              </a:solidFill>
            </c:spPr>
            <c:extLst>
              <c:ext xmlns:c16="http://schemas.microsoft.com/office/drawing/2014/chart" uri="{C3380CC4-5D6E-409C-BE32-E72D297353CC}">
                <c16:uniqueId val="{00000033-20ED-4B97-8E6B-74497B686389}"/>
              </c:ext>
            </c:extLst>
          </c:dPt>
          <c:dPt>
            <c:idx val="26"/>
            <c:invertIfNegative val="1"/>
            <c:bubble3D val="0"/>
            <c:spPr>
              <a:solidFill>
                <a:srgbClr val="000000"/>
              </a:solidFill>
            </c:spPr>
            <c:extLst>
              <c:ext xmlns:c16="http://schemas.microsoft.com/office/drawing/2014/chart" uri="{C3380CC4-5D6E-409C-BE32-E72D297353CC}">
                <c16:uniqueId val="{00000035-20ED-4B97-8E6B-74497B686389}"/>
              </c:ext>
            </c:extLst>
          </c:dPt>
          <c:dPt>
            <c:idx val="27"/>
            <c:invertIfNegative val="1"/>
            <c:bubble3D val="0"/>
            <c:spPr>
              <a:solidFill>
                <a:srgbClr val="000000"/>
              </a:solidFill>
            </c:spPr>
            <c:extLst>
              <c:ext xmlns:c16="http://schemas.microsoft.com/office/drawing/2014/chart" uri="{C3380CC4-5D6E-409C-BE32-E72D297353CC}">
                <c16:uniqueId val="{00000037-20ED-4B97-8E6B-74497B686389}"/>
              </c:ext>
            </c:extLst>
          </c:dPt>
          <c:dPt>
            <c:idx val="28"/>
            <c:invertIfNegative val="1"/>
            <c:bubble3D val="0"/>
            <c:spPr>
              <a:solidFill>
                <a:srgbClr val="000000"/>
              </a:solidFill>
            </c:spPr>
            <c:extLst>
              <c:ext xmlns:c16="http://schemas.microsoft.com/office/drawing/2014/chart" uri="{C3380CC4-5D6E-409C-BE32-E72D297353CC}">
                <c16:uniqueId val="{00000039-20ED-4B97-8E6B-74497B686389}"/>
              </c:ext>
            </c:extLst>
          </c:dPt>
          <c:dPt>
            <c:idx val="29"/>
            <c:invertIfNegative val="1"/>
            <c:bubble3D val="0"/>
            <c:spPr>
              <a:solidFill>
                <a:srgbClr val="000000"/>
              </a:solidFill>
            </c:spPr>
            <c:extLst>
              <c:ext xmlns:c16="http://schemas.microsoft.com/office/drawing/2014/chart" uri="{C3380CC4-5D6E-409C-BE32-E72D297353CC}">
                <c16:uniqueId val="{0000003B-20ED-4B97-8E6B-74497B686389}"/>
              </c:ext>
            </c:extLst>
          </c:dPt>
          <c:dPt>
            <c:idx val="30"/>
            <c:invertIfNegative val="1"/>
            <c:bubble3D val="0"/>
            <c:spPr>
              <a:solidFill>
                <a:srgbClr val="000000"/>
              </a:solidFill>
            </c:spPr>
            <c:extLst>
              <c:ext xmlns:c16="http://schemas.microsoft.com/office/drawing/2014/chart" uri="{C3380CC4-5D6E-409C-BE32-E72D297353CC}">
                <c16:uniqueId val="{0000003D-20ED-4B97-8E6B-74497B686389}"/>
              </c:ext>
            </c:extLst>
          </c:dPt>
          <c:dPt>
            <c:idx val="31"/>
            <c:invertIfNegative val="1"/>
            <c:bubble3D val="0"/>
            <c:spPr>
              <a:solidFill>
                <a:srgbClr val="000000"/>
              </a:solidFill>
            </c:spPr>
            <c:extLst>
              <c:ext xmlns:c16="http://schemas.microsoft.com/office/drawing/2014/chart" uri="{C3380CC4-5D6E-409C-BE32-E72D297353CC}">
                <c16:uniqueId val="{0000003F-20ED-4B97-8E6B-74497B686389}"/>
              </c:ext>
            </c:extLst>
          </c:dPt>
          <c:dPt>
            <c:idx val="32"/>
            <c:invertIfNegative val="1"/>
            <c:bubble3D val="0"/>
            <c:spPr>
              <a:solidFill>
                <a:srgbClr val="C8102E"/>
              </a:solidFill>
            </c:spPr>
            <c:extLst>
              <c:ext xmlns:c16="http://schemas.microsoft.com/office/drawing/2014/chart" uri="{C3380CC4-5D6E-409C-BE32-E72D297353CC}">
                <c16:uniqueId val="{00000041-20ED-4B97-8E6B-74497B686389}"/>
              </c:ext>
            </c:extLst>
          </c:dPt>
          <c:dPt>
            <c:idx val="33"/>
            <c:invertIfNegative val="1"/>
            <c:bubble3D val="0"/>
            <c:spPr>
              <a:solidFill>
                <a:srgbClr val="B8BBBD"/>
              </a:solidFill>
            </c:spPr>
            <c:extLst>
              <c:ext xmlns:c16="http://schemas.microsoft.com/office/drawing/2014/chart" uri="{C3380CC4-5D6E-409C-BE32-E72D297353CC}">
                <c16:uniqueId val="{00000043-20ED-4B97-8E6B-74497B686389}"/>
              </c:ext>
            </c:extLst>
          </c:dPt>
          <c:dPt>
            <c:idx val="34"/>
            <c:invertIfNegative val="1"/>
            <c:bubble3D val="0"/>
            <c:spPr>
              <a:solidFill>
                <a:srgbClr val="000000"/>
              </a:solidFill>
            </c:spPr>
            <c:extLst>
              <c:ext xmlns:c16="http://schemas.microsoft.com/office/drawing/2014/chart" uri="{C3380CC4-5D6E-409C-BE32-E72D297353CC}">
                <c16:uniqueId val="{00000045-20ED-4B97-8E6B-74497B686389}"/>
              </c:ext>
            </c:extLst>
          </c:dPt>
          <c:dPt>
            <c:idx val="35"/>
            <c:invertIfNegative val="1"/>
            <c:bubble3D val="0"/>
            <c:spPr>
              <a:solidFill>
                <a:srgbClr val="B8BBBD"/>
              </a:solidFill>
            </c:spPr>
            <c:extLst>
              <c:ext xmlns:c16="http://schemas.microsoft.com/office/drawing/2014/chart" uri="{C3380CC4-5D6E-409C-BE32-E72D297353CC}">
                <c16:uniqueId val="{00000047-20ED-4B97-8E6B-74497B686389}"/>
              </c:ext>
            </c:extLst>
          </c:dPt>
          <c:dPt>
            <c:idx val="36"/>
            <c:invertIfNegative val="1"/>
            <c:bubble3D val="0"/>
            <c:spPr>
              <a:solidFill>
                <a:srgbClr val="B8BBBD"/>
              </a:solidFill>
            </c:spPr>
            <c:extLst>
              <c:ext xmlns:c16="http://schemas.microsoft.com/office/drawing/2014/chart" uri="{C3380CC4-5D6E-409C-BE32-E72D297353CC}">
                <c16:uniqueId val="{00000049-20ED-4B97-8E6B-74497B686389}"/>
              </c:ext>
            </c:extLst>
          </c:dPt>
          <c:dPt>
            <c:idx val="37"/>
            <c:invertIfNegative val="1"/>
            <c:bubble3D val="0"/>
            <c:spPr>
              <a:solidFill>
                <a:srgbClr val="000000"/>
              </a:solidFill>
            </c:spPr>
            <c:extLst>
              <c:ext xmlns:c16="http://schemas.microsoft.com/office/drawing/2014/chart" uri="{C3380CC4-5D6E-409C-BE32-E72D297353CC}">
                <c16:uniqueId val="{0000004B-20ED-4B97-8E6B-74497B686389}"/>
              </c:ext>
            </c:extLst>
          </c:dPt>
          <c:dPt>
            <c:idx val="38"/>
            <c:invertIfNegative val="1"/>
            <c:bubble3D val="0"/>
            <c:spPr>
              <a:solidFill>
                <a:srgbClr val="B8BBBD"/>
              </a:solidFill>
            </c:spPr>
            <c:extLst>
              <c:ext xmlns:c16="http://schemas.microsoft.com/office/drawing/2014/chart" uri="{C3380CC4-5D6E-409C-BE32-E72D297353CC}">
                <c16:uniqueId val="{0000004D-20ED-4B97-8E6B-74497B686389}"/>
              </c:ext>
            </c:extLst>
          </c:dPt>
          <c:dPt>
            <c:idx val="39"/>
            <c:invertIfNegative val="1"/>
            <c:bubble3D val="0"/>
            <c:spPr>
              <a:solidFill>
                <a:srgbClr val="000000"/>
              </a:solidFill>
            </c:spPr>
            <c:extLst>
              <c:ext xmlns:c16="http://schemas.microsoft.com/office/drawing/2014/chart" uri="{C3380CC4-5D6E-409C-BE32-E72D297353CC}">
                <c16:uniqueId val="{0000004F-20ED-4B97-8E6B-74497B686389}"/>
              </c:ext>
            </c:extLst>
          </c:dPt>
          <c:dPt>
            <c:idx val="40"/>
            <c:invertIfNegative val="1"/>
            <c:bubble3D val="0"/>
            <c:spPr>
              <a:solidFill>
                <a:srgbClr val="000000"/>
              </a:solidFill>
            </c:spPr>
            <c:extLst>
              <c:ext xmlns:c16="http://schemas.microsoft.com/office/drawing/2014/chart" uri="{C3380CC4-5D6E-409C-BE32-E72D297353CC}">
                <c16:uniqueId val="{00000051-20ED-4B97-8E6B-74497B686389}"/>
              </c:ext>
            </c:extLst>
          </c:dPt>
          <c:dPt>
            <c:idx val="41"/>
            <c:invertIfNegative val="1"/>
            <c:bubble3D val="0"/>
            <c:spPr>
              <a:solidFill>
                <a:srgbClr val="B8BBBD"/>
              </a:solidFill>
            </c:spPr>
            <c:extLst>
              <c:ext xmlns:c16="http://schemas.microsoft.com/office/drawing/2014/chart" uri="{C3380CC4-5D6E-409C-BE32-E72D297353CC}">
                <c16:uniqueId val="{00000053-20ED-4B97-8E6B-74497B686389}"/>
              </c:ext>
            </c:extLst>
          </c:dPt>
          <c:dPt>
            <c:idx val="42"/>
            <c:invertIfNegative val="1"/>
            <c:bubble3D val="0"/>
            <c:spPr>
              <a:solidFill>
                <a:srgbClr val="B8BBBD"/>
              </a:solidFill>
            </c:spPr>
            <c:extLst>
              <c:ext xmlns:c16="http://schemas.microsoft.com/office/drawing/2014/chart" uri="{C3380CC4-5D6E-409C-BE32-E72D297353CC}">
                <c16:uniqueId val="{00000055-20ED-4B97-8E6B-74497B686389}"/>
              </c:ext>
            </c:extLst>
          </c:dPt>
          <c:dPt>
            <c:idx val="43"/>
            <c:invertIfNegative val="1"/>
            <c:bubble3D val="0"/>
            <c:spPr>
              <a:solidFill>
                <a:srgbClr val="000000"/>
              </a:solidFill>
            </c:spPr>
            <c:extLst>
              <c:ext xmlns:c16="http://schemas.microsoft.com/office/drawing/2014/chart" uri="{C3380CC4-5D6E-409C-BE32-E72D297353CC}">
                <c16:uniqueId val="{00000057-20ED-4B97-8E6B-74497B686389}"/>
              </c:ext>
            </c:extLst>
          </c:dPt>
          <c:dPt>
            <c:idx val="44"/>
            <c:invertIfNegative val="1"/>
            <c:bubble3D val="0"/>
            <c:spPr>
              <a:solidFill>
                <a:srgbClr val="B8BBBD"/>
              </a:solidFill>
            </c:spPr>
            <c:extLst>
              <c:ext xmlns:c16="http://schemas.microsoft.com/office/drawing/2014/chart" uri="{C3380CC4-5D6E-409C-BE32-E72D297353CC}">
                <c16:uniqueId val="{00000059-20ED-4B97-8E6B-74497B686389}"/>
              </c:ext>
            </c:extLst>
          </c:dPt>
          <c:dPt>
            <c:idx val="45"/>
            <c:invertIfNegative val="1"/>
            <c:bubble3D val="0"/>
            <c:spPr>
              <a:solidFill>
                <a:srgbClr val="B8BBBD"/>
              </a:solidFill>
            </c:spPr>
            <c:extLst>
              <c:ext xmlns:c16="http://schemas.microsoft.com/office/drawing/2014/chart" uri="{C3380CC4-5D6E-409C-BE32-E72D297353CC}">
                <c16:uniqueId val="{0000005B-20ED-4B97-8E6B-74497B686389}"/>
              </c:ext>
            </c:extLst>
          </c:dPt>
          <c:dPt>
            <c:idx val="46"/>
            <c:invertIfNegative val="1"/>
            <c:bubble3D val="0"/>
            <c:spPr>
              <a:solidFill>
                <a:srgbClr val="000000"/>
              </a:solidFill>
            </c:spPr>
            <c:extLst>
              <c:ext xmlns:c16="http://schemas.microsoft.com/office/drawing/2014/chart" uri="{C3380CC4-5D6E-409C-BE32-E72D297353CC}">
                <c16:uniqueId val="{0000005D-20ED-4B97-8E6B-74497B686389}"/>
              </c:ext>
            </c:extLst>
          </c:dPt>
          <c:dPt>
            <c:idx val="47"/>
            <c:invertIfNegative val="1"/>
            <c:bubble3D val="0"/>
            <c:spPr>
              <a:solidFill>
                <a:srgbClr val="B8BBBD"/>
              </a:solidFill>
            </c:spPr>
            <c:extLst>
              <c:ext xmlns:c16="http://schemas.microsoft.com/office/drawing/2014/chart" uri="{C3380CC4-5D6E-409C-BE32-E72D297353CC}">
                <c16:uniqueId val="{0000005F-20ED-4B97-8E6B-74497B686389}"/>
              </c:ext>
            </c:extLst>
          </c:dPt>
          <c:dPt>
            <c:idx val="48"/>
            <c:invertIfNegative val="1"/>
            <c:bubble3D val="0"/>
            <c:spPr>
              <a:solidFill>
                <a:srgbClr val="B8BBBD"/>
              </a:solidFill>
            </c:spPr>
            <c:extLst>
              <c:ext xmlns:c16="http://schemas.microsoft.com/office/drawing/2014/chart" uri="{C3380CC4-5D6E-409C-BE32-E72D297353CC}">
                <c16:uniqueId val="{00000061-20ED-4B97-8E6B-74497B686389}"/>
              </c:ext>
            </c:extLst>
          </c:dPt>
          <c:dPt>
            <c:idx val="49"/>
            <c:invertIfNegative val="1"/>
            <c:bubble3D val="0"/>
            <c:spPr>
              <a:solidFill>
                <a:srgbClr val="B8BBBD"/>
              </a:solidFill>
            </c:spPr>
            <c:extLst>
              <c:ext xmlns:c16="http://schemas.microsoft.com/office/drawing/2014/chart" uri="{C3380CC4-5D6E-409C-BE32-E72D297353CC}">
                <c16:uniqueId val="{00000063-20ED-4B97-8E6B-74497B686389}"/>
              </c:ext>
            </c:extLst>
          </c:dPt>
          <c:cat>
            <c:strRef>
              <c:f>Sheet1!$A$2:$A$51</c:f>
              <c:strCache>
                <c:ptCount val="50"/>
                <c:pt idx="0">
                  <c:v>Johns Hopkins U.</c:v>
                </c:pt>
                <c:pt idx="1">
                  <c:v>U. Pennsylvania</c:v>
                </c:pt>
                <c:pt idx="2">
                  <c:v>Stanford U.</c:v>
                </c:pt>
                <c:pt idx="3">
                  <c:v>Cornell U.</c:v>
                </c:pt>
                <c:pt idx="4">
                  <c:v>Duke U.</c:v>
                </c:pt>
                <c:pt idx="5">
                  <c:v>Yale U.</c:v>
                </c:pt>
                <c:pt idx="6">
                  <c:v>New York U.</c:v>
                </c:pt>
                <c:pt idx="7">
                  <c:v>Harvard U.</c:v>
                </c:pt>
                <c:pt idx="8">
                  <c:v>Columbia U.</c:v>
                </c:pt>
                <c:pt idx="9">
                  <c:v>Vanderbilt U.</c:v>
                </c:pt>
                <c:pt idx="10">
                  <c:v>U. Southern California</c:v>
                </c:pt>
                <c:pt idx="11">
                  <c:v>Northwestern U.</c:v>
                </c:pt>
                <c:pt idx="12">
                  <c:v>Emory U.</c:v>
                </c:pt>
                <c:pt idx="13">
                  <c:v>Washington U. St. Louis</c:v>
                </c:pt>
                <c:pt idx="14">
                  <c:v>MIT</c:v>
                </c:pt>
                <c:pt idx="15">
                  <c:v>Icahn Mount Sinai</c:v>
                </c:pt>
                <c:pt idx="16">
                  <c:v>Baylor C. of Medicine</c:v>
                </c:pt>
                <c:pt idx="17">
                  <c:v>Boston U.</c:v>
                </c:pt>
                <c:pt idx="18">
                  <c:v>U. Chicago</c:v>
                </c:pt>
                <c:pt idx="19">
                  <c:v>Case Western Reserve U.</c:v>
                </c:pt>
                <c:pt idx="20">
                  <c:v>U. Miami</c:v>
                </c:pt>
                <c:pt idx="21">
                  <c:v>Princeton U.</c:v>
                </c:pt>
                <c:pt idx="22">
                  <c:v>Carnegie Mellon U.</c:v>
                </c:pt>
                <c:pt idx="23">
                  <c:v>Scripps Research</c:v>
                </c:pt>
                <c:pt idx="24">
                  <c:v>U. Rochester</c:v>
                </c:pt>
                <c:pt idx="25">
                  <c:v>Caltech</c:v>
                </c:pt>
                <c:pt idx="26">
                  <c:v>Dartmouth</c:v>
                </c:pt>
                <c:pt idx="27">
                  <c:v>George Washington U.</c:v>
                </c:pt>
                <c:pt idx="28">
                  <c:v>Georgetown U.</c:v>
                </c:pt>
                <c:pt idx="29">
                  <c:v>Brown U.</c:v>
                </c:pt>
                <c:pt idx="30">
                  <c:v>Albert Einstein C. Med.</c:v>
                </c:pt>
                <c:pt idx="31">
                  <c:v>Medical C. Wisconsin</c:v>
                </c:pt>
                <c:pt idx="32">
                  <c:v>Northeastern U.</c:v>
                </c:pt>
                <c:pt idx="33">
                  <c:v>U. Notre Dame</c:v>
                </c:pt>
                <c:pt idx="34">
                  <c:v>Wake Forest U.</c:v>
                </c:pt>
                <c:pt idx="35">
                  <c:v>Woods Hole</c:v>
                </c:pt>
                <c:pt idx="36">
                  <c:v>Rockefeller U.</c:v>
                </c:pt>
                <c:pt idx="37">
                  <c:v>Tufts U.</c:v>
                </c:pt>
                <c:pt idx="38">
                  <c:v>Rice U.</c:v>
                </c:pt>
                <c:pt idx="39">
                  <c:v>Tulane U.</c:v>
                </c:pt>
                <c:pt idx="40">
                  <c:v>Thomas Jefferson U.</c:v>
                </c:pt>
                <c:pt idx="41">
                  <c:v>U. Dayton</c:v>
                </c:pt>
                <c:pt idx="42">
                  <c:v>Syracuse U.</c:v>
                </c:pt>
                <c:pt idx="43">
                  <c:v>Drexel U.</c:v>
                </c:pt>
                <c:pt idx="44">
                  <c:v>Brigham Young U.</c:v>
                </c:pt>
                <c:pt idx="45">
                  <c:v>Rensselaer Polytechnic</c:v>
                </c:pt>
                <c:pt idx="46">
                  <c:v>Rush U.</c:v>
                </c:pt>
                <c:pt idx="47">
                  <c:v>Baylor U.</c:v>
                </c:pt>
                <c:pt idx="48">
                  <c:v>Cold Spring Harbor Lab</c:v>
                </c:pt>
                <c:pt idx="49">
                  <c:v>Brandeis U.</c:v>
                </c:pt>
              </c:strCache>
            </c:strRef>
          </c:cat>
          <c:val>
            <c:numRef>
              <c:f>Sheet1!$B$2:$B$51</c:f>
              <c:numCache>
                <c:formatCode>General</c:formatCode>
                <c:ptCount val="50"/>
                <c:pt idx="0">
                  <c:v>4.129264</c:v>
                </c:pt>
                <c:pt idx="1">
                  <c:v>2.1675040000000001</c:v>
                </c:pt>
                <c:pt idx="2">
                  <c:v>1.641961</c:v>
                </c:pt>
                <c:pt idx="3">
                  <c:v>1.613631</c:v>
                </c:pt>
                <c:pt idx="4">
                  <c:v>1.580756</c:v>
                </c:pt>
                <c:pt idx="5">
                  <c:v>1.5196940000000001</c:v>
                </c:pt>
                <c:pt idx="6">
                  <c:v>1.500732</c:v>
                </c:pt>
                <c:pt idx="7">
                  <c:v>1.4945269999999999</c:v>
                </c:pt>
                <c:pt idx="8">
                  <c:v>1.449535</c:v>
                </c:pt>
                <c:pt idx="9">
                  <c:v>1.3278700000000001</c:v>
                </c:pt>
                <c:pt idx="10">
                  <c:v>1.264197</c:v>
                </c:pt>
                <c:pt idx="11">
                  <c:v>1.2578590000000001</c:v>
                </c:pt>
                <c:pt idx="12">
                  <c:v>1.246507</c:v>
                </c:pt>
                <c:pt idx="13">
                  <c:v>1.243115</c:v>
                </c:pt>
                <c:pt idx="14">
                  <c:v>1.0655539999999999</c:v>
                </c:pt>
                <c:pt idx="15">
                  <c:v>1.0156000000000001</c:v>
                </c:pt>
                <c:pt idx="16">
                  <c:v>0.88122599999999995</c:v>
                </c:pt>
                <c:pt idx="17">
                  <c:v>0.78435500000000002</c:v>
                </c:pt>
                <c:pt idx="18">
                  <c:v>0.68075300000000005</c:v>
                </c:pt>
                <c:pt idx="19">
                  <c:v>0.64254599999999995</c:v>
                </c:pt>
                <c:pt idx="20">
                  <c:v>0.55901299999999998</c:v>
                </c:pt>
                <c:pt idx="21">
                  <c:v>0.55862400000000001</c:v>
                </c:pt>
                <c:pt idx="22">
                  <c:v>0.50526199999999999</c:v>
                </c:pt>
                <c:pt idx="23">
                  <c:v>0.50146800000000002</c:v>
                </c:pt>
                <c:pt idx="24">
                  <c:v>0.49237199999999998</c:v>
                </c:pt>
                <c:pt idx="25">
                  <c:v>0.44517299999999999</c:v>
                </c:pt>
                <c:pt idx="26">
                  <c:v>0.418429</c:v>
                </c:pt>
                <c:pt idx="27">
                  <c:v>0.38158199999999998</c:v>
                </c:pt>
                <c:pt idx="28">
                  <c:v>0.37659999999999999</c:v>
                </c:pt>
                <c:pt idx="29">
                  <c:v>0.374504</c:v>
                </c:pt>
                <c:pt idx="30">
                  <c:v>0.36078900000000003</c:v>
                </c:pt>
                <c:pt idx="31">
                  <c:v>0.36030899999999999</c:v>
                </c:pt>
                <c:pt idx="32">
                  <c:v>0.34689999999999999</c:v>
                </c:pt>
                <c:pt idx="33">
                  <c:v>0.34579100000000002</c:v>
                </c:pt>
                <c:pt idx="34">
                  <c:v>0.34451700000000002</c:v>
                </c:pt>
                <c:pt idx="35">
                  <c:v>0.30824000000000001</c:v>
                </c:pt>
                <c:pt idx="36">
                  <c:v>0.30530000000000002</c:v>
                </c:pt>
                <c:pt idx="37">
                  <c:v>0.278304</c:v>
                </c:pt>
                <c:pt idx="38">
                  <c:v>0.27768300000000001</c:v>
                </c:pt>
                <c:pt idx="39">
                  <c:v>0.27588499999999999</c:v>
                </c:pt>
                <c:pt idx="40">
                  <c:v>0.27119799999999999</c:v>
                </c:pt>
                <c:pt idx="41">
                  <c:v>0.25253700000000001</c:v>
                </c:pt>
                <c:pt idx="42">
                  <c:v>0.19875000000000001</c:v>
                </c:pt>
                <c:pt idx="43">
                  <c:v>0.170205</c:v>
                </c:pt>
                <c:pt idx="44">
                  <c:v>0.15831899999999999</c:v>
                </c:pt>
                <c:pt idx="45">
                  <c:v>0.14024700000000001</c:v>
                </c:pt>
                <c:pt idx="46">
                  <c:v>0.139295</c:v>
                </c:pt>
                <c:pt idx="47">
                  <c:v>0.134876</c:v>
                </c:pt>
                <c:pt idx="48">
                  <c:v>0.126502</c:v>
                </c:pt>
                <c:pt idx="49">
                  <c:v>0.107059</c:v>
                </c:pt>
              </c:numCache>
            </c:numRef>
          </c:val>
          <c:extLst>
            <c:ext xmlns:c16="http://schemas.microsoft.com/office/drawing/2014/chart" uri="{C3380CC4-5D6E-409C-BE32-E72D297353CC}">
              <c16:uniqueId val="{00000064-20ED-4B97-8E6B-74497B686389}"/>
            </c:ext>
          </c:extLst>
        </c:ser>
        <c:dLbls>
          <c:showLegendKey val="0"/>
          <c:showVal val="0"/>
          <c:showCatName val="0"/>
          <c:showSerName val="0"/>
          <c:showPercent val="0"/>
          <c:showBubbleSize val="0"/>
        </c:dLbls>
        <c:gapWidth val="30"/>
        <c:axId val="-2068027336"/>
        <c:axId val="-2113994440"/>
      </c:barChart>
      <c:catAx>
        <c:axId val="-2068027336"/>
        <c:scaling>
          <c:orientation val="minMax"/>
        </c:scaling>
        <c:delete val="0"/>
        <c:axPos val="b"/>
        <c:numFmt formatCode="General" sourceLinked="0"/>
        <c:majorTickMark val="none"/>
        <c:minorTickMark val="none"/>
        <c:tickLblPos val="nextTo"/>
        <c:spPr>
          <a:ln w="9525">
            <a:solidFill>
              <a:srgbClr val="8A8F98"/>
            </a:solidFill>
          </a:ln>
        </c:spPr>
        <c:txPr>
          <a:bodyPr rot="-54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4.5"/>
          <c:min val="0"/>
        </c:scaling>
        <c:delete val="0"/>
        <c:axPos val="l"/>
        <c:majorGridlines>
          <c:spPr>
            <a:ln w="9525">
              <a:solidFill>
                <a:srgbClr val="E4E4E6"/>
              </a:solidFill>
            </a:ln>
          </c:spPr>
        </c:majorGridlines>
        <c:numFmt formatCode="&quot;$&quot;0&quot;B&quot;"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1"/>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4"/>
          <c:w val="0.93500000000000005"/>
          <c:h val="0.6"/>
        </c:manualLayout>
      </c:layout>
      <c:barChart>
        <c:barDir val="col"/>
        <c:grouping val="clustered"/>
        <c:varyColors val="1"/>
        <c:ser>
          <c:idx val="0"/>
          <c:order val="0"/>
          <c:tx>
            <c:strRef>
              <c:f>Sheet1!$B$1</c:f>
              <c:strCache>
                <c:ptCount val="1"/>
                <c:pt idx="0">
                  <c:v>CAGR</c:v>
                </c:pt>
              </c:strCache>
            </c:strRef>
          </c:tx>
          <c:invertIfNegative val="1"/>
          <c:dPt>
            <c:idx val="0"/>
            <c:invertIfNegative val="1"/>
            <c:bubble3D val="0"/>
            <c:spPr>
              <a:solidFill>
                <a:srgbClr val="B8BBBD"/>
              </a:solidFill>
            </c:spPr>
            <c:extLst>
              <c:ext xmlns:c16="http://schemas.microsoft.com/office/drawing/2014/chart" uri="{C3380CC4-5D6E-409C-BE32-E72D297353CC}">
                <c16:uniqueId val="{00000001-B482-4CF7-ADF5-76B0777DF0E6}"/>
              </c:ext>
            </c:extLst>
          </c:dPt>
          <c:dPt>
            <c:idx val="1"/>
            <c:invertIfNegative val="1"/>
            <c:bubble3D val="0"/>
            <c:spPr>
              <a:solidFill>
                <a:srgbClr val="B8BBBD"/>
              </a:solidFill>
            </c:spPr>
            <c:extLst>
              <c:ext xmlns:c16="http://schemas.microsoft.com/office/drawing/2014/chart" uri="{C3380CC4-5D6E-409C-BE32-E72D297353CC}">
                <c16:uniqueId val="{00000003-B482-4CF7-ADF5-76B0777DF0E6}"/>
              </c:ext>
            </c:extLst>
          </c:dPt>
          <c:dPt>
            <c:idx val="2"/>
            <c:invertIfNegative val="1"/>
            <c:bubble3D val="0"/>
            <c:spPr>
              <a:solidFill>
                <a:srgbClr val="C8102E"/>
              </a:solidFill>
            </c:spPr>
            <c:extLst>
              <c:ext xmlns:c16="http://schemas.microsoft.com/office/drawing/2014/chart" uri="{C3380CC4-5D6E-409C-BE32-E72D297353CC}">
                <c16:uniqueId val="{00000005-B482-4CF7-ADF5-76B0777DF0E6}"/>
              </c:ext>
            </c:extLst>
          </c:dPt>
          <c:dPt>
            <c:idx val="3"/>
            <c:invertIfNegative val="1"/>
            <c:bubble3D val="0"/>
            <c:spPr>
              <a:solidFill>
                <a:srgbClr val="B8BBBD"/>
              </a:solidFill>
            </c:spPr>
            <c:extLst>
              <c:ext xmlns:c16="http://schemas.microsoft.com/office/drawing/2014/chart" uri="{C3380CC4-5D6E-409C-BE32-E72D297353CC}">
                <c16:uniqueId val="{00000007-B482-4CF7-ADF5-76B0777DF0E6}"/>
              </c:ext>
            </c:extLst>
          </c:dPt>
          <c:dPt>
            <c:idx val="4"/>
            <c:invertIfNegative val="1"/>
            <c:bubble3D val="0"/>
            <c:spPr>
              <a:solidFill>
                <a:srgbClr val="000000"/>
              </a:solidFill>
            </c:spPr>
            <c:extLst>
              <c:ext xmlns:c16="http://schemas.microsoft.com/office/drawing/2014/chart" uri="{C3380CC4-5D6E-409C-BE32-E72D297353CC}">
                <c16:uniqueId val="{00000009-B482-4CF7-ADF5-76B0777DF0E6}"/>
              </c:ext>
            </c:extLst>
          </c:dPt>
          <c:dPt>
            <c:idx val="5"/>
            <c:invertIfNegative val="1"/>
            <c:bubble3D val="0"/>
            <c:spPr>
              <a:solidFill>
                <a:srgbClr val="000000"/>
              </a:solidFill>
            </c:spPr>
            <c:extLst>
              <c:ext xmlns:c16="http://schemas.microsoft.com/office/drawing/2014/chart" uri="{C3380CC4-5D6E-409C-BE32-E72D297353CC}">
                <c16:uniqueId val="{0000000B-B482-4CF7-ADF5-76B0777DF0E6}"/>
              </c:ext>
            </c:extLst>
          </c:dPt>
          <c:dPt>
            <c:idx val="6"/>
            <c:invertIfNegative val="1"/>
            <c:bubble3D val="0"/>
            <c:spPr>
              <a:solidFill>
                <a:srgbClr val="000000"/>
              </a:solidFill>
            </c:spPr>
            <c:extLst>
              <c:ext xmlns:c16="http://schemas.microsoft.com/office/drawing/2014/chart" uri="{C3380CC4-5D6E-409C-BE32-E72D297353CC}">
                <c16:uniqueId val="{0000000D-B482-4CF7-ADF5-76B0777DF0E6}"/>
              </c:ext>
            </c:extLst>
          </c:dPt>
          <c:dPt>
            <c:idx val="7"/>
            <c:invertIfNegative val="1"/>
            <c:bubble3D val="0"/>
            <c:spPr>
              <a:solidFill>
                <a:srgbClr val="000000"/>
              </a:solidFill>
            </c:spPr>
            <c:extLst>
              <c:ext xmlns:c16="http://schemas.microsoft.com/office/drawing/2014/chart" uri="{C3380CC4-5D6E-409C-BE32-E72D297353CC}">
                <c16:uniqueId val="{0000000F-B482-4CF7-ADF5-76B0777DF0E6}"/>
              </c:ext>
            </c:extLst>
          </c:dPt>
          <c:dPt>
            <c:idx val="8"/>
            <c:invertIfNegative val="1"/>
            <c:bubble3D val="0"/>
            <c:spPr>
              <a:solidFill>
                <a:srgbClr val="000000"/>
              </a:solidFill>
            </c:spPr>
            <c:extLst>
              <c:ext xmlns:c16="http://schemas.microsoft.com/office/drawing/2014/chart" uri="{C3380CC4-5D6E-409C-BE32-E72D297353CC}">
                <c16:uniqueId val="{00000011-B482-4CF7-ADF5-76B0777DF0E6}"/>
              </c:ext>
            </c:extLst>
          </c:dPt>
          <c:dPt>
            <c:idx val="9"/>
            <c:invertIfNegative val="1"/>
            <c:bubble3D val="0"/>
            <c:spPr>
              <a:solidFill>
                <a:srgbClr val="000000"/>
              </a:solidFill>
            </c:spPr>
            <c:extLst>
              <c:ext xmlns:c16="http://schemas.microsoft.com/office/drawing/2014/chart" uri="{C3380CC4-5D6E-409C-BE32-E72D297353CC}">
                <c16:uniqueId val="{00000013-B482-4CF7-ADF5-76B0777DF0E6}"/>
              </c:ext>
            </c:extLst>
          </c:dPt>
          <c:dPt>
            <c:idx val="10"/>
            <c:invertIfNegative val="1"/>
            <c:bubble3D val="0"/>
            <c:spPr>
              <a:solidFill>
                <a:srgbClr val="B8BBBD"/>
              </a:solidFill>
            </c:spPr>
            <c:extLst>
              <c:ext xmlns:c16="http://schemas.microsoft.com/office/drawing/2014/chart" uri="{C3380CC4-5D6E-409C-BE32-E72D297353CC}">
                <c16:uniqueId val="{00000015-B482-4CF7-ADF5-76B0777DF0E6}"/>
              </c:ext>
            </c:extLst>
          </c:dPt>
          <c:dPt>
            <c:idx val="11"/>
            <c:invertIfNegative val="1"/>
            <c:bubble3D val="0"/>
            <c:spPr>
              <a:solidFill>
                <a:srgbClr val="B8BBBD"/>
              </a:solidFill>
            </c:spPr>
            <c:extLst>
              <c:ext xmlns:c16="http://schemas.microsoft.com/office/drawing/2014/chart" uri="{C3380CC4-5D6E-409C-BE32-E72D297353CC}">
                <c16:uniqueId val="{00000017-B482-4CF7-ADF5-76B0777DF0E6}"/>
              </c:ext>
            </c:extLst>
          </c:dPt>
          <c:dPt>
            <c:idx val="12"/>
            <c:invertIfNegative val="1"/>
            <c:bubble3D val="0"/>
            <c:spPr>
              <a:solidFill>
                <a:srgbClr val="000000"/>
              </a:solidFill>
            </c:spPr>
            <c:extLst>
              <c:ext xmlns:c16="http://schemas.microsoft.com/office/drawing/2014/chart" uri="{C3380CC4-5D6E-409C-BE32-E72D297353CC}">
                <c16:uniqueId val="{00000019-B482-4CF7-ADF5-76B0777DF0E6}"/>
              </c:ext>
            </c:extLst>
          </c:dPt>
          <c:dPt>
            <c:idx val="13"/>
            <c:invertIfNegative val="1"/>
            <c:bubble3D val="0"/>
            <c:spPr>
              <a:solidFill>
                <a:srgbClr val="000000"/>
              </a:solidFill>
            </c:spPr>
            <c:extLst>
              <c:ext xmlns:c16="http://schemas.microsoft.com/office/drawing/2014/chart" uri="{C3380CC4-5D6E-409C-BE32-E72D297353CC}">
                <c16:uniqueId val="{0000001B-B482-4CF7-ADF5-76B0777DF0E6}"/>
              </c:ext>
            </c:extLst>
          </c:dPt>
          <c:dPt>
            <c:idx val="14"/>
            <c:invertIfNegative val="1"/>
            <c:bubble3D val="0"/>
            <c:spPr>
              <a:solidFill>
                <a:srgbClr val="000000"/>
              </a:solidFill>
            </c:spPr>
            <c:extLst>
              <c:ext xmlns:c16="http://schemas.microsoft.com/office/drawing/2014/chart" uri="{C3380CC4-5D6E-409C-BE32-E72D297353CC}">
                <c16:uniqueId val="{0000001D-B482-4CF7-ADF5-76B0777DF0E6}"/>
              </c:ext>
            </c:extLst>
          </c:dPt>
          <c:dPt>
            <c:idx val="15"/>
            <c:invertIfNegative val="1"/>
            <c:bubble3D val="0"/>
            <c:spPr>
              <a:solidFill>
                <a:srgbClr val="000000"/>
              </a:solidFill>
            </c:spPr>
            <c:extLst>
              <c:ext xmlns:c16="http://schemas.microsoft.com/office/drawing/2014/chart" uri="{C3380CC4-5D6E-409C-BE32-E72D297353CC}">
                <c16:uniqueId val="{0000001F-B482-4CF7-ADF5-76B0777DF0E6}"/>
              </c:ext>
            </c:extLst>
          </c:dPt>
          <c:dPt>
            <c:idx val="16"/>
            <c:invertIfNegative val="1"/>
            <c:bubble3D val="0"/>
            <c:spPr>
              <a:solidFill>
                <a:srgbClr val="000000"/>
              </a:solidFill>
            </c:spPr>
            <c:extLst>
              <c:ext xmlns:c16="http://schemas.microsoft.com/office/drawing/2014/chart" uri="{C3380CC4-5D6E-409C-BE32-E72D297353CC}">
                <c16:uniqueId val="{00000021-B482-4CF7-ADF5-76B0777DF0E6}"/>
              </c:ext>
            </c:extLst>
          </c:dPt>
          <c:dPt>
            <c:idx val="17"/>
            <c:invertIfNegative val="1"/>
            <c:bubble3D val="0"/>
            <c:spPr>
              <a:solidFill>
                <a:srgbClr val="B8BBBD"/>
              </a:solidFill>
            </c:spPr>
            <c:extLst>
              <c:ext xmlns:c16="http://schemas.microsoft.com/office/drawing/2014/chart" uri="{C3380CC4-5D6E-409C-BE32-E72D297353CC}">
                <c16:uniqueId val="{00000023-B482-4CF7-ADF5-76B0777DF0E6}"/>
              </c:ext>
            </c:extLst>
          </c:dPt>
          <c:dPt>
            <c:idx val="18"/>
            <c:invertIfNegative val="1"/>
            <c:bubble3D val="0"/>
            <c:spPr>
              <a:solidFill>
                <a:srgbClr val="000000"/>
              </a:solidFill>
            </c:spPr>
            <c:extLst>
              <c:ext xmlns:c16="http://schemas.microsoft.com/office/drawing/2014/chart" uri="{C3380CC4-5D6E-409C-BE32-E72D297353CC}">
                <c16:uniqueId val="{00000025-B482-4CF7-ADF5-76B0777DF0E6}"/>
              </c:ext>
            </c:extLst>
          </c:dPt>
          <c:dPt>
            <c:idx val="19"/>
            <c:invertIfNegative val="1"/>
            <c:bubble3D val="0"/>
            <c:spPr>
              <a:solidFill>
                <a:srgbClr val="000000"/>
              </a:solidFill>
            </c:spPr>
            <c:extLst>
              <c:ext xmlns:c16="http://schemas.microsoft.com/office/drawing/2014/chart" uri="{C3380CC4-5D6E-409C-BE32-E72D297353CC}">
                <c16:uniqueId val="{00000027-B482-4CF7-ADF5-76B0777DF0E6}"/>
              </c:ext>
            </c:extLst>
          </c:dPt>
          <c:dPt>
            <c:idx val="20"/>
            <c:invertIfNegative val="1"/>
            <c:bubble3D val="0"/>
            <c:spPr>
              <a:solidFill>
                <a:srgbClr val="000000"/>
              </a:solidFill>
            </c:spPr>
            <c:extLst>
              <c:ext xmlns:c16="http://schemas.microsoft.com/office/drawing/2014/chart" uri="{C3380CC4-5D6E-409C-BE32-E72D297353CC}">
                <c16:uniqueId val="{00000029-B482-4CF7-ADF5-76B0777DF0E6}"/>
              </c:ext>
            </c:extLst>
          </c:dPt>
          <c:dPt>
            <c:idx val="21"/>
            <c:invertIfNegative val="1"/>
            <c:bubble3D val="0"/>
            <c:spPr>
              <a:solidFill>
                <a:srgbClr val="B8BBBD"/>
              </a:solidFill>
            </c:spPr>
            <c:extLst>
              <c:ext xmlns:c16="http://schemas.microsoft.com/office/drawing/2014/chart" uri="{C3380CC4-5D6E-409C-BE32-E72D297353CC}">
                <c16:uniqueId val="{0000002B-B482-4CF7-ADF5-76B0777DF0E6}"/>
              </c:ext>
            </c:extLst>
          </c:dPt>
          <c:dPt>
            <c:idx val="22"/>
            <c:invertIfNegative val="1"/>
            <c:bubble3D val="0"/>
            <c:spPr>
              <a:solidFill>
                <a:srgbClr val="000000"/>
              </a:solidFill>
            </c:spPr>
            <c:extLst>
              <c:ext xmlns:c16="http://schemas.microsoft.com/office/drawing/2014/chart" uri="{C3380CC4-5D6E-409C-BE32-E72D297353CC}">
                <c16:uniqueId val="{0000002D-B482-4CF7-ADF5-76B0777DF0E6}"/>
              </c:ext>
            </c:extLst>
          </c:dPt>
          <c:dPt>
            <c:idx val="23"/>
            <c:invertIfNegative val="1"/>
            <c:bubble3D val="0"/>
            <c:spPr>
              <a:solidFill>
                <a:srgbClr val="000000"/>
              </a:solidFill>
            </c:spPr>
            <c:extLst>
              <c:ext xmlns:c16="http://schemas.microsoft.com/office/drawing/2014/chart" uri="{C3380CC4-5D6E-409C-BE32-E72D297353CC}">
                <c16:uniqueId val="{0000002F-B482-4CF7-ADF5-76B0777DF0E6}"/>
              </c:ext>
            </c:extLst>
          </c:dPt>
          <c:dPt>
            <c:idx val="24"/>
            <c:invertIfNegative val="1"/>
            <c:bubble3D val="0"/>
            <c:spPr>
              <a:solidFill>
                <a:srgbClr val="000000"/>
              </a:solidFill>
            </c:spPr>
            <c:extLst>
              <c:ext xmlns:c16="http://schemas.microsoft.com/office/drawing/2014/chart" uri="{C3380CC4-5D6E-409C-BE32-E72D297353CC}">
                <c16:uniqueId val="{00000031-B482-4CF7-ADF5-76B0777DF0E6}"/>
              </c:ext>
            </c:extLst>
          </c:dPt>
          <c:dPt>
            <c:idx val="25"/>
            <c:invertIfNegative val="1"/>
            <c:bubble3D val="0"/>
            <c:spPr>
              <a:solidFill>
                <a:srgbClr val="000000"/>
              </a:solidFill>
            </c:spPr>
            <c:extLst>
              <c:ext xmlns:c16="http://schemas.microsoft.com/office/drawing/2014/chart" uri="{C3380CC4-5D6E-409C-BE32-E72D297353CC}">
                <c16:uniqueId val="{00000033-B482-4CF7-ADF5-76B0777DF0E6}"/>
              </c:ext>
            </c:extLst>
          </c:dPt>
          <c:dPt>
            <c:idx val="26"/>
            <c:invertIfNegative val="1"/>
            <c:bubble3D val="0"/>
            <c:spPr>
              <a:solidFill>
                <a:srgbClr val="000000"/>
              </a:solidFill>
            </c:spPr>
            <c:extLst>
              <c:ext xmlns:c16="http://schemas.microsoft.com/office/drawing/2014/chart" uri="{C3380CC4-5D6E-409C-BE32-E72D297353CC}">
                <c16:uniqueId val="{00000035-B482-4CF7-ADF5-76B0777DF0E6}"/>
              </c:ext>
            </c:extLst>
          </c:dPt>
          <c:dPt>
            <c:idx val="27"/>
            <c:invertIfNegative val="1"/>
            <c:bubble3D val="0"/>
            <c:spPr>
              <a:solidFill>
                <a:srgbClr val="000000"/>
              </a:solidFill>
            </c:spPr>
            <c:extLst>
              <c:ext xmlns:c16="http://schemas.microsoft.com/office/drawing/2014/chart" uri="{C3380CC4-5D6E-409C-BE32-E72D297353CC}">
                <c16:uniqueId val="{00000037-B482-4CF7-ADF5-76B0777DF0E6}"/>
              </c:ext>
            </c:extLst>
          </c:dPt>
          <c:dPt>
            <c:idx val="28"/>
            <c:invertIfNegative val="1"/>
            <c:bubble3D val="0"/>
            <c:spPr>
              <a:solidFill>
                <a:srgbClr val="000000"/>
              </a:solidFill>
            </c:spPr>
            <c:extLst>
              <c:ext xmlns:c16="http://schemas.microsoft.com/office/drawing/2014/chart" uri="{C3380CC4-5D6E-409C-BE32-E72D297353CC}">
                <c16:uniqueId val="{00000039-B482-4CF7-ADF5-76B0777DF0E6}"/>
              </c:ext>
            </c:extLst>
          </c:dPt>
          <c:dPt>
            <c:idx val="29"/>
            <c:invertIfNegative val="1"/>
            <c:bubble3D val="0"/>
            <c:spPr>
              <a:solidFill>
                <a:srgbClr val="B8BBBD"/>
              </a:solidFill>
            </c:spPr>
            <c:extLst>
              <c:ext xmlns:c16="http://schemas.microsoft.com/office/drawing/2014/chart" uri="{C3380CC4-5D6E-409C-BE32-E72D297353CC}">
                <c16:uniqueId val="{0000003B-B482-4CF7-ADF5-76B0777DF0E6}"/>
              </c:ext>
            </c:extLst>
          </c:dPt>
          <c:dPt>
            <c:idx val="30"/>
            <c:invertIfNegative val="1"/>
            <c:bubble3D val="0"/>
            <c:spPr>
              <a:solidFill>
                <a:srgbClr val="000000"/>
              </a:solidFill>
            </c:spPr>
            <c:extLst>
              <c:ext xmlns:c16="http://schemas.microsoft.com/office/drawing/2014/chart" uri="{C3380CC4-5D6E-409C-BE32-E72D297353CC}">
                <c16:uniqueId val="{0000003D-B482-4CF7-ADF5-76B0777DF0E6}"/>
              </c:ext>
            </c:extLst>
          </c:dPt>
          <c:dPt>
            <c:idx val="31"/>
            <c:invertIfNegative val="1"/>
            <c:bubble3D val="0"/>
            <c:spPr>
              <a:solidFill>
                <a:srgbClr val="000000"/>
              </a:solidFill>
            </c:spPr>
            <c:extLst>
              <c:ext xmlns:c16="http://schemas.microsoft.com/office/drawing/2014/chart" uri="{C3380CC4-5D6E-409C-BE32-E72D297353CC}">
                <c16:uniqueId val="{0000003F-B482-4CF7-ADF5-76B0777DF0E6}"/>
              </c:ext>
            </c:extLst>
          </c:dPt>
          <c:dPt>
            <c:idx val="32"/>
            <c:invertIfNegative val="1"/>
            <c:bubble3D val="0"/>
            <c:spPr>
              <a:solidFill>
                <a:srgbClr val="000000"/>
              </a:solidFill>
            </c:spPr>
            <c:extLst>
              <c:ext xmlns:c16="http://schemas.microsoft.com/office/drawing/2014/chart" uri="{C3380CC4-5D6E-409C-BE32-E72D297353CC}">
                <c16:uniqueId val="{00000041-B482-4CF7-ADF5-76B0777DF0E6}"/>
              </c:ext>
            </c:extLst>
          </c:dPt>
          <c:dPt>
            <c:idx val="33"/>
            <c:invertIfNegative val="1"/>
            <c:bubble3D val="0"/>
            <c:spPr>
              <a:solidFill>
                <a:srgbClr val="000000"/>
              </a:solidFill>
            </c:spPr>
            <c:extLst>
              <c:ext xmlns:c16="http://schemas.microsoft.com/office/drawing/2014/chart" uri="{C3380CC4-5D6E-409C-BE32-E72D297353CC}">
                <c16:uniqueId val="{00000043-B482-4CF7-ADF5-76B0777DF0E6}"/>
              </c:ext>
            </c:extLst>
          </c:dPt>
          <c:dPt>
            <c:idx val="34"/>
            <c:invertIfNegative val="1"/>
            <c:bubble3D val="0"/>
            <c:spPr>
              <a:solidFill>
                <a:srgbClr val="B8BBBD"/>
              </a:solidFill>
            </c:spPr>
            <c:extLst>
              <c:ext xmlns:c16="http://schemas.microsoft.com/office/drawing/2014/chart" uri="{C3380CC4-5D6E-409C-BE32-E72D297353CC}">
                <c16:uniqueId val="{00000045-B482-4CF7-ADF5-76B0777DF0E6}"/>
              </c:ext>
            </c:extLst>
          </c:dPt>
          <c:dPt>
            <c:idx val="35"/>
            <c:invertIfNegative val="1"/>
            <c:bubble3D val="0"/>
            <c:spPr>
              <a:solidFill>
                <a:srgbClr val="000000"/>
              </a:solidFill>
            </c:spPr>
            <c:extLst>
              <c:ext xmlns:c16="http://schemas.microsoft.com/office/drawing/2014/chart" uri="{C3380CC4-5D6E-409C-BE32-E72D297353CC}">
                <c16:uniqueId val="{00000047-B482-4CF7-ADF5-76B0777DF0E6}"/>
              </c:ext>
            </c:extLst>
          </c:dPt>
          <c:dPt>
            <c:idx val="36"/>
            <c:invertIfNegative val="1"/>
            <c:bubble3D val="0"/>
            <c:spPr>
              <a:solidFill>
                <a:srgbClr val="B8BBBD"/>
              </a:solidFill>
            </c:spPr>
            <c:extLst>
              <c:ext xmlns:c16="http://schemas.microsoft.com/office/drawing/2014/chart" uri="{C3380CC4-5D6E-409C-BE32-E72D297353CC}">
                <c16:uniqueId val="{00000049-B482-4CF7-ADF5-76B0777DF0E6}"/>
              </c:ext>
            </c:extLst>
          </c:dPt>
          <c:dPt>
            <c:idx val="37"/>
            <c:invertIfNegative val="1"/>
            <c:bubble3D val="0"/>
            <c:spPr>
              <a:solidFill>
                <a:srgbClr val="000000"/>
              </a:solidFill>
            </c:spPr>
            <c:extLst>
              <c:ext xmlns:c16="http://schemas.microsoft.com/office/drawing/2014/chart" uri="{C3380CC4-5D6E-409C-BE32-E72D297353CC}">
                <c16:uniqueId val="{0000004B-B482-4CF7-ADF5-76B0777DF0E6}"/>
              </c:ext>
            </c:extLst>
          </c:dPt>
          <c:dPt>
            <c:idx val="38"/>
            <c:invertIfNegative val="1"/>
            <c:bubble3D val="0"/>
            <c:spPr>
              <a:solidFill>
                <a:srgbClr val="000000"/>
              </a:solidFill>
            </c:spPr>
            <c:extLst>
              <c:ext xmlns:c16="http://schemas.microsoft.com/office/drawing/2014/chart" uri="{C3380CC4-5D6E-409C-BE32-E72D297353CC}">
                <c16:uniqueId val="{0000004D-B482-4CF7-ADF5-76B0777DF0E6}"/>
              </c:ext>
            </c:extLst>
          </c:dPt>
          <c:dPt>
            <c:idx val="39"/>
            <c:invertIfNegative val="1"/>
            <c:bubble3D val="0"/>
            <c:spPr>
              <a:solidFill>
                <a:srgbClr val="000000"/>
              </a:solidFill>
            </c:spPr>
            <c:extLst>
              <c:ext xmlns:c16="http://schemas.microsoft.com/office/drawing/2014/chart" uri="{C3380CC4-5D6E-409C-BE32-E72D297353CC}">
                <c16:uniqueId val="{0000004F-B482-4CF7-ADF5-76B0777DF0E6}"/>
              </c:ext>
            </c:extLst>
          </c:dPt>
          <c:dPt>
            <c:idx val="40"/>
            <c:invertIfNegative val="1"/>
            <c:bubble3D val="0"/>
            <c:spPr>
              <a:solidFill>
                <a:srgbClr val="B8BBBD"/>
              </a:solidFill>
            </c:spPr>
            <c:extLst>
              <c:ext xmlns:c16="http://schemas.microsoft.com/office/drawing/2014/chart" uri="{C3380CC4-5D6E-409C-BE32-E72D297353CC}">
                <c16:uniqueId val="{00000051-B482-4CF7-ADF5-76B0777DF0E6}"/>
              </c:ext>
            </c:extLst>
          </c:dPt>
          <c:dPt>
            <c:idx val="41"/>
            <c:invertIfNegative val="1"/>
            <c:bubble3D val="0"/>
            <c:spPr>
              <a:solidFill>
                <a:srgbClr val="000000"/>
              </a:solidFill>
            </c:spPr>
            <c:extLst>
              <c:ext xmlns:c16="http://schemas.microsoft.com/office/drawing/2014/chart" uri="{C3380CC4-5D6E-409C-BE32-E72D297353CC}">
                <c16:uniqueId val="{00000053-B482-4CF7-ADF5-76B0777DF0E6}"/>
              </c:ext>
            </c:extLst>
          </c:dPt>
          <c:dPt>
            <c:idx val="42"/>
            <c:invertIfNegative val="1"/>
            <c:bubble3D val="0"/>
            <c:spPr>
              <a:solidFill>
                <a:srgbClr val="000000"/>
              </a:solidFill>
            </c:spPr>
            <c:extLst>
              <c:ext xmlns:c16="http://schemas.microsoft.com/office/drawing/2014/chart" uri="{C3380CC4-5D6E-409C-BE32-E72D297353CC}">
                <c16:uniqueId val="{00000055-B482-4CF7-ADF5-76B0777DF0E6}"/>
              </c:ext>
            </c:extLst>
          </c:dPt>
          <c:dPt>
            <c:idx val="43"/>
            <c:invertIfNegative val="1"/>
            <c:bubble3D val="0"/>
            <c:spPr>
              <a:solidFill>
                <a:srgbClr val="000000"/>
              </a:solidFill>
            </c:spPr>
            <c:extLst>
              <c:ext xmlns:c16="http://schemas.microsoft.com/office/drawing/2014/chart" uri="{C3380CC4-5D6E-409C-BE32-E72D297353CC}">
                <c16:uniqueId val="{00000057-B482-4CF7-ADF5-76B0777DF0E6}"/>
              </c:ext>
            </c:extLst>
          </c:dPt>
          <c:dPt>
            <c:idx val="44"/>
            <c:invertIfNegative val="1"/>
            <c:bubble3D val="0"/>
            <c:spPr>
              <a:solidFill>
                <a:srgbClr val="B8BBBD"/>
              </a:solidFill>
            </c:spPr>
            <c:extLst>
              <c:ext xmlns:c16="http://schemas.microsoft.com/office/drawing/2014/chart" uri="{C3380CC4-5D6E-409C-BE32-E72D297353CC}">
                <c16:uniqueId val="{00000059-B482-4CF7-ADF5-76B0777DF0E6}"/>
              </c:ext>
            </c:extLst>
          </c:dPt>
          <c:dPt>
            <c:idx val="45"/>
            <c:invertIfNegative val="1"/>
            <c:bubble3D val="0"/>
            <c:spPr>
              <a:solidFill>
                <a:srgbClr val="000000"/>
              </a:solidFill>
            </c:spPr>
            <c:extLst>
              <c:ext xmlns:c16="http://schemas.microsoft.com/office/drawing/2014/chart" uri="{C3380CC4-5D6E-409C-BE32-E72D297353CC}">
                <c16:uniqueId val="{0000005B-B482-4CF7-ADF5-76B0777DF0E6}"/>
              </c:ext>
            </c:extLst>
          </c:dPt>
          <c:dPt>
            <c:idx val="46"/>
            <c:invertIfNegative val="1"/>
            <c:bubble3D val="0"/>
            <c:spPr>
              <a:solidFill>
                <a:srgbClr val="B8BBBD"/>
              </a:solidFill>
            </c:spPr>
            <c:extLst>
              <c:ext xmlns:c16="http://schemas.microsoft.com/office/drawing/2014/chart" uri="{C3380CC4-5D6E-409C-BE32-E72D297353CC}">
                <c16:uniqueId val="{0000005D-B482-4CF7-ADF5-76B0777DF0E6}"/>
              </c:ext>
            </c:extLst>
          </c:dPt>
          <c:dPt>
            <c:idx val="47"/>
            <c:invertIfNegative val="1"/>
            <c:bubble3D val="0"/>
            <c:spPr>
              <a:solidFill>
                <a:srgbClr val="B8BBBD"/>
              </a:solidFill>
            </c:spPr>
            <c:extLst>
              <c:ext xmlns:c16="http://schemas.microsoft.com/office/drawing/2014/chart" uri="{C3380CC4-5D6E-409C-BE32-E72D297353CC}">
                <c16:uniqueId val="{0000005F-B482-4CF7-ADF5-76B0777DF0E6}"/>
              </c:ext>
            </c:extLst>
          </c:dPt>
          <c:dPt>
            <c:idx val="48"/>
            <c:invertIfNegative val="1"/>
            <c:bubble3D val="0"/>
            <c:spPr>
              <a:solidFill>
                <a:srgbClr val="B8BBBD"/>
              </a:solidFill>
            </c:spPr>
            <c:extLst>
              <c:ext xmlns:c16="http://schemas.microsoft.com/office/drawing/2014/chart" uri="{C3380CC4-5D6E-409C-BE32-E72D297353CC}">
                <c16:uniqueId val="{00000061-B482-4CF7-ADF5-76B0777DF0E6}"/>
              </c:ext>
            </c:extLst>
          </c:dPt>
          <c:dPt>
            <c:idx val="49"/>
            <c:invertIfNegative val="1"/>
            <c:bubble3D val="0"/>
            <c:spPr>
              <a:solidFill>
                <a:srgbClr val="B8BBBD"/>
              </a:solidFill>
            </c:spPr>
            <c:extLst>
              <c:ext xmlns:c16="http://schemas.microsoft.com/office/drawing/2014/chart" uri="{C3380CC4-5D6E-409C-BE32-E72D297353CC}">
                <c16:uniqueId val="{00000063-B482-4CF7-ADF5-76B0777DF0E6}"/>
              </c:ext>
            </c:extLst>
          </c:dPt>
          <c:dLbls>
            <c:numFmt formatCode="0.0%" sourceLinked="0"/>
            <c:spPr>
              <a:noFill/>
              <a:ln>
                <a:noFill/>
              </a:ln>
              <a:effectLst/>
            </c:spPr>
            <c:txPr>
              <a:bodyPr rot="-5400000" vert="horz"/>
              <a:lstStyle/>
              <a:p>
                <a:pPr>
                  <a:defRPr sz="800">
                    <a:solidFill>
                      <a:srgbClr val="2B2B2B"/>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Sheet1!$A$2:$A$51</c:f>
              <c:strCache>
                <c:ptCount val="50"/>
                <c:pt idx="0">
                  <c:v>Baylor U.</c:v>
                </c:pt>
                <c:pt idx="1">
                  <c:v>Brigham Young U.</c:v>
                </c:pt>
                <c:pt idx="2">
                  <c:v>Northeastern U.</c:v>
                </c:pt>
                <c:pt idx="3">
                  <c:v>Brandeis U.</c:v>
                </c:pt>
                <c:pt idx="4">
                  <c:v>Vanderbilt U.</c:v>
                </c:pt>
                <c:pt idx="5">
                  <c:v>New York U.</c:v>
                </c:pt>
                <c:pt idx="6">
                  <c:v>Thomas Jefferson U.</c:v>
                </c:pt>
                <c:pt idx="7">
                  <c:v>Emory U.</c:v>
                </c:pt>
                <c:pt idx="8">
                  <c:v>Georgetown U.</c:v>
                </c:pt>
                <c:pt idx="9">
                  <c:v>U. Miami</c:v>
                </c:pt>
                <c:pt idx="10">
                  <c:v>U. Dayton</c:v>
                </c:pt>
                <c:pt idx="11">
                  <c:v>Rice U.</c:v>
                </c:pt>
                <c:pt idx="12">
                  <c:v>U. Chicago</c:v>
                </c:pt>
                <c:pt idx="13">
                  <c:v>Boston U.</c:v>
                </c:pt>
                <c:pt idx="14">
                  <c:v>Northwestern U.</c:v>
                </c:pt>
                <c:pt idx="15">
                  <c:v>Case Western Reserve U.</c:v>
                </c:pt>
                <c:pt idx="16">
                  <c:v>Brown U.</c:v>
                </c:pt>
                <c:pt idx="17">
                  <c:v>Princeton U.</c:v>
                </c:pt>
                <c:pt idx="18">
                  <c:v>Rush U.</c:v>
                </c:pt>
                <c:pt idx="19">
                  <c:v>Columbia U.</c:v>
                </c:pt>
                <c:pt idx="20">
                  <c:v>Wake Forest U.</c:v>
                </c:pt>
                <c:pt idx="21">
                  <c:v>U. Notre Dame</c:v>
                </c:pt>
                <c:pt idx="22">
                  <c:v>U. Pennsylvania</c:v>
                </c:pt>
                <c:pt idx="23">
                  <c:v>Medical C. Wisconsin</c:v>
                </c:pt>
                <c:pt idx="24">
                  <c:v>Yale U.</c:v>
                </c:pt>
                <c:pt idx="25">
                  <c:v>Johns Hopkins U.</c:v>
                </c:pt>
                <c:pt idx="26">
                  <c:v>George Washington U.</c:v>
                </c:pt>
                <c:pt idx="27">
                  <c:v>Cornell U.</c:v>
                </c:pt>
                <c:pt idx="28">
                  <c:v>Icahn Mount Sinai</c:v>
                </c:pt>
                <c:pt idx="29">
                  <c:v>Carnegie Mellon U.</c:v>
                </c:pt>
                <c:pt idx="30">
                  <c:v>Washington U. St. Louis</c:v>
                </c:pt>
                <c:pt idx="31">
                  <c:v>Tulane U.</c:v>
                </c:pt>
                <c:pt idx="32">
                  <c:v>U. Southern California</c:v>
                </c:pt>
                <c:pt idx="33">
                  <c:v>Stanford U.</c:v>
                </c:pt>
                <c:pt idx="34">
                  <c:v>Rensselaer Polytechnic</c:v>
                </c:pt>
                <c:pt idx="35">
                  <c:v>Baylor C. of Medicine</c:v>
                </c:pt>
                <c:pt idx="36">
                  <c:v>Woods Hole</c:v>
                </c:pt>
                <c:pt idx="37">
                  <c:v>Tufts U.</c:v>
                </c:pt>
                <c:pt idx="38">
                  <c:v>Dartmouth</c:v>
                </c:pt>
                <c:pt idx="39">
                  <c:v>Duke U.</c:v>
                </c:pt>
                <c:pt idx="40">
                  <c:v>Syracuse U.</c:v>
                </c:pt>
                <c:pt idx="41">
                  <c:v>U. Rochester</c:v>
                </c:pt>
                <c:pt idx="42">
                  <c:v>Albert Einstein C. Med.</c:v>
                </c:pt>
                <c:pt idx="43">
                  <c:v>Harvard U.</c:v>
                </c:pt>
                <c:pt idx="44">
                  <c:v>Scripps Research</c:v>
                </c:pt>
                <c:pt idx="45">
                  <c:v>Drexel U.</c:v>
                </c:pt>
                <c:pt idx="46">
                  <c:v>Caltech</c:v>
                </c:pt>
                <c:pt idx="47">
                  <c:v>MIT</c:v>
                </c:pt>
                <c:pt idx="48">
                  <c:v>Cold Spring Harbor Lab</c:v>
                </c:pt>
                <c:pt idx="49">
                  <c:v>Rockefeller U.</c:v>
                </c:pt>
              </c:strCache>
            </c:strRef>
          </c:cat>
          <c:val>
            <c:numRef>
              <c:f>Sheet1!$B$2:$B$51</c:f>
              <c:numCache>
                <c:formatCode>General</c:formatCode>
                <c:ptCount val="50"/>
                <c:pt idx="0">
                  <c:v>0.32278010981525096</c:v>
                </c:pt>
                <c:pt idx="1">
                  <c:v>0.31949290920497431</c:v>
                </c:pt>
                <c:pt idx="2">
                  <c:v>0.1352153097901676</c:v>
                </c:pt>
                <c:pt idx="3">
                  <c:v>0.1197168480903561</c:v>
                </c:pt>
                <c:pt idx="4">
                  <c:v>0.11315066725982947</c:v>
                </c:pt>
                <c:pt idx="5">
                  <c:v>9.9320486931313789E-2</c:v>
                </c:pt>
                <c:pt idx="6">
                  <c:v>9.7321323877283206E-2</c:v>
                </c:pt>
                <c:pt idx="7">
                  <c:v>9.4141234485542791E-2</c:v>
                </c:pt>
                <c:pt idx="8">
                  <c:v>9.3420148096362121E-2</c:v>
                </c:pt>
                <c:pt idx="9">
                  <c:v>9.1569268469406051E-2</c:v>
                </c:pt>
                <c:pt idx="10">
                  <c:v>8.8398264854375519E-2</c:v>
                </c:pt>
                <c:pt idx="11">
                  <c:v>8.7493901081361125E-2</c:v>
                </c:pt>
                <c:pt idx="12">
                  <c:v>8.1939614534928928E-2</c:v>
                </c:pt>
                <c:pt idx="13">
                  <c:v>7.9843812597798269E-2</c:v>
                </c:pt>
                <c:pt idx="14">
                  <c:v>7.9750055118804841E-2</c:v>
                </c:pt>
                <c:pt idx="15">
                  <c:v>7.9168171499534701E-2</c:v>
                </c:pt>
                <c:pt idx="16">
                  <c:v>7.8251859019109249E-2</c:v>
                </c:pt>
                <c:pt idx="17">
                  <c:v>7.6874784772242855E-2</c:v>
                </c:pt>
                <c:pt idx="18">
                  <c:v>7.669232665367165E-2</c:v>
                </c:pt>
                <c:pt idx="19">
                  <c:v>7.6297452898739238E-2</c:v>
                </c:pt>
                <c:pt idx="20">
                  <c:v>7.5937152571197597E-2</c:v>
                </c:pt>
                <c:pt idx="21">
                  <c:v>7.5702713668687638E-2</c:v>
                </c:pt>
                <c:pt idx="22">
                  <c:v>7.5500338134089295E-2</c:v>
                </c:pt>
                <c:pt idx="23">
                  <c:v>7.4722953204458875E-2</c:v>
                </c:pt>
                <c:pt idx="24">
                  <c:v>7.2228235550013009E-2</c:v>
                </c:pt>
                <c:pt idx="25">
                  <c:v>7.1949343036796343E-2</c:v>
                </c:pt>
                <c:pt idx="26">
                  <c:v>7.1789526622995536E-2</c:v>
                </c:pt>
                <c:pt idx="27">
                  <c:v>7.1112545432183261E-2</c:v>
                </c:pt>
                <c:pt idx="28">
                  <c:v>7.0552846832990124E-2</c:v>
                </c:pt>
                <c:pt idx="29">
                  <c:v>7.0312038916183317E-2</c:v>
                </c:pt>
                <c:pt idx="30">
                  <c:v>6.9815585290700977E-2</c:v>
                </c:pt>
                <c:pt idx="31">
                  <c:v>6.9749071731120882E-2</c:v>
                </c:pt>
                <c:pt idx="32">
                  <c:v>6.8033648324828055E-2</c:v>
                </c:pt>
                <c:pt idx="33">
                  <c:v>6.3993321690409388E-2</c:v>
                </c:pt>
                <c:pt idx="34">
                  <c:v>6.2160886134685178E-2</c:v>
                </c:pt>
                <c:pt idx="35">
                  <c:v>6.2132259222901443E-2</c:v>
                </c:pt>
                <c:pt idx="36">
                  <c:v>6.1100404919766538E-2</c:v>
                </c:pt>
                <c:pt idx="37">
                  <c:v>5.4658426736774013E-2</c:v>
                </c:pt>
                <c:pt idx="38">
                  <c:v>5.3121484339500258E-2</c:v>
                </c:pt>
                <c:pt idx="39">
                  <c:v>5.2054536428516762E-2</c:v>
                </c:pt>
                <c:pt idx="40">
                  <c:v>5.1843426895725075E-2</c:v>
                </c:pt>
                <c:pt idx="41">
                  <c:v>4.5606426364059427E-2</c:v>
                </c:pt>
                <c:pt idx="42">
                  <c:v>3.8406893703408995E-2</c:v>
                </c:pt>
                <c:pt idx="43">
                  <c:v>3.8089768331737828E-2</c:v>
                </c:pt>
                <c:pt idx="44">
                  <c:v>3.2318927868553837E-2</c:v>
                </c:pt>
                <c:pt idx="45">
                  <c:v>2.6306935781480911E-2</c:v>
                </c:pt>
                <c:pt idx="46">
                  <c:v>2.1665549951599417E-2</c:v>
                </c:pt>
                <c:pt idx="47">
                  <c:v>1.0873364682725484E-2</c:v>
                </c:pt>
                <c:pt idx="48">
                  <c:v>-4.2790187512764533E-4</c:v>
                </c:pt>
                <c:pt idx="49">
                  <c:v>-2.7562011506128359E-2</c:v>
                </c:pt>
              </c:numCache>
            </c:numRef>
          </c:val>
          <c:extLst>
            <c:ext xmlns:c16="http://schemas.microsoft.com/office/drawing/2014/chart" uri="{C3380CC4-5D6E-409C-BE32-E72D297353CC}">
              <c16:uniqueId val="{00000064-B482-4CF7-ADF5-76B0777DF0E6}"/>
            </c:ext>
          </c:extLst>
        </c:ser>
        <c:dLbls>
          <c:dLblPos val="outEnd"/>
          <c:showLegendKey val="0"/>
          <c:showVal val="1"/>
          <c:showCatName val="0"/>
          <c:showSerName val="0"/>
          <c:showPercent val="0"/>
          <c:showBubbleSize val="0"/>
        </c:dLbls>
        <c:gapWidth val="30"/>
        <c:axId val="-2068027336"/>
        <c:axId val="-2113994440"/>
      </c:barChart>
      <c:catAx>
        <c:axId val="-2068027336"/>
        <c:scaling>
          <c:orientation val="minMax"/>
        </c:scaling>
        <c:delete val="0"/>
        <c:axPos val="b"/>
        <c:numFmt formatCode="General" sourceLinked="0"/>
        <c:majorTickMark val="none"/>
        <c:minorTickMark val="none"/>
        <c:tickLblPos val="low"/>
        <c:spPr>
          <a:ln w="9525">
            <a:solidFill>
              <a:srgbClr val="8A8F98"/>
            </a:solidFill>
          </a:ln>
        </c:spPr>
        <c:txPr>
          <a:bodyPr rot="-54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0.35"/>
          <c:min val="-0.1"/>
        </c:scaling>
        <c:delete val="0"/>
        <c:axPos val="l"/>
        <c:majorGridlines>
          <c:spPr>
            <a:ln w="9525">
              <a:solidFill>
                <a:srgbClr val="E4E4E6"/>
              </a:solidFill>
            </a:ln>
          </c:spPr>
        </c:majorGridlines>
        <c:numFmt formatCode="0%"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0.05"/>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0.06"/>
          <c:y val="0.02"/>
          <c:w val="0.92"/>
          <c:h val="0.86"/>
        </c:manualLayout>
      </c:layout>
      <c:scatterChart>
        <c:scatterStyle val="lineMarker"/>
        <c:varyColors val="0"/>
        <c:ser>
          <c:idx val="0"/>
          <c:order val="0"/>
          <c:tx>
            <c:strRef>
              <c:f>Sheet1!$B$1</c:f>
              <c:strCache>
                <c:ptCount val="1"/>
                <c:pt idx="0">
                  <c:v>others</c:v>
                </c:pt>
              </c:strCache>
            </c:strRef>
          </c:tx>
          <c:spPr>
            <a:ln w="47625">
              <a:noFill/>
            </a:ln>
          </c:spPr>
          <c:marker>
            <c:symbol val="circle"/>
            <c:size val="10"/>
            <c:spPr>
              <a:solidFill>
                <a:srgbClr val="3A3A3F"/>
              </a:solidFill>
              <a:ln>
                <a:solidFill>
                  <a:srgbClr val="FFFFFF"/>
                </a:solidFill>
              </a:ln>
            </c:spPr>
          </c:marker>
          <c:xVal>
            <c:numRef>
              <c:f>Sheet1!$A$2:$A$48</c:f>
              <c:numCache>
                <c:formatCode>General</c:formatCode>
                <c:ptCount val="47"/>
                <c:pt idx="0">
                  <c:v>4129.2640000000001</c:v>
                </c:pt>
                <c:pt idx="1">
                  <c:v>2167.5039999999999</c:v>
                </c:pt>
                <c:pt idx="2">
                  <c:v>1641.961</c:v>
                </c:pt>
                <c:pt idx="3">
                  <c:v>1613.6310000000001</c:v>
                </c:pt>
                <c:pt idx="4">
                  <c:v>1580.7560000000001</c:v>
                </c:pt>
                <c:pt idx="5">
                  <c:v>1519.694</c:v>
                </c:pt>
                <c:pt idx="6">
                  <c:v>1500.732</c:v>
                </c:pt>
                <c:pt idx="7">
                  <c:v>1494.527</c:v>
                </c:pt>
                <c:pt idx="8">
                  <c:v>1449.5350000000001</c:v>
                </c:pt>
                <c:pt idx="9">
                  <c:v>1327.87</c:v>
                </c:pt>
                <c:pt idx="10">
                  <c:v>1264.1969999999999</c:v>
                </c:pt>
                <c:pt idx="11">
                  <c:v>1257.8589999999999</c:v>
                </c:pt>
                <c:pt idx="12">
                  <c:v>1246.5070000000001</c:v>
                </c:pt>
                <c:pt idx="13">
                  <c:v>1243.115</c:v>
                </c:pt>
                <c:pt idx="14">
                  <c:v>1065.5540000000001</c:v>
                </c:pt>
                <c:pt idx="15">
                  <c:v>1015.6</c:v>
                </c:pt>
                <c:pt idx="16">
                  <c:v>881.226</c:v>
                </c:pt>
                <c:pt idx="17">
                  <c:v>784.35500000000002</c:v>
                </c:pt>
                <c:pt idx="18">
                  <c:v>680.75300000000004</c:v>
                </c:pt>
                <c:pt idx="19">
                  <c:v>642.54600000000005</c:v>
                </c:pt>
                <c:pt idx="20">
                  <c:v>559.01300000000003</c:v>
                </c:pt>
                <c:pt idx="21">
                  <c:v>558.62400000000002</c:v>
                </c:pt>
                <c:pt idx="22">
                  <c:v>505.262</c:v>
                </c:pt>
                <c:pt idx="23">
                  <c:v>501.46800000000002</c:v>
                </c:pt>
                <c:pt idx="24">
                  <c:v>492.37200000000001</c:v>
                </c:pt>
                <c:pt idx="25">
                  <c:v>445.173</c:v>
                </c:pt>
                <c:pt idx="26">
                  <c:v>418.42899999999997</c:v>
                </c:pt>
                <c:pt idx="27">
                  <c:v>381.58199999999999</c:v>
                </c:pt>
                <c:pt idx="28">
                  <c:v>376.6</c:v>
                </c:pt>
                <c:pt idx="29">
                  <c:v>374.50400000000002</c:v>
                </c:pt>
                <c:pt idx="30">
                  <c:v>360.30900000000003</c:v>
                </c:pt>
                <c:pt idx="31">
                  <c:v>345.791</c:v>
                </c:pt>
                <c:pt idx="32">
                  <c:v>344.517</c:v>
                </c:pt>
                <c:pt idx="33">
                  <c:v>308.24</c:v>
                </c:pt>
                <c:pt idx="34">
                  <c:v>305.3</c:v>
                </c:pt>
                <c:pt idx="35">
                  <c:v>278.30399999999997</c:v>
                </c:pt>
                <c:pt idx="36">
                  <c:v>277.68299999999999</c:v>
                </c:pt>
                <c:pt idx="37">
                  <c:v>275.88499999999999</c:v>
                </c:pt>
                <c:pt idx="38">
                  <c:v>271.19799999999998</c:v>
                </c:pt>
                <c:pt idx="39">
                  <c:v>252.53700000000001</c:v>
                </c:pt>
                <c:pt idx="40">
                  <c:v>198.75</c:v>
                </c:pt>
                <c:pt idx="41">
                  <c:v>170.20500000000001</c:v>
                </c:pt>
                <c:pt idx="42">
                  <c:v>158.31899999999999</c:v>
                </c:pt>
                <c:pt idx="43">
                  <c:v>140.24700000000001</c:v>
                </c:pt>
                <c:pt idx="44">
                  <c:v>139.29499999999999</c:v>
                </c:pt>
                <c:pt idx="45">
                  <c:v>126.502</c:v>
                </c:pt>
                <c:pt idx="46">
                  <c:v>107.059</c:v>
                </c:pt>
              </c:numCache>
            </c:numRef>
          </c:xVal>
          <c:yVal>
            <c:numRef>
              <c:f>Sheet1!$B$2:$B$48</c:f>
              <c:numCache>
                <c:formatCode>General</c:formatCode>
                <c:ptCount val="47"/>
                <c:pt idx="0">
                  <c:v>6.2953939596230635E-2</c:v>
                </c:pt>
                <c:pt idx="1">
                  <c:v>0.10096776388633821</c:v>
                </c:pt>
                <c:pt idx="2">
                  <c:v>5.5220546243955226E-2</c:v>
                </c:pt>
                <c:pt idx="3">
                  <c:v>6.2111211367757768E-2</c:v>
                </c:pt>
                <c:pt idx="4">
                  <c:v>4.3077171119743074E-2</c:v>
                </c:pt>
                <c:pt idx="5">
                  <c:v>6.9957816258395811E-2</c:v>
                </c:pt>
                <c:pt idx="6">
                  <c:v>0.11103679712373249</c:v>
                </c:pt>
                <c:pt idx="7">
                  <c:v>4.813410201728896E-2</c:v>
                </c:pt>
                <c:pt idx="8">
                  <c:v>4.9911163430377936E-2</c:v>
                </c:pt>
                <c:pt idx="9">
                  <c:v>6.8604332357538711E-2</c:v>
                </c:pt>
                <c:pt idx="10">
                  <c:v>6.2849494029934228E-2</c:v>
                </c:pt>
                <c:pt idx="11">
                  <c:v>6.9017485267081291E-2</c:v>
                </c:pt>
                <c:pt idx="12">
                  <c:v>8.3576004254983349E-2</c:v>
                </c:pt>
                <c:pt idx="13">
                  <c:v>6.4596822067163107E-2</c:v>
                </c:pt>
                <c:pt idx="14">
                  <c:v>1.6127367467030362E-2</c:v>
                </c:pt>
                <c:pt idx="15">
                  <c:v>8.1618105681389164E-2</c:v>
                </c:pt>
                <c:pt idx="16">
                  <c:v>5.9090512635068926E-2</c:v>
                </c:pt>
                <c:pt idx="17">
                  <c:v>7.8812235740196579E-2</c:v>
                </c:pt>
                <c:pt idx="18">
                  <c:v>5.7263806856458599E-2</c:v>
                </c:pt>
                <c:pt idx="19">
                  <c:v>4.3681246814267993E-2</c:v>
                </c:pt>
                <c:pt idx="20">
                  <c:v>4.9201889214637307E-2</c:v>
                </c:pt>
                <c:pt idx="21">
                  <c:v>6.6558307386942239E-2</c:v>
                </c:pt>
                <c:pt idx="22">
                  <c:v>7.237306405745092E-2</c:v>
                </c:pt>
                <c:pt idx="23">
                  <c:v>2.6454279267015712E-2</c:v>
                </c:pt>
                <c:pt idx="24">
                  <c:v>3.3713874471494432E-2</c:v>
                </c:pt>
                <c:pt idx="25">
                  <c:v>1.9447213940396502E-2</c:v>
                </c:pt>
                <c:pt idx="26">
                  <c:v>7.0051366556306283E-2</c:v>
                </c:pt>
                <c:pt idx="27">
                  <c:v>5.2849404206759987E-2</c:v>
                </c:pt>
                <c:pt idx="28">
                  <c:v>8.1066127413472522E-2</c:v>
                </c:pt>
                <c:pt idx="29">
                  <c:v>9.2590051156613562E-3</c:v>
                </c:pt>
                <c:pt idx="30">
                  <c:v>6.0783797059531519E-2</c:v>
                </c:pt>
                <c:pt idx="31">
                  <c:v>6.615379636519636E-2</c:v>
                </c:pt>
                <c:pt idx="32">
                  <c:v>6.9242301043524135E-2</c:v>
                </c:pt>
                <c:pt idx="33">
                  <c:v>3.4292732549794147E-2</c:v>
                </c:pt>
                <c:pt idx="34">
                  <c:v>-3.5547860584134172E-3</c:v>
                </c:pt>
                <c:pt idx="35">
                  <c:v>5.6371288463085145E-2</c:v>
                </c:pt>
                <c:pt idx="36">
                  <c:v>7.2009576128954533E-2</c:v>
                </c:pt>
                <c:pt idx="37">
                  <c:v>5.7438769200519602E-2</c:v>
                </c:pt>
                <c:pt idx="38">
                  <c:v>8.6429497117629595E-2</c:v>
                </c:pt>
                <c:pt idx="39">
                  <c:v>0.11260247217712394</c:v>
                </c:pt>
                <c:pt idx="40">
                  <c:v>0.11600362977605672</c:v>
                </c:pt>
                <c:pt idx="41">
                  <c:v>2.6393231724259447E-2</c:v>
                </c:pt>
                <c:pt idx="42">
                  <c:v>0.1532320308009254</c:v>
                </c:pt>
                <c:pt idx="43">
                  <c:v>2.8773280642371279E-2</c:v>
                </c:pt>
                <c:pt idx="44">
                  <c:v>5.6298003988048517E-2</c:v>
                </c:pt>
                <c:pt idx="45">
                  <c:v>5.1263343780436399E-2</c:v>
                </c:pt>
                <c:pt idx="46">
                  <c:v>3.6241126474933383E-2</c:v>
                </c:pt>
              </c:numCache>
            </c:numRef>
          </c:yVal>
          <c:smooth val="0"/>
          <c:extLst>
            <c:ext xmlns:c16="http://schemas.microsoft.com/office/drawing/2014/chart" uri="{C3380CC4-5D6E-409C-BE32-E72D297353CC}">
              <c16:uniqueId val="{00000000-86B8-454A-94DE-A0BFAFE55638}"/>
            </c:ext>
          </c:extLst>
        </c:ser>
        <c:ser>
          <c:idx val="1"/>
          <c:order val="1"/>
          <c:tx>
            <c:strRef>
              <c:f>Sheet1!$B$50</c:f>
              <c:strCache>
                <c:ptCount val="1"/>
                <c:pt idx="0">
                  <c:v>nu</c:v>
                </c:pt>
              </c:strCache>
            </c:strRef>
          </c:tx>
          <c:spPr>
            <a:ln w="47625">
              <a:noFill/>
            </a:ln>
          </c:spPr>
          <c:marker>
            <c:symbol val="circle"/>
            <c:size val="14"/>
            <c:spPr>
              <a:solidFill>
                <a:srgbClr val="C8102E"/>
              </a:solidFill>
              <a:ln>
                <a:solidFill>
                  <a:srgbClr val="FFFFFF"/>
                </a:solidFill>
              </a:ln>
            </c:spPr>
          </c:marker>
          <c:xVal>
            <c:numRef>
              <c:f>Sheet1!$A$51:$A$51</c:f>
              <c:numCache>
                <c:formatCode>General</c:formatCode>
                <c:ptCount val="1"/>
                <c:pt idx="0">
                  <c:v>346.9</c:v>
                </c:pt>
              </c:numCache>
            </c:numRef>
          </c:xVal>
          <c:yVal>
            <c:numRef>
              <c:f>Sheet1!$B$51:$B$51</c:f>
              <c:numCache>
                <c:formatCode>General</c:formatCode>
                <c:ptCount val="1"/>
                <c:pt idx="0">
                  <c:v>0.11553448870113647</c:v>
                </c:pt>
              </c:numCache>
            </c:numRef>
          </c:yVal>
          <c:smooth val="0"/>
          <c:extLst>
            <c:ext xmlns:c16="http://schemas.microsoft.com/office/drawing/2014/chart" uri="{C3380CC4-5D6E-409C-BE32-E72D297353CC}">
              <c16:uniqueId val="{00000001-86B8-454A-94DE-A0BFAFE55638}"/>
            </c:ext>
          </c:extLst>
        </c:ser>
        <c:dLbls>
          <c:showLegendKey val="0"/>
          <c:showVal val="0"/>
          <c:showCatName val="0"/>
          <c:showSerName val="0"/>
          <c:showPercent val="0"/>
          <c:showBubbleSize val="0"/>
        </c:dLbls>
        <c:axId val="-2128940872"/>
        <c:axId val="-2129643912"/>
      </c:scatterChart>
      <c:valAx>
        <c:axId val="-2128940872"/>
        <c:scaling>
          <c:logBase val="10"/>
          <c:orientation val="minMax"/>
          <c:max val="5000"/>
          <c:min val="100"/>
        </c:scaling>
        <c:delete val="0"/>
        <c:axPos val="b"/>
        <c:numFmt formatCode="&quot;$&quot;#,##0&quot;M&quot;" sourceLinked="0"/>
        <c:majorTickMark val="none"/>
        <c:minorTickMark val="none"/>
        <c:tickLblPos val="none"/>
        <c:spPr>
          <a:ln w="9525">
            <a:solidFill>
              <a:srgbClr val="8A8F98"/>
            </a:solidFill>
          </a:ln>
        </c:spPr>
        <c:txPr>
          <a:bodyPr/>
          <a:lstStyle/>
          <a:p>
            <a:pPr>
              <a:defRPr sz="1000">
                <a:solidFill>
                  <a:srgbClr val="6B6B70"/>
                </a:solidFill>
                <a:latin typeface="Lato"/>
              </a:defRPr>
            </a:pPr>
            <a:endParaRPr lang="en-US"/>
          </a:p>
        </c:txPr>
        <c:crossAx val="-2129643912"/>
        <c:crosses val="autoZero"/>
        <c:crossBetween val="midCat"/>
      </c:valAx>
      <c:valAx>
        <c:axId val="-2129643912"/>
        <c:scaling>
          <c:orientation val="minMax"/>
          <c:max val="0.16"/>
          <c:min val="-0.02"/>
        </c:scaling>
        <c:delete val="0"/>
        <c:axPos val="l"/>
        <c:numFmt formatCode="0%" sourceLinked="0"/>
        <c:majorTickMark val="out"/>
        <c:minorTickMark val="none"/>
        <c:tickLblPos val="nextTo"/>
        <c:spPr>
          <a:ln>
            <a:solidFill>
              <a:schemeClr val="tx1"/>
            </a:solidFill>
          </a:ln>
        </c:spPr>
        <c:txPr>
          <a:bodyPr/>
          <a:lstStyle/>
          <a:p>
            <a:pPr>
              <a:defRPr sz="1100">
                <a:solidFill>
                  <a:schemeClr val="tx1"/>
                </a:solidFill>
                <a:latin typeface="Lato"/>
              </a:defRPr>
            </a:pPr>
            <a:endParaRPr lang="en-US"/>
          </a:p>
        </c:txPr>
        <c:crossAx val="-2128940872"/>
        <c:crosses val="autoZero"/>
        <c:crossBetween val="midCat"/>
        <c:majorUnit val="0.02"/>
      </c:valAx>
    </c:plotArea>
    <c:plotVisOnly val="1"/>
    <c:dispBlanksAs val="gap"/>
    <c:showDLblsOverMax val="0"/>
  </c:chart>
  <c:txPr>
    <a:bodyPr/>
    <a:lstStyle/>
    <a:p>
      <a:pPr>
        <a:defRPr sz="1000">
          <a:latin typeface="Lato"/>
        </a:defRPr>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stacked"/>
        <c:varyColors val="1"/>
        <c:ser>
          <c:idx val="0"/>
          <c:order val="0"/>
          <c:tx>
            <c:strRef>
              <c:f>Sheet1!$B$1</c:f>
              <c:strCache>
                <c:ptCount val="1"/>
                <c:pt idx="0">
                  <c:v>Undergraduate</c:v>
                </c:pt>
              </c:strCache>
            </c:strRef>
          </c:tx>
          <c:spPr>
            <a:solidFill>
              <a:srgbClr val="C8102E"/>
            </a:solidFill>
          </c:spPr>
          <c:invertIfNegative val="0"/>
          <c:dLbls>
            <c:numFmt formatCode="0.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18502</c:v>
                </c:pt>
                <c:pt idx="1">
                  <c:v>19055</c:v>
                </c:pt>
                <c:pt idx="2">
                  <c:v>20377</c:v>
                </c:pt>
                <c:pt idx="3">
                  <c:v>21256</c:v>
                </c:pt>
                <c:pt idx="4">
                  <c:v>22015</c:v>
                </c:pt>
                <c:pt idx="5">
                  <c:v>23293</c:v>
                </c:pt>
                <c:pt idx="6">
                  <c:v>23268</c:v>
                </c:pt>
                <c:pt idx="7">
                  <c:v>25103</c:v>
                </c:pt>
              </c:numCache>
            </c:numRef>
          </c:val>
          <c:extLst>
            <c:ext xmlns:c16="http://schemas.microsoft.com/office/drawing/2014/chart" uri="{C3380CC4-5D6E-409C-BE32-E72D297353CC}">
              <c16:uniqueId val="{00000000-3E99-7F4E-A054-20AF3D97CC17}"/>
            </c:ext>
          </c:extLst>
        </c:ser>
        <c:ser>
          <c:idx val="1"/>
          <c:order val="1"/>
          <c:tx>
            <c:strRef>
              <c:f>Sheet1!$C$1</c:f>
              <c:strCache>
                <c:ptCount val="1"/>
                <c:pt idx="0">
                  <c:v>Professional Graduate</c:v>
                </c:pt>
              </c:strCache>
            </c:strRef>
          </c:tx>
          <c:spPr>
            <a:solidFill>
              <a:srgbClr val="000000"/>
            </a:solidFill>
          </c:spPr>
          <c:invertIfNegative val="0"/>
          <c:dLbls>
            <c:numFmt formatCode="0.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17160</c:v>
                </c:pt>
                <c:pt idx="1">
                  <c:v>16604</c:v>
                </c:pt>
                <c:pt idx="2">
                  <c:v>19210</c:v>
                </c:pt>
                <c:pt idx="3">
                  <c:v>21855</c:v>
                </c:pt>
                <c:pt idx="4">
                  <c:v>23247</c:v>
                </c:pt>
                <c:pt idx="5">
                  <c:v>22798</c:v>
                </c:pt>
                <c:pt idx="6">
                  <c:v>21431</c:v>
                </c:pt>
                <c:pt idx="7">
                  <c:v>17607</c:v>
                </c:pt>
              </c:numCache>
            </c:numRef>
          </c:val>
          <c:extLst>
            <c:ext xmlns:c16="http://schemas.microsoft.com/office/drawing/2014/chart" uri="{C3380CC4-5D6E-409C-BE32-E72D297353CC}">
              <c16:uniqueId val="{00000001-3E99-7F4E-A054-20AF3D97CC17}"/>
            </c:ext>
          </c:extLst>
        </c:ser>
        <c:ser>
          <c:idx val="2"/>
          <c:order val="2"/>
          <c:tx>
            <c:strRef>
              <c:f>Sheet1!$D$1</c:f>
              <c:strCache>
                <c:ptCount val="1"/>
                <c:pt idx="0">
                  <c:v>JD/PhD</c:v>
                </c:pt>
              </c:strCache>
            </c:strRef>
          </c:tx>
          <c:spPr>
            <a:solidFill>
              <a:srgbClr val="9B9C9E"/>
            </a:solidFill>
          </c:spPr>
          <c:invertIfNegative val="0"/>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2117</c:v>
                </c:pt>
                <c:pt idx="1">
                  <c:v>2166</c:v>
                </c:pt>
                <c:pt idx="2">
                  <c:v>2255</c:v>
                </c:pt>
                <c:pt idx="3">
                  <c:v>2357</c:v>
                </c:pt>
                <c:pt idx="4">
                  <c:v>2508</c:v>
                </c:pt>
                <c:pt idx="5">
                  <c:v>2721</c:v>
                </c:pt>
                <c:pt idx="6">
                  <c:v>2668</c:v>
                </c:pt>
                <c:pt idx="7">
                  <c:v>2590</c:v>
                </c:pt>
              </c:numCache>
            </c:numRef>
          </c:val>
          <c:extLst>
            <c:ext xmlns:c16="http://schemas.microsoft.com/office/drawing/2014/chart" uri="{C3380CC4-5D6E-409C-BE32-E72D297353CC}">
              <c16:uniqueId val="{00000002-3E99-7F4E-A054-20AF3D97CC17}"/>
            </c:ext>
          </c:extLst>
        </c:ser>
        <c:ser>
          <c:idx val="3"/>
          <c:order val="3"/>
          <c:tx>
            <c:strRef>
              <c:f>Sheet1!$E$1</c:f>
              <c:strCache>
                <c:ptCount val="1"/>
                <c:pt idx="0">
                  <c:v>Total</c:v>
                </c:pt>
              </c:strCache>
            </c:strRef>
          </c:tx>
          <c:spPr>
            <a:noFill/>
            <a:ln>
              <a:noFill/>
            </a:ln>
          </c:spPr>
          <c:invertIfNegative val="1"/>
          <c:dLbls>
            <c:dLbl>
              <c:idx val="0"/>
              <c:tx>
                <c:rich>
                  <a:bodyPr/>
                  <a:lstStyle/>
                  <a:p>
                    <a:r>
                      <a:rPr lang="en-US" sz="900" b="1">
                        <a:solidFill>
                          <a:srgbClr val="000000"/>
                        </a:solidFill>
                        <a:latin typeface="Lato"/>
                      </a:rPr>
                      <a:t>37.8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3E99-7F4E-A054-20AF3D97CC17}"/>
                </c:ext>
              </c:extLst>
            </c:dLbl>
            <c:dLbl>
              <c:idx val="1"/>
              <c:tx>
                <c:rich>
                  <a:bodyPr/>
                  <a:lstStyle/>
                  <a:p>
                    <a:r>
                      <a:rPr lang="en-US" sz="900" b="1">
                        <a:solidFill>
                          <a:srgbClr val="000000"/>
                        </a:solidFill>
                        <a:latin typeface="Lato"/>
                      </a:rPr>
                      <a:t>37.8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3E99-7F4E-A054-20AF3D97CC17}"/>
                </c:ext>
              </c:extLst>
            </c:dLbl>
            <c:dLbl>
              <c:idx val="2"/>
              <c:tx>
                <c:rich>
                  <a:bodyPr/>
                  <a:lstStyle/>
                  <a:p>
                    <a:r>
                      <a:rPr lang="en-US" sz="900" b="1">
                        <a:solidFill>
                          <a:srgbClr val="000000"/>
                        </a:solidFill>
                        <a:latin typeface="Lato"/>
                      </a:rPr>
                      <a:t>41.8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3E99-7F4E-A054-20AF3D97CC17}"/>
                </c:ext>
              </c:extLst>
            </c:dLbl>
            <c:dLbl>
              <c:idx val="3"/>
              <c:tx>
                <c:rich>
                  <a:bodyPr/>
                  <a:lstStyle/>
                  <a:p>
                    <a:r>
                      <a:rPr lang="en-US" sz="900" b="1">
                        <a:solidFill>
                          <a:srgbClr val="000000"/>
                        </a:solidFill>
                        <a:latin typeface="Lato"/>
                      </a:rPr>
                      <a:t>45.5</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3E99-7F4E-A054-20AF3D97CC17}"/>
                </c:ext>
              </c:extLst>
            </c:dLbl>
            <c:dLbl>
              <c:idx val="4"/>
              <c:tx>
                <c:rich>
                  <a:bodyPr/>
                  <a:lstStyle/>
                  <a:p>
                    <a:r>
                      <a:rPr lang="en-US" sz="900" b="1">
                        <a:solidFill>
                          <a:srgbClr val="000000"/>
                        </a:solidFill>
                        <a:latin typeface="Lato"/>
                      </a:rPr>
                      <a:t>47.8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3E99-7F4E-A054-20AF3D97CC17}"/>
                </c:ext>
              </c:extLst>
            </c:dLbl>
            <c:dLbl>
              <c:idx val="5"/>
              <c:tx>
                <c:rich>
                  <a:bodyPr/>
                  <a:lstStyle/>
                  <a:p>
                    <a:r>
                      <a:rPr lang="en-US" sz="900" b="1">
                        <a:solidFill>
                          <a:srgbClr val="000000"/>
                        </a:solidFill>
                        <a:latin typeface="Lato"/>
                      </a:rPr>
                      <a:t>48.8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3E99-7F4E-A054-20AF3D97CC17}"/>
                </c:ext>
              </c:extLst>
            </c:dLbl>
            <c:dLbl>
              <c:idx val="6"/>
              <c:tx>
                <c:rich>
                  <a:bodyPr/>
                  <a:lstStyle/>
                  <a:p>
                    <a:r>
                      <a:rPr lang="en-US" sz="900" b="1">
                        <a:solidFill>
                          <a:srgbClr val="000000"/>
                        </a:solidFill>
                        <a:latin typeface="Lato"/>
                      </a:rPr>
                      <a:t>47.4</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3E99-7F4E-A054-20AF3D97CC17}"/>
                </c:ext>
              </c:extLst>
            </c:dLbl>
            <c:dLbl>
              <c:idx val="7"/>
              <c:tx>
                <c:rich>
                  <a:bodyPr/>
                  <a:lstStyle/>
                  <a:p>
                    <a:r>
                      <a:rPr lang="en-US" sz="900" b="1">
                        <a:solidFill>
                          <a:srgbClr val="000000"/>
                        </a:solidFill>
                        <a:latin typeface="Lato"/>
                      </a:rPr>
                      <a:t>45.3</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3E99-7F4E-A054-20AF3D97CC1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Sheet1!$E$2:$E$9</c:f>
              <c:numCache>
                <c:formatCode>General</c:formatCode>
                <c:ptCount val="8"/>
                <c:pt idx="0">
                  <c:v>5000</c:v>
                </c:pt>
                <c:pt idx="1">
                  <c:v>5000</c:v>
                </c:pt>
                <c:pt idx="2">
                  <c:v>5000</c:v>
                </c:pt>
                <c:pt idx="3">
                  <c:v>5000</c:v>
                </c:pt>
                <c:pt idx="4">
                  <c:v>5000</c:v>
                </c:pt>
                <c:pt idx="5">
                  <c:v>5000</c:v>
                </c:pt>
                <c:pt idx="6">
                  <c:v>5000</c:v>
                </c:pt>
                <c:pt idx="7">
                  <c:v>5000</c:v>
                </c:pt>
              </c:numCache>
            </c:numRef>
          </c:val>
          <c:extLst>
            <c:ext xmlns:c16="http://schemas.microsoft.com/office/drawing/2014/chart" uri="{C3380CC4-5D6E-409C-BE32-E72D297353CC}">
              <c16:uniqueId val="{0000000B-3E99-7F4E-A054-20AF3D97CC17}"/>
            </c:ext>
          </c:extLst>
        </c:ser>
        <c:dLbls>
          <c:showLegendKey val="0"/>
          <c:showVal val="0"/>
          <c:showCatName val="0"/>
          <c:showSerName val="0"/>
          <c:showPercent val="0"/>
          <c:showBubbleSize val="0"/>
        </c:dLbls>
        <c:gapWidth val="30"/>
        <c:overlap val="10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13994440"/>
        <c:crosses val="autoZero"/>
        <c:auto val="1"/>
        <c:lblAlgn val="ctr"/>
        <c:lblOffset val="100"/>
        <c:noMultiLvlLbl val="0"/>
      </c:catAx>
      <c:valAx>
        <c:axId val="2113994440"/>
        <c:scaling>
          <c:orientation val="minMax"/>
          <c:max val="60000"/>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068027336"/>
        <c:crosses val="autoZero"/>
        <c:crossBetween val="between"/>
      </c:valAx>
    </c:plotArea>
    <c:plotVisOnly val="1"/>
    <c:dispBlanksAs val="gap"/>
    <c:showDLblsOverMax val="1"/>
  </c:chart>
  <c:txPr>
    <a:bodyPr/>
    <a:lstStyle/>
    <a:p>
      <a:pPr>
        <a:defRPr sz="1800">
          <a:latin typeface="Lato"/>
        </a:defRPr>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stacked"/>
        <c:varyColors val="1"/>
        <c:ser>
          <c:idx val="0"/>
          <c:order val="0"/>
          <c:tx>
            <c:strRef>
              <c:f>Sheet1!$B$1</c:f>
              <c:strCache>
                <c:ptCount val="1"/>
                <c:pt idx="0">
                  <c:v>Undergraduate</c:v>
                </c:pt>
              </c:strCache>
            </c:strRef>
          </c:tx>
          <c:spPr>
            <a:solidFill>
              <a:srgbClr val="C8102E"/>
            </a:solidFill>
          </c:spPr>
          <c:invertIfNegative val="0"/>
          <c:dLbls>
            <c:numFmt formatCode="#,##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623</c:v>
                </c:pt>
                <c:pt idx="1">
                  <c:v>670</c:v>
                </c:pt>
                <c:pt idx="2">
                  <c:v>775</c:v>
                </c:pt>
                <c:pt idx="3">
                  <c:v>869</c:v>
                </c:pt>
                <c:pt idx="4">
                  <c:v>994</c:v>
                </c:pt>
                <c:pt idx="5">
                  <c:v>1133</c:v>
                </c:pt>
                <c:pt idx="6">
                  <c:v>1192</c:v>
                </c:pt>
                <c:pt idx="7">
                  <c:v>1276</c:v>
                </c:pt>
              </c:numCache>
            </c:numRef>
          </c:val>
          <c:extLst>
            <c:ext xmlns:c16="http://schemas.microsoft.com/office/drawing/2014/chart" uri="{C3380CC4-5D6E-409C-BE32-E72D297353CC}">
              <c16:uniqueId val="{00000000-72F7-B748-A2E1-BEC3FF416083}"/>
            </c:ext>
          </c:extLst>
        </c:ser>
        <c:ser>
          <c:idx val="1"/>
          <c:order val="1"/>
          <c:tx>
            <c:strRef>
              <c:f>Sheet1!$C$1</c:f>
              <c:strCache>
                <c:ptCount val="1"/>
                <c:pt idx="0">
                  <c:v>Professional Graduate</c:v>
                </c:pt>
              </c:strCache>
            </c:strRef>
          </c:tx>
          <c:spPr>
            <a:solidFill>
              <a:srgbClr val="000000"/>
            </a:solidFill>
          </c:spPr>
          <c:invertIfNegative val="0"/>
          <c:dLbls>
            <c:numFmt formatCode="#,##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345</c:v>
                </c:pt>
                <c:pt idx="1">
                  <c:v>343</c:v>
                </c:pt>
                <c:pt idx="2">
                  <c:v>416</c:v>
                </c:pt>
                <c:pt idx="3">
                  <c:v>494</c:v>
                </c:pt>
                <c:pt idx="4">
                  <c:v>508</c:v>
                </c:pt>
                <c:pt idx="5">
                  <c:v>486</c:v>
                </c:pt>
                <c:pt idx="6">
                  <c:v>426</c:v>
                </c:pt>
                <c:pt idx="7">
                  <c:v>348</c:v>
                </c:pt>
              </c:numCache>
            </c:numRef>
          </c:val>
          <c:extLst>
            <c:ext xmlns:c16="http://schemas.microsoft.com/office/drawing/2014/chart" uri="{C3380CC4-5D6E-409C-BE32-E72D297353CC}">
              <c16:uniqueId val="{00000001-72F7-B748-A2E1-BEC3FF416083}"/>
            </c:ext>
          </c:extLst>
        </c:ser>
        <c:ser>
          <c:idx val="2"/>
          <c:order val="2"/>
          <c:tx>
            <c:strRef>
              <c:f>Sheet1!$D$1</c:f>
              <c:strCache>
                <c:ptCount val="1"/>
                <c:pt idx="0">
                  <c:v>JD/PhD</c:v>
                </c:pt>
              </c:strCache>
            </c:strRef>
          </c:tx>
          <c:spPr>
            <a:solidFill>
              <a:srgbClr val="9B9C9E"/>
            </a:solidFill>
          </c:spPr>
          <c:invertIfNegative val="0"/>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17</c:v>
                </c:pt>
                <c:pt idx="1">
                  <c:v>17</c:v>
                </c:pt>
                <c:pt idx="2">
                  <c:v>18</c:v>
                </c:pt>
                <c:pt idx="3">
                  <c:v>18</c:v>
                </c:pt>
                <c:pt idx="4">
                  <c:v>19</c:v>
                </c:pt>
                <c:pt idx="5">
                  <c:v>20</c:v>
                </c:pt>
                <c:pt idx="6">
                  <c:v>22</c:v>
                </c:pt>
                <c:pt idx="7">
                  <c:v>22</c:v>
                </c:pt>
              </c:numCache>
            </c:numRef>
          </c:val>
          <c:extLst>
            <c:ext xmlns:c16="http://schemas.microsoft.com/office/drawing/2014/chart" uri="{C3380CC4-5D6E-409C-BE32-E72D297353CC}">
              <c16:uniqueId val="{00000002-72F7-B748-A2E1-BEC3FF416083}"/>
            </c:ext>
          </c:extLst>
        </c:ser>
        <c:ser>
          <c:idx val="3"/>
          <c:order val="3"/>
          <c:tx>
            <c:strRef>
              <c:f>Sheet1!$E$1</c:f>
              <c:strCache>
                <c:ptCount val="1"/>
                <c:pt idx="0">
                  <c:v>Total</c:v>
                </c:pt>
              </c:strCache>
            </c:strRef>
          </c:tx>
          <c:spPr>
            <a:noFill/>
            <a:ln>
              <a:noFill/>
            </a:ln>
          </c:spPr>
          <c:invertIfNegative val="1"/>
          <c:dLbls>
            <c:dLbl>
              <c:idx val="0"/>
              <c:tx>
                <c:rich>
                  <a:bodyPr/>
                  <a:lstStyle/>
                  <a:p>
                    <a:r>
                      <a:rPr lang="en-US" sz="800" b="1">
                        <a:solidFill>
                          <a:srgbClr val="000000"/>
                        </a:solidFill>
                        <a:latin typeface="Lato"/>
                      </a:rPr>
                      <a:t>985</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72F7-B748-A2E1-BEC3FF416083}"/>
                </c:ext>
              </c:extLst>
            </c:dLbl>
            <c:dLbl>
              <c:idx val="1"/>
              <c:tx>
                <c:rich>
                  <a:bodyPr/>
                  <a:lstStyle/>
                  <a:p>
                    <a:r>
                      <a:rPr lang="en-US" sz="800" b="1">
                        <a:solidFill>
                          <a:srgbClr val="000000"/>
                        </a:solidFill>
                        <a:latin typeface="Lato"/>
                      </a:rPr>
                      <a:t>1,030</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72F7-B748-A2E1-BEC3FF416083}"/>
                </c:ext>
              </c:extLst>
            </c:dLbl>
            <c:dLbl>
              <c:idx val="2"/>
              <c:tx>
                <c:rich>
                  <a:bodyPr/>
                  <a:lstStyle/>
                  <a:p>
                    <a:r>
                      <a:rPr lang="en-US" sz="800" b="1">
                        <a:solidFill>
                          <a:srgbClr val="000000"/>
                        </a:solidFill>
                        <a:latin typeface="Lato"/>
                      </a:rPr>
                      <a:t>1,209</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72F7-B748-A2E1-BEC3FF416083}"/>
                </c:ext>
              </c:extLst>
            </c:dLbl>
            <c:dLbl>
              <c:idx val="3"/>
              <c:tx>
                <c:rich>
                  <a:bodyPr/>
                  <a:lstStyle/>
                  <a:p>
                    <a:r>
                      <a:rPr lang="en-US" sz="800" b="1">
                        <a:solidFill>
                          <a:srgbClr val="000000"/>
                        </a:solidFill>
                        <a:latin typeface="Lato"/>
                      </a:rPr>
                      <a:t>1,382</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72F7-B748-A2E1-BEC3FF416083}"/>
                </c:ext>
              </c:extLst>
            </c:dLbl>
            <c:dLbl>
              <c:idx val="4"/>
              <c:tx>
                <c:rich>
                  <a:bodyPr/>
                  <a:lstStyle/>
                  <a:p>
                    <a:r>
                      <a:rPr lang="en-US" sz="800" b="1">
                        <a:solidFill>
                          <a:srgbClr val="000000"/>
                        </a:solidFill>
                        <a:latin typeface="Lato"/>
                      </a:rPr>
                      <a:t>1,521</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72F7-B748-A2E1-BEC3FF416083}"/>
                </c:ext>
              </c:extLst>
            </c:dLbl>
            <c:dLbl>
              <c:idx val="5"/>
              <c:tx>
                <c:rich>
                  <a:bodyPr/>
                  <a:lstStyle/>
                  <a:p>
                    <a:r>
                      <a:rPr lang="en-US" sz="800" b="1">
                        <a:solidFill>
                          <a:srgbClr val="000000"/>
                        </a:solidFill>
                        <a:latin typeface="Lato"/>
                      </a:rPr>
                      <a:t>1,639</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72F7-B748-A2E1-BEC3FF416083}"/>
                </c:ext>
              </c:extLst>
            </c:dLbl>
            <c:dLbl>
              <c:idx val="6"/>
              <c:tx>
                <c:rich>
                  <a:bodyPr/>
                  <a:lstStyle/>
                  <a:p>
                    <a:r>
                      <a:rPr lang="en-US" sz="800" b="1">
                        <a:solidFill>
                          <a:srgbClr val="000000"/>
                        </a:solidFill>
                        <a:latin typeface="Lato"/>
                      </a:rPr>
                      <a:t>1,641</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72F7-B748-A2E1-BEC3FF416083}"/>
                </c:ext>
              </c:extLst>
            </c:dLbl>
            <c:dLbl>
              <c:idx val="7"/>
              <c:layout>
                <c:manualLayout>
                  <c:x val="3.7844383893430216E-3"/>
                  <c:y val="-9.4702636926084563E-3"/>
                </c:manualLayout>
              </c:layout>
              <c:tx>
                <c:rich>
                  <a:bodyPr/>
                  <a:lstStyle/>
                  <a:p>
                    <a:r>
                      <a:rPr lang="en-US" sz="800" b="1">
                        <a:solidFill>
                          <a:srgbClr val="000000"/>
                        </a:solidFill>
                        <a:latin typeface="Lato"/>
                      </a:rPr>
                      <a:t>1,646</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72F7-B748-A2E1-BEC3FF416083}"/>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Sheet1!$E$2:$E$9</c:f>
              <c:numCache>
                <c:formatCode>General</c:formatCode>
                <c:ptCount val="8"/>
                <c:pt idx="0">
                  <c:v>150</c:v>
                </c:pt>
                <c:pt idx="1">
                  <c:v>150</c:v>
                </c:pt>
                <c:pt idx="2">
                  <c:v>150</c:v>
                </c:pt>
                <c:pt idx="3">
                  <c:v>150</c:v>
                </c:pt>
                <c:pt idx="4">
                  <c:v>150</c:v>
                </c:pt>
                <c:pt idx="5">
                  <c:v>150</c:v>
                </c:pt>
                <c:pt idx="6">
                  <c:v>150</c:v>
                </c:pt>
                <c:pt idx="7">
                  <c:v>150</c:v>
                </c:pt>
              </c:numCache>
            </c:numRef>
          </c:val>
          <c:extLst>
            <c:ext xmlns:c16="http://schemas.microsoft.com/office/drawing/2014/chart" uri="{C3380CC4-5D6E-409C-BE32-E72D297353CC}">
              <c16:uniqueId val="{0000000B-72F7-B748-A2E1-BEC3FF416083}"/>
            </c:ext>
          </c:extLst>
        </c:ser>
        <c:dLbls>
          <c:showLegendKey val="0"/>
          <c:showVal val="0"/>
          <c:showCatName val="0"/>
          <c:showSerName val="0"/>
          <c:showPercent val="0"/>
          <c:showBubbleSize val="0"/>
        </c:dLbls>
        <c:gapWidth val="30"/>
        <c:overlap val="10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13994440"/>
        <c:crosses val="autoZero"/>
        <c:auto val="1"/>
        <c:lblAlgn val="ctr"/>
        <c:lblOffset val="100"/>
        <c:noMultiLvlLbl val="0"/>
      </c:catAx>
      <c:valAx>
        <c:axId val="2113994440"/>
        <c:scaling>
          <c:orientation val="minMax"/>
          <c:max val="1800"/>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068027336"/>
        <c:crosses val="autoZero"/>
        <c:crossBetween val="between"/>
      </c:valAx>
    </c:plotArea>
    <c:plotVisOnly val="1"/>
    <c:dispBlanksAs val="gap"/>
    <c:showDLblsOverMax val="1"/>
  </c:chart>
  <c:txPr>
    <a:bodyPr/>
    <a:lstStyle/>
    <a:p>
      <a:pPr>
        <a:defRPr sz="1800">
          <a:latin typeface="Lato"/>
        </a:defRPr>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lineChart>
        <c:grouping val="standard"/>
        <c:varyColors val="0"/>
        <c:ser>
          <c:idx val="0"/>
          <c:order val="0"/>
          <c:tx>
            <c:strRef>
              <c:f>Sheet1!$B$1</c:f>
              <c:strCache>
                <c:ptCount val="1"/>
                <c:pt idx="0">
                  <c:v>Undergraduate</c:v>
                </c:pt>
              </c:strCache>
            </c:strRef>
          </c:tx>
          <c:spPr>
            <a:ln w="28575">
              <a:solidFill>
                <a:srgbClr val="C8102E"/>
              </a:solidFill>
            </a:ln>
          </c:spPr>
          <c:marker>
            <c:symbol val="circle"/>
            <c:size val="6"/>
            <c:spPr>
              <a:solidFill>
                <a:srgbClr val="C8102E"/>
              </a:solidFill>
              <a:ln>
                <a:solidFill>
                  <a:srgbClr val="C8102E"/>
                </a:solidFill>
              </a:ln>
            </c:spPr>
          </c:marker>
          <c:dLbls>
            <c:dLbl>
              <c:idx val="0"/>
              <c:tx>
                <c:rich>
                  <a:bodyPr/>
                  <a:lstStyle/>
                  <a:p>
                    <a:r>
                      <a:rPr lang="en-US" sz="1000" b="1">
                        <a:solidFill>
                          <a:srgbClr val="C8102E"/>
                        </a:solidFill>
                        <a:latin typeface="Lato"/>
                      </a:rPr>
                      <a:t>32%</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EB8C-D648-8CC4-78F282CADB58}"/>
                </c:ext>
              </c:extLst>
            </c:dLbl>
            <c:dLbl>
              <c:idx val="7"/>
              <c:tx>
                <c:rich>
                  <a:bodyPr/>
                  <a:lstStyle/>
                  <a:p>
                    <a:r>
                      <a:rPr lang="en-US" sz="1000" b="1">
                        <a:solidFill>
                          <a:srgbClr val="C8102E"/>
                        </a:solidFill>
                        <a:latin typeface="Lato"/>
                      </a:rPr>
                      <a:t>29.3%</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0.32</c:v>
                </c:pt>
                <c:pt idx="1">
                  <c:v>0.32500000000000001</c:v>
                </c:pt>
                <c:pt idx="2">
                  <c:v>0.34</c:v>
                </c:pt>
                <c:pt idx="3">
                  <c:v>0.316</c:v>
                </c:pt>
                <c:pt idx="4">
                  <c:v>0.29899999999999999</c:v>
                </c:pt>
                <c:pt idx="5">
                  <c:v>0.28799999999999998</c:v>
                </c:pt>
                <c:pt idx="6">
                  <c:v>0.29299999999999998</c:v>
                </c:pt>
                <c:pt idx="7">
                  <c:v>0.29299999999999998</c:v>
                </c:pt>
              </c:numCache>
            </c:numRef>
          </c:val>
          <c:smooth val="0"/>
          <c:extLst>
            <c:ext xmlns:c16="http://schemas.microsoft.com/office/drawing/2014/chart" uri="{C3380CC4-5D6E-409C-BE32-E72D297353CC}">
              <c16:uniqueId val="{00000002-EB8C-D648-8CC4-78F282CADB58}"/>
            </c:ext>
          </c:extLst>
        </c:ser>
        <c:ser>
          <c:idx val="1"/>
          <c:order val="1"/>
          <c:tx>
            <c:strRef>
              <c:f>Sheet1!$C$1</c:f>
              <c:strCache>
                <c:ptCount val="1"/>
                <c:pt idx="0">
                  <c:v>Professional Graduate</c:v>
                </c:pt>
              </c:strCache>
            </c:strRef>
          </c:tx>
          <c:spPr>
            <a:ln w="28575">
              <a:solidFill>
                <a:srgbClr val="000000"/>
              </a:solidFill>
            </a:ln>
          </c:spPr>
          <c:marker>
            <c:symbol val="circle"/>
            <c:size val="6"/>
            <c:spPr>
              <a:solidFill>
                <a:srgbClr val="000000"/>
              </a:solidFill>
              <a:ln>
                <a:solidFill>
                  <a:srgbClr val="000000"/>
                </a:solidFill>
              </a:ln>
            </c:spPr>
          </c:marker>
          <c:dLbls>
            <c:dLbl>
              <c:idx val="0"/>
              <c:tx>
                <c:rich>
                  <a:bodyPr/>
                  <a:lstStyle/>
                  <a:p>
                    <a:r>
                      <a:rPr lang="en-US" sz="1000" b="1">
                        <a:solidFill>
                          <a:srgbClr val="000000"/>
                        </a:solidFill>
                        <a:latin typeface="Lato"/>
                      </a:rPr>
                      <a:t>8%</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EB8C-D648-8CC4-78F282CADB58}"/>
                </c:ext>
              </c:extLst>
            </c:dLbl>
            <c:dLbl>
              <c:idx val="7"/>
              <c:tx>
                <c:rich>
                  <a:bodyPr/>
                  <a:lstStyle/>
                  <a:p>
                    <a:r>
                      <a:rPr lang="en-US" sz="1000" b="1">
                        <a:solidFill>
                          <a:srgbClr val="000000"/>
                        </a:solidFill>
                        <a:latin typeface="Lato"/>
                      </a:rPr>
                      <a:t>19%</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7.4999999999999997E-2</c:v>
                </c:pt>
                <c:pt idx="1">
                  <c:v>0.113</c:v>
                </c:pt>
                <c:pt idx="2">
                  <c:v>8.5000000000000006E-2</c:v>
                </c:pt>
                <c:pt idx="3">
                  <c:v>8.6999999999999994E-2</c:v>
                </c:pt>
                <c:pt idx="4">
                  <c:v>0.11700000000000001</c:v>
                </c:pt>
                <c:pt idx="5">
                  <c:v>0.14899999999999999</c:v>
                </c:pt>
                <c:pt idx="6">
                  <c:v>0.193</c:v>
                </c:pt>
                <c:pt idx="7">
                  <c:v>0.19500000000000001</c:v>
                </c:pt>
              </c:numCache>
            </c:numRef>
          </c:val>
          <c:smooth val="0"/>
          <c:extLst>
            <c:ext xmlns:c16="http://schemas.microsoft.com/office/drawing/2014/chart" uri="{C3380CC4-5D6E-409C-BE32-E72D297353CC}">
              <c16:uniqueId val="{00000005-EB8C-D648-8CC4-78F282CADB58}"/>
            </c:ext>
          </c:extLst>
        </c:ser>
        <c:ser>
          <c:idx val="2"/>
          <c:order val="2"/>
          <c:tx>
            <c:strRef>
              <c:f>Sheet1!$D$1</c:f>
              <c:strCache>
                <c:ptCount val="1"/>
                <c:pt idx="0">
                  <c:v>JD/PhD</c:v>
                </c:pt>
              </c:strCache>
            </c:strRef>
          </c:tx>
          <c:spPr>
            <a:ln w="28575">
              <a:solidFill>
                <a:srgbClr val="9B9C9E"/>
              </a:solidFill>
            </a:ln>
          </c:spPr>
          <c:marker>
            <c:symbol val="circle"/>
            <c:size val="6"/>
            <c:spPr>
              <a:solidFill>
                <a:srgbClr val="9B9C9E"/>
              </a:solidFill>
              <a:ln>
                <a:solidFill>
                  <a:srgbClr val="9B9C9E"/>
                </a:solidFill>
              </a:ln>
            </c:spPr>
          </c:marker>
          <c:dLbls>
            <c:dLbl>
              <c:idx val="0"/>
              <c:tx>
                <c:rich>
                  <a:bodyPr/>
                  <a:lstStyle/>
                  <a:p>
                    <a:r>
                      <a:rPr lang="en-US" sz="1000" b="1">
                        <a:solidFill>
                          <a:srgbClr val="6E6F73"/>
                        </a:solidFill>
                        <a:latin typeface="Lato"/>
                      </a:rPr>
                      <a:t>70%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EB8C-D648-8CC4-78F282CADB58}"/>
                </c:ext>
              </c:extLst>
            </c:dLbl>
            <c:dLbl>
              <c:idx val="7"/>
              <c:tx>
                <c:rich>
                  <a:bodyPr/>
                  <a:lstStyle/>
                  <a:p>
                    <a:r>
                      <a:rPr lang="en-US" sz="1000" b="1">
                        <a:solidFill>
                          <a:srgbClr val="6E6F73"/>
                        </a:solidFill>
                        <a:latin typeface="Lato"/>
                      </a:rPr>
                      <a:t>80%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0.7</c:v>
                </c:pt>
                <c:pt idx="1">
                  <c:v>0.71</c:v>
                </c:pt>
                <c:pt idx="2">
                  <c:v>0.73</c:v>
                </c:pt>
                <c:pt idx="3">
                  <c:v>0.73</c:v>
                </c:pt>
                <c:pt idx="4">
                  <c:v>0.74</c:v>
                </c:pt>
                <c:pt idx="5">
                  <c:v>0.83</c:v>
                </c:pt>
                <c:pt idx="6">
                  <c:v>0.83</c:v>
                </c:pt>
                <c:pt idx="7">
                  <c:v>0.8</c:v>
                </c:pt>
              </c:numCache>
            </c:numRef>
          </c:val>
          <c:smooth val="0"/>
          <c:extLst>
            <c:ext xmlns:c16="http://schemas.microsoft.com/office/drawing/2014/chart" uri="{C3380CC4-5D6E-409C-BE32-E72D297353CC}">
              <c16:uniqueId val="{00000008-EB8C-D648-8CC4-78F282CADB58}"/>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40495176"/>
        <c:crosses val="autoZero"/>
        <c:auto val="1"/>
        <c:lblAlgn val="ctr"/>
        <c:lblOffset val="100"/>
        <c:noMultiLvlLbl val="0"/>
      </c:catAx>
      <c:valAx>
        <c:axId val="2140495176"/>
        <c:scaling>
          <c:orientation val="minMax"/>
          <c:max val="1"/>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118791784"/>
        <c:crosses val="autoZero"/>
        <c:crossBetween val="between"/>
        <c:majorUnit val="0.2"/>
      </c:valAx>
    </c:plotArea>
    <c:plotVisOnly val="1"/>
    <c:dispBlanksAs val="gap"/>
    <c:showDLblsOverMax val="0"/>
  </c:chart>
  <c:txPr>
    <a:bodyPr/>
    <a:lstStyle/>
    <a:p>
      <a:pPr>
        <a:defRPr sz="1800">
          <a:latin typeface="Lato"/>
        </a:defRPr>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030489275986556"/>
          <c:y val="4.5175E-2"/>
          <c:w val="0.87865812029987944"/>
          <c:h val="0.71868600000000005"/>
        </c:manualLayout>
      </c:layout>
      <c:barChart>
        <c:barDir val="col"/>
        <c:grouping val="stacked"/>
        <c:varyColors val="1"/>
        <c:ser>
          <c:idx val="0"/>
          <c:order val="0"/>
          <c:tx>
            <c:strRef>
              <c:f>Sheet1!$B$1</c:f>
              <c:strCache>
                <c:ptCount val="1"/>
                <c:pt idx="0">
                  <c:v>Undergraduate</c:v>
                </c:pt>
              </c:strCache>
            </c:strRef>
          </c:tx>
          <c:spPr>
            <a:solidFill>
              <a:srgbClr val="C8102E"/>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18502</c:v>
                </c:pt>
                <c:pt idx="1">
                  <c:v>19055</c:v>
                </c:pt>
                <c:pt idx="2">
                  <c:v>20377</c:v>
                </c:pt>
                <c:pt idx="3">
                  <c:v>21256</c:v>
                </c:pt>
                <c:pt idx="4">
                  <c:v>22015</c:v>
                </c:pt>
                <c:pt idx="5">
                  <c:v>23293</c:v>
                </c:pt>
                <c:pt idx="6">
                  <c:v>23268</c:v>
                </c:pt>
                <c:pt idx="7">
                  <c:v>25103</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B01E-40E7-872C-1B1BD8862E8C}"/>
            </c:ext>
          </c:extLst>
        </c:ser>
        <c:ser>
          <c:idx val="1"/>
          <c:order val="1"/>
          <c:tx>
            <c:strRef>
              <c:f>Sheet1!$C$1</c:f>
              <c:strCache>
                <c:ptCount val="1"/>
                <c:pt idx="0">
                  <c:v>Professional Graduate</c:v>
                </c:pt>
              </c:strCache>
            </c:strRef>
          </c:tx>
          <c:spPr>
            <a:solidFill>
              <a:srgbClr val="000000"/>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17160</c:v>
                </c:pt>
                <c:pt idx="1">
                  <c:v>16604</c:v>
                </c:pt>
                <c:pt idx="2">
                  <c:v>19210</c:v>
                </c:pt>
                <c:pt idx="3">
                  <c:v>21855</c:v>
                </c:pt>
                <c:pt idx="4">
                  <c:v>23247</c:v>
                </c:pt>
                <c:pt idx="5">
                  <c:v>22798</c:v>
                </c:pt>
                <c:pt idx="6">
                  <c:v>21431</c:v>
                </c:pt>
                <c:pt idx="7">
                  <c:v>17607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B01E-40E7-872C-1B1BD8862E8C}"/>
            </c:ext>
          </c:extLst>
        </c:ser>
        <c:ser>
          <c:idx val="2"/>
          <c:order val="2"/>
          <c:tx>
            <c:strRef>
              <c:f>Sheet1!$D$1</c:f>
              <c:strCache>
                <c:ptCount val="1"/>
                <c:pt idx="0">
                  <c:v>JD/PhD</c:v>
                </c:pt>
              </c:strCache>
            </c:strRef>
          </c:tx>
          <c:spPr>
            <a:solidFill>
              <a:srgbClr val="9B9C9E"/>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2117</c:v>
                </c:pt>
                <c:pt idx="1">
                  <c:v>2166</c:v>
                </c:pt>
                <c:pt idx="2">
                  <c:v>2255</c:v>
                </c:pt>
                <c:pt idx="3">
                  <c:v>2357</c:v>
                </c:pt>
                <c:pt idx="4">
                  <c:v>2508</c:v>
                </c:pt>
                <c:pt idx="5">
                  <c:v>2721</c:v>
                </c:pt>
                <c:pt idx="6">
                  <c:v>2668</c:v>
                </c:pt>
                <c:pt idx="7">
                  <c:v>2590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B01E-40E7-872C-1B1BD8862E8C}"/>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b"/>
        <c:numFmt formatCode="General" sourceLinked="0"/>
        <c:majorTickMark val="out"/>
        <c:minorTickMark val="none"/>
        <c:tickLblPos val="nextTo"/>
        <c:spPr>
          <a:ln w="12700">
            <a:solidFill>
              <a:srgbClr val="000000"/>
            </a:solidFill>
          </a:ln>
        </c:spPr>
        <c:txPr>
          <a:bodyPr/>
          <a:lstStyle/>
          <a:p>
            <a:pPr>
              <a:defRPr sz="1100">
                <a:solidFill>
                  <a:srgbClr val="000000"/>
                </a:solidFill>
                <a:latin typeface="Lato"/>
              </a:defRPr>
            </a:pPr>
            <a:endParaRPr lang="en-US"/>
          </a:p>
        </c:txPr>
        <c:crossAx val="2113994440"/>
        <c:crosses val="autoZero"/>
        <c:auto val="1"/>
        <c:lblAlgn val="ctr"/>
        <c:lblOffset val="100"/>
        <c:noMultiLvlLbl val="0"/>
      </c:catAx>
      <c:valAx>
        <c:axId val="2113994440"/>
        <c:scaling>
          <c:orientation val="minMax"/>
          <c:max val="50000"/>
          <c:min val="0"/>
        </c:scaling>
        <c:delete val="0"/>
        <c:axPos val="l"/>
        <c:title>
          <c:tx>
            <c:rich>
              <a:bodyPr rot="-5400000" vert="horz"/>
              <a:lstStyle/>
              <a:p>
                <a:pPr>
                  <a:defRPr sz="1000" b="1">
                    <a:solidFill>
                      <a:srgbClr val="49494D"/>
                    </a:solidFill>
                    <a:latin typeface="Lato"/>
                  </a:defRPr>
                </a:pPr>
                <a:r>
                  <a:rPr lang="en-US" sz="1000" b="1">
                    <a:solidFill>
                      <a:srgbClr val="49494D"/>
                    </a:solidFill>
                    <a:latin typeface="Lato"/>
                  </a:rPr>
                  <a:t>Degree-seeking students</a:t>
                </a:r>
              </a:p>
            </c:rich>
          </c:tx>
          <c:overlay val="0"/>
        </c:title>
        <c:numFmt formatCode="#,##0" sourceLinked="0"/>
        <c:majorTickMark val="out"/>
        <c:minorTickMark val="none"/>
        <c:tickLblPos val="nextTo"/>
        <c:spPr>
          <a:ln w="12700">
            <a:solidFill>
              <a:srgbClr val="000000"/>
            </a:solidFill>
          </a:ln>
        </c:spPr>
        <c:txPr>
          <a:bodyPr/>
          <a:lstStyle/>
          <a:p>
            <a:pPr>
              <a:defRPr sz="1000">
                <a:solidFill>
                  <a:srgbClr val="000000"/>
                </a:solidFill>
                <a:latin typeface="Lato"/>
              </a:defRPr>
            </a:pPr>
            <a:endParaRPr lang="en-US"/>
          </a:p>
        </c:txPr>
        <c:crossAx val="2068027336"/>
        <c:crosses val="autoZero"/>
        <c:crossBetween val="between"/>
        <c:majorUnit val="10000"/>
      </c:valAx>
    </c:plotArea>
    <c:legend>
      <c:legendPos val="b"/>
      <c:overlay val="0"/>
      <c:txPr>
        <a:bodyPr/>
        <a:lstStyle/>
        <a:p>
          <a:pPr>
            <a:defRPr sz="1100">
              <a:solidFill>
                <a:srgbClr val="000000"/>
              </a:solidFill>
              <a:latin typeface="Lato"/>
            </a:defRPr>
          </a:pPr>
          <a:endParaRPr lang="en-US"/>
        </a:p>
      </c:txPr>
    </c:legend>
    <c:plotVisOnly val="1"/>
    <c:dispBlanksAs val="gap"/>
    <c:showDLblsOverMax val="1"/>
  </c:chart>
  <c:txPr>
    <a:bodyPr/>
    <a:lstStyle/>
    <a:p>
      <a:pPr>
        <a:defRPr sz="1800">
          <a:latin typeface="Lato"/>
        </a:defRPr>
      </a:pPr>
      <a:endParaRPr lang="en-US"/>
    </a:p>
  </c:txPr>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7.4999999999999997E-2"/>
          <c:y val="0.09"/>
          <c:w val="0.8"/>
          <c:h val="0.8"/>
        </c:manualLayout>
      </c:layout>
      <c:barChart>
        <c:barDir val="col"/>
        <c:grouping val="clustered"/>
        <c:varyColors val="0"/>
        <c:ser>
          <c:idx val="0"/>
          <c:order val="0"/>
          <c:tx>
            <c:strRef>
              <c:f>Sheet1!$B$1</c:f>
              <c:strCache>
                <c:ptCount val="1"/>
                <c:pt idx="0">
                  <c:v>Professional graduate students</c:v>
                </c:pt>
              </c:strCache>
            </c:strRef>
          </c:tx>
          <c:spPr>
            <a:solidFill>
              <a:srgbClr val="000000"/>
            </a:solidFill>
          </c:spPr>
          <c:invertIfNegative val="1"/>
          <c:dPt>
            <c:idx val="5"/>
            <c:invertIfNegative val="1"/>
            <c:bubble3D val="0"/>
            <c:spPr>
              <a:solidFill>
                <a:srgbClr val="C8102E"/>
              </a:solidFill>
            </c:spPr>
            <c:extLst>
              <c:ext xmlns:c16="http://schemas.microsoft.com/office/drawing/2014/chart" uri="{C3380CC4-5D6E-409C-BE32-E72D297353CC}">
                <c16:uniqueId val="{00000001-13B4-4DEA-A751-A0AD91953341}"/>
              </c:ext>
            </c:extLst>
          </c:dPt>
          <c:dPt>
            <c:idx val="6"/>
            <c:invertIfNegative val="1"/>
            <c:bubble3D val="0"/>
            <c:spPr>
              <a:solidFill>
                <a:srgbClr val="C8102E"/>
              </a:solidFill>
            </c:spPr>
            <c:extLst>
              <c:ext xmlns:c16="http://schemas.microsoft.com/office/drawing/2014/chart" uri="{C3380CC4-5D6E-409C-BE32-E72D297353CC}">
                <c16:uniqueId val="{00000003-13B4-4DEA-A751-A0AD91953341}"/>
              </c:ext>
            </c:extLst>
          </c:dPt>
          <c:dPt>
            <c:idx val="7"/>
            <c:invertIfNegative val="1"/>
            <c:bubble3D val="0"/>
            <c:spPr>
              <a:solidFill>
                <a:srgbClr val="C8102E"/>
              </a:solidFill>
            </c:spPr>
            <c:extLst>
              <c:ext xmlns:c16="http://schemas.microsoft.com/office/drawing/2014/chart" uri="{C3380CC4-5D6E-409C-BE32-E72D297353CC}">
                <c16:uniqueId val="{00000005-13B4-4DEA-A751-A0AD91953341}"/>
              </c:ext>
            </c:extLst>
          </c:dPt>
          <c:dLbls>
            <c:numFmt formatCode="#,##0" sourceLinked="0"/>
            <c:spPr>
              <a:noFill/>
              <a:ln>
                <a:noFill/>
              </a:ln>
              <a:effectLst/>
            </c:spPr>
            <c:txPr>
              <a:bodyPr/>
              <a:lstStyle/>
              <a:p>
                <a:pPr>
                  <a:defRPr sz="1500" b="1">
                    <a:solidFill>
                      <a:srgbClr val="000000"/>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17160</c:v>
                </c:pt>
                <c:pt idx="1">
                  <c:v>16604</c:v>
                </c:pt>
                <c:pt idx="2">
                  <c:v>19210</c:v>
                </c:pt>
                <c:pt idx="3">
                  <c:v>21855</c:v>
                </c:pt>
                <c:pt idx="4">
                  <c:v>23247</c:v>
                </c:pt>
                <c:pt idx="5">
                  <c:v>22798</c:v>
                </c:pt>
                <c:pt idx="6">
                  <c:v>21431</c:v>
                </c:pt>
                <c:pt idx="7">
                  <c:v>17607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6-13B4-4DEA-A751-A0AD91953341}"/>
            </c:ext>
          </c:extLst>
        </c:ser>
        <c:dLbls>
          <c:dLblPos val="outEnd"/>
          <c:showLegendKey val="0"/>
          <c:showVal val="1"/>
          <c:showCatName val="0"/>
          <c:showSerName val="0"/>
          <c:showPercent val="0"/>
          <c:showBubbleSize val="0"/>
        </c:dLbls>
        <c:gapWidth val="40"/>
        <c:axId val="-2068027336"/>
        <c:axId val="-2113994440"/>
      </c:barChart>
      <c:catAx>
        <c:axId val="-2068027336"/>
        <c:scaling>
          <c:orientation val="minMax"/>
        </c:scaling>
        <c:delete val="0"/>
        <c:axPos val="b"/>
        <c:numFmt formatCode="General" sourceLinked="0"/>
        <c:majorTickMark val="out"/>
        <c:minorTickMark val="none"/>
        <c:tickLblPos val="nextTo"/>
        <c:spPr>
          <a:ln w="12700">
            <a:solidFill>
              <a:srgbClr val="000000"/>
            </a:solidFill>
          </a:ln>
        </c:spPr>
        <c:txPr>
          <a:bodyPr/>
          <a:lstStyle/>
          <a:p>
            <a:pPr>
              <a:defRPr sz="1300" b="1"/>
            </a:pPr>
            <a:endParaRPr lang="en-US"/>
          </a:p>
        </c:txPr>
        <c:crossAx val="-2113994440"/>
        <c:crosses val="autoZero"/>
        <c:auto val="1"/>
        <c:lblAlgn val="ctr"/>
        <c:lblOffset val="100"/>
        <c:noMultiLvlLbl val="0"/>
      </c:catAx>
      <c:valAx>
        <c:axId val="-2113994440"/>
        <c:scaling>
          <c:orientation val="minMax"/>
          <c:max val="25000"/>
          <c:min val="0"/>
        </c:scaling>
        <c:delete val="0"/>
        <c:axPos val="l"/>
        <c:majorGridlines>
          <c:spPr>
            <a:ln w="6350">
              <a:solidFill>
                <a:srgbClr val="D9D9D9"/>
              </a:solidFill>
            </a:ln>
          </c:spPr>
        </c:majorGridlines>
        <c:numFmt formatCode="#,##0" sourceLinked="0"/>
        <c:majorTickMark val="out"/>
        <c:minorTickMark val="none"/>
        <c:tickLblPos val="nextTo"/>
        <c:spPr>
          <a:ln>
            <a:noFill/>
          </a:ln>
        </c:spPr>
        <c:txPr>
          <a:bodyPr/>
          <a:lstStyle/>
          <a:p>
            <a:pPr>
              <a:defRPr sz="1000">
                <a:solidFill>
                  <a:srgbClr val="595959"/>
                </a:solidFill>
              </a:defRPr>
            </a:pPr>
            <a:endParaRPr lang="en-US"/>
          </a:p>
        </c:txPr>
        <c:crossAx val="-2068027336"/>
        <c:crosses val="autoZero"/>
        <c:crossBetween val="between"/>
        <c:majorUnit val="5000"/>
      </c:valAx>
    </c:plotArea>
    <c:plotVisOnly val="1"/>
    <c:dispBlanksAs val="gap"/>
    <c:showDLblsOverMax val="1"/>
  </c:chart>
  <c:txPr>
    <a:bodyPr/>
    <a:lstStyle/>
    <a:p>
      <a:pPr>
        <a:defRPr sz="1200">
          <a:latin typeface="Lato"/>
        </a:defRPr>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PG Actuals / Forecast</c:v>
                </c:pt>
              </c:strCache>
            </c:strRef>
          </c:tx>
          <c:spPr>
            <a:ln w="28575" cap="rnd">
              <a:solidFill>
                <a:srgbClr val="000000"/>
              </a:solidFill>
              <a:round/>
            </a:ln>
            <a:effectLst/>
          </c:spPr>
          <c:marker>
            <c:symbol val="circle"/>
            <c:size val="12"/>
            <c:spPr>
              <a:solidFill>
                <a:srgbClr val="000000"/>
              </a:solidFill>
              <a:ln w="9525">
                <a:solidFill>
                  <a:srgbClr val="000000"/>
                </a:solidFill>
              </a:ln>
              <a:effectLst/>
            </c:spPr>
          </c:marker>
          <c:dPt>
            <c:idx val="3"/>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0-B09B-734A-BDEE-A0667942C02F}"/>
              </c:ext>
            </c:extLst>
          </c:dPt>
          <c:dPt>
            <c:idx val="4"/>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5-B09B-734A-BDEE-A0667942C02F}"/>
              </c:ext>
            </c:extLst>
          </c:dPt>
          <c:dPt>
            <c:idx val="5"/>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6-B09B-734A-BDEE-A0667942C02F}"/>
              </c:ext>
            </c:extLst>
          </c:dPt>
          <c:dPt>
            <c:idx val="6"/>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7-B09B-734A-BDEE-A0667942C02F}"/>
              </c:ext>
            </c:extLst>
          </c:dPt>
          <c:dLbls>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000000"/>
                    </a:solidFill>
                    <a:latin typeface="Lato"/>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Sheet1!$B$2:$B$8</c:f>
              <c:numCache>
                <c:formatCode>#,##0</c:formatCode>
                <c:ptCount val="7"/>
                <c:pt idx="0">
                  <c:v>11030</c:v>
                </c:pt>
                <c:pt idx="1">
                  <c:v>10748</c:v>
                </c:pt>
                <c:pt idx="2">
                  <c:v>9822</c:v>
                </c:pt>
                <c:pt idx="3">
                  <c:v>8900</c:v>
                </c:pt>
              </c:numCache>
            </c:numRef>
          </c:val>
          <c:smooth val="0"/>
          <c:extLst>
            <c:ext xmlns:c16="http://schemas.microsoft.com/office/drawing/2014/chart" uri="{C3380CC4-5D6E-409C-BE32-E72D297353CC}">
              <c16:uniqueId val="{00000000-30DD-B74C-97B0-70A37442C61D}"/>
            </c:ext>
          </c:extLst>
        </c:ser>
        <c:ser>
          <c:idx val="1"/>
          <c:order val="1"/>
          <c:tx>
            <c:strRef>
              <c:f>Sheet1!$C$1</c:f>
              <c:strCache>
                <c:ptCount val="1"/>
                <c:pt idx="0">
                  <c:v>PG Low</c:v>
                </c:pt>
              </c:strCache>
            </c:strRef>
          </c:tx>
          <c:spPr>
            <a:ln w="28575" cap="rnd">
              <a:solidFill>
                <a:srgbClr val="C8102E"/>
              </a:solidFill>
              <a:round/>
            </a:ln>
            <a:effectLst/>
          </c:spPr>
          <c:marker>
            <c:symbol val="circle"/>
            <c:size val="5"/>
            <c:spPr>
              <a:solidFill>
                <a:srgbClr val="C8102E"/>
              </a:solidFill>
              <a:ln w="25400">
                <a:noFill/>
              </a:ln>
              <a:effectLst/>
            </c:spPr>
          </c:marker>
          <c:dPt>
            <c:idx val="3"/>
            <c:marker>
              <c:symbol val="circle"/>
              <c:size val="5"/>
              <c:spPr>
                <a:solidFill>
                  <a:srgbClr val="C8102E"/>
                </a:solidFill>
                <a:ln w="25400">
                  <a:noFill/>
                </a:ln>
                <a:effectLst/>
              </c:spPr>
            </c:marker>
            <c:bubble3D val="0"/>
            <c:extLst>
              <c:ext xmlns:c16="http://schemas.microsoft.com/office/drawing/2014/chart" uri="{C3380CC4-5D6E-409C-BE32-E72D297353CC}">
                <c16:uniqueId val="{00000003-70C5-4642-BA3F-9AEECB991F15}"/>
              </c:ext>
            </c:extLst>
          </c:dPt>
          <c:dLbls>
            <c:dLbl>
              <c:idx val="3"/>
              <c:delete val="1"/>
              <c:extLst>
                <c:ext xmlns:c15="http://schemas.microsoft.com/office/drawing/2012/chart" uri="{CE6537A1-D6FC-4f65-9D91-7224C49458BB}"/>
                <c:ext xmlns:c16="http://schemas.microsoft.com/office/drawing/2014/chart" uri="{C3380CC4-5D6E-409C-BE32-E72D297353CC}">
                  <c16:uniqueId val="{00000003-70C5-4642-BA3F-9AEECB991F15}"/>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C8102E"/>
                    </a:solidFill>
                    <a:latin typeface="Lato"/>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Sheet1!$C$2:$C$8</c:f>
              <c:numCache>
                <c:formatCode>General</c:formatCode>
                <c:ptCount val="7"/>
                <c:pt idx="3" formatCode="#,##0">
                  <c:v>8900</c:v>
                </c:pt>
                <c:pt idx="4" formatCode="#,##0">
                  <c:v>8000</c:v>
                </c:pt>
                <c:pt idx="5" formatCode="#,##0">
                  <c:v>7900</c:v>
                </c:pt>
                <c:pt idx="6" formatCode="#,##0">
                  <c:v>7800</c:v>
                </c:pt>
              </c:numCache>
            </c:numRef>
          </c:val>
          <c:smooth val="0"/>
          <c:extLst>
            <c:ext xmlns:c16="http://schemas.microsoft.com/office/drawing/2014/chart" uri="{C3380CC4-5D6E-409C-BE32-E72D297353CC}">
              <c16:uniqueId val="{00000001-30DD-B74C-97B0-70A37442C61D}"/>
            </c:ext>
          </c:extLst>
        </c:ser>
        <c:ser>
          <c:idx val="2"/>
          <c:order val="2"/>
          <c:tx>
            <c:strRef>
              <c:f>Sheet1!$D$1</c:f>
              <c:strCache>
                <c:ptCount val="1"/>
                <c:pt idx="0">
                  <c:v>PG Medium</c:v>
                </c:pt>
              </c:strCache>
            </c:strRef>
          </c:tx>
          <c:spPr>
            <a:ln w="28575" cap="rnd">
              <a:solidFill>
                <a:srgbClr val="6E6F73"/>
              </a:solidFill>
              <a:round/>
            </a:ln>
            <a:effectLst/>
          </c:spPr>
          <c:marker>
            <c:symbol val="circle"/>
            <c:size val="5"/>
            <c:spPr>
              <a:solidFill>
                <a:srgbClr val="6E6F73"/>
              </a:solidFill>
              <a:ln w="9525">
                <a:noFill/>
              </a:ln>
              <a:effectLst/>
            </c:spPr>
          </c:marker>
          <c:dPt>
            <c:idx val="0"/>
            <c:marker>
              <c:symbol val="circle"/>
              <c:size val="5"/>
              <c:spPr>
                <a:solidFill>
                  <a:srgbClr val="6E6F73"/>
                </a:solidFill>
                <a:ln w="9525">
                  <a:noFill/>
                </a:ln>
                <a:effectLst/>
              </c:spPr>
            </c:marker>
            <c:bubble3D val="0"/>
            <c:extLst>
              <c:ext xmlns:c16="http://schemas.microsoft.com/office/drawing/2014/chart" uri="{C3380CC4-5D6E-409C-BE32-E72D297353CC}">
                <c16:uniqueId val="{00000007-70C5-4642-BA3F-9AEECB991F15}"/>
              </c:ext>
            </c:extLst>
          </c:dPt>
          <c:dPt>
            <c:idx val="3"/>
            <c:marker>
              <c:symbol val="circle"/>
              <c:size val="5"/>
              <c:spPr>
                <a:solidFill>
                  <a:srgbClr val="6E6F73"/>
                </a:solidFill>
                <a:ln w="9525">
                  <a:noFill/>
                </a:ln>
                <a:effectLst/>
              </c:spPr>
            </c:marker>
            <c:bubble3D val="0"/>
            <c:extLst>
              <c:ext xmlns:c16="http://schemas.microsoft.com/office/drawing/2014/chart" uri="{C3380CC4-5D6E-409C-BE32-E72D297353CC}">
                <c16:uniqueId val="{00000004-70C5-4642-BA3F-9AEECB991F15}"/>
              </c:ext>
            </c:extLst>
          </c:dPt>
          <c:cat>
            <c:strRef>
              <c:f>Sheet1!$A$2:$A$8</c:f>
              <c:strCache>
                <c:ptCount val="7"/>
                <c:pt idx="0">
                  <c:v>FY23</c:v>
                </c:pt>
                <c:pt idx="1">
                  <c:v>FY24</c:v>
                </c:pt>
                <c:pt idx="2">
                  <c:v>FY25</c:v>
                </c:pt>
                <c:pt idx="3">
                  <c:v>FY26</c:v>
                </c:pt>
                <c:pt idx="4">
                  <c:v>FY27</c:v>
                </c:pt>
                <c:pt idx="5">
                  <c:v>FY28</c:v>
                </c:pt>
                <c:pt idx="6">
                  <c:v>FY29</c:v>
                </c:pt>
              </c:strCache>
            </c:strRef>
          </c:cat>
          <c:val>
            <c:numRef>
              <c:f>Sheet1!$D$2:$D$8</c:f>
              <c:numCache>
                <c:formatCode>General</c:formatCode>
                <c:ptCount val="7"/>
                <c:pt idx="3" formatCode="#,##0">
                  <c:v>8900</c:v>
                </c:pt>
                <c:pt idx="4" formatCode="#,##0">
                  <c:v>8400</c:v>
                </c:pt>
                <c:pt idx="5" formatCode="#,##0">
                  <c:v>8300</c:v>
                </c:pt>
                <c:pt idx="6" formatCode="#,##0">
                  <c:v>8200</c:v>
                </c:pt>
              </c:numCache>
            </c:numRef>
          </c:val>
          <c:smooth val="0"/>
          <c:extLst>
            <c:ext xmlns:c16="http://schemas.microsoft.com/office/drawing/2014/chart" uri="{C3380CC4-5D6E-409C-BE32-E72D297353CC}">
              <c16:uniqueId val="{00000000-70C5-4642-BA3F-9AEECB991F15}"/>
            </c:ext>
          </c:extLst>
        </c:ser>
        <c:ser>
          <c:idx val="3"/>
          <c:order val="3"/>
          <c:tx>
            <c:strRef>
              <c:f>Sheet1!$E$1</c:f>
              <c:strCache>
                <c:ptCount val="1"/>
                <c:pt idx="0">
                  <c:v>PG High</c:v>
                </c:pt>
              </c:strCache>
            </c:strRef>
          </c:tx>
          <c:spPr>
            <a:ln w="28575" cap="rnd">
              <a:solidFill>
                <a:srgbClr val="E8A0AB"/>
              </a:solidFill>
              <a:round/>
            </a:ln>
            <a:effectLst/>
          </c:spPr>
          <c:marker>
            <c:symbol val="circle"/>
            <c:size val="5"/>
            <c:spPr>
              <a:solidFill>
                <a:srgbClr val="E8A0AB"/>
              </a:solidFill>
              <a:ln w="9525">
                <a:noFill/>
              </a:ln>
              <a:effectLst/>
            </c:spPr>
          </c:marker>
          <c:dPt>
            <c:idx val="3"/>
            <c:marker>
              <c:symbol val="circle"/>
              <c:size val="5"/>
              <c:spPr>
                <a:solidFill>
                  <a:srgbClr val="E8A0AB"/>
                </a:solidFill>
                <a:ln w="9525">
                  <a:noFill/>
                </a:ln>
                <a:effectLst/>
              </c:spPr>
            </c:marker>
            <c:bubble3D val="0"/>
            <c:extLst>
              <c:ext xmlns:c16="http://schemas.microsoft.com/office/drawing/2014/chart" uri="{C3380CC4-5D6E-409C-BE32-E72D297353CC}">
                <c16:uniqueId val="{00000002-70C5-4642-BA3F-9AEECB991F15}"/>
              </c:ext>
            </c:extLst>
          </c:dPt>
          <c:dLbls>
            <c:dLbl>
              <c:idx val="3"/>
              <c:delete val="1"/>
              <c:extLst>
                <c:ext xmlns:c15="http://schemas.microsoft.com/office/drawing/2012/chart" uri="{CE6537A1-D6FC-4f65-9D91-7224C49458BB}"/>
                <c:ext xmlns:c16="http://schemas.microsoft.com/office/drawing/2014/chart" uri="{C3380CC4-5D6E-409C-BE32-E72D297353CC}">
                  <c16:uniqueId val="{00000002-70C5-4642-BA3F-9AEECB991F15}"/>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6E6F73"/>
                    </a:solidFill>
                    <a:latin typeface="Lato"/>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Sheet1!$E$2:$E$8</c:f>
              <c:numCache>
                <c:formatCode>General</c:formatCode>
                <c:ptCount val="7"/>
                <c:pt idx="3" formatCode="#,##0">
                  <c:v>8900</c:v>
                </c:pt>
                <c:pt idx="4" formatCode="#,##0">
                  <c:v>8600</c:v>
                </c:pt>
                <c:pt idx="5" formatCode="#,##0">
                  <c:v>8500</c:v>
                </c:pt>
                <c:pt idx="6" formatCode="#,##0">
                  <c:v>8400</c:v>
                </c:pt>
              </c:numCache>
            </c:numRef>
          </c:val>
          <c:smooth val="0"/>
          <c:extLst>
            <c:ext xmlns:c16="http://schemas.microsoft.com/office/drawing/2014/chart" uri="{C3380CC4-5D6E-409C-BE32-E72D297353CC}">
              <c16:uniqueId val="{00000001-70C5-4642-BA3F-9AEECB991F15}"/>
            </c:ext>
          </c:extLst>
        </c:ser>
        <c:dLbls>
          <c:showLegendKey val="0"/>
          <c:showVal val="0"/>
          <c:showCatName val="0"/>
          <c:showSerName val="0"/>
          <c:showPercent val="0"/>
          <c:showBubbleSize val="0"/>
        </c:dLbls>
        <c:marker val="1"/>
        <c:smooth val="0"/>
        <c:axId val="958791487"/>
        <c:axId val="958793199"/>
      </c:lineChart>
      <c:catAx>
        <c:axId val="958791487"/>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1" i="0" u="none" strike="noStrike" kern="1200" baseline="0">
                <a:solidFill>
                  <a:schemeClr val="tx1">
                    <a:lumMod val="65000"/>
                    <a:lumOff val="35000"/>
                  </a:schemeClr>
                </a:solidFill>
                <a:latin typeface="Lato"/>
                <a:ea typeface="+mn-ea"/>
                <a:cs typeface="+mn-cs"/>
              </a:defRPr>
            </a:pPr>
            <a:endParaRPr lang="en-US"/>
          </a:p>
        </c:txPr>
        <c:crossAx val="958793199"/>
        <c:crosses val="autoZero"/>
        <c:auto val="1"/>
        <c:lblAlgn val="ctr"/>
        <c:lblOffset val="100"/>
        <c:noMultiLvlLbl val="0"/>
      </c:catAx>
      <c:valAx>
        <c:axId val="958793199"/>
        <c:scaling>
          <c:orientation val="minMax"/>
          <c:min val="500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1">
                    <a:lumMod val="65000"/>
                  </a:schemeClr>
                </a:solidFill>
                <a:latin typeface="Lato"/>
                <a:ea typeface="+mn-ea"/>
                <a:cs typeface="+mn-cs"/>
              </a:defRPr>
            </a:pPr>
            <a:endParaRPr lang="en-US"/>
          </a:p>
        </c:txPr>
        <c:crossAx val="958791487"/>
        <c:crosses val="autoZero"/>
        <c:crossBetween val="midCat"/>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Lato"/>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latin typeface="Lato"/>
        </a:defRPr>
      </a:pPr>
      <a:endParaRPr lang="en-US"/>
    </a:p>
  </c:txPr>
  <c:externalData r:id="rId3">
    <c:autoUpdate val="0"/>
  </c:externalData>
  <c:userShapes r:id="rId4"/>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Operating margin</c:v>
                </c:pt>
              </c:strCache>
            </c:strRef>
          </c:tx>
          <c:spPr>
            <a:ln w="34925">
              <a:solidFill>
                <a:srgbClr val="C8102E"/>
              </a:solidFill>
            </a:ln>
          </c:spPr>
          <c:marker>
            <c:symbol val="diamond"/>
            <c:size val="7"/>
            <c:spPr>
              <a:solidFill>
                <a:srgbClr val="C8102E"/>
              </a:solidFill>
              <a:ln>
                <a:solidFill>
                  <a:srgbClr val="FFFFFF"/>
                </a:solidFill>
              </a:ln>
            </c:spPr>
          </c:marker>
          <c:dLbls>
            <c:dLbl>
              <c:idx val="0"/>
              <c:layout>
                <c:manualLayout>
                  <c:x val="-5.2860558962604179E-2"/>
                  <c:y val="-6.940539130220169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082-45BB-BACC-F356CC0D3A85}"/>
                </c:ext>
              </c:extLst>
            </c:dLbl>
            <c:dLbl>
              <c:idx val="2"/>
              <c:layout>
                <c:manualLayout>
                  <c:x val="-2.1549054221147744E-2"/>
                  <c:y val="-5.821097335023369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082-45BB-BACC-F356CC0D3A85}"/>
                </c:ext>
              </c:extLst>
            </c:dLbl>
            <c:dLbl>
              <c:idx val="3"/>
              <c:layout>
                <c:manualLayout>
                  <c:x val="-4.3914414750759481E-2"/>
                  <c:y val="4.253878821747845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082-45BB-BACC-F356CC0D3A85}"/>
                </c:ext>
              </c:extLst>
            </c:dLbl>
            <c:dLbl>
              <c:idx val="5"/>
              <c:layout>
                <c:manualLayout>
                  <c:x val="-2.1549054221147744E-2"/>
                  <c:y val="-6.100957783822567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082-45BB-BACC-F356CC0D3A85}"/>
                </c:ext>
              </c:extLst>
            </c:dLbl>
            <c:dLbl>
              <c:idx val="6"/>
              <c:layout>
                <c:manualLayout>
                  <c:x val="-3.496827053891479E-2"/>
                  <c:y val="-6.100957783822567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082-45BB-BACC-F356CC0D3A85}"/>
                </c:ext>
              </c:extLst>
            </c:dLbl>
            <c:dLbl>
              <c:idx val="7"/>
              <c:layout>
                <c:manualLayout>
                  <c:x val="-4.3914414750759481E-2"/>
                  <c:y val="-8.339841374216169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D082-45BB-BACC-F356CC0D3A85}"/>
                </c:ext>
              </c:extLst>
            </c:dLbl>
            <c:numFmt formatCode="0.0&quot;%&quot;" sourceLinked="0"/>
            <c:spPr>
              <a:noFill/>
              <a:ln>
                <a:noFill/>
              </a:ln>
              <a:effectLst/>
            </c:spPr>
            <c:txPr>
              <a:bodyPr/>
              <a:lstStyle/>
              <a:p>
                <a:pPr>
                  <a:defRPr sz="1800" b="1">
                    <a:solidFill>
                      <a:srgbClr val="C8102E"/>
                    </a:solidFill>
                    <a:latin typeface="Lato"/>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Sheet1!$B$2:$B$10</c:f>
              <c:numCache>
                <c:formatCode>General</c:formatCode>
                <c:ptCount val="9"/>
                <c:pt idx="0">
                  <c:v>7.1679868469635766</c:v>
                </c:pt>
                <c:pt idx="1">
                  <c:v>9.4228476388832476</c:v>
                </c:pt>
                <c:pt idx="2">
                  <c:v>7.039807659472876</c:v>
                </c:pt>
                <c:pt idx="3">
                  <c:v>4.136086270454296</c:v>
                </c:pt>
                <c:pt idx="4">
                  <c:v>8.6333741137950906</c:v>
                </c:pt>
                <c:pt idx="5">
                  <c:v>4.9139554266335086</c:v>
                </c:pt>
                <c:pt idx="6">
                  <c:v>2.9658538372721428</c:v>
                </c:pt>
                <c:pt idx="7">
                  <c:v>1.1339842576010861</c:v>
                </c:pt>
                <c:pt idx="8">
                  <c:v>3.9691727327797008</c:v>
                </c:pt>
              </c:numCache>
            </c:numRef>
          </c:val>
          <c:smooth val="0"/>
          <c:extLst>
            <c:ext xmlns:c16="http://schemas.microsoft.com/office/drawing/2014/chart" uri="{C3380CC4-5D6E-409C-BE32-E72D297353CC}">
              <c16:uniqueId val="{00000000-7BFA-4CD0-AA73-1394C7A5AD57}"/>
            </c:ext>
          </c:extLst>
        </c:ser>
        <c:dLbls>
          <c:dLblPos val="t"/>
          <c:showLegendKey val="0"/>
          <c:showVal val="1"/>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none"/>
        <c:minorTickMark val="none"/>
        <c:tickLblPos val="nextTo"/>
        <c:spPr>
          <a:ln>
            <a:solidFill>
              <a:schemeClr val="bg1"/>
            </a:solidFill>
          </a:ln>
        </c:spPr>
        <c:txPr>
          <a:bodyPr/>
          <a:lstStyle/>
          <a:p>
            <a:pPr>
              <a:defRPr sz="1200">
                <a:solidFill>
                  <a:srgbClr val="49494D"/>
                </a:solidFill>
                <a:latin typeface="Lato"/>
              </a:defRPr>
            </a:pPr>
            <a:endParaRPr lang="en-US"/>
          </a:p>
        </c:txPr>
        <c:crossAx val="2140495176"/>
        <c:crosses val="autoZero"/>
        <c:auto val="1"/>
        <c:lblAlgn val="ctr"/>
        <c:lblOffset val="100"/>
        <c:noMultiLvlLbl val="0"/>
      </c:catAx>
      <c:valAx>
        <c:axId val="2140495176"/>
        <c:scaling>
          <c:orientation val="minMax"/>
          <c:max val="10"/>
          <c:min val="0"/>
        </c:scaling>
        <c:delete val="0"/>
        <c:axPos val="l"/>
        <c:majorGridlines>
          <c:spPr>
            <a:ln w="9525">
              <a:solidFill>
                <a:srgbClr val="E0E0E0"/>
              </a:solidFill>
            </a:ln>
          </c:spPr>
        </c:majorGridlines>
        <c:numFmt formatCode="0&quot;%&quot;" sourceLinked="0"/>
        <c:majorTickMark val="out"/>
        <c:minorTickMark val="none"/>
        <c:tickLblPos val="nextTo"/>
        <c:spPr>
          <a:ln>
            <a:solidFill>
              <a:schemeClr val="bg1"/>
            </a:solidFill>
          </a:ln>
        </c:spPr>
        <c:txPr>
          <a:bodyPr/>
          <a:lstStyle/>
          <a:p>
            <a:pPr>
              <a:defRPr sz="1200">
                <a:solidFill>
                  <a:srgbClr val="49494D"/>
                </a:solidFill>
                <a:latin typeface="Lato"/>
              </a:defRPr>
            </a:pPr>
            <a:endParaRPr lang="en-US"/>
          </a:p>
        </c:txPr>
        <c:crossAx val="2118791784"/>
        <c:crosses val="autoZero"/>
        <c:crossBetween val="between"/>
        <c:majorUnit val="2"/>
      </c:valAx>
    </c:plotArea>
    <c:plotVisOnly val="1"/>
    <c:dispBlanksAs val="gap"/>
    <c:showDLblsOverMax val="0"/>
  </c:chart>
  <c:txPr>
    <a:bodyPr/>
    <a:lstStyle/>
    <a:p>
      <a:pPr>
        <a:defRPr sz="1800"/>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2"/>
          <c:y val="0.05"/>
          <c:w val="0.84"/>
          <c:h val="0.8"/>
        </c:manualLayout>
      </c:layout>
      <c:barChart>
        <c:barDir val="col"/>
        <c:grouping val="clustered"/>
        <c:varyColors val="1"/>
        <c:ser>
          <c:idx val="0"/>
          <c:order val="0"/>
          <c:tx>
            <c:strRef>
              <c:f>Sheet1!$B$1</c:f>
              <c:strCache>
                <c:ptCount val="1"/>
                <c:pt idx="0">
                  <c:v>v</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1-6926-4DCF-9407-97D2275E4078}"/>
              </c:ext>
            </c:extLst>
          </c:dPt>
          <c:dPt>
            <c:idx val="1"/>
            <c:invertIfNegative val="1"/>
            <c:bubble3D val="0"/>
            <c:extLst>
              <c:ext xmlns:c16="http://schemas.microsoft.com/office/drawing/2014/chart" uri="{C3380CC4-5D6E-409C-BE32-E72D297353CC}">
                <c16:uniqueId val="{00000003-6926-4DCF-9407-97D2275E4078}"/>
              </c:ext>
            </c:extLst>
          </c:dPt>
          <c:dPt>
            <c:idx val="2"/>
            <c:invertIfNegative val="1"/>
            <c:bubble3D val="0"/>
            <c:extLst>
              <c:ext xmlns:c16="http://schemas.microsoft.com/office/drawing/2014/chart" uri="{C3380CC4-5D6E-409C-BE32-E72D297353CC}">
                <c16:uniqueId val="{00000005-6926-4DCF-9407-97D2275E4078}"/>
              </c:ext>
            </c:extLst>
          </c:dPt>
          <c:dPt>
            <c:idx val="3"/>
            <c:invertIfNegative val="1"/>
            <c:bubble3D val="0"/>
            <c:extLst>
              <c:ext xmlns:c16="http://schemas.microsoft.com/office/drawing/2014/chart" uri="{C3380CC4-5D6E-409C-BE32-E72D297353CC}">
                <c16:uniqueId val="{00000007-6926-4DCF-9407-97D2275E4078}"/>
              </c:ext>
            </c:extLst>
          </c:dPt>
          <c:dPt>
            <c:idx val="4"/>
            <c:invertIfNegative val="1"/>
            <c:bubble3D val="0"/>
            <c:extLst>
              <c:ext xmlns:c16="http://schemas.microsoft.com/office/drawing/2014/chart" uri="{C3380CC4-5D6E-409C-BE32-E72D297353CC}">
                <c16:uniqueId val="{00000009-6926-4DCF-9407-97D2275E4078}"/>
              </c:ext>
            </c:extLst>
          </c:dPt>
          <c:dPt>
            <c:idx val="5"/>
            <c:invertIfNegative val="1"/>
            <c:bubble3D val="0"/>
            <c:spPr>
              <a:solidFill>
                <a:srgbClr val="000000"/>
              </a:solidFill>
            </c:spPr>
            <c:extLst>
              <c:ext xmlns:c16="http://schemas.microsoft.com/office/drawing/2014/chart" uri="{C3380CC4-5D6E-409C-BE32-E72D297353CC}">
                <c16:uniqueId val="{0000000B-6926-4DCF-9407-97D2275E4078}"/>
              </c:ext>
            </c:extLst>
          </c:dPt>
          <c:dLbls>
            <c:dLbl>
              <c:idx val="3"/>
              <c:layout>
                <c:manualLayout>
                  <c:x val="-6.8587105624143292E-3"/>
                  <c:y val="-2.2644927536231884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926-4DCF-9407-97D2275E4078}"/>
                </c:ext>
              </c:extLst>
            </c:dLbl>
            <c:dLbl>
              <c:idx val="4"/>
              <c:layout>
                <c:manualLayout>
                  <c:x val="0"/>
                  <c:y val="-6.0386473429951723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926-4DCF-9407-97D2275E4078}"/>
                </c:ext>
              </c:extLst>
            </c:dLbl>
            <c:dLbl>
              <c:idx val="5"/>
              <c:layout>
                <c:manualLayout>
                  <c:x val="0"/>
                  <c:y val="0"/>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6926-4DCF-9407-97D2275E4078}"/>
                </c:ext>
              </c:extLst>
            </c:dLbl>
            <c:numFmt formatCode="0%" sourceLinked="0"/>
            <c:spPr>
              <a:solidFill>
                <a:srgbClr val="FFFFFF"/>
              </a:solidFill>
              <a:ln>
                <a:noFill/>
              </a:ln>
            </c:spPr>
            <c:txPr>
              <a:bodyPr wrap="square" lIns="38100" tIns="19050" rIns="38100" bIns="19050" anchor="ctr">
                <a:spAutoFit/>
              </a:bodyPr>
              <a:lstStyle/>
              <a:p>
                <a:pPr>
                  <a:defRPr sz="16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Sheet1!$B$2:$B$7</c:f>
              <c:numCache>
                <c:formatCode>General</c:formatCode>
                <c:ptCount val="6"/>
                <c:pt idx="0">
                  <c:v>0.122</c:v>
                </c:pt>
                <c:pt idx="1">
                  <c:v>0.157</c:v>
                </c:pt>
                <c:pt idx="2">
                  <c:v>0.129</c:v>
                </c:pt>
                <c:pt idx="3">
                  <c:v>0.104</c:v>
                </c:pt>
                <c:pt idx="4">
                  <c:v>9.5000000000000001E-2</c:v>
                </c:pt>
                <c:pt idx="5">
                  <c:v>0.12986200000000001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6926-4DCF-9407-97D2275E4078}"/>
            </c:ext>
          </c:extLst>
        </c:ser>
        <c:dLbls>
          <c:showLegendKey val="0"/>
          <c:showVal val="0"/>
          <c:showCatName val="0"/>
          <c:showSerName val="0"/>
          <c:showPercent val="0"/>
          <c:showBubbleSize val="0"/>
        </c:dLbls>
        <c:gapWidth val="40"/>
        <c:axId val="-2068027336"/>
        <c:axId val="-2113994440"/>
      </c:barChart>
      <c:lineChart>
        <c:grouping val="standard"/>
        <c:varyColors val="0"/>
        <c:ser>
          <c:idx val="1"/>
          <c:order val="1"/>
          <c:tx>
            <c:strRef>
              <c:f>Sheet1!$C$1</c:f>
              <c:strCache>
                <c:ptCount val="1"/>
                <c:pt idx="0">
                  <c:v>Moody's A median (FY25)</c:v>
                </c:pt>
              </c:strCache>
            </c:strRef>
          </c:tx>
          <c:spPr>
            <a:ln w="25400" cap="flat">
              <a:solidFill>
                <a:srgbClr val="000000"/>
              </a:solidFill>
              <a:prstDash val="solid"/>
            </a:ln>
          </c:spPr>
          <c:marker>
            <c:symbol val="none"/>
          </c:marker>
          <c:dLbls>
            <c:dLbl>
              <c:idx val="5"/>
              <c:layout>
                <c:manualLayout>
                  <c:x val="6.3799999999999996E-2"/>
                  <c:y val="3.3799999999999997E-2"/>
                </c:manualLayout>
              </c:layout>
              <c:numFmt formatCode="0%" sourceLinked="0"/>
              <c:spPr>
                <a:noFill/>
                <a:ln>
                  <a:noFill/>
                </a:ln>
              </c:spPr>
              <c:txPr>
                <a:bodyPr/>
                <a:lstStyle/>
                <a:p>
                  <a:pPr>
                    <a:defRPr sz="14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15E-4D21-A36F-42B7122500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Sheet1!$C$2:$C$7</c:f>
              <c:numCache>
                <c:formatCode>0%</c:formatCode>
                <c:ptCount val="6"/>
                <c:pt idx="0">
                  <c:v>0.115</c:v>
                </c:pt>
                <c:pt idx="1">
                  <c:v>0.115</c:v>
                </c:pt>
                <c:pt idx="2">
                  <c:v>0.115</c:v>
                </c:pt>
                <c:pt idx="3">
                  <c:v>0.115</c:v>
                </c:pt>
                <c:pt idx="4">
                  <c:v>0.115</c:v>
                </c:pt>
                <c:pt idx="5">
                  <c:v>0.115</c:v>
                </c:pt>
              </c:numCache>
            </c:numRef>
          </c:val>
          <c:smooth val="0"/>
          <c:extLst>
            <c:ext xmlns:c16="http://schemas.microsoft.com/office/drawing/2014/chart" uri="{C3380CC4-5D6E-409C-BE32-E72D297353CC}">
              <c16:uniqueId val="{0000000D-115E-4D21-A36F-42B71225007E}"/>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5"/>
              <c:layout>
                <c:manualLayout>
                  <c:x val="6.3799999999999996E-2"/>
                  <c:y val="-3.3799999999999997E-2"/>
                </c:manualLayout>
              </c:layout>
              <c:numFmt formatCode="0.0%" sourceLinked="0"/>
              <c:spPr>
                <a:noFill/>
                <a:ln>
                  <a:noFill/>
                </a:ln>
              </c:spPr>
              <c:txPr>
                <a:bodyPr/>
                <a:lstStyle/>
                <a:p>
                  <a:pPr>
                    <a:defRPr sz="14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15E-4D21-A36F-42B7122500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Sheet1!$D$2:$D$7</c:f>
              <c:numCache>
                <c:formatCode>0.0%</c:formatCode>
                <c:ptCount val="6"/>
                <c:pt idx="0">
                  <c:v>0.122</c:v>
                </c:pt>
                <c:pt idx="1">
                  <c:v>0.122</c:v>
                </c:pt>
                <c:pt idx="2">
                  <c:v>0.122</c:v>
                </c:pt>
                <c:pt idx="3">
                  <c:v>0.122</c:v>
                </c:pt>
                <c:pt idx="4">
                  <c:v>0.122</c:v>
                </c:pt>
                <c:pt idx="5">
                  <c:v>0.122</c:v>
                </c:pt>
              </c:numCache>
            </c:numRef>
          </c:val>
          <c:smooth val="0"/>
          <c:extLst>
            <c:ext xmlns:c16="http://schemas.microsoft.com/office/drawing/2014/chart" uri="{C3380CC4-5D6E-409C-BE32-E72D297353CC}">
              <c16:uniqueId val="{0000000D-115E-4D21-A36F-42B71225007E}"/>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a:lstStyle/>
          <a:p>
            <a:pPr>
              <a:defRPr sz="1400">
                <a:latin typeface="Lato"/>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2"/>
          <c:y val="0.05"/>
          <c:w val="0.84"/>
          <c:h val="0.8"/>
        </c:manualLayout>
      </c:layout>
      <c:barChart>
        <c:barDir val="col"/>
        <c:grouping val="clustered"/>
        <c:varyColors val="1"/>
        <c:ser>
          <c:idx val="0"/>
          <c:order val="0"/>
          <c:tx>
            <c:strRef>
              <c:f>Sheet1!$B$1</c:f>
              <c:strCache>
                <c:ptCount val="1"/>
                <c:pt idx="0">
                  <c:v>v</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1-4FBD-4DA1-9C8A-535372E872BE}"/>
              </c:ext>
            </c:extLst>
          </c:dPt>
          <c:dPt>
            <c:idx val="1"/>
            <c:invertIfNegative val="1"/>
            <c:bubble3D val="0"/>
            <c:extLst>
              <c:ext xmlns:c16="http://schemas.microsoft.com/office/drawing/2014/chart" uri="{C3380CC4-5D6E-409C-BE32-E72D297353CC}">
                <c16:uniqueId val="{00000003-4FBD-4DA1-9C8A-535372E872BE}"/>
              </c:ext>
            </c:extLst>
          </c:dPt>
          <c:dPt>
            <c:idx val="2"/>
            <c:invertIfNegative val="1"/>
            <c:bubble3D val="0"/>
            <c:extLst>
              <c:ext xmlns:c16="http://schemas.microsoft.com/office/drawing/2014/chart" uri="{C3380CC4-5D6E-409C-BE32-E72D297353CC}">
                <c16:uniqueId val="{00000005-4FBD-4DA1-9C8A-535372E872BE}"/>
              </c:ext>
            </c:extLst>
          </c:dPt>
          <c:dPt>
            <c:idx val="3"/>
            <c:invertIfNegative val="1"/>
            <c:bubble3D val="0"/>
            <c:extLst>
              <c:ext xmlns:c16="http://schemas.microsoft.com/office/drawing/2014/chart" uri="{C3380CC4-5D6E-409C-BE32-E72D297353CC}">
                <c16:uniqueId val="{00000007-4FBD-4DA1-9C8A-535372E872BE}"/>
              </c:ext>
            </c:extLst>
          </c:dPt>
          <c:dPt>
            <c:idx val="4"/>
            <c:invertIfNegative val="1"/>
            <c:bubble3D val="0"/>
            <c:extLst>
              <c:ext xmlns:c16="http://schemas.microsoft.com/office/drawing/2014/chart" uri="{C3380CC4-5D6E-409C-BE32-E72D297353CC}">
                <c16:uniqueId val="{00000009-4FBD-4DA1-9C8A-535372E872BE}"/>
              </c:ext>
            </c:extLst>
          </c:dPt>
          <c:dPt>
            <c:idx val="5"/>
            <c:invertIfNegative val="1"/>
            <c:bubble3D val="0"/>
            <c:spPr>
              <a:solidFill>
                <a:srgbClr val="000000"/>
              </a:solidFill>
            </c:spPr>
            <c:extLst>
              <c:ext xmlns:c16="http://schemas.microsoft.com/office/drawing/2014/chart" uri="{C3380CC4-5D6E-409C-BE32-E72D297353CC}">
                <c16:uniqueId val="{0000000B-4FBD-4DA1-9C8A-535372E872BE}"/>
              </c:ext>
            </c:extLst>
          </c:dPt>
          <c:dLbls>
            <c:numFmt formatCode="0.0" sourceLinked="0"/>
            <c:spPr>
              <a:solidFill>
                <a:srgbClr val="FFFFFF"/>
              </a:solidFill>
              <a:ln>
                <a:noFill/>
              </a:ln>
            </c:spPr>
            <c:txPr>
              <a:bodyPr wrap="square" lIns="38100" tIns="19050" rIns="38100" bIns="19050" anchor="ctr">
                <a:spAutoFit/>
              </a:bodyPr>
              <a:lstStyle/>
              <a:p>
                <a:pPr>
                  <a:defRPr sz="16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Sheet1!$A$2:$A$7</c:f>
              <c:strCache>
                <c:ptCount val="6"/>
                <c:pt idx="0">
                  <c:v>FY21</c:v>
                </c:pt>
                <c:pt idx="1">
                  <c:v>FY22</c:v>
                </c:pt>
                <c:pt idx="2">
                  <c:v>FY23</c:v>
                </c:pt>
                <c:pt idx="3">
                  <c:v>FY24</c:v>
                </c:pt>
                <c:pt idx="4">
                  <c:v>FY25</c:v>
                </c:pt>
                <c:pt idx="5">
                  <c:v>FY26U</c:v>
                </c:pt>
              </c:strCache>
            </c:strRef>
          </c:cat>
          <c:val>
            <c:numRef>
              <c:f>Sheet1!$B$2:$B$7</c:f>
              <c:numCache>
                <c:formatCode>General</c:formatCode>
                <c:ptCount val="6"/>
                <c:pt idx="0">
                  <c:v>3</c:v>
                </c:pt>
                <c:pt idx="1">
                  <c:v>4.9000000000000004</c:v>
                </c:pt>
                <c:pt idx="2">
                  <c:v>3.9</c:v>
                </c:pt>
                <c:pt idx="3">
                  <c:v>3.8</c:v>
                </c:pt>
                <c:pt idx="4">
                  <c:v>3</c:v>
                </c:pt>
                <c:pt idx="5">
                  <c:v>3.84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4FBD-4DA1-9C8A-535372E872BE}"/>
            </c:ext>
          </c:extLst>
        </c:ser>
        <c:dLbls>
          <c:showLegendKey val="0"/>
          <c:showVal val="0"/>
          <c:showCatName val="0"/>
          <c:showSerName val="0"/>
          <c:showPercent val="0"/>
          <c:showBubbleSize val="0"/>
        </c:dLbls>
        <c:gapWidth val="40"/>
        <c:axId val="-2068027336"/>
        <c:axId val="-2113994440"/>
      </c:barChart>
      <c:lineChart>
        <c:grouping val="standard"/>
        <c:varyColors val="0"/>
        <c:ser>
          <c:idx val="1"/>
          <c:order val="1"/>
          <c:tx>
            <c:strRef>
              <c:f>Sheet1!$C$1</c:f>
              <c:strCache>
                <c:ptCount val="1"/>
                <c:pt idx="0">
                  <c:v>Moody's A median (FY25)</c:v>
                </c:pt>
              </c:strCache>
            </c:strRef>
          </c:tx>
          <c:spPr>
            <a:ln w="25400" cap="flat">
              <a:solidFill>
                <a:srgbClr val="000000"/>
              </a:solidFill>
              <a:prstDash val="solid"/>
            </a:ln>
          </c:spPr>
          <c:marker>
            <c:symbol val="none"/>
          </c:marker>
          <c:dLbls>
            <c:dLbl>
              <c:idx val="5"/>
              <c:layout>
                <c:manualLayout>
                  <c:x val="6.3799999999999996E-2"/>
                  <c:y val="2.2499999999999999E-2"/>
                </c:manualLayout>
              </c:layout>
              <c:numFmt formatCode="0.0" sourceLinked="0"/>
              <c:spPr>
                <a:noFill/>
                <a:ln>
                  <a:noFill/>
                </a:ln>
              </c:spPr>
              <c:txPr>
                <a:bodyPr/>
                <a:lstStyle/>
                <a:p>
                  <a:pPr>
                    <a:defRPr sz="14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394-43CA-A0BF-568B942FCF4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Sheet1!$C$2:$C$7</c:f>
              <c:numCache>
                <c:formatCode>0.0</c:formatCode>
                <c:ptCount val="6"/>
                <c:pt idx="0">
                  <c:v>2.5299999999999998</c:v>
                </c:pt>
                <c:pt idx="1">
                  <c:v>2.5299999999999998</c:v>
                </c:pt>
                <c:pt idx="2">
                  <c:v>2.5299999999999998</c:v>
                </c:pt>
                <c:pt idx="3">
                  <c:v>2.5299999999999998</c:v>
                </c:pt>
                <c:pt idx="4">
                  <c:v>2.5299999999999998</c:v>
                </c:pt>
                <c:pt idx="5">
                  <c:v>2.5299999999999998</c:v>
                </c:pt>
              </c:numCache>
            </c:numRef>
          </c:val>
          <c:smooth val="0"/>
          <c:extLst>
            <c:ext xmlns:c16="http://schemas.microsoft.com/office/drawing/2014/chart" uri="{C3380CC4-5D6E-409C-BE32-E72D297353CC}">
              <c16:uniqueId val="{0000000D-2394-43CA-A0BF-568B942FCF4F}"/>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5"/>
              <c:layout>
                <c:manualLayout>
                  <c:x val="6.3799999999999996E-2"/>
                  <c:y val="-2.2499999999999999E-2"/>
                </c:manualLayout>
              </c:layout>
              <c:numFmt formatCode="0.0" sourceLinked="0"/>
              <c:spPr>
                <a:noFill/>
                <a:ln>
                  <a:noFill/>
                </a:ln>
              </c:spPr>
              <c:txPr>
                <a:bodyPr/>
                <a:lstStyle/>
                <a:p>
                  <a:pPr>
                    <a:defRPr sz="14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394-43CA-A0BF-568B942FCF4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Sheet1!$D$2:$D$7</c:f>
              <c:numCache>
                <c:formatCode>0.0</c:formatCode>
                <c:ptCount val="6"/>
                <c:pt idx="0">
                  <c:v>3.17</c:v>
                </c:pt>
                <c:pt idx="1">
                  <c:v>3.17</c:v>
                </c:pt>
                <c:pt idx="2">
                  <c:v>3.17</c:v>
                </c:pt>
                <c:pt idx="3">
                  <c:v>3.17</c:v>
                </c:pt>
                <c:pt idx="4">
                  <c:v>3.17</c:v>
                </c:pt>
                <c:pt idx="5">
                  <c:v>3.17</c:v>
                </c:pt>
              </c:numCache>
            </c:numRef>
          </c:val>
          <c:smooth val="0"/>
          <c:extLst>
            <c:ext xmlns:c16="http://schemas.microsoft.com/office/drawing/2014/chart" uri="{C3380CC4-5D6E-409C-BE32-E72D297353CC}">
              <c16:uniqueId val="{0000000D-2394-43CA-A0BF-568B942FCF4F}"/>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a:lstStyle/>
          <a:p>
            <a:pPr>
              <a:defRPr sz="1400">
                <a:latin typeface="Lato"/>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4.2000000000000003E-2"/>
          <c:y val="0.02"/>
          <c:w val="0.90500000000000003"/>
          <c:h val="0.74"/>
        </c:manualLayout>
      </c:layout>
      <c:barChart>
        <c:barDir val="col"/>
        <c:grouping val="clustered"/>
        <c:varyColors val="1"/>
        <c:ser>
          <c:idx val="0"/>
          <c:order val="0"/>
          <c:tx>
            <c:strRef>
              <c:f>Sheet1!$B$1</c:f>
              <c:strCache>
                <c:ptCount val="1"/>
                <c:pt idx="0">
                  <c:v>EBIDA Margin</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3-87B9-4134-9A27-9E524F56ACC7}"/>
              </c:ext>
            </c:extLst>
          </c:dPt>
          <c:dPt>
            <c:idx val="1"/>
            <c:invertIfNegative val="1"/>
            <c:bubble3D val="0"/>
            <c:extLst>
              <c:ext xmlns:c16="http://schemas.microsoft.com/office/drawing/2014/chart" uri="{C3380CC4-5D6E-409C-BE32-E72D297353CC}">
                <c16:uniqueId val="{00000005-87B9-4134-9A27-9E524F56ACC7}"/>
              </c:ext>
            </c:extLst>
          </c:dPt>
          <c:dPt>
            <c:idx val="2"/>
            <c:invertIfNegative val="1"/>
            <c:bubble3D val="0"/>
            <c:extLst>
              <c:ext xmlns:c16="http://schemas.microsoft.com/office/drawing/2014/chart" uri="{C3380CC4-5D6E-409C-BE32-E72D297353CC}">
                <c16:uniqueId val="{00000007-87B9-4134-9A27-9E524F56ACC7}"/>
              </c:ext>
            </c:extLst>
          </c:dPt>
          <c:dPt>
            <c:idx val="3"/>
            <c:invertIfNegative val="1"/>
            <c:bubble3D val="0"/>
            <c:extLst>
              <c:ext xmlns:c16="http://schemas.microsoft.com/office/drawing/2014/chart" uri="{C3380CC4-5D6E-409C-BE32-E72D297353CC}">
                <c16:uniqueId val="{00000009-87B9-4134-9A27-9E524F56ACC7}"/>
              </c:ext>
            </c:extLst>
          </c:dPt>
          <c:dPt>
            <c:idx val="4"/>
            <c:invertIfNegative val="1"/>
            <c:bubble3D val="0"/>
            <c:extLst>
              <c:ext xmlns:c16="http://schemas.microsoft.com/office/drawing/2014/chart" uri="{C3380CC4-5D6E-409C-BE32-E72D297353CC}">
                <c16:uniqueId val="{0000000B-87B9-4134-9A27-9E524F56ACC7}"/>
              </c:ext>
            </c:extLst>
          </c:dPt>
          <c:dPt>
            <c:idx val="5"/>
            <c:invertIfNegative val="1"/>
            <c:bubble3D val="0"/>
            <c:extLst>
              <c:ext xmlns:c16="http://schemas.microsoft.com/office/drawing/2014/chart" uri="{C3380CC4-5D6E-409C-BE32-E72D297353CC}">
                <c16:uniqueId val="{0000000D-87B9-4134-9A27-9E524F56ACC7}"/>
              </c:ext>
            </c:extLst>
          </c:dPt>
          <c:dPt>
            <c:idx val="6"/>
            <c:invertIfNegative val="1"/>
            <c:bubble3D val="0"/>
            <c:extLst>
              <c:ext xmlns:c16="http://schemas.microsoft.com/office/drawing/2014/chart" uri="{C3380CC4-5D6E-409C-BE32-E72D297353CC}">
                <c16:uniqueId val="{0000000F-87B9-4134-9A27-9E524F56ACC7}"/>
              </c:ext>
            </c:extLst>
          </c:dPt>
          <c:dPt>
            <c:idx val="7"/>
            <c:invertIfNegative val="1"/>
            <c:bubble3D val="0"/>
            <c:extLst>
              <c:ext xmlns:c16="http://schemas.microsoft.com/office/drawing/2014/chart" uri="{C3380CC4-5D6E-409C-BE32-E72D297353CC}">
                <c16:uniqueId val="{00000011-87B9-4134-9A27-9E524F56ACC7}"/>
              </c:ext>
            </c:extLst>
          </c:dPt>
          <c:dPt>
            <c:idx val="8"/>
            <c:invertIfNegative val="1"/>
            <c:bubble3D val="0"/>
            <c:extLst>
              <c:ext xmlns:c16="http://schemas.microsoft.com/office/drawing/2014/chart" uri="{C3380CC4-5D6E-409C-BE32-E72D297353CC}">
                <c16:uniqueId val="{00000013-87B9-4134-9A27-9E524F56ACC7}"/>
              </c:ext>
            </c:extLst>
          </c:dPt>
          <c:dPt>
            <c:idx val="9"/>
            <c:invertIfNegative val="1"/>
            <c:bubble3D val="0"/>
            <c:extLst>
              <c:ext xmlns:c16="http://schemas.microsoft.com/office/drawing/2014/chart" uri="{C3380CC4-5D6E-409C-BE32-E72D297353CC}">
                <c16:uniqueId val="{00000015-87B9-4134-9A27-9E524F56ACC7}"/>
              </c:ext>
            </c:extLst>
          </c:dPt>
          <c:dPt>
            <c:idx val="10"/>
            <c:invertIfNegative val="1"/>
            <c:bubble3D val="0"/>
            <c:extLst>
              <c:ext xmlns:c16="http://schemas.microsoft.com/office/drawing/2014/chart" uri="{C3380CC4-5D6E-409C-BE32-E72D297353CC}">
                <c16:uniqueId val="{00000017-87B9-4134-9A27-9E524F56ACC7}"/>
              </c:ext>
            </c:extLst>
          </c:dPt>
          <c:dPt>
            <c:idx val="11"/>
            <c:invertIfNegative val="1"/>
            <c:bubble3D val="0"/>
            <c:extLst>
              <c:ext xmlns:c16="http://schemas.microsoft.com/office/drawing/2014/chart" uri="{C3380CC4-5D6E-409C-BE32-E72D297353CC}">
                <c16:uniqueId val="{00000019-87B9-4134-9A27-9E524F56ACC7}"/>
              </c:ext>
            </c:extLst>
          </c:dPt>
          <c:dPt>
            <c:idx val="12"/>
            <c:invertIfNegative val="1"/>
            <c:bubble3D val="0"/>
            <c:extLst>
              <c:ext xmlns:c16="http://schemas.microsoft.com/office/drawing/2014/chart" uri="{C3380CC4-5D6E-409C-BE32-E72D297353CC}">
                <c16:uniqueId val="{0000001B-87B9-4134-9A27-9E524F56ACC7}"/>
              </c:ext>
            </c:extLst>
          </c:dPt>
          <c:dPt>
            <c:idx val="13"/>
            <c:invertIfNegative val="1"/>
            <c:bubble3D val="0"/>
            <c:extLst>
              <c:ext xmlns:c16="http://schemas.microsoft.com/office/drawing/2014/chart" uri="{C3380CC4-5D6E-409C-BE32-E72D297353CC}">
                <c16:uniqueId val="{0000001D-87B9-4134-9A27-9E524F56ACC7}"/>
              </c:ext>
            </c:extLst>
          </c:dPt>
          <c:dPt>
            <c:idx val="14"/>
            <c:invertIfNegative val="1"/>
            <c:bubble3D val="0"/>
            <c:extLst>
              <c:ext xmlns:c16="http://schemas.microsoft.com/office/drawing/2014/chart" uri="{C3380CC4-5D6E-409C-BE32-E72D297353CC}">
                <c16:uniqueId val="{0000001F-87B9-4134-9A27-9E524F56ACC7}"/>
              </c:ext>
            </c:extLst>
          </c:dPt>
          <c:dPt>
            <c:idx val="15"/>
            <c:invertIfNegative val="1"/>
            <c:bubble3D val="0"/>
            <c:spPr>
              <a:solidFill>
                <a:srgbClr val="000000"/>
              </a:solidFill>
            </c:spPr>
            <c:extLst>
              <c:ext xmlns:c16="http://schemas.microsoft.com/office/drawing/2014/chart" uri="{C3380CC4-5D6E-409C-BE32-E72D297353CC}">
                <c16:uniqueId val="{00000021-87B9-4134-9A27-9E524F56ACC7}"/>
              </c:ext>
            </c:extLst>
          </c:dPt>
          <c:dPt>
            <c:idx val="16"/>
            <c:invertIfNegative val="1"/>
            <c:bubble3D val="0"/>
            <c:extLst>
              <c:ext xmlns:c16="http://schemas.microsoft.com/office/drawing/2014/chart" uri="{C3380CC4-5D6E-409C-BE32-E72D297353CC}">
                <c16:uniqueId val="{00000023-87B9-4134-9A27-9E524F56ACC7}"/>
              </c:ext>
            </c:extLst>
          </c:dPt>
          <c:dPt>
            <c:idx val="17"/>
            <c:invertIfNegative val="1"/>
            <c:bubble3D val="0"/>
            <c:extLst>
              <c:ext xmlns:c16="http://schemas.microsoft.com/office/drawing/2014/chart" uri="{C3380CC4-5D6E-409C-BE32-E72D297353CC}">
                <c16:uniqueId val="{00000025-87B9-4134-9A27-9E524F56ACC7}"/>
              </c:ext>
            </c:extLst>
          </c:dPt>
          <c:dPt>
            <c:idx val="18"/>
            <c:invertIfNegative val="1"/>
            <c:bubble3D val="0"/>
            <c:extLst>
              <c:ext xmlns:c16="http://schemas.microsoft.com/office/drawing/2014/chart" uri="{C3380CC4-5D6E-409C-BE32-E72D297353CC}">
                <c16:uniqueId val="{00000027-87B9-4134-9A27-9E524F56ACC7}"/>
              </c:ext>
            </c:extLst>
          </c:dPt>
          <c:dPt>
            <c:idx val="19"/>
            <c:invertIfNegative val="1"/>
            <c:bubble3D val="0"/>
            <c:extLst>
              <c:ext xmlns:c16="http://schemas.microsoft.com/office/drawing/2014/chart" uri="{C3380CC4-5D6E-409C-BE32-E72D297353CC}">
                <c16:uniqueId val="{00000029-87B9-4134-9A27-9E524F56ACC7}"/>
              </c:ext>
            </c:extLst>
          </c:dPt>
          <c:dLbls>
            <c:numFmt formatCode="0.0%" sourceLinked="0"/>
            <c:spPr>
              <a:solidFill>
                <a:srgbClr val="FFFFFF"/>
              </a:solidFill>
              <a:ln>
                <a:noFill/>
              </a:ln>
            </c:spPr>
            <c:txPr>
              <a:bodyPr/>
              <a:lstStyle/>
              <a:p>
                <a:pPr>
                  <a:defRPr sz="10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Sheet1!$B$2:$B$21</c:f>
              <c:numCache>
                <c:formatCode>General</c:formatCode>
                <c:ptCount val="20"/>
                <c:pt idx="0">
                  <c:v>0.23899999999999999</c:v>
                </c:pt>
                <c:pt idx="1">
                  <c:v>0.18100000000000002</c:v>
                </c:pt>
                <c:pt idx="2">
                  <c:v>9.9000000000000005E-2</c:v>
                </c:pt>
                <c:pt idx="3">
                  <c:v>6.8000000000000005E-2</c:v>
                </c:pt>
                <c:pt idx="4">
                  <c:v>5.5999999999999994E-2</c:v>
                </c:pt>
                <c:pt idx="5">
                  <c:v>4.9000000000000002E-2</c:v>
                </c:pt>
                <c:pt idx="6">
                  <c:v>9.9000000000000005E-2</c:v>
                </c:pt>
                <c:pt idx="7">
                  <c:v>7.0999999999999994E-2</c:v>
                </c:pt>
                <c:pt idx="8">
                  <c:v>2.8999999999999998E-2</c:v>
                </c:pt>
                <c:pt idx="9">
                  <c:v>0.183</c:v>
                </c:pt>
                <c:pt idx="10">
                  <c:v>0.15</c:v>
                </c:pt>
                <c:pt idx="11">
                  <c:v>0.114</c:v>
                </c:pt>
                <c:pt idx="12">
                  <c:v>0.105</c:v>
                </c:pt>
                <c:pt idx="13">
                  <c:v>9.6999999999999989E-2</c:v>
                </c:pt>
                <c:pt idx="14">
                  <c:v>9.0999999999999998E-2</c:v>
                </c:pt>
                <c:pt idx="15">
                  <c:v>0.12986200000000001</c:v>
                </c:pt>
                <c:pt idx="16">
                  <c:v>8.3000000000000004E-2</c:v>
                </c:pt>
                <c:pt idx="17">
                  <c:v>0.109</c:v>
                </c:pt>
                <c:pt idx="18">
                  <c:v>6.9999999999999993E-3</c:v>
                </c:pt>
                <c:pt idx="19">
                  <c:v>0.107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2C-87B9-4134-9A27-9E524F56ACC7}"/>
            </c:ext>
          </c:extLst>
        </c:ser>
        <c:dLbls>
          <c:showLegendKey val="0"/>
          <c:showVal val="0"/>
          <c:showCatName val="0"/>
          <c:showSerName val="0"/>
          <c:showPercent val="0"/>
          <c:showBubbleSize val="0"/>
        </c:dLbls>
        <c:gapWidth val="25"/>
        <c:axId val="-2068027336"/>
        <c:axId val="-2113994440"/>
      </c:barChart>
      <c:lineChart>
        <c:grouping val="standard"/>
        <c:varyColors val="0"/>
        <c:ser>
          <c:idx val="1"/>
          <c:order val="1"/>
          <c:tx>
            <c:strRef>
              <c:f>Sheet1!$C$1</c:f>
              <c:strCache>
                <c:ptCount val="1"/>
                <c:pt idx="0">
                  <c:v>Moody's A median</c:v>
                </c:pt>
              </c:strCache>
            </c:strRef>
          </c:tx>
          <c:spPr>
            <a:ln w="25400" cap="flat">
              <a:solidFill>
                <a:srgbClr val="000000"/>
              </a:solidFill>
              <a:prstDash val="solid"/>
            </a:ln>
          </c:spPr>
          <c:marker>
            <c:symbol val="none"/>
          </c:marker>
          <c:dLbls>
            <c:dLbl>
              <c:idx val="19"/>
              <c:layout>
                <c:manualLayout>
                  <c:x val="2.8000000000000001E-2"/>
                  <c:y val="0.03"/>
                </c:manualLayout>
              </c:layout>
              <c:numFmt formatCode="0.0%" sourceLinked="0"/>
              <c:spPr>
                <a:noFill/>
                <a:ln>
                  <a:noFill/>
                </a:ln>
              </c:spPr>
              <c:txPr>
                <a:bodyPr/>
                <a:lstStyle/>
                <a:p>
                  <a:pPr>
                    <a:defRPr sz="11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87B9-4134-9A27-9E524F56ACC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Sheet1!$C$2:$C$21</c:f>
              <c:numCache>
                <c:formatCode>0.0%</c:formatCode>
                <c:ptCount val="20"/>
                <c:pt idx="0">
                  <c:v>0.115</c:v>
                </c:pt>
                <c:pt idx="1">
                  <c:v>0.115</c:v>
                </c:pt>
                <c:pt idx="2">
                  <c:v>0.115</c:v>
                </c:pt>
                <c:pt idx="3">
                  <c:v>0.115</c:v>
                </c:pt>
                <c:pt idx="4">
                  <c:v>0.115</c:v>
                </c:pt>
                <c:pt idx="5">
                  <c:v>0.115</c:v>
                </c:pt>
                <c:pt idx="6">
                  <c:v>0.115</c:v>
                </c:pt>
                <c:pt idx="7">
                  <c:v>0.115</c:v>
                </c:pt>
                <c:pt idx="8">
                  <c:v>0.115</c:v>
                </c:pt>
                <c:pt idx="9">
                  <c:v>0.115</c:v>
                </c:pt>
                <c:pt idx="10">
                  <c:v>0.115</c:v>
                </c:pt>
                <c:pt idx="11">
                  <c:v>0.115</c:v>
                </c:pt>
                <c:pt idx="12">
                  <c:v>0.115</c:v>
                </c:pt>
                <c:pt idx="13">
                  <c:v>0.115</c:v>
                </c:pt>
                <c:pt idx="14">
                  <c:v>0.115</c:v>
                </c:pt>
                <c:pt idx="15">
                  <c:v>0.115</c:v>
                </c:pt>
                <c:pt idx="16">
                  <c:v>0.115</c:v>
                </c:pt>
                <c:pt idx="17">
                  <c:v>0.115</c:v>
                </c:pt>
                <c:pt idx="18">
                  <c:v>0.115</c:v>
                </c:pt>
                <c:pt idx="19">
                  <c:v>0.115</c:v>
                </c:pt>
              </c:numCache>
            </c:numRef>
          </c:val>
          <c:smooth val="0"/>
          <c:extLst>
            <c:ext xmlns:c16="http://schemas.microsoft.com/office/drawing/2014/chart" uri="{C3380CC4-5D6E-409C-BE32-E72D297353CC}">
              <c16:uniqueId val="{0000002E-87B9-4134-9A27-9E524F56ACC7}"/>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19"/>
              <c:layout>
                <c:manualLayout>
                  <c:x val="2.8000000000000001E-2"/>
                  <c:y val="-0.03"/>
                </c:manualLayout>
              </c:layout>
              <c:numFmt formatCode="0.0%" sourceLinked="0"/>
              <c:spPr>
                <a:noFill/>
                <a:ln>
                  <a:noFill/>
                </a:ln>
              </c:spPr>
              <c:txPr>
                <a:bodyPr/>
                <a:lstStyle/>
                <a:p>
                  <a:pPr>
                    <a:defRPr sz="11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87B9-4134-9A27-9E524F56ACC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Sheet1!$D$2:$D$21</c:f>
              <c:numCache>
                <c:formatCode>0.0%</c:formatCode>
                <c:ptCount val="20"/>
                <c:pt idx="0">
                  <c:v>0.122</c:v>
                </c:pt>
                <c:pt idx="1">
                  <c:v>0.122</c:v>
                </c:pt>
                <c:pt idx="2">
                  <c:v>0.122</c:v>
                </c:pt>
                <c:pt idx="3">
                  <c:v>0.122</c:v>
                </c:pt>
                <c:pt idx="4">
                  <c:v>0.122</c:v>
                </c:pt>
                <c:pt idx="5">
                  <c:v>0.122</c:v>
                </c:pt>
                <c:pt idx="6">
                  <c:v>0.122</c:v>
                </c:pt>
                <c:pt idx="7">
                  <c:v>0.122</c:v>
                </c:pt>
                <c:pt idx="8">
                  <c:v>0.122</c:v>
                </c:pt>
                <c:pt idx="9">
                  <c:v>0.122</c:v>
                </c:pt>
                <c:pt idx="10">
                  <c:v>0.122</c:v>
                </c:pt>
                <c:pt idx="11">
                  <c:v>0.122</c:v>
                </c:pt>
                <c:pt idx="12">
                  <c:v>0.122</c:v>
                </c:pt>
                <c:pt idx="13">
                  <c:v>0.122</c:v>
                </c:pt>
                <c:pt idx="14">
                  <c:v>0.122</c:v>
                </c:pt>
                <c:pt idx="15">
                  <c:v>0.122</c:v>
                </c:pt>
                <c:pt idx="16">
                  <c:v>0.122</c:v>
                </c:pt>
                <c:pt idx="17">
                  <c:v>0.122</c:v>
                </c:pt>
                <c:pt idx="18">
                  <c:v>0.122</c:v>
                </c:pt>
                <c:pt idx="19">
                  <c:v>0.122</c:v>
                </c:pt>
              </c:numCache>
            </c:numRef>
          </c:val>
          <c:smooth val="0"/>
          <c:extLst>
            <c:ext xmlns:c16="http://schemas.microsoft.com/office/drawing/2014/chart" uri="{C3380CC4-5D6E-409C-BE32-E72D297353CC}">
              <c16:uniqueId val="{0000002E-87B9-4134-9A27-9E524F56ACC7}"/>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rot="-27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0.25"/>
          <c:min val="0"/>
        </c:scaling>
        <c:delete val="0"/>
        <c:axPos val="l"/>
        <c:numFmt formatCode="0%" sourceLinked="0"/>
        <c:majorTickMark val="out"/>
        <c:minorTickMark val="none"/>
        <c:tickLblPos val="nextTo"/>
        <c:txPr>
          <a:bodyPr/>
          <a:lstStyle/>
          <a:p>
            <a:pPr>
              <a:defRPr sz="1000">
                <a:latin typeface="Lato"/>
              </a:defRPr>
            </a:pPr>
            <a:endParaRPr lang="en-US"/>
          </a:p>
        </c:txPr>
        <c:crossAx val="-2068027336"/>
        <c:crosses val="autoZero"/>
        <c:crossBetween val="between"/>
        <c:majorUnit val="0.05"/>
      </c:valAx>
    </c:plotArea>
    <c:plotVisOnly val="1"/>
    <c:dispBlanksAs val="gap"/>
    <c:showDLblsOverMax val="1"/>
  </c:chart>
  <c:txPr>
    <a:bodyPr/>
    <a:lstStyle/>
    <a:p>
      <a:pPr>
        <a:defRPr sz="1800"/>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7857317073170751E-2"/>
          <c:y val="5.8068783068783082E-2"/>
          <c:w val="0.89379756097560992"/>
          <c:h val="0.60304232804232816"/>
        </c:manualLayout>
      </c:layout>
      <c:barChart>
        <c:barDir val="col"/>
        <c:grouping val="stacked"/>
        <c:varyColors val="1"/>
        <c:ser>
          <c:idx val="0"/>
          <c:order val="0"/>
          <c:tx>
            <c:strRef>
              <c:f>Sheet1!$B$1</c:f>
              <c:strCache>
                <c:ptCount val="1"/>
                <c:pt idx="0">
                  <c:v>Internally funded, all other</c:v>
                </c:pt>
              </c:strCache>
            </c:strRef>
          </c:tx>
          <c:spPr>
            <a:solidFill>
              <a:srgbClr val="000000"/>
            </a:solidFill>
            <a:ln>
              <a:noFill/>
            </a:ln>
          </c:spPr>
          <c:invertIfNegative val="1"/>
          <c:dLbls>
            <c:numFmt formatCode="#,##0" sourceLinked="0"/>
            <c:spPr>
              <a:noFill/>
              <a:ln>
                <a:noFill/>
              </a:ln>
              <a:effectLst/>
            </c:spPr>
            <c:txPr>
              <a:bodyPr/>
              <a:lstStyle/>
              <a:p>
                <a:pPr>
                  <a:defRPr sz="1100">
                    <a:solidFill>
                      <a:schemeClr val="bg1"/>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Sheet1!$B$2:$B$9</c:f>
              <c:numCache>
                <c:formatCode>General</c:formatCode>
                <c:ptCount val="8"/>
                <c:pt idx="0">
                  <c:v>2750</c:v>
                </c:pt>
                <c:pt idx="1">
                  <c:v>2931</c:v>
                </c:pt>
                <c:pt idx="2">
                  <c:v>2964</c:v>
                </c:pt>
                <c:pt idx="3">
                  <c:v>3289</c:v>
                </c:pt>
                <c:pt idx="4">
                  <c:v>3831</c:v>
                </c:pt>
                <c:pt idx="5">
                  <c:v>3925</c:v>
                </c:pt>
                <c:pt idx="6">
                  <c:v>3793</c:v>
                </c:pt>
                <c:pt idx="7">
                  <c:v>3552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34B7-4FD2-8A60-7863FA7BBF88}"/>
            </c:ext>
          </c:extLst>
        </c:ser>
        <c:ser>
          <c:idx val="1"/>
          <c:order val="1"/>
          <c:tx>
            <c:strRef>
              <c:f>Sheet1!$C$1</c:f>
              <c:strCache>
                <c:ptCount val="1"/>
                <c:pt idx="0">
                  <c:v>London</c:v>
                </c:pt>
              </c:strCache>
            </c:strRef>
          </c:tx>
          <c:spPr>
            <a:solidFill>
              <a:srgbClr val="000000"/>
            </a:solidFill>
            <a:ln>
              <a:noFill/>
            </a:ln>
          </c:spPr>
          <c:invertIfNegative val="1"/>
          <c:dLbls>
            <c:dLbl>
              <c:idx val="0"/>
              <c:delete val="1"/>
              <c:extLst>
                <c:ext xmlns:c15="http://schemas.microsoft.com/office/drawing/2012/chart" uri="{CE6537A1-D6FC-4f65-9D91-7224C49458BB}"/>
                <c:ext xmlns:c16="http://schemas.microsoft.com/office/drawing/2014/chart" uri="{C3380CC4-5D6E-409C-BE32-E72D297353CC}">
                  <c16:uniqueId val="{00000002-4621-4320-BE46-3285EDD7D318}"/>
                </c:ext>
              </c:extLst>
            </c:dLbl>
            <c:dLbl>
              <c:idx val="1"/>
              <c:delete val="1"/>
              <c:extLst>
                <c:ext xmlns:c15="http://schemas.microsoft.com/office/drawing/2012/chart" uri="{CE6537A1-D6FC-4f65-9D91-7224C49458BB}"/>
                <c:ext xmlns:c16="http://schemas.microsoft.com/office/drawing/2014/chart" uri="{C3380CC4-5D6E-409C-BE32-E72D297353CC}">
                  <c16:uniqueId val="{00000001-4621-4320-BE46-3285EDD7D318}"/>
                </c:ext>
              </c:extLst>
            </c:dLbl>
            <c:dLbl>
              <c:idx val="2"/>
              <c:delete val="1"/>
              <c:extLst>
                <c:ext xmlns:c15="http://schemas.microsoft.com/office/drawing/2012/chart" uri="{CE6537A1-D6FC-4f65-9D91-7224C49458BB}"/>
                <c:ext xmlns:c16="http://schemas.microsoft.com/office/drawing/2014/chart" uri="{C3380CC4-5D6E-409C-BE32-E72D297353CC}">
                  <c16:uniqueId val="{00000000-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Sheet1!$C$2:$C$9</c:f>
              <c:numCache>
                <c:formatCode>General</c:formatCode>
                <c:ptCount val="8"/>
                <c:pt idx="0">
                  <c:v>0</c:v>
                </c:pt>
                <c:pt idx="1">
                  <c:v>0</c:v>
                </c:pt>
                <c:pt idx="2">
                  <c:v>0</c:v>
                </c:pt>
                <c:pt idx="3">
                  <c:v>0</c:v>
                </c:pt>
                <c:pt idx="4">
                  <c:v>0</c:v>
                </c:pt>
                <c:pt idx="5">
                  <c:v>0</c:v>
                </c:pt>
                <c:pt idx="6">
                  <c:v>216</c:v>
                </c:pt>
                <c:pt idx="7">
                  <c:v>182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34B7-4FD2-8A60-7863FA7BBF88}"/>
            </c:ext>
          </c:extLst>
        </c:ser>
        <c:ser>
          <c:idx val="2"/>
          <c:order val="2"/>
          <c:tx>
            <c:strRef>
              <c:f>Sheet1!$D$1</c:f>
              <c:strCache>
                <c:ptCount val="1"/>
                <c:pt idx="0">
                  <c:v>Oakland campus</c:v>
                </c:pt>
              </c:strCache>
            </c:strRef>
          </c:tx>
          <c:spPr>
            <a:solidFill>
              <a:srgbClr val="8C8080"/>
            </a:solidFill>
            <a:ln>
              <a:noFill/>
            </a:ln>
          </c:spPr>
          <c:invertIfNegative val="1"/>
          <c:dLbls>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621-4320-BE46-3285EDD7D318}"/>
                </c:ext>
              </c:extLst>
            </c:dLbl>
            <c:numFmt formatCode="#,##0" sourceLinked="0"/>
            <c:spPr>
              <a:noFill/>
              <a:ln>
                <a:noFill/>
              </a:ln>
              <a:effectLst/>
            </c:spPr>
            <c:txPr>
              <a:bodyPr wrap="square" lIns="38100" tIns="19050" rIns="38100" bIns="19050" anchor="ctr">
                <a:spAutoFit/>
              </a:bodyPr>
              <a:lstStyle/>
              <a:p>
                <a:pPr>
                  <a:defRPr sz="800">
                    <a:solidFill>
                      <a:schemeClr val="bg1"/>
                    </a:solidFill>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Sheet1!$D$2:$D$9</c:f>
              <c:numCache>
                <c:formatCode>General</c:formatCode>
                <c:ptCount val="8"/>
                <c:pt idx="0">
                  <c:v>0</c:v>
                </c:pt>
                <c:pt idx="1">
                  <c:v>0</c:v>
                </c:pt>
                <c:pt idx="2">
                  <c:v>0</c:v>
                </c:pt>
                <c:pt idx="3">
                  <c:v>219</c:v>
                </c:pt>
                <c:pt idx="4">
                  <c:v>267</c:v>
                </c:pt>
                <c:pt idx="5">
                  <c:v>295</c:v>
                </c:pt>
                <c:pt idx="6">
                  <c:v>265</c:v>
                </c:pt>
                <c:pt idx="7">
                  <c:v>218</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4B7-4FD2-8A60-7863FA7BBF88}"/>
            </c:ext>
          </c:extLst>
        </c:ser>
        <c:ser>
          <c:idx val="3"/>
          <c:order val="3"/>
          <c:tx>
            <c:strRef>
              <c:f>Sheet1!$E$1</c:f>
              <c:strCache>
                <c:ptCount val="1"/>
                <c:pt idx="0">
                  <c:v>Externally funded  (Restricted, Research)</c:v>
                </c:pt>
              </c:strCache>
            </c:strRef>
          </c:tx>
          <c:spPr>
            <a:solidFill>
              <a:srgbClr val="C8102E"/>
            </a:solidFill>
            <a:ln>
              <a:noFill/>
            </a:ln>
          </c:spPr>
          <c:invertIfNegative val="1"/>
          <c:dLbls>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621-4320-BE46-3285EDD7D318}"/>
                </c:ext>
              </c:extLst>
            </c:dLbl>
            <c:numFmt formatCode="#,##0" sourceLinked="0"/>
            <c:spPr>
              <a:noFill/>
              <a:ln>
                <a:noFill/>
              </a:ln>
              <a:effectLst/>
            </c:spPr>
            <c:txPr>
              <a:bodyPr wrap="square" lIns="38100" tIns="19050" rIns="38100" bIns="19050" anchor="ctr">
                <a:spAutoFit/>
              </a:bodyPr>
              <a:lstStyle/>
              <a:p>
                <a:pPr>
                  <a:defRPr sz="800">
                    <a:solidFill>
                      <a:schemeClr val="bg1"/>
                    </a:solidFill>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Sheet1!$E$2:$E$9</c:f>
              <c:numCache>
                <c:formatCode>General</c:formatCode>
                <c:ptCount val="8"/>
                <c:pt idx="0">
                  <c:v>117</c:v>
                </c:pt>
                <c:pt idx="1">
                  <c:v>124</c:v>
                </c:pt>
                <c:pt idx="2">
                  <c:v>124</c:v>
                </c:pt>
                <c:pt idx="3">
                  <c:v>145</c:v>
                </c:pt>
                <c:pt idx="4">
                  <c:v>176</c:v>
                </c:pt>
                <c:pt idx="5">
                  <c:v>227</c:v>
                </c:pt>
                <c:pt idx="6">
                  <c:v>217</c:v>
                </c:pt>
                <c:pt idx="7">
                  <c:v>227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4B7-4FD2-8A60-7863FA7BBF88}"/>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b"/>
        <c:numFmt formatCode="General" sourceLinked="0"/>
        <c:majorTickMark val="out"/>
        <c:minorTickMark val="none"/>
        <c:tickLblPos val="nextTo"/>
        <c:spPr>
          <a:ln w="12700">
            <a:solidFill>
              <a:srgbClr val="000000"/>
            </a:solidFill>
          </a:ln>
        </c:spPr>
        <c:txPr>
          <a:bodyPr/>
          <a:lstStyle/>
          <a:p>
            <a:pPr>
              <a:defRPr>
                <a:solidFill>
                  <a:schemeClr val="bg1"/>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title>
          <c:tx>
            <c:rich>
              <a:bodyPr rot="-5400000" vert="horz"/>
              <a:lstStyle/>
              <a:p>
                <a:pPr>
                  <a:defRPr sz="1000" b="1">
                    <a:solidFill>
                      <a:srgbClr val="49494D"/>
                    </a:solidFill>
                    <a:latin typeface="Lato"/>
                  </a:defRPr>
                </a:pPr>
                <a:r>
                  <a:rPr lang="en-US" sz="1000" b="1">
                    <a:solidFill>
                      <a:srgbClr val="49494D"/>
                    </a:solidFill>
                    <a:latin typeface="Lato"/>
                  </a:rPr>
                  <a:t>Staff</a:t>
                </a:r>
              </a:p>
            </c:rich>
          </c:tx>
          <c:overlay val="0"/>
        </c:title>
        <c:numFmt formatCode="#,##0" sourceLinked="0"/>
        <c:majorTickMark val="out"/>
        <c:minorTickMark val="none"/>
        <c:tickLblPos val="nextTo"/>
        <c:spPr>
          <a:ln w="12700">
            <a:solidFill>
              <a:srgbClr val="000000"/>
            </a:solidFill>
          </a:ln>
        </c:spPr>
        <c:txPr>
          <a:bodyPr/>
          <a:lstStyle/>
          <a:p>
            <a:pPr>
              <a:defRPr>
                <a:solidFill>
                  <a:schemeClr val="bg1"/>
                </a:solidFill>
              </a:defRPr>
            </a:pPr>
            <a:endParaRPr lang="en-US"/>
          </a:p>
        </c:txPr>
        <c:crossAx val="2068027336"/>
        <c:crosses val="autoZero"/>
        <c:crossBetween val="between"/>
        <c:majorUnit val="1000"/>
      </c:valAx>
    </c:plotArea>
    <c:legend>
      <c:legendPos val="b"/>
      <c:layout>
        <c:manualLayout>
          <c:xMode val="edge"/>
          <c:yMode val="edge"/>
          <c:x val="0.05"/>
          <c:y val="0.91455026455026456"/>
          <c:w val="0.9"/>
          <c:h val="7.4338624338624343E-2"/>
        </c:manualLayout>
      </c:layout>
      <c:overlay val="0"/>
      <c:txPr>
        <a:bodyPr/>
        <a:lstStyle/>
        <a:p>
          <a:pPr>
            <a:defRPr>
              <a:solidFill>
                <a:schemeClr val="tx1"/>
              </a:solidFill>
            </a:defRPr>
          </a:pPr>
          <a:endParaRPr lang="en-US"/>
        </a:p>
      </c:txPr>
    </c:legend>
    <c:plotVisOnly val="1"/>
    <c:dispBlanksAs val="gap"/>
    <c:showDLblsOverMax val="1"/>
  </c:chart>
  <c:txPr>
    <a:bodyPr/>
    <a:lstStyle/>
    <a:p>
      <a:pPr>
        <a:defRPr sz="1200"/>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7.1146245059288543E-2"/>
          <c:y val="6.8126520681265221E-2"/>
          <c:w val="0.91304347826086962"/>
          <c:h val="0.75669099756690994"/>
        </c:manualLayout>
      </c:layout>
      <c:scatterChart>
        <c:scatterStyle val="lineMarker"/>
        <c:varyColors val="0"/>
        <c:ser>
          <c:idx val="0"/>
          <c:order val="0"/>
          <c:tx>
            <c:strRef>
              <c:f>Sheet1!$B$1</c:f>
              <c:strCache>
                <c:ptCount val="1"/>
                <c:pt idx="0">
                  <c:v>$40K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$40K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Sheet1!$A$2:$A$96</c:f>
              <c:numCache>
                <c:formatCode>General</c:formatCode>
                <c:ptCount val="95"/>
                <c:pt idx="0">
                  <c:v>66666.666666666672</c:v>
                </c:pt>
                <c:pt idx="1">
                  <c:v>70000</c:v>
                </c:pt>
                <c:pt idx="2">
                  <c:v>80000</c:v>
                </c:pt>
                <c:pt idx="3">
                  <c:v>90000</c:v>
                </c:pt>
                <c:pt idx="4">
                  <c:v>100000</c:v>
                </c:pt>
                <c:pt idx="5">
                  <c:v>110000</c:v>
                </c:pt>
                <c:pt idx="6">
                  <c:v>120000</c:v>
                </c:pt>
                <c:pt idx="7">
                  <c:v>130000</c:v>
                </c:pt>
                <c:pt idx="8">
                  <c:v>140000</c:v>
                </c:pt>
                <c:pt idx="9">
                  <c:v>150000</c:v>
                </c:pt>
                <c:pt idx="10">
                  <c:v>160000</c:v>
                </c:pt>
                <c:pt idx="11">
                  <c:v>170000</c:v>
                </c:pt>
                <c:pt idx="12">
                  <c:v>180000</c:v>
                </c:pt>
                <c:pt idx="13">
                  <c:v>190000</c:v>
                </c:pt>
                <c:pt idx="14">
                  <c:v>200000</c:v>
                </c:pt>
                <c:pt idx="15">
                  <c:v>210000</c:v>
                </c:pt>
                <c:pt idx="16">
                  <c:v>220000</c:v>
                </c:pt>
                <c:pt idx="17">
                  <c:v>230000</c:v>
                </c:pt>
                <c:pt idx="18">
                  <c:v>240000</c:v>
                </c:pt>
                <c:pt idx="19">
                  <c:v>250000</c:v>
                </c:pt>
                <c:pt idx="20">
                  <c:v>260000</c:v>
                </c:pt>
                <c:pt idx="21">
                  <c:v>270000</c:v>
                </c:pt>
                <c:pt idx="22">
                  <c:v>280000</c:v>
                </c:pt>
                <c:pt idx="23">
                  <c:v>290000</c:v>
                </c:pt>
                <c:pt idx="24">
                  <c:v>300000</c:v>
                </c:pt>
                <c:pt idx="25">
                  <c:v>310000</c:v>
                </c:pt>
                <c:pt idx="26">
                  <c:v>320000</c:v>
                </c:pt>
                <c:pt idx="27">
                  <c:v>330000</c:v>
                </c:pt>
                <c:pt idx="28">
                  <c:v>340000</c:v>
                </c:pt>
                <c:pt idx="29">
                  <c:v>350000</c:v>
                </c:pt>
                <c:pt idx="30">
                  <c:v>360000</c:v>
                </c:pt>
                <c:pt idx="31">
                  <c:v>370000</c:v>
                </c:pt>
                <c:pt idx="32">
                  <c:v>380000</c:v>
                </c:pt>
                <c:pt idx="33">
                  <c:v>390000</c:v>
                </c:pt>
                <c:pt idx="34">
                  <c:v>400000</c:v>
                </c:pt>
                <c:pt idx="35">
                  <c:v>410000</c:v>
                </c:pt>
                <c:pt idx="36">
                  <c:v>420000</c:v>
                </c:pt>
                <c:pt idx="37">
                  <c:v>430000</c:v>
                </c:pt>
                <c:pt idx="38">
                  <c:v>440000</c:v>
                </c:pt>
                <c:pt idx="39">
                  <c:v>450000</c:v>
                </c:pt>
                <c:pt idx="40">
                  <c:v>460000</c:v>
                </c:pt>
                <c:pt idx="41">
                  <c:v>470000</c:v>
                </c:pt>
                <c:pt idx="42">
                  <c:v>480000</c:v>
                </c:pt>
                <c:pt idx="43">
                  <c:v>490000</c:v>
                </c:pt>
                <c:pt idx="44">
                  <c:v>500000</c:v>
                </c:pt>
                <c:pt idx="45">
                  <c:v>510000</c:v>
                </c:pt>
                <c:pt idx="46">
                  <c:v>520000</c:v>
                </c:pt>
                <c:pt idx="47">
                  <c:v>530000</c:v>
                </c:pt>
                <c:pt idx="48">
                  <c:v>540000</c:v>
                </c:pt>
                <c:pt idx="49">
                  <c:v>550000</c:v>
                </c:pt>
                <c:pt idx="50">
                  <c:v>560000</c:v>
                </c:pt>
                <c:pt idx="51">
                  <c:v>570000</c:v>
                </c:pt>
                <c:pt idx="52">
                  <c:v>580000</c:v>
                </c:pt>
                <c:pt idx="53">
                  <c:v>590000</c:v>
                </c:pt>
                <c:pt idx="54">
                  <c:v>600000</c:v>
                </c:pt>
                <c:pt idx="55">
                  <c:v>610000</c:v>
                </c:pt>
                <c:pt idx="56">
                  <c:v>620000</c:v>
                </c:pt>
                <c:pt idx="57">
                  <c:v>630000</c:v>
                </c:pt>
                <c:pt idx="58">
                  <c:v>640000</c:v>
                </c:pt>
                <c:pt idx="59">
                  <c:v>650000</c:v>
                </c:pt>
                <c:pt idx="60">
                  <c:v>660000</c:v>
                </c:pt>
                <c:pt idx="61">
                  <c:v>670000</c:v>
                </c:pt>
                <c:pt idx="62">
                  <c:v>680000</c:v>
                </c:pt>
                <c:pt idx="63">
                  <c:v>690000</c:v>
                </c:pt>
                <c:pt idx="64">
                  <c:v>700000</c:v>
                </c:pt>
                <c:pt idx="65">
                  <c:v>710000</c:v>
                </c:pt>
                <c:pt idx="66">
                  <c:v>720000</c:v>
                </c:pt>
                <c:pt idx="67">
                  <c:v>730000</c:v>
                </c:pt>
                <c:pt idx="68">
                  <c:v>740000</c:v>
                </c:pt>
                <c:pt idx="69">
                  <c:v>750000</c:v>
                </c:pt>
                <c:pt idx="70">
                  <c:v>760000</c:v>
                </c:pt>
                <c:pt idx="71">
                  <c:v>770000</c:v>
                </c:pt>
                <c:pt idx="72">
                  <c:v>780000</c:v>
                </c:pt>
                <c:pt idx="73">
                  <c:v>790000</c:v>
                </c:pt>
                <c:pt idx="74">
                  <c:v>800000</c:v>
                </c:pt>
                <c:pt idx="75">
                  <c:v>810000</c:v>
                </c:pt>
                <c:pt idx="76">
                  <c:v>820000</c:v>
                </c:pt>
                <c:pt idx="77">
                  <c:v>830000</c:v>
                </c:pt>
                <c:pt idx="78">
                  <c:v>840000</c:v>
                </c:pt>
                <c:pt idx="79">
                  <c:v>850000</c:v>
                </c:pt>
                <c:pt idx="80">
                  <c:v>860000</c:v>
                </c:pt>
                <c:pt idx="81">
                  <c:v>870000</c:v>
                </c:pt>
                <c:pt idx="82">
                  <c:v>880000</c:v>
                </c:pt>
                <c:pt idx="83">
                  <c:v>890000</c:v>
                </c:pt>
                <c:pt idx="84">
                  <c:v>900000</c:v>
                </c:pt>
                <c:pt idx="85">
                  <c:v>910000</c:v>
                </c:pt>
                <c:pt idx="86">
                  <c:v>920000</c:v>
                </c:pt>
                <c:pt idx="87">
                  <c:v>930000</c:v>
                </c:pt>
                <c:pt idx="88">
                  <c:v>940000</c:v>
                </c:pt>
                <c:pt idx="89">
                  <c:v>950000</c:v>
                </c:pt>
                <c:pt idx="90">
                  <c:v>960000</c:v>
                </c:pt>
                <c:pt idx="91">
                  <c:v>970000</c:v>
                </c:pt>
                <c:pt idx="92">
                  <c:v>980000</c:v>
                </c:pt>
                <c:pt idx="93">
                  <c:v>990000</c:v>
                </c:pt>
                <c:pt idx="94">
                  <c:v>1000000</c:v>
                </c:pt>
              </c:numCache>
            </c:numRef>
          </c:xVal>
          <c:yVal>
            <c:numRef>
              <c:f>Sheet1!$B$2:$B$96</c:f>
              <c:numCache>
                <c:formatCode>General</c:formatCode>
                <c:ptCount val="95"/>
                <c:pt idx="0">
                  <c:v>0.6</c:v>
                </c:pt>
                <c:pt idx="1">
                  <c:v>0.5714285714285714</c:v>
                </c:pt>
                <c:pt idx="2">
                  <c:v>0.5</c:v>
                </c:pt>
                <c:pt idx="3">
                  <c:v>0.44444444444444442</c:v>
                </c:pt>
                <c:pt idx="4">
                  <c:v>0.4</c:v>
                </c:pt>
                <c:pt idx="5">
                  <c:v>0.36363636363636365</c:v>
                </c:pt>
                <c:pt idx="6">
                  <c:v>0.33333333333333331</c:v>
                </c:pt>
                <c:pt idx="7">
                  <c:v>0.30769230769230771</c:v>
                </c:pt>
                <c:pt idx="8">
                  <c:v>0.2857142857142857</c:v>
                </c:pt>
                <c:pt idx="9">
                  <c:v>0.26666666666666666</c:v>
                </c:pt>
                <c:pt idx="10">
                  <c:v>0.25</c:v>
                </c:pt>
                <c:pt idx="11">
                  <c:v>0.23529411764705882</c:v>
                </c:pt>
                <c:pt idx="12">
                  <c:v>0.22222222222222221</c:v>
                </c:pt>
                <c:pt idx="13">
                  <c:v>0.21052631578947367</c:v>
                </c:pt>
                <c:pt idx="14">
                  <c:v>0.2</c:v>
                </c:pt>
                <c:pt idx="15">
                  <c:v>0.19047619047619047</c:v>
                </c:pt>
                <c:pt idx="16">
                  <c:v>0.18181818181818182</c:v>
                </c:pt>
                <c:pt idx="17">
                  <c:v>0.17391304347826086</c:v>
                </c:pt>
                <c:pt idx="18">
                  <c:v>0.16666666666666666</c:v>
                </c:pt>
                <c:pt idx="19">
                  <c:v>0.16</c:v>
                </c:pt>
                <c:pt idx="20">
                  <c:v>0.15384615384615385</c:v>
                </c:pt>
                <c:pt idx="21">
                  <c:v>0.14814814814814814</c:v>
                </c:pt>
                <c:pt idx="22">
                  <c:v>0.14285714285714285</c:v>
                </c:pt>
                <c:pt idx="23">
                  <c:v>0.13793103448275862</c:v>
                </c:pt>
                <c:pt idx="24">
                  <c:v>0.13333333333333333</c:v>
                </c:pt>
                <c:pt idx="25">
                  <c:v>0.12903225806451613</c:v>
                </c:pt>
                <c:pt idx="26">
                  <c:v>0.125</c:v>
                </c:pt>
                <c:pt idx="27">
                  <c:v>0.12121212121212122</c:v>
                </c:pt>
                <c:pt idx="28">
                  <c:v>0.11764705882352941</c:v>
                </c:pt>
                <c:pt idx="29">
                  <c:v>0.11428571428571428</c:v>
                </c:pt>
                <c:pt idx="30">
                  <c:v>0.1111111111111111</c:v>
                </c:pt>
                <c:pt idx="31">
                  <c:v>0.10810810810810811</c:v>
                </c:pt>
                <c:pt idx="32">
                  <c:v>0.10526315789473684</c:v>
                </c:pt>
                <c:pt idx="33">
                  <c:v>0.10256410256410256</c:v>
                </c:pt>
                <c:pt idx="34">
                  <c:v>0.1</c:v>
                </c:pt>
                <c:pt idx="35">
                  <c:v>9.7560975609756101E-2</c:v>
                </c:pt>
                <c:pt idx="36">
                  <c:v>9.5238095238095233E-2</c:v>
                </c:pt>
                <c:pt idx="37">
                  <c:v>9.3023255813953487E-2</c:v>
                </c:pt>
                <c:pt idx="38">
                  <c:v>9.0909090909090912E-2</c:v>
                </c:pt>
                <c:pt idx="39">
                  <c:v>8.8888888888888892E-2</c:v>
                </c:pt>
                <c:pt idx="40">
                  <c:v>8.6956521739130432E-2</c:v>
                </c:pt>
                <c:pt idx="41">
                  <c:v>8.5106382978723402E-2</c:v>
                </c:pt>
                <c:pt idx="42">
                  <c:v>8.3333333333333329E-2</c:v>
                </c:pt>
                <c:pt idx="43">
                  <c:v>8.1632653061224483E-2</c:v>
                </c:pt>
                <c:pt idx="44">
                  <c:v>0.08</c:v>
                </c:pt>
                <c:pt idx="45">
                  <c:v>7.8431372549019607E-2</c:v>
                </c:pt>
                <c:pt idx="46">
                  <c:v>7.6923076923076927E-2</c:v>
                </c:pt>
                <c:pt idx="47">
                  <c:v>7.5471698113207544E-2</c:v>
                </c:pt>
                <c:pt idx="48">
                  <c:v>7.407407407407407E-2</c:v>
                </c:pt>
                <c:pt idx="49">
                  <c:v>7.2727272727272724E-2</c:v>
                </c:pt>
                <c:pt idx="50">
                  <c:v>7.1428571428571425E-2</c:v>
                </c:pt>
                <c:pt idx="51">
                  <c:v>7.0175438596491224E-2</c:v>
                </c:pt>
                <c:pt idx="52">
                  <c:v>6.8965517241379309E-2</c:v>
                </c:pt>
                <c:pt idx="53">
                  <c:v>6.7796610169491525E-2</c:v>
                </c:pt>
                <c:pt idx="54">
                  <c:v>6.6666666666666666E-2</c:v>
                </c:pt>
                <c:pt idx="55">
                  <c:v>6.5573770491803282E-2</c:v>
                </c:pt>
                <c:pt idx="56">
                  <c:v>6.4516129032258063E-2</c:v>
                </c:pt>
                <c:pt idx="57">
                  <c:v>6.3492063492063489E-2</c:v>
                </c:pt>
                <c:pt idx="58">
                  <c:v>6.25E-2</c:v>
                </c:pt>
                <c:pt idx="59">
                  <c:v>6.1538461538461542E-2</c:v>
                </c:pt>
                <c:pt idx="60">
                  <c:v>6.0606060606060608E-2</c:v>
                </c:pt>
                <c:pt idx="61">
                  <c:v>5.9701492537313432E-2</c:v>
                </c:pt>
                <c:pt idx="62">
                  <c:v>5.8823529411764705E-2</c:v>
                </c:pt>
                <c:pt idx="63">
                  <c:v>5.7971014492753624E-2</c:v>
                </c:pt>
                <c:pt idx="64">
                  <c:v>5.7142857142857141E-2</c:v>
                </c:pt>
                <c:pt idx="65">
                  <c:v>5.6338028169014086E-2</c:v>
                </c:pt>
                <c:pt idx="66">
                  <c:v>5.5555555555555552E-2</c:v>
                </c:pt>
                <c:pt idx="67">
                  <c:v>5.4794520547945202E-2</c:v>
                </c:pt>
                <c:pt idx="68">
                  <c:v>5.4054054054054057E-2</c:v>
                </c:pt>
                <c:pt idx="69">
                  <c:v>5.3333333333333337E-2</c:v>
                </c:pt>
                <c:pt idx="70">
                  <c:v>5.2631578947368418E-2</c:v>
                </c:pt>
                <c:pt idx="71">
                  <c:v>5.1948051948051951E-2</c:v>
                </c:pt>
                <c:pt idx="72">
                  <c:v>5.128205128205128E-2</c:v>
                </c:pt>
                <c:pt idx="73">
                  <c:v>5.0632911392405063E-2</c:v>
                </c:pt>
                <c:pt idx="74">
                  <c:v>0.05</c:v>
                </c:pt>
                <c:pt idx="75">
                  <c:v>4.9382716049382713E-2</c:v>
                </c:pt>
                <c:pt idx="76">
                  <c:v>4.878048780487805E-2</c:v>
                </c:pt>
                <c:pt idx="77">
                  <c:v>4.8192771084337352E-2</c:v>
                </c:pt>
                <c:pt idx="78">
                  <c:v>4.7619047619047616E-2</c:v>
                </c:pt>
                <c:pt idx="79">
                  <c:v>4.7058823529411764E-2</c:v>
                </c:pt>
                <c:pt idx="80">
                  <c:v>4.6511627906976744E-2</c:v>
                </c:pt>
                <c:pt idx="81">
                  <c:v>4.5977011494252873E-2</c:v>
                </c:pt>
                <c:pt idx="82">
                  <c:v>4.5454545454545456E-2</c:v>
                </c:pt>
                <c:pt idx="83">
                  <c:v>4.49438202247191E-2</c:v>
                </c:pt>
                <c:pt idx="84">
                  <c:v>4.4444444444444446E-2</c:v>
                </c:pt>
                <c:pt idx="85">
                  <c:v>4.3956043956043959E-2</c:v>
                </c:pt>
                <c:pt idx="86">
                  <c:v>4.3478260869565216E-2</c:v>
                </c:pt>
                <c:pt idx="87">
                  <c:v>4.3010752688172046E-2</c:v>
                </c:pt>
                <c:pt idx="88">
                  <c:v>4.2553191489361701E-2</c:v>
                </c:pt>
                <c:pt idx="89">
                  <c:v>4.2105263157894736E-2</c:v>
                </c:pt>
                <c:pt idx="90">
                  <c:v>4.1666666666666664E-2</c:v>
                </c:pt>
                <c:pt idx="91">
                  <c:v>4.1237113402061855E-2</c:v>
                </c:pt>
                <c:pt idx="92">
                  <c:v>4.0816326530612242E-2</c:v>
                </c:pt>
                <c:pt idx="93">
                  <c:v>4.0404040404040407E-2</c:v>
                </c:pt>
                <c:pt idx="94">
                  <c:v>0.04</c:v>
                </c:pt>
              </c:numCache>
            </c:numRef>
          </c:yVal>
          <c:smooth val="0"/>
          <c:extLst>
            <c:ext xmlns:c16="http://schemas.microsoft.com/office/drawing/2014/chart" uri="{C3380CC4-5D6E-409C-BE32-E72D297353CC}">
              <c16:uniqueId val="{00000001-1B62-4160-ADA3-F41F64D3854C}"/>
            </c:ext>
          </c:extLst>
        </c:ser>
        <c:ser>
          <c:idx val="1"/>
          <c:order val="1"/>
          <c:tx>
            <c:strRef>
              <c:f>Sheet1!$B$98</c:f>
              <c:strCache>
                <c:ptCount val="1"/>
                <c:pt idx="0">
                  <c:v>$80K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$80K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Sheet1!$A$99:$A$186</c:f>
              <c:numCache>
                <c:formatCode>General</c:formatCode>
                <c:ptCount val="88"/>
                <c:pt idx="0">
                  <c:v>133333.33333333334</c:v>
                </c:pt>
                <c:pt idx="1">
                  <c:v>140000</c:v>
                </c:pt>
                <c:pt idx="2">
                  <c:v>150000</c:v>
                </c:pt>
                <c:pt idx="3">
                  <c:v>160000</c:v>
                </c:pt>
                <c:pt idx="4">
                  <c:v>170000</c:v>
                </c:pt>
                <c:pt idx="5">
                  <c:v>180000</c:v>
                </c:pt>
                <c:pt idx="6">
                  <c:v>190000</c:v>
                </c:pt>
                <c:pt idx="7">
                  <c:v>200000</c:v>
                </c:pt>
                <c:pt idx="8">
                  <c:v>210000</c:v>
                </c:pt>
                <c:pt idx="9">
                  <c:v>220000</c:v>
                </c:pt>
                <c:pt idx="10">
                  <c:v>230000</c:v>
                </c:pt>
                <c:pt idx="11">
                  <c:v>240000</c:v>
                </c:pt>
                <c:pt idx="12">
                  <c:v>250000</c:v>
                </c:pt>
                <c:pt idx="13">
                  <c:v>260000</c:v>
                </c:pt>
                <c:pt idx="14">
                  <c:v>270000</c:v>
                </c:pt>
                <c:pt idx="15">
                  <c:v>280000</c:v>
                </c:pt>
                <c:pt idx="16">
                  <c:v>290000</c:v>
                </c:pt>
                <c:pt idx="17">
                  <c:v>300000</c:v>
                </c:pt>
                <c:pt idx="18">
                  <c:v>310000</c:v>
                </c:pt>
                <c:pt idx="19">
                  <c:v>320000</c:v>
                </c:pt>
                <c:pt idx="20">
                  <c:v>330000</c:v>
                </c:pt>
                <c:pt idx="21">
                  <c:v>340000</c:v>
                </c:pt>
                <c:pt idx="22">
                  <c:v>350000</c:v>
                </c:pt>
                <c:pt idx="23">
                  <c:v>360000</c:v>
                </c:pt>
                <c:pt idx="24">
                  <c:v>370000</c:v>
                </c:pt>
                <c:pt idx="25">
                  <c:v>380000</c:v>
                </c:pt>
                <c:pt idx="26">
                  <c:v>390000</c:v>
                </c:pt>
                <c:pt idx="27">
                  <c:v>400000</c:v>
                </c:pt>
                <c:pt idx="28">
                  <c:v>410000</c:v>
                </c:pt>
                <c:pt idx="29">
                  <c:v>420000</c:v>
                </c:pt>
                <c:pt idx="30">
                  <c:v>430000</c:v>
                </c:pt>
                <c:pt idx="31">
                  <c:v>440000</c:v>
                </c:pt>
                <c:pt idx="32">
                  <c:v>450000</c:v>
                </c:pt>
                <c:pt idx="33">
                  <c:v>460000</c:v>
                </c:pt>
                <c:pt idx="34">
                  <c:v>470000</c:v>
                </c:pt>
                <c:pt idx="35">
                  <c:v>480000</c:v>
                </c:pt>
                <c:pt idx="36">
                  <c:v>490000</c:v>
                </c:pt>
                <c:pt idx="37">
                  <c:v>500000</c:v>
                </c:pt>
                <c:pt idx="38">
                  <c:v>510000</c:v>
                </c:pt>
                <c:pt idx="39">
                  <c:v>520000</c:v>
                </c:pt>
                <c:pt idx="40">
                  <c:v>530000</c:v>
                </c:pt>
                <c:pt idx="41">
                  <c:v>540000</c:v>
                </c:pt>
                <c:pt idx="42">
                  <c:v>550000</c:v>
                </c:pt>
                <c:pt idx="43">
                  <c:v>560000</c:v>
                </c:pt>
                <c:pt idx="44">
                  <c:v>570000</c:v>
                </c:pt>
                <c:pt idx="45">
                  <c:v>580000</c:v>
                </c:pt>
                <c:pt idx="46">
                  <c:v>590000</c:v>
                </c:pt>
                <c:pt idx="47">
                  <c:v>600000</c:v>
                </c:pt>
                <c:pt idx="48">
                  <c:v>610000</c:v>
                </c:pt>
                <c:pt idx="49">
                  <c:v>620000</c:v>
                </c:pt>
                <c:pt idx="50">
                  <c:v>630000</c:v>
                </c:pt>
                <c:pt idx="51">
                  <c:v>640000</c:v>
                </c:pt>
                <c:pt idx="52">
                  <c:v>650000</c:v>
                </c:pt>
                <c:pt idx="53">
                  <c:v>660000</c:v>
                </c:pt>
                <c:pt idx="54">
                  <c:v>670000</c:v>
                </c:pt>
                <c:pt idx="55">
                  <c:v>680000</c:v>
                </c:pt>
                <c:pt idx="56">
                  <c:v>690000</c:v>
                </c:pt>
                <c:pt idx="57">
                  <c:v>700000</c:v>
                </c:pt>
                <c:pt idx="58">
                  <c:v>710000</c:v>
                </c:pt>
                <c:pt idx="59">
                  <c:v>720000</c:v>
                </c:pt>
                <c:pt idx="60">
                  <c:v>730000</c:v>
                </c:pt>
                <c:pt idx="61">
                  <c:v>740000</c:v>
                </c:pt>
                <c:pt idx="62">
                  <c:v>750000</c:v>
                </c:pt>
                <c:pt idx="63">
                  <c:v>760000</c:v>
                </c:pt>
                <c:pt idx="64">
                  <c:v>770000</c:v>
                </c:pt>
                <c:pt idx="65">
                  <c:v>780000</c:v>
                </c:pt>
                <c:pt idx="66">
                  <c:v>790000</c:v>
                </c:pt>
                <c:pt idx="67">
                  <c:v>800000</c:v>
                </c:pt>
                <c:pt idx="68">
                  <c:v>810000</c:v>
                </c:pt>
                <c:pt idx="69">
                  <c:v>820000</c:v>
                </c:pt>
                <c:pt idx="70">
                  <c:v>830000</c:v>
                </c:pt>
                <c:pt idx="71">
                  <c:v>840000</c:v>
                </c:pt>
                <c:pt idx="72">
                  <c:v>850000</c:v>
                </c:pt>
                <c:pt idx="73">
                  <c:v>860000</c:v>
                </c:pt>
                <c:pt idx="74">
                  <c:v>870000</c:v>
                </c:pt>
                <c:pt idx="75">
                  <c:v>880000</c:v>
                </c:pt>
                <c:pt idx="76">
                  <c:v>890000</c:v>
                </c:pt>
                <c:pt idx="77">
                  <c:v>900000</c:v>
                </c:pt>
                <c:pt idx="78">
                  <c:v>910000</c:v>
                </c:pt>
                <c:pt idx="79">
                  <c:v>920000</c:v>
                </c:pt>
                <c:pt idx="80">
                  <c:v>930000</c:v>
                </c:pt>
                <c:pt idx="81">
                  <c:v>940000</c:v>
                </c:pt>
                <c:pt idx="82">
                  <c:v>950000</c:v>
                </c:pt>
                <c:pt idx="83">
                  <c:v>960000</c:v>
                </c:pt>
                <c:pt idx="84">
                  <c:v>970000</c:v>
                </c:pt>
                <c:pt idx="85">
                  <c:v>980000</c:v>
                </c:pt>
                <c:pt idx="86">
                  <c:v>990000</c:v>
                </c:pt>
                <c:pt idx="87">
                  <c:v>1000000</c:v>
                </c:pt>
              </c:numCache>
            </c:numRef>
          </c:xVal>
          <c:yVal>
            <c:numRef>
              <c:f>Sheet1!$B$99:$B$186</c:f>
              <c:numCache>
                <c:formatCode>General</c:formatCode>
                <c:ptCount val="88"/>
                <c:pt idx="0">
                  <c:v>0.6</c:v>
                </c:pt>
                <c:pt idx="1">
                  <c:v>0.5714285714285714</c:v>
                </c:pt>
                <c:pt idx="2">
                  <c:v>0.53333333333333333</c:v>
                </c:pt>
                <c:pt idx="3">
                  <c:v>0.5</c:v>
                </c:pt>
                <c:pt idx="4">
                  <c:v>0.47058823529411764</c:v>
                </c:pt>
                <c:pt idx="5">
                  <c:v>0.44444444444444442</c:v>
                </c:pt>
                <c:pt idx="6">
                  <c:v>0.42105263157894735</c:v>
                </c:pt>
                <c:pt idx="7">
                  <c:v>0.4</c:v>
                </c:pt>
                <c:pt idx="8">
                  <c:v>0.38095238095238093</c:v>
                </c:pt>
                <c:pt idx="9">
                  <c:v>0.36363636363636365</c:v>
                </c:pt>
                <c:pt idx="10">
                  <c:v>0.34782608695652173</c:v>
                </c:pt>
                <c:pt idx="11">
                  <c:v>0.33333333333333331</c:v>
                </c:pt>
                <c:pt idx="12">
                  <c:v>0.32</c:v>
                </c:pt>
                <c:pt idx="13">
                  <c:v>0.30769230769230771</c:v>
                </c:pt>
                <c:pt idx="14">
                  <c:v>0.29629629629629628</c:v>
                </c:pt>
                <c:pt idx="15">
                  <c:v>0.2857142857142857</c:v>
                </c:pt>
                <c:pt idx="16">
                  <c:v>0.27586206896551724</c:v>
                </c:pt>
                <c:pt idx="17">
                  <c:v>0.26666666666666666</c:v>
                </c:pt>
                <c:pt idx="18">
                  <c:v>0.25806451612903225</c:v>
                </c:pt>
                <c:pt idx="19">
                  <c:v>0.25</c:v>
                </c:pt>
                <c:pt idx="20">
                  <c:v>0.24242424242424243</c:v>
                </c:pt>
                <c:pt idx="21">
                  <c:v>0.23529411764705882</c:v>
                </c:pt>
                <c:pt idx="22">
                  <c:v>0.22857142857142856</c:v>
                </c:pt>
                <c:pt idx="23">
                  <c:v>0.22222222222222221</c:v>
                </c:pt>
                <c:pt idx="24">
                  <c:v>0.21621621621621623</c:v>
                </c:pt>
                <c:pt idx="25">
                  <c:v>0.21052631578947367</c:v>
                </c:pt>
                <c:pt idx="26">
                  <c:v>0.20512820512820512</c:v>
                </c:pt>
                <c:pt idx="27">
                  <c:v>0.2</c:v>
                </c:pt>
                <c:pt idx="28">
                  <c:v>0.1951219512195122</c:v>
                </c:pt>
                <c:pt idx="29">
                  <c:v>0.19047619047619047</c:v>
                </c:pt>
                <c:pt idx="30">
                  <c:v>0.18604651162790697</c:v>
                </c:pt>
                <c:pt idx="31">
                  <c:v>0.18181818181818182</c:v>
                </c:pt>
                <c:pt idx="32">
                  <c:v>0.17777777777777778</c:v>
                </c:pt>
                <c:pt idx="33">
                  <c:v>0.17391304347826086</c:v>
                </c:pt>
                <c:pt idx="34">
                  <c:v>0.1702127659574468</c:v>
                </c:pt>
                <c:pt idx="35">
                  <c:v>0.16666666666666666</c:v>
                </c:pt>
                <c:pt idx="36">
                  <c:v>0.16326530612244897</c:v>
                </c:pt>
                <c:pt idx="37">
                  <c:v>0.16</c:v>
                </c:pt>
                <c:pt idx="38">
                  <c:v>0.15686274509803921</c:v>
                </c:pt>
                <c:pt idx="39">
                  <c:v>0.15384615384615385</c:v>
                </c:pt>
                <c:pt idx="40">
                  <c:v>0.15094339622641509</c:v>
                </c:pt>
                <c:pt idx="41">
                  <c:v>0.14814814814814814</c:v>
                </c:pt>
                <c:pt idx="42">
                  <c:v>0.14545454545454545</c:v>
                </c:pt>
                <c:pt idx="43">
                  <c:v>0.14285714285714285</c:v>
                </c:pt>
                <c:pt idx="44">
                  <c:v>0.14035087719298245</c:v>
                </c:pt>
                <c:pt idx="45">
                  <c:v>0.13793103448275862</c:v>
                </c:pt>
                <c:pt idx="46">
                  <c:v>0.13559322033898305</c:v>
                </c:pt>
                <c:pt idx="47">
                  <c:v>0.13333333333333333</c:v>
                </c:pt>
                <c:pt idx="48">
                  <c:v>0.13114754098360656</c:v>
                </c:pt>
                <c:pt idx="49">
                  <c:v>0.12903225806451613</c:v>
                </c:pt>
                <c:pt idx="50">
                  <c:v>0.12698412698412698</c:v>
                </c:pt>
                <c:pt idx="51">
                  <c:v>0.125</c:v>
                </c:pt>
                <c:pt idx="52">
                  <c:v>0.12307692307692308</c:v>
                </c:pt>
                <c:pt idx="53">
                  <c:v>0.12121212121212122</c:v>
                </c:pt>
                <c:pt idx="54">
                  <c:v>0.11940298507462686</c:v>
                </c:pt>
                <c:pt idx="55">
                  <c:v>0.11764705882352941</c:v>
                </c:pt>
                <c:pt idx="56">
                  <c:v>0.11594202898550725</c:v>
                </c:pt>
                <c:pt idx="57">
                  <c:v>0.11428571428571428</c:v>
                </c:pt>
                <c:pt idx="58">
                  <c:v>0.11267605633802817</c:v>
                </c:pt>
                <c:pt idx="59">
                  <c:v>0.1111111111111111</c:v>
                </c:pt>
                <c:pt idx="60">
                  <c:v>0.1095890410958904</c:v>
                </c:pt>
                <c:pt idx="61">
                  <c:v>0.10810810810810811</c:v>
                </c:pt>
                <c:pt idx="62">
                  <c:v>0.10666666666666667</c:v>
                </c:pt>
                <c:pt idx="63">
                  <c:v>0.10526315789473684</c:v>
                </c:pt>
                <c:pt idx="64">
                  <c:v>0.1038961038961039</c:v>
                </c:pt>
                <c:pt idx="65">
                  <c:v>0.10256410256410256</c:v>
                </c:pt>
                <c:pt idx="66">
                  <c:v>0.10126582278481013</c:v>
                </c:pt>
                <c:pt idx="67">
                  <c:v>0.1</c:v>
                </c:pt>
                <c:pt idx="68">
                  <c:v>9.8765432098765427E-2</c:v>
                </c:pt>
                <c:pt idx="69">
                  <c:v>9.7560975609756101E-2</c:v>
                </c:pt>
                <c:pt idx="70">
                  <c:v>9.6385542168674704E-2</c:v>
                </c:pt>
                <c:pt idx="71">
                  <c:v>9.5238095238095233E-2</c:v>
                </c:pt>
                <c:pt idx="72">
                  <c:v>9.4117647058823528E-2</c:v>
                </c:pt>
                <c:pt idx="73">
                  <c:v>9.3023255813953487E-2</c:v>
                </c:pt>
                <c:pt idx="74">
                  <c:v>9.1954022988505746E-2</c:v>
                </c:pt>
                <c:pt idx="75">
                  <c:v>9.0909090909090912E-2</c:v>
                </c:pt>
                <c:pt idx="76">
                  <c:v>8.98876404494382E-2</c:v>
                </c:pt>
                <c:pt idx="77">
                  <c:v>8.8888888888888892E-2</c:v>
                </c:pt>
                <c:pt idx="78">
                  <c:v>8.7912087912087919E-2</c:v>
                </c:pt>
                <c:pt idx="79">
                  <c:v>8.6956521739130432E-2</c:v>
                </c:pt>
                <c:pt idx="80">
                  <c:v>8.6021505376344093E-2</c:v>
                </c:pt>
                <c:pt idx="81">
                  <c:v>8.5106382978723402E-2</c:v>
                </c:pt>
                <c:pt idx="82">
                  <c:v>8.4210526315789472E-2</c:v>
                </c:pt>
                <c:pt idx="83">
                  <c:v>8.3333333333333329E-2</c:v>
                </c:pt>
                <c:pt idx="84">
                  <c:v>8.247422680412371E-2</c:v>
                </c:pt>
                <c:pt idx="85">
                  <c:v>8.1632653061224483E-2</c:v>
                </c:pt>
                <c:pt idx="86">
                  <c:v>8.0808080808080815E-2</c:v>
                </c:pt>
                <c:pt idx="87">
                  <c:v>0.08</c:v>
                </c:pt>
              </c:numCache>
            </c:numRef>
          </c:yVal>
          <c:smooth val="0"/>
          <c:extLst>
            <c:ext xmlns:c16="http://schemas.microsoft.com/office/drawing/2014/chart" uri="{C3380CC4-5D6E-409C-BE32-E72D297353CC}">
              <c16:uniqueId val="{00000003-1B62-4160-ADA3-F41F64D3854C}"/>
            </c:ext>
          </c:extLst>
        </c:ser>
        <c:ser>
          <c:idx val="2"/>
          <c:order val="2"/>
          <c:tx>
            <c:strRef>
              <c:f>Sheet1!$B$188</c:f>
              <c:strCache>
                <c:ptCount val="1"/>
                <c:pt idx="0">
                  <c:v>$120K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$120K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Sheet1!$A$189:$A$269</c:f>
              <c:numCache>
                <c:formatCode>General</c:formatCode>
                <c:ptCount val="81"/>
                <c:pt idx="0">
                  <c:v>200000</c:v>
                </c:pt>
                <c:pt idx="1">
                  <c:v>210000</c:v>
                </c:pt>
                <c:pt idx="2">
                  <c:v>220000</c:v>
                </c:pt>
                <c:pt idx="3">
                  <c:v>230000</c:v>
                </c:pt>
                <c:pt idx="4">
                  <c:v>240000</c:v>
                </c:pt>
                <c:pt idx="5">
                  <c:v>250000</c:v>
                </c:pt>
                <c:pt idx="6">
                  <c:v>260000</c:v>
                </c:pt>
                <c:pt idx="7">
                  <c:v>270000</c:v>
                </c:pt>
                <c:pt idx="8">
                  <c:v>280000</c:v>
                </c:pt>
                <c:pt idx="9">
                  <c:v>290000</c:v>
                </c:pt>
                <c:pt idx="10">
                  <c:v>300000</c:v>
                </c:pt>
                <c:pt idx="11">
                  <c:v>310000</c:v>
                </c:pt>
                <c:pt idx="12">
                  <c:v>320000</c:v>
                </c:pt>
                <c:pt idx="13">
                  <c:v>330000</c:v>
                </c:pt>
                <c:pt idx="14">
                  <c:v>340000</c:v>
                </c:pt>
                <c:pt idx="15">
                  <c:v>350000</c:v>
                </c:pt>
                <c:pt idx="16">
                  <c:v>360000</c:v>
                </c:pt>
                <c:pt idx="17">
                  <c:v>370000</c:v>
                </c:pt>
                <c:pt idx="18">
                  <c:v>380000</c:v>
                </c:pt>
                <c:pt idx="19">
                  <c:v>390000</c:v>
                </c:pt>
                <c:pt idx="20">
                  <c:v>400000</c:v>
                </c:pt>
                <c:pt idx="21">
                  <c:v>410000</c:v>
                </c:pt>
                <c:pt idx="22">
                  <c:v>420000</c:v>
                </c:pt>
                <c:pt idx="23">
                  <c:v>430000</c:v>
                </c:pt>
                <c:pt idx="24">
                  <c:v>440000</c:v>
                </c:pt>
                <c:pt idx="25">
                  <c:v>450000</c:v>
                </c:pt>
                <c:pt idx="26">
                  <c:v>460000</c:v>
                </c:pt>
                <c:pt idx="27">
                  <c:v>470000</c:v>
                </c:pt>
                <c:pt idx="28">
                  <c:v>480000</c:v>
                </c:pt>
                <c:pt idx="29">
                  <c:v>490000</c:v>
                </c:pt>
                <c:pt idx="30">
                  <c:v>500000</c:v>
                </c:pt>
                <c:pt idx="31">
                  <c:v>510000</c:v>
                </c:pt>
                <c:pt idx="32">
                  <c:v>520000</c:v>
                </c:pt>
                <c:pt idx="33">
                  <c:v>530000</c:v>
                </c:pt>
                <c:pt idx="34">
                  <c:v>540000</c:v>
                </c:pt>
                <c:pt idx="35">
                  <c:v>550000</c:v>
                </c:pt>
                <c:pt idx="36">
                  <c:v>560000</c:v>
                </c:pt>
                <c:pt idx="37">
                  <c:v>570000</c:v>
                </c:pt>
                <c:pt idx="38">
                  <c:v>580000</c:v>
                </c:pt>
                <c:pt idx="39">
                  <c:v>590000</c:v>
                </c:pt>
                <c:pt idx="40">
                  <c:v>600000</c:v>
                </c:pt>
                <c:pt idx="41">
                  <c:v>610000</c:v>
                </c:pt>
                <c:pt idx="42">
                  <c:v>620000</c:v>
                </c:pt>
                <c:pt idx="43">
                  <c:v>630000</c:v>
                </c:pt>
                <c:pt idx="44">
                  <c:v>640000</c:v>
                </c:pt>
                <c:pt idx="45">
                  <c:v>650000</c:v>
                </c:pt>
                <c:pt idx="46">
                  <c:v>660000</c:v>
                </c:pt>
                <c:pt idx="47">
                  <c:v>670000</c:v>
                </c:pt>
                <c:pt idx="48">
                  <c:v>680000</c:v>
                </c:pt>
                <c:pt idx="49">
                  <c:v>690000</c:v>
                </c:pt>
                <c:pt idx="50">
                  <c:v>700000</c:v>
                </c:pt>
                <c:pt idx="51">
                  <c:v>710000</c:v>
                </c:pt>
                <c:pt idx="52">
                  <c:v>720000</c:v>
                </c:pt>
                <c:pt idx="53">
                  <c:v>730000</c:v>
                </c:pt>
                <c:pt idx="54">
                  <c:v>740000</c:v>
                </c:pt>
                <c:pt idx="55">
                  <c:v>750000</c:v>
                </c:pt>
                <c:pt idx="56">
                  <c:v>760000</c:v>
                </c:pt>
                <c:pt idx="57">
                  <c:v>770000</c:v>
                </c:pt>
                <c:pt idx="58">
                  <c:v>780000</c:v>
                </c:pt>
                <c:pt idx="59">
                  <c:v>790000</c:v>
                </c:pt>
                <c:pt idx="60">
                  <c:v>800000</c:v>
                </c:pt>
                <c:pt idx="61">
                  <c:v>810000</c:v>
                </c:pt>
                <c:pt idx="62">
                  <c:v>820000</c:v>
                </c:pt>
                <c:pt idx="63">
                  <c:v>830000</c:v>
                </c:pt>
                <c:pt idx="64">
                  <c:v>840000</c:v>
                </c:pt>
                <c:pt idx="65">
                  <c:v>850000</c:v>
                </c:pt>
                <c:pt idx="66">
                  <c:v>860000</c:v>
                </c:pt>
                <c:pt idx="67">
                  <c:v>870000</c:v>
                </c:pt>
                <c:pt idx="68">
                  <c:v>880000</c:v>
                </c:pt>
                <c:pt idx="69">
                  <c:v>890000</c:v>
                </c:pt>
                <c:pt idx="70">
                  <c:v>900000</c:v>
                </c:pt>
                <c:pt idx="71">
                  <c:v>910000</c:v>
                </c:pt>
                <c:pt idx="72">
                  <c:v>920000</c:v>
                </c:pt>
                <c:pt idx="73">
                  <c:v>930000</c:v>
                </c:pt>
                <c:pt idx="74">
                  <c:v>940000</c:v>
                </c:pt>
                <c:pt idx="75">
                  <c:v>950000</c:v>
                </c:pt>
                <c:pt idx="76">
                  <c:v>960000</c:v>
                </c:pt>
                <c:pt idx="77">
                  <c:v>970000</c:v>
                </c:pt>
                <c:pt idx="78">
                  <c:v>980000</c:v>
                </c:pt>
                <c:pt idx="79">
                  <c:v>990000</c:v>
                </c:pt>
                <c:pt idx="80">
                  <c:v>1000000</c:v>
                </c:pt>
              </c:numCache>
            </c:numRef>
          </c:xVal>
          <c:yVal>
            <c:numRef>
              <c:f>Sheet1!$B$189:$B$269</c:f>
              <c:numCache>
                <c:formatCode>General</c:formatCode>
                <c:ptCount val="81"/>
                <c:pt idx="0">
                  <c:v>0.6</c:v>
                </c:pt>
                <c:pt idx="1">
                  <c:v>0.5714285714285714</c:v>
                </c:pt>
                <c:pt idx="2">
                  <c:v>0.54545454545454541</c:v>
                </c:pt>
                <c:pt idx="3">
                  <c:v>0.52173913043478259</c:v>
                </c:pt>
                <c:pt idx="4">
                  <c:v>0.5</c:v>
                </c:pt>
                <c:pt idx="5">
                  <c:v>0.48</c:v>
                </c:pt>
                <c:pt idx="6">
                  <c:v>0.46153846153846156</c:v>
                </c:pt>
                <c:pt idx="7">
                  <c:v>0.44444444444444442</c:v>
                </c:pt>
                <c:pt idx="8">
                  <c:v>0.42857142857142855</c:v>
                </c:pt>
                <c:pt idx="9">
                  <c:v>0.41379310344827586</c:v>
                </c:pt>
                <c:pt idx="10">
                  <c:v>0.4</c:v>
                </c:pt>
                <c:pt idx="11">
                  <c:v>0.38709677419354838</c:v>
                </c:pt>
                <c:pt idx="12">
                  <c:v>0.375</c:v>
                </c:pt>
                <c:pt idx="13">
                  <c:v>0.36363636363636365</c:v>
                </c:pt>
                <c:pt idx="14">
                  <c:v>0.35294117647058826</c:v>
                </c:pt>
                <c:pt idx="15">
                  <c:v>0.34285714285714286</c:v>
                </c:pt>
                <c:pt idx="16">
                  <c:v>0.33333333333333331</c:v>
                </c:pt>
                <c:pt idx="17">
                  <c:v>0.32432432432432434</c:v>
                </c:pt>
                <c:pt idx="18">
                  <c:v>0.31578947368421051</c:v>
                </c:pt>
                <c:pt idx="19">
                  <c:v>0.30769230769230771</c:v>
                </c:pt>
                <c:pt idx="20">
                  <c:v>0.3</c:v>
                </c:pt>
                <c:pt idx="21">
                  <c:v>0.29268292682926828</c:v>
                </c:pt>
                <c:pt idx="22">
                  <c:v>0.2857142857142857</c:v>
                </c:pt>
                <c:pt idx="23">
                  <c:v>0.27906976744186046</c:v>
                </c:pt>
                <c:pt idx="24">
                  <c:v>0.27272727272727271</c:v>
                </c:pt>
                <c:pt idx="25">
                  <c:v>0.26666666666666666</c:v>
                </c:pt>
                <c:pt idx="26">
                  <c:v>0.2608695652173913</c:v>
                </c:pt>
                <c:pt idx="27">
                  <c:v>0.25531914893617019</c:v>
                </c:pt>
                <c:pt idx="28">
                  <c:v>0.25</c:v>
                </c:pt>
                <c:pt idx="29">
                  <c:v>0.24489795918367346</c:v>
                </c:pt>
                <c:pt idx="30">
                  <c:v>0.24</c:v>
                </c:pt>
                <c:pt idx="31">
                  <c:v>0.23529411764705882</c:v>
                </c:pt>
                <c:pt idx="32">
                  <c:v>0.23076923076923078</c:v>
                </c:pt>
                <c:pt idx="33">
                  <c:v>0.22641509433962265</c:v>
                </c:pt>
                <c:pt idx="34">
                  <c:v>0.22222222222222221</c:v>
                </c:pt>
                <c:pt idx="35">
                  <c:v>0.21818181818181817</c:v>
                </c:pt>
                <c:pt idx="36">
                  <c:v>0.21428571428571427</c:v>
                </c:pt>
                <c:pt idx="37">
                  <c:v>0.21052631578947367</c:v>
                </c:pt>
                <c:pt idx="38">
                  <c:v>0.20689655172413793</c:v>
                </c:pt>
                <c:pt idx="39">
                  <c:v>0.20338983050847459</c:v>
                </c:pt>
                <c:pt idx="40">
                  <c:v>0.2</c:v>
                </c:pt>
                <c:pt idx="41">
                  <c:v>0.19672131147540983</c:v>
                </c:pt>
                <c:pt idx="42">
                  <c:v>0.19354838709677419</c:v>
                </c:pt>
                <c:pt idx="43">
                  <c:v>0.19047619047619047</c:v>
                </c:pt>
                <c:pt idx="44">
                  <c:v>0.1875</c:v>
                </c:pt>
                <c:pt idx="45">
                  <c:v>0.18461538461538463</c:v>
                </c:pt>
                <c:pt idx="46">
                  <c:v>0.18181818181818182</c:v>
                </c:pt>
                <c:pt idx="47">
                  <c:v>0.17910447761194029</c:v>
                </c:pt>
                <c:pt idx="48">
                  <c:v>0.17647058823529413</c:v>
                </c:pt>
                <c:pt idx="49">
                  <c:v>0.17391304347826086</c:v>
                </c:pt>
                <c:pt idx="50">
                  <c:v>0.17142857142857143</c:v>
                </c:pt>
                <c:pt idx="51">
                  <c:v>0.16901408450704225</c:v>
                </c:pt>
                <c:pt idx="52">
                  <c:v>0.16666666666666666</c:v>
                </c:pt>
                <c:pt idx="53">
                  <c:v>0.16438356164383561</c:v>
                </c:pt>
                <c:pt idx="54">
                  <c:v>0.16216216216216217</c:v>
                </c:pt>
                <c:pt idx="55">
                  <c:v>0.16</c:v>
                </c:pt>
                <c:pt idx="56">
                  <c:v>0.15789473684210525</c:v>
                </c:pt>
                <c:pt idx="57">
                  <c:v>0.15584415584415584</c:v>
                </c:pt>
                <c:pt idx="58">
                  <c:v>0.15384615384615385</c:v>
                </c:pt>
                <c:pt idx="59">
                  <c:v>0.15189873417721519</c:v>
                </c:pt>
                <c:pt idx="60">
                  <c:v>0.15</c:v>
                </c:pt>
                <c:pt idx="61">
                  <c:v>0.14814814814814814</c:v>
                </c:pt>
                <c:pt idx="62">
                  <c:v>0.14634146341463414</c:v>
                </c:pt>
                <c:pt idx="63">
                  <c:v>0.14457831325301204</c:v>
                </c:pt>
                <c:pt idx="64">
                  <c:v>0.14285714285714285</c:v>
                </c:pt>
                <c:pt idx="65">
                  <c:v>0.14117647058823529</c:v>
                </c:pt>
                <c:pt idx="66">
                  <c:v>0.13953488372093023</c:v>
                </c:pt>
                <c:pt idx="67">
                  <c:v>0.13793103448275862</c:v>
                </c:pt>
                <c:pt idx="68">
                  <c:v>0.13636363636363635</c:v>
                </c:pt>
                <c:pt idx="69">
                  <c:v>0.1348314606741573</c:v>
                </c:pt>
                <c:pt idx="70">
                  <c:v>0.13333333333333333</c:v>
                </c:pt>
                <c:pt idx="71">
                  <c:v>0.13186813186813187</c:v>
                </c:pt>
                <c:pt idx="72">
                  <c:v>0.13043478260869565</c:v>
                </c:pt>
                <c:pt idx="73">
                  <c:v>0.12903225806451613</c:v>
                </c:pt>
                <c:pt idx="74">
                  <c:v>0.1276595744680851</c:v>
                </c:pt>
                <c:pt idx="75">
                  <c:v>0.12631578947368421</c:v>
                </c:pt>
                <c:pt idx="76">
                  <c:v>0.125</c:v>
                </c:pt>
                <c:pt idx="77">
                  <c:v>0.12371134020618557</c:v>
                </c:pt>
                <c:pt idx="78">
                  <c:v>0.12244897959183673</c:v>
                </c:pt>
                <c:pt idx="79">
                  <c:v>0.12121212121212122</c:v>
                </c:pt>
                <c:pt idx="80">
                  <c:v>0.12</c:v>
                </c:pt>
              </c:numCache>
            </c:numRef>
          </c:yVal>
          <c:smooth val="0"/>
          <c:extLst>
            <c:ext xmlns:c16="http://schemas.microsoft.com/office/drawing/2014/chart" uri="{C3380CC4-5D6E-409C-BE32-E72D297353CC}">
              <c16:uniqueId val="{00000005-1B62-4160-ADA3-F41F64D3854C}"/>
            </c:ext>
          </c:extLst>
        </c:ser>
        <c:ser>
          <c:idx val="3"/>
          <c:order val="3"/>
          <c:tx>
            <c:strRef>
              <c:f>Sheet1!$B$271</c:f>
              <c:strCache>
                <c:ptCount val="1"/>
                <c:pt idx="0">
                  <c:v>$160K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$160K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Sheet1!$A$272:$A$346</c:f>
              <c:numCache>
                <c:formatCode>General</c:formatCode>
                <c:ptCount val="75"/>
                <c:pt idx="0">
                  <c:v>266666.66666666669</c:v>
                </c:pt>
                <c:pt idx="1">
                  <c:v>270000</c:v>
                </c:pt>
                <c:pt idx="2">
                  <c:v>280000</c:v>
                </c:pt>
                <c:pt idx="3">
                  <c:v>290000</c:v>
                </c:pt>
                <c:pt idx="4">
                  <c:v>300000</c:v>
                </c:pt>
                <c:pt idx="5">
                  <c:v>310000</c:v>
                </c:pt>
                <c:pt idx="6">
                  <c:v>320000</c:v>
                </c:pt>
                <c:pt idx="7">
                  <c:v>330000</c:v>
                </c:pt>
                <c:pt idx="8">
                  <c:v>340000</c:v>
                </c:pt>
                <c:pt idx="9">
                  <c:v>350000</c:v>
                </c:pt>
                <c:pt idx="10">
                  <c:v>360000</c:v>
                </c:pt>
                <c:pt idx="11">
                  <c:v>370000</c:v>
                </c:pt>
                <c:pt idx="12">
                  <c:v>380000</c:v>
                </c:pt>
                <c:pt idx="13">
                  <c:v>390000</c:v>
                </c:pt>
                <c:pt idx="14">
                  <c:v>400000</c:v>
                </c:pt>
                <c:pt idx="15">
                  <c:v>410000</c:v>
                </c:pt>
                <c:pt idx="16">
                  <c:v>420000</c:v>
                </c:pt>
                <c:pt idx="17">
                  <c:v>430000</c:v>
                </c:pt>
                <c:pt idx="18">
                  <c:v>440000</c:v>
                </c:pt>
                <c:pt idx="19">
                  <c:v>450000</c:v>
                </c:pt>
                <c:pt idx="20">
                  <c:v>460000</c:v>
                </c:pt>
                <c:pt idx="21">
                  <c:v>470000</c:v>
                </c:pt>
                <c:pt idx="22">
                  <c:v>480000</c:v>
                </c:pt>
                <c:pt idx="23">
                  <c:v>490000</c:v>
                </c:pt>
                <c:pt idx="24">
                  <c:v>500000</c:v>
                </c:pt>
                <c:pt idx="25">
                  <c:v>510000</c:v>
                </c:pt>
                <c:pt idx="26">
                  <c:v>520000</c:v>
                </c:pt>
                <c:pt idx="27">
                  <c:v>530000</c:v>
                </c:pt>
                <c:pt idx="28">
                  <c:v>540000</c:v>
                </c:pt>
                <c:pt idx="29">
                  <c:v>550000</c:v>
                </c:pt>
                <c:pt idx="30">
                  <c:v>560000</c:v>
                </c:pt>
                <c:pt idx="31">
                  <c:v>570000</c:v>
                </c:pt>
                <c:pt idx="32">
                  <c:v>580000</c:v>
                </c:pt>
                <c:pt idx="33">
                  <c:v>590000</c:v>
                </c:pt>
                <c:pt idx="34">
                  <c:v>600000</c:v>
                </c:pt>
                <c:pt idx="35">
                  <c:v>610000</c:v>
                </c:pt>
                <c:pt idx="36">
                  <c:v>620000</c:v>
                </c:pt>
                <c:pt idx="37">
                  <c:v>630000</c:v>
                </c:pt>
                <c:pt idx="38">
                  <c:v>640000</c:v>
                </c:pt>
                <c:pt idx="39">
                  <c:v>650000</c:v>
                </c:pt>
                <c:pt idx="40">
                  <c:v>660000</c:v>
                </c:pt>
                <c:pt idx="41">
                  <c:v>670000</c:v>
                </c:pt>
                <c:pt idx="42">
                  <c:v>680000</c:v>
                </c:pt>
                <c:pt idx="43">
                  <c:v>690000</c:v>
                </c:pt>
                <c:pt idx="44">
                  <c:v>700000</c:v>
                </c:pt>
                <c:pt idx="45">
                  <c:v>710000</c:v>
                </c:pt>
                <c:pt idx="46">
                  <c:v>720000</c:v>
                </c:pt>
                <c:pt idx="47">
                  <c:v>730000</c:v>
                </c:pt>
                <c:pt idx="48">
                  <c:v>740000</c:v>
                </c:pt>
                <c:pt idx="49">
                  <c:v>750000</c:v>
                </c:pt>
                <c:pt idx="50">
                  <c:v>760000</c:v>
                </c:pt>
                <c:pt idx="51">
                  <c:v>770000</c:v>
                </c:pt>
                <c:pt idx="52">
                  <c:v>780000</c:v>
                </c:pt>
                <c:pt idx="53">
                  <c:v>790000</c:v>
                </c:pt>
                <c:pt idx="54">
                  <c:v>800000</c:v>
                </c:pt>
                <c:pt idx="55">
                  <c:v>810000</c:v>
                </c:pt>
                <c:pt idx="56">
                  <c:v>820000</c:v>
                </c:pt>
                <c:pt idx="57">
                  <c:v>830000</c:v>
                </c:pt>
                <c:pt idx="58">
                  <c:v>840000</c:v>
                </c:pt>
                <c:pt idx="59">
                  <c:v>850000</c:v>
                </c:pt>
                <c:pt idx="60">
                  <c:v>860000</c:v>
                </c:pt>
                <c:pt idx="61">
                  <c:v>870000</c:v>
                </c:pt>
                <c:pt idx="62">
                  <c:v>880000</c:v>
                </c:pt>
                <c:pt idx="63">
                  <c:v>890000</c:v>
                </c:pt>
                <c:pt idx="64">
                  <c:v>900000</c:v>
                </c:pt>
                <c:pt idx="65">
                  <c:v>910000</c:v>
                </c:pt>
                <c:pt idx="66">
                  <c:v>920000</c:v>
                </c:pt>
                <c:pt idx="67">
                  <c:v>930000</c:v>
                </c:pt>
                <c:pt idx="68">
                  <c:v>940000</c:v>
                </c:pt>
                <c:pt idx="69">
                  <c:v>950000</c:v>
                </c:pt>
                <c:pt idx="70">
                  <c:v>960000</c:v>
                </c:pt>
                <c:pt idx="71">
                  <c:v>970000</c:v>
                </c:pt>
                <c:pt idx="72">
                  <c:v>980000</c:v>
                </c:pt>
                <c:pt idx="73">
                  <c:v>990000</c:v>
                </c:pt>
                <c:pt idx="74">
                  <c:v>1000000</c:v>
                </c:pt>
              </c:numCache>
            </c:numRef>
          </c:xVal>
          <c:yVal>
            <c:numRef>
              <c:f>Sheet1!$B$272:$B$346</c:f>
              <c:numCache>
                <c:formatCode>General</c:formatCode>
                <c:ptCount val="75"/>
                <c:pt idx="0">
                  <c:v>0.6</c:v>
                </c:pt>
                <c:pt idx="1">
                  <c:v>0.59259259259259256</c:v>
                </c:pt>
                <c:pt idx="2">
                  <c:v>0.5714285714285714</c:v>
                </c:pt>
                <c:pt idx="3">
                  <c:v>0.55172413793103448</c:v>
                </c:pt>
                <c:pt idx="4">
                  <c:v>0.53333333333333333</c:v>
                </c:pt>
                <c:pt idx="5">
                  <c:v>0.5161290322580645</c:v>
                </c:pt>
                <c:pt idx="6">
                  <c:v>0.5</c:v>
                </c:pt>
                <c:pt idx="7">
                  <c:v>0.48484848484848486</c:v>
                </c:pt>
                <c:pt idx="8">
                  <c:v>0.47058823529411764</c:v>
                </c:pt>
                <c:pt idx="9">
                  <c:v>0.45714285714285713</c:v>
                </c:pt>
                <c:pt idx="10">
                  <c:v>0.44444444444444442</c:v>
                </c:pt>
                <c:pt idx="11">
                  <c:v>0.43243243243243246</c:v>
                </c:pt>
                <c:pt idx="12">
                  <c:v>0.42105263157894735</c:v>
                </c:pt>
                <c:pt idx="13">
                  <c:v>0.41025641025641024</c:v>
                </c:pt>
                <c:pt idx="14">
                  <c:v>0.4</c:v>
                </c:pt>
                <c:pt idx="15">
                  <c:v>0.3902439024390244</c:v>
                </c:pt>
                <c:pt idx="16">
                  <c:v>0.38095238095238093</c:v>
                </c:pt>
                <c:pt idx="17">
                  <c:v>0.37209302325581395</c:v>
                </c:pt>
                <c:pt idx="18">
                  <c:v>0.36363636363636365</c:v>
                </c:pt>
                <c:pt idx="19">
                  <c:v>0.35555555555555557</c:v>
                </c:pt>
                <c:pt idx="20">
                  <c:v>0.34782608695652173</c:v>
                </c:pt>
                <c:pt idx="21">
                  <c:v>0.34042553191489361</c:v>
                </c:pt>
                <c:pt idx="22">
                  <c:v>0.33333333333333331</c:v>
                </c:pt>
                <c:pt idx="23">
                  <c:v>0.32653061224489793</c:v>
                </c:pt>
                <c:pt idx="24">
                  <c:v>0.32</c:v>
                </c:pt>
                <c:pt idx="25">
                  <c:v>0.31372549019607843</c:v>
                </c:pt>
                <c:pt idx="26">
                  <c:v>0.30769230769230771</c:v>
                </c:pt>
                <c:pt idx="27">
                  <c:v>0.30188679245283018</c:v>
                </c:pt>
                <c:pt idx="28">
                  <c:v>0.29629629629629628</c:v>
                </c:pt>
                <c:pt idx="29">
                  <c:v>0.29090909090909089</c:v>
                </c:pt>
                <c:pt idx="30">
                  <c:v>0.2857142857142857</c:v>
                </c:pt>
                <c:pt idx="31">
                  <c:v>0.2807017543859649</c:v>
                </c:pt>
                <c:pt idx="32">
                  <c:v>0.27586206896551724</c:v>
                </c:pt>
                <c:pt idx="33">
                  <c:v>0.2711864406779661</c:v>
                </c:pt>
                <c:pt idx="34">
                  <c:v>0.26666666666666666</c:v>
                </c:pt>
                <c:pt idx="35">
                  <c:v>0.26229508196721313</c:v>
                </c:pt>
                <c:pt idx="36">
                  <c:v>0.25806451612903225</c:v>
                </c:pt>
                <c:pt idx="37">
                  <c:v>0.25396825396825395</c:v>
                </c:pt>
                <c:pt idx="38">
                  <c:v>0.25</c:v>
                </c:pt>
                <c:pt idx="39">
                  <c:v>0.24615384615384617</c:v>
                </c:pt>
                <c:pt idx="40">
                  <c:v>0.24242424242424243</c:v>
                </c:pt>
                <c:pt idx="41">
                  <c:v>0.23880597014925373</c:v>
                </c:pt>
                <c:pt idx="42">
                  <c:v>0.23529411764705882</c:v>
                </c:pt>
                <c:pt idx="43">
                  <c:v>0.2318840579710145</c:v>
                </c:pt>
                <c:pt idx="44">
                  <c:v>0.22857142857142856</c:v>
                </c:pt>
                <c:pt idx="45">
                  <c:v>0.22535211267605634</c:v>
                </c:pt>
                <c:pt idx="46">
                  <c:v>0.22222222222222221</c:v>
                </c:pt>
                <c:pt idx="47">
                  <c:v>0.21917808219178081</c:v>
                </c:pt>
                <c:pt idx="48">
                  <c:v>0.21621621621621623</c:v>
                </c:pt>
                <c:pt idx="49">
                  <c:v>0.21333333333333335</c:v>
                </c:pt>
                <c:pt idx="50">
                  <c:v>0.21052631578947367</c:v>
                </c:pt>
                <c:pt idx="51">
                  <c:v>0.20779220779220781</c:v>
                </c:pt>
                <c:pt idx="52">
                  <c:v>0.20512820512820512</c:v>
                </c:pt>
                <c:pt idx="53">
                  <c:v>0.20253164556962025</c:v>
                </c:pt>
                <c:pt idx="54">
                  <c:v>0.2</c:v>
                </c:pt>
                <c:pt idx="55">
                  <c:v>0.19753086419753085</c:v>
                </c:pt>
                <c:pt idx="56">
                  <c:v>0.1951219512195122</c:v>
                </c:pt>
                <c:pt idx="57">
                  <c:v>0.19277108433734941</c:v>
                </c:pt>
                <c:pt idx="58">
                  <c:v>0.19047619047619047</c:v>
                </c:pt>
                <c:pt idx="59">
                  <c:v>0.18823529411764706</c:v>
                </c:pt>
                <c:pt idx="60">
                  <c:v>0.18604651162790697</c:v>
                </c:pt>
                <c:pt idx="61">
                  <c:v>0.18390804597701149</c:v>
                </c:pt>
                <c:pt idx="62">
                  <c:v>0.18181818181818182</c:v>
                </c:pt>
                <c:pt idx="63">
                  <c:v>0.1797752808988764</c:v>
                </c:pt>
                <c:pt idx="64">
                  <c:v>0.17777777777777778</c:v>
                </c:pt>
                <c:pt idx="65">
                  <c:v>0.17582417582417584</c:v>
                </c:pt>
                <c:pt idx="66">
                  <c:v>0.17391304347826086</c:v>
                </c:pt>
                <c:pt idx="67">
                  <c:v>0.17204301075268819</c:v>
                </c:pt>
                <c:pt idx="68">
                  <c:v>0.1702127659574468</c:v>
                </c:pt>
                <c:pt idx="69">
                  <c:v>0.16842105263157894</c:v>
                </c:pt>
                <c:pt idx="70">
                  <c:v>0.16666666666666666</c:v>
                </c:pt>
                <c:pt idx="71">
                  <c:v>0.16494845360824742</c:v>
                </c:pt>
                <c:pt idx="72">
                  <c:v>0.16326530612244897</c:v>
                </c:pt>
                <c:pt idx="73">
                  <c:v>0.16161616161616163</c:v>
                </c:pt>
                <c:pt idx="74">
                  <c:v>0.16</c:v>
                </c:pt>
              </c:numCache>
            </c:numRef>
          </c:yVal>
          <c:smooth val="0"/>
          <c:extLst>
            <c:ext xmlns:c16="http://schemas.microsoft.com/office/drawing/2014/chart" uri="{C3380CC4-5D6E-409C-BE32-E72D297353CC}">
              <c16:uniqueId val="{00000007-1B62-4160-ADA3-F41F64D3854C}"/>
            </c:ext>
          </c:extLst>
        </c:ser>
        <c:ser>
          <c:idx val="4"/>
          <c:order val="4"/>
          <c:tx>
            <c:strRef>
              <c:f>Sheet1!$B$348</c:f>
              <c:strCache>
                <c:ptCount val="1"/>
                <c:pt idx="0">
                  <c:v>$200K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$200K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Sheet1!$A$349:$A$416</c:f>
              <c:numCache>
                <c:formatCode>General</c:formatCode>
                <c:ptCount val="68"/>
                <c:pt idx="0">
                  <c:v>333333.33333333337</c:v>
                </c:pt>
                <c:pt idx="1">
                  <c:v>340000</c:v>
                </c:pt>
                <c:pt idx="2">
                  <c:v>350000</c:v>
                </c:pt>
                <c:pt idx="3">
                  <c:v>360000</c:v>
                </c:pt>
                <c:pt idx="4">
                  <c:v>370000</c:v>
                </c:pt>
                <c:pt idx="5">
                  <c:v>380000</c:v>
                </c:pt>
                <c:pt idx="6">
                  <c:v>390000</c:v>
                </c:pt>
                <c:pt idx="7">
                  <c:v>400000</c:v>
                </c:pt>
                <c:pt idx="8">
                  <c:v>410000</c:v>
                </c:pt>
                <c:pt idx="9">
                  <c:v>420000</c:v>
                </c:pt>
                <c:pt idx="10">
                  <c:v>430000</c:v>
                </c:pt>
                <c:pt idx="11">
                  <c:v>440000</c:v>
                </c:pt>
                <c:pt idx="12">
                  <c:v>450000</c:v>
                </c:pt>
                <c:pt idx="13">
                  <c:v>460000</c:v>
                </c:pt>
                <c:pt idx="14">
                  <c:v>470000</c:v>
                </c:pt>
                <c:pt idx="15">
                  <c:v>480000</c:v>
                </c:pt>
                <c:pt idx="16">
                  <c:v>490000</c:v>
                </c:pt>
                <c:pt idx="17">
                  <c:v>500000</c:v>
                </c:pt>
                <c:pt idx="18">
                  <c:v>510000</c:v>
                </c:pt>
                <c:pt idx="19">
                  <c:v>520000</c:v>
                </c:pt>
                <c:pt idx="20">
                  <c:v>530000</c:v>
                </c:pt>
                <c:pt idx="21">
                  <c:v>540000</c:v>
                </c:pt>
                <c:pt idx="22">
                  <c:v>550000</c:v>
                </c:pt>
                <c:pt idx="23">
                  <c:v>560000</c:v>
                </c:pt>
                <c:pt idx="24">
                  <c:v>570000</c:v>
                </c:pt>
                <c:pt idx="25">
                  <c:v>580000</c:v>
                </c:pt>
                <c:pt idx="26">
                  <c:v>590000</c:v>
                </c:pt>
                <c:pt idx="27">
                  <c:v>600000</c:v>
                </c:pt>
                <c:pt idx="28">
                  <c:v>610000</c:v>
                </c:pt>
                <c:pt idx="29">
                  <c:v>620000</c:v>
                </c:pt>
                <c:pt idx="30">
                  <c:v>630000</c:v>
                </c:pt>
                <c:pt idx="31">
                  <c:v>640000</c:v>
                </c:pt>
                <c:pt idx="32">
                  <c:v>650000</c:v>
                </c:pt>
                <c:pt idx="33">
                  <c:v>660000</c:v>
                </c:pt>
                <c:pt idx="34">
                  <c:v>670000</c:v>
                </c:pt>
                <c:pt idx="35">
                  <c:v>680000</c:v>
                </c:pt>
                <c:pt idx="36">
                  <c:v>690000</c:v>
                </c:pt>
                <c:pt idx="37">
                  <c:v>700000</c:v>
                </c:pt>
                <c:pt idx="38">
                  <c:v>710000</c:v>
                </c:pt>
                <c:pt idx="39">
                  <c:v>720000</c:v>
                </c:pt>
                <c:pt idx="40">
                  <c:v>730000</c:v>
                </c:pt>
                <c:pt idx="41">
                  <c:v>740000</c:v>
                </c:pt>
                <c:pt idx="42">
                  <c:v>750000</c:v>
                </c:pt>
                <c:pt idx="43">
                  <c:v>760000</c:v>
                </c:pt>
                <c:pt idx="44">
                  <c:v>770000</c:v>
                </c:pt>
                <c:pt idx="45">
                  <c:v>780000</c:v>
                </c:pt>
                <c:pt idx="46">
                  <c:v>790000</c:v>
                </c:pt>
                <c:pt idx="47">
                  <c:v>800000</c:v>
                </c:pt>
                <c:pt idx="48">
                  <c:v>810000</c:v>
                </c:pt>
                <c:pt idx="49">
                  <c:v>820000</c:v>
                </c:pt>
                <c:pt idx="50">
                  <c:v>830000</c:v>
                </c:pt>
                <c:pt idx="51">
                  <c:v>840000</c:v>
                </c:pt>
                <c:pt idx="52">
                  <c:v>850000</c:v>
                </c:pt>
                <c:pt idx="53">
                  <c:v>860000</c:v>
                </c:pt>
                <c:pt idx="54">
                  <c:v>870000</c:v>
                </c:pt>
                <c:pt idx="55">
                  <c:v>880000</c:v>
                </c:pt>
                <c:pt idx="56">
                  <c:v>890000</c:v>
                </c:pt>
                <c:pt idx="57">
                  <c:v>900000</c:v>
                </c:pt>
                <c:pt idx="58">
                  <c:v>910000</c:v>
                </c:pt>
                <c:pt idx="59">
                  <c:v>920000</c:v>
                </c:pt>
                <c:pt idx="60">
                  <c:v>930000</c:v>
                </c:pt>
                <c:pt idx="61">
                  <c:v>940000</c:v>
                </c:pt>
                <c:pt idx="62">
                  <c:v>950000</c:v>
                </c:pt>
                <c:pt idx="63">
                  <c:v>960000</c:v>
                </c:pt>
                <c:pt idx="64">
                  <c:v>970000</c:v>
                </c:pt>
                <c:pt idx="65">
                  <c:v>980000</c:v>
                </c:pt>
                <c:pt idx="66">
                  <c:v>990000</c:v>
                </c:pt>
                <c:pt idx="67">
                  <c:v>1000000</c:v>
                </c:pt>
              </c:numCache>
            </c:numRef>
          </c:xVal>
          <c:yVal>
            <c:numRef>
              <c:f>Sheet1!$B$349:$B$416</c:f>
              <c:numCache>
                <c:formatCode>General</c:formatCode>
                <c:ptCount val="68"/>
                <c:pt idx="0">
                  <c:v>0.6</c:v>
                </c:pt>
                <c:pt idx="1">
                  <c:v>0.58823529411764708</c:v>
                </c:pt>
                <c:pt idx="2">
                  <c:v>0.5714285714285714</c:v>
                </c:pt>
                <c:pt idx="3">
                  <c:v>0.55555555555555558</c:v>
                </c:pt>
                <c:pt idx="4">
                  <c:v>0.54054054054054057</c:v>
                </c:pt>
                <c:pt idx="5">
                  <c:v>0.52631578947368418</c:v>
                </c:pt>
                <c:pt idx="6">
                  <c:v>0.51282051282051277</c:v>
                </c:pt>
                <c:pt idx="7">
                  <c:v>0.5</c:v>
                </c:pt>
                <c:pt idx="8">
                  <c:v>0.48780487804878048</c:v>
                </c:pt>
                <c:pt idx="9">
                  <c:v>0.47619047619047616</c:v>
                </c:pt>
                <c:pt idx="10">
                  <c:v>0.46511627906976744</c:v>
                </c:pt>
                <c:pt idx="11">
                  <c:v>0.45454545454545453</c:v>
                </c:pt>
                <c:pt idx="12">
                  <c:v>0.44444444444444442</c:v>
                </c:pt>
                <c:pt idx="13">
                  <c:v>0.43478260869565216</c:v>
                </c:pt>
                <c:pt idx="14">
                  <c:v>0.42553191489361702</c:v>
                </c:pt>
                <c:pt idx="15">
                  <c:v>0.41666666666666669</c:v>
                </c:pt>
                <c:pt idx="16">
                  <c:v>0.40816326530612246</c:v>
                </c:pt>
                <c:pt idx="17">
                  <c:v>0.4</c:v>
                </c:pt>
                <c:pt idx="18">
                  <c:v>0.39215686274509803</c:v>
                </c:pt>
                <c:pt idx="19">
                  <c:v>0.38461538461538464</c:v>
                </c:pt>
                <c:pt idx="20">
                  <c:v>0.37735849056603776</c:v>
                </c:pt>
                <c:pt idx="21">
                  <c:v>0.37037037037037035</c:v>
                </c:pt>
                <c:pt idx="22">
                  <c:v>0.36363636363636365</c:v>
                </c:pt>
                <c:pt idx="23">
                  <c:v>0.35714285714285715</c:v>
                </c:pt>
                <c:pt idx="24">
                  <c:v>0.35087719298245612</c:v>
                </c:pt>
                <c:pt idx="25">
                  <c:v>0.34482758620689657</c:v>
                </c:pt>
                <c:pt idx="26">
                  <c:v>0.33898305084745761</c:v>
                </c:pt>
                <c:pt idx="27">
                  <c:v>0.33333333333333331</c:v>
                </c:pt>
                <c:pt idx="28">
                  <c:v>0.32786885245901637</c:v>
                </c:pt>
                <c:pt idx="29">
                  <c:v>0.32258064516129031</c:v>
                </c:pt>
                <c:pt idx="30">
                  <c:v>0.31746031746031744</c:v>
                </c:pt>
                <c:pt idx="31">
                  <c:v>0.3125</c:v>
                </c:pt>
                <c:pt idx="32">
                  <c:v>0.30769230769230771</c:v>
                </c:pt>
                <c:pt idx="33">
                  <c:v>0.30303030303030304</c:v>
                </c:pt>
                <c:pt idx="34">
                  <c:v>0.29850746268656714</c:v>
                </c:pt>
                <c:pt idx="35">
                  <c:v>0.29411764705882354</c:v>
                </c:pt>
                <c:pt idx="36">
                  <c:v>0.28985507246376813</c:v>
                </c:pt>
                <c:pt idx="37">
                  <c:v>0.2857142857142857</c:v>
                </c:pt>
                <c:pt idx="38">
                  <c:v>0.28169014084507044</c:v>
                </c:pt>
                <c:pt idx="39">
                  <c:v>0.27777777777777779</c:v>
                </c:pt>
                <c:pt idx="40">
                  <c:v>0.27397260273972601</c:v>
                </c:pt>
                <c:pt idx="41">
                  <c:v>0.27027027027027029</c:v>
                </c:pt>
                <c:pt idx="42">
                  <c:v>0.26666666666666666</c:v>
                </c:pt>
                <c:pt idx="43">
                  <c:v>0.26315789473684209</c:v>
                </c:pt>
                <c:pt idx="44">
                  <c:v>0.25974025974025972</c:v>
                </c:pt>
                <c:pt idx="45">
                  <c:v>0.25641025641025639</c:v>
                </c:pt>
                <c:pt idx="46">
                  <c:v>0.25316455696202533</c:v>
                </c:pt>
                <c:pt idx="47">
                  <c:v>0.25</c:v>
                </c:pt>
                <c:pt idx="48">
                  <c:v>0.24691358024691357</c:v>
                </c:pt>
                <c:pt idx="49">
                  <c:v>0.24390243902439024</c:v>
                </c:pt>
                <c:pt idx="50">
                  <c:v>0.24096385542168675</c:v>
                </c:pt>
                <c:pt idx="51">
                  <c:v>0.23809523809523808</c:v>
                </c:pt>
                <c:pt idx="52">
                  <c:v>0.23529411764705882</c:v>
                </c:pt>
                <c:pt idx="53">
                  <c:v>0.23255813953488372</c:v>
                </c:pt>
                <c:pt idx="54">
                  <c:v>0.22988505747126436</c:v>
                </c:pt>
                <c:pt idx="55">
                  <c:v>0.22727272727272727</c:v>
                </c:pt>
                <c:pt idx="56">
                  <c:v>0.2247191011235955</c:v>
                </c:pt>
                <c:pt idx="57">
                  <c:v>0.22222222222222221</c:v>
                </c:pt>
                <c:pt idx="58">
                  <c:v>0.21978021978021978</c:v>
                </c:pt>
                <c:pt idx="59">
                  <c:v>0.21739130434782608</c:v>
                </c:pt>
                <c:pt idx="60">
                  <c:v>0.21505376344086022</c:v>
                </c:pt>
                <c:pt idx="61">
                  <c:v>0.21276595744680851</c:v>
                </c:pt>
                <c:pt idx="62">
                  <c:v>0.21052631578947367</c:v>
                </c:pt>
                <c:pt idx="63">
                  <c:v>0.20833333333333334</c:v>
                </c:pt>
                <c:pt idx="64">
                  <c:v>0.20618556701030927</c:v>
                </c:pt>
                <c:pt idx="65">
                  <c:v>0.20408163265306123</c:v>
                </c:pt>
                <c:pt idx="66">
                  <c:v>0.20202020202020202</c:v>
                </c:pt>
                <c:pt idx="67">
                  <c:v>0.2</c:v>
                </c:pt>
              </c:numCache>
            </c:numRef>
          </c:yVal>
          <c:smooth val="0"/>
          <c:extLst>
            <c:ext xmlns:c16="http://schemas.microsoft.com/office/drawing/2014/chart" uri="{C3380CC4-5D6E-409C-BE32-E72D297353CC}">
              <c16:uniqueId val="{00000009-1B62-4160-ADA3-F41F64D3854C}"/>
            </c:ext>
          </c:extLst>
        </c:ser>
        <c:ser>
          <c:idx val="5"/>
          <c:order val="5"/>
          <c:tx>
            <c:strRef>
              <c:f>Sheet1!$B$418</c:f>
              <c:strCache>
                <c:ptCount val="1"/>
                <c:pt idx="0">
                  <c:v>$240K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$240K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Sheet1!$A$419:$A$479</c:f>
              <c:numCache>
                <c:formatCode>General</c:formatCode>
                <c:ptCount val="61"/>
                <c:pt idx="0">
                  <c:v>400000</c:v>
                </c:pt>
                <c:pt idx="1">
                  <c:v>410000</c:v>
                </c:pt>
                <c:pt idx="2">
                  <c:v>420000</c:v>
                </c:pt>
                <c:pt idx="3">
                  <c:v>430000</c:v>
                </c:pt>
                <c:pt idx="4">
                  <c:v>440000</c:v>
                </c:pt>
                <c:pt idx="5">
                  <c:v>450000</c:v>
                </c:pt>
                <c:pt idx="6">
                  <c:v>460000</c:v>
                </c:pt>
                <c:pt idx="7">
                  <c:v>470000</c:v>
                </c:pt>
                <c:pt idx="8">
                  <c:v>480000</c:v>
                </c:pt>
                <c:pt idx="9">
                  <c:v>490000</c:v>
                </c:pt>
                <c:pt idx="10">
                  <c:v>500000</c:v>
                </c:pt>
                <c:pt idx="11">
                  <c:v>510000</c:v>
                </c:pt>
                <c:pt idx="12">
                  <c:v>520000</c:v>
                </c:pt>
                <c:pt idx="13">
                  <c:v>530000</c:v>
                </c:pt>
                <c:pt idx="14">
                  <c:v>540000</c:v>
                </c:pt>
                <c:pt idx="15">
                  <c:v>550000</c:v>
                </c:pt>
                <c:pt idx="16">
                  <c:v>560000</c:v>
                </c:pt>
                <c:pt idx="17">
                  <c:v>570000</c:v>
                </c:pt>
                <c:pt idx="18">
                  <c:v>580000</c:v>
                </c:pt>
                <c:pt idx="19">
                  <c:v>590000</c:v>
                </c:pt>
                <c:pt idx="20">
                  <c:v>600000</c:v>
                </c:pt>
                <c:pt idx="21">
                  <c:v>610000</c:v>
                </c:pt>
                <c:pt idx="22">
                  <c:v>620000</c:v>
                </c:pt>
                <c:pt idx="23">
                  <c:v>630000</c:v>
                </c:pt>
                <c:pt idx="24">
                  <c:v>640000</c:v>
                </c:pt>
                <c:pt idx="25">
                  <c:v>650000</c:v>
                </c:pt>
                <c:pt idx="26">
                  <c:v>660000</c:v>
                </c:pt>
                <c:pt idx="27">
                  <c:v>670000</c:v>
                </c:pt>
                <c:pt idx="28">
                  <c:v>680000</c:v>
                </c:pt>
                <c:pt idx="29">
                  <c:v>690000</c:v>
                </c:pt>
                <c:pt idx="30">
                  <c:v>700000</c:v>
                </c:pt>
                <c:pt idx="31">
                  <c:v>710000</c:v>
                </c:pt>
                <c:pt idx="32">
                  <c:v>720000</c:v>
                </c:pt>
                <c:pt idx="33">
                  <c:v>730000</c:v>
                </c:pt>
                <c:pt idx="34">
                  <c:v>740000</c:v>
                </c:pt>
                <c:pt idx="35">
                  <c:v>750000</c:v>
                </c:pt>
                <c:pt idx="36">
                  <c:v>760000</c:v>
                </c:pt>
                <c:pt idx="37">
                  <c:v>770000</c:v>
                </c:pt>
                <c:pt idx="38">
                  <c:v>780000</c:v>
                </c:pt>
                <c:pt idx="39">
                  <c:v>790000</c:v>
                </c:pt>
                <c:pt idx="40">
                  <c:v>800000</c:v>
                </c:pt>
                <c:pt idx="41">
                  <c:v>810000</c:v>
                </c:pt>
                <c:pt idx="42">
                  <c:v>820000</c:v>
                </c:pt>
                <c:pt idx="43">
                  <c:v>830000</c:v>
                </c:pt>
                <c:pt idx="44">
                  <c:v>840000</c:v>
                </c:pt>
                <c:pt idx="45">
                  <c:v>850000</c:v>
                </c:pt>
                <c:pt idx="46">
                  <c:v>860000</c:v>
                </c:pt>
                <c:pt idx="47">
                  <c:v>870000</c:v>
                </c:pt>
                <c:pt idx="48">
                  <c:v>880000</c:v>
                </c:pt>
                <c:pt idx="49">
                  <c:v>890000</c:v>
                </c:pt>
                <c:pt idx="50">
                  <c:v>900000</c:v>
                </c:pt>
                <c:pt idx="51">
                  <c:v>910000</c:v>
                </c:pt>
                <c:pt idx="52">
                  <c:v>920000</c:v>
                </c:pt>
                <c:pt idx="53">
                  <c:v>930000</c:v>
                </c:pt>
                <c:pt idx="54">
                  <c:v>940000</c:v>
                </c:pt>
                <c:pt idx="55">
                  <c:v>950000</c:v>
                </c:pt>
                <c:pt idx="56">
                  <c:v>960000</c:v>
                </c:pt>
                <c:pt idx="57">
                  <c:v>970000</c:v>
                </c:pt>
                <c:pt idx="58">
                  <c:v>980000</c:v>
                </c:pt>
                <c:pt idx="59">
                  <c:v>990000</c:v>
                </c:pt>
                <c:pt idx="60">
                  <c:v>1000000</c:v>
                </c:pt>
              </c:numCache>
            </c:numRef>
          </c:xVal>
          <c:yVal>
            <c:numRef>
              <c:f>Sheet1!$B$419:$B$479</c:f>
              <c:numCache>
                <c:formatCode>General</c:formatCode>
                <c:ptCount val="61"/>
                <c:pt idx="0">
                  <c:v>0.6</c:v>
                </c:pt>
                <c:pt idx="1">
                  <c:v>0.58536585365853655</c:v>
                </c:pt>
                <c:pt idx="2">
                  <c:v>0.5714285714285714</c:v>
                </c:pt>
                <c:pt idx="3">
                  <c:v>0.55813953488372092</c:v>
                </c:pt>
                <c:pt idx="4">
                  <c:v>0.54545454545454541</c:v>
                </c:pt>
                <c:pt idx="5">
                  <c:v>0.53333333333333333</c:v>
                </c:pt>
                <c:pt idx="6">
                  <c:v>0.52173913043478259</c:v>
                </c:pt>
                <c:pt idx="7">
                  <c:v>0.51063829787234039</c:v>
                </c:pt>
                <c:pt idx="8">
                  <c:v>0.5</c:v>
                </c:pt>
                <c:pt idx="9">
                  <c:v>0.48979591836734693</c:v>
                </c:pt>
                <c:pt idx="10">
                  <c:v>0.48</c:v>
                </c:pt>
                <c:pt idx="11">
                  <c:v>0.47058823529411764</c:v>
                </c:pt>
                <c:pt idx="12">
                  <c:v>0.46153846153846156</c:v>
                </c:pt>
                <c:pt idx="13">
                  <c:v>0.45283018867924529</c:v>
                </c:pt>
                <c:pt idx="14">
                  <c:v>0.44444444444444442</c:v>
                </c:pt>
                <c:pt idx="15">
                  <c:v>0.43636363636363634</c:v>
                </c:pt>
                <c:pt idx="16">
                  <c:v>0.42857142857142855</c:v>
                </c:pt>
                <c:pt idx="17">
                  <c:v>0.42105263157894735</c:v>
                </c:pt>
                <c:pt idx="18">
                  <c:v>0.41379310344827586</c:v>
                </c:pt>
                <c:pt idx="19">
                  <c:v>0.40677966101694918</c:v>
                </c:pt>
                <c:pt idx="20">
                  <c:v>0.4</c:v>
                </c:pt>
                <c:pt idx="21">
                  <c:v>0.39344262295081966</c:v>
                </c:pt>
                <c:pt idx="22">
                  <c:v>0.38709677419354838</c:v>
                </c:pt>
                <c:pt idx="23">
                  <c:v>0.38095238095238093</c:v>
                </c:pt>
                <c:pt idx="24">
                  <c:v>0.375</c:v>
                </c:pt>
                <c:pt idx="25">
                  <c:v>0.36923076923076925</c:v>
                </c:pt>
                <c:pt idx="26">
                  <c:v>0.36363636363636365</c:v>
                </c:pt>
                <c:pt idx="27">
                  <c:v>0.35820895522388058</c:v>
                </c:pt>
                <c:pt idx="28">
                  <c:v>0.35294117647058826</c:v>
                </c:pt>
                <c:pt idx="29">
                  <c:v>0.34782608695652173</c:v>
                </c:pt>
                <c:pt idx="30">
                  <c:v>0.34285714285714286</c:v>
                </c:pt>
                <c:pt idx="31">
                  <c:v>0.3380281690140845</c:v>
                </c:pt>
                <c:pt idx="32">
                  <c:v>0.33333333333333331</c:v>
                </c:pt>
                <c:pt idx="33">
                  <c:v>0.32876712328767121</c:v>
                </c:pt>
                <c:pt idx="34">
                  <c:v>0.32432432432432434</c:v>
                </c:pt>
                <c:pt idx="35">
                  <c:v>0.32</c:v>
                </c:pt>
                <c:pt idx="36">
                  <c:v>0.31578947368421051</c:v>
                </c:pt>
                <c:pt idx="37">
                  <c:v>0.31168831168831168</c:v>
                </c:pt>
                <c:pt idx="38">
                  <c:v>0.30769230769230771</c:v>
                </c:pt>
                <c:pt idx="39">
                  <c:v>0.30379746835443039</c:v>
                </c:pt>
                <c:pt idx="40">
                  <c:v>0.3</c:v>
                </c:pt>
                <c:pt idx="41">
                  <c:v>0.29629629629629628</c:v>
                </c:pt>
                <c:pt idx="42">
                  <c:v>0.29268292682926828</c:v>
                </c:pt>
                <c:pt idx="43">
                  <c:v>0.28915662650602408</c:v>
                </c:pt>
                <c:pt idx="44">
                  <c:v>0.2857142857142857</c:v>
                </c:pt>
                <c:pt idx="45">
                  <c:v>0.28235294117647058</c:v>
                </c:pt>
                <c:pt idx="46">
                  <c:v>0.27906976744186046</c:v>
                </c:pt>
                <c:pt idx="47">
                  <c:v>0.27586206896551724</c:v>
                </c:pt>
                <c:pt idx="48">
                  <c:v>0.27272727272727271</c:v>
                </c:pt>
                <c:pt idx="49">
                  <c:v>0.2696629213483146</c:v>
                </c:pt>
                <c:pt idx="50">
                  <c:v>0.26666666666666666</c:v>
                </c:pt>
                <c:pt idx="51">
                  <c:v>0.26373626373626374</c:v>
                </c:pt>
                <c:pt idx="52">
                  <c:v>0.2608695652173913</c:v>
                </c:pt>
                <c:pt idx="53">
                  <c:v>0.25806451612903225</c:v>
                </c:pt>
                <c:pt idx="54">
                  <c:v>0.25531914893617019</c:v>
                </c:pt>
                <c:pt idx="55">
                  <c:v>0.25263157894736843</c:v>
                </c:pt>
                <c:pt idx="56">
                  <c:v>0.25</c:v>
                </c:pt>
                <c:pt idx="57">
                  <c:v>0.24742268041237114</c:v>
                </c:pt>
                <c:pt idx="58">
                  <c:v>0.24489795918367346</c:v>
                </c:pt>
                <c:pt idx="59">
                  <c:v>0.24242424242424243</c:v>
                </c:pt>
                <c:pt idx="60">
                  <c:v>0.24</c:v>
                </c:pt>
              </c:numCache>
            </c:numRef>
          </c:yVal>
          <c:smooth val="0"/>
          <c:extLst>
            <c:ext xmlns:c16="http://schemas.microsoft.com/office/drawing/2014/chart" uri="{C3380CC4-5D6E-409C-BE32-E72D297353CC}">
              <c16:uniqueId val="{0000000B-1B62-4160-ADA3-F41F64D3854C}"/>
            </c:ext>
          </c:extLst>
        </c:ser>
        <c:ser>
          <c:idx val="6"/>
          <c:order val="6"/>
          <c:tx>
            <c:strRef>
              <c:f>Sheet1!$B$481</c:f>
              <c:strCache>
                <c:ptCount val="1"/>
                <c:pt idx="0">
                  <c:v>$280K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$280K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Sheet1!$A$482:$A$536</c:f>
              <c:numCache>
                <c:formatCode>General</c:formatCode>
                <c:ptCount val="55"/>
                <c:pt idx="0">
                  <c:v>466666.66666666669</c:v>
                </c:pt>
                <c:pt idx="1">
                  <c:v>470000</c:v>
                </c:pt>
                <c:pt idx="2">
                  <c:v>480000</c:v>
                </c:pt>
                <c:pt idx="3">
                  <c:v>490000</c:v>
                </c:pt>
                <c:pt idx="4">
                  <c:v>500000</c:v>
                </c:pt>
                <c:pt idx="5">
                  <c:v>510000</c:v>
                </c:pt>
                <c:pt idx="6">
                  <c:v>520000</c:v>
                </c:pt>
                <c:pt idx="7">
                  <c:v>530000</c:v>
                </c:pt>
                <c:pt idx="8">
                  <c:v>540000</c:v>
                </c:pt>
                <c:pt idx="9">
                  <c:v>550000</c:v>
                </c:pt>
                <c:pt idx="10">
                  <c:v>560000</c:v>
                </c:pt>
                <c:pt idx="11">
                  <c:v>570000</c:v>
                </c:pt>
                <c:pt idx="12">
                  <c:v>580000</c:v>
                </c:pt>
                <c:pt idx="13">
                  <c:v>590000</c:v>
                </c:pt>
                <c:pt idx="14">
                  <c:v>600000</c:v>
                </c:pt>
                <c:pt idx="15">
                  <c:v>610000</c:v>
                </c:pt>
                <c:pt idx="16">
                  <c:v>620000</c:v>
                </c:pt>
                <c:pt idx="17">
                  <c:v>630000</c:v>
                </c:pt>
                <c:pt idx="18">
                  <c:v>640000</c:v>
                </c:pt>
                <c:pt idx="19">
                  <c:v>650000</c:v>
                </c:pt>
                <c:pt idx="20">
                  <c:v>660000</c:v>
                </c:pt>
                <c:pt idx="21">
                  <c:v>670000</c:v>
                </c:pt>
                <c:pt idx="22">
                  <c:v>680000</c:v>
                </c:pt>
                <c:pt idx="23">
                  <c:v>690000</c:v>
                </c:pt>
                <c:pt idx="24">
                  <c:v>700000</c:v>
                </c:pt>
                <c:pt idx="25">
                  <c:v>710000</c:v>
                </c:pt>
                <c:pt idx="26">
                  <c:v>720000</c:v>
                </c:pt>
                <c:pt idx="27">
                  <c:v>730000</c:v>
                </c:pt>
                <c:pt idx="28">
                  <c:v>740000</c:v>
                </c:pt>
                <c:pt idx="29">
                  <c:v>750000</c:v>
                </c:pt>
                <c:pt idx="30">
                  <c:v>760000</c:v>
                </c:pt>
                <c:pt idx="31">
                  <c:v>770000</c:v>
                </c:pt>
                <c:pt idx="32">
                  <c:v>780000</c:v>
                </c:pt>
                <c:pt idx="33">
                  <c:v>790000</c:v>
                </c:pt>
                <c:pt idx="34">
                  <c:v>800000</c:v>
                </c:pt>
                <c:pt idx="35">
                  <c:v>810000</c:v>
                </c:pt>
                <c:pt idx="36">
                  <c:v>820000</c:v>
                </c:pt>
                <c:pt idx="37">
                  <c:v>830000</c:v>
                </c:pt>
                <c:pt idx="38">
                  <c:v>840000</c:v>
                </c:pt>
                <c:pt idx="39">
                  <c:v>850000</c:v>
                </c:pt>
                <c:pt idx="40">
                  <c:v>860000</c:v>
                </c:pt>
                <c:pt idx="41">
                  <c:v>870000</c:v>
                </c:pt>
                <c:pt idx="42">
                  <c:v>880000</c:v>
                </c:pt>
                <c:pt idx="43">
                  <c:v>890000</c:v>
                </c:pt>
                <c:pt idx="44">
                  <c:v>900000</c:v>
                </c:pt>
                <c:pt idx="45">
                  <c:v>910000</c:v>
                </c:pt>
                <c:pt idx="46">
                  <c:v>920000</c:v>
                </c:pt>
                <c:pt idx="47">
                  <c:v>930000</c:v>
                </c:pt>
                <c:pt idx="48">
                  <c:v>940000</c:v>
                </c:pt>
                <c:pt idx="49">
                  <c:v>950000</c:v>
                </c:pt>
                <c:pt idx="50">
                  <c:v>960000</c:v>
                </c:pt>
                <c:pt idx="51">
                  <c:v>970000</c:v>
                </c:pt>
                <c:pt idx="52">
                  <c:v>980000</c:v>
                </c:pt>
                <c:pt idx="53">
                  <c:v>990000</c:v>
                </c:pt>
                <c:pt idx="54">
                  <c:v>1000000</c:v>
                </c:pt>
              </c:numCache>
            </c:numRef>
          </c:xVal>
          <c:yVal>
            <c:numRef>
              <c:f>Sheet1!$B$482:$B$536</c:f>
              <c:numCache>
                <c:formatCode>General</c:formatCode>
                <c:ptCount val="55"/>
                <c:pt idx="0">
                  <c:v>0.6</c:v>
                </c:pt>
                <c:pt idx="1">
                  <c:v>0.5957446808510638</c:v>
                </c:pt>
                <c:pt idx="2">
                  <c:v>0.58333333333333337</c:v>
                </c:pt>
                <c:pt idx="3">
                  <c:v>0.5714285714285714</c:v>
                </c:pt>
                <c:pt idx="4">
                  <c:v>0.56000000000000005</c:v>
                </c:pt>
                <c:pt idx="5">
                  <c:v>0.5490196078431373</c:v>
                </c:pt>
                <c:pt idx="6">
                  <c:v>0.53846153846153844</c:v>
                </c:pt>
                <c:pt idx="7">
                  <c:v>0.52830188679245282</c:v>
                </c:pt>
                <c:pt idx="8">
                  <c:v>0.51851851851851849</c:v>
                </c:pt>
                <c:pt idx="9">
                  <c:v>0.50909090909090904</c:v>
                </c:pt>
                <c:pt idx="10">
                  <c:v>0.5</c:v>
                </c:pt>
                <c:pt idx="11">
                  <c:v>0.49122807017543857</c:v>
                </c:pt>
                <c:pt idx="12">
                  <c:v>0.48275862068965519</c:v>
                </c:pt>
                <c:pt idx="13">
                  <c:v>0.47457627118644069</c:v>
                </c:pt>
                <c:pt idx="14">
                  <c:v>0.46666666666666667</c:v>
                </c:pt>
                <c:pt idx="15">
                  <c:v>0.45901639344262296</c:v>
                </c:pt>
                <c:pt idx="16">
                  <c:v>0.45161290322580644</c:v>
                </c:pt>
                <c:pt idx="17">
                  <c:v>0.44444444444444442</c:v>
                </c:pt>
                <c:pt idx="18">
                  <c:v>0.4375</c:v>
                </c:pt>
                <c:pt idx="19">
                  <c:v>0.43076923076923079</c:v>
                </c:pt>
                <c:pt idx="20">
                  <c:v>0.42424242424242425</c:v>
                </c:pt>
                <c:pt idx="21">
                  <c:v>0.41791044776119401</c:v>
                </c:pt>
                <c:pt idx="22">
                  <c:v>0.41176470588235292</c:v>
                </c:pt>
                <c:pt idx="23">
                  <c:v>0.40579710144927539</c:v>
                </c:pt>
                <c:pt idx="24">
                  <c:v>0.4</c:v>
                </c:pt>
                <c:pt idx="25">
                  <c:v>0.39436619718309857</c:v>
                </c:pt>
                <c:pt idx="26">
                  <c:v>0.3888888888888889</c:v>
                </c:pt>
                <c:pt idx="27">
                  <c:v>0.38356164383561642</c:v>
                </c:pt>
                <c:pt idx="28">
                  <c:v>0.3783783783783784</c:v>
                </c:pt>
                <c:pt idx="29">
                  <c:v>0.37333333333333335</c:v>
                </c:pt>
                <c:pt idx="30">
                  <c:v>0.36842105263157893</c:v>
                </c:pt>
                <c:pt idx="31">
                  <c:v>0.36363636363636365</c:v>
                </c:pt>
                <c:pt idx="32">
                  <c:v>0.35897435897435898</c:v>
                </c:pt>
                <c:pt idx="33">
                  <c:v>0.35443037974683544</c:v>
                </c:pt>
                <c:pt idx="34">
                  <c:v>0.35</c:v>
                </c:pt>
                <c:pt idx="35">
                  <c:v>0.34567901234567899</c:v>
                </c:pt>
                <c:pt idx="36">
                  <c:v>0.34146341463414637</c:v>
                </c:pt>
                <c:pt idx="37">
                  <c:v>0.33734939759036142</c:v>
                </c:pt>
                <c:pt idx="38">
                  <c:v>0.33333333333333331</c:v>
                </c:pt>
                <c:pt idx="39">
                  <c:v>0.32941176470588235</c:v>
                </c:pt>
                <c:pt idx="40">
                  <c:v>0.32558139534883723</c:v>
                </c:pt>
                <c:pt idx="41">
                  <c:v>0.32183908045977011</c:v>
                </c:pt>
                <c:pt idx="42">
                  <c:v>0.31818181818181818</c:v>
                </c:pt>
                <c:pt idx="43">
                  <c:v>0.3146067415730337</c:v>
                </c:pt>
                <c:pt idx="44">
                  <c:v>0.31111111111111112</c:v>
                </c:pt>
                <c:pt idx="45">
                  <c:v>0.30769230769230771</c:v>
                </c:pt>
                <c:pt idx="46">
                  <c:v>0.30434782608695654</c:v>
                </c:pt>
                <c:pt idx="47">
                  <c:v>0.30107526881720431</c:v>
                </c:pt>
                <c:pt idx="48">
                  <c:v>0.2978723404255319</c:v>
                </c:pt>
                <c:pt idx="49">
                  <c:v>0.29473684210526313</c:v>
                </c:pt>
                <c:pt idx="50">
                  <c:v>0.29166666666666669</c:v>
                </c:pt>
                <c:pt idx="51">
                  <c:v>0.28865979381443296</c:v>
                </c:pt>
                <c:pt idx="52">
                  <c:v>0.2857142857142857</c:v>
                </c:pt>
                <c:pt idx="53">
                  <c:v>0.28282828282828282</c:v>
                </c:pt>
                <c:pt idx="54">
                  <c:v>0.28000000000000003</c:v>
                </c:pt>
              </c:numCache>
            </c:numRef>
          </c:yVal>
          <c:smooth val="0"/>
          <c:extLst>
            <c:ext xmlns:c16="http://schemas.microsoft.com/office/drawing/2014/chart" uri="{C3380CC4-5D6E-409C-BE32-E72D297353CC}">
              <c16:uniqueId val="{0000000D-1B62-4160-ADA3-F41F64D3854C}"/>
            </c:ext>
          </c:extLst>
        </c:ser>
        <c:ser>
          <c:idx val="7"/>
          <c:order val="7"/>
          <c:tx>
            <c:strRef>
              <c:f>Sheet1!$B$538</c:f>
              <c:strCache>
                <c:ptCount val="1"/>
                <c:pt idx="0">
                  <c:v>$320K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$320K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Sheet1!$A$539:$A$586</c:f>
              <c:numCache>
                <c:formatCode>General</c:formatCode>
                <c:ptCount val="48"/>
                <c:pt idx="0">
                  <c:v>533333.33333333337</c:v>
                </c:pt>
                <c:pt idx="1">
                  <c:v>540000</c:v>
                </c:pt>
                <c:pt idx="2">
                  <c:v>550000</c:v>
                </c:pt>
                <c:pt idx="3">
                  <c:v>560000</c:v>
                </c:pt>
                <c:pt idx="4">
                  <c:v>570000</c:v>
                </c:pt>
                <c:pt idx="5">
                  <c:v>580000</c:v>
                </c:pt>
                <c:pt idx="6">
                  <c:v>590000</c:v>
                </c:pt>
                <c:pt idx="7">
                  <c:v>600000</c:v>
                </c:pt>
                <c:pt idx="8">
                  <c:v>610000</c:v>
                </c:pt>
                <c:pt idx="9">
                  <c:v>620000</c:v>
                </c:pt>
                <c:pt idx="10">
                  <c:v>630000</c:v>
                </c:pt>
                <c:pt idx="11">
                  <c:v>640000</c:v>
                </c:pt>
                <c:pt idx="12">
                  <c:v>650000</c:v>
                </c:pt>
                <c:pt idx="13">
                  <c:v>660000</c:v>
                </c:pt>
                <c:pt idx="14">
                  <c:v>670000</c:v>
                </c:pt>
                <c:pt idx="15">
                  <c:v>680000</c:v>
                </c:pt>
                <c:pt idx="16">
                  <c:v>690000</c:v>
                </c:pt>
                <c:pt idx="17">
                  <c:v>700000</c:v>
                </c:pt>
                <c:pt idx="18">
                  <c:v>710000</c:v>
                </c:pt>
                <c:pt idx="19">
                  <c:v>720000</c:v>
                </c:pt>
                <c:pt idx="20">
                  <c:v>730000</c:v>
                </c:pt>
                <c:pt idx="21">
                  <c:v>740000</c:v>
                </c:pt>
                <c:pt idx="22">
                  <c:v>750000</c:v>
                </c:pt>
                <c:pt idx="23">
                  <c:v>760000</c:v>
                </c:pt>
                <c:pt idx="24">
                  <c:v>770000</c:v>
                </c:pt>
                <c:pt idx="25">
                  <c:v>780000</c:v>
                </c:pt>
                <c:pt idx="26">
                  <c:v>790000</c:v>
                </c:pt>
                <c:pt idx="27">
                  <c:v>800000</c:v>
                </c:pt>
                <c:pt idx="28">
                  <c:v>810000</c:v>
                </c:pt>
                <c:pt idx="29">
                  <c:v>820000</c:v>
                </c:pt>
                <c:pt idx="30">
                  <c:v>830000</c:v>
                </c:pt>
                <c:pt idx="31">
                  <c:v>840000</c:v>
                </c:pt>
                <c:pt idx="32">
                  <c:v>850000</c:v>
                </c:pt>
                <c:pt idx="33">
                  <c:v>860000</c:v>
                </c:pt>
                <c:pt idx="34">
                  <c:v>870000</c:v>
                </c:pt>
                <c:pt idx="35">
                  <c:v>880000</c:v>
                </c:pt>
                <c:pt idx="36">
                  <c:v>890000</c:v>
                </c:pt>
                <c:pt idx="37">
                  <c:v>900000</c:v>
                </c:pt>
                <c:pt idx="38">
                  <c:v>910000</c:v>
                </c:pt>
                <c:pt idx="39">
                  <c:v>920000</c:v>
                </c:pt>
                <c:pt idx="40">
                  <c:v>930000</c:v>
                </c:pt>
                <c:pt idx="41">
                  <c:v>940000</c:v>
                </c:pt>
                <c:pt idx="42">
                  <c:v>950000</c:v>
                </c:pt>
                <c:pt idx="43">
                  <c:v>960000</c:v>
                </c:pt>
                <c:pt idx="44">
                  <c:v>970000</c:v>
                </c:pt>
                <c:pt idx="45">
                  <c:v>980000</c:v>
                </c:pt>
                <c:pt idx="46">
                  <c:v>990000</c:v>
                </c:pt>
                <c:pt idx="47">
                  <c:v>1000000</c:v>
                </c:pt>
              </c:numCache>
            </c:numRef>
          </c:xVal>
          <c:yVal>
            <c:numRef>
              <c:f>Sheet1!$B$539:$B$586</c:f>
              <c:numCache>
                <c:formatCode>General</c:formatCode>
                <c:ptCount val="48"/>
                <c:pt idx="0">
                  <c:v>0.6</c:v>
                </c:pt>
                <c:pt idx="1">
                  <c:v>0.59259259259259256</c:v>
                </c:pt>
                <c:pt idx="2">
                  <c:v>0.58181818181818179</c:v>
                </c:pt>
                <c:pt idx="3">
                  <c:v>0.5714285714285714</c:v>
                </c:pt>
                <c:pt idx="4">
                  <c:v>0.56140350877192979</c:v>
                </c:pt>
                <c:pt idx="5">
                  <c:v>0.55172413793103448</c:v>
                </c:pt>
                <c:pt idx="6">
                  <c:v>0.5423728813559322</c:v>
                </c:pt>
                <c:pt idx="7">
                  <c:v>0.53333333333333333</c:v>
                </c:pt>
                <c:pt idx="8">
                  <c:v>0.52459016393442626</c:v>
                </c:pt>
                <c:pt idx="9">
                  <c:v>0.5161290322580645</c:v>
                </c:pt>
                <c:pt idx="10">
                  <c:v>0.50793650793650791</c:v>
                </c:pt>
                <c:pt idx="11">
                  <c:v>0.5</c:v>
                </c:pt>
                <c:pt idx="12">
                  <c:v>0.49230769230769234</c:v>
                </c:pt>
                <c:pt idx="13">
                  <c:v>0.48484848484848486</c:v>
                </c:pt>
                <c:pt idx="14">
                  <c:v>0.47761194029850745</c:v>
                </c:pt>
                <c:pt idx="15">
                  <c:v>0.47058823529411764</c:v>
                </c:pt>
                <c:pt idx="16">
                  <c:v>0.46376811594202899</c:v>
                </c:pt>
                <c:pt idx="17">
                  <c:v>0.45714285714285713</c:v>
                </c:pt>
                <c:pt idx="18">
                  <c:v>0.45070422535211269</c:v>
                </c:pt>
                <c:pt idx="19">
                  <c:v>0.44444444444444442</c:v>
                </c:pt>
                <c:pt idx="20">
                  <c:v>0.43835616438356162</c:v>
                </c:pt>
                <c:pt idx="21">
                  <c:v>0.43243243243243246</c:v>
                </c:pt>
                <c:pt idx="22">
                  <c:v>0.42666666666666669</c:v>
                </c:pt>
                <c:pt idx="23">
                  <c:v>0.42105263157894735</c:v>
                </c:pt>
                <c:pt idx="24">
                  <c:v>0.41558441558441561</c:v>
                </c:pt>
                <c:pt idx="25">
                  <c:v>0.41025641025641024</c:v>
                </c:pt>
                <c:pt idx="26">
                  <c:v>0.4050632911392405</c:v>
                </c:pt>
                <c:pt idx="27">
                  <c:v>0.4</c:v>
                </c:pt>
                <c:pt idx="28">
                  <c:v>0.39506172839506171</c:v>
                </c:pt>
                <c:pt idx="29">
                  <c:v>0.3902439024390244</c:v>
                </c:pt>
                <c:pt idx="30">
                  <c:v>0.38554216867469882</c:v>
                </c:pt>
                <c:pt idx="31">
                  <c:v>0.38095238095238093</c:v>
                </c:pt>
                <c:pt idx="32">
                  <c:v>0.37647058823529411</c:v>
                </c:pt>
                <c:pt idx="33">
                  <c:v>0.37209302325581395</c:v>
                </c:pt>
                <c:pt idx="34">
                  <c:v>0.36781609195402298</c:v>
                </c:pt>
                <c:pt idx="35">
                  <c:v>0.36363636363636365</c:v>
                </c:pt>
                <c:pt idx="36">
                  <c:v>0.3595505617977528</c:v>
                </c:pt>
                <c:pt idx="37">
                  <c:v>0.35555555555555557</c:v>
                </c:pt>
                <c:pt idx="38">
                  <c:v>0.35164835164835168</c:v>
                </c:pt>
                <c:pt idx="39">
                  <c:v>0.34782608695652173</c:v>
                </c:pt>
                <c:pt idx="40">
                  <c:v>0.34408602150537637</c:v>
                </c:pt>
                <c:pt idx="41">
                  <c:v>0.34042553191489361</c:v>
                </c:pt>
                <c:pt idx="42">
                  <c:v>0.33684210526315789</c:v>
                </c:pt>
                <c:pt idx="43">
                  <c:v>0.33333333333333331</c:v>
                </c:pt>
                <c:pt idx="44">
                  <c:v>0.32989690721649484</c:v>
                </c:pt>
                <c:pt idx="45">
                  <c:v>0.32653061224489793</c:v>
                </c:pt>
                <c:pt idx="46">
                  <c:v>0.32323232323232326</c:v>
                </c:pt>
                <c:pt idx="47">
                  <c:v>0.32</c:v>
                </c:pt>
              </c:numCache>
            </c:numRef>
          </c:yVal>
          <c:smooth val="0"/>
          <c:extLst>
            <c:ext xmlns:c16="http://schemas.microsoft.com/office/drawing/2014/chart" uri="{C3380CC4-5D6E-409C-BE32-E72D297353CC}">
              <c16:uniqueId val="{0000000F-1B62-4160-ADA3-F41F64D3854C}"/>
            </c:ext>
          </c:extLst>
        </c:ser>
        <c:ser>
          <c:idx val="8"/>
          <c:order val="8"/>
          <c:tx>
            <c:strRef>
              <c:f>Sheet1!$B$588</c:f>
              <c:strCache>
                <c:ptCount val="1"/>
                <c:pt idx="0">
                  <c:v>$400K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$400K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Sheet1!$A$589:$A$623</c:f>
              <c:numCache>
                <c:formatCode>General</c:formatCode>
                <c:ptCount val="35"/>
                <c:pt idx="0">
                  <c:v>666666.66666666674</c:v>
                </c:pt>
                <c:pt idx="1">
                  <c:v>670000</c:v>
                </c:pt>
                <c:pt idx="2">
                  <c:v>680000</c:v>
                </c:pt>
                <c:pt idx="3">
                  <c:v>690000</c:v>
                </c:pt>
                <c:pt idx="4">
                  <c:v>700000</c:v>
                </c:pt>
                <c:pt idx="5">
                  <c:v>710000</c:v>
                </c:pt>
                <c:pt idx="6">
                  <c:v>720000</c:v>
                </c:pt>
                <c:pt idx="7">
                  <c:v>730000</c:v>
                </c:pt>
                <c:pt idx="8">
                  <c:v>740000</c:v>
                </c:pt>
                <c:pt idx="9">
                  <c:v>750000</c:v>
                </c:pt>
                <c:pt idx="10">
                  <c:v>760000</c:v>
                </c:pt>
                <c:pt idx="11">
                  <c:v>770000</c:v>
                </c:pt>
                <c:pt idx="12">
                  <c:v>780000</c:v>
                </c:pt>
                <c:pt idx="13">
                  <c:v>790000</c:v>
                </c:pt>
                <c:pt idx="14">
                  <c:v>800000</c:v>
                </c:pt>
                <c:pt idx="15">
                  <c:v>810000</c:v>
                </c:pt>
                <c:pt idx="16">
                  <c:v>820000</c:v>
                </c:pt>
                <c:pt idx="17">
                  <c:v>830000</c:v>
                </c:pt>
                <c:pt idx="18">
                  <c:v>840000</c:v>
                </c:pt>
                <c:pt idx="19">
                  <c:v>850000</c:v>
                </c:pt>
                <c:pt idx="20">
                  <c:v>860000</c:v>
                </c:pt>
                <c:pt idx="21">
                  <c:v>870000</c:v>
                </c:pt>
                <c:pt idx="22">
                  <c:v>880000</c:v>
                </c:pt>
                <c:pt idx="23">
                  <c:v>890000</c:v>
                </c:pt>
                <c:pt idx="24">
                  <c:v>900000</c:v>
                </c:pt>
                <c:pt idx="25">
                  <c:v>910000</c:v>
                </c:pt>
                <c:pt idx="26">
                  <c:v>920000</c:v>
                </c:pt>
                <c:pt idx="27">
                  <c:v>930000</c:v>
                </c:pt>
                <c:pt idx="28">
                  <c:v>940000</c:v>
                </c:pt>
                <c:pt idx="29">
                  <c:v>950000</c:v>
                </c:pt>
                <c:pt idx="30">
                  <c:v>960000</c:v>
                </c:pt>
                <c:pt idx="31">
                  <c:v>970000</c:v>
                </c:pt>
                <c:pt idx="32">
                  <c:v>980000</c:v>
                </c:pt>
                <c:pt idx="33">
                  <c:v>990000</c:v>
                </c:pt>
                <c:pt idx="34">
                  <c:v>1000000</c:v>
                </c:pt>
              </c:numCache>
            </c:numRef>
          </c:xVal>
          <c:yVal>
            <c:numRef>
              <c:f>Sheet1!$B$589:$B$623</c:f>
              <c:numCache>
                <c:formatCode>General</c:formatCode>
                <c:ptCount val="35"/>
                <c:pt idx="0">
                  <c:v>0.6</c:v>
                </c:pt>
                <c:pt idx="1">
                  <c:v>0.59701492537313428</c:v>
                </c:pt>
                <c:pt idx="2">
                  <c:v>0.58823529411764708</c:v>
                </c:pt>
                <c:pt idx="3">
                  <c:v>0.57971014492753625</c:v>
                </c:pt>
                <c:pt idx="4">
                  <c:v>0.5714285714285714</c:v>
                </c:pt>
                <c:pt idx="5">
                  <c:v>0.56338028169014087</c:v>
                </c:pt>
                <c:pt idx="6">
                  <c:v>0.55555555555555558</c:v>
                </c:pt>
                <c:pt idx="7">
                  <c:v>0.54794520547945202</c:v>
                </c:pt>
                <c:pt idx="8">
                  <c:v>0.54054054054054057</c:v>
                </c:pt>
                <c:pt idx="9">
                  <c:v>0.53333333333333333</c:v>
                </c:pt>
                <c:pt idx="10">
                  <c:v>0.52631578947368418</c:v>
                </c:pt>
                <c:pt idx="11">
                  <c:v>0.51948051948051943</c:v>
                </c:pt>
                <c:pt idx="12">
                  <c:v>0.51282051282051277</c:v>
                </c:pt>
                <c:pt idx="13">
                  <c:v>0.50632911392405067</c:v>
                </c:pt>
                <c:pt idx="14">
                  <c:v>0.5</c:v>
                </c:pt>
                <c:pt idx="15">
                  <c:v>0.49382716049382713</c:v>
                </c:pt>
                <c:pt idx="16">
                  <c:v>0.48780487804878048</c:v>
                </c:pt>
                <c:pt idx="17">
                  <c:v>0.48192771084337349</c:v>
                </c:pt>
                <c:pt idx="18">
                  <c:v>0.47619047619047616</c:v>
                </c:pt>
                <c:pt idx="19">
                  <c:v>0.47058823529411764</c:v>
                </c:pt>
                <c:pt idx="20">
                  <c:v>0.46511627906976744</c:v>
                </c:pt>
                <c:pt idx="21">
                  <c:v>0.45977011494252873</c:v>
                </c:pt>
                <c:pt idx="22">
                  <c:v>0.45454545454545453</c:v>
                </c:pt>
                <c:pt idx="23">
                  <c:v>0.449438202247191</c:v>
                </c:pt>
                <c:pt idx="24">
                  <c:v>0.44444444444444442</c:v>
                </c:pt>
                <c:pt idx="25">
                  <c:v>0.43956043956043955</c:v>
                </c:pt>
                <c:pt idx="26">
                  <c:v>0.43478260869565216</c:v>
                </c:pt>
                <c:pt idx="27">
                  <c:v>0.43010752688172044</c:v>
                </c:pt>
                <c:pt idx="28">
                  <c:v>0.42553191489361702</c:v>
                </c:pt>
                <c:pt idx="29">
                  <c:v>0.42105263157894735</c:v>
                </c:pt>
                <c:pt idx="30">
                  <c:v>0.41666666666666669</c:v>
                </c:pt>
                <c:pt idx="31">
                  <c:v>0.41237113402061853</c:v>
                </c:pt>
                <c:pt idx="32">
                  <c:v>0.40816326530612246</c:v>
                </c:pt>
                <c:pt idx="33">
                  <c:v>0.40404040404040403</c:v>
                </c:pt>
                <c:pt idx="34">
                  <c:v>0.4</c:v>
                </c:pt>
              </c:numCache>
            </c:numRef>
          </c:yVal>
          <c:smooth val="0"/>
          <c:extLst>
            <c:ext xmlns:c16="http://schemas.microsoft.com/office/drawing/2014/chart" uri="{C3380CC4-5D6E-409C-BE32-E72D297353CC}">
              <c16:uniqueId val="{00000011-1B62-4160-ADA3-F41F64D3854C}"/>
            </c:ext>
          </c:extLst>
        </c:ser>
        <c:ser>
          <c:idx val="9"/>
          <c:order val="9"/>
          <c:tx>
            <c:strRef>
              <c:f>Sheet1!$B$625</c:f>
              <c:strCache>
                <c:ptCount val="1"/>
                <c:pt idx="0">
                  <c:v>$480K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$480K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Sheet1!$A$626:$A$646</c:f>
              <c:numCache>
                <c:formatCode>General</c:formatCode>
                <c:ptCount val="21"/>
                <c:pt idx="0">
                  <c:v>800000</c:v>
                </c:pt>
                <c:pt idx="1">
                  <c:v>810000</c:v>
                </c:pt>
                <c:pt idx="2">
                  <c:v>820000</c:v>
                </c:pt>
                <c:pt idx="3">
                  <c:v>830000</c:v>
                </c:pt>
                <c:pt idx="4">
                  <c:v>840000</c:v>
                </c:pt>
                <c:pt idx="5">
                  <c:v>850000</c:v>
                </c:pt>
                <c:pt idx="6">
                  <c:v>860000</c:v>
                </c:pt>
                <c:pt idx="7">
                  <c:v>870000</c:v>
                </c:pt>
                <c:pt idx="8">
                  <c:v>880000</c:v>
                </c:pt>
                <c:pt idx="9">
                  <c:v>890000</c:v>
                </c:pt>
                <c:pt idx="10">
                  <c:v>900000</c:v>
                </c:pt>
                <c:pt idx="11">
                  <c:v>910000</c:v>
                </c:pt>
                <c:pt idx="12">
                  <c:v>920000</c:v>
                </c:pt>
                <c:pt idx="13">
                  <c:v>930000</c:v>
                </c:pt>
                <c:pt idx="14">
                  <c:v>940000</c:v>
                </c:pt>
                <c:pt idx="15">
                  <c:v>950000</c:v>
                </c:pt>
                <c:pt idx="16">
                  <c:v>960000</c:v>
                </c:pt>
                <c:pt idx="17">
                  <c:v>970000</c:v>
                </c:pt>
                <c:pt idx="18">
                  <c:v>980000</c:v>
                </c:pt>
                <c:pt idx="19">
                  <c:v>990000</c:v>
                </c:pt>
                <c:pt idx="20">
                  <c:v>1000000</c:v>
                </c:pt>
              </c:numCache>
            </c:numRef>
          </c:xVal>
          <c:yVal>
            <c:numRef>
              <c:f>Sheet1!$B$626:$B$646</c:f>
              <c:numCache>
                <c:formatCode>General</c:formatCode>
                <c:ptCount val="21"/>
                <c:pt idx="0">
                  <c:v>0.6</c:v>
                </c:pt>
                <c:pt idx="1">
                  <c:v>0.59259259259259256</c:v>
                </c:pt>
                <c:pt idx="2">
                  <c:v>0.58536585365853655</c:v>
                </c:pt>
                <c:pt idx="3">
                  <c:v>0.57831325301204817</c:v>
                </c:pt>
                <c:pt idx="4">
                  <c:v>0.5714285714285714</c:v>
                </c:pt>
                <c:pt idx="5">
                  <c:v>0.56470588235294117</c:v>
                </c:pt>
                <c:pt idx="6">
                  <c:v>0.55813953488372092</c:v>
                </c:pt>
                <c:pt idx="7">
                  <c:v>0.55172413793103448</c:v>
                </c:pt>
                <c:pt idx="8">
                  <c:v>0.54545454545454541</c:v>
                </c:pt>
                <c:pt idx="9">
                  <c:v>0.5393258426966292</c:v>
                </c:pt>
                <c:pt idx="10">
                  <c:v>0.53333333333333333</c:v>
                </c:pt>
                <c:pt idx="11">
                  <c:v>0.52747252747252749</c:v>
                </c:pt>
                <c:pt idx="12">
                  <c:v>0.52173913043478259</c:v>
                </c:pt>
                <c:pt idx="13">
                  <c:v>0.5161290322580645</c:v>
                </c:pt>
                <c:pt idx="14">
                  <c:v>0.51063829787234039</c:v>
                </c:pt>
                <c:pt idx="15">
                  <c:v>0.50526315789473686</c:v>
                </c:pt>
                <c:pt idx="16">
                  <c:v>0.5</c:v>
                </c:pt>
                <c:pt idx="17">
                  <c:v>0.49484536082474229</c:v>
                </c:pt>
                <c:pt idx="18">
                  <c:v>0.48979591836734693</c:v>
                </c:pt>
                <c:pt idx="19">
                  <c:v>0.48484848484848486</c:v>
                </c:pt>
                <c:pt idx="20">
                  <c:v>0.48</c:v>
                </c:pt>
              </c:numCache>
            </c:numRef>
          </c:yVal>
          <c:smooth val="0"/>
          <c:extLst>
            <c:ext xmlns:c16="http://schemas.microsoft.com/office/drawing/2014/chart" uri="{C3380CC4-5D6E-409C-BE32-E72D297353CC}">
              <c16:uniqueId val="{00000013-1B62-4160-ADA3-F41F64D3854C}"/>
            </c:ext>
          </c:extLst>
        </c:ser>
        <c:ser>
          <c:idx val="10"/>
          <c:order val="10"/>
          <c:tx>
            <c:strRef>
              <c:f>Sheet1!$B$648</c:f>
              <c:strCache>
                <c:ptCount val="1"/>
                <c:pt idx="0">
                  <c:v>$560K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$560K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Sheet1!$A$649:$A$656</c:f>
              <c:numCache>
                <c:formatCode>General</c:formatCode>
                <c:ptCount val="8"/>
                <c:pt idx="0">
                  <c:v>933333.33333333337</c:v>
                </c:pt>
                <c:pt idx="1">
                  <c:v>940000</c:v>
                </c:pt>
                <c:pt idx="2">
                  <c:v>950000</c:v>
                </c:pt>
                <c:pt idx="3">
                  <c:v>960000</c:v>
                </c:pt>
                <c:pt idx="4">
                  <c:v>970000</c:v>
                </c:pt>
                <c:pt idx="5">
                  <c:v>980000</c:v>
                </c:pt>
                <c:pt idx="6">
                  <c:v>990000</c:v>
                </c:pt>
                <c:pt idx="7">
                  <c:v>1000000</c:v>
                </c:pt>
              </c:numCache>
            </c:numRef>
          </c:xVal>
          <c:yVal>
            <c:numRef>
              <c:f>Sheet1!$B$649:$B$656</c:f>
              <c:numCache>
                <c:formatCode>General</c:formatCode>
                <c:ptCount val="8"/>
                <c:pt idx="0">
                  <c:v>0.6</c:v>
                </c:pt>
                <c:pt idx="1">
                  <c:v>0.5957446808510638</c:v>
                </c:pt>
                <c:pt idx="2">
                  <c:v>0.58947368421052626</c:v>
                </c:pt>
                <c:pt idx="3">
                  <c:v>0.58333333333333337</c:v>
                </c:pt>
                <c:pt idx="4">
                  <c:v>0.57731958762886593</c:v>
                </c:pt>
                <c:pt idx="5">
                  <c:v>0.5714285714285714</c:v>
                </c:pt>
                <c:pt idx="6">
                  <c:v>0.56565656565656564</c:v>
                </c:pt>
                <c:pt idx="7">
                  <c:v>0.56000000000000005</c:v>
                </c:pt>
              </c:numCache>
            </c:numRef>
          </c:yVal>
          <c:smooth val="0"/>
          <c:extLst>
            <c:ext xmlns:c16="http://schemas.microsoft.com/office/drawing/2014/chart" uri="{C3380CC4-5D6E-409C-BE32-E72D297353CC}">
              <c16:uniqueId val="{00000015-1B62-4160-ADA3-F41F64D3854C}"/>
            </c:ext>
          </c:extLst>
        </c:ser>
        <c:ser>
          <c:idx val="11"/>
          <c:order val="11"/>
          <c:tx>
            <c:strRef>
              <c:f>Sheet1!$B$658</c:f>
              <c:strCache>
                <c:ptCount val="1"/>
                <c:pt idx="0">
                  <c:v>Institutions</c:v>
                </c:pt>
              </c:strCache>
            </c:strRef>
          </c:tx>
          <c:spPr>
            <a:ln>
              <a:noFill/>
            </a:ln>
          </c:spPr>
          <c:marker>
            <c:symbol val="circle"/>
            <c:size val="9"/>
            <c:spPr>
              <a:solidFill>
                <a:srgbClr val="000000"/>
              </a:solidFill>
              <a:ln>
                <a:noFill/>
              </a:ln>
            </c:spPr>
          </c:marker>
          <c:xVal>
            <c:numRef>
              <c:f>Sheet1!$A$659:$A$666</c:f>
              <c:numCache>
                <c:formatCode>General</c:formatCode>
                <c:ptCount val="8"/>
                <c:pt idx="0">
                  <c:v>65650.740652410095</c:v>
                </c:pt>
                <c:pt idx="1">
                  <c:v>107162.81664992747</c:v>
                </c:pt>
                <c:pt idx="2">
                  <c:v>121744.89871086556</c:v>
                </c:pt>
                <c:pt idx="3">
                  <c:v>140457.68426443601</c:v>
                </c:pt>
                <c:pt idx="4">
                  <c:v>244683.26685200853</c:v>
                </c:pt>
                <c:pt idx="5">
                  <c:v>253177.34806629835</c:v>
                </c:pt>
                <c:pt idx="6">
                  <c:v>340721.40837830893</c:v>
                </c:pt>
                <c:pt idx="7">
                  <c:v>391815.58135621739</c:v>
                </c:pt>
              </c:numCache>
            </c:numRef>
          </c:xVal>
          <c:yVal>
            <c:numRef>
              <c:f>Sheet1!$B$659:$B$666</c:f>
              <c:numCache>
                <c:formatCode>General</c:formatCode>
                <c:ptCount val="8"/>
                <c:pt idx="0">
                  <c:v>0.49989707208425399</c:v>
                </c:pt>
                <c:pt idx="1">
                  <c:v>0.53713164619707043</c:v>
                </c:pt>
                <c:pt idx="2">
                  <c:v>0.48648050114752522</c:v>
                </c:pt>
                <c:pt idx="3">
                  <c:v>0.47295422939207504</c:v>
                </c:pt>
                <c:pt idx="4">
                  <c:v>0.45424890091776537</c:v>
                </c:pt>
                <c:pt idx="5">
                  <c:v>0.50750483905108768</c:v>
                </c:pt>
                <c:pt idx="6">
                  <c:v>0.51619407775390025</c:v>
                </c:pt>
                <c:pt idx="7">
                  <c:v>0.44896030164565226</c:v>
                </c:pt>
              </c:numCache>
            </c:numRef>
          </c:yVal>
          <c:smooth val="0"/>
          <c:extLst>
            <c:ext xmlns:c16="http://schemas.microsoft.com/office/drawing/2014/chart" uri="{C3380CC4-5D6E-409C-BE32-E72D297353CC}">
              <c16:uniqueId val="{00000016-1B62-4160-ADA3-F41F64D3854C}"/>
            </c:ext>
          </c:extLst>
        </c:ser>
        <c:ser>
          <c:idx val="12"/>
          <c:order val="12"/>
          <c:tx>
            <c:strRef>
              <c:f>Sheet1!$B$668</c:f>
              <c:strCache>
                <c:ptCount val="1"/>
                <c:pt idx="0">
                  <c:v>Health system consolidated</c:v>
                </c:pt>
              </c:strCache>
            </c:strRef>
          </c:tx>
          <c:spPr>
            <a:ln>
              <a:noFill/>
            </a:ln>
          </c:spPr>
          <c:marker>
            <c:symbol val="circle"/>
            <c:size val="9"/>
            <c:spPr>
              <a:solidFill>
                <a:srgbClr val="1F4FE0"/>
              </a:solidFill>
              <a:ln>
                <a:noFill/>
              </a:ln>
            </c:spPr>
          </c:marker>
          <c:xVal>
            <c:numRef>
              <c:f>Sheet1!$A$669:$A$671</c:f>
              <c:numCache>
                <c:formatCode>General</c:formatCode>
                <c:ptCount val="3"/>
                <c:pt idx="0">
                  <c:v>472627.21163923311</c:v>
                </c:pt>
                <c:pt idx="1">
                  <c:v>589749.07137550716</c:v>
                </c:pt>
                <c:pt idx="2">
                  <c:v>664398.77462283417</c:v>
                </c:pt>
              </c:numCache>
            </c:numRef>
          </c:xVal>
          <c:yVal>
            <c:numRef>
              <c:f>Sheet1!$B$669:$B$671</c:f>
              <c:numCache>
                <c:formatCode>General</c:formatCode>
                <c:ptCount val="3"/>
                <c:pt idx="0">
                  <c:v>0.47983887272473985</c:v>
                </c:pt>
                <c:pt idx="1">
                  <c:v>0.48853243390346474</c:v>
                </c:pt>
                <c:pt idx="2">
                  <c:v>0.52211170175159738</c:v>
                </c:pt>
              </c:numCache>
            </c:numRef>
          </c:yVal>
          <c:smooth val="0"/>
          <c:extLst>
            <c:ext xmlns:c16="http://schemas.microsoft.com/office/drawing/2014/chart" uri="{C3380CC4-5D6E-409C-BE32-E72D297353CC}">
              <c16:uniqueId val="{00000017-1B62-4160-ADA3-F41F64D3854C}"/>
            </c:ext>
          </c:extLst>
        </c:ser>
        <c:ser>
          <c:idx val="13"/>
          <c:order val="13"/>
          <c:tx>
            <c:strRef>
              <c:f>Sheet1!$B$673</c:f>
              <c:strCache>
                <c:ptCount val="1"/>
                <c:pt idx="0">
                  <c:v>Health system consolidated, S&amp;W estimated</c:v>
                </c:pt>
              </c:strCache>
            </c:strRef>
          </c:tx>
          <c:spPr>
            <a:ln>
              <a:noFill/>
            </a:ln>
          </c:spPr>
          <c:marker>
            <c:symbol val="circle"/>
            <c:size val="9"/>
            <c:spPr>
              <a:solidFill>
                <a:srgbClr val="8FA9F5"/>
              </a:solidFill>
              <a:ln>
                <a:noFill/>
              </a:ln>
            </c:spPr>
          </c:marker>
          <c:xVal>
            <c:numRef>
              <c:f>Sheet1!$A$674:$A$675</c:f>
              <c:numCache>
                <c:formatCode>General</c:formatCode>
                <c:ptCount val="2"/>
                <c:pt idx="0">
                  <c:v>650413.68688340345</c:v>
                </c:pt>
                <c:pt idx="1">
                  <c:v>951719.03355704702</c:v>
                </c:pt>
              </c:numCache>
            </c:numRef>
          </c:xVal>
          <c:yVal>
            <c:numRef>
              <c:f>Sheet1!$B$674:$B$675</c:f>
              <c:numCache>
                <c:formatCode>General</c:formatCode>
                <c:ptCount val="2"/>
                <c:pt idx="0">
                  <c:v>0.42758327234089616</c:v>
                </c:pt>
                <c:pt idx="1">
                  <c:v>0.48671748539851617</c:v>
                </c:pt>
              </c:numCache>
            </c:numRef>
          </c:yVal>
          <c:smooth val="0"/>
          <c:extLst>
            <c:ext xmlns:c16="http://schemas.microsoft.com/office/drawing/2014/chart" uri="{C3380CC4-5D6E-409C-BE32-E72D297353CC}">
              <c16:uniqueId val="{00000018-1B62-4160-ADA3-F41F64D3854C}"/>
            </c:ext>
          </c:extLst>
        </c:ser>
        <c:ser>
          <c:idx val="14"/>
          <c:order val="14"/>
          <c:tx>
            <c:strRef>
              <c:f>Sheet1!$B$677</c:f>
              <c:strCache>
                <c:ptCount val="1"/>
                <c:pt idx="0">
                  <c:v>Northeastern</c:v>
                </c:pt>
              </c:strCache>
            </c:strRef>
          </c:tx>
          <c:spPr>
            <a:ln>
              <a:noFill/>
            </a:ln>
          </c:spPr>
          <c:marker>
            <c:symbol val="circle"/>
            <c:size val="13"/>
            <c:spPr>
              <a:solidFill>
                <a:srgbClr val="C8102E"/>
              </a:solidFill>
              <a:ln w="15875">
                <a:solidFill>
                  <a:srgbClr val="FFFFFF"/>
                </a:solidFill>
              </a:ln>
            </c:spPr>
          </c:marker>
          <c:xVal>
            <c:numRef>
              <c:f>Sheet1!$A$678:$A$678</c:f>
              <c:numCache>
                <c:formatCode>General</c:formatCode>
                <c:ptCount val="1"/>
                <c:pt idx="0">
                  <c:v>54989.11349122542</c:v>
                </c:pt>
              </c:numCache>
            </c:numRef>
          </c:xVal>
          <c:yVal>
            <c:numRef>
              <c:f>Sheet1!$B$678:$B$678</c:f>
              <c:numCache>
                <c:formatCode>General</c:formatCode>
                <c:ptCount val="1"/>
                <c:pt idx="0">
                  <c:v>0.46101708260616503</c:v>
                </c:pt>
              </c:numCache>
            </c:numRef>
          </c:yVal>
          <c:smooth val="0"/>
          <c:extLst>
            <c:ext xmlns:c16="http://schemas.microsoft.com/office/drawing/2014/chart" uri="{C3380CC4-5D6E-409C-BE32-E72D297353CC}">
              <c16:uniqueId val="{00000019-1B62-4160-ADA3-F41F64D3854C}"/>
            </c:ext>
          </c:extLst>
        </c:ser>
        <c:dLbls>
          <c:showLegendKey val="0"/>
          <c:showVal val="0"/>
          <c:showCatName val="0"/>
          <c:showSerName val="0"/>
          <c:showPercent val="0"/>
          <c:showBubbleSize val="0"/>
        </c:dLbls>
        <c:axId val="-2128940872"/>
        <c:axId val="-2129643912"/>
      </c:scatterChart>
      <c:valAx>
        <c:axId val="-2128940872"/>
        <c:scaling>
          <c:orientation val="minMax"/>
          <c:max val="1000000"/>
          <c:min val="0"/>
        </c:scaling>
        <c:delete val="0"/>
        <c:axPos val="b"/>
        <c:title>
          <c:tx>
            <c:rich>
              <a:bodyPr/>
              <a:lstStyle/>
              <a:p>
                <a:pPr>
                  <a:defRPr/>
                </a:pPr>
                <a:r>
                  <a:rPr lang="en-US" sz="1000" b="1">
                    <a:solidFill>
                      <a:srgbClr val="000000"/>
                    </a:solidFill>
                    <a:latin typeface="Lato"/>
                  </a:rPr>
                  <a:t>Core unlevered cash operating expenses (excluding depreciation, amortization and interest) per student ($K)</a:t>
                </a:r>
              </a:p>
            </c:rich>
          </c:tx>
          <c:overlay val="0"/>
        </c:title>
        <c:numFmt formatCode="&quot;$&quot;#,##0,&quot;K&quot;"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9643912"/>
        <c:crosses val="autoZero"/>
        <c:crossBetween val="midCat"/>
        <c:majorUnit val="100000"/>
      </c:valAx>
      <c:valAx>
        <c:axId val="-2129643912"/>
        <c:scaling>
          <c:orientation val="minMax"/>
          <c:max val="0.6"/>
          <c:min val="0.3"/>
        </c:scaling>
        <c:delete val="0"/>
        <c:axPos val="l"/>
        <c:title>
          <c:tx>
            <c:rich>
              <a:bodyPr rot="-5400000" vert="horz"/>
              <a:lstStyle/>
              <a:p>
                <a:pPr>
                  <a:defRPr/>
                </a:pPr>
                <a:r>
                  <a:rPr lang="en-US" sz="1000" b="1">
                    <a:solidFill>
                      <a:srgbClr val="000000"/>
                    </a:solidFill>
                    <a:latin typeface="Lato"/>
                  </a:rPr>
                  <a:t>S&amp;W as % of core operating expenses</a:t>
                </a:r>
              </a:p>
            </c:rich>
          </c:tx>
          <c:overlay val="0"/>
        </c:title>
        <c:numFmt formatCode="0%"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8940872"/>
        <c:crosses val="autoZero"/>
        <c:crossBetween val="midCat"/>
        <c:majorUnit val="0.05"/>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5.5335968379446633E-2"/>
          <c:y val="1.1961722488038279E-2"/>
          <c:w val="0.89328063241106725"/>
          <c:h val="0.89234449760765555"/>
        </c:manualLayout>
      </c:layout>
      <c:scatterChart>
        <c:scatterStyle val="lineMarker"/>
        <c:varyColors val="0"/>
        <c:ser>
          <c:idx val="0"/>
          <c:order val="0"/>
          <c:tx>
            <c:strRef>
              <c:f>Sheet1!$B$1</c:f>
              <c:strCache>
                <c:ptCount val="1"/>
                <c:pt idx="0">
                  <c:v>Faculty</c:v>
                </c:pt>
              </c:strCache>
            </c:strRef>
          </c:tx>
          <c:spPr>
            <a:ln w="9525">
              <a:solidFill>
                <a:srgbClr val="C8102E"/>
              </a:solidFill>
              <a:prstDash val="sysDash"/>
            </a:ln>
          </c:spPr>
          <c:marker>
            <c:symbol val="circle"/>
            <c:size val="13"/>
            <c:spPr>
              <a:solidFill>
                <a:srgbClr val="C8102E"/>
              </a:solidFill>
              <a:ln>
                <a:noFill/>
              </a:ln>
            </c:spPr>
          </c:marker>
          <c:dLbls>
            <c:dLbl>
              <c:idx val="0"/>
              <c:tx>
                <c:rich>
                  <a:bodyPr/>
                  <a:lstStyle/>
                  <a:p>
                    <a:r>
                      <a:rPr lang="en-US" sz="1000" b="1" i="1">
                        <a:solidFill>
                          <a:srgbClr val="C8102E"/>
                        </a:solidFill>
                        <a:latin typeface="Lato"/>
                      </a:rPr>
                      <a:t>32%</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B470-465C-B23E-C773DA3A9C3F}"/>
                </c:ext>
              </c:extLst>
            </c:dLbl>
            <c:dLbl>
              <c:idx val="1"/>
              <c:tx>
                <c:rich>
                  <a:bodyPr/>
                  <a:lstStyle/>
                  <a:p>
                    <a:r>
                      <a:rPr lang="en-US" sz="1000" b="1" i="1">
                        <a:solidFill>
                          <a:srgbClr val="C8102E"/>
                        </a:solidFill>
                        <a:latin typeface="Lato"/>
                      </a:rPr>
                      <a:t>27%*</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B470-465C-B23E-C773DA3A9C3F}"/>
                </c:ext>
              </c:extLst>
            </c:dLbl>
            <c:dLbl>
              <c:idx val="2"/>
              <c:tx>
                <c:rich>
                  <a:bodyPr/>
                  <a:lstStyle/>
                  <a:p>
                    <a:r>
                      <a:rPr lang="en-US" sz="1000" b="1" i="1">
                        <a:solidFill>
                          <a:srgbClr val="C8102E"/>
                        </a:solidFill>
                        <a:latin typeface="Lato"/>
                      </a:rPr>
                      <a:t>32%*</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B470-465C-B23E-C773DA3A9C3F}"/>
                </c:ext>
              </c:extLst>
            </c:dLbl>
            <c:dLbl>
              <c:idx val="3"/>
              <c:tx>
                <c:rich>
                  <a:bodyPr/>
                  <a:lstStyle/>
                  <a:p>
                    <a:r>
                      <a:rPr lang="en-US" sz="1000" b="1" i="1">
                        <a:solidFill>
                          <a:srgbClr val="C8102E"/>
                        </a:solidFill>
                        <a:latin typeface="Lato"/>
                      </a:rPr>
                      <a:t>44%</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B470-465C-B23E-C773DA3A9C3F}"/>
                </c:ext>
              </c:extLst>
            </c:dLbl>
            <c:dLbl>
              <c:idx val="4"/>
              <c:tx>
                <c:rich>
                  <a:bodyPr/>
                  <a:lstStyle/>
                  <a:p>
                    <a:r>
                      <a:rPr lang="en-US" sz="1000" b="1" i="1">
                        <a:solidFill>
                          <a:srgbClr val="C8102E"/>
                        </a:solidFill>
                        <a:latin typeface="Lato"/>
                      </a:rPr>
                      <a:t>32%</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B470-465C-B23E-C773DA3A9C3F}"/>
                </c:ext>
              </c:extLst>
            </c:dLbl>
            <c:dLbl>
              <c:idx val="5"/>
              <c:tx>
                <c:rich>
                  <a:bodyPr/>
                  <a:lstStyle/>
                  <a:p>
                    <a:r>
                      <a:rPr lang="en-US" sz="1000" b="1" i="1">
                        <a:solidFill>
                          <a:srgbClr val="C8102E"/>
                        </a:solidFill>
                        <a:latin typeface="Lato"/>
                      </a:rPr>
                      <a:t>34%</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B470-465C-B23E-C773DA3A9C3F}"/>
                </c:ext>
              </c:extLst>
            </c:dLbl>
            <c:dLbl>
              <c:idx val="6"/>
              <c:tx>
                <c:rich>
                  <a:bodyPr/>
                  <a:lstStyle/>
                  <a:p>
                    <a:r>
                      <a:rPr lang="en-US" sz="1000" b="1" i="1">
                        <a:solidFill>
                          <a:srgbClr val="C8102E"/>
                        </a:solidFill>
                        <a:latin typeface="Lato"/>
                      </a:rPr>
                      <a:t>50%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B470-465C-B23E-C773DA3A9C3F}"/>
                </c:ext>
              </c:extLst>
            </c:dLbl>
            <c:dLbl>
              <c:idx val="7"/>
              <c:tx>
                <c:rich>
                  <a:bodyPr/>
                  <a:lstStyle/>
                  <a:p>
                    <a:r>
                      <a:rPr lang="en-US" sz="1000" b="1" i="1">
                        <a:solidFill>
                          <a:srgbClr val="C8102E"/>
                        </a:solidFill>
                        <a:latin typeface="Lato"/>
                      </a:rPr>
                      <a:t>53%</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B470-465C-B23E-C773DA3A9C3F}"/>
                </c:ext>
              </c:extLst>
            </c:dLbl>
            <c:dLbl>
              <c:idx val="8"/>
              <c:tx>
                <c:rich>
                  <a:bodyPr/>
                  <a:lstStyle/>
                  <a:p>
                    <a:r>
                      <a:rPr lang="en-US" sz="1000" b="1" i="1">
                        <a:solidFill>
                          <a:srgbClr val="C8102E"/>
                        </a:solidFill>
                        <a:latin typeface="Lato"/>
                      </a:rPr>
                      <a:t>45%</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B470-465C-B23E-C773DA3A9C3F}"/>
                </c:ext>
              </c:extLst>
            </c:dLbl>
            <c:dLbl>
              <c:idx val="9"/>
              <c:tx>
                <c:rich>
                  <a:bodyPr/>
                  <a:lstStyle/>
                  <a:p>
                    <a:r>
                      <a:rPr lang="en-US" sz="1000" b="1" i="1">
                        <a:solidFill>
                          <a:srgbClr val="C8102E"/>
                        </a:solidFill>
                        <a:latin typeface="Lato"/>
                      </a:rPr>
                      <a:t>39%</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Sheet1!$A$2:$A$11</c:f>
              <c:numCache>
                <c:formatCode>General</c:formatCode>
                <c:ptCount val="10"/>
                <c:pt idx="0">
                  <c:v>32</c:v>
                </c:pt>
                <c:pt idx="1">
                  <c:v>27</c:v>
                </c:pt>
                <c:pt idx="2">
                  <c:v>32</c:v>
                </c:pt>
                <c:pt idx="3">
                  <c:v>44</c:v>
                </c:pt>
                <c:pt idx="4">
                  <c:v>32</c:v>
                </c:pt>
                <c:pt idx="5">
                  <c:v>34</c:v>
                </c:pt>
                <c:pt idx="6">
                  <c:v>50</c:v>
                </c:pt>
                <c:pt idx="7">
                  <c:v>53</c:v>
                </c:pt>
                <c:pt idx="8">
                  <c:v>45</c:v>
                </c:pt>
                <c:pt idx="9">
                  <c:v>39</c:v>
                </c:pt>
              </c:numCache>
            </c:numRef>
          </c:xVal>
          <c:yVal>
            <c:numRef>
              <c:f>Sheet1!$B$2:$B$11</c:f>
              <c:numCache>
                <c:formatCode>General</c:formatCode>
                <c:ptCount val="10"/>
                <c:pt idx="0">
                  <c:v>2015</c:v>
                </c:pt>
                <c:pt idx="1">
                  <c:v>2016</c:v>
                </c:pt>
                <c:pt idx="2">
                  <c:v>2017</c:v>
                </c:pt>
                <c:pt idx="3">
                  <c:v>2018</c:v>
                </c:pt>
                <c:pt idx="4">
                  <c:v>2019</c:v>
                </c:pt>
                <c:pt idx="5">
                  <c:v>2020</c:v>
                </c:pt>
                <c:pt idx="6">
                  <c:v>2021</c:v>
                </c:pt>
                <c:pt idx="7">
                  <c:v>2022</c:v>
                </c:pt>
                <c:pt idx="8">
                  <c:v>2023</c:v>
                </c:pt>
                <c:pt idx="9">
                  <c:v>2024</c:v>
                </c:pt>
              </c:numCache>
            </c:numRef>
          </c:yVal>
          <c:smooth val="0"/>
          <c:extLst>
            <c:ext xmlns:c16="http://schemas.microsoft.com/office/drawing/2014/chart" uri="{C3380CC4-5D6E-409C-BE32-E72D297353CC}">
              <c16:uniqueId val="{0000000A-B470-465C-B23E-C773DA3A9C3F}"/>
            </c:ext>
          </c:extLst>
        </c:ser>
        <c:ser>
          <c:idx val="1"/>
          <c:order val="1"/>
          <c:tx>
            <c:strRef>
              <c:f>Sheet1!$B$13</c:f>
              <c:strCache>
                <c:ptCount val="1"/>
                <c:pt idx="0">
                  <c:v>Trustees</c:v>
                </c:pt>
              </c:strCache>
            </c:strRef>
          </c:tx>
          <c:spPr>
            <a:ln w="9525">
              <a:solidFill>
                <a:srgbClr val="8A8D8F"/>
              </a:solidFill>
              <a:prstDash val="sysDash"/>
            </a:ln>
          </c:spPr>
          <c:marker>
            <c:symbol val="circle"/>
            <c:size val="15"/>
            <c:spPr>
              <a:solidFill>
                <a:srgbClr val="8A8D8F"/>
              </a:solidFill>
              <a:ln>
                <a:noFill/>
              </a:ln>
            </c:spPr>
          </c:marker>
          <c:dLbls>
            <c:dLbl>
              <c:idx val="0"/>
              <c:tx>
                <c:rich>
                  <a:bodyPr/>
                  <a:lstStyle/>
                  <a:p>
                    <a:r>
                      <a:rPr lang="en-US" sz="1000" b="1" i="1">
                        <a:solidFill>
                          <a:srgbClr val="3A3A3F"/>
                        </a:solidFill>
                        <a:latin typeface="Lato"/>
                      </a:rPr>
                      <a:t>79%</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B470-465C-B23E-C773DA3A9C3F}"/>
                </c:ext>
              </c:extLst>
            </c:dLbl>
            <c:dLbl>
              <c:idx val="1"/>
              <c:tx>
                <c:rich>
                  <a:bodyPr/>
                  <a:lstStyle/>
                  <a:p>
                    <a:r>
                      <a:rPr lang="en-US" sz="1000" b="1" i="1">
                        <a:solidFill>
                          <a:srgbClr val="3A3A3F"/>
                        </a:solidFill>
                        <a:latin typeface="Lato"/>
                      </a:rPr>
                      <a:t>74%</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B470-465C-B23E-C773DA3A9C3F}"/>
                </c:ext>
              </c:extLst>
            </c:dLbl>
            <c:dLbl>
              <c:idx val="2"/>
              <c:tx>
                <c:rich>
                  <a:bodyPr/>
                  <a:lstStyle/>
                  <a:p>
                    <a:r>
                      <a:rPr lang="en-US" sz="1000" b="1" i="1">
                        <a:solidFill>
                          <a:srgbClr val="3A3A3F"/>
                        </a:solidFill>
                        <a:latin typeface="Lato"/>
                      </a:rPr>
                      <a:t>77%</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B470-465C-B23E-C773DA3A9C3F}"/>
                </c:ext>
              </c:extLst>
            </c:dLbl>
            <c:dLbl>
              <c:idx val="3"/>
              <c:tx>
                <c:rich>
                  <a:bodyPr/>
                  <a:lstStyle/>
                  <a:p>
                    <a:r>
                      <a:rPr lang="en-US" sz="1000" b="1" i="1">
                        <a:solidFill>
                          <a:srgbClr val="3A3A3F"/>
                        </a:solidFill>
                        <a:latin typeface="Lato"/>
                      </a:rPr>
                      <a:t>78%</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B470-465C-B23E-C773DA3A9C3F}"/>
                </c:ext>
              </c:extLst>
            </c:dLbl>
            <c:dLbl>
              <c:idx val="4"/>
              <c:tx>
                <c:rich>
                  <a:bodyPr/>
                  <a:lstStyle/>
                  <a:p>
                    <a:r>
                      <a:rPr lang="en-US" sz="1000" b="1" i="1">
                        <a:solidFill>
                          <a:srgbClr val="3A3A3F"/>
                        </a:solidFill>
                        <a:latin typeface="Lato"/>
                      </a:rPr>
                      <a:t>78%</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B470-465C-B23E-C773DA3A9C3F}"/>
                </c:ext>
              </c:extLst>
            </c:dLbl>
            <c:dLbl>
              <c:idx val="5"/>
              <c:tx>
                <c:rich>
                  <a:bodyPr/>
                  <a:lstStyle/>
                  <a:p>
                    <a:r>
                      <a:rPr lang="en-US" sz="1000" b="1" i="1">
                        <a:solidFill>
                          <a:srgbClr val="3A3A3F"/>
                        </a:solidFill>
                        <a:latin typeface="Lato"/>
                      </a:rPr>
                      <a:t>84%</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B470-465C-B23E-C773DA3A9C3F}"/>
                </c:ext>
              </c:extLst>
            </c:dLbl>
            <c:dLbl>
              <c:idx val="6"/>
              <c:tx>
                <c:rich>
                  <a:bodyPr/>
                  <a:lstStyle/>
                  <a:p>
                    <a:r>
                      <a:rPr lang="en-US" sz="1000" b="1" i="1">
                        <a:solidFill>
                          <a:srgbClr val="3A3A3F"/>
                        </a:solidFill>
                        <a:latin typeface="Lato"/>
                      </a:rPr>
                      <a:t>85%</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B470-465C-B23E-C773DA3A9C3F}"/>
                </c:ext>
              </c:extLst>
            </c:dLbl>
            <c:dLbl>
              <c:idx val="7"/>
              <c:tx>
                <c:rich>
                  <a:bodyPr/>
                  <a:lstStyle/>
                  <a:p>
                    <a:r>
                      <a:rPr lang="en-US" sz="1000" b="1" i="1">
                        <a:solidFill>
                          <a:srgbClr val="3A3A3F"/>
                        </a:solidFill>
                        <a:latin typeface="Lato"/>
                      </a:rPr>
                      <a:t>90%</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B470-465C-B23E-C773DA3A9C3F}"/>
                </c:ext>
              </c:extLst>
            </c:dLbl>
            <c:dLbl>
              <c:idx val="8"/>
              <c:tx>
                <c:rich>
                  <a:bodyPr/>
                  <a:lstStyle/>
                  <a:p>
                    <a:r>
                      <a:rPr lang="en-US" sz="1000" b="1" i="1">
                        <a:solidFill>
                          <a:srgbClr val="3A3A3F"/>
                        </a:solidFill>
                        <a:latin typeface="Lato"/>
                      </a:rPr>
                      <a:t>86%</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3-B470-465C-B23E-C773DA3A9C3F}"/>
                </c:ext>
              </c:extLst>
            </c:dLbl>
            <c:dLbl>
              <c:idx val="9"/>
              <c:tx>
                <c:rich>
                  <a:bodyPr/>
                  <a:lstStyle/>
                  <a:p>
                    <a:r>
                      <a:rPr lang="en-US" sz="1000" b="1" i="1">
                        <a:solidFill>
                          <a:srgbClr val="3A3A3F"/>
                        </a:solidFill>
                        <a:latin typeface="Lato"/>
                      </a:rPr>
                      <a:t>79%</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Sheet1!$A$14:$A$23</c:f>
              <c:numCache>
                <c:formatCode>General</c:formatCode>
                <c:ptCount val="10"/>
                <c:pt idx="0">
                  <c:v>79</c:v>
                </c:pt>
                <c:pt idx="1">
                  <c:v>74</c:v>
                </c:pt>
                <c:pt idx="2">
                  <c:v>77</c:v>
                </c:pt>
                <c:pt idx="3">
                  <c:v>78</c:v>
                </c:pt>
                <c:pt idx="4">
                  <c:v>78</c:v>
                </c:pt>
                <c:pt idx="5">
                  <c:v>84</c:v>
                </c:pt>
                <c:pt idx="6">
                  <c:v>85</c:v>
                </c:pt>
                <c:pt idx="7">
                  <c:v>90</c:v>
                </c:pt>
                <c:pt idx="8">
                  <c:v>86</c:v>
                </c:pt>
                <c:pt idx="9">
                  <c:v>79</c:v>
                </c:pt>
              </c:numCache>
            </c:numRef>
          </c:xVal>
          <c:yVal>
            <c:numRef>
              <c:f>Sheet1!$B$14:$B$23</c:f>
              <c:numCache>
                <c:formatCode>General</c:formatCode>
                <c:ptCount val="10"/>
                <c:pt idx="0">
                  <c:v>2015</c:v>
                </c:pt>
                <c:pt idx="1">
                  <c:v>2016</c:v>
                </c:pt>
                <c:pt idx="2">
                  <c:v>2017</c:v>
                </c:pt>
                <c:pt idx="3">
                  <c:v>2018</c:v>
                </c:pt>
                <c:pt idx="4">
                  <c:v>2019</c:v>
                </c:pt>
                <c:pt idx="5">
                  <c:v>2020</c:v>
                </c:pt>
                <c:pt idx="6">
                  <c:v>2021</c:v>
                </c:pt>
                <c:pt idx="7">
                  <c:v>2022</c:v>
                </c:pt>
                <c:pt idx="8">
                  <c:v>2023</c:v>
                </c:pt>
                <c:pt idx="9">
                  <c:v>2024</c:v>
                </c:pt>
              </c:numCache>
            </c:numRef>
          </c:yVal>
          <c:smooth val="0"/>
          <c:extLst>
            <c:ext xmlns:c16="http://schemas.microsoft.com/office/drawing/2014/chart" uri="{C3380CC4-5D6E-409C-BE32-E72D297353CC}">
              <c16:uniqueId val="{00000015-B470-465C-B23E-C773DA3A9C3F}"/>
            </c:ext>
          </c:extLst>
        </c:ser>
        <c:ser>
          <c:idx val="2"/>
          <c:order val="2"/>
          <c:tx>
            <c:strRef>
              <c:f>Sheet1!$B$25</c:f>
              <c:strCache>
                <c:ptCount val="1"/>
                <c:pt idx="0">
                  <c:v>Sr. Administrators</c:v>
                </c:pt>
              </c:strCache>
            </c:strRef>
          </c:tx>
          <c:spPr>
            <a:ln w="9525">
              <a:solidFill>
                <a:srgbClr val="000000"/>
              </a:solidFill>
              <a:prstDash val="sysDash"/>
            </a:ln>
          </c:spPr>
          <c:marker>
            <c:symbol val="circle"/>
            <c:size val="13"/>
            <c:spPr>
              <a:solidFill>
                <a:srgbClr val="000000"/>
              </a:solidFill>
              <a:ln>
                <a:noFill/>
              </a:ln>
            </c:spPr>
          </c:marker>
          <c:dLbls>
            <c:dLbl>
              <c:idx val="0"/>
              <c:tx>
                <c:rich>
                  <a:bodyPr/>
                  <a:lstStyle/>
                  <a:p>
                    <a:r>
                      <a:rPr lang="en-US" sz="1000" b="1" i="1">
                        <a:solidFill>
                          <a:srgbClr val="000000"/>
                        </a:solidFill>
                        <a:latin typeface="Lato"/>
                      </a:rPr>
                      <a:t>88%</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6-B470-465C-B23E-C773DA3A9C3F}"/>
                </c:ext>
              </c:extLst>
            </c:dLbl>
            <c:dLbl>
              <c:idx val="1"/>
              <c:tx>
                <c:rich>
                  <a:bodyPr/>
                  <a:lstStyle/>
                  <a:p>
                    <a:r>
                      <a:rPr lang="en-US" sz="1000" b="1" i="1">
                        <a:solidFill>
                          <a:srgbClr val="000000"/>
                        </a:solidFill>
                        <a:latin typeface="Lato"/>
                      </a:rPr>
                      <a:t>86%</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7-B470-465C-B23E-C773DA3A9C3F}"/>
                </c:ext>
              </c:extLst>
            </c:dLbl>
            <c:dLbl>
              <c:idx val="2"/>
              <c:tx>
                <c:rich>
                  <a:bodyPr/>
                  <a:lstStyle/>
                  <a:p>
                    <a:r>
                      <a:rPr lang="en-US" sz="1000" b="1" i="1">
                        <a:solidFill>
                          <a:srgbClr val="000000"/>
                        </a:solidFill>
                        <a:latin typeface="Lato"/>
                      </a:rPr>
                      <a:t>85%</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8-B470-465C-B23E-C773DA3A9C3F}"/>
                </c:ext>
              </c:extLst>
            </c:dLbl>
            <c:dLbl>
              <c:idx val="3"/>
              <c:tx>
                <c:rich>
                  <a:bodyPr/>
                  <a:lstStyle/>
                  <a:p>
                    <a:r>
                      <a:rPr lang="en-US" sz="1000" b="1" i="1">
                        <a:solidFill>
                          <a:srgbClr val="000000"/>
                        </a:solidFill>
                        <a:latin typeface="Lato"/>
                      </a:rPr>
                      <a:t>80%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9-B470-465C-B23E-C773DA3A9C3F}"/>
                </c:ext>
              </c:extLst>
            </c:dLbl>
            <c:dLbl>
              <c:idx val="4"/>
              <c:tx>
                <c:rich>
                  <a:bodyPr/>
                  <a:lstStyle/>
                  <a:p>
                    <a:r>
                      <a:rPr lang="en-US" sz="1000" b="1" i="1">
                        <a:solidFill>
                          <a:srgbClr val="000000"/>
                        </a:solidFill>
                        <a:latin typeface="Lato"/>
                      </a:rPr>
                      <a:t>90%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A-B470-465C-B23E-C773DA3A9C3F}"/>
                </c:ext>
              </c:extLst>
            </c:dLbl>
            <c:dLbl>
              <c:idx val="5"/>
              <c:tx>
                <c:rich>
                  <a:bodyPr/>
                  <a:lstStyle/>
                  <a:p>
                    <a:r>
                      <a:rPr lang="en-US" sz="1000" b="1" i="1">
                        <a:solidFill>
                          <a:srgbClr val="000000"/>
                        </a:solidFill>
                        <a:latin typeface="Lato"/>
                      </a:rPr>
                      <a:t>90%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B-B470-465C-B23E-C773DA3A9C3F}"/>
                </c:ext>
              </c:extLst>
            </c:dLbl>
            <c:dLbl>
              <c:idx val="6"/>
              <c:tx>
                <c:rich>
                  <a:bodyPr/>
                  <a:lstStyle/>
                  <a:p>
                    <a:r>
                      <a:rPr lang="en-US" sz="1000" b="1" i="1">
                        <a:solidFill>
                          <a:srgbClr val="000000"/>
                        </a:solidFill>
                        <a:latin typeface="Lato"/>
                      </a:rPr>
                      <a:t>90%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C-B470-465C-B23E-C773DA3A9C3F}"/>
                </c:ext>
              </c:extLst>
            </c:dLbl>
            <c:dLbl>
              <c:idx val="7"/>
              <c:tx>
                <c:rich>
                  <a:bodyPr/>
                  <a:lstStyle/>
                  <a:p>
                    <a:r>
                      <a:rPr lang="en-US" sz="1000" b="1" i="1">
                        <a:solidFill>
                          <a:srgbClr val="000000"/>
                        </a:solidFill>
                        <a:latin typeface="Lato"/>
                      </a:rPr>
                      <a:t>91%</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D-B470-465C-B23E-C773DA3A9C3F}"/>
                </c:ext>
              </c:extLst>
            </c:dLbl>
            <c:dLbl>
              <c:idx val="8"/>
              <c:tx>
                <c:rich>
                  <a:bodyPr/>
                  <a:lstStyle/>
                  <a:p>
                    <a:r>
                      <a:rPr lang="en-US" sz="1000" b="1" i="1">
                        <a:solidFill>
                          <a:srgbClr val="000000"/>
                        </a:solidFill>
                        <a:latin typeface="Lato"/>
                      </a:rPr>
                      <a:t>91%</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E-B470-465C-B23E-C773DA3A9C3F}"/>
                </c:ext>
              </c:extLst>
            </c:dLbl>
            <c:dLbl>
              <c:idx val="9"/>
              <c:tx>
                <c:rich>
                  <a:bodyPr/>
                  <a:lstStyle/>
                  <a:p>
                    <a:r>
                      <a:rPr lang="en-US" sz="1000" b="1" i="1">
                        <a:solidFill>
                          <a:srgbClr val="000000"/>
                        </a:solidFill>
                        <a:latin typeface="Lato"/>
                      </a:rPr>
                      <a:t>88%</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F-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Sheet1!$A$26:$A$35</c:f>
              <c:numCache>
                <c:formatCode>General</c:formatCode>
                <c:ptCount val="10"/>
                <c:pt idx="0">
                  <c:v>88</c:v>
                </c:pt>
                <c:pt idx="1">
                  <c:v>86</c:v>
                </c:pt>
                <c:pt idx="2">
                  <c:v>85</c:v>
                </c:pt>
                <c:pt idx="3">
                  <c:v>80</c:v>
                </c:pt>
                <c:pt idx="4">
                  <c:v>90</c:v>
                </c:pt>
                <c:pt idx="5">
                  <c:v>90</c:v>
                </c:pt>
                <c:pt idx="6">
                  <c:v>90</c:v>
                </c:pt>
                <c:pt idx="7">
                  <c:v>91</c:v>
                </c:pt>
                <c:pt idx="8">
                  <c:v>91</c:v>
                </c:pt>
                <c:pt idx="9">
                  <c:v>88</c:v>
                </c:pt>
              </c:numCache>
            </c:numRef>
          </c:xVal>
          <c:yVal>
            <c:numRef>
              <c:f>Sheet1!$B$26:$B$35</c:f>
              <c:numCache>
                <c:formatCode>General</c:formatCode>
                <c:ptCount val="10"/>
                <c:pt idx="0">
                  <c:v>2015</c:v>
                </c:pt>
                <c:pt idx="1">
                  <c:v>2016</c:v>
                </c:pt>
                <c:pt idx="2">
                  <c:v>2017</c:v>
                </c:pt>
                <c:pt idx="3">
                  <c:v>2018</c:v>
                </c:pt>
                <c:pt idx="4">
                  <c:v>2019</c:v>
                </c:pt>
                <c:pt idx="5">
                  <c:v>2020</c:v>
                </c:pt>
                <c:pt idx="6">
                  <c:v>2021</c:v>
                </c:pt>
                <c:pt idx="7">
                  <c:v>2022</c:v>
                </c:pt>
                <c:pt idx="8">
                  <c:v>2023</c:v>
                </c:pt>
                <c:pt idx="9">
                  <c:v>2024</c:v>
                </c:pt>
              </c:numCache>
            </c:numRef>
          </c:yVal>
          <c:smooth val="0"/>
          <c:extLst>
            <c:ext xmlns:c16="http://schemas.microsoft.com/office/drawing/2014/chart" uri="{C3380CC4-5D6E-409C-BE32-E72D297353CC}">
              <c16:uniqueId val="{00000020-B470-465C-B23E-C773DA3A9C3F}"/>
            </c:ext>
          </c:extLst>
        </c:ser>
        <c:ser>
          <c:idx val="3"/>
          <c:order val="3"/>
          <c:tx>
            <c:strRef>
              <c:f>Sheet1!$B$37</c:f>
              <c:strCache>
                <c:ptCount val="1"/>
                <c:pt idx="0">
                  <c:v>Trustees only (2025–26 item)</c:v>
                </c:pt>
              </c:strCache>
            </c:strRef>
          </c:tx>
          <c:spPr>
            <a:ln>
              <a:noFill/>
            </a:ln>
          </c:spPr>
          <c:marker>
            <c:symbol val="circle"/>
            <c:size val="11"/>
            <c:spPr>
              <a:solidFill>
                <a:srgbClr val="C9C9CC"/>
              </a:solidFill>
              <a:ln w="22225">
                <a:solidFill>
                  <a:srgbClr val="8A8D8F"/>
                </a:solidFill>
              </a:ln>
            </c:spPr>
          </c:marker>
          <c:dLbls>
            <c:dLbl>
              <c:idx val="0"/>
              <c:tx>
                <c:rich>
                  <a:bodyPr/>
                  <a:lstStyle/>
                  <a:p>
                    <a:r>
                      <a:rPr lang="en-US" sz="1000" b="1" i="1">
                        <a:solidFill>
                          <a:srgbClr val="3A3A3F"/>
                        </a:solidFill>
                        <a:latin typeface="Lato"/>
                      </a:rPr>
                      <a:t>74%</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1-B470-465C-B23E-C773DA3A9C3F}"/>
                </c:ext>
              </c:extLst>
            </c:dLbl>
            <c:dLbl>
              <c:idx val="1"/>
              <c:tx>
                <c:rich>
                  <a:bodyPr/>
                  <a:lstStyle/>
                  <a:p>
                    <a:r>
                      <a:rPr lang="en-US" sz="1000" b="1" i="1">
                        <a:solidFill>
                          <a:srgbClr val="3A3A3F"/>
                        </a:solidFill>
                        <a:latin typeface="Lato"/>
                      </a:rPr>
                      <a:t>79%</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2-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Sheet1!$A$38:$A$39</c:f>
              <c:numCache>
                <c:formatCode>General</c:formatCode>
                <c:ptCount val="2"/>
                <c:pt idx="0">
                  <c:v>74</c:v>
                </c:pt>
                <c:pt idx="1">
                  <c:v>79</c:v>
                </c:pt>
              </c:numCache>
            </c:numRef>
          </c:xVal>
          <c:yVal>
            <c:numRef>
              <c:f>Sheet1!$B$38:$B$39</c:f>
              <c:numCache>
                <c:formatCode>General</c:formatCode>
                <c:ptCount val="2"/>
                <c:pt idx="0">
                  <c:v>2025</c:v>
                </c:pt>
                <c:pt idx="1">
                  <c:v>2026</c:v>
                </c:pt>
              </c:numCache>
            </c:numRef>
          </c:yVal>
          <c:smooth val="0"/>
          <c:extLst>
            <c:ext xmlns:c16="http://schemas.microsoft.com/office/drawing/2014/chart" uri="{C3380CC4-5D6E-409C-BE32-E72D297353CC}">
              <c16:uniqueId val="{00000023-B470-465C-B23E-C773DA3A9C3F}"/>
            </c:ext>
          </c:extLst>
        </c:ser>
        <c:dLbls>
          <c:showLegendKey val="0"/>
          <c:showVal val="0"/>
          <c:showCatName val="0"/>
          <c:showSerName val="0"/>
          <c:showPercent val="0"/>
          <c:showBubbleSize val="0"/>
        </c:dLbls>
        <c:axId val="-2128940872"/>
        <c:axId val="-2129643912"/>
      </c:scatterChart>
      <c:valAx>
        <c:axId val="-2128940872"/>
        <c:scaling>
          <c:orientation val="minMax"/>
          <c:max val="100"/>
          <c:min val="0"/>
        </c:scaling>
        <c:delete val="0"/>
        <c:axPos val="b"/>
        <c:numFmt formatCode="0&quot;%&quot;" sourceLinked="0"/>
        <c:majorTickMark val="out"/>
        <c:minorTickMark val="none"/>
        <c:tickLblPos val="nextTo"/>
        <c:spPr>
          <a:ln w="9525">
            <a:solidFill>
              <a:srgbClr val="000000"/>
            </a:solidFill>
          </a:ln>
        </c:spPr>
        <c:txPr>
          <a:bodyPr/>
          <a:lstStyle/>
          <a:p>
            <a:pPr>
              <a:defRPr sz="1000">
                <a:solidFill>
                  <a:srgbClr val="000000"/>
                </a:solidFill>
                <a:latin typeface="Lato"/>
              </a:defRPr>
            </a:pPr>
            <a:endParaRPr lang="en-US"/>
          </a:p>
        </c:txPr>
        <c:crossAx val="-2129643912"/>
        <c:crosses val="max"/>
        <c:crossBetween val="midCat"/>
        <c:majorUnit val="25"/>
      </c:valAx>
      <c:valAx>
        <c:axId val="-2129643912"/>
        <c:scaling>
          <c:orientation val="maxMin"/>
          <c:max val="2027"/>
          <c:min val="2014"/>
        </c:scaling>
        <c:delete val="0"/>
        <c:axPos val="l"/>
        <c:numFmt formatCode="[&lt;2015]&quot;&quot;;[&gt;2026]&quot;&quot;;0" sourceLinked="0"/>
        <c:majorTickMark val="out"/>
        <c:minorTickMark val="none"/>
        <c:tickLblPos val="nextTo"/>
        <c:spPr>
          <a:ln w="9525">
            <a:solidFill>
              <a:srgbClr val="FFFFFF"/>
            </a:solidFill>
          </a:ln>
        </c:spPr>
        <c:txPr>
          <a:bodyPr/>
          <a:lstStyle/>
          <a:p>
            <a:pPr>
              <a:defRPr sz="1100" b="1">
                <a:solidFill>
                  <a:srgbClr val="000000"/>
                </a:solidFill>
                <a:latin typeface="Lato"/>
              </a:defRPr>
            </a:pPr>
            <a:endParaRPr lang="en-US"/>
          </a:p>
        </c:txPr>
        <c:crossAx val="-2128940872"/>
        <c:crosses val="autoZero"/>
        <c:crossBetween val="midCat"/>
        <c:majorUnit val="1"/>
      </c:valAx>
    </c:plotArea>
    <c:plotVisOnly val="1"/>
    <c:dispBlanksAs val="gap"/>
    <c:showDLblsOverMax val="0"/>
  </c:chart>
  <c:spPr>
    <a:noFill/>
    <a:ln>
      <a:noFill/>
    </a:ln>
  </c:spPr>
  <c:txPr>
    <a:bodyPr/>
    <a:lstStyle/>
    <a:p>
      <a:pPr>
        <a:defRPr sz="1000">
          <a:solidFill>
            <a:srgbClr val="000000"/>
          </a:solidFill>
          <a:latin typeface="Lato"/>
        </a:defRPr>
      </a:pPr>
      <a:endParaRPr lang="en-US"/>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Northeastern EBIDA margin</c:v>
                </c:pt>
              </c:strCache>
            </c:strRef>
          </c:tx>
          <c:spPr>
            <a:solidFill>
              <a:srgbClr val="C8102E"/>
            </a:solidFill>
          </c:spPr>
          <c:invertIfNegative val="1"/>
          <c:dLbls>
            <c:numFmt formatCode="0.0&quot;%&quot;" sourceLinked="0"/>
            <c:spPr>
              <a:noFill/>
              <a:ln>
                <a:noFill/>
              </a:ln>
              <a:effectLst/>
            </c:spPr>
            <c:txPr>
              <a:bodyPr/>
              <a:lstStyle/>
              <a:p>
                <a:pPr>
                  <a:defRPr sz="1100" b="1">
                    <a:solidFill>
                      <a:srgbClr val="FFFFFF"/>
                    </a:solidFill>
                    <a:latin typeface="Lato"/>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Sheet1!$B$2:$B$10</c:f>
              <c:numCache>
                <c:formatCode>General</c:formatCode>
                <c:ptCount val="9"/>
                <c:pt idx="0">
                  <c:v>15.13</c:v>
                </c:pt>
                <c:pt idx="1">
                  <c:v>17.21</c:v>
                </c:pt>
                <c:pt idx="2">
                  <c:v>14.76</c:v>
                </c:pt>
                <c:pt idx="3">
                  <c:v>12.17</c:v>
                </c:pt>
                <c:pt idx="4">
                  <c:v>15.68</c:v>
                </c:pt>
                <c:pt idx="5">
                  <c:v>12.89</c:v>
                </c:pt>
                <c:pt idx="6">
                  <c:v>10.39</c:v>
                </c:pt>
                <c:pt idx="7">
                  <c:v>9.4600000000000009</c:v>
                </c:pt>
                <c:pt idx="8">
                  <c:v>12.986229433800183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6985-413A-BB08-1E8B75F8DCB8}"/>
            </c:ext>
          </c:extLst>
        </c:ser>
        <c:dLbls>
          <c:dLblPos val="inEnd"/>
          <c:showLegendKey val="0"/>
          <c:showVal val="1"/>
          <c:showCatName val="0"/>
          <c:showSerName val="0"/>
          <c:showPercent val="0"/>
          <c:showBubbleSize val="0"/>
        </c:dLbls>
        <c:gapWidth val="60"/>
        <c:axId val="-2068027336"/>
        <c:axId val="-2113994440"/>
      </c:barChart>
      <c:lineChart>
        <c:grouping val="standard"/>
        <c:varyColors val="0"/>
        <c:ser>
          <c:idx val="1"/>
          <c:order val="1"/>
          <c:tx>
            <c:strRef>
              <c:f>Sheet1!$C$1</c:f>
              <c:strCache>
                <c:ptCount val="1"/>
                <c:pt idx="0">
                  <c:v>Moody's comprehensive median</c:v>
                </c:pt>
              </c:strCache>
            </c:strRef>
          </c:tx>
          <c:spPr>
            <a:ln w="25400">
              <a:solidFill>
                <a:srgbClr val="000000"/>
              </a:solidFill>
            </a:ln>
          </c:spPr>
          <c:marker>
            <c:symbol val="circle"/>
            <c:size val="5"/>
            <c:spPr>
              <a:solidFill>
                <a:srgbClr val="000000"/>
              </a:solidFill>
            </c:spPr>
          </c:marker>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Sheet1!$C$2:$C$10</c:f>
              <c:numCache>
                <c:formatCode>General</c:formatCode>
                <c:ptCount val="9"/>
                <c:pt idx="0">
                  <c:v>12.9</c:v>
                </c:pt>
                <c:pt idx="1">
                  <c:v>13</c:v>
                </c:pt>
                <c:pt idx="2">
                  <c:v>12.6</c:v>
                </c:pt>
                <c:pt idx="3">
                  <c:v>14.5</c:v>
                </c:pt>
                <c:pt idx="4">
                  <c:v>15.7</c:v>
                </c:pt>
                <c:pt idx="5">
                  <c:v>12.8</c:v>
                </c:pt>
                <c:pt idx="6">
                  <c:v>11.1</c:v>
                </c:pt>
                <c:pt idx="7">
                  <c:v>10.3</c:v>
                </c:pt>
              </c:numCache>
            </c:numRef>
          </c:val>
          <c:smooth val="0"/>
          <c:extLst>
            <c:ext xmlns:c16="http://schemas.microsoft.com/office/drawing/2014/chart" uri="{C3380CC4-5D6E-409C-BE32-E72D297353CC}">
              <c16:uniqueId val="{00000001-6985-413A-BB08-1E8B75F8DCB8}"/>
            </c:ext>
          </c:extLst>
        </c:ser>
        <c:ser>
          <c:idx val="2"/>
          <c:order val="2"/>
          <c:tx>
            <c:strRef>
              <c:f>Sheet1!$D$1</c:f>
              <c:strCache>
                <c:ptCount val="1"/>
                <c:pt idx="0">
                  <c:v>Moody's broad A median</c:v>
                </c:pt>
              </c:strCache>
            </c:strRef>
          </c:tx>
          <c:spPr>
            <a:ln w="28575">
              <a:solidFill>
                <a:srgbClr val="000000"/>
              </a:solidFill>
              <a:prstDash val="dash"/>
            </a:ln>
          </c:spPr>
          <c:marker>
            <c:symbol val="circle"/>
            <c:size val="6"/>
            <c:spPr>
              <a:solidFill>
                <a:srgbClr val="000000"/>
              </a:solidFill>
            </c:spPr>
          </c:marker>
          <c:dLbls>
            <c:spPr>
              <a:noFill/>
              <a:ln>
                <a:noFill/>
              </a:ln>
              <a:effectLst/>
            </c:spPr>
            <c:txPr>
              <a:bodyPr wrap="square" lIns="38100" tIns="19050" rIns="38100" bIns="19050" anchor="ctr">
                <a:spAutoFit/>
              </a:bodyPr>
              <a:lstStyle/>
              <a:p>
                <a:pPr>
                  <a:defRPr sz="1100" i="1">
                    <a:solidFill>
                      <a:srgbClr val="000000"/>
                    </a:solidFil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Sheet1!$D$2:$D$10</c:f>
              <c:numCache>
                <c:formatCode>General</c:formatCode>
                <c:ptCount val="9"/>
                <c:pt idx="0">
                  <c:v>14.7</c:v>
                </c:pt>
                <c:pt idx="1">
                  <c:v>14.6</c:v>
                </c:pt>
                <c:pt idx="2">
                  <c:v>14.4</c:v>
                </c:pt>
                <c:pt idx="3">
                  <c:v>16.7</c:v>
                </c:pt>
                <c:pt idx="4">
                  <c:v>16.5</c:v>
                </c:pt>
                <c:pt idx="5">
                  <c:v>13.1</c:v>
                </c:pt>
                <c:pt idx="6">
                  <c:v>12.3</c:v>
                </c:pt>
                <c:pt idx="7">
                  <c:v>11.5</c:v>
                </c:pt>
              </c:numCache>
            </c:numRef>
          </c:val>
          <c:smooth val="0"/>
          <c:extLst>
            <c:ext xmlns:c16="http://schemas.microsoft.com/office/drawing/2014/chart" uri="{C3380CC4-5D6E-409C-BE32-E72D297353CC}">
              <c16:uniqueId val="{00000001-6985-413A-BB08-1E8B75F8DCB8}"/>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none"/>
        <c:minorTickMark val="none"/>
        <c:tickLblPos val="nextTo"/>
        <c:spPr>
          <a:ln>
            <a:solidFill>
              <a:srgbClr val="E0E0E0"/>
            </a:solidFill>
          </a:ln>
        </c:spPr>
        <c:txPr>
          <a:bodyPr/>
          <a:lstStyle/>
          <a:p>
            <a:pPr>
              <a:defRPr sz="1050">
                <a:solidFill>
                  <a:srgbClr val="49494D"/>
                </a:solidFill>
                <a:latin typeface="Lato"/>
              </a:defRPr>
            </a:pPr>
            <a:endParaRPr lang="en-US"/>
          </a:p>
        </c:txPr>
        <c:crossAx val="-2113994440"/>
        <c:crosses val="autoZero"/>
        <c:auto val="1"/>
        <c:lblAlgn val="ctr"/>
        <c:lblOffset val="100"/>
        <c:noMultiLvlLbl val="0"/>
      </c:catAx>
      <c:valAx>
        <c:axId val="-2113994440"/>
        <c:scaling>
          <c:orientation val="minMax"/>
          <c:max val="18"/>
          <c:min val="0"/>
        </c:scaling>
        <c:delete val="0"/>
        <c:axPos val="l"/>
        <c:majorGridlines>
          <c:spPr>
            <a:ln>
              <a:solidFill>
                <a:srgbClr val="ECECEC"/>
              </a:solidFill>
            </a:ln>
          </c:spPr>
        </c:majorGridlines>
        <c:numFmt formatCode="0&quot;%&quot;" sourceLinked="0"/>
        <c:majorTickMark val="none"/>
        <c:minorTickMark val="none"/>
        <c:tickLblPos val="nextTo"/>
        <c:spPr>
          <a:ln>
            <a:solidFill>
              <a:srgbClr val="E0E0E0"/>
            </a:solidFill>
          </a:ln>
        </c:spPr>
        <c:txPr>
          <a:bodyPr/>
          <a:lstStyle/>
          <a:p>
            <a:pPr>
              <a:defRPr sz="1100">
                <a:solidFill>
                  <a:srgbClr val="49494D"/>
                </a:solidFill>
                <a:latin typeface="Lato"/>
              </a:defRPr>
            </a:pPr>
            <a:endParaRPr lang="en-US"/>
          </a:p>
        </c:txPr>
        <c:crossAx val="-2068027336"/>
        <c:crosses val="autoZero"/>
        <c:crossBetween val="between"/>
      </c:valAx>
    </c:plotArea>
    <c:legend>
      <c:legendPos val="t"/>
      <c:overlay val="0"/>
      <c:txPr>
        <a:bodyPr/>
        <a:lstStyle/>
        <a:p>
          <a:pPr>
            <a:defRPr sz="1200">
              <a:solidFill>
                <a:srgbClr val="49494D"/>
              </a:solidFill>
            </a:defRPr>
          </a:pPr>
          <a:endParaRPr lang="en-US"/>
        </a:p>
      </c:txPr>
    </c:legend>
    <c:plotVisOnly val="1"/>
    <c:dispBlanksAs val="gap"/>
    <c:showDLblsOverMax val="1"/>
  </c:chart>
  <c:txPr>
    <a:bodyPr/>
    <a:lstStyle/>
    <a:p>
      <a:pPr>
        <a:defRPr sz="900">
          <a:latin typeface="Lato"/>
        </a:defRPr>
      </a:pPr>
      <a:endParaRPr lang="en-US"/>
    </a:p>
  </c:tx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percentStacked"/>
        <c:varyColors val="1"/>
        <c:ser>
          <c:idx val="0"/>
          <c:order val="0"/>
          <c:tx>
            <c:strRef>
              <c:f>Sheet1!$B$1</c:f>
              <c:strCache>
                <c:ptCount val="1"/>
                <c:pt idx="0">
                  <c:v>Public</c:v>
                </c:pt>
              </c:strCache>
            </c:strRef>
          </c:tx>
          <c:spPr>
            <a:solidFill>
              <a:srgbClr val="000000"/>
            </a:solidFill>
          </c:spPr>
          <c:invertIfNegative val="1"/>
          <c:dLbls>
            <c:dLbl>
              <c:idx val="0"/>
              <c:tx>
                <c:rich>
                  <a:bodyPr/>
                  <a:lstStyle/>
                  <a:p>
                    <a:r>
                      <a:rPr lang="en-US" sz="1100" b="1">
                        <a:solidFill>
                          <a:srgbClr val="FFFFFF"/>
                        </a:solidFill>
                        <a:latin typeface="Lato"/>
                      </a:rPr>
                      <a:t>1,884 (32%)</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DC41-4C1A-A3CA-7A0D5B755274}"/>
                </c:ext>
              </c:extLst>
            </c:dLbl>
            <c:dLbl>
              <c:idx val="1"/>
              <c:tx>
                <c:rich>
                  <a:bodyPr/>
                  <a:lstStyle/>
                  <a:p>
                    <a:r>
                      <a:rPr lang="en-US" sz="1100" b="1">
                        <a:solidFill>
                          <a:srgbClr val="FFFFFF"/>
                        </a:solidFill>
                        <a:latin typeface="Lato"/>
                      </a:rPr>
                      <a:t>1,582 (40%)</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DC41-4C1A-A3CA-7A0D5B755274}"/>
                </c:ext>
              </c:extLst>
            </c:dLbl>
            <c:dLbl>
              <c:idx val="2"/>
              <c:tx>
                <c:rich>
                  <a:bodyPr/>
                  <a:lstStyle/>
                  <a:p>
                    <a:r>
                      <a:rPr lang="en-US" sz="1100" b="1">
                        <a:solidFill>
                          <a:srgbClr val="FFFFFF"/>
                        </a:solidFill>
                        <a:latin typeface="Lato"/>
                      </a:rPr>
                      <a:t>302 (15%)</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DC41-4C1A-A3CA-7A0D5B755274}"/>
                </c:ext>
              </c:extLst>
            </c:dLbl>
            <c:dLbl>
              <c:idx val="3"/>
              <c:tx>
                <c:rich>
                  <a:bodyPr/>
                  <a:lstStyle/>
                  <a:p>
                    <a:r>
                      <a:rPr lang="en-US" sz="1100" b="1">
                        <a:solidFill>
                          <a:srgbClr val="FFFFFF"/>
                        </a:solidFill>
                        <a:latin typeface="Lato"/>
                      </a:rPr>
                      <a:t>756 (29%)</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DC41-4C1A-A3CA-7A0D5B755274}"/>
                </c:ext>
              </c:extLst>
            </c:dLbl>
            <c:dLbl>
              <c:idx val="4"/>
              <c:tx>
                <c:rich>
                  <a:bodyPr/>
                  <a:lstStyle/>
                  <a:p>
                    <a:r>
                      <a:rPr lang="en-US" sz="1100" b="1">
                        <a:solidFill>
                          <a:srgbClr val="FFFFFF"/>
                        </a:solidFill>
                        <a:latin typeface="Lato"/>
                      </a:rPr>
                      <a:t>826 (64%)</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DC41-4C1A-A3CA-7A0D5B75527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All post-secondary (5,839)</c:v>
                </c:pt>
                <c:pt idx="1">
                  <c:v>Degree-granting (3,899)</c:v>
                </c:pt>
                <c:pt idx="2">
                  <c:v>Non-degree granting (1,940)</c:v>
                </c:pt>
                <c:pt idx="3">
                  <c:v>Four-year (2,619)</c:v>
                </c:pt>
                <c:pt idx="4">
                  <c:v>Two-year (1,280)</c:v>
                </c:pt>
              </c:strCache>
            </c:strRef>
          </c:cat>
          <c:val>
            <c:numRef>
              <c:f>Sheet1!$B$2:$B$6</c:f>
              <c:numCache>
                <c:formatCode>General</c:formatCode>
                <c:ptCount val="5"/>
                <c:pt idx="0">
                  <c:v>1884</c:v>
                </c:pt>
                <c:pt idx="1">
                  <c:v>1582</c:v>
                </c:pt>
                <c:pt idx="2">
                  <c:v>302</c:v>
                </c:pt>
                <c:pt idx="3">
                  <c:v>756</c:v>
                </c:pt>
                <c:pt idx="4">
                  <c:v>826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5-DC41-4C1A-A3CA-7A0D5B755274}"/>
            </c:ext>
          </c:extLst>
        </c:ser>
        <c:ser>
          <c:idx val="1"/>
          <c:order val="1"/>
          <c:tx>
            <c:strRef>
              <c:f>Sheet1!$C$1</c:f>
              <c:strCache>
                <c:ptCount val="1"/>
                <c:pt idx="0">
                  <c:v>Private nonprofit</c:v>
                </c:pt>
              </c:strCache>
            </c:strRef>
          </c:tx>
          <c:spPr>
            <a:solidFill>
              <a:srgbClr val="C8102E"/>
            </a:solidFill>
          </c:spPr>
          <c:invertIfNegative val="1"/>
          <c:dLbls>
            <c:dLbl>
              <c:idx val="0"/>
              <c:tx>
                <c:rich>
                  <a:bodyPr/>
                  <a:lstStyle/>
                  <a:p>
                    <a:r>
                      <a:rPr lang="en-US" sz="1100" b="1">
                        <a:solidFill>
                          <a:srgbClr val="FFFFFF"/>
                        </a:solidFill>
                        <a:latin typeface="Lato"/>
                      </a:rPr>
                      <a:t>1,740 (30%)</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DC41-4C1A-A3CA-7A0D5B755274}"/>
                </c:ext>
              </c:extLst>
            </c:dLbl>
            <c:dLbl>
              <c:idx val="1"/>
              <c:tx>
                <c:rich>
                  <a:bodyPr/>
                  <a:lstStyle/>
                  <a:p>
                    <a:r>
                      <a:rPr lang="en-US" sz="1100" b="1">
                        <a:solidFill>
                          <a:srgbClr val="FFFFFF"/>
                        </a:solidFill>
                        <a:latin typeface="Lato"/>
                      </a:rPr>
                      <a:t>1,626 (42%)</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DC41-4C1A-A3CA-7A0D5B755274}"/>
                </c:ext>
              </c:extLst>
            </c:dLbl>
            <c:dLbl>
              <c:idx val="2"/>
              <c:tx>
                <c:rich>
                  <a:bodyPr/>
                  <a:lstStyle/>
                  <a:p>
                    <a:r>
                      <a:rPr lang="en-US" sz="900" b="1">
                        <a:solidFill>
                          <a:srgbClr val="FFFFFF"/>
                        </a:solidFill>
                        <a:latin typeface="Lato"/>
                      </a:rPr>
                      <a:t>6%</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DC41-4C1A-A3CA-7A0D5B755274}"/>
                </c:ext>
              </c:extLst>
            </c:dLbl>
            <c:dLbl>
              <c:idx val="3"/>
              <c:tx>
                <c:rich>
                  <a:bodyPr/>
                  <a:lstStyle/>
                  <a:p>
                    <a:r>
                      <a:rPr lang="en-US" sz="1100" b="1">
                        <a:solidFill>
                          <a:srgbClr val="FFFFFF"/>
                        </a:solidFill>
                        <a:latin typeface="Lato"/>
                      </a:rPr>
                      <a:t>1,541 (59%)</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DC41-4C1A-A3CA-7A0D5B755274}"/>
                </c:ext>
              </c:extLst>
            </c:dLbl>
            <c:dLbl>
              <c:idx val="4"/>
              <c:tx>
                <c:rich>
                  <a:bodyPr/>
                  <a:lstStyle/>
                  <a:p>
                    <a:r>
                      <a:rPr lang="en-US" sz="1100" b="1">
                        <a:solidFill>
                          <a:srgbClr val="FFFFFF"/>
                        </a:solidFill>
                        <a:latin typeface="Lato"/>
                      </a:rPr>
                      <a:t>85 (7%)</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DC41-4C1A-A3CA-7A0D5B75527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All post-secondary (5,839)</c:v>
                </c:pt>
                <c:pt idx="1">
                  <c:v>Degree-granting (3,899)</c:v>
                </c:pt>
                <c:pt idx="2">
                  <c:v>Non-degree granting (1,940)</c:v>
                </c:pt>
                <c:pt idx="3">
                  <c:v>Four-year (2,619)</c:v>
                </c:pt>
                <c:pt idx="4">
                  <c:v>Two-year (1,280)</c:v>
                </c:pt>
              </c:strCache>
            </c:strRef>
          </c:cat>
          <c:val>
            <c:numRef>
              <c:f>Sheet1!$C$2:$C$6</c:f>
              <c:numCache>
                <c:formatCode>General</c:formatCode>
                <c:ptCount val="5"/>
                <c:pt idx="0">
                  <c:v>1740</c:v>
                </c:pt>
                <c:pt idx="1">
                  <c:v>1626</c:v>
                </c:pt>
                <c:pt idx="2">
                  <c:v>114</c:v>
                </c:pt>
                <c:pt idx="3">
                  <c:v>1541</c:v>
                </c:pt>
                <c:pt idx="4">
                  <c:v>85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B-DC41-4C1A-A3CA-7A0D5B755274}"/>
            </c:ext>
          </c:extLst>
        </c:ser>
        <c:ser>
          <c:idx val="2"/>
          <c:order val="2"/>
          <c:tx>
            <c:strRef>
              <c:f>Sheet1!$D$1</c:f>
              <c:strCache>
                <c:ptCount val="1"/>
                <c:pt idx="0">
                  <c:v>Private for-profit</c:v>
                </c:pt>
              </c:strCache>
            </c:strRef>
          </c:tx>
          <c:spPr>
            <a:solidFill>
              <a:srgbClr val="8C8C8C"/>
            </a:solidFill>
          </c:spPr>
          <c:invertIfNegative val="1"/>
          <c:dLbls>
            <c:dLbl>
              <c:idx val="0"/>
              <c:tx>
                <c:rich>
                  <a:bodyPr/>
                  <a:lstStyle/>
                  <a:p>
                    <a:r>
                      <a:rPr lang="en-US" sz="1100" b="1">
                        <a:solidFill>
                          <a:srgbClr val="FFFFFF"/>
                        </a:solidFill>
                        <a:latin typeface="Lato"/>
                      </a:rPr>
                      <a:t>2,215 (38%)</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DC41-4C1A-A3CA-7A0D5B755274}"/>
                </c:ext>
              </c:extLst>
            </c:dLbl>
            <c:dLbl>
              <c:idx val="1"/>
              <c:tx>
                <c:rich>
                  <a:bodyPr/>
                  <a:lstStyle/>
                  <a:p>
                    <a:r>
                      <a:rPr lang="en-US" sz="1100" b="1">
                        <a:solidFill>
                          <a:srgbClr val="FFFFFF"/>
                        </a:solidFill>
                        <a:latin typeface="Lato"/>
                      </a:rPr>
                      <a:t>691 (18%)</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DC41-4C1A-A3CA-7A0D5B755274}"/>
                </c:ext>
              </c:extLst>
            </c:dLbl>
            <c:dLbl>
              <c:idx val="2"/>
              <c:tx>
                <c:rich>
                  <a:bodyPr/>
                  <a:lstStyle/>
                  <a:p>
                    <a:r>
                      <a:rPr lang="en-US" sz="1100" b="1">
                        <a:solidFill>
                          <a:srgbClr val="FFFFFF"/>
                        </a:solidFill>
                        <a:latin typeface="Lato"/>
                      </a:rPr>
                      <a:t>1,524 (79%)</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DC41-4C1A-A3CA-7A0D5B755274}"/>
                </c:ext>
              </c:extLst>
            </c:dLbl>
            <c:dLbl>
              <c:idx val="3"/>
              <c:tx>
                <c:rich>
                  <a:bodyPr/>
                  <a:lstStyle/>
                  <a:p>
                    <a:r>
                      <a:rPr lang="en-US" sz="1100" b="1">
                        <a:solidFill>
                          <a:srgbClr val="FFFFFF"/>
                        </a:solidFill>
                        <a:latin typeface="Lato"/>
                      </a:rPr>
                      <a:t>322 (12%)</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DC41-4C1A-A3CA-7A0D5B755274}"/>
                </c:ext>
              </c:extLst>
            </c:dLbl>
            <c:dLbl>
              <c:idx val="4"/>
              <c:tx>
                <c:rich>
                  <a:bodyPr/>
                  <a:lstStyle/>
                  <a:p>
                    <a:r>
                      <a:rPr lang="en-US" sz="1100" b="1">
                        <a:solidFill>
                          <a:srgbClr val="FFFFFF"/>
                        </a:solidFill>
                        <a:latin typeface="Lato"/>
                      </a:rPr>
                      <a:t>369 (29%)</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DC41-4C1A-A3CA-7A0D5B75527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All post-secondary (5,839)</c:v>
                </c:pt>
                <c:pt idx="1">
                  <c:v>Degree-granting (3,899)</c:v>
                </c:pt>
                <c:pt idx="2">
                  <c:v>Non-degree granting (1,940)</c:v>
                </c:pt>
                <c:pt idx="3">
                  <c:v>Four-year (2,619)</c:v>
                </c:pt>
                <c:pt idx="4">
                  <c:v>Two-year (1,280)</c:v>
                </c:pt>
              </c:strCache>
            </c:strRef>
          </c:cat>
          <c:val>
            <c:numRef>
              <c:f>Sheet1!$D$2:$D$6</c:f>
              <c:numCache>
                <c:formatCode>General</c:formatCode>
                <c:ptCount val="5"/>
                <c:pt idx="0">
                  <c:v>2215</c:v>
                </c:pt>
                <c:pt idx="1">
                  <c:v>691</c:v>
                </c:pt>
                <c:pt idx="2">
                  <c:v>1524</c:v>
                </c:pt>
                <c:pt idx="3">
                  <c:v>322</c:v>
                </c:pt>
                <c:pt idx="4">
                  <c:v>369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11-DC41-4C1A-A3CA-7A0D5B755274}"/>
            </c:ext>
          </c:extLst>
        </c:ser>
        <c:dLbls>
          <c:showLegendKey val="0"/>
          <c:showVal val="0"/>
          <c:showCatName val="0"/>
          <c:showSerName val="0"/>
          <c:showPercent val="0"/>
          <c:showBubbleSize val="0"/>
        </c:dLbls>
        <c:gapWidth val="45"/>
        <c:overlap val="100"/>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000000"/>
            </a:solidFill>
          </a:ln>
        </c:spPr>
        <c:txPr>
          <a:bodyPr/>
          <a:lstStyle/>
          <a:p>
            <a:pPr>
              <a:defRPr sz="1200"/>
            </a:pPr>
            <a:endParaRPr lang="en-US"/>
          </a:p>
        </c:txPr>
        <c:crossAx val="-2113994440"/>
        <c:crosses val="autoZero"/>
        <c:auto val="1"/>
        <c:lblAlgn val="ctr"/>
        <c:lblOffset val="100"/>
        <c:noMultiLvlLbl val="0"/>
      </c:catAx>
      <c:valAx>
        <c:axId val="-2113994440"/>
        <c:scaling>
          <c:orientation val="minMax"/>
        </c:scaling>
        <c:delete val="1"/>
        <c:axPos val="t"/>
        <c:numFmt formatCode="0%" sourceLinked="1"/>
        <c:majorTickMark val="out"/>
        <c:minorTickMark val="none"/>
        <c:tickLblPos val="nextTo"/>
        <c:crossAx val="-2068027336"/>
        <c:crosses val="autoZero"/>
        <c:crossBetween val="between"/>
      </c:valAx>
    </c:plotArea>
    <c:legend>
      <c:legendPos val="t"/>
      <c:overlay val="0"/>
    </c:legend>
    <c:plotVisOnly val="1"/>
    <c:dispBlanksAs val="gap"/>
    <c:showDLblsOverMax val="1"/>
  </c:chart>
  <c:txPr>
    <a:bodyPr/>
    <a:lstStyle/>
    <a:p>
      <a:pPr>
        <a:defRPr sz="1200">
          <a:solidFill>
            <a:srgbClr val="000000"/>
          </a:solidFill>
          <a:latin typeface="Lato"/>
        </a:defRPr>
      </a:pPr>
      <a:endParaRPr lang="en-US"/>
    </a:p>
  </c:tx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Share earning more than parents</c:v>
                </c:pt>
              </c:strCache>
            </c:strRef>
          </c:tx>
          <c:spPr>
            <a:ln w="38100">
              <a:solidFill>
                <a:srgbClr val="C8102E"/>
              </a:solidFill>
            </a:ln>
          </c:spPr>
          <c:marker>
            <c:symbol val="none"/>
          </c:marker>
          <c:dLbls>
            <c:dLbl>
              <c:idx val="0"/>
              <c:tx>
                <c:rich>
                  <a:bodyPr/>
                  <a:lstStyle/>
                  <a:p>
                    <a:r>
                      <a:rPr lang="en-US" sz="1100" b="1">
                        <a:solidFill>
                          <a:srgbClr val="C8102E"/>
                        </a:solidFill>
                        <a:latin typeface="Lato"/>
                      </a:rPr>
                      <a:t>92%</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C7EC-454A-B66B-E335A0651B45}"/>
                </c:ext>
              </c:extLst>
            </c:dLbl>
            <c:dLbl>
              <c:idx val="44"/>
              <c:tx>
                <c:rich>
                  <a:bodyPr/>
                  <a:lstStyle/>
                  <a:p>
                    <a:r>
                      <a:rPr lang="en-US" sz="1100" b="1">
                        <a:solidFill>
                          <a:srgbClr val="C8102E"/>
                        </a:solidFill>
                        <a:latin typeface="Lato"/>
                      </a:rPr>
                      <a:t>50%</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C7EC-454A-B66B-E335A0651B4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Sheet1!$A$2:$A$46</c:f>
              <c:strCache>
                <c:ptCount val="45"/>
                <c:pt idx="0">
                  <c:v>1940</c:v>
                </c:pt>
                <c:pt idx="1">
                  <c:v>1941</c:v>
                </c:pt>
                <c:pt idx="2">
                  <c:v>1942</c:v>
                </c:pt>
                <c:pt idx="3">
                  <c:v>1943</c:v>
                </c:pt>
                <c:pt idx="4">
                  <c:v>1944</c:v>
                </c:pt>
                <c:pt idx="5">
                  <c:v>1945</c:v>
                </c:pt>
                <c:pt idx="6">
                  <c:v>1946</c:v>
                </c:pt>
                <c:pt idx="7">
                  <c:v>1947</c:v>
                </c:pt>
                <c:pt idx="8">
                  <c:v>1948</c:v>
                </c:pt>
                <c:pt idx="9">
                  <c:v>1949</c:v>
                </c:pt>
                <c:pt idx="10">
                  <c:v>1950</c:v>
                </c:pt>
                <c:pt idx="11">
                  <c:v>1951</c:v>
                </c:pt>
                <c:pt idx="12">
                  <c:v>1952</c:v>
                </c:pt>
                <c:pt idx="13">
                  <c:v>1953</c:v>
                </c:pt>
                <c:pt idx="14">
                  <c:v>1954</c:v>
                </c:pt>
                <c:pt idx="15">
                  <c:v>1955</c:v>
                </c:pt>
                <c:pt idx="16">
                  <c:v>1956</c:v>
                </c:pt>
                <c:pt idx="17">
                  <c:v>1957</c:v>
                </c:pt>
                <c:pt idx="18">
                  <c:v>1958</c:v>
                </c:pt>
                <c:pt idx="19">
                  <c:v>1959</c:v>
                </c:pt>
                <c:pt idx="20">
                  <c:v>1960</c:v>
                </c:pt>
                <c:pt idx="21">
                  <c:v>1961</c:v>
                </c:pt>
                <c:pt idx="22">
                  <c:v>1962</c:v>
                </c:pt>
                <c:pt idx="23">
                  <c:v>1963</c:v>
                </c:pt>
                <c:pt idx="24">
                  <c:v>1964</c:v>
                </c:pt>
                <c:pt idx="25">
                  <c:v>1965</c:v>
                </c:pt>
                <c:pt idx="26">
                  <c:v>1966</c:v>
                </c:pt>
                <c:pt idx="27">
                  <c:v>1967</c:v>
                </c:pt>
                <c:pt idx="28">
                  <c:v>1968</c:v>
                </c:pt>
                <c:pt idx="29">
                  <c:v>1969</c:v>
                </c:pt>
                <c:pt idx="30">
                  <c:v>1970</c:v>
                </c:pt>
                <c:pt idx="31">
                  <c:v>1971</c:v>
                </c:pt>
                <c:pt idx="32">
                  <c:v>1972</c:v>
                </c:pt>
                <c:pt idx="33">
                  <c:v>1973</c:v>
                </c:pt>
                <c:pt idx="34">
                  <c:v>1974</c:v>
                </c:pt>
                <c:pt idx="35">
                  <c:v>1975</c:v>
                </c:pt>
                <c:pt idx="36">
                  <c:v>1976</c:v>
                </c:pt>
                <c:pt idx="37">
                  <c:v>1977</c:v>
                </c:pt>
                <c:pt idx="38">
                  <c:v>1978</c:v>
                </c:pt>
                <c:pt idx="39">
                  <c:v>1979</c:v>
                </c:pt>
                <c:pt idx="40">
                  <c:v>1980</c:v>
                </c:pt>
                <c:pt idx="41">
                  <c:v>1981</c:v>
                </c:pt>
                <c:pt idx="42">
                  <c:v>1982</c:v>
                </c:pt>
                <c:pt idx="43">
                  <c:v>1983</c:v>
                </c:pt>
                <c:pt idx="44">
                  <c:v>1984</c:v>
                </c:pt>
              </c:strCache>
            </c:strRef>
          </c:cat>
          <c:val>
            <c:numRef>
              <c:f>Sheet1!$B$2:$B$46</c:f>
              <c:numCache>
                <c:formatCode>General</c:formatCode>
                <c:ptCount val="45"/>
                <c:pt idx="0">
                  <c:v>0.91500002145767212</c:v>
                </c:pt>
                <c:pt idx="1">
                  <c:v>0.89099997282028198</c:v>
                </c:pt>
                <c:pt idx="2">
                  <c:v>0.89600002765655518</c:v>
                </c:pt>
                <c:pt idx="3">
                  <c:v>0.8880000114440918</c:v>
                </c:pt>
                <c:pt idx="4">
                  <c:v>0.89899998903274536</c:v>
                </c:pt>
                <c:pt idx="5">
                  <c:v>0.86400002241134644</c:v>
                </c:pt>
                <c:pt idx="6">
                  <c:v>0.85799998044967651</c:v>
                </c:pt>
                <c:pt idx="7">
                  <c:v>0.8399999737739563</c:v>
                </c:pt>
                <c:pt idx="8">
                  <c:v>0.82099997997283936</c:v>
                </c:pt>
                <c:pt idx="9">
                  <c:v>0.79600000381469727</c:v>
                </c:pt>
                <c:pt idx="10">
                  <c:v>0.7850000262260437</c:v>
                </c:pt>
                <c:pt idx="11">
                  <c:v>0.7839999794960022</c:v>
                </c:pt>
                <c:pt idx="12">
                  <c:v>0.74000000953674316</c:v>
                </c:pt>
                <c:pt idx="13">
                  <c:v>0.70800000429153442</c:v>
                </c:pt>
                <c:pt idx="14">
                  <c:v>0.68199998140335083</c:v>
                </c:pt>
                <c:pt idx="15">
                  <c:v>0.69599997997283936</c:v>
                </c:pt>
                <c:pt idx="16">
                  <c:v>0.67400002479553223</c:v>
                </c:pt>
                <c:pt idx="17">
                  <c:v>0.67299997806549072</c:v>
                </c:pt>
                <c:pt idx="18">
                  <c:v>0.67100000381469727</c:v>
                </c:pt>
                <c:pt idx="19">
                  <c:v>0.65299999713897705</c:v>
                </c:pt>
                <c:pt idx="20">
                  <c:v>0.62300002574920654</c:v>
                </c:pt>
                <c:pt idx="21">
                  <c:v>0.60100001096725464</c:v>
                </c:pt>
                <c:pt idx="22">
                  <c:v>0.58300000429153442</c:v>
                </c:pt>
                <c:pt idx="23">
                  <c:v>0.57599997520446777</c:v>
                </c:pt>
                <c:pt idx="24">
                  <c:v>0.56499999761581421</c:v>
                </c:pt>
                <c:pt idx="25">
                  <c:v>0.59299999475479126</c:v>
                </c:pt>
                <c:pt idx="26">
                  <c:v>0.57499998807907104</c:v>
                </c:pt>
                <c:pt idx="27">
                  <c:v>0.57800000905990601</c:v>
                </c:pt>
                <c:pt idx="28">
                  <c:v>0.60100001096725464</c:v>
                </c:pt>
                <c:pt idx="29">
                  <c:v>0.59399998188018799</c:v>
                </c:pt>
                <c:pt idx="30">
                  <c:v>0.61000001430511475</c:v>
                </c:pt>
                <c:pt idx="31">
                  <c:v>0.6119999885559082</c:v>
                </c:pt>
                <c:pt idx="32">
                  <c:v>0.60799998044967651</c:v>
                </c:pt>
                <c:pt idx="33">
                  <c:v>0.59899997711181641</c:v>
                </c:pt>
                <c:pt idx="34">
                  <c:v>0.57999998331069946</c:v>
                </c:pt>
                <c:pt idx="35">
                  <c:v>0.58600002527236938</c:v>
                </c:pt>
                <c:pt idx="36">
                  <c:v>0.54900002479553223</c:v>
                </c:pt>
                <c:pt idx="37">
                  <c:v>0.56599998474121094</c:v>
                </c:pt>
                <c:pt idx="38">
                  <c:v>0.55699998140335083</c:v>
                </c:pt>
                <c:pt idx="39">
                  <c:v>0.5429999828338623</c:v>
                </c:pt>
                <c:pt idx="40">
                  <c:v>0.5</c:v>
                </c:pt>
                <c:pt idx="41">
                  <c:v>0.53200000524520874</c:v>
                </c:pt>
                <c:pt idx="42">
                  <c:v>0.5429999828338623</c:v>
                </c:pt>
                <c:pt idx="43">
                  <c:v>0.52700001001358032</c:v>
                </c:pt>
                <c:pt idx="44">
                  <c:v>0.50300002098083496</c:v>
                </c:pt>
              </c:numCache>
            </c:numRef>
          </c:val>
          <c:smooth val="0"/>
          <c:extLst>
            <c:ext xmlns:c16="http://schemas.microsoft.com/office/drawing/2014/chart" uri="{C3380CC4-5D6E-409C-BE32-E72D297353CC}">
              <c16:uniqueId val="{00000002-C7EC-454A-B66B-E335A0651B45}"/>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000000"/>
            </a:solidFill>
          </a:ln>
        </c:spPr>
        <c:crossAx val="2140495176"/>
        <c:crosses val="autoZero"/>
        <c:auto val="1"/>
        <c:lblAlgn val="ctr"/>
        <c:lblOffset val="100"/>
        <c:tickLblSkip val="4"/>
        <c:tickMarkSkip val="4"/>
        <c:noMultiLvlLbl val="0"/>
      </c:catAx>
      <c:valAx>
        <c:axId val="2140495176"/>
        <c:scaling>
          <c:orientation val="minMax"/>
          <c:max val="1"/>
          <c:min val="0.4"/>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crossBetween val="between"/>
        <c:majorUnit val="0.1"/>
      </c:valAx>
    </c:plotArea>
    <c:plotVisOnly val="1"/>
    <c:dispBlanksAs val="gap"/>
    <c:showDLblsOverMax val="0"/>
  </c:chart>
  <c:txPr>
    <a:bodyPr/>
    <a:lstStyle/>
    <a:p>
      <a:pPr>
        <a:defRPr sz="1200">
          <a:solidFill>
            <a:srgbClr val="000000"/>
          </a:solidFill>
          <a:latin typeface="Lato"/>
        </a:defRPr>
      </a:pPr>
      <a:endParaRPr lang="en-US"/>
    </a:p>
  </c:tx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Median weekly earnings</c:v>
                </c:pt>
              </c:strCache>
            </c:strRef>
          </c:tx>
          <c:spPr>
            <a:solidFill>
              <a:srgbClr val="000000"/>
            </a:solidFill>
          </c:spPr>
          <c:invertIfNegative val="1"/>
          <c:dPt>
            <c:idx val="4"/>
            <c:invertIfNegative val="1"/>
            <c:bubble3D val="0"/>
            <c:spPr>
              <a:solidFill>
                <a:srgbClr val="C8102E"/>
              </a:solidFill>
            </c:spPr>
            <c:extLst>
              <c:ext xmlns:c16="http://schemas.microsoft.com/office/drawing/2014/chart" uri="{C3380CC4-5D6E-409C-BE32-E72D297353CC}">
                <c16:uniqueId val="{00000001-57AB-46AD-91A4-C40E42600CA8}"/>
              </c:ext>
            </c:extLst>
          </c:dPt>
          <c:dLbls>
            <c:numFmt formatCode="&quot;$&quot;#,##0" sourceLinked="0"/>
            <c:spPr>
              <a:noFill/>
              <a:ln>
                <a:noFill/>
              </a:ln>
              <a:effectLst/>
            </c:spPr>
            <c:txPr>
              <a:bodyPr/>
              <a:lstStyle/>
              <a:p>
                <a:pPr>
                  <a:defRPr sz="1100">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Less than H.S.</c:v>
                </c:pt>
                <c:pt idx="1">
                  <c:v>High school</c:v>
                </c:pt>
                <c:pt idx="2">
                  <c:v>Some college</c:v>
                </c:pt>
                <c:pt idx="3">
                  <c:v>Associate</c:v>
                </c:pt>
                <c:pt idx="4">
                  <c:v>Bachelor’s</c:v>
                </c:pt>
                <c:pt idx="5">
                  <c:v>Master’s</c:v>
                </c:pt>
                <c:pt idx="6">
                  <c:v>Professional</c:v>
                </c:pt>
                <c:pt idx="7">
                  <c:v>Doctoral</c:v>
                </c:pt>
              </c:strCache>
            </c:strRef>
          </c:cat>
          <c:val>
            <c:numRef>
              <c:f>Sheet1!$B$2:$B$9</c:f>
              <c:numCache>
                <c:formatCode>General</c:formatCode>
                <c:ptCount val="8"/>
                <c:pt idx="0">
                  <c:v>770</c:v>
                </c:pt>
                <c:pt idx="1">
                  <c:v>966</c:v>
                </c:pt>
                <c:pt idx="2">
                  <c:v>1062</c:v>
                </c:pt>
                <c:pt idx="3">
                  <c:v>1135</c:v>
                </c:pt>
                <c:pt idx="4">
                  <c:v>1578</c:v>
                </c:pt>
                <c:pt idx="5">
                  <c:v>1876</c:v>
                </c:pt>
                <c:pt idx="6">
                  <c:v>2294</c:v>
                </c:pt>
                <c:pt idx="7">
                  <c:v>2307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57AB-46AD-91A4-C40E42600CA8}"/>
            </c:ext>
          </c:extLst>
        </c:ser>
        <c:dLbls>
          <c:dLblPos val="outEnd"/>
          <c:showLegendKey val="0"/>
          <c:showVal val="1"/>
          <c:showCatName val="0"/>
          <c:showSerName val="0"/>
          <c:showPercent val="0"/>
          <c:showBubbleSize val="0"/>
        </c:dLbls>
        <c:gapWidth val="4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txPr>
          <a:bodyPr/>
          <a:lstStyle/>
          <a:p>
            <a:pPr>
              <a:defRPr sz="1000"/>
            </a:pPr>
            <a:endParaRPr lang="en-US"/>
          </a:p>
        </c:txPr>
        <c:crossAx val="-2113994440"/>
        <c:crosses val="autoZero"/>
        <c:auto val="1"/>
        <c:lblAlgn val="ctr"/>
        <c:lblOffset val="100"/>
        <c:noMultiLvlLbl val="0"/>
      </c:catAx>
      <c:valAx>
        <c:axId val="-2113994440"/>
        <c:scaling>
          <c:orientation val="minMax"/>
          <c:max val="2600"/>
          <c:min val="0"/>
        </c:scaling>
        <c:delete val="0"/>
        <c:axPos val="l"/>
        <c:majorGridlines>
          <c:spPr>
            <a:ln w="6350">
              <a:solidFill>
                <a:srgbClr val="D9D9D9"/>
              </a:solidFill>
            </a:ln>
          </c:spPr>
        </c:majorGridlines>
        <c:numFmt formatCode="&quot;$&quot;#,##0" sourceLinked="0"/>
        <c:majorTickMark val="out"/>
        <c:minorTickMark val="none"/>
        <c:tickLblPos val="nextTo"/>
        <c:spPr>
          <a:ln>
            <a:noFill/>
          </a:ln>
        </c:spPr>
        <c:crossAx val="-2068027336"/>
        <c:crosses val="autoZero"/>
        <c:crossBetween val="between"/>
        <c:majorUnit val="500"/>
      </c:valAx>
    </c:plotArea>
    <c:plotVisOnly val="1"/>
    <c:dispBlanksAs val="gap"/>
    <c:showDLblsOverMax val="1"/>
  </c:chart>
  <c:txPr>
    <a:bodyPr/>
    <a:lstStyle/>
    <a:p>
      <a:pPr>
        <a:defRPr sz="1100">
          <a:solidFill>
            <a:srgbClr val="000000"/>
          </a:solidFill>
          <a:latin typeface="Lato"/>
        </a:defRPr>
      </a:pPr>
      <a:endParaRPr lang="en-US"/>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Unemployment rate</c:v>
                </c:pt>
              </c:strCache>
            </c:strRef>
          </c:tx>
          <c:spPr>
            <a:solidFill>
              <a:srgbClr val="C8102E"/>
            </a:solidFill>
          </c:spPr>
          <c:invertIfNegative val="1"/>
          <c:dLbls>
            <c:numFmt formatCode="0.0%" sourceLinked="0"/>
            <c:spPr>
              <a:noFill/>
              <a:ln>
                <a:noFill/>
              </a:ln>
              <a:effectLst/>
            </c:spPr>
            <c:txPr>
              <a:bodyPr/>
              <a:lstStyle/>
              <a:p>
                <a:pPr>
                  <a:defRPr sz="1000">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Less than H.S.</c:v>
                </c:pt>
                <c:pt idx="1">
                  <c:v>High school</c:v>
                </c:pt>
                <c:pt idx="2">
                  <c:v>Some college</c:v>
                </c:pt>
                <c:pt idx="3">
                  <c:v>Associate</c:v>
                </c:pt>
                <c:pt idx="4">
                  <c:v>Bachelor’s</c:v>
                </c:pt>
                <c:pt idx="5">
                  <c:v>Master’s</c:v>
                </c:pt>
                <c:pt idx="6">
                  <c:v>Professional</c:v>
                </c:pt>
                <c:pt idx="7">
                  <c:v>Doctoral</c:v>
                </c:pt>
              </c:strCache>
            </c:strRef>
          </c:cat>
          <c:val>
            <c:numRef>
              <c:f>Sheet1!$B$2:$B$9</c:f>
              <c:numCache>
                <c:formatCode>General</c:formatCode>
                <c:ptCount val="8"/>
                <c:pt idx="0">
                  <c:v>6.0999999999999999E-2</c:v>
                </c:pt>
                <c:pt idx="1">
                  <c:v>4.2999999999999997E-2</c:v>
                </c:pt>
                <c:pt idx="2">
                  <c:v>3.7999999999999999E-2</c:v>
                </c:pt>
                <c:pt idx="3">
                  <c:v>0.03</c:v>
                </c:pt>
                <c:pt idx="4">
                  <c:v>2.8000000000000001E-2</c:v>
                </c:pt>
                <c:pt idx="5">
                  <c:v>2.5999999999999999E-2</c:v>
                </c:pt>
                <c:pt idx="6">
                  <c:v>1.9E-2</c:v>
                </c:pt>
                <c:pt idx="7">
                  <c:v>1.7999999999999999E-2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5471-41D4-A561-0AE9CBE65D4C}"/>
            </c:ext>
          </c:extLst>
        </c:ser>
        <c:dLbls>
          <c:dLblPos val="outEnd"/>
          <c:showLegendKey val="0"/>
          <c:showVal val="1"/>
          <c:showCatName val="0"/>
          <c:showSerName val="0"/>
          <c:showPercent val="0"/>
          <c:showBubbleSize val="0"/>
        </c:dLbls>
        <c:gapWidth val="40"/>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000000"/>
            </a:solidFill>
          </a:ln>
        </c:spPr>
        <c:txPr>
          <a:bodyPr/>
          <a:lstStyle/>
          <a:p>
            <a:pPr>
              <a:defRPr sz="1000"/>
            </a:pPr>
            <a:endParaRPr lang="en-US"/>
          </a:p>
        </c:txPr>
        <c:crossAx val="-2113994440"/>
        <c:crosses val="autoZero"/>
        <c:auto val="1"/>
        <c:lblAlgn val="ctr"/>
        <c:lblOffset val="100"/>
        <c:noMultiLvlLbl val="0"/>
      </c:catAx>
      <c:valAx>
        <c:axId val="-2113994440"/>
        <c:scaling>
          <c:orientation val="minMax"/>
          <c:max val="7.0000000000000007E-2"/>
          <c:min val="0"/>
        </c:scaling>
        <c:delete val="0"/>
        <c:axPos val="t"/>
        <c:majorGridlines>
          <c:spPr>
            <a:ln w="6350">
              <a:solidFill>
                <a:srgbClr val="D9D9D9"/>
              </a:solidFill>
            </a:ln>
          </c:spPr>
        </c:majorGridlines>
        <c:numFmt formatCode="0.0%" sourceLinked="0"/>
        <c:majorTickMark val="out"/>
        <c:minorTickMark val="none"/>
        <c:tickLblPos val="high"/>
        <c:spPr>
          <a:ln>
            <a:noFill/>
          </a:ln>
        </c:spPr>
        <c:crossAx val="-2068027336"/>
        <c:crosses val="autoZero"/>
        <c:crossBetween val="between"/>
        <c:majorUnit val="0.02"/>
      </c:valAx>
    </c:plotArea>
    <c:plotVisOnly val="1"/>
    <c:dispBlanksAs val="gap"/>
    <c:showDLblsOverMax val="1"/>
  </c:chart>
  <c:txPr>
    <a:bodyPr/>
    <a:lstStyle/>
    <a:p>
      <a:pPr>
        <a:defRPr sz="1100">
          <a:solidFill>
            <a:srgbClr val="000000"/>
          </a:solidFill>
          <a:latin typeface="Lato"/>
        </a:defRPr>
      </a:pPr>
      <a:endParaRPr lang="en-US"/>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High school degree / no four-year degree</c:v>
                </c:pt>
              </c:strCache>
            </c:strRef>
          </c:tx>
          <c:spPr>
            <a:solidFill>
              <a:srgbClr val="8C8C8C"/>
            </a:solidFill>
          </c:spPr>
          <c:invertIfNegative val="1"/>
          <c:dLbls>
            <c:numFmt formatCode="&quot;$&quot;0" sourceLinked="0"/>
            <c:spPr>
              <a:noFill/>
              <a:ln>
                <a:noFill/>
              </a:ln>
              <a:effectLst/>
            </c:spPr>
            <c:txPr>
              <a:bodyPr/>
              <a:lstStyle/>
              <a:p>
                <a:pPr>
                  <a:defRPr sz="1200">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1965</c:v>
                </c:pt>
                <c:pt idx="1">
                  <c:v>1975</c:v>
                </c:pt>
                <c:pt idx="2">
                  <c:v>1985</c:v>
                </c:pt>
                <c:pt idx="3">
                  <c:v>1995</c:v>
                </c:pt>
                <c:pt idx="4">
                  <c:v>2005</c:v>
                </c:pt>
                <c:pt idx="5">
                  <c:v>2014</c:v>
                </c:pt>
              </c:strCache>
            </c:strRef>
          </c:cat>
          <c:val>
            <c:numRef>
              <c:f>Sheet1!$B$2:$B$7</c:f>
              <c:numCache>
                <c:formatCode>General</c:formatCode>
                <c:ptCount val="6"/>
                <c:pt idx="0">
                  <c:v>40</c:v>
                </c:pt>
                <c:pt idx="1">
                  <c:v>49</c:v>
                </c:pt>
                <c:pt idx="2">
                  <c:v>48</c:v>
                </c:pt>
                <c:pt idx="3">
                  <c:v>48</c:v>
                </c:pt>
                <c:pt idx="4">
                  <c:v>47</c:v>
                </c:pt>
                <c:pt idx="5">
                  <c:v>50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D109-4C0F-A3A9-6B5A20038A89}"/>
            </c:ext>
          </c:extLst>
        </c:ser>
        <c:ser>
          <c:idx val="1"/>
          <c:order val="1"/>
          <c:tx>
            <c:strRef>
              <c:f>Sheet1!$C$1</c:f>
              <c:strCache>
                <c:ptCount val="1"/>
                <c:pt idx="0">
                  <c:v>Four-year college degree</c:v>
                </c:pt>
              </c:strCache>
            </c:strRef>
          </c:tx>
          <c:spPr>
            <a:solidFill>
              <a:srgbClr val="C8102E"/>
            </a:solidFill>
          </c:spPr>
          <c:invertIfNegative val="1"/>
          <c:dLbls>
            <c:numFmt formatCode="&quot;$&quot;0" sourceLinked="0"/>
            <c:spPr>
              <a:noFill/>
              <a:ln>
                <a:noFill/>
              </a:ln>
              <a:effectLst/>
            </c:spPr>
            <c:txPr>
              <a:bodyPr/>
              <a:lstStyle/>
              <a:p>
                <a:pPr>
                  <a:defRPr sz="1200">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1965</c:v>
                </c:pt>
                <c:pt idx="1">
                  <c:v>1975</c:v>
                </c:pt>
                <c:pt idx="2">
                  <c:v>1985</c:v>
                </c:pt>
                <c:pt idx="3">
                  <c:v>1995</c:v>
                </c:pt>
                <c:pt idx="4">
                  <c:v>2005</c:v>
                </c:pt>
                <c:pt idx="5">
                  <c:v>2014</c:v>
                </c:pt>
              </c:strCache>
            </c:strRef>
          </c:cat>
          <c:val>
            <c:numRef>
              <c:f>Sheet1!$C$2:$C$7</c:f>
              <c:numCache>
                <c:formatCode>General</c:formatCode>
                <c:ptCount val="6"/>
                <c:pt idx="0">
                  <c:v>51</c:v>
                </c:pt>
                <c:pt idx="1">
                  <c:v>62</c:v>
                </c:pt>
                <c:pt idx="2">
                  <c:v>64</c:v>
                </c:pt>
                <c:pt idx="3">
                  <c:v>70</c:v>
                </c:pt>
                <c:pt idx="4">
                  <c:v>76</c:v>
                </c:pt>
                <c:pt idx="5">
                  <c:v>89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D109-4C0F-A3A9-6B5A20038A89}"/>
            </c:ext>
          </c:extLst>
        </c:ser>
        <c:dLbls>
          <c:dLblPos val="outEnd"/>
          <c:showLegendKey val="0"/>
          <c:showVal val="1"/>
          <c:showCatName val="0"/>
          <c:showSerName val="0"/>
          <c:showPercent val="0"/>
          <c:showBubbleSize val="0"/>
        </c:dLbls>
        <c:gapWidth val="60"/>
        <c:overlap val="-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crossAx val="-2113994440"/>
        <c:crosses val="autoZero"/>
        <c:auto val="1"/>
        <c:lblAlgn val="ctr"/>
        <c:lblOffset val="100"/>
        <c:noMultiLvlLbl val="0"/>
      </c:catAx>
      <c:valAx>
        <c:axId val="-2113994440"/>
        <c:scaling>
          <c:orientation val="minMax"/>
          <c:max val="100"/>
          <c:min val="0"/>
        </c:scaling>
        <c:delete val="0"/>
        <c:axPos val="l"/>
        <c:majorGridlines>
          <c:spPr>
            <a:ln w="6350">
              <a:solidFill>
                <a:srgbClr val="D9D9D9"/>
              </a:solidFill>
            </a:ln>
          </c:spPr>
        </c:majorGridlines>
        <c:numFmt formatCode="&quot;$&quot;0" sourceLinked="0"/>
        <c:majorTickMark val="out"/>
        <c:minorTickMark val="none"/>
        <c:tickLblPos val="nextTo"/>
        <c:spPr>
          <a:ln>
            <a:noFill/>
          </a:ln>
        </c:spPr>
        <c:crossAx val="-2068027336"/>
        <c:crosses val="autoZero"/>
        <c:crossBetween val="between"/>
        <c:majorUnit val="20"/>
      </c:valAx>
    </c:plotArea>
    <c:legend>
      <c:legendPos val="t"/>
      <c:overlay val="0"/>
    </c:legend>
    <c:plotVisOnly val="1"/>
    <c:dispBlanksAs val="gap"/>
    <c:showDLblsOverMax val="1"/>
  </c:chart>
  <c:txPr>
    <a:bodyPr/>
    <a:lstStyle/>
    <a:p>
      <a:pPr>
        <a:defRPr sz="1200">
          <a:solidFill>
            <a:srgbClr val="000000"/>
          </a:solidFill>
          <a:latin typeface="Lato"/>
        </a:defRPr>
      </a:pPr>
      <a:endParaRPr lang="en-US"/>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billion</c:v>
                </c:pt>
              </c:strCache>
            </c:strRef>
          </c:tx>
          <c:spPr>
            <a:solidFill>
              <a:srgbClr val="8C8C8C"/>
            </a:solidFill>
          </c:spPr>
          <c:invertIfNegative val="1"/>
          <c:dPt>
            <c:idx val="15"/>
            <c:invertIfNegative val="1"/>
            <c:bubble3D val="0"/>
            <c:spPr>
              <a:solidFill>
                <a:srgbClr val="C8102E"/>
              </a:solidFill>
            </c:spPr>
            <c:extLst>
              <c:ext xmlns:c16="http://schemas.microsoft.com/office/drawing/2014/chart" uri="{C3380CC4-5D6E-409C-BE32-E72D297353CC}">
                <c16:uniqueId val="{00000001-A953-4488-BD8D-26CC3F0FDB34}"/>
              </c:ext>
            </c:extLst>
          </c:dPt>
          <c:dPt>
            <c:idx val="26"/>
            <c:invertIfNegative val="1"/>
            <c:bubble3D val="0"/>
            <c:spPr>
              <a:solidFill>
                <a:srgbClr val="C8102E"/>
              </a:solidFill>
            </c:spPr>
            <c:extLst>
              <c:ext xmlns:c16="http://schemas.microsoft.com/office/drawing/2014/chart" uri="{C3380CC4-5D6E-409C-BE32-E72D297353CC}">
                <c16:uniqueId val="{00000003-A953-4488-BD8D-26CC3F0FDB34}"/>
              </c:ext>
            </c:extLst>
          </c:dPt>
          <c:dLbls>
            <c:dLbl>
              <c:idx val="0"/>
              <c:tx>
                <c:rich>
                  <a:bodyPr/>
                  <a:lstStyle/>
                  <a:p>
                    <a:r>
                      <a:rPr lang="en-US" sz="900" b="0">
                        <a:solidFill>
                          <a:srgbClr val="000000"/>
                        </a:solidFill>
                        <a:latin typeface="Lato"/>
                      </a:rPr>
                      <a:t>$159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A953-4488-BD8D-26CC3F0FDB34}"/>
                </c:ext>
              </c:extLst>
            </c:dLbl>
            <c:dLbl>
              <c:idx val="1"/>
              <c:tx>
                <c:rich>
                  <a:bodyPr/>
                  <a:lstStyle/>
                  <a:p>
                    <a:r>
                      <a:rPr lang="en-US" sz="900" b="0">
                        <a:solidFill>
                          <a:srgbClr val="000000"/>
                        </a:solidFill>
                        <a:latin typeface="Lato"/>
                      </a:rPr>
                      <a:t>$158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A953-4488-BD8D-26CC3F0FDB34}"/>
                </c:ext>
              </c:extLst>
            </c:dLbl>
            <c:dLbl>
              <c:idx val="2"/>
              <c:tx>
                <c:rich>
                  <a:bodyPr/>
                  <a:lstStyle/>
                  <a:p>
                    <a:r>
                      <a:rPr lang="en-US" sz="900" b="0">
                        <a:solidFill>
                          <a:srgbClr val="000000"/>
                        </a:solidFill>
                        <a:latin typeface="Lato"/>
                      </a:rPr>
                      <a:t>$129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A953-4488-BD8D-26CC3F0FDB34}"/>
                </c:ext>
              </c:extLst>
            </c:dLbl>
            <c:dLbl>
              <c:idx val="3"/>
              <c:tx>
                <c:rich>
                  <a:bodyPr/>
                  <a:lstStyle/>
                  <a:p>
                    <a:r>
                      <a:rPr lang="en-US" sz="900" b="0">
                        <a:solidFill>
                          <a:srgbClr val="000000"/>
                        </a:solidFill>
                        <a:latin typeface="Lato"/>
                      </a:rPr>
                      <a:t>$110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A953-4488-BD8D-26CC3F0FDB34}"/>
                </c:ext>
              </c:extLst>
            </c:dLbl>
            <c:dLbl>
              <c:idx val="4"/>
              <c:tx>
                <c:rich>
                  <a:bodyPr/>
                  <a:lstStyle/>
                  <a:p>
                    <a:r>
                      <a:rPr lang="en-US" sz="900" b="0">
                        <a:solidFill>
                          <a:srgbClr val="000000"/>
                        </a:solidFill>
                        <a:latin typeface="Lato"/>
                      </a:rPr>
                      <a:t>$109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A953-4488-BD8D-26CC3F0FDB34}"/>
                </c:ext>
              </c:extLst>
            </c:dLbl>
            <c:dLbl>
              <c:idx val="5"/>
              <c:tx>
                <c:rich>
                  <a:bodyPr/>
                  <a:lstStyle/>
                  <a:p>
                    <a:r>
                      <a:rPr lang="en-US" sz="900" b="0">
                        <a:solidFill>
                          <a:srgbClr val="000000"/>
                        </a:solidFill>
                        <a:latin typeface="Lato"/>
                      </a:rPr>
                      <a:t>$108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A953-4488-BD8D-26CC3F0FDB34}"/>
                </c:ext>
              </c:extLst>
            </c:dLbl>
            <c:dLbl>
              <c:idx val="6"/>
              <c:tx>
                <c:rich>
                  <a:bodyPr/>
                  <a:lstStyle/>
                  <a:p>
                    <a:r>
                      <a:rPr lang="en-US" sz="900" b="0">
                        <a:solidFill>
                          <a:srgbClr val="000000"/>
                        </a:solidFill>
                        <a:latin typeface="Lato"/>
                      </a:rPr>
                      <a:t>$99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A953-4488-BD8D-26CC3F0FDB34}"/>
                </c:ext>
              </c:extLst>
            </c:dLbl>
            <c:dLbl>
              <c:idx val="7"/>
              <c:tx>
                <c:rich>
                  <a:bodyPr/>
                  <a:lstStyle/>
                  <a:p>
                    <a:r>
                      <a:rPr lang="en-US" sz="900" b="0">
                        <a:solidFill>
                          <a:srgbClr val="000000"/>
                        </a:solidFill>
                        <a:latin typeface="Lato"/>
                      </a:rPr>
                      <a:t>$91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A953-4488-BD8D-26CC3F0FDB34}"/>
                </c:ext>
              </c:extLst>
            </c:dLbl>
            <c:dLbl>
              <c:idx val="8"/>
              <c:tx>
                <c:rich>
                  <a:bodyPr/>
                  <a:lstStyle/>
                  <a:p>
                    <a:r>
                      <a:rPr lang="en-US" sz="900" b="0">
                        <a:solidFill>
                          <a:srgbClr val="000000"/>
                        </a:solidFill>
                        <a:latin typeface="Lato"/>
                      </a:rPr>
                      <a:t>$89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A953-4488-BD8D-26CC3F0FDB34}"/>
                </c:ext>
              </c:extLst>
            </c:dLbl>
            <c:dLbl>
              <c:idx val="9"/>
              <c:tx>
                <c:rich>
                  <a:bodyPr/>
                  <a:lstStyle/>
                  <a:p>
                    <a:r>
                      <a:rPr lang="en-US" sz="900" b="0">
                        <a:solidFill>
                          <a:srgbClr val="000000"/>
                        </a:solidFill>
                        <a:latin typeface="Lato"/>
                      </a:rPr>
                      <a:t>$79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A953-4488-BD8D-26CC3F0FDB34}"/>
                </c:ext>
              </c:extLst>
            </c:dLbl>
            <c:dLbl>
              <c:idx val="10"/>
              <c:tx>
                <c:rich>
                  <a:bodyPr/>
                  <a:lstStyle/>
                  <a:p>
                    <a:r>
                      <a:rPr lang="en-US" sz="900" b="0">
                        <a:solidFill>
                          <a:srgbClr val="000000"/>
                        </a:solidFill>
                        <a:latin typeface="Lato"/>
                      </a:rPr>
                      <a:t>$78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A953-4488-BD8D-26CC3F0FDB34}"/>
                </c:ext>
              </c:extLst>
            </c:dLbl>
            <c:dLbl>
              <c:idx val="11"/>
              <c:tx>
                <c:rich>
                  <a:bodyPr/>
                  <a:lstStyle/>
                  <a:p>
                    <a:r>
                      <a:rPr lang="en-US" sz="900" b="0">
                        <a:solidFill>
                          <a:srgbClr val="000000"/>
                        </a:solidFill>
                        <a:latin typeface="Lato"/>
                      </a:rPr>
                      <a:t>$62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A953-4488-BD8D-26CC3F0FDB34}"/>
                </c:ext>
              </c:extLst>
            </c:dLbl>
            <c:dLbl>
              <c:idx val="12"/>
              <c:tx>
                <c:rich>
                  <a:bodyPr/>
                  <a:lstStyle/>
                  <a:p>
                    <a:r>
                      <a:rPr lang="en-US" sz="900" b="0">
                        <a:solidFill>
                          <a:srgbClr val="000000"/>
                        </a:solidFill>
                        <a:latin typeface="Lato"/>
                      </a:rPr>
                      <a:t>$59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A953-4488-BD8D-26CC3F0FDB34}"/>
                </c:ext>
              </c:extLst>
            </c:dLbl>
            <c:dLbl>
              <c:idx val="13"/>
              <c:tx>
                <c:rich>
                  <a:bodyPr/>
                  <a:lstStyle/>
                  <a:p>
                    <a:r>
                      <a:rPr lang="en-US" sz="900" b="0">
                        <a:solidFill>
                          <a:srgbClr val="000000"/>
                        </a:solidFill>
                        <a:latin typeface="Lato"/>
                      </a:rPr>
                      <a:t>$50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A953-4488-BD8D-26CC3F0FDB34}"/>
                </c:ext>
              </c:extLst>
            </c:dLbl>
            <c:dLbl>
              <c:idx val="14"/>
              <c:tx>
                <c:rich>
                  <a:bodyPr/>
                  <a:lstStyle/>
                  <a:p>
                    <a:r>
                      <a:rPr lang="en-US" sz="900" b="0">
                        <a:solidFill>
                          <a:srgbClr val="000000"/>
                        </a:solidFill>
                        <a:latin typeface="Lato"/>
                      </a:rPr>
                      <a:t>$49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A953-4488-BD8D-26CC3F0FDB34}"/>
                </c:ext>
              </c:extLst>
            </c:dLbl>
            <c:dLbl>
              <c:idx val="15"/>
              <c:tx>
                <c:rich>
                  <a:bodyPr/>
                  <a:lstStyle/>
                  <a:p>
                    <a:r>
                      <a:rPr lang="en-US" sz="900" b="1">
                        <a:solidFill>
                          <a:srgbClr val="C8102E"/>
                        </a:solidFill>
                        <a:latin typeface="Lato"/>
                      </a:rPr>
                      <a:t>$48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A953-4488-BD8D-26CC3F0FDB34}"/>
                </c:ext>
              </c:extLst>
            </c:dLbl>
            <c:dLbl>
              <c:idx val="16"/>
              <c:tx>
                <c:rich>
                  <a:bodyPr/>
                  <a:lstStyle/>
                  <a:p>
                    <a:r>
                      <a:rPr lang="en-US" sz="900" b="0">
                        <a:solidFill>
                          <a:srgbClr val="000000"/>
                        </a:solidFill>
                        <a:latin typeface="Lato"/>
                      </a:rPr>
                      <a:t>$36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3-A953-4488-BD8D-26CC3F0FDB34}"/>
                </c:ext>
              </c:extLst>
            </c:dLbl>
            <c:dLbl>
              <c:idx val="17"/>
              <c:tx>
                <c:rich>
                  <a:bodyPr/>
                  <a:lstStyle/>
                  <a:p>
                    <a:r>
                      <a:rPr lang="en-US" sz="900" b="0">
                        <a:solidFill>
                          <a:srgbClr val="000000"/>
                        </a:solidFill>
                        <a:latin typeface="Lato"/>
                      </a:rPr>
                      <a:t>$23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A953-4488-BD8D-26CC3F0FDB34}"/>
                </c:ext>
              </c:extLst>
            </c:dLbl>
            <c:dLbl>
              <c:idx val="18"/>
              <c:tx>
                <c:rich>
                  <a:bodyPr/>
                  <a:lstStyle/>
                  <a:p>
                    <a:r>
                      <a:rPr lang="en-US" sz="900" b="0">
                        <a:solidFill>
                          <a:srgbClr val="000000"/>
                        </a:solidFill>
                        <a:latin typeface="Lato"/>
                      </a:rPr>
                      <a:t>$22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5-A953-4488-BD8D-26CC3F0FDB34}"/>
                </c:ext>
              </c:extLst>
            </c:dLbl>
            <c:dLbl>
              <c:idx val="19"/>
              <c:tx>
                <c:rich>
                  <a:bodyPr/>
                  <a:lstStyle/>
                  <a:p>
                    <a:r>
                      <a:rPr lang="en-US" sz="900" b="0">
                        <a:solidFill>
                          <a:srgbClr val="000000"/>
                        </a:solidFill>
                        <a:latin typeface="Lato"/>
                      </a:rPr>
                      <a:t>$16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6-A953-4488-BD8D-26CC3F0FDB34}"/>
                </c:ext>
              </c:extLst>
            </c:dLbl>
            <c:dLbl>
              <c:idx val="20"/>
              <c:tx>
                <c:rich>
                  <a:bodyPr/>
                  <a:lstStyle/>
                  <a:p>
                    <a:r>
                      <a:rPr lang="en-US" sz="900" b="0">
                        <a:solidFill>
                          <a:srgbClr val="000000"/>
                        </a:solidFill>
                        <a:latin typeface="Lato"/>
                      </a:rPr>
                      <a:t>$15</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7-A953-4488-BD8D-26CC3F0FDB34}"/>
                </c:ext>
              </c:extLst>
            </c:dLbl>
            <c:dLbl>
              <c:idx val="21"/>
              <c:tx>
                <c:rich>
                  <a:bodyPr/>
                  <a:lstStyle/>
                  <a:p>
                    <a:r>
                      <a:rPr lang="en-US" sz="900" b="0">
                        <a:solidFill>
                          <a:srgbClr val="000000"/>
                        </a:solidFill>
                        <a:latin typeface="Lato"/>
                      </a:rPr>
                      <a:t>$14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8-A953-4488-BD8D-26CC3F0FDB34}"/>
                </c:ext>
              </c:extLst>
            </c:dLbl>
            <c:dLbl>
              <c:idx val="22"/>
              <c:tx>
                <c:rich>
                  <a:bodyPr/>
                  <a:lstStyle/>
                  <a:p>
                    <a:r>
                      <a:rPr lang="en-US" sz="900" b="0">
                        <a:solidFill>
                          <a:srgbClr val="000000"/>
                        </a:solidFill>
                        <a:latin typeface="Lato"/>
                      </a:rPr>
                      <a:t>$12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9-A953-4488-BD8D-26CC3F0FDB34}"/>
                </c:ext>
              </c:extLst>
            </c:dLbl>
            <c:dLbl>
              <c:idx val="23"/>
              <c:tx>
                <c:rich>
                  <a:bodyPr/>
                  <a:lstStyle/>
                  <a:p>
                    <a:r>
                      <a:rPr lang="en-US" sz="900" b="0">
                        <a:solidFill>
                          <a:srgbClr val="000000"/>
                        </a:solidFill>
                        <a:latin typeface="Lato"/>
                      </a:rPr>
                      <a:t>$10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A-A953-4488-BD8D-26CC3F0FDB34}"/>
                </c:ext>
              </c:extLst>
            </c:dLbl>
            <c:dLbl>
              <c:idx val="24"/>
              <c:tx>
                <c:rich>
                  <a:bodyPr/>
                  <a:lstStyle/>
                  <a:p>
                    <a:r>
                      <a:rPr lang="en-US" sz="900" b="0">
                        <a:solidFill>
                          <a:srgbClr val="000000"/>
                        </a:solidFill>
                        <a:latin typeface="Lato"/>
                      </a:rPr>
                      <a:t>$9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B-A953-4488-BD8D-26CC3F0FDB34}"/>
                </c:ext>
              </c:extLst>
            </c:dLbl>
            <c:dLbl>
              <c:idx val="25"/>
              <c:tx>
                <c:rich>
                  <a:bodyPr/>
                  <a:lstStyle/>
                  <a:p>
                    <a:r>
                      <a:rPr lang="en-US" sz="900" b="0">
                        <a:solidFill>
                          <a:srgbClr val="000000"/>
                        </a:solidFill>
                        <a:latin typeface="Lato"/>
                      </a:rPr>
                      <a:t>$9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C-A953-4488-BD8D-26CC3F0FDB34}"/>
                </c:ext>
              </c:extLst>
            </c:dLbl>
            <c:dLbl>
              <c:idx val="26"/>
              <c:tx>
                <c:rich>
                  <a:bodyPr/>
                  <a:lstStyle/>
                  <a:p>
                    <a:r>
                      <a:rPr lang="en-US" sz="900" b="1">
                        <a:solidFill>
                          <a:srgbClr val="C8102E"/>
                        </a:solidFill>
                        <a:latin typeface="Lato"/>
                      </a:rPr>
                      <a:t>$9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A953-4488-BD8D-26CC3F0FDB34}"/>
                </c:ext>
              </c:extLst>
            </c:dLbl>
            <c:dLbl>
              <c:idx val="27"/>
              <c:tx>
                <c:rich>
                  <a:bodyPr/>
                  <a:lstStyle/>
                  <a:p>
                    <a:r>
                      <a:rPr lang="en-US" sz="900" b="0">
                        <a:solidFill>
                          <a:srgbClr val="000000"/>
                        </a:solidFill>
                        <a:latin typeface="Lato"/>
                      </a:rPr>
                      <a:t>$7</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D-A953-4488-BD8D-26CC3F0FDB34}"/>
                </c:ext>
              </c:extLst>
            </c:dLbl>
            <c:dLbl>
              <c:idx val="28"/>
              <c:tx>
                <c:rich>
                  <a:bodyPr/>
                  <a:lstStyle/>
                  <a:p>
                    <a:r>
                      <a:rPr lang="en-US" sz="900" b="0">
                        <a:solidFill>
                          <a:srgbClr val="000000"/>
                        </a:solidFill>
                        <a:latin typeface="Lato"/>
                      </a:rPr>
                      <a:t>$3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E-A953-4488-BD8D-26CC3F0FDB34}"/>
                </c:ext>
              </c:extLst>
            </c:dLbl>
            <c:dLbl>
              <c:idx val="29"/>
              <c:tx>
                <c:rich>
                  <a:bodyPr/>
                  <a:lstStyle/>
                  <a:p>
                    <a:r>
                      <a:rPr lang="en-US" sz="900" b="0">
                        <a:solidFill>
                          <a:srgbClr val="000000"/>
                        </a:solidFill>
                        <a:latin typeface="Lato"/>
                      </a:rPr>
                      <a:t>$2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F-A953-4488-BD8D-26CC3F0FDB34}"/>
                </c:ext>
              </c:extLst>
            </c:dLbl>
            <c:dLbl>
              <c:idx val="30"/>
              <c:tx>
                <c:rich>
                  <a:bodyPr/>
                  <a:lstStyle/>
                  <a:p>
                    <a:r>
                      <a:rPr lang="en-US" sz="900" b="0">
                        <a:solidFill>
                          <a:srgbClr val="000000"/>
                        </a:solidFill>
                        <a:latin typeface="Lato"/>
                      </a:rPr>
                      <a:t>$1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0-A953-4488-BD8D-26CC3F0FDB3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Sheet1!$A$2:$A$32</c:f>
              <c:strCache>
                <c:ptCount val="31"/>
                <c:pt idx="0">
                  <c:v>Wine and Spirits</c:v>
                </c:pt>
                <c:pt idx="1">
                  <c:v>Pet care (2025)</c:v>
                </c:pt>
                <c:pt idx="2">
                  <c:v>Beer</c:v>
                </c:pt>
                <c:pt idx="3">
                  <c:v>Soft drinks</c:v>
                </c:pt>
                <c:pt idx="4">
                  <c:v>Lottery tickets (FY2025)</c:v>
                </c:pt>
                <c:pt idx="5">
                  <c:v>Tobacco</c:v>
                </c:pt>
                <c:pt idx="6">
                  <c:v>Bottled water</c:v>
                </c:pt>
                <c:pt idx="7">
                  <c:v>Beauty and personal care</c:v>
                </c:pt>
                <c:pt idx="8">
                  <c:v>Coffee</c:v>
                </c:pt>
                <c:pt idx="9">
                  <c:v>Gambling, non-lottery (2025)</c:v>
                </c:pt>
                <c:pt idx="10">
                  <c:v>Video games</c:v>
                </c:pt>
                <c:pt idx="11">
                  <c:v>Child care</c:v>
                </c:pt>
                <c:pt idx="12">
                  <c:v>Lawn care</c:v>
                </c:pt>
                <c:pt idx="13">
                  <c:v>Sporting events</c:v>
                </c:pt>
                <c:pt idx="14">
                  <c:v>Pizza</c:v>
                </c:pt>
                <c:pt idx="15">
                  <c:v>NIH (FY2026)</c:v>
                </c:pt>
                <c:pt idx="16">
                  <c:v>Legal Marijuana</c:v>
                </c:pt>
                <c:pt idx="17">
                  <c:v>Chocolate</c:v>
                </c:pt>
                <c:pt idx="18">
                  <c:v>Movies</c:v>
                </c:pt>
                <c:pt idx="19">
                  <c:v>Taco Bell</c:v>
                </c:pt>
                <c:pt idx="20">
                  <c:v>Credit card late fees</c:v>
                </c:pt>
                <c:pt idx="21">
                  <c:v>Concerts</c:v>
                </c:pt>
                <c:pt idx="22">
                  <c:v>Overdraft fees</c:v>
                </c:pt>
                <c:pt idx="23">
                  <c:v>Potato chips</c:v>
                </c:pt>
                <c:pt idx="24">
                  <c:v>Aesthetic cosmetic surgery</c:v>
                </c:pt>
                <c:pt idx="25">
                  <c:v>Perfume</c:v>
                </c:pt>
                <c:pt idx="26">
                  <c:v>NSF (FY2026)</c:v>
                </c:pt>
                <c:pt idx="27">
                  <c:v>Baggage fees (2024)</c:v>
                </c:pt>
                <c:pt idx="28">
                  <c:v>Valentine's flowers (2026)</c:v>
                </c:pt>
                <c:pt idx="29">
                  <c:v>Tattoos</c:v>
                </c:pt>
                <c:pt idx="30">
                  <c:v>Twinkies</c:v>
                </c:pt>
              </c:strCache>
            </c:strRef>
          </c:cat>
          <c:val>
            <c:numRef>
              <c:f>Sheet1!$B$2:$B$32</c:f>
              <c:numCache>
                <c:formatCode>General</c:formatCode>
                <c:ptCount val="31"/>
                <c:pt idx="0">
                  <c:v>159.4</c:v>
                </c:pt>
                <c:pt idx="1">
                  <c:v>158</c:v>
                </c:pt>
                <c:pt idx="2">
                  <c:v>129.30000000000001</c:v>
                </c:pt>
                <c:pt idx="3">
                  <c:v>109.5</c:v>
                </c:pt>
                <c:pt idx="4">
                  <c:v>109.4</c:v>
                </c:pt>
                <c:pt idx="5">
                  <c:v>107.5</c:v>
                </c:pt>
                <c:pt idx="6">
                  <c:v>98.5</c:v>
                </c:pt>
                <c:pt idx="7">
                  <c:v>91.4</c:v>
                </c:pt>
                <c:pt idx="8">
                  <c:v>88.6</c:v>
                </c:pt>
                <c:pt idx="9">
                  <c:v>78.7</c:v>
                </c:pt>
                <c:pt idx="10">
                  <c:v>78</c:v>
                </c:pt>
                <c:pt idx="11">
                  <c:v>62</c:v>
                </c:pt>
                <c:pt idx="12">
                  <c:v>59</c:v>
                </c:pt>
                <c:pt idx="13">
                  <c:v>49.8</c:v>
                </c:pt>
                <c:pt idx="14">
                  <c:v>49</c:v>
                </c:pt>
                <c:pt idx="15">
                  <c:v>47.5</c:v>
                </c:pt>
                <c:pt idx="16">
                  <c:v>35.6</c:v>
                </c:pt>
                <c:pt idx="17">
                  <c:v>23.2</c:v>
                </c:pt>
                <c:pt idx="18">
                  <c:v>22</c:v>
                </c:pt>
                <c:pt idx="19">
                  <c:v>16</c:v>
                </c:pt>
                <c:pt idx="20">
                  <c:v>15</c:v>
                </c:pt>
                <c:pt idx="21">
                  <c:v>13.9</c:v>
                </c:pt>
                <c:pt idx="22">
                  <c:v>12</c:v>
                </c:pt>
                <c:pt idx="23">
                  <c:v>10.199999999999999</c:v>
                </c:pt>
                <c:pt idx="24">
                  <c:v>9</c:v>
                </c:pt>
                <c:pt idx="25">
                  <c:v>8.9</c:v>
                </c:pt>
                <c:pt idx="26">
                  <c:v>8.75</c:v>
                </c:pt>
                <c:pt idx="27">
                  <c:v>7.3</c:v>
                </c:pt>
                <c:pt idx="28">
                  <c:v>3.1</c:v>
                </c:pt>
                <c:pt idx="29">
                  <c:v>2</c:v>
                </c:pt>
                <c:pt idx="30">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21-A953-4488-BD8D-26CC3F0FDB34}"/>
            </c:ext>
          </c:extLst>
        </c:ser>
        <c:dLbls>
          <c:dLblPos val="outEnd"/>
          <c:showLegendKey val="0"/>
          <c:showVal val="1"/>
          <c:showCatName val="0"/>
          <c:showSerName val="0"/>
          <c:showPercent val="0"/>
          <c:showBubbleSize val="0"/>
        </c:dLbls>
        <c:gapWidth val="3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000000"/>
            </a:solidFill>
          </a:ln>
        </c:spPr>
        <c:txPr>
          <a:bodyPr/>
          <a:lstStyle/>
          <a:p>
            <a:pPr>
              <a:defRPr sz="800"/>
            </a:pPr>
            <a:endParaRPr lang="en-US"/>
          </a:p>
        </c:txPr>
        <c:crossAx val="-2113994440"/>
        <c:crosses val="autoZero"/>
        <c:auto val="1"/>
        <c:lblAlgn val="ctr"/>
        <c:lblOffset val="100"/>
        <c:tickLblSkip val="1"/>
        <c:tickMarkSkip val="1"/>
        <c:noMultiLvlLbl val="0"/>
      </c:catAx>
      <c:valAx>
        <c:axId val="-2113994440"/>
        <c:scaling>
          <c:orientation val="minMax"/>
          <c:max val="180"/>
          <c:min val="0"/>
        </c:scaling>
        <c:delete val="0"/>
        <c:axPos val="t"/>
        <c:majorGridlines>
          <c:spPr>
            <a:ln w="6350">
              <a:solidFill>
                <a:srgbClr val="D9D9D9"/>
              </a:solidFill>
            </a:ln>
          </c:spPr>
        </c:majorGridlines>
        <c:numFmt formatCode="&quot;$&quot;0" sourceLinked="0"/>
        <c:majorTickMark val="out"/>
        <c:minorTickMark val="none"/>
        <c:tickLblPos val="high"/>
        <c:spPr>
          <a:ln>
            <a:noFill/>
          </a:ln>
        </c:spPr>
        <c:crossAx val="-2068027336"/>
        <c:crosses val="autoZero"/>
        <c:crossBetween val="between"/>
        <c:majorUnit val="20"/>
      </c:valAx>
    </c:plotArea>
    <c:plotVisOnly val="1"/>
    <c:dispBlanksAs val="gap"/>
    <c:showDLblsOverMax val="1"/>
  </c:chart>
  <c:txPr>
    <a:bodyPr/>
    <a:lstStyle/>
    <a:p>
      <a:pPr>
        <a:defRPr sz="800">
          <a:solidFill>
            <a:srgbClr val="000000"/>
          </a:solidFill>
          <a:latin typeface="Lato"/>
        </a:defRPr>
      </a:pPr>
      <a:endParaRPr lang="en-US"/>
    </a:p>
  </c:tx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2"/>
          <c:y val="0.02"/>
          <c:w val="0.6"/>
          <c:h val="0.88"/>
        </c:manualLayout>
      </c:layout>
      <c:lineChart>
        <c:grouping val="standard"/>
        <c:varyColors val="0"/>
        <c:ser>
          <c:idx val="0"/>
          <c:order val="0"/>
          <c:tx>
            <c:strRef>
              <c:f>Sheet1!$B$1</c:f>
              <c:strCache>
                <c:ptCount val="1"/>
                <c:pt idx="0">
                  <c:v>Northeastern U.</c:v>
                </c:pt>
              </c:strCache>
            </c:strRef>
          </c:tx>
          <c:spPr>
            <a:ln w="50800">
              <a:solidFill>
                <a:srgbClr val="C8102E"/>
              </a:solidFill>
            </a:ln>
          </c:spPr>
          <c:marker>
            <c:symbol val="circle"/>
            <c:size val="7"/>
            <c:spPr>
              <a:solidFill>
                <a:srgbClr val="C8102E"/>
              </a:solidFill>
              <a:ln>
                <a:solidFill>
                  <a:srgbClr val="C8102E"/>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42</c:v>
                </c:pt>
                <c:pt idx="1">
                  <c:v>41</c:v>
                </c:pt>
                <c:pt idx="2">
                  <c:v>40</c:v>
                </c:pt>
                <c:pt idx="3">
                  <c:v>42</c:v>
                </c:pt>
                <c:pt idx="4">
                  <c:v>39</c:v>
                </c:pt>
                <c:pt idx="5">
                  <c:v>39</c:v>
                </c:pt>
                <c:pt idx="6">
                  <c:v>39</c:v>
                </c:pt>
                <c:pt idx="7">
                  <c:v>38</c:v>
                </c:pt>
                <c:pt idx="8">
                  <c:v>38</c:v>
                </c:pt>
                <c:pt idx="9">
                  <c:v>36</c:v>
                </c:pt>
                <c:pt idx="10">
                  <c:v>33</c:v>
                </c:pt>
              </c:numCache>
            </c:numRef>
          </c:val>
          <c:smooth val="0"/>
          <c:extLst>
            <c:ext xmlns:c16="http://schemas.microsoft.com/office/drawing/2014/chart" uri="{C3380CC4-5D6E-409C-BE32-E72D297353CC}">
              <c16:uniqueId val="{00000000-BAEA-4892-8386-4737637F203D}"/>
            </c:ext>
          </c:extLst>
        </c:ser>
        <c:ser>
          <c:idx val="1"/>
          <c:order val="1"/>
          <c:tx>
            <c:strRef>
              <c:f>Sheet1!$C$1</c:f>
              <c:strCache>
                <c:ptCount val="1"/>
                <c:pt idx="0">
                  <c:v>U. Notre Dame</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34</c:v>
                </c:pt>
                <c:pt idx="1">
                  <c:v>34</c:v>
                </c:pt>
                <c:pt idx="2">
                  <c:v>33</c:v>
                </c:pt>
                <c:pt idx="3">
                  <c:v>32</c:v>
                </c:pt>
                <c:pt idx="4">
                  <c:v>34</c:v>
                </c:pt>
                <c:pt idx="5">
                  <c:v>34</c:v>
                </c:pt>
                <c:pt idx="6">
                  <c:v>36</c:v>
                </c:pt>
                <c:pt idx="7">
                  <c:v>36</c:v>
                </c:pt>
                <c:pt idx="8">
                  <c:v>33</c:v>
                </c:pt>
                <c:pt idx="9">
                  <c:v>34</c:v>
                </c:pt>
                <c:pt idx="10">
                  <c:v>34</c:v>
                </c:pt>
              </c:numCache>
            </c:numRef>
          </c:val>
          <c:smooth val="0"/>
          <c:extLst>
            <c:ext xmlns:c16="http://schemas.microsoft.com/office/drawing/2014/chart" uri="{C3380CC4-5D6E-409C-BE32-E72D297353CC}">
              <c16:uniqueId val="{00000001-BAEA-4892-8386-4737637F203D}"/>
            </c:ext>
          </c:extLst>
        </c:ser>
        <c:ser>
          <c:idx val="2"/>
          <c:order val="2"/>
          <c:tx>
            <c:strRef>
              <c:f>Sheet1!$D$1</c:f>
              <c:strCache>
                <c:ptCount val="1"/>
                <c:pt idx="0">
                  <c:v>Wake Forest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Sheet1!$D$2:$D$12</c:f>
              <c:numCache>
                <c:formatCode>General</c:formatCode>
                <c:ptCount val="11"/>
                <c:pt idx="0">
                  <c:v>35</c:v>
                </c:pt>
                <c:pt idx="1">
                  <c:v>36</c:v>
                </c:pt>
                <c:pt idx="2">
                  <c:v>37</c:v>
                </c:pt>
                <c:pt idx="3">
                  <c:v>37</c:v>
                </c:pt>
                <c:pt idx="4">
                  <c:v>38</c:v>
                </c:pt>
                <c:pt idx="5">
                  <c:v>35</c:v>
                </c:pt>
                <c:pt idx="6">
                  <c:v>34</c:v>
                </c:pt>
                <c:pt idx="7">
                  <c:v>34</c:v>
                </c:pt>
                <c:pt idx="8">
                  <c:v>35</c:v>
                </c:pt>
                <c:pt idx="9">
                  <c:v>35</c:v>
                </c:pt>
                <c:pt idx="10">
                  <c:v>35</c:v>
                </c:pt>
              </c:numCache>
            </c:numRef>
          </c:val>
          <c:smooth val="0"/>
          <c:extLst>
            <c:ext xmlns:c16="http://schemas.microsoft.com/office/drawing/2014/chart" uri="{C3380CC4-5D6E-409C-BE32-E72D297353CC}">
              <c16:uniqueId val="{00000002-BAEA-4892-8386-4737637F203D}"/>
            </c:ext>
          </c:extLst>
        </c:ser>
        <c:ser>
          <c:idx val="3"/>
          <c:order val="3"/>
          <c:tx>
            <c:strRef>
              <c:f>Sheet1!$E$1</c:f>
              <c:strCache>
                <c:ptCount val="1"/>
                <c:pt idx="0">
                  <c:v>Woods Hole</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Sheet1!$E$2:$E$12</c:f>
              <c:numCache>
                <c:formatCode>General</c:formatCode>
                <c:ptCount val="11"/>
                <c:pt idx="0">
                  <c:v>31</c:v>
                </c:pt>
                <c:pt idx="1">
                  <c:v>31</c:v>
                </c:pt>
                <c:pt idx="2">
                  <c:v>32</c:v>
                </c:pt>
                <c:pt idx="3">
                  <c:v>36</c:v>
                </c:pt>
                <c:pt idx="4">
                  <c:v>36</c:v>
                </c:pt>
                <c:pt idx="5">
                  <c:v>36</c:v>
                </c:pt>
                <c:pt idx="6">
                  <c:v>35</c:v>
                </c:pt>
                <c:pt idx="7">
                  <c:v>35</c:v>
                </c:pt>
                <c:pt idx="8">
                  <c:v>36</c:v>
                </c:pt>
                <c:pt idx="9">
                  <c:v>37</c:v>
                </c:pt>
                <c:pt idx="10">
                  <c:v>36</c:v>
                </c:pt>
              </c:numCache>
            </c:numRef>
          </c:val>
          <c:smooth val="0"/>
          <c:extLst>
            <c:ext xmlns:c16="http://schemas.microsoft.com/office/drawing/2014/chart" uri="{C3380CC4-5D6E-409C-BE32-E72D297353CC}">
              <c16:uniqueId val="{00000003-BAEA-4892-8386-4737637F203D}"/>
            </c:ext>
          </c:extLst>
        </c:ser>
        <c:ser>
          <c:idx val="4"/>
          <c:order val="4"/>
          <c:tx>
            <c:strRef>
              <c:f>Sheet1!$F$1</c:f>
              <c:strCache>
                <c:ptCount val="1"/>
                <c:pt idx="0">
                  <c:v>Rockefeller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Sheet1!$F$2:$F$12</c:f>
              <c:numCache>
                <c:formatCode>General</c:formatCode>
                <c:ptCount val="11"/>
                <c:pt idx="0">
                  <c:v>26</c:v>
                </c:pt>
                <c:pt idx="1">
                  <c:v>26</c:v>
                </c:pt>
                <c:pt idx="2">
                  <c:v>26</c:v>
                </c:pt>
                <c:pt idx="3">
                  <c:v>25</c:v>
                </c:pt>
                <c:pt idx="4">
                  <c:v>26</c:v>
                </c:pt>
                <c:pt idx="5">
                  <c:v>27</c:v>
                </c:pt>
                <c:pt idx="6">
                  <c:v>27</c:v>
                </c:pt>
                <c:pt idx="7">
                  <c:v>27</c:v>
                </c:pt>
                <c:pt idx="8">
                  <c:v>27</c:v>
                </c:pt>
                <c:pt idx="9">
                  <c:v>27</c:v>
                </c:pt>
                <c:pt idx="10">
                  <c:v>37</c:v>
                </c:pt>
              </c:numCache>
            </c:numRef>
          </c:val>
          <c:smooth val="0"/>
          <c:extLst>
            <c:ext xmlns:c16="http://schemas.microsoft.com/office/drawing/2014/chart" uri="{C3380CC4-5D6E-409C-BE32-E72D297353CC}">
              <c16:uniqueId val="{00000004-BAEA-4892-8386-4737637F203D}"/>
            </c:ext>
          </c:extLst>
        </c:ser>
        <c:ser>
          <c:idx val="5"/>
          <c:order val="5"/>
          <c:tx>
            <c:strRef>
              <c:f>Sheet1!$G$1</c:f>
              <c:strCache>
                <c:ptCount val="1"/>
                <c:pt idx="0">
                  <c:v>Tufts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Sheet1!$G$2:$G$12</c:f>
              <c:numCache>
                <c:formatCode>General</c:formatCode>
                <c:ptCount val="11"/>
                <c:pt idx="0">
                  <c:v>37</c:v>
                </c:pt>
                <c:pt idx="1">
                  <c:v>37</c:v>
                </c:pt>
                <c:pt idx="2">
                  <c:v>35</c:v>
                </c:pt>
                <c:pt idx="3">
                  <c:v>31</c:v>
                </c:pt>
                <c:pt idx="4">
                  <c:v>35</c:v>
                </c:pt>
                <c:pt idx="5">
                  <c:v>37</c:v>
                </c:pt>
                <c:pt idx="6">
                  <c:v>37</c:v>
                </c:pt>
                <c:pt idx="7">
                  <c:v>37</c:v>
                </c:pt>
                <c:pt idx="8">
                  <c:v>39</c:v>
                </c:pt>
                <c:pt idx="9">
                  <c:v>41</c:v>
                </c:pt>
                <c:pt idx="10">
                  <c:v>38</c:v>
                </c:pt>
              </c:numCache>
            </c:numRef>
          </c:val>
          <c:smooth val="0"/>
          <c:extLst>
            <c:ext xmlns:c16="http://schemas.microsoft.com/office/drawing/2014/chart" uri="{C3380CC4-5D6E-409C-BE32-E72D297353CC}">
              <c16:uniqueId val="{00000005-BAEA-4892-8386-4737637F203D}"/>
            </c:ext>
          </c:extLst>
        </c:ser>
        <c:ser>
          <c:idx val="6"/>
          <c:order val="6"/>
          <c:tx>
            <c:strRef>
              <c:f>Sheet1!$H$1</c:f>
              <c:strCache>
                <c:ptCount val="1"/>
                <c:pt idx="0">
                  <c:v>Rice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Sheet1!$H$2:$H$12</c:f>
              <c:numCache>
                <c:formatCode>General</c:formatCode>
                <c:ptCount val="11"/>
                <c:pt idx="0">
                  <c:v>39</c:v>
                </c:pt>
                <c:pt idx="1">
                  <c:v>39</c:v>
                </c:pt>
                <c:pt idx="2">
                  <c:v>39</c:v>
                </c:pt>
                <c:pt idx="3">
                  <c:v>39</c:v>
                </c:pt>
                <c:pt idx="4">
                  <c:v>40</c:v>
                </c:pt>
                <c:pt idx="5">
                  <c:v>40</c:v>
                </c:pt>
                <c:pt idx="6">
                  <c:v>40</c:v>
                </c:pt>
                <c:pt idx="7">
                  <c:v>39</c:v>
                </c:pt>
                <c:pt idx="8">
                  <c:v>41</c:v>
                </c:pt>
                <c:pt idx="9">
                  <c:v>40</c:v>
                </c:pt>
                <c:pt idx="10">
                  <c:v>39</c:v>
                </c:pt>
              </c:numCache>
            </c:numRef>
          </c:val>
          <c:smooth val="0"/>
          <c:extLst>
            <c:ext xmlns:c16="http://schemas.microsoft.com/office/drawing/2014/chart" uri="{C3380CC4-5D6E-409C-BE32-E72D297353CC}">
              <c16:uniqueId val="{00000006-BAEA-4892-8386-4737637F203D}"/>
            </c:ext>
          </c:extLst>
        </c:ser>
        <c:ser>
          <c:idx val="7"/>
          <c:order val="7"/>
          <c:tx>
            <c:strRef>
              <c:f>Sheet1!$I$1</c:f>
              <c:strCache>
                <c:ptCount val="1"/>
                <c:pt idx="0">
                  <c:v>Tulane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Sheet1!$I$2:$I$12</c:f>
              <c:numCache>
                <c:formatCode>General</c:formatCode>
                <c:ptCount val="11"/>
                <c:pt idx="0">
                  <c:v>38</c:v>
                </c:pt>
                <c:pt idx="1">
                  <c:v>38</c:v>
                </c:pt>
                <c:pt idx="2">
                  <c:v>38</c:v>
                </c:pt>
                <c:pt idx="3">
                  <c:v>38</c:v>
                </c:pt>
                <c:pt idx="4">
                  <c:v>37</c:v>
                </c:pt>
                <c:pt idx="5">
                  <c:v>38</c:v>
                </c:pt>
                <c:pt idx="6">
                  <c:v>38</c:v>
                </c:pt>
                <c:pt idx="7">
                  <c:v>40</c:v>
                </c:pt>
                <c:pt idx="8">
                  <c:v>40</c:v>
                </c:pt>
                <c:pt idx="9">
                  <c:v>38</c:v>
                </c:pt>
                <c:pt idx="10">
                  <c:v>40</c:v>
                </c:pt>
              </c:numCache>
            </c:numRef>
          </c:val>
          <c:smooth val="0"/>
          <c:extLst>
            <c:ext xmlns:c16="http://schemas.microsoft.com/office/drawing/2014/chart" uri="{C3380CC4-5D6E-409C-BE32-E72D297353CC}">
              <c16:uniqueId val="{00000007-BAEA-4892-8386-4737637F203D}"/>
            </c:ext>
          </c:extLst>
        </c:ser>
        <c:ser>
          <c:idx val="8"/>
          <c:order val="8"/>
          <c:tx>
            <c:strRef>
              <c:f>Sheet1!$J$1</c:f>
              <c:strCache>
                <c:ptCount val="1"/>
                <c:pt idx="0">
                  <c:v>Thomas Jefferson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Sheet1!$J$2:$J$12</c:f>
              <c:numCache>
                <c:formatCode>General</c:formatCode>
                <c:ptCount val="11"/>
                <c:pt idx="0">
                  <c:v>41</c:v>
                </c:pt>
                <c:pt idx="1">
                  <c:v>42</c:v>
                </c:pt>
                <c:pt idx="2">
                  <c:v>42</c:v>
                </c:pt>
                <c:pt idx="3">
                  <c:v>41</c:v>
                </c:pt>
                <c:pt idx="4">
                  <c:v>42</c:v>
                </c:pt>
                <c:pt idx="5">
                  <c:v>41</c:v>
                </c:pt>
                <c:pt idx="6">
                  <c:v>41</c:v>
                </c:pt>
                <c:pt idx="7">
                  <c:v>41</c:v>
                </c:pt>
                <c:pt idx="8">
                  <c:v>37</c:v>
                </c:pt>
                <c:pt idx="9">
                  <c:v>39</c:v>
                </c:pt>
                <c:pt idx="10">
                  <c:v>41</c:v>
                </c:pt>
              </c:numCache>
            </c:numRef>
          </c:val>
          <c:smooth val="0"/>
          <c:extLst>
            <c:ext xmlns:c16="http://schemas.microsoft.com/office/drawing/2014/chart" uri="{C3380CC4-5D6E-409C-BE32-E72D297353CC}">
              <c16:uniqueId val="{00000008-BAEA-4892-8386-4737637F203D}"/>
            </c:ext>
          </c:extLst>
        </c:ser>
        <c:ser>
          <c:idx val="9"/>
          <c:order val="9"/>
          <c:tx>
            <c:strRef>
              <c:f>Sheet1!$K$1</c:f>
              <c:strCache>
                <c:ptCount val="1"/>
                <c:pt idx="0">
                  <c:v>Drexel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Sheet1!$K$2:$K$12</c:f>
              <c:numCache>
                <c:formatCode>General</c:formatCode>
                <c:ptCount val="11"/>
                <c:pt idx="0">
                  <c:v>40</c:v>
                </c:pt>
                <c:pt idx="1">
                  <c:v>40</c:v>
                </c:pt>
                <c:pt idx="2">
                  <c:v>41</c:v>
                </c:pt>
                <c:pt idx="3">
                  <c:v>43</c:v>
                </c:pt>
                <c:pt idx="4">
                  <c:v>41</c:v>
                </c:pt>
                <c:pt idx="5">
                  <c:v>44</c:v>
                </c:pt>
                <c:pt idx="6">
                  <c:v>44</c:v>
                </c:pt>
                <c:pt idx="7">
                  <c:v>43</c:v>
                </c:pt>
                <c:pt idx="8">
                  <c:v>44</c:v>
                </c:pt>
                <c:pt idx="9">
                  <c:v>44</c:v>
                </c:pt>
                <c:pt idx="10">
                  <c:v>44</c:v>
                </c:pt>
              </c:numCache>
            </c:numRef>
          </c:val>
          <c:smooth val="0"/>
          <c:extLst>
            <c:ext xmlns:c16="http://schemas.microsoft.com/office/drawing/2014/chart" uri="{C3380CC4-5D6E-409C-BE32-E72D297353CC}">
              <c16:uniqueId val="{00000009-BAEA-4892-8386-4737637F203D}"/>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none"/>
        <c:minorTickMark val="none"/>
        <c:tickLblPos val="nextTo"/>
        <c:spPr>
          <a:ln w="9525">
            <a:solidFill>
              <a:srgbClr val="8A8F98"/>
            </a:solidFill>
          </a:ln>
        </c:spPr>
        <c:txPr>
          <a:bodyPr/>
          <a:lstStyle/>
          <a:p>
            <a:pPr>
              <a:defRPr sz="1100">
                <a:solidFill>
                  <a:srgbClr val="2B2B2B"/>
                </a:solidFill>
                <a:latin typeface="Lato"/>
              </a:defRPr>
            </a:pPr>
            <a:endParaRPr lang="en-US"/>
          </a:p>
        </c:txPr>
        <c:crossAx val="2140495176"/>
        <c:crosses val="max"/>
        <c:auto val="1"/>
        <c:lblAlgn val="ctr"/>
        <c:lblOffset val="100"/>
        <c:noMultiLvlLbl val="0"/>
      </c:catAx>
      <c:valAx>
        <c:axId val="2140495176"/>
        <c:scaling>
          <c:orientation val="maxMin"/>
          <c:max val="45"/>
          <c:min val="24"/>
        </c:scaling>
        <c:delete val="0"/>
        <c:axPos val="l"/>
        <c:majorGridlines>
          <c:spPr>
            <a:ln w="9525">
              <a:solidFill>
                <a:srgbClr val="E4E4E6"/>
              </a:solidFill>
            </a:ln>
          </c:spPr>
        </c:majorGridlines>
        <c:numFmt formatCode="&quot;#&quot;0" sourceLinked="0"/>
        <c:majorTickMark val="none"/>
        <c:minorTickMark val="none"/>
        <c:tickLblPos val="none"/>
        <c:spPr>
          <a:ln>
            <a:noFill/>
          </a:ln>
        </c:spPr>
        <c:txPr>
          <a:bodyPr/>
          <a:lstStyle/>
          <a:p>
            <a:pPr>
              <a:defRPr sz="1100">
                <a:solidFill>
                  <a:srgbClr val="6B6B70"/>
                </a:solidFill>
                <a:latin typeface="Lato"/>
              </a:defRPr>
            </a:pPr>
            <a:endParaRPr lang="en-US"/>
          </a:p>
        </c:txPr>
        <c:crossAx val="2118791784"/>
        <c:crosses val="autoZero"/>
        <c:crossBetween val="between"/>
        <c:majorUnit val="2"/>
      </c:valAx>
    </c:plotArea>
    <c:plotVisOnly val="1"/>
    <c:dispBlanksAs val="gap"/>
    <c:showDLblsOverMax val="0"/>
  </c:chart>
  <c:txPr>
    <a:bodyPr/>
    <a:lstStyle/>
    <a:p>
      <a:pPr>
        <a:defRPr sz="1000">
          <a:latin typeface="Lato"/>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0.48637</cdr:x>
      <cdr:y>0.32404</cdr:y>
    </cdr:from>
    <cdr:to>
      <cdr:x>0.54789</cdr:x>
      <cdr:y>0.3665</cdr:y>
    </cdr:to>
    <cdr:sp macro="" textlink="">
      <cdr:nvSpPr>
        <cdr:cNvPr id="2" name="TextBox 1">
          <a:extLst xmlns:a="http://schemas.openxmlformats.org/drawingml/2006/main">
            <a:ext uri="{FF2B5EF4-FFF2-40B4-BE49-F238E27FC236}">
              <a16:creationId xmlns:a16="http://schemas.microsoft.com/office/drawing/2014/main" id="{7CF0E169-B464-95FD-FF32-918DFBB8D3DF}"/>
            </a:ext>
          </a:extLst>
        </cdr:cNvPr>
        <cdr:cNvSpPr txBox="1"/>
      </cdr:nvSpPr>
      <cdr:spPr>
        <a:xfrm xmlns:a="http://schemas.openxmlformats.org/drawingml/2006/main">
          <a:off x="5107460" y="1830910"/>
          <a:ext cx="646064" cy="239901"/>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100" kern="1200" dirty="0">
              <a:solidFill>
                <a:schemeClr val="tx1"/>
              </a:solidFill>
            </a:rPr>
            <a:t>Budget</a:t>
          </a:r>
        </a:p>
      </cdr:txBody>
    </cdr:sp>
  </cdr:relSizeAnchor>
  <cdr:relSizeAnchor xmlns:cdr="http://schemas.openxmlformats.org/drawingml/2006/chartDrawing">
    <cdr:from>
      <cdr:x>0.65325</cdr:x>
      <cdr:y>0.579</cdr:y>
    </cdr:from>
    <cdr:to>
      <cdr:x>0.6761</cdr:x>
      <cdr:y>0.62146</cdr:y>
    </cdr:to>
    <cdr:sp macro="" textlink="">
      <cdr:nvSpPr>
        <cdr:cNvPr id="3" name="5-Point Star 10">
          <a:extLst xmlns:a="http://schemas.openxmlformats.org/drawingml/2006/main">
            <a:ext uri="{FF2B5EF4-FFF2-40B4-BE49-F238E27FC236}">
              <a16:creationId xmlns:a16="http://schemas.microsoft.com/office/drawing/2014/main" id="{2DE7672D-32CC-A9B2-F305-64E63328C0A5}"/>
            </a:ext>
          </a:extLst>
        </cdr:cNvPr>
        <cdr:cNvSpPr/>
      </cdr:nvSpPr>
      <cdr:spPr>
        <a:xfrm xmlns:a="http://schemas.openxmlformats.org/drawingml/2006/main">
          <a:off x="6859942" y="3271509"/>
          <a:ext cx="239902" cy="239902"/>
        </a:xfrm>
        <a:prstGeom xmlns:a="http://schemas.openxmlformats.org/drawingml/2006/main" prst="star5">
          <a:avLst/>
        </a:prstGeom>
        <a:solidFill xmlns:a="http://schemas.openxmlformats.org/drawingml/2006/main">
          <a:schemeClr val="tx1"/>
        </a:solidFill>
        <a:ln xmlns:a="http://schemas.openxmlformats.org/drawingml/2006/main">
          <a:solidFill>
            <a:schemeClr val="tx1"/>
          </a:solid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xmlns:a="http://schemas.openxmlformats.org/drawingml/2006/main">
          <a:pPr algn="ctr"/>
          <a:endParaRPr lang="en-US"/>
        </a:p>
      </cdr:txBody>
    </cdr:sp>
  </cdr:relSizeAnchor>
  <cdr:relSizeAnchor xmlns:cdr="http://schemas.openxmlformats.org/drawingml/2006/chartDrawing">
    <cdr:from>
      <cdr:x>0.63693</cdr:x>
      <cdr:y>0.55312</cdr:y>
    </cdr:from>
    <cdr:to>
      <cdr:x>0.69845</cdr:x>
      <cdr:y>0.59558</cdr:y>
    </cdr:to>
    <cdr:sp macro="" textlink="">
      <cdr:nvSpPr>
        <cdr:cNvPr id="4" name="TextBox 1">
          <a:extLst xmlns:a="http://schemas.openxmlformats.org/drawingml/2006/main">
            <a:ext uri="{FF2B5EF4-FFF2-40B4-BE49-F238E27FC236}">
              <a16:creationId xmlns:a16="http://schemas.microsoft.com/office/drawing/2014/main" id="{1084D55E-3910-22A1-E41C-A2F78A840AE6}"/>
            </a:ext>
          </a:extLst>
        </cdr:cNvPr>
        <cdr:cNvSpPr txBox="1"/>
      </cdr:nvSpPr>
      <cdr:spPr>
        <a:xfrm xmlns:a="http://schemas.openxmlformats.org/drawingml/2006/main">
          <a:off x="6688481" y="3125283"/>
          <a:ext cx="646032" cy="239910"/>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sz="1100" kern="1200" dirty="0">
              <a:solidFill>
                <a:schemeClr val="tx1"/>
              </a:solidFill>
            </a:rPr>
            <a:t>Budget</a:t>
          </a:r>
        </a:p>
      </cdr:txBody>
    </cdr:sp>
  </cdr:relSizeAnchor>
  <cdr:relSizeAnchor xmlns:cdr="http://schemas.openxmlformats.org/drawingml/2006/chartDrawing">
    <cdr:from>
      <cdr:x>0.62765</cdr:x>
      <cdr:y>0.68222</cdr:y>
    </cdr:from>
    <cdr:to>
      <cdr:x>0.71398</cdr:x>
      <cdr:y>0.73125</cdr:y>
    </cdr:to>
    <cdr:sp macro="" textlink="">
      <cdr:nvSpPr>
        <cdr:cNvPr id="6" name="TextBox 1">
          <a:extLst xmlns:a="http://schemas.openxmlformats.org/drawingml/2006/main">
            <a:ext uri="{FF2B5EF4-FFF2-40B4-BE49-F238E27FC236}">
              <a16:creationId xmlns:a16="http://schemas.microsoft.com/office/drawing/2014/main" id="{ED36EBDD-94C9-DCD6-FF6E-4F757D688BC1}"/>
            </a:ext>
          </a:extLst>
        </cdr:cNvPr>
        <cdr:cNvSpPr txBox="1"/>
      </cdr:nvSpPr>
      <cdr:spPr>
        <a:xfrm xmlns:a="http://schemas.openxmlformats.org/drawingml/2006/main">
          <a:off x="6591042" y="3854734"/>
          <a:ext cx="906566" cy="276999"/>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kern="1200" dirty="0" err="1">
              <a:solidFill>
                <a:srgbClr val="156082"/>
              </a:solidFill>
            </a:rPr>
            <a:t>Proj</a:t>
          </a:r>
          <a:r>
            <a:rPr lang="en-US" kern="1200" dirty="0">
              <a:solidFill>
                <a:srgbClr val="156082"/>
              </a:solidFill>
            </a:rPr>
            <a:t> Actual</a:t>
          </a:r>
          <a:endParaRPr lang="en-US" sz="1100" kern="1200" dirty="0">
            <a:solidFill>
              <a:srgbClr val="156082"/>
            </a:solidFill>
          </a:endParaRPr>
        </a:p>
      </cdr:txBody>
    </cdr:sp>
  </cdr:relSizeAnchor>
  <cdr:relSizeAnchor xmlns:cdr="http://schemas.openxmlformats.org/drawingml/2006/chartDrawing">
    <cdr:from>
      <cdr:x>0.65671</cdr:x>
      <cdr:y>0.65195</cdr:y>
    </cdr:from>
    <cdr:to>
      <cdr:x>0.67264</cdr:x>
      <cdr:y>0.68154</cdr:y>
    </cdr:to>
    <cdr:sp macro="" textlink="">
      <cdr:nvSpPr>
        <cdr:cNvPr id="8" name="Oval 7">
          <a:extLst xmlns:a="http://schemas.openxmlformats.org/drawingml/2006/main">
            <a:ext uri="{FF2B5EF4-FFF2-40B4-BE49-F238E27FC236}">
              <a16:creationId xmlns:a16="http://schemas.microsoft.com/office/drawing/2014/main" id="{00A3B053-A02B-724A-9E90-9C6FE0F207D7}"/>
            </a:ext>
          </a:extLst>
        </cdr:cNvPr>
        <cdr:cNvSpPr/>
      </cdr:nvSpPr>
      <cdr:spPr>
        <a:xfrm xmlns:a="http://schemas.openxmlformats.org/drawingml/2006/main">
          <a:off x="6896281" y="3683656"/>
          <a:ext cx="167223" cy="167223"/>
        </a:xfrm>
        <a:prstGeom xmlns:a="http://schemas.openxmlformats.org/drawingml/2006/main" prst="ellipse">
          <a:avLst/>
        </a:prstGeom>
        <a:ln xmlns:a="http://schemas.openxmlformats.org/drawingml/2006/main">
          <a:solidFill>
            <a:srgbClr val="156082"/>
          </a:solid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en-US" kern="1200"/>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28440" cy="342900"/>
          </a:xfrm>
          <a:prstGeom prst="rect">
            <a:avLst/>
          </a:prstGeom>
        </p:spPr>
        <p:txBody>
          <a:bodyPr vert="horz" lIns="91440" tIns="45720" rIns="91440" bIns="45720" rtlCol="0"/>
          <a:lstStyle>
            <a:lvl1pPr algn="l">
              <a:defRPr sz="1200" b="0" i="0">
                <a:latin typeface="Montserrat Light" charset="0"/>
              </a:defRPr>
            </a:lvl1pPr>
          </a:lstStyle>
          <a:p>
            <a:endParaRPr lang="en-US" dirty="0"/>
          </a:p>
        </p:txBody>
      </p:sp>
      <p:sp>
        <p:nvSpPr>
          <p:cNvPr id="3" name="Date Placeholder 2"/>
          <p:cNvSpPr>
            <a:spLocks noGrp="1"/>
          </p:cNvSpPr>
          <p:nvPr>
            <p:ph type="dt" idx="1"/>
          </p:nvPr>
        </p:nvSpPr>
        <p:spPr>
          <a:xfrm>
            <a:off x="5265809" y="0"/>
            <a:ext cx="4028440" cy="342900"/>
          </a:xfrm>
          <a:prstGeom prst="rect">
            <a:avLst/>
          </a:prstGeom>
        </p:spPr>
        <p:txBody>
          <a:bodyPr vert="horz" lIns="91440" tIns="45720" rIns="91440" bIns="45720" rtlCol="0"/>
          <a:lstStyle>
            <a:lvl1pPr algn="r">
              <a:defRPr sz="1200" b="0" i="0">
                <a:latin typeface="Montserrat Light" charset="0"/>
              </a:defRPr>
            </a:lvl1pPr>
          </a:lstStyle>
          <a:p>
            <a:fld id="{EFC10EE1-B198-C942-8235-326C972CBB30}" type="datetimeFigureOut">
              <a:rPr lang="en-US" smtClean="0"/>
              <a:pPr/>
              <a:t>9/30/2026</a:t>
            </a:fld>
            <a:endParaRPr lang="en-US" dirty="0"/>
          </a:p>
        </p:txBody>
      </p:sp>
      <p:sp>
        <p:nvSpPr>
          <p:cNvPr id="4" name="Slide Image Placeholder 3"/>
          <p:cNvSpPr>
            <a:spLocks noGrp="1" noRot="1" noChangeAspect="1"/>
          </p:cNvSpPr>
          <p:nvPr>
            <p:ph type="sldImg" idx="2"/>
          </p:nvPr>
        </p:nvSpPr>
        <p:spPr>
          <a:xfrm>
            <a:off x="2362200" y="514350"/>
            <a:ext cx="4572000" cy="257175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29640" y="3257551"/>
            <a:ext cx="743712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4028440" cy="342900"/>
          </a:xfrm>
          <a:prstGeom prst="rect">
            <a:avLst/>
          </a:prstGeom>
        </p:spPr>
        <p:txBody>
          <a:bodyPr vert="horz" lIns="91440" tIns="45720" rIns="91440" bIns="45720" rtlCol="0" anchor="b"/>
          <a:lstStyle>
            <a:lvl1pPr algn="l">
              <a:defRPr sz="1200" b="0" i="0">
                <a:latin typeface="Montserrat Light" charset="0"/>
              </a:defRPr>
            </a:lvl1pPr>
          </a:lstStyle>
          <a:p>
            <a:endParaRPr lang="en-US" dirty="0"/>
          </a:p>
        </p:txBody>
      </p:sp>
      <p:sp>
        <p:nvSpPr>
          <p:cNvPr id="7" name="Slide Number Placeholder 6"/>
          <p:cNvSpPr>
            <a:spLocks noGrp="1"/>
          </p:cNvSpPr>
          <p:nvPr>
            <p:ph type="sldNum" sz="quarter" idx="5"/>
          </p:nvPr>
        </p:nvSpPr>
        <p:spPr>
          <a:xfrm>
            <a:off x="5265809" y="6513910"/>
            <a:ext cx="4028440" cy="342900"/>
          </a:xfrm>
          <a:prstGeom prst="rect">
            <a:avLst/>
          </a:prstGeom>
        </p:spPr>
        <p:txBody>
          <a:bodyPr vert="horz" lIns="91440" tIns="45720" rIns="91440" bIns="45720" rtlCol="0" anchor="b"/>
          <a:lstStyle>
            <a:lvl1pPr algn="r">
              <a:defRPr sz="1200" b="0" i="0">
                <a:latin typeface="Montserrat Light" charset="0"/>
              </a:defRPr>
            </a:lvl1pPr>
          </a:lstStyle>
          <a:p>
            <a:fld id="{006BE02D-20C0-F840-AFAC-BEA99C74FDC2}" type="slidenum">
              <a:rPr lang="en-US" smtClean="0"/>
              <a:pPr/>
              <a:t>‹#›</a:t>
            </a:fld>
            <a:endParaRPr lang="en-US" dirty="0"/>
          </a:p>
        </p:txBody>
      </p:sp>
    </p:spTree>
    <p:extLst>
      <p:ext uri="{BB962C8B-B14F-4D97-AF65-F5344CB8AC3E}">
        <p14:creationId xmlns:p14="http://schemas.microsoft.com/office/powerpoint/2010/main" val="3463289142"/>
      </p:ext>
    </p:extLst>
  </p:cSld>
  <p:clrMap bg1="lt1" tx1="dk1" bg2="lt2" tx2="dk2" accent1="accent1" accent2="accent2" accent3="accent3" accent4="accent4" accent5="accent5" accent6="accent6" hlink="hlink" folHlink="folHlink"/>
  <p:notesStyle>
    <a:lvl1pPr marL="0" algn="l" defTabSz="457109" rtl="0" eaLnBrk="1" latinLnBrk="0" hangingPunct="1">
      <a:defRPr sz="1200" b="0" i="0" kern="1200">
        <a:solidFill>
          <a:schemeClr val="tx1"/>
        </a:solidFill>
        <a:latin typeface="Montserrat Light" charset="0"/>
        <a:ea typeface="+mn-ea"/>
        <a:cs typeface="+mn-cs"/>
      </a:defRPr>
    </a:lvl1pPr>
    <a:lvl2pPr marL="457109" algn="l" defTabSz="457109" rtl="0" eaLnBrk="1" latinLnBrk="0" hangingPunct="1">
      <a:defRPr sz="1200" b="0" i="0" kern="1200">
        <a:solidFill>
          <a:schemeClr val="tx1"/>
        </a:solidFill>
        <a:latin typeface="Montserrat Light" charset="0"/>
        <a:ea typeface="+mn-ea"/>
        <a:cs typeface="+mn-cs"/>
      </a:defRPr>
    </a:lvl2pPr>
    <a:lvl3pPr marL="914217" algn="l" defTabSz="457109" rtl="0" eaLnBrk="1" latinLnBrk="0" hangingPunct="1">
      <a:defRPr sz="1200" b="0" i="0" kern="1200">
        <a:solidFill>
          <a:schemeClr val="tx1"/>
        </a:solidFill>
        <a:latin typeface="Montserrat Light" charset="0"/>
        <a:ea typeface="+mn-ea"/>
        <a:cs typeface="+mn-cs"/>
      </a:defRPr>
    </a:lvl3pPr>
    <a:lvl4pPr marL="1371326" algn="l" defTabSz="457109" rtl="0" eaLnBrk="1" latinLnBrk="0" hangingPunct="1">
      <a:defRPr sz="1200" b="0" i="0" kern="1200">
        <a:solidFill>
          <a:schemeClr val="tx1"/>
        </a:solidFill>
        <a:latin typeface="Montserrat Light" charset="0"/>
        <a:ea typeface="+mn-ea"/>
        <a:cs typeface="+mn-cs"/>
      </a:defRPr>
    </a:lvl4pPr>
    <a:lvl5pPr marL="1828434" algn="l" defTabSz="457109" rtl="0" eaLnBrk="1" latinLnBrk="0" hangingPunct="1">
      <a:defRPr sz="1200" b="0" i="0" kern="1200">
        <a:solidFill>
          <a:schemeClr val="tx1"/>
        </a:solidFill>
        <a:latin typeface="Montserrat Light" charset="0"/>
        <a:ea typeface="+mn-ea"/>
        <a:cs typeface="+mn-cs"/>
      </a:defRPr>
    </a:lvl5pPr>
    <a:lvl6pPr marL="2285543" algn="l" defTabSz="457109" rtl="0" eaLnBrk="1" latinLnBrk="0" hangingPunct="1">
      <a:defRPr sz="1200" kern="1200">
        <a:solidFill>
          <a:schemeClr val="tx1"/>
        </a:solidFill>
        <a:latin typeface="+mn-lt"/>
        <a:ea typeface="+mn-ea"/>
        <a:cs typeface="+mn-cs"/>
      </a:defRPr>
    </a:lvl6pPr>
    <a:lvl7pPr marL="2742652" algn="l" defTabSz="457109" rtl="0" eaLnBrk="1" latinLnBrk="0" hangingPunct="1">
      <a:defRPr sz="1200" kern="1200">
        <a:solidFill>
          <a:schemeClr val="tx1"/>
        </a:solidFill>
        <a:latin typeface="+mn-lt"/>
        <a:ea typeface="+mn-ea"/>
        <a:cs typeface="+mn-cs"/>
      </a:defRPr>
    </a:lvl7pPr>
    <a:lvl8pPr marL="3199760" algn="l" defTabSz="457109" rtl="0" eaLnBrk="1" latinLnBrk="0" hangingPunct="1">
      <a:defRPr sz="1200" kern="1200">
        <a:solidFill>
          <a:schemeClr val="tx1"/>
        </a:solidFill>
        <a:latin typeface="+mn-lt"/>
        <a:ea typeface="+mn-ea"/>
        <a:cs typeface="+mn-cs"/>
      </a:defRPr>
    </a:lvl8pPr>
    <a:lvl9pPr marL="3656869" algn="l" defTabSz="457109"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CHANGED FROM THE ORIGINAL</a:t>
            </a:r>
          </a:p>
          <a:p>
            <a:r>
              <a:t>- Data refreshed to the College Scorecard release of June 10, 2026 (Most-Recent-Cohorts-Institution file), same filters as the original slide. Net price is now academic year 2023-24 (IPEDS 2024-25 collection). 10-year earnings are the newest Scorecard publishes: entering cohorts 2009-10 and 2010-11 pooled, measured in calendar 2020 and 2021, in 2022 dollars. Scorecard has not released a later 10-year earnings cohort, so earnings do not run through 2024.</a:t>
            </a:r>
          </a:p>
          <a:p>
            <a:r>
              <a:t>- Rebuilt as a native chart (right-click &gt; Edit Data; institution names are in column C of the embedded sheet). Vanderbilt logo removed; Vanderbilt is a navy label like the other private institutions. Markers: private institutions are bright royal blue (#1F4FE0, requested; not an NU brand color) and public institutions stay grey, one marker size smaller with a hairline (0.25 pt) black border, so the two groups separate where they overlap; private labels stay navy. Northeastern is the red marker and label; Boston University is labeled as a local comparison.</a:t>
            </a:r>
          </a:p>
          <a:p>
            <a:r>
              <a:t>- Axis, title and footnote say 'after entry': the Scorecard field MD_EARN_WNE_P10 is measured 10 years after enrollment, not graduation.</a:t>
            </a:r>
          </a:p>
          <a:p>
            <a:r>
              <a:t>- Removed Vanderbilt-internal speaker notes.</a:t>
            </a:r>
          </a:p>
          <a:p>
            <a:endParaRPr/>
          </a:p>
          <a:p>
            <a:r>
              <a:t>RESULTS AND CHECKS (1,527 institutions: 584 public, 943 private)</a:t>
            </a:r>
          </a:p>
          <a:p>
            <a:r>
              <a:t>- Northeastern ranks 33 of 1,527 (29 of 943 private; rank = 1 + institutions with strictly higher earnings, so ties share a rank, and Northeastern University Oakland reports the identical earnings) at $92,538 median earnings and $30,915 net price (previous release: 38th of 1,557 at $88,842 and $34,255). Vanderbilt ranks 38 (previously 53rd); Boston University 77; MIT 1.</a:t>
            </a:r>
          </a:p>
          <a:p>
            <a:r>
              <a:t>- Trendline is an OLS fit on private institutions: slope 0.924, intercept $34,026, r = 0.47 (R-squared 0.22). Weak fit: 'better deal / worse deal' is directional.</a:t>
            </a:r>
          </a:p>
          <a:p>
            <a:r>
              <a:t>- Earnings are in 2022 dollars for every school, so ranks are comparable within this release. The previous release used an older earnings cohort, so the change in rank is not a like-for-like trend.</a:t>
            </a:r>
          </a:p>
          <a:p>
            <a:r>
              <a:t>- Cal Maritime is now Cal Poly Maritime Academy; University of the Sciences (merged into Saint Joseph's University in 2022) drops out.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925 institutions in HERD FY 2024 Table 4 (standard and short form). Chart shows the top 150. Johns Hopkins ($4.13B) includes the Applied Physics Laboratory ($2.55B). Medical school = institution reported medical-school R&amp;D in Table 19. Total HERD R&amp;D in FY 2024 was $117.6B (standard form; $117.7B all institutions).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50 private institutions by FY 2024 total R&amp;D (HERD Tables 4 and 5). Names shortened for the axis: MIT, Caltech, Dartmouth (incl. Dartmouth Hitchcock), Vanderbilt (incl. VUMC), Icahn School of Medicine at Mount Sinai, Washington U. St. Louis. Includes standalone private research and medical institutions (Scripps, Woods Hole, Cold Spring Harbor, Rockefeller, Baylor College of Medicine). Medical school = reported medical-school R&amp;D in Table 19.</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Compound annual growth rate of total R&amp;D expenditures, FY 2019–2024, for the top 50 private institutions (HERD Table 13). All HERD institutions (standard form): 7.1% per year. Median of the top-50 privates: 7.2%. </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point is one of the top 50 private institutions (Albert Einstein excluded; no FY 2014 data). Vertical line = median FY 2024 R&amp;D ($492M); horizontal line = median ten-year growth rate (6.2%). Horizontal axis is logarithmic. Johns Hopkins includes APL. Beluga quadrant (smaller / faster): Dartmouth, Georgetown U., Northeastern U., U. Notre Dame, Wake Forest U., Rice U., Thomas Jefferson U., U. Dayton, Syracuse U., Brigham Young U., Baylor U..</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Original slide footnote: Source: degree-seeking enrolment by reporting group (Undergraduate, Professional Graduate, JD/PhD) supplied 8 September 2026, Fall 2019 – Fall 2026. FISCAL-YEAR LABELS: the fiscal year ends June 30, so each fall term falls in the following fiscal year — Fall 2019 = FY20 … Fall 2026 = FY27. FY27 IS AN ESTIMATE, not a reported count; non-degree students are excluded. The undergraduate/graduate split on the enrolment page in the appendix comes from an earlier table that classifies about 2,000 students differently; the yearly totals are identical on both.</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Professional graduate headcount (not FTE), 1 October snapshots: FY20 17,160; FY21 16,604; FY22 19,210; FY23 21,855; FY24 23,247 (peak); FY25 22,798; FY26 21,431; FY27 estimate 17,607. FY20 to FY24 +6,087 (+35.5%); FY24 to FY27 -5,640 (-24.3%); FY25 to FY27 -22.8%; FY27 vs FY20 +447. Source: same enrollment file as the prior slide.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1C1C90E-5E19-004A-8DAF-9194FC6166B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661525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GAAP UR operating result: $93M in FY18, peak $157M in FY22, trough $27M in FY25, $98M on preliminary FY26. On a revenue base that nearly doubled, FY26 is still a 320bp margin decline from FY18.</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Original slide footnote: Moody's “A” (single-A, solid line) and “Aa” (double-A, dashed line) rating category medians across all Moody's-rated private universities nationally (n=70), FY2025 — the broad national single-A sample, not restricted to Northeastern's own peer set or institution size. Source: Moody's Ratings, “Higher Education – US: Medians – Private colleges' margin pressure intensifies as costs rise,” 24 June 2026, Appendix D – A (single-A, n=70) and Appendix D – Aa (double-A, n=60).</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Original slide footnote: EBIDA margin = (Operating result + Depreciation &amp; Amortization + Interest) ÷ Total operating revenues &amp; other support, all four measured on each institution's Without-Donor-Restrictions (unrestricted operating) basis. ⚕ Includes a consolidated health system or clinical practice-plan revenue stream (Duke, Cornell, NYU, Emory, USC, Tulane, Miami, George Washington; Tufts incl. ~$163.7M Cummings Veterinary/Dental clinical practice revenue) — not directly comparable to a pure-academic peer. FYE varies: Aug 31 (Northwestern, NYU, Emory); May 31 (Boston College, Miami, Villanova); June 30 (all others). USC shown before its $55.5M insurance recovery (3.7% with). Source: each institution's audited FY2025 consolidated financial statements.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Original slide footnote: Sources: totals, Oakland and FY20 – FY22 from "2026-09-03 2019 - Current Staff Headcounts - Credits - UG class sizes.xlsx," Detail tab; FY23 – FY27 funding split from "2026-09-04 2019-2026 Staff headcount by funding source.xlsx," Division Detail by FT tab, with FY20 – FY22 derived by applying each division's own FY23 internal share to its published headcount — the same basis as the executive-level pages, so the two foot to each other. LONDON: first reported Fall 2025 — 216 in FY26 and 182 in FY27, all Operating funds (Division Detail by FT, DIV54). Full-time filled positions, excluding postdocs. INTERNALLY FUNDED = Operating, Auxiliary, Designated and Plant funds; EXTERNALLY FUNDED = Restricted and Research funds. FISCAL-YEAR LABELS: Fall 2019 = FY20 ... Fall 2025 = FY26; FY27 is the 1 August 2026 snapshot, ten months after FY26.</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CHANGED FROM THE ORIGINAL</a:t>
            </a:r>
          </a:p>
          <a:p>
            <a:r>
              <a:t>- Updated to FY25 audited financial statements and added Northeastern, Boston University and MIT. Universities' logos removed: every institution is a data point with a label. </a:t>
            </a:r>
          </a:p>
          <a:p>
            <a:r>
              <a:t>- 'Core operating expenses' now follow the axis definition: total operating expenses less depreciation, amortization and interest. The original FY23 figures did NOT: they equal each school's total operating expenses to the dollar (for Rice, Vanderbilt, Northwestern, Princeton, Harvard, Duke and Penn they are the IPEDS FY23 'total expenses' field). Restated on the stated definition, FY23 core expenses are 5-15% lower, so FY25 positions are not comparable with the earlier chart along the x axis. S&amp;W per student (the iso-lines) does not depend on this definition.</a:t>
            </a:r>
          </a:p>
          <a:p>
            <a:r>
              <a:t>- S&amp;W: the original S&amp;W for Penn, Stanford and Northwestern equals exactly 72.80% of each school's combined salaries-and-benefits line, an undisclosed assumption. Peers that report both lines run 74.8% to 81.4%. Northwestern is now actual (its Form 990 ties to the audited combined line to the dollar: S&amp;W = 77.9%). Penn and Stanford are estimates, shown in light blue: per Northeastern's direction S&amp;W = audited combined salaries and benefits / 1.35 (a 35% fringe benefit rate, i.e. a 74.1% S&amp;W share). For reference the schools that report both lines have fringe rates of 23%-34% (74.8%-81.4% S&amp;W share), so 35% is above every observed peer and these two estimates lean low; their own Form 990 shares (76.7%, 80.2%) would give S&amp;W per student about 4% (Penn) and 8% (Stanford) higher.</a:t>
            </a:r>
          </a:p>
          <a:p>
            <a:r>
              <a:t>- Markers: universities that consolidate a health system (footnote 1) are blue: royal blue for Chicago, Duke and Emory, lighter blue for Penn and Stanford (S&amp;W estimated, footnote 4). Everyone else is black; Northeastern is red. Markers are one size larger than the first draft.</a:t>
            </a:r>
          </a:p>
          <a:p>
            <a:r>
              <a:t>- Y axis now runs 30% to 60% (was 0% to 80%) with no horizontal gridlines: all 14 S&amp;W shares fall between 43% and 54%, so the tighter range spreads the points and the chart is less busy. Dashed iso-lines are drawn to the plot edges and labelled in $K where they enter along the top edge.</a:t>
            </a:r>
          </a:p>
          <a:p>
            <a:r>
              <a:t>- Student counts: the original mixed sources (Rice = fall 2021, Vanderbilt = fall 2022, Emory 16,000 and Northwestern 23,000 were round estimates; Harvard and Penn used degree-seeking counts while others used IPEDS). All FY25 counts are now fall 2024 total enrollment from each school's Common Data Set.</a:t>
            </a:r>
          </a:p>
          <a:p>
            <a:endParaRPr/>
          </a:p>
          <a:p>
            <a:r>
              <a:t>NORTHEASTERN</a:t>
            </a:r>
          </a:p>
          <a:p>
            <a:r>
              <a:t>- S&amp;W $1,008M on core operating expenses $2,187M = 46.1%; 39,774 students =&gt; $25.4K S&amp;W per student and $55.0K core expense per student (x axis $55.0K is unchanged: total operating expenses $2,388.2M less depreciation $151.3M and interest $49.9M = $2,187.1M).</a:t>
            </a:r>
          </a:p>
          <a:p>
            <a:r>
              <a:t>- CHECK OF THE $1.3B: the audited statements show only 'Salary and benefits' of $1,341.0M, which is salaries AND benefits. At Northeastern's 33% fringe benefit rate S&amp;W is $1,008M and benefits are $333M, so 39,774 students x $25.4K S&amp;W per student = $1,008M, not $1.3B. $1,341.0M / 39,774 = $33.7K is salary-plus-benefits per student, not S&amp;W per student, and is not comparable with the peers' S&amp;W (the nine peers that report both lines exclude benefits). On the like-for-like salary-plus-benefits basis Northeastern is still lowest ($33.7K vs Boston University $43.1K).</a:t>
            </a:r>
          </a:p>
          <a:p>
            <a:r>
              <a:t>- How S&amp;W is derived: neither the audited statements nor any footnote split the line, so S&amp;W = audited $1,341.0M / (1 + 33% fringe rate, per Northeastern) = $1,008.3M. For reference the Form 990 (university only, 96.8% of the audited line) shows S&amp;W $1,045.1M and benefits $252.4M (24.2% of S&amp;W); using the 990 as filed would give $26.3K and 47.8%, and scaling its S&amp;W share to the audited line $27.2K and 49.4%.</a:t>
            </a:r>
          </a:p>
          <a:p>
            <a:r>
              <a:t>- Student count: per Northeastern's direction the Common Data Set fall 2024 headcount (39,774) is used. It is about 22% above the IPEDS-style headcount (about 32.5K) and Facts and Figures shows 48,812; S&amp;W per student would be $25.4K, $31.0K or $20.7K respectively. Northeastern is lowest in the peer set on all three.</a:t>
            </a:r>
          </a:p>
          <a:p>
            <a:r>
              <a:t>- Northeastern and BU headcounts include large graduate, online and co-op populations; per-headcount measures understate S&amp;W per FTE student.</a:t>
            </a:r>
          </a:p>
          <a:p>
            <a:endParaRPr/>
          </a:p>
          <a:p>
            <a:r>
              <a:t>OTHER CHECKS AND CAVEATS</a:t>
            </a:r>
          </a:p>
          <a:p>
            <a:r>
              <a:t>- Rice FY25 S&amp;W +10.7% and scholarship presentation change; Duke FY24 includes the physician-practice acquisition (FY23-FY24 not comparable; FY25 is fine); Emory FY25 includes three months of the Houston Healthcare acquisition; Northeastern FY25 includes two weeks of Marymount Manhattan College; Yale reports depreciation, amortization and interest as one combined line; Vanderbilt S&amp;W is from a chart at $M precision.</a:t>
            </a:r>
          </a:p>
          <a:p>
            <a:r>
              <a:t>- Chicago's CDS headcount (16,221) is 12% below IPEDS-style counts.</a:t>
            </a:r>
          </a:p>
          <a:p>
            <a:r>
              <a:t>- Harvard (FY25 and FY23 Financial Reports, supplied by Northeastern; audited, unqualified opinions): S&amp;W $2,759M and employee benefits $756M are separate lines (benefits = 27.4% of S&amp;W), total operating expenses $6,794M less depreciation $459M and interest $263M = core $6,073M; S&amp;W share 45.4%. The nine natural-classification lines sum to total operating expenses in FY25, FY24 and FY23. Students: 24,819 = Common Data Set fall 2024 total 21,189 (degree schools only) plus 3,630 Extension School degree students (621 undergraduate + 3,009 graduate, Harvard OIRA Fact Book 2025-26, as of Oct 15, 2024), added because Harvard's expenses include the Division of Continuing Education. $111K S&amp;W per student and $245K core expense per student. Without the Extension count it would be $130K; the Fact Book's distinct-student total (24,519) gives $113K; IPEDS (30,386 in fall 2023, adds non-degree Extension course takers) gives $91K. FY23 tie-out: the original slide's Harvard S&amp;W ($2,421,076K) equals the audited FY23 line to the dollar and its 'core' ($5,911,797K) equals audited FY23 total operating expenses; on the stated definition FY23 core is $5,278M. S&amp;W grew 13.9% FY23 to FY25. No hospital is consolidated. Harvard sits just below Princeton ($128K) on S&amp;W per student and 5 points lower on S&amp;W share (45% vs 51%).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CHANGED FROM THE ORIGINAL</a:t>
            </a:r>
          </a:p>
          <a:p>
            <a:r>
              <a:t>- 2014 row removed as requested. 2025 and 2026 added where the survey asked something comparable; rebuilt as a native chart (values are in the embedded sheet).</a:t>
            </a:r>
          </a:p>
          <a:p>
            <a:r>
              <a:t>- The item wording is 'aware of and understand the financial challenges confronting my institution', not 'realistic and aware': 'realistic' was only the 2013-2014 wording. The 2015-2024 reports all use 'aware of and understand'.</a:t>
            </a:r>
          </a:p>
          <a:p>
            <a:r>
              <a:t>- 2025 and 2026: the three-group item was NOT asked. The reports ask a trustees-only statement ('Trustees understand the financial challenges confronting my institution'): 74% in 2025 (n=169, +/-7%) and 79% in 2026 (n=213, +/-6%). They are plotted as separate open markers with no connector because the wording and the groups differ. There is no 2025 or 2026 value for faculty or senior administrators.</a:t>
            </a:r>
          </a:p>
          <a:p>
            <a:r>
              <a:t>- Every value was re-read from the report PDFs (all-institution results). Four rows on the original slide did not match: 2015 faculty 33 -&gt; 32; 2020 31/87/93 -&gt; 34/84/90 (the original used a private-nonprofit sub-column); 2022 28/91/91 -&gt; 53/90/91 (the 2022 report's p.28 chart has misaligned rows; the detail tables give 53/90/91); 2024 44/91/95 -&gt; 39/79/88 (the original used the private-nonprofit column).</a:t>
            </a:r>
          </a:p>
          <a:p>
            <a:r>
              <a:t>- 2016 and 2017 faculty (27, 32) answer a different item: 'Faculty members understand the financial challenges my institution faces when they participate in college-wide budget discussions.' Marked with an asterisk.</a:t>
            </a:r>
          </a:p>
          <a:p>
            <a:r>
              <a:t>- 2021 was fielded by Hanover Research (n=133) rather than Gallup; sample sizes run 133 to 416, so year-to-year moves of a few points are within the margin of error where one is stated (about 6-7%).</a:t>
            </a:r>
          </a:p>
          <a:p>
            <a:endParaRPr/>
          </a:p>
          <a:p>
            <a:r>
              <a:t>WHAT THE SERIES SHOWS</a:t>
            </a:r>
          </a:p>
          <a:p>
            <a:r>
              <a:t>- Trustees minus faculty: between 34 and 50 points in every year 2015-2024 (47 in 2015, 40 in 2024). Sr. Administrators minus faculty: between 36 and 59 points (56 in 2015, 49 in 2024). Faculty peaked at 53% in 2022 and has fallen since (45, 39); trustees fell from 90% (2022) to 79% (2024); the trustees-only item read 74% (2025) and 79% (2026).</a:t>
            </a:r>
          </a:p>
          <a:p>
            <a:r>
              <a:t>- The disconnect persists, but the corrected 2022-2024 rows show trustees and administrators well below the 91-95% the original slide showed for 2022-2024.</a:t>
            </a:r>
          </a:p>
          <a:p>
            <a:r>
              <a:t>- Ratings are business officers' perceptions of each group, not self-reports; Sr. Administrators includes their own peers.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Updated this edition: pet care $158B (APPA, 2025); gambling (AGA commercial gaming revenue) $78.7B (2025); lottery $109.4B (NASPL, FY2025 total including gaming machines, table games and sports betting); NIH $47.5B and NSF $8.75B (FY2026 enacted); baggage fees $7.27B (BTS, 2024 record; 2025 not yet published); Valentine's Day flowers $3.1B (NRF, 2026). All other items are 2024 figures from: Bureau of Transportation Statistics, Fortune Business Insights, IBIS World, Mordor Intelligence, Responsible Lending, Statista, Yahoo Finance, Yum! Brands, and industry sources; not updated because no same-basis 2025 figure was found (wine and spirits, beer, soft drinks, tobacco, bottled water, beauty, coffee, video games, child care, lawn care, sporting events, pizza, legal marijuana, chocolate, movies, Taco Bell, credit card late fees, concerts, overdraft fees, potato chips, cosmetic surgery, perfume, tattoos, Twinkies).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Private institutions re-ranked each year by that year's total R&amp;D (HERD Table 13, current institution definitions). Shown: Northeastern and every private institution that ranked above it in FY 2014 but below it in FY 2024. Yeshiva University is omitted: it ranked above Northeastern in FY 2014, but Albert Einstein College of Medicine began reporting separately in FY 2019 (Einstein now ranks #31).</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cSld name="Northeastern Standar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6446520"/>
            <a:ext cx="11274552" cy="952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503920" y="6510528"/>
            <a:ext cx="2331720" cy="256032"/>
          </a:xfrm>
          <a:prstGeom prst="rect">
            <a:avLst/>
          </a:prstGeom>
          <a:noFill/>
        </p:spPr>
        <p:txBody>
          <a:bodyPr wrap="none" lIns="0" tIns="0" rIns="0" bIns="0" anchor="ctr">
            <a:spAutoFit/>
          </a:bodyPr>
          <a:lstStyle/>
          <a:p>
            <a:pPr algn="r"/>
            <a:r>
              <a:rPr sz="900" b="1">
                <a:solidFill>
                  <a:srgbClr val="000000"/>
                </a:solidFill>
                <a:latin typeface="Lato"/>
              </a:rPr>
              <a:t>Northeastern University</a:t>
            </a:r>
          </a:p>
        </p:txBody>
      </p:sp>
      <p:pic>
        <p:nvPicPr>
          <p:cNvPr id="5" name="Picture 4" descr="monogram-red.png"/>
          <p:cNvPicPr>
            <a:picLocks noChangeAspect="1"/>
          </p:cNvPicPr>
          <p:nvPr/>
        </p:nvPicPr>
        <p:blipFill>
          <a:blip r:embed="rId2"/>
          <a:srcRect l="12000" t="20000" r="12000" b="20000"/>
          <a:stretch>
            <a:fillRect/>
          </a:stretch>
        </p:blipFill>
        <p:spPr>
          <a:xfrm>
            <a:off x="11457432" y="6528816"/>
            <a:ext cx="301752" cy="237744"/>
          </a:xfrm>
          <a:prstGeom prst="rect">
            <a:avLst/>
          </a:prstGeom>
        </p:spPr>
      </p:pic>
    </p:spTree>
    <p:extLst>
      <p:ext uri="{BB962C8B-B14F-4D97-AF65-F5344CB8AC3E}">
        <p14:creationId xmlns:p14="http://schemas.microsoft.com/office/powerpoint/2010/main" val="1601164852"/>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alpha val="89804"/>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1" y="365126"/>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1" y="1825625"/>
            <a:ext cx="10515600" cy="4351338"/>
          </a:xfrm>
          <a:prstGeom prst="rect">
            <a:avLst/>
          </a:prstGeom>
          <a:noFill/>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31059664"/>
      </p:ext>
    </p:extLst>
  </p:cSld>
  <p:clrMap bg1="lt1" tx1="dk1" bg2="lt2" tx2="dk2" accent1="accent1" accent2="accent2" accent3="accent3" accent4="accent4" accent5="accent5" accent6="accent6" hlink="hlink" folHlink="folHlink"/>
  <p:sldLayoutIdLst>
    <p:sldLayoutId id="2147484412" r:id="rId1"/>
  </p:sldLayoutIdLst>
  <p:hf sldNum="0" hdr="0" ftr="0" dt="0"/>
  <p:txStyles>
    <p:titleStyle>
      <a:lvl1pPr algn="l" defTabSz="914172" rtl="0" eaLnBrk="1" latinLnBrk="0" hangingPunct="1">
        <a:lnSpc>
          <a:spcPct val="90000"/>
        </a:lnSpc>
        <a:spcBef>
          <a:spcPct val="0"/>
        </a:spcBef>
        <a:buNone/>
        <a:defRPr sz="4399" b="1" i="0" kern="1200" spc="1100" baseline="0">
          <a:solidFill>
            <a:schemeClr val="bg1"/>
          </a:solidFill>
          <a:latin typeface="Aptos ExtraBold" panose="020B0004020202020204" pitchFamily="34" charset="0"/>
          <a:ea typeface="+mj-ea"/>
          <a:cs typeface="+mj-cs"/>
        </a:defRPr>
      </a:lvl1pPr>
    </p:titleStyle>
    <p:bodyStyle>
      <a:lvl1pPr marL="0" indent="0" algn="l" defTabSz="914172" rtl="0" eaLnBrk="1" latinLnBrk="0" hangingPunct="1">
        <a:lnSpc>
          <a:spcPct val="90000"/>
        </a:lnSpc>
        <a:spcBef>
          <a:spcPts val="1000"/>
        </a:spcBef>
        <a:buFont typeface="Arial" panose="020B0604020202020204" pitchFamily="34" charset="0"/>
        <a:buNone/>
        <a:defRPr sz="2800" kern="1200" spc="150">
          <a:solidFill>
            <a:schemeClr val="tx1"/>
          </a:solidFill>
          <a:latin typeface="Aptos" panose="020B0004020202020204" pitchFamily="34" charset="0"/>
          <a:ea typeface="+mn-ea"/>
          <a:cs typeface="+mn-cs"/>
        </a:defRPr>
      </a:lvl1pPr>
      <a:lvl2pPr marL="457086" indent="0" algn="l" defTabSz="914172" rtl="0" eaLnBrk="1" latinLnBrk="0" hangingPunct="1">
        <a:lnSpc>
          <a:spcPct val="90000"/>
        </a:lnSpc>
        <a:spcBef>
          <a:spcPts val="500"/>
        </a:spcBef>
        <a:buFont typeface="Arial" panose="020B0604020202020204" pitchFamily="34" charset="0"/>
        <a:buNone/>
        <a:defRPr sz="2400" kern="1200" spc="150">
          <a:solidFill>
            <a:schemeClr val="tx1"/>
          </a:solidFill>
          <a:latin typeface="Aptos" panose="020B0004020202020204" pitchFamily="34" charset="0"/>
          <a:ea typeface="+mn-ea"/>
          <a:cs typeface="+mn-cs"/>
        </a:defRPr>
      </a:lvl2pPr>
      <a:lvl3pPr marL="914172" indent="0" algn="l" defTabSz="914172" rtl="0" eaLnBrk="1" latinLnBrk="0" hangingPunct="1">
        <a:lnSpc>
          <a:spcPct val="90000"/>
        </a:lnSpc>
        <a:spcBef>
          <a:spcPts val="500"/>
        </a:spcBef>
        <a:buFont typeface="Arial" panose="020B0604020202020204" pitchFamily="34" charset="0"/>
        <a:buNone/>
        <a:defRPr sz="2000" kern="1200" spc="150">
          <a:solidFill>
            <a:schemeClr val="tx1"/>
          </a:solidFill>
          <a:latin typeface="Aptos" panose="020B0004020202020204" pitchFamily="34" charset="0"/>
          <a:ea typeface="+mn-ea"/>
          <a:cs typeface="+mn-cs"/>
        </a:defRPr>
      </a:lvl3pPr>
      <a:lvl4pPr marL="1371257" indent="0" algn="l" defTabSz="914172" rtl="0" eaLnBrk="1" latinLnBrk="0" hangingPunct="1">
        <a:lnSpc>
          <a:spcPct val="90000"/>
        </a:lnSpc>
        <a:spcBef>
          <a:spcPts val="500"/>
        </a:spcBef>
        <a:buFont typeface="Arial" panose="020B0604020202020204" pitchFamily="34" charset="0"/>
        <a:buNone/>
        <a:defRPr sz="1800" kern="1200" spc="150">
          <a:solidFill>
            <a:schemeClr val="tx1"/>
          </a:solidFill>
          <a:latin typeface="Aptos" panose="020B0004020202020204" pitchFamily="34" charset="0"/>
          <a:ea typeface="+mn-ea"/>
          <a:cs typeface="+mn-cs"/>
        </a:defRPr>
      </a:lvl4pPr>
      <a:lvl5pPr marL="1828343" indent="0" algn="l" defTabSz="914172" rtl="0" eaLnBrk="1" latinLnBrk="0" hangingPunct="1">
        <a:lnSpc>
          <a:spcPct val="90000"/>
        </a:lnSpc>
        <a:spcBef>
          <a:spcPts val="500"/>
        </a:spcBef>
        <a:buFont typeface="Arial" panose="020B0604020202020204" pitchFamily="34" charset="0"/>
        <a:buNone/>
        <a:defRPr sz="1800" kern="1200" spc="150">
          <a:solidFill>
            <a:schemeClr val="tx1"/>
          </a:solidFill>
          <a:latin typeface="Aptos" panose="020B0004020202020204" pitchFamily="34" charset="0"/>
          <a:ea typeface="+mn-ea"/>
          <a:cs typeface="+mn-cs"/>
        </a:defRPr>
      </a:lvl5pPr>
      <a:lvl6pPr marL="2513972"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057"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143"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229"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172" rtl="0" eaLnBrk="1" latinLnBrk="0" hangingPunct="1">
        <a:defRPr sz="1800" kern="1200">
          <a:solidFill>
            <a:schemeClr val="tx1"/>
          </a:solidFill>
          <a:latin typeface="+mn-lt"/>
          <a:ea typeface="+mn-ea"/>
          <a:cs typeface="+mn-cs"/>
        </a:defRPr>
      </a:lvl1pPr>
      <a:lvl2pPr marL="457086" algn="l" defTabSz="914172" rtl="0" eaLnBrk="1" latinLnBrk="0" hangingPunct="1">
        <a:defRPr sz="1800" kern="1200">
          <a:solidFill>
            <a:schemeClr val="tx1"/>
          </a:solidFill>
          <a:latin typeface="+mn-lt"/>
          <a:ea typeface="+mn-ea"/>
          <a:cs typeface="+mn-cs"/>
        </a:defRPr>
      </a:lvl2pPr>
      <a:lvl3pPr marL="914172" algn="l" defTabSz="914172" rtl="0" eaLnBrk="1" latinLnBrk="0" hangingPunct="1">
        <a:defRPr sz="1800" kern="1200">
          <a:solidFill>
            <a:schemeClr val="tx1"/>
          </a:solidFill>
          <a:latin typeface="+mn-lt"/>
          <a:ea typeface="+mn-ea"/>
          <a:cs typeface="+mn-cs"/>
        </a:defRPr>
      </a:lvl3pPr>
      <a:lvl4pPr marL="1371257" algn="l" defTabSz="914172" rtl="0" eaLnBrk="1" latinLnBrk="0" hangingPunct="1">
        <a:defRPr sz="1800" kern="1200">
          <a:solidFill>
            <a:schemeClr val="tx1"/>
          </a:solidFill>
          <a:latin typeface="+mn-lt"/>
          <a:ea typeface="+mn-ea"/>
          <a:cs typeface="+mn-cs"/>
        </a:defRPr>
      </a:lvl4pPr>
      <a:lvl5pPr marL="1828343" algn="l" defTabSz="914172" rtl="0" eaLnBrk="1" latinLnBrk="0" hangingPunct="1">
        <a:defRPr sz="1800" kern="1200">
          <a:solidFill>
            <a:schemeClr val="tx1"/>
          </a:solidFill>
          <a:latin typeface="+mn-lt"/>
          <a:ea typeface="+mn-ea"/>
          <a:cs typeface="+mn-cs"/>
        </a:defRPr>
      </a:lvl5pPr>
      <a:lvl6pPr marL="2285429" algn="l" defTabSz="914172" rtl="0" eaLnBrk="1" latinLnBrk="0" hangingPunct="1">
        <a:defRPr sz="1800" kern="1200">
          <a:solidFill>
            <a:schemeClr val="tx1"/>
          </a:solidFill>
          <a:latin typeface="+mn-lt"/>
          <a:ea typeface="+mn-ea"/>
          <a:cs typeface="+mn-cs"/>
        </a:defRPr>
      </a:lvl6pPr>
      <a:lvl7pPr marL="2742514" algn="l" defTabSz="914172" rtl="0" eaLnBrk="1" latinLnBrk="0" hangingPunct="1">
        <a:defRPr sz="1800" kern="1200">
          <a:solidFill>
            <a:schemeClr val="tx1"/>
          </a:solidFill>
          <a:latin typeface="+mn-lt"/>
          <a:ea typeface="+mn-ea"/>
          <a:cs typeface="+mn-cs"/>
        </a:defRPr>
      </a:lvl7pPr>
      <a:lvl8pPr marL="3199600" algn="l" defTabSz="914172" rtl="0" eaLnBrk="1" latinLnBrk="0" hangingPunct="1">
        <a:defRPr sz="1800" kern="1200">
          <a:solidFill>
            <a:schemeClr val="tx1"/>
          </a:solidFill>
          <a:latin typeface="+mn-lt"/>
          <a:ea typeface="+mn-ea"/>
          <a:cs typeface="+mn-cs"/>
        </a:defRPr>
      </a:lvl8pPr>
      <a:lvl9pPr marL="3656686" algn="l" defTabSz="914172"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chart" Target="../charts/chart1.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chart" Target="../charts/chart6.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chart" Target="../charts/chart11.xml"/><Relationship Id="rId2" Type="http://schemas.openxmlformats.org/officeDocument/2006/relationships/chart" Target="../charts/chart10.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13.xml"/><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chart" Target="../charts/chart14.xml"/><Relationship Id="rId7" Type="http://schemas.openxmlformats.org/officeDocument/2006/relationships/image" Target="../media/image2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chart" Target="../charts/chart16.xml"/><Relationship Id="rId7" Type="http://schemas.openxmlformats.org/officeDocument/2006/relationships/image" Target="../media/image27.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chart" Target="../charts/chart18.xml"/><Relationship Id="rId2" Type="http://schemas.openxmlformats.org/officeDocument/2006/relationships/chart" Target="../charts/chart17.xml"/><Relationship Id="rId1" Type="http://schemas.openxmlformats.org/officeDocument/2006/relationships/slideLayout" Target="../slideLayouts/slideLayout1.xml"/><Relationship Id="rId4" Type="http://schemas.openxmlformats.org/officeDocument/2006/relationships/chart" Target="../charts/chart19.xml"/></Relationships>
</file>

<file path=ppt/slides/_rels/slide26.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chart" Target="../charts/chart21.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chart" Target="../charts/chart22.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chart" Target="../charts/chart23.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chart" Target="../charts/chart24.xml"/><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chart" Target="../charts/chart25.xml"/></Relationships>
</file>

<file path=ppt/slides/_rels/slide31.xml.rels><?xml version="1.0" encoding="UTF-8" standalone="yes"?>
<Relationships xmlns="http://schemas.openxmlformats.org/package/2006/relationships"><Relationship Id="rId3" Type="http://schemas.openxmlformats.org/officeDocument/2006/relationships/chart" Target="../charts/chart26.xml"/><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32.xml.rels><?xml version="1.0" encoding="UTF-8" standalone="yes"?>
<Relationships xmlns="http://schemas.openxmlformats.org/package/2006/relationships"><Relationship Id="rId3" Type="http://schemas.openxmlformats.org/officeDocument/2006/relationships/chart" Target="../charts/chart27.xml"/><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30.png"/><Relationship Id="rId4" Type="http://schemas.openxmlformats.org/officeDocument/2006/relationships/image" Target="../media/image29.png"/></Relationships>
</file>

<file path=ppt/slides/_rels/slide33.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38.png"/><Relationship Id="rId3" Type="http://schemas.openxmlformats.org/officeDocument/2006/relationships/chart" Target="../charts/chart28.xml"/><Relationship Id="rId7" Type="http://schemas.openxmlformats.org/officeDocument/2006/relationships/image" Target="../media/image34.png"/><Relationship Id="rId12" Type="http://schemas.openxmlformats.org/officeDocument/2006/relationships/image" Target="../media/image37.png"/><Relationship Id="rId17" Type="http://schemas.openxmlformats.org/officeDocument/2006/relationships/image" Target="../media/image1.png"/><Relationship Id="rId2" Type="http://schemas.openxmlformats.org/officeDocument/2006/relationships/notesSlide" Target="../notesSlides/notesSlide13.xml"/><Relationship Id="rId16"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33.png"/><Relationship Id="rId11" Type="http://schemas.openxmlformats.org/officeDocument/2006/relationships/image" Target="../media/image20.png"/><Relationship Id="rId5" Type="http://schemas.openxmlformats.org/officeDocument/2006/relationships/image" Target="../media/image32.png"/><Relationship Id="rId15" Type="http://schemas.openxmlformats.org/officeDocument/2006/relationships/image" Target="../media/image40.png"/><Relationship Id="rId10" Type="http://schemas.openxmlformats.org/officeDocument/2006/relationships/image" Target="../media/image36.png"/><Relationship Id="rId4" Type="http://schemas.openxmlformats.org/officeDocument/2006/relationships/image" Target="../media/image31.png"/><Relationship Id="rId9" Type="http://schemas.openxmlformats.org/officeDocument/2006/relationships/image" Target="../media/image21.png"/><Relationship Id="rId14" Type="http://schemas.openxmlformats.org/officeDocument/2006/relationships/image" Target="../media/image3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42.jpe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chart" Target="../charts/chart29.xm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7.png"/></Relationships>
</file>

<file path=ppt/slides/_rels/slide3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4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chart" Target="../charts/chart3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chart" Target="../charts/chart3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chart" Target="../charts/chart3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chart" Target="../charts/chart34.xml"/><Relationship Id="rId2" Type="http://schemas.openxmlformats.org/officeDocument/2006/relationships/chart" Target="../charts/chart3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chart" Target="../charts/chart35.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chart" Target="../charts/chart36.xml"/><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chart" Target="../charts/chart37.xm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rimary-logo-red-black.png"/>
          <p:cNvPicPr>
            <a:picLocks noChangeAspect="1"/>
          </p:cNvPicPr>
          <p:nvPr/>
        </p:nvPicPr>
        <p:blipFill>
          <a:blip r:embed="rId2"/>
          <a:stretch>
            <a:fillRect/>
          </a:stretch>
        </p:blipFill>
        <p:spPr>
          <a:xfrm>
            <a:off x="822960" y="731520"/>
            <a:ext cx="2220129" cy="822960"/>
          </a:xfrm>
          <a:prstGeom prst="rect">
            <a:avLst/>
          </a:prstGeom>
        </p:spPr>
      </p:pic>
      <p:sp>
        <p:nvSpPr>
          <p:cNvPr id="3" name="TextBox 2"/>
          <p:cNvSpPr txBox="1"/>
          <p:nvPr/>
        </p:nvSpPr>
        <p:spPr>
          <a:xfrm>
            <a:off x="822960" y="2468880"/>
            <a:ext cx="10515600" cy="914400"/>
          </a:xfrm>
          <a:prstGeom prst="rect">
            <a:avLst/>
          </a:prstGeom>
          <a:noFill/>
        </p:spPr>
        <p:txBody>
          <a:bodyPr wrap="square" lIns="0" tIns="0" rIns="0" bIns="0" anchor="t">
            <a:spAutoFit/>
          </a:bodyPr>
          <a:lstStyle/>
          <a:p>
            <a:pPr algn="l"/>
            <a:r>
              <a:rPr sz="5400" b="1" i="0">
                <a:solidFill>
                  <a:srgbClr val="000000"/>
                </a:solidFill>
                <a:latin typeface="Lato"/>
              </a:rPr>
              <a:t>Financial Overview</a:t>
            </a:r>
          </a:p>
        </p:txBody>
      </p:sp>
      <p:sp>
        <p:nvSpPr>
          <p:cNvPr id="4" name="TextBox 3"/>
          <p:cNvSpPr txBox="1"/>
          <p:nvPr/>
        </p:nvSpPr>
        <p:spPr>
          <a:xfrm>
            <a:off x="822960" y="3429000"/>
            <a:ext cx="10515600" cy="548640"/>
          </a:xfrm>
          <a:prstGeom prst="rect">
            <a:avLst/>
          </a:prstGeom>
          <a:noFill/>
        </p:spPr>
        <p:txBody>
          <a:bodyPr wrap="square" lIns="0" tIns="0" rIns="0" bIns="0" anchor="t">
            <a:spAutoFit/>
          </a:bodyPr>
          <a:lstStyle/>
          <a:p>
            <a:pPr algn="l"/>
            <a:r>
              <a:rPr sz="2400" b="0" i="0">
                <a:solidFill>
                  <a:srgbClr val="C8102E"/>
                </a:solidFill>
                <a:latin typeface="Lato"/>
              </a:rPr>
              <a:t>The environment, where we stand, and the challenges ahead</a:t>
            </a:r>
          </a:p>
        </p:txBody>
      </p:sp>
      <p:sp>
        <p:nvSpPr>
          <p:cNvPr id="5" name="TextBox 4"/>
          <p:cNvSpPr txBox="1"/>
          <p:nvPr/>
        </p:nvSpPr>
        <p:spPr>
          <a:xfrm>
            <a:off x="822960" y="5120640"/>
            <a:ext cx="10515600" cy="365760"/>
          </a:xfrm>
          <a:prstGeom prst="rect">
            <a:avLst/>
          </a:prstGeom>
          <a:noFill/>
        </p:spPr>
        <p:txBody>
          <a:bodyPr wrap="square" lIns="0" tIns="0" rIns="0" bIns="0" anchor="t">
            <a:spAutoFit/>
          </a:bodyPr>
          <a:lstStyle/>
          <a:p>
            <a:pPr algn="l"/>
            <a:r>
              <a:rPr sz="1600" b="0" i="0">
                <a:solidFill>
                  <a:srgbClr val="000000"/>
                </a:solidFill>
                <a:latin typeface="Lato"/>
              </a:rPr>
              <a:t>Briefing for the Office of the General Counsel</a:t>
            </a:r>
          </a:p>
        </p:txBody>
      </p:sp>
      <p:sp>
        <p:nvSpPr>
          <p:cNvPr id="6" name="TextBox 5"/>
          <p:cNvSpPr txBox="1"/>
          <p:nvPr/>
        </p:nvSpPr>
        <p:spPr>
          <a:xfrm>
            <a:off x="822960" y="5486400"/>
            <a:ext cx="10515600" cy="365760"/>
          </a:xfrm>
          <a:prstGeom prst="rect">
            <a:avLst/>
          </a:prstGeom>
          <a:noFill/>
        </p:spPr>
        <p:txBody>
          <a:bodyPr wrap="square" lIns="0" tIns="0" rIns="0" bIns="0" anchor="t">
            <a:spAutoFit/>
          </a:bodyPr>
          <a:lstStyle/>
          <a:p>
            <a:pPr algn="l"/>
            <a:r>
              <a:rPr sz="1600" b="0" i="0">
                <a:solidFill>
                  <a:srgbClr val="595959"/>
                </a:solidFill>
                <a:latin typeface="Lato"/>
              </a:rPr>
              <a:t>September 30, 2026</a:t>
            </a:r>
          </a:p>
        </p:txBody>
      </p:sp>
      <p:sp>
        <p:nvSpPr>
          <p:cNvPr id="7"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a:t>
            </a:fld>
            <a:endParaRPr lang="en-US" sz="900" b="1">
              <a:solidFill>
                <a:srgbClr val="000000"/>
              </a:solidFill>
              <a:latin typeface="La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Executive summary: pressure is rising, Northeastern is performing, and margin is the constraint</a:t>
            </a:r>
          </a:p>
        </p:txBody>
      </p:sp>
      <p:sp>
        <p:nvSpPr>
          <p:cNvPr id="3" name="TextBox 2"/>
          <p:cNvSpPr txBox="1"/>
          <p:nvPr/>
        </p:nvSpPr>
        <p:spPr>
          <a:xfrm>
            <a:off x="457200" y="1600200"/>
            <a:ext cx="2651760" cy="274320"/>
          </a:xfrm>
          <a:prstGeom prst="rect">
            <a:avLst/>
          </a:prstGeom>
          <a:noFill/>
        </p:spPr>
        <p:txBody>
          <a:bodyPr wrap="square" lIns="0" tIns="0" rIns="0" bIns="0" anchor="t">
            <a:spAutoFit/>
          </a:bodyPr>
          <a:lstStyle/>
          <a:p>
            <a:pPr algn="l"/>
            <a:r>
              <a:rPr sz="1000" b="1" i="0">
                <a:solidFill>
                  <a:srgbClr val="595959"/>
                </a:solidFill>
                <a:latin typeface="Lato"/>
              </a:rPr>
              <a:t>THE ENVIRONMENT</a:t>
            </a:r>
          </a:p>
        </p:txBody>
      </p:sp>
      <p:cxnSp>
        <p:nvCxnSpPr>
          <p:cNvPr id="4" name="Connector 3"/>
          <p:cNvCxnSpPr/>
          <p:nvPr/>
        </p:nvCxnSpPr>
        <p:spPr>
          <a:xfrm>
            <a:off x="457200"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2011680"/>
            <a:ext cx="2651760" cy="1005840"/>
          </a:xfrm>
          <a:prstGeom prst="rect">
            <a:avLst/>
          </a:prstGeom>
          <a:noFill/>
        </p:spPr>
        <p:txBody>
          <a:bodyPr wrap="square" lIns="0" tIns="0" rIns="0" bIns="0" anchor="t">
            <a:spAutoFit/>
          </a:bodyPr>
          <a:lstStyle/>
          <a:p>
            <a:pPr algn="l"/>
            <a:r>
              <a:rPr sz="5400" b="1" i="0">
                <a:solidFill>
                  <a:srgbClr val="C8102E"/>
                </a:solidFill>
                <a:latin typeface="Lato"/>
              </a:rPr>
              <a:t>20%</a:t>
            </a:r>
          </a:p>
        </p:txBody>
      </p:sp>
      <p:sp>
        <p:nvSpPr>
          <p:cNvPr id="6" name="TextBox 5"/>
          <p:cNvSpPr txBox="1"/>
          <p:nvPr/>
        </p:nvSpPr>
        <p:spPr>
          <a:xfrm>
            <a:off x="457200" y="3108960"/>
            <a:ext cx="2651760" cy="548640"/>
          </a:xfrm>
          <a:prstGeom prst="rect">
            <a:avLst/>
          </a:prstGeom>
          <a:noFill/>
        </p:spPr>
        <p:txBody>
          <a:bodyPr wrap="square" lIns="0" tIns="0" rIns="0" bIns="0" anchor="t">
            <a:spAutoFit/>
          </a:bodyPr>
          <a:lstStyle/>
          <a:p>
            <a:pPr algn="l"/>
            <a:r>
              <a:rPr sz="1500" b="1" i="0">
                <a:solidFill>
                  <a:srgbClr val="000000"/>
                </a:solidFill>
                <a:latin typeface="Lato"/>
              </a:rPr>
              <a:t>Fewer new foreign undergraduates</a:t>
            </a:r>
          </a:p>
        </p:txBody>
      </p:sp>
      <p:sp>
        <p:nvSpPr>
          <p:cNvPr id="7" name="TextBox 6"/>
          <p:cNvSpPr txBox="1"/>
          <p:nvPr/>
        </p:nvSpPr>
        <p:spPr>
          <a:xfrm>
            <a:off x="457200" y="3703320"/>
            <a:ext cx="2651760" cy="1280160"/>
          </a:xfrm>
          <a:prstGeom prst="rect">
            <a:avLst/>
          </a:prstGeom>
          <a:noFill/>
        </p:spPr>
        <p:txBody>
          <a:bodyPr wrap="square" lIns="0" tIns="0" rIns="0" bIns="0" anchor="t">
            <a:spAutoFit/>
          </a:bodyPr>
          <a:lstStyle/>
          <a:p>
            <a:pPr algn="l"/>
            <a:r>
              <a:rPr sz="1200" b="0" i="0">
                <a:solidFill>
                  <a:srgbClr val="000000"/>
                </a:solidFill>
                <a:latin typeface="Lato"/>
              </a:rPr>
              <a:t>New foreign undergraduate enrollment at U.S. colleges fell about 20% in spring 2026; graduate fell about 24%.</a:t>
            </a:r>
          </a:p>
        </p:txBody>
      </p:sp>
      <p:sp>
        <p:nvSpPr>
          <p:cNvPr id="8" name="TextBox 7"/>
          <p:cNvSpPr txBox="1"/>
          <p:nvPr/>
        </p:nvSpPr>
        <p:spPr>
          <a:xfrm>
            <a:off x="3331159" y="1600200"/>
            <a:ext cx="2651760" cy="274320"/>
          </a:xfrm>
          <a:prstGeom prst="rect">
            <a:avLst/>
          </a:prstGeom>
          <a:noFill/>
        </p:spPr>
        <p:txBody>
          <a:bodyPr wrap="square" lIns="0" tIns="0" rIns="0" bIns="0" anchor="t">
            <a:spAutoFit/>
          </a:bodyPr>
          <a:lstStyle/>
          <a:p>
            <a:pPr algn="l"/>
            <a:r>
              <a:rPr sz="1000" b="1" i="0">
                <a:solidFill>
                  <a:srgbClr val="595959"/>
                </a:solidFill>
                <a:latin typeface="Lato"/>
              </a:rPr>
              <a:t>WHERE WE STAND</a:t>
            </a:r>
          </a:p>
        </p:txBody>
      </p:sp>
      <p:cxnSp>
        <p:nvCxnSpPr>
          <p:cNvPr id="9" name="Connector 8"/>
          <p:cNvCxnSpPr/>
          <p:nvPr/>
        </p:nvCxnSpPr>
        <p:spPr>
          <a:xfrm>
            <a:off x="3331159"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331159" y="2011680"/>
            <a:ext cx="2651760" cy="1005840"/>
          </a:xfrm>
          <a:prstGeom prst="rect">
            <a:avLst/>
          </a:prstGeom>
          <a:noFill/>
        </p:spPr>
        <p:txBody>
          <a:bodyPr wrap="square" lIns="0" tIns="0" rIns="0" bIns="0" anchor="t">
            <a:spAutoFit/>
          </a:bodyPr>
          <a:lstStyle/>
          <a:p>
            <a:pPr algn="l"/>
            <a:r>
              <a:rPr sz="5400" b="1" i="0">
                <a:solidFill>
                  <a:srgbClr val="C8102E"/>
                </a:solidFill>
                <a:latin typeface="Lato"/>
              </a:rPr>
              <a:t>#33</a:t>
            </a:r>
          </a:p>
        </p:txBody>
      </p:sp>
      <p:sp>
        <p:nvSpPr>
          <p:cNvPr id="11" name="TextBox 10"/>
          <p:cNvSpPr txBox="1"/>
          <p:nvPr/>
        </p:nvSpPr>
        <p:spPr>
          <a:xfrm>
            <a:off x="3331159" y="3108960"/>
            <a:ext cx="2651760" cy="548640"/>
          </a:xfrm>
          <a:prstGeom prst="rect">
            <a:avLst/>
          </a:prstGeom>
          <a:noFill/>
        </p:spPr>
        <p:txBody>
          <a:bodyPr wrap="square" lIns="0" tIns="0" rIns="0" bIns="0" anchor="t">
            <a:spAutoFit/>
          </a:bodyPr>
          <a:lstStyle/>
          <a:p>
            <a:pPr algn="l"/>
            <a:r>
              <a:rPr sz="1500" b="1" i="0">
                <a:solidFill>
                  <a:srgbClr val="000000"/>
                </a:solidFill>
                <a:latin typeface="Lato"/>
              </a:rPr>
              <a:t>Private-university R&amp;D rank</a:t>
            </a:r>
          </a:p>
        </p:txBody>
      </p:sp>
      <p:sp>
        <p:nvSpPr>
          <p:cNvPr id="12" name="TextBox 11"/>
          <p:cNvSpPr txBox="1"/>
          <p:nvPr/>
        </p:nvSpPr>
        <p:spPr>
          <a:xfrm>
            <a:off x="3331159" y="3703320"/>
            <a:ext cx="2651760" cy="1280160"/>
          </a:xfrm>
          <a:prstGeom prst="rect">
            <a:avLst/>
          </a:prstGeom>
          <a:noFill/>
        </p:spPr>
        <p:txBody>
          <a:bodyPr wrap="square" lIns="0" tIns="0" rIns="0" bIns="0" anchor="t">
            <a:spAutoFit/>
          </a:bodyPr>
          <a:lstStyle/>
          <a:p>
            <a:pPr algn="l"/>
            <a:r>
              <a:rPr sz="1200" b="0" i="0">
                <a:solidFill>
                  <a:srgbClr val="000000"/>
                </a:solidFill>
                <a:latin typeface="Lato"/>
              </a:rPr>
              <a:t>Northeastern ranks #33 among private institutions by FY24 R&amp;D ($347M), up from #42 in FY14, growing 13.5% a year.</a:t>
            </a:r>
          </a:p>
        </p:txBody>
      </p:sp>
      <p:sp>
        <p:nvSpPr>
          <p:cNvPr id="13" name="TextBox 12"/>
          <p:cNvSpPr txBox="1"/>
          <p:nvPr/>
        </p:nvSpPr>
        <p:spPr>
          <a:xfrm>
            <a:off x="6205118" y="1600200"/>
            <a:ext cx="2651760" cy="274320"/>
          </a:xfrm>
          <a:prstGeom prst="rect">
            <a:avLst/>
          </a:prstGeom>
          <a:noFill/>
        </p:spPr>
        <p:txBody>
          <a:bodyPr wrap="square" lIns="0" tIns="0" rIns="0" bIns="0" anchor="t">
            <a:spAutoFit/>
          </a:bodyPr>
          <a:lstStyle/>
          <a:p>
            <a:pPr algn="l"/>
            <a:r>
              <a:rPr sz="1000" b="1" i="0">
                <a:solidFill>
                  <a:srgbClr val="595959"/>
                </a:solidFill>
                <a:latin typeface="Lato"/>
              </a:rPr>
              <a:t>WHERE WE STAND</a:t>
            </a:r>
          </a:p>
        </p:txBody>
      </p:sp>
      <p:cxnSp>
        <p:nvCxnSpPr>
          <p:cNvPr id="14" name="Connector 13"/>
          <p:cNvCxnSpPr/>
          <p:nvPr/>
        </p:nvCxnSpPr>
        <p:spPr>
          <a:xfrm>
            <a:off x="6205118"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05118" y="2011680"/>
            <a:ext cx="2651760" cy="1005840"/>
          </a:xfrm>
          <a:prstGeom prst="rect">
            <a:avLst/>
          </a:prstGeom>
          <a:noFill/>
        </p:spPr>
        <p:txBody>
          <a:bodyPr wrap="square" lIns="0" tIns="0" rIns="0" bIns="0" anchor="t">
            <a:spAutoFit/>
          </a:bodyPr>
          <a:lstStyle/>
          <a:p>
            <a:pPr algn="l"/>
            <a:r>
              <a:rPr sz="5400" b="1" i="0">
                <a:solidFill>
                  <a:srgbClr val="C8102E"/>
                </a:solidFill>
                <a:latin typeface="Lato"/>
              </a:rPr>
              <a:t>4.0%</a:t>
            </a:r>
          </a:p>
        </p:txBody>
      </p:sp>
      <p:sp>
        <p:nvSpPr>
          <p:cNvPr id="16" name="TextBox 15"/>
          <p:cNvSpPr txBox="1"/>
          <p:nvPr/>
        </p:nvSpPr>
        <p:spPr>
          <a:xfrm>
            <a:off x="6205118" y="3108960"/>
            <a:ext cx="2651760" cy="548640"/>
          </a:xfrm>
          <a:prstGeom prst="rect">
            <a:avLst/>
          </a:prstGeom>
          <a:noFill/>
        </p:spPr>
        <p:txBody>
          <a:bodyPr wrap="square" lIns="0" tIns="0" rIns="0" bIns="0" anchor="t">
            <a:spAutoFit/>
          </a:bodyPr>
          <a:lstStyle/>
          <a:p>
            <a:pPr algn="l"/>
            <a:r>
              <a:rPr sz="1500" b="1" i="0">
                <a:solidFill>
                  <a:srgbClr val="000000"/>
                </a:solidFill>
                <a:latin typeface="Lato"/>
              </a:rPr>
              <a:t>FY26 operating margin</a:t>
            </a:r>
          </a:p>
        </p:txBody>
      </p:sp>
      <p:sp>
        <p:nvSpPr>
          <p:cNvPr id="17" name="TextBox 16"/>
          <p:cNvSpPr txBox="1"/>
          <p:nvPr/>
        </p:nvSpPr>
        <p:spPr>
          <a:xfrm>
            <a:off x="6205118" y="3703320"/>
            <a:ext cx="2651760" cy="1280160"/>
          </a:xfrm>
          <a:prstGeom prst="rect">
            <a:avLst/>
          </a:prstGeom>
          <a:noFill/>
        </p:spPr>
        <p:txBody>
          <a:bodyPr wrap="square" lIns="0" tIns="0" rIns="0" bIns="0" anchor="t">
            <a:spAutoFit/>
          </a:bodyPr>
          <a:lstStyle/>
          <a:p>
            <a:pPr algn="l"/>
            <a:r>
              <a:rPr sz="1200" b="0" i="0">
                <a:solidFill>
                  <a:srgbClr val="000000"/>
                </a:solidFill>
                <a:latin typeface="Lato"/>
              </a:rPr>
              <a:t>Recovered from 1.1% in FY25, but still 320 basis points below FY18.</a:t>
            </a:r>
          </a:p>
        </p:txBody>
      </p:sp>
      <p:sp>
        <p:nvSpPr>
          <p:cNvPr id="18" name="TextBox 17"/>
          <p:cNvSpPr txBox="1"/>
          <p:nvPr/>
        </p:nvSpPr>
        <p:spPr>
          <a:xfrm>
            <a:off x="9079077" y="1600200"/>
            <a:ext cx="2651760" cy="274320"/>
          </a:xfrm>
          <a:prstGeom prst="rect">
            <a:avLst/>
          </a:prstGeom>
          <a:noFill/>
        </p:spPr>
        <p:txBody>
          <a:bodyPr wrap="square" lIns="0" tIns="0" rIns="0" bIns="0" anchor="t">
            <a:spAutoFit/>
          </a:bodyPr>
          <a:lstStyle/>
          <a:p>
            <a:pPr algn="l"/>
            <a:r>
              <a:rPr sz="1000" b="1" i="0">
                <a:solidFill>
                  <a:srgbClr val="595959"/>
                </a:solidFill>
                <a:latin typeface="Lato"/>
              </a:rPr>
              <a:t>CHALLENGES AHEAD</a:t>
            </a:r>
          </a:p>
        </p:txBody>
      </p:sp>
      <p:cxnSp>
        <p:nvCxnSpPr>
          <p:cNvPr id="19" name="Connector 18"/>
          <p:cNvCxnSpPr/>
          <p:nvPr/>
        </p:nvCxnSpPr>
        <p:spPr>
          <a:xfrm>
            <a:off x="9079077"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079077" y="2011680"/>
            <a:ext cx="2651760" cy="1005840"/>
          </a:xfrm>
          <a:prstGeom prst="rect">
            <a:avLst/>
          </a:prstGeom>
          <a:noFill/>
        </p:spPr>
        <p:txBody>
          <a:bodyPr wrap="square" lIns="0" tIns="0" rIns="0" bIns="0" anchor="t">
            <a:spAutoFit/>
          </a:bodyPr>
          <a:lstStyle/>
          <a:p>
            <a:pPr algn="l"/>
            <a:r>
              <a:rPr sz="5400" b="1" i="0">
                <a:solidFill>
                  <a:srgbClr val="C8102E"/>
                </a:solidFill>
                <a:latin typeface="Lato"/>
              </a:rPr>
              <a:t>−24%</a:t>
            </a:r>
          </a:p>
        </p:txBody>
      </p:sp>
      <p:sp>
        <p:nvSpPr>
          <p:cNvPr id="21" name="TextBox 20"/>
          <p:cNvSpPr txBox="1"/>
          <p:nvPr/>
        </p:nvSpPr>
        <p:spPr>
          <a:xfrm>
            <a:off x="9079077" y="3108960"/>
            <a:ext cx="2651760" cy="548640"/>
          </a:xfrm>
          <a:prstGeom prst="rect">
            <a:avLst/>
          </a:prstGeom>
          <a:noFill/>
        </p:spPr>
        <p:txBody>
          <a:bodyPr wrap="square" lIns="0" tIns="0" rIns="0" bIns="0" anchor="t">
            <a:spAutoFit/>
          </a:bodyPr>
          <a:lstStyle/>
          <a:p>
            <a:pPr algn="l"/>
            <a:r>
              <a:rPr sz="1500" b="1" i="0">
                <a:solidFill>
                  <a:srgbClr val="000000"/>
                </a:solidFill>
                <a:latin typeface="Lato"/>
              </a:rPr>
              <a:t>Master’s and professional enrollment</a:t>
            </a:r>
          </a:p>
        </p:txBody>
      </p:sp>
      <p:sp>
        <p:nvSpPr>
          <p:cNvPr id="22" name="TextBox 21"/>
          <p:cNvSpPr txBox="1"/>
          <p:nvPr/>
        </p:nvSpPr>
        <p:spPr>
          <a:xfrm>
            <a:off x="9079077" y="3703320"/>
            <a:ext cx="2651760" cy="1280160"/>
          </a:xfrm>
          <a:prstGeom prst="rect">
            <a:avLst/>
          </a:prstGeom>
          <a:noFill/>
        </p:spPr>
        <p:txBody>
          <a:bodyPr wrap="square" lIns="0" tIns="0" rIns="0" bIns="0" anchor="t">
            <a:spAutoFit/>
          </a:bodyPr>
          <a:lstStyle/>
          <a:p>
            <a:pPr algn="l"/>
            <a:r>
              <a:rPr sz="1200" b="0" i="0">
                <a:solidFill>
                  <a:srgbClr val="000000"/>
                </a:solidFill>
                <a:latin typeface="Lato"/>
              </a:rPr>
              <a:t>Professional graduate enrollment falls from its FY24 peak of 23,247 to 17,607 in FY27 (−5,640, low scenario), pulling total degree-seeking enrollment down 7.2% from FY25.</a:t>
            </a:r>
          </a:p>
        </p:txBody>
      </p:sp>
      <p:sp>
        <p:nvSpPr>
          <p:cNvPr id="23" name="Rectangle 22"/>
          <p:cNvSpPr/>
          <p:nvPr/>
        </p:nvSpPr>
        <p:spPr>
          <a:xfrm>
            <a:off x="457200" y="5074920"/>
            <a:ext cx="11274552"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 y="5193792"/>
            <a:ext cx="10881360" cy="685800"/>
          </a:xfrm>
          <a:prstGeom prst="rect">
            <a:avLst/>
          </a:prstGeom>
          <a:noFill/>
        </p:spPr>
        <p:txBody>
          <a:bodyPr wrap="square" lIns="0" tIns="0" rIns="0" bIns="0" anchor="ctr">
            <a:spAutoFit/>
          </a:bodyPr>
          <a:lstStyle/>
          <a:p>
            <a:pPr algn="l"/>
            <a:r>
              <a:rPr sz="1300" b="1" i="0">
                <a:solidFill>
                  <a:srgbClr val="C8102E"/>
                </a:solidFill>
                <a:latin typeface="Lato"/>
              </a:rPr>
              <a:t>Where the General Counsel’s office is likely to be engaged</a:t>
            </a:r>
          </a:p>
          <a:p>
            <a:pPr algn="l"/>
            <a:r>
              <a:rPr sz="1300" b="0" i="0">
                <a:solidFill>
                  <a:srgbClr val="000000"/>
                </a:solidFill>
                <a:latin typeface="Lato"/>
              </a:rPr>
              <a:t>Immigration and visa compliance, sponsored-research and grant compliance, workforce actions, and debt covenants and donor terms.</a:t>
            </a:r>
          </a:p>
        </p:txBody>
      </p:sp>
      <p:sp>
        <p:nvSpPr>
          <p:cNvPr id="25" name="TextBox 2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Boston Globe (May 12, 2026); NSF HERD Survey FY24; Northeastern Financial Affairs (FY26 unaudited)</a:t>
            </a:r>
          </a:p>
        </p:txBody>
      </p:sp>
      <p:sp>
        <p:nvSpPr>
          <p:cNvPr id="26"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a:t>
            </a:fld>
            <a:endParaRPr lang="en-US" sz="900" b="1">
              <a:solidFill>
                <a:srgbClr val="000000"/>
              </a:solidFill>
              <a:latin typeface="Lat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storyline: three parts</a:t>
            </a:r>
          </a:p>
        </p:txBody>
      </p:sp>
      <p:cxnSp>
        <p:nvCxnSpPr>
          <p:cNvPr id="3" name="Connector 2"/>
          <p:cNvCxnSpPr/>
          <p:nvPr/>
        </p:nvCxnSpPr>
        <p:spPr>
          <a:xfrm>
            <a:off x="457200" y="155448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783080"/>
            <a:ext cx="914400" cy="914400"/>
          </a:xfrm>
          <a:prstGeom prst="rect">
            <a:avLst/>
          </a:prstGeom>
          <a:noFill/>
        </p:spPr>
        <p:txBody>
          <a:bodyPr wrap="square" lIns="0" tIns="0" rIns="0" bIns="0" anchor="t">
            <a:spAutoFit/>
          </a:bodyPr>
          <a:lstStyle/>
          <a:p>
            <a:pPr algn="l"/>
            <a:r>
              <a:rPr sz="5400" b="1" i="0">
                <a:solidFill>
                  <a:srgbClr val="C8102E"/>
                </a:solidFill>
                <a:latin typeface="Lato"/>
              </a:rPr>
              <a:t>1</a:t>
            </a:r>
          </a:p>
        </p:txBody>
      </p:sp>
      <p:sp>
        <p:nvSpPr>
          <p:cNvPr id="5" name="TextBox 4"/>
          <p:cNvSpPr txBox="1"/>
          <p:nvPr/>
        </p:nvSpPr>
        <p:spPr>
          <a:xfrm>
            <a:off x="1645920" y="1874519"/>
            <a:ext cx="3840480" cy="731520"/>
          </a:xfrm>
          <a:prstGeom prst="rect">
            <a:avLst/>
          </a:prstGeom>
          <a:noFill/>
        </p:spPr>
        <p:txBody>
          <a:bodyPr wrap="square" lIns="0" tIns="0" rIns="0" bIns="0" anchor="t">
            <a:spAutoFit/>
          </a:bodyPr>
          <a:lstStyle/>
          <a:p>
            <a:pPr algn="l"/>
            <a:r>
              <a:rPr sz="2400" b="1" i="0">
                <a:solidFill>
                  <a:srgbClr val="000000"/>
                </a:solidFill>
                <a:latin typeface="Lato"/>
              </a:rPr>
              <a:t>The environment</a:t>
            </a:r>
          </a:p>
        </p:txBody>
      </p:sp>
      <p:sp>
        <p:nvSpPr>
          <p:cNvPr id="6" name="TextBox 5"/>
          <p:cNvSpPr txBox="1"/>
          <p:nvPr/>
        </p:nvSpPr>
        <p:spPr>
          <a:xfrm>
            <a:off x="5669280" y="1920240"/>
            <a:ext cx="6035040" cy="822960"/>
          </a:xfrm>
          <a:prstGeom prst="rect">
            <a:avLst/>
          </a:prstGeom>
          <a:noFill/>
        </p:spPr>
        <p:txBody>
          <a:bodyPr wrap="square" lIns="0" tIns="0" rIns="0" bIns="0" anchor="t">
            <a:spAutoFit/>
          </a:bodyPr>
          <a:lstStyle/>
          <a:p>
            <a:pPr algn="l"/>
            <a:r>
              <a:rPr sz="1500" b="0" i="0">
                <a:solidFill>
                  <a:srgbClr val="000000"/>
                </a:solidFill>
                <a:latin typeface="Lato"/>
              </a:rPr>
              <a:t>Pressures converging on higher education, what the headlines say, and the structural forces behind them</a:t>
            </a:r>
          </a:p>
        </p:txBody>
      </p:sp>
      <p:cxnSp>
        <p:nvCxnSpPr>
          <p:cNvPr id="7" name="Connector 6"/>
          <p:cNvCxnSpPr/>
          <p:nvPr/>
        </p:nvCxnSpPr>
        <p:spPr>
          <a:xfrm>
            <a:off x="457200" y="297180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3200400"/>
            <a:ext cx="914400" cy="914400"/>
          </a:xfrm>
          <a:prstGeom prst="rect">
            <a:avLst/>
          </a:prstGeom>
          <a:noFill/>
        </p:spPr>
        <p:txBody>
          <a:bodyPr wrap="square" lIns="0" tIns="0" rIns="0" bIns="0" anchor="t">
            <a:spAutoFit/>
          </a:bodyPr>
          <a:lstStyle/>
          <a:p>
            <a:pPr algn="l"/>
            <a:r>
              <a:rPr sz="5400" b="1" i="0">
                <a:solidFill>
                  <a:srgbClr val="C8102E"/>
                </a:solidFill>
                <a:latin typeface="Lato"/>
              </a:rPr>
              <a:t>2</a:t>
            </a:r>
          </a:p>
        </p:txBody>
      </p:sp>
      <p:sp>
        <p:nvSpPr>
          <p:cNvPr id="9" name="TextBox 8"/>
          <p:cNvSpPr txBox="1"/>
          <p:nvPr/>
        </p:nvSpPr>
        <p:spPr>
          <a:xfrm>
            <a:off x="1645920" y="3291840"/>
            <a:ext cx="3840480" cy="731520"/>
          </a:xfrm>
          <a:prstGeom prst="rect">
            <a:avLst/>
          </a:prstGeom>
          <a:noFill/>
        </p:spPr>
        <p:txBody>
          <a:bodyPr wrap="square" lIns="0" tIns="0" rIns="0" bIns="0" anchor="t">
            <a:spAutoFit/>
          </a:bodyPr>
          <a:lstStyle/>
          <a:p>
            <a:pPr algn="l"/>
            <a:r>
              <a:rPr sz="2400" b="1" i="0">
                <a:solidFill>
                  <a:srgbClr val="000000"/>
                </a:solidFill>
                <a:latin typeface="Lato"/>
              </a:rPr>
              <a:t>Where Northeastern stands</a:t>
            </a:r>
          </a:p>
        </p:txBody>
      </p:sp>
      <p:sp>
        <p:nvSpPr>
          <p:cNvPr id="10" name="TextBox 9"/>
          <p:cNvSpPr txBox="1"/>
          <p:nvPr/>
        </p:nvSpPr>
        <p:spPr>
          <a:xfrm>
            <a:off x="5669280" y="3337560"/>
            <a:ext cx="6035040" cy="822960"/>
          </a:xfrm>
          <a:prstGeom prst="rect">
            <a:avLst/>
          </a:prstGeom>
          <a:noFill/>
        </p:spPr>
        <p:txBody>
          <a:bodyPr wrap="square" lIns="0" tIns="0" rIns="0" bIns="0" anchor="t">
            <a:spAutoFit/>
          </a:bodyPr>
          <a:lstStyle/>
          <a:p>
            <a:pPr algn="l"/>
            <a:r>
              <a:rPr sz="1500" b="0" i="0">
                <a:solidFill>
                  <a:srgbClr val="000000"/>
                </a:solidFill>
                <a:latin typeface="Lato"/>
              </a:rPr>
              <a:t>Research momentum, enrollment, staffing, operating results and the balance sheet</a:t>
            </a:r>
          </a:p>
        </p:txBody>
      </p:sp>
      <p:cxnSp>
        <p:nvCxnSpPr>
          <p:cNvPr id="11" name="Connector 10"/>
          <p:cNvCxnSpPr/>
          <p:nvPr/>
        </p:nvCxnSpPr>
        <p:spPr>
          <a:xfrm>
            <a:off x="457200" y="438912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57200" y="4617720"/>
            <a:ext cx="914400" cy="914400"/>
          </a:xfrm>
          <a:prstGeom prst="rect">
            <a:avLst/>
          </a:prstGeom>
          <a:noFill/>
        </p:spPr>
        <p:txBody>
          <a:bodyPr wrap="square" lIns="0" tIns="0" rIns="0" bIns="0" anchor="t">
            <a:spAutoFit/>
          </a:bodyPr>
          <a:lstStyle/>
          <a:p>
            <a:pPr algn="l"/>
            <a:r>
              <a:rPr sz="5400" b="1" i="0">
                <a:solidFill>
                  <a:srgbClr val="C8102E"/>
                </a:solidFill>
                <a:latin typeface="Lato"/>
              </a:rPr>
              <a:t>3</a:t>
            </a:r>
          </a:p>
        </p:txBody>
      </p:sp>
      <p:sp>
        <p:nvSpPr>
          <p:cNvPr id="13" name="TextBox 12"/>
          <p:cNvSpPr txBox="1"/>
          <p:nvPr/>
        </p:nvSpPr>
        <p:spPr>
          <a:xfrm>
            <a:off x="1645920" y="4709159"/>
            <a:ext cx="3840480" cy="731520"/>
          </a:xfrm>
          <a:prstGeom prst="rect">
            <a:avLst/>
          </a:prstGeom>
          <a:noFill/>
        </p:spPr>
        <p:txBody>
          <a:bodyPr wrap="square" lIns="0" tIns="0" rIns="0" bIns="0" anchor="t">
            <a:spAutoFit/>
          </a:bodyPr>
          <a:lstStyle/>
          <a:p>
            <a:pPr algn="l"/>
            <a:r>
              <a:rPr sz="2400" b="1" i="0">
                <a:solidFill>
                  <a:srgbClr val="000000"/>
                </a:solidFill>
                <a:latin typeface="Lato"/>
              </a:rPr>
              <a:t>Challenges ahead</a:t>
            </a:r>
          </a:p>
        </p:txBody>
      </p:sp>
      <p:sp>
        <p:nvSpPr>
          <p:cNvPr id="14" name="TextBox 13"/>
          <p:cNvSpPr txBox="1"/>
          <p:nvPr/>
        </p:nvSpPr>
        <p:spPr>
          <a:xfrm>
            <a:off x="5669280" y="4754880"/>
            <a:ext cx="6035040" cy="822960"/>
          </a:xfrm>
          <a:prstGeom prst="rect">
            <a:avLst/>
          </a:prstGeom>
          <a:noFill/>
        </p:spPr>
        <p:txBody>
          <a:bodyPr wrap="square" lIns="0" tIns="0" rIns="0" bIns="0" anchor="t">
            <a:spAutoFit/>
          </a:bodyPr>
          <a:lstStyle/>
          <a:p>
            <a:pPr algn="l"/>
            <a:r>
              <a:rPr sz="1500" b="0" i="0">
                <a:solidFill>
                  <a:srgbClr val="000000"/>
                </a:solidFill>
                <a:latin typeface="Lato"/>
              </a:rPr>
              <a:t>Where the data points to risk, and where the General Counsel’s office is likely to be engaged</a:t>
            </a:r>
          </a:p>
        </p:txBody>
      </p:sp>
      <p:cxnSp>
        <p:nvCxnSpPr>
          <p:cNvPr id="15" name="Connector 14"/>
          <p:cNvCxnSpPr/>
          <p:nvPr/>
        </p:nvCxnSpPr>
        <p:spPr>
          <a:xfrm>
            <a:off x="457200" y="580644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6"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a:t>
            </a:fld>
            <a:endParaRPr lang="en-US" sz="900" b="1">
              <a:solidFill>
                <a:srgbClr val="000000"/>
              </a:solidFill>
              <a:latin typeface="Lat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82830"/>
            <a:ext cx="1023769" cy="923330"/>
          </a:xfrm>
          <a:prstGeom prst="rect">
            <a:avLst/>
          </a:prstGeom>
          <a:noFill/>
        </p:spPr>
        <p:txBody>
          <a:bodyPr wrap="square" lIns="0" tIns="0" rIns="0" bIns="0" anchor="t">
            <a:spAutoFit/>
          </a:bodyPr>
          <a:lstStyle/>
          <a:p>
            <a:pPr algn="l"/>
            <a:r>
              <a:rPr sz="6000" b="1" i="0" dirty="0">
                <a:solidFill>
                  <a:srgbClr val="C8102E"/>
                </a:solidFill>
                <a:latin typeface="Lato"/>
              </a:rPr>
              <a:t>1</a:t>
            </a:r>
          </a:p>
        </p:txBody>
      </p:sp>
      <p:sp>
        <p:nvSpPr>
          <p:cNvPr id="3" name="TextBox 2"/>
          <p:cNvSpPr txBox="1"/>
          <p:nvPr/>
        </p:nvSpPr>
        <p:spPr>
          <a:xfrm>
            <a:off x="1852108" y="232970"/>
            <a:ext cx="8686800" cy="822960"/>
          </a:xfrm>
          <a:prstGeom prst="rect">
            <a:avLst/>
          </a:prstGeom>
          <a:noFill/>
        </p:spPr>
        <p:txBody>
          <a:bodyPr wrap="square" lIns="0" tIns="0" rIns="0" bIns="0" anchor="t">
            <a:spAutoFit/>
          </a:bodyPr>
          <a:lstStyle/>
          <a:p>
            <a:pPr algn="l"/>
            <a:r>
              <a:rPr sz="4000" b="1" i="0" dirty="0">
                <a:solidFill>
                  <a:srgbClr val="000000"/>
                </a:solidFill>
                <a:latin typeface="Lato"/>
              </a:rPr>
              <a:t>The environment</a:t>
            </a:r>
          </a:p>
        </p:txBody>
      </p:sp>
      <p:sp>
        <p:nvSpPr>
          <p:cNvPr id="4" name="TextBox 3"/>
          <p:cNvSpPr txBox="1"/>
          <p:nvPr/>
        </p:nvSpPr>
        <p:spPr>
          <a:xfrm>
            <a:off x="1846729" y="878746"/>
            <a:ext cx="8229600" cy="1097280"/>
          </a:xfrm>
          <a:prstGeom prst="rect">
            <a:avLst/>
          </a:prstGeom>
          <a:noFill/>
        </p:spPr>
        <p:txBody>
          <a:bodyPr wrap="square" lIns="0" tIns="0" rIns="0" bIns="0" anchor="t">
            <a:spAutoFit/>
          </a:bodyPr>
          <a:lstStyle/>
          <a:p>
            <a:pPr algn="l"/>
            <a:r>
              <a:rPr sz="1800" b="0" i="0" dirty="0">
                <a:solidFill>
                  <a:srgbClr val="595959"/>
                </a:solidFill>
                <a:latin typeface="Lato"/>
              </a:rPr>
              <a:t>Pressures on higher education, and the forces behind them</a:t>
            </a:r>
          </a:p>
        </p:txBody>
      </p:sp>
      <p:sp>
        <p:nvSpPr>
          <p:cNvPr id="15"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4</a:t>
            </a:fld>
            <a:endParaRPr lang="en-US" sz="900" b="1">
              <a:solidFill>
                <a:srgbClr val="000000"/>
              </a:solidFill>
              <a:latin typeface="Lato"/>
            </a:endParaRPr>
          </a:p>
        </p:txBody>
      </p:sp>
      <p:pic>
        <p:nvPicPr>
          <p:cNvPr id="6" name="Picture 5">
            <a:extLst>
              <a:ext uri="{FF2B5EF4-FFF2-40B4-BE49-F238E27FC236}">
                <a16:creationId xmlns:a16="http://schemas.microsoft.com/office/drawing/2014/main" id="{D6EE31B8-590A-10F0-55DB-CC871CEC403E}"/>
              </a:ext>
            </a:extLst>
          </p:cNvPr>
          <p:cNvPicPr>
            <a:picLocks noChangeAspect="1"/>
          </p:cNvPicPr>
          <p:nvPr/>
        </p:nvPicPr>
        <p:blipFill>
          <a:blip r:embed="rId2"/>
          <a:stretch>
            <a:fillRect/>
          </a:stretch>
        </p:blipFill>
        <p:spPr>
          <a:xfrm>
            <a:off x="1846729" y="1254211"/>
            <a:ext cx="8997469" cy="5061076"/>
          </a:xfrm>
          <a:prstGeom prst="roundRect">
            <a:avLst>
              <a:gd name="adj" fmla="val 11111"/>
            </a:avLst>
          </a:prstGeom>
          <a:ln w="190500" cap="rnd">
            <a:solidFill>
              <a:srgbClr val="C8C6BD"/>
            </a:solidFill>
            <a:prstDash val="solid"/>
          </a:ln>
          <a:effectLst>
            <a:outerShdw blurRad="101600" dist="50800" dir="7200000" algn="tl" rotWithShape="0">
              <a:srgbClr val="000000">
                <a:alpha val="45000"/>
              </a:srgbClr>
            </a:outerShdw>
          </a:effectLst>
          <a:scene3d>
            <a:camera prst="perspectiveFront" fov="5400000"/>
            <a:lightRig rig="threePt" dir="t">
              <a:rot lat="0" lon="0" rev="19200000"/>
            </a:lightRig>
          </a:scene3d>
          <a:sp3d extrusionH="25400">
            <a:bevelT w="304800" h="152400" prst="hardEdge"/>
            <a:extrusionClr>
              <a:srgbClr val="FFFFFF"/>
            </a:extrusionClr>
          </a:sp3d>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Six pressures are converging on higher education, and on Northeastern</a:t>
            </a:r>
          </a:p>
        </p:txBody>
      </p:sp>
      <p:sp>
        <p:nvSpPr>
          <p:cNvPr id="3" name="Rectangle 2"/>
          <p:cNvSpPr/>
          <p:nvPr/>
        </p:nvSpPr>
        <p:spPr>
          <a:xfrm>
            <a:off x="457200"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508760"/>
            <a:ext cx="457200" cy="457200"/>
          </a:xfrm>
          <a:prstGeom prst="rect">
            <a:avLst/>
          </a:prstGeom>
          <a:noFill/>
        </p:spPr>
        <p:txBody>
          <a:bodyPr wrap="square" lIns="0" tIns="0" rIns="0" bIns="0" anchor="t">
            <a:spAutoFit/>
          </a:bodyPr>
          <a:lstStyle/>
          <a:p>
            <a:pPr algn="l"/>
            <a:r>
              <a:rPr sz="2600" b="1" i="0">
                <a:solidFill>
                  <a:srgbClr val="C8102E"/>
                </a:solidFill>
                <a:latin typeface="Lato"/>
              </a:rPr>
              <a:t>1</a:t>
            </a:r>
          </a:p>
        </p:txBody>
      </p:sp>
      <p:sp>
        <p:nvSpPr>
          <p:cNvPr id="5" name="TextBox 4"/>
          <p:cNvSpPr txBox="1"/>
          <p:nvPr/>
        </p:nvSpPr>
        <p:spPr>
          <a:xfrm>
            <a:off x="1051560" y="1572768"/>
            <a:ext cx="2560320" cy="365760"/>
          </a:xfrm>
          <a:prstGeom prst="rect">
            <a:avLst/>
          </a:prstGeom>
          <a:noFill/>
        </p:spPr>
        <p:txBody>
          <a:bodyPr wrap="square" lIns="0" tIns="0" rIns="0" bIns="0" anchor="t">
            <a:spAutoFit/>
          </a:bodyPr>
          <a:lstStyle/>
          <a:p>
            <a:pPr algn="l"/>
            <a:r>
              <a:rPr sz="1600" b="1" i="0">
                <a:solidFill>
                  <a:srgbClr val="000000"/>
                </a:solidFill>
                <a:latin typeface="Lato"/>
              </a:rPr>
              <a:t>Students and demand</a:t>
            </a:r>
          </a:p>
        </p:txBody>
      </p:sp>
      <p:sp>
        <p:nvSpPr>
          <p:cNvPr id="6" name="TextBox 5"/>
          <p:cNvSpPr txBox="1"/>
          <p:nvPr/>
        </p:nvSpPr>
        <p:spPr>
          <a:xfrm>
            <a:off x="640080" y="2103120"/>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Ivies dipping into waitlists; enrollment- and need-aware admissions</a:t>
            </a:r>
          </a:p>
          <a:p>
            <a:pPr marL="171450" indent="-171450">
              <a:spcAft>
                <a:spcPts val="400"/>
              </a:spcAft>
              <a:buChar char="•"/>
            </a:pPr>
            <a:r>
              <a:rPr sz="1300">
                <a:solidFill>
                  <a:srgbClr val="000000"/>
                </a:solidFill>
                <a:latin typeface="Lato"/>
              </a:rPr>
              <a:t>Students opting out of college; middle class moving to public institutions</a:t>
            </a:r>
          </a:p>
          <a:p>
            <a:pPr marL="171450" indent="-171450">
              <a:spcAft>
                <a:spcPts val="400"/>
              </a:spcAft>
              <a:buChar char="•"/>
            </a:pPr>
            <a:r>
              <a:rPr sz="1300">
                <a:solidFill>
                  <a:srgbClr val="000000"/>
                </a:solidFill>
                <a:latin typeface="Lato"/>
              </a:rPr>
              <a:t>Small colleges challenged; consolidation</a:t>
            </a:r>
          </a:p>
        </p:txBody>
      </p:sp>
      <p:sp>
        <p:nvSpPr>
          <p:cNvPr id="7" name="Rectangle 6"/>
          <p:cNvSpPr/>
          <p:nvPr/>
        </p:nvSpPr>
        <p:spPr>
          <a:xfrm>
            <a:off x="4288536"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471416" y="1508760"/>
            <a:ext cx="457200" cy="457200"/>
          </a:xfrm>
          <a:prstGeom prst="rect">
            <a:avLst/>
          </a:prstGeom>
          <a:noFill/>
        </p:spPr>
        <p:txBody>
          <a:bodyPr wrap="square" lIns="0" tIns="0" rIns="0" bIns="0" anchor="t">
            <a:spAutoFit/>
          </a:bodyPr>
          <a:lstStyle/>
          <a:p>
            <a:pPr algn="l"/>
            <a:r>
              <a:rPr sz="2600" b="1" i="0">
                <a:solidFill>
                  <a:srgbClr val="C8102E"/>
                </a:solidFill>
                <a:latin typeface="Lato"/>
              </a:rPr>
              <a:t>2</a:t>
            </a:r>
          </a:p>
        </p:txBody>
      </p:sp>
      <p:sp>
        <p:nvSpPr>
          <p:cNvPr id="9" name="TextBox 8"/>
          <p:cNvSpPr txBox="1"/>
          <p:nvPr/>
        </p:nvSpPr>
        <p:spPr>
          <a:xfrm>
            <a:off x="4882896" y="1572768"/>
            <a:ext cx="2560320" cy="365760"/>
          </a:xfrm>
          <a:prstGeom prst="rect">
            <a:avLst/>
          </a:prstGeom>
          <a:noFill/>
        </p:spPr>
        <p:txBody>
          <a:bodyPr wrap="square" lIns="0" tIns="0" rIns="0" bIns="0" anchor="t">
            <a:spAutoFit/>
          </a:bodyPr>
          <a:lstStyle/>
          <a:p>
            <a:pPr algn="l"/>
            <a:r>
              <a:rPr sz="1600" b="1" i="0">
                <a:solidFill>
                  <a:srgbClr val="000000"/>
                </a:solidFill>
                <a:latin typeface="Lato"/>
              </a:rPr>
              <a:t>Cost and return</a:t>
            </a:r>
          </a:p>
        </p:txBody>
      </p:sp>
      <p:sp>
        <p:nvSpPr>
          <p:cNvPr id="10" name="TextBox 9"/>
          <p:cNvSpPr txBox="1"/>
          <p:nvPr/>
        </p:nvSpPr>
        <p:spPr>
          <a:xfrm>
            <a:off x="4471416" y="2103120"/>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ROI on a college degree</a:t>
            </a:r>
          </a:p>
          <a:p>
            <a:pPr marL="171450" indent="-171450">
              <a:spcAft>
                <a:spcPts val="400"/>
              </a:spcAft>
              <a:buChar char="•"/>
            </a:pPr>
            <a:r>
              <a:rPr sz="1300">
                <a:solidFill>
                  <a:srgbClr val="000000"/>
                </a:solidFill>
                <a:latin typeface="Lato"/>
              </a:rPr>
              <a:t>Cost and economic disparity</a:t>
            </a:r>
          </a:p>
          <a:p>
            <a:pPr marL="171450" indent="-171450">
              <a:spcAft>
                <a:spcPts val="400"/>
              </a:spcAft>
              <a:buChar char="•"/>
            </a:pPr>
            <a:r>
              <a:rPr sz="1300">
                <a:solidFill>
                  <a:srgbClr val="000000"/>
                </a:solidFill>
                <a:latin typeface="Lato"/>
              </a:rPr>
              <a:t>Time to degree</a:t>
            </a:r>
          </a:p>
          <a:p>
            <a:pPr marL="171450" indent="-171450">
              <a:spcAft>
                <a:spcPts val="400"/>
              </a:spcAft>
              <a:buChar char="•"/>
            </a:pPr>
            <a:r>
              <a:rPr sz="1300">
                <a:solidFill>
                  <a:srgbClr val="000000"/>
                </a:solidFill>
                <a:latin typeface="Lato"/>
              </a:rPr>
              <a:t>Colleges lowering or not increasing tuition</a:t>
            </a:r>
          </a:p>
        </p:txBody>
      </p:sp>
      <p:sp>
        <p:nvSpPr>
          <p:cNvPr id="11" name="Rectangle 10"/>
          <p:cNvSpPr/>
          <p:nvPr/>
        </p:nvSpPr>
        <p:spPr>
          <a:xfrm>
            <a:off x="8119872"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02752" y="1508760"/>
            <a:ext cx="457200" cy="457200"/>
          </a:xfrm>
          <a:prstGeom prst="rect">
            <a:avLst/>
          </a:prstGeom>
          <a:noFill/>
        </p:spPr>
        <p:txBody>
          <a:bodyPr wrap="square" lIns="0" tIns="0" rIns="0" bIns="0" anchor="t">
            <a:spAutoFit/>
          </a:bodyPr>
          <a:lstStyle/>
          <a:p>
            <a:pPr algn="l"/>
            <a:r>
              <a:rPr sz="2600" b="1" i="0">
                <a:solidFill>
                  <a:srgbClr val="C8102E"/>
                </a:solidFill>
                <a:latin typeface="Lato"/>
              </a:rPr>
              <a:t>3</a:t>
            </a:r>
          </a:p>
        </p:txBody>
      </p:sp>
      <p:sp>
        <p:nvSpPr>
          <p:cNvPr id="13" name="TextBox 12"/>
          <p:cNvSpPr txBox="1"/>
          <p:nvPr/>
        </p:nvSpPr>
        <p:spPr>
          <a:xfrm>
            <a:off x="8714232" y="1572768"/>
            <a:ext cx="2560320" cy="365760"/>
          </a:xfrm>
          <a:prstGeom prst="rect">
            <a:avLst/>
          </a:prstGeom>
          <a:noFill/>
        </p:spPr>
        <p:txBody>
          <a:bodyPr wrap="square" lIns="0" tIns="0" rIns="0" bIns="0" anchor="t">
            <a:spAutoFit/>
          </a:bodyPr>
          <a:lstStyle/>
          <a:p>
            <a:pPr algn="l"/>
            <a:r>
              <a:rPr sz="1600" b="1" i="0">
                <a:solidFill>
                  <a:srgbClr val="000000"/>
                </a:solidFill>
                <a:latin typeface="Lato"/>
              </a:rPr>
              <a:t>International students</a:t>
            </a:r>
          </a:p>
        </p:txBody>
      </p:sp>
      <p:sp>
        <p:nvSpPr>
          <p:cNvPr id="14" name="TextBox 13"/>
          <p:cNvSpPr txBox="1"/>
          <p:nvPr/>
        </p:nvSpPr>
        <p:spPr>
          <a:xfrm>
            <a:off x="8302752" y="2103120"/>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Visas and duration of stay</a:t>
            </a:r>
          </a:p>
          <a:p>
            <a:pPr marL="171450" indent="-171450">
              <a:spcAft>
                <a:spcPts val="400"/>
              </a:spcAft>
              <a:buChar char="•"/>
            </a:pPr>
            <a:r>
              <a:rPr sz="1300">
                <a:solidFill>
                  <a:srgbClr val="000000"/>
                </a:solidFill>
                <a:latin typeface="Lato"/>
              </a:rPr>
              <a:t>Geopolitics</a:t>
            </a:r>
          </a:p>
          <a:p>
            <a:pPr marL="171450" indent="-171450">
              <a:spcAft>
                <a:spcPts val="400"/>
              </a:spcAft>
              <a:buChar char="•"/>
            </a:pPr>
            <a:r>
              <a:rPr sz="1300">
                <a:solidFill>
                  <a:srgbClr val="000000"/>
                </a:solidFill>
                <a:latin typeface="Lato"/>
              </a:rPr>
              <a:t>Global competition (China, Canada)</a:t>
            </a:r>
          </a:p>
          <a:p>
            <a:pPr marL="171450" indent="-171450">
              <a:spcAft>
                <a:spcPts val="400"/>
              </a:spcAft>
              <a:buChar char="•"/>
            </a:pPr>
            <a:r>
              <a:rPr sz="1300">
                <a:solidFill>
                  <a:srgbClr val="000000"/>
                </a:solidFill>
                <a:latin typeface="Lato"/>
              </a:rPr>
              <a:t>Price elasticity in graduate programs</a:t>
            </a:r>
          </a:p>
        </p:txBody>
      </p:sp>
      <p:sp>
        <p:nvSpPr>
          <p:cNvPr id="15" name="Rectangle 14"/>
          <p:cNvSpPr/>
          <p:nvPr/>
        </p:nvSpPr>
        <p:spPr>
          <a:xfrm>
            <a:off x="457200"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0080" y="3922776"/>
            <a:ext cx="457200" cy="457200"/>
          </a:xfrm>
          <a:prstGeom prst="rect">
            <a:avLst/>
          </a:prstGeom>
          <a:noFill/>
        </p:spPr>
        <p:txBody>
          <a:bodyPr wrap="square" lIns="0" tIns="0" rIns="0" bIns="0" anchor="t">
            <a:spAutoFit/>
          </a:bodyPr>
          <a:lstStyle/>
          <a:p>
            <a:pPr algn="l"/>
            <a:r>
              <a:rPr sz="2600" b="1" i="0">
                <a:solidFill>
                  <a:srgbClr val="C8102E"/>
                </a:solidFill>
                <a:latin typeface="Lato"/>
              </a:rPr>
              <a:t>4</a:t>
            </a:r>
          </a:p>
        </p:txBody>
      </p:sp>
      <p:sp>
        <p:nvSpPr>
          <p:cNvPr id="17" name="TextBox 16"/>
          <p:cNvSpPr txBox="1"/>
          <p:nvPr/>
        </p:nvSpPr>
        <p:spPr>
          <a:xfrm>
            <a:off x="1051560" y="3986783"/>
            <a:ext cx="2560320" cy="365760"/>
          </a:xfrm>
          <a:prstGeom prst="rect">
            <a:avLst/>
          </a:prstGeom>
          <a:noFill/>
        </p:spPr>
        <p:txBody>
          <a:bodyPr wrap="square" lIns="0" tIns="0" rIns="0" bIns="0" anchor="t">
            <a:spAutoFit/>
          </a:bodyPr>
          <a:lstStyle/>
          <a:p>
            <a:pPr algn="l"/>
            <a:r>
              <a:rPr sz="1600" b="1" i="0">
                <a:solidFill>
                  <a:srgbClr val="000000"/>
                </a:solidFill>
                <a:latin typeface="Lato"/>
              </a:rPr>
              <a:t>Federal role and research</a:t>
            </a:r>
          </a:p>
        </p:txBody>
      </p:sp>
      <p:sp>
        <p:nvSpPr>
          <p:cNvPr id="18" name="TextBox 17"/>
          <p:cNvSpPr txBox="1"/>
          <p:nvPr/>
        </p:nvSpPr>
        <p:spPr>
          <a:xfrm>
            <a:off x="640080" y="4517136"/>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Role of government and funding challenges</a:t>
            </a:r>
          </a:p>
          <a:p>
            <a:pPr marL="171450" indent="-171450">
              <a:spcAft>
                <a:spcPts val="400"/>
              </a:spcAft>
              <a:buChar char="•"/>
            </a:pPr>
            <a:r>
              <a:rPr sz="1300">
                <a:solidFill>
                  <a:srgbClr val="000000"/>
                </a:solidFill>
                <a:latin typeface="Lato"/>
              </a:rPr>
              <a:t>Shifting national priorities</a:t>
            </a:r>
          </a:p>
          <a:p>
            <a:pPr marL="171450" indent="-171450">
              <a:spcAft>
                <a:spcPts val="400"/>
              </a:spcAft>
              <a:buChar char="•"/>
            </a:pPr>
            <a:r>
              <a:rPr sz="1300">
                <a:solidFill>
                  <a:srgbClr val="000000"/>
                </a:solidFill>
                <a:latin typeface="Lato"/>
              </a:rPr>
              <a:t>Security research</a:t>
            </a:r>
          </a:p>
          <a:p>
            <a:pPr marL="171450" indent="-171450">
              <a:spcAft>
                <a:spcPts val="400"/>
              </a:spcAft>
              <a:buChar char="•"/>
            </a:pPr>
            <a:r>
              <a:rPr sz="1300">
                <a:solidFill>
                  <a:srgbClr val="000000"/>
                </a:solidFill>
                <a:latin typeface="Lato"/>
              </a:rPr>
              <a:t>Time to the PhD</a:t>
            </a:r>
          </a:p>
        </p:txBody>
      </p:sp>
      <p:sp>
        <p:nvSpPr>
          <p:cNvPr id="19" name="Rectangle 18"/>
          <p:cNvSpPr/>
          <p:nvPr/>
        </p:nvSpPr>
        <p:spPr>
          <a:xfrm>
            <a:off x="4288536"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471416" y="3922776"/>
            <a:ext cx="457200" cy="457200"/>
          </a:xfrm>
          <a:prstGeom prst="rect">
            <a:avLst/>
          </a:prstGeom>
          <a:noFill/>
        </p:spPr>
        <p:txBody>
          <a:bodyPr wrap="square" lIns="0" tIns="0" rIns="0" bIns="0" anchor="t">
            <a:spAutoFit/>
          </a:bodyPr>
          <a:lstStyle/>
          <a:p>
            <a:pPr algn="l"/>
            <a:r>
              <a:rPr sz="2600" b="1" i="0">
                <a:solidFill>
                  <a:srgbClr val="C8102E"/>
                </a:solidFill>
                <a:latin typeface="Lato"/>
              </a:rPr>
              <a:t>5</a:t>
            </a:r>
          </a:p>
        </p:txBody>
      </p:sp>
      <p:sp>
        <p:nvSpPr>
          <p:cNvPr id="21" name="TextBox 20"/>
          <p:cNvSpPr txBox="1"/>
          <p:nvPr/>
        </p:nvSpPr>
        <p:spPr>
          <a:xfrm>
            <a:off x="4882896" y="3986783"/>
            <a:ext cx="2560320" cy="365760"/>
          </a:xfrm>
          <a:prstGeom prst="rect">
            <a:avLst/>
          </a:prstGeom>
          <a:noFill/>
        </p:spPr>
        <p:txBody>
          <a:bodyPr wrap="square" lIns="0" tIns="0" rIns="0" bIns="0" anchor="t">
            <a:spAutoFit/>
          </a:bodyPr>
          <a:lstStyle/>
          <a:p>
            <a:pPr algn="l"/>
            <a:r>
              <a:rPr sz="1600" b="1" i="0">
                <a:solidFill>
                  <a:srgbClr val="000000"/>
                </a:solidFill>
                <a:latin typeface="Lato"/>
              </a:rPr>
              <a:t>AI and new competitors</a:t>
            </a:r>
          </a:p>
        </p:txBody>
      </p:sp>
      <p:sp>
        <p:nvSpPr>
          <p:cNvPr id="22" name="TextBox 21"/>
          <p:cNvSpPr txBox="1"/>
          <p:nvPr/>
        </p:nvSpPr>
        <p:spPr>
          <a:xfrm>
            <a:off x="4471416" y="4517136"/>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Disruption from AI</a:t>
            </a:r>
          </a:p>
          <a:p>
            <a:pPr marL="171450" indent="-171450">
              <a:spcAft>
                <a:spcPts val="400"/>
              </a:spcAft>
              <a:buChar char="•"/>
            </a:pPr>
            <a:r>
              <a:rPr sz="1300">
                <a:solidFill>
                  <a:srgbClr val="000000"/>
                </a:solidFill>
                <a:latin typeface="Lato"/>
              </a:rPr>
              <a:t>Bite-sized learning</a:t>
            </a:r>
          </a:p>
          <a:p>
            <a:pPr marL="171450" indent="-171450">
              <a:spcAft>
                <a:spcPts val="400"/>
              </a:spcAft>
              <a:buChar char="•"/>
            </a:pPr>
            <a:r>
              <a:rPr sz="1300">
                <a:solidFill>
                  <a:srgbClr val="000000"/>
                </a:solidFill>
                <a:latin typeface="Lato"/>
              </a:rPr>
              <a:t>For-profits; companies and consultancies training on their own</a:t>
            </a:r>
          </a:p>
          <a:p>
            <a:pPr marL="171450" indent="-171450">
              <a:spcAft>
                <a:spcPts val="400"/>
              </a:spcAft>
              <a:buChar char="•"/>
            </a:pPr>
            <a:r>
              <a:rPr sz="1300">
                <a:solidFill>
                  <a:srgbClr val="000000"/>
                </a:solidFill>
                <a:latin typeface="Lato"/>
              </a:rPr>
              <a:t>Tech elite</a:t>
            </a:r>
          </a:p>
        </p:txBody>
      </p:sp>
      <p:sp>
        <p:nvSpPr>
          <p:cNvPr id="23" name="Rectangle 22"/>
          <p:cNvSpPr/>
          <p:nvPr/>
        </p:nvSpPr>
        <p:spPr>
          <a:xfrm>
            <a:off x="8119872"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02752" y="3922776"/>
            <a:ext cx="457200" cy="457200"/>
          </a:xfrm>
          <a:prstGeom prst="rect">
            <a:avLst/>
          </a:prstGeom>
          <a:noFill/>
        </p:spPr>
        <p:txBody>
          <a:bodyPr wrap="square" lIns="0" tIns="0" rIns="0" bIns="0" anchor="t">
            <a:spAutoFit/>
          </a:bodyPr>
          <a:lstStyle/>
          <a:p>
            <a:pPr algn="l"/>
            <a:r>
              <a:rPr sz="2600" b="1" i="0">
                <a:solidFill>
                  <a:srgbClr val="C8102E"/>
                </a:solidFill>
                <a:latin typeface="Lato"/>
              </a:rPr>
              <a:t>6</a:t>
            </a:r>
          </a:p>
        </p:txBody>
      </p:sp>
      <p:sp>
        <p:nvSpPr>
          <p:cNvPr id="25" name="TextBox 24"/>
          <p:cNvSpPr txBox="1"/>
          <p:nvPr/>
        </p:nvSpPr>
        <p:spPr>
          <a:xfrm>
            <a:off x="8714232" y="3986783"/>
            <a:ext cx="2560320" cy="365760"/>
          </a:xfrm>
          <a:prstGeom prst="rect">
            <a:avLst/>
          </a:prstGeom>
          <a:noFill/>
        </p:spPr>
        <p:txBody>
          <a:bodyPr wrap="square" lIns="0" tIns="0" rIns="0" bIns="0" anchor="t">
            <a:spAutoFit/>
          </a:bodyPr>
          <a:lstStyle/>
          <a:p>
            <a:pPr algn="l"/>
            <a:r>
              <a:rPr sz="1600" b="1" i="0">
                <a:solidFill>
                  <a:srgbClr val="000000"/>
                </a:solidFill>
                <a:latin typeface="Lato"/>
              </a:rPr>
              <a:t>Public trust and compliance</a:t>
            </a:r>
          </a:p>
        </p:txBody>
      </p:sp>
      <p:sp>
        <p:nvSpPr>
          <p:cNvPr id="26" name="TextBox 25"/>
          <p:cNvSpPr txBox="1"/>
          <p:nvPr/>
        </p:nvSpPr>
        <p:spPr>
          <a:xfrm>
            <a:off x="8302752" y="4517136"/>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Political and public opinion on higher education</a:t>
            </a:r>
          </a:p>
          <a:p>
            <a:pPr marL="171450" indent="-171450">
              <a:spcAft>
                <a:spcPts val="400"/>
              </a:spcAft>
              <a:buChar char="•"/>
            </a:pPr>
            <a:r>
              <a:rPr sz="1300">
                <a:solidFill>
                  <a:srgbClr val="000000"/>
                </a:solidFill>
                <a:latin typeface="Lato"/>
              </a:rPr>
              <a:t>Regulatory and compliance requirements</a:t>
            </a:r>
          </a:p>
          <a:p>
            <a:pPr marL="171450" indent="-171450">
              <a:spcAft>
                <a:spcPts val="400"/>
              </a:spcAft>
              <a:buChar char="•"/>
            </a:pPr>
            <a:r>
              <a:rPr sz="1300">
                <a:solidFill>
                  <a:srgbClr val="000000"/>
                </a:solidFill>
                <a:latin typeface="Lato"/>
              </a:rPr>
              <a:t>Federal actions, executive orders and endowment taxation</a:t>
            </a:r>
          </a:p>
        </p:txBody>
      </p:sp>
      <p:sp>
        <p:nvSpPr>
          <p:cNvPr id="27" name="TextBox 2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Board of Trustees Retreat, September 24, 2026 (Landscape and Disruptors); peer actions from federal-response tracking</a:t>
            </a:r>
          </a:p>
        </p:txBody>
      </p:sp>
      <p:sp>
        <p:nvSpPr>
          <p:cNvPr id="28"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5</a:t>
            </a:fld>
            <a:endParaRPr lang="en-US" sz="900" b="1">
              <a:solidFill>
                <a:srgbClr val="000000"/>
              </a:solidFill>
              <a:latin typeface="Lato"/>
            </a:endParaRPr>
          </a:p>
        </p:txBody>
      </p:sp>
      <p:pic>
        <p:nvPicPr>
          <p:cNvPr id="29" name="Icon Students icon" descr="Students icon"/>
          <p:cNvPicPr>
            <a:picLocks noChangeAspect="1"/>
          </p:cNvPicPr>
          <p:nvPr/>
        </p:nvPicPr>
        <p:blipFill>
          <a:blip r:embed="rId2"/>
          <a:stretch>
            <a:fillRect/>
          </a:stretch>
        </p:blipFill>
        <p:spPr>
          <a:xfrm>
            <a:off x="3630168" y="1499616"/>
            <a:ext cx="329184" cy="329184"/>
          </a:xfrm>
          <a:prstGeom prst="rect">
            <a:avLst/>
          </a:prstGeom>
        </p:spPr>
      </p:pic>
      <p:pic>
        <p:nvPicPr>
          <p:cNvPr id="30" name="Icon Cost icon" descr="Cost icon"/>
          <p:cNvPicPr>
            <a:picLocks noChangeAspect="1"/>
          </p:cNvPicPr>
          <p:nvPr/>
        </p:nvPicPr>
        <p:blipFill>
          <a:blip r:embed="rId3"/>
          <a:stretch>
            <a:fillRect/>
          </a:stretch>
        </p:blipFill>
        <p:spPr>
          <a:xfrm>
            <a:off x="7461504" y="1499616"/>
            <a:ext cx="329184" cy="329184"/>
          </a:xfrm>
          <a:prstGeom prst="rect">
            <a:avLst/>
          </a:prstGeom>
        </p:spPr>
      </p:pic>
      <p:pic>
        <p:nvPicPr>
          <p:cNvPr id="31" name="Icon International icon" descr="International icon"/>
          <p:cNvPicPr>
            <a:picLocks noChangeAspect="1"/>
          </p:cNvPicPr>
          <p:nvPr/>
        </p:nvPicPr>
        <p:blipFill>
          <a:blip r:embed="rId4"/>
          <a:stretch>
            <a:fillRect/>
          </a:stretch>
        </p:blipFill>
        <p:spPr>
          <a:xfrm>
            <a:off x="11292840" y="1499616"/>
            <a:ext cx="329184" cy="329184"/>
          </a:xfrm>
          <a:prstGeom prst="rect">
            <a:avLst/>
          </a:prstGeom>
        </p:spPr>
      </p:pic>
      <p:pic>
        <p:nvPicPr>
          <p:cNvPr id="32" name="Icon Federal icon" descr="Federal icon"/>
          <p:cNvPicPr>
            <a:picLocks noChangeAspect="1"/>
          </p:cNvPicPr>
          <p:nvPr/>
        </p:nvPicPr>
        <p:blipFill>
          <a:blip r:embed="rId5"/>
          <a:stretch>
            <a:fillRect/>
          </a:stretch>
        </p:blipFill>
        <p:spPr>
          <a:xfrm>
            <a:off x="3630168" y="3913631"/>
            <a:ext cx="329184" cy="329184"/>
          </a:xfrm>
          <a:prstGeom prst="rect">
            <a:avLst/>
          </a:prstGeom>
        </p:spPr>
      </p:pic>
      <p:pic>
        <p:nvPicPr>
          <p:cNvPr id="33" name="Icon AI icon" descr="AI icon"/>
          <p:cNvPicPr>
            <a:picLocks noChangeAspect="1"/>
          </p:cNvPicPr>
          <p:nvPr/>
        </p:nvPicPr>
        <p:blipFill>
          <a:blip r:embed="rId6"/>
          <a:stretch>
            <a:fillRect/>
          </a:stretch>
        </p:blipFill>
        <p:spPr>
          <a:xfrm>
            <a:off x="7461504" y="3913631"/>
            <a:ext cx="329184" cy="329184"/>
          </a:xfrm>
          <a:prstGeom prst="rect">
            <a:avLst/>
          </a:prstGeom>
        </p:spPr>
      </p:pic>
      <p:pic>
        <p:nvPicPr>
          <p:cNvPr id="34" name="Icon Trust icon" descr="Trust icon"/>
          <p:cNvPicPr>
            <a:picLocks noChangeAspect="1"/>
          </p:cNvPicPr>
          <p:nvPr/>
        </p:nvPicPr>
        <p:blipFill>
          <a:blip r:embed="rId7"/>
          <a:stretch>
            <a:fillRect/>
          </a:stretch>
        </p:blipFill>
        <p:spPr>
          <a:xfrm>
            <a:off x="11292840" y="3913631"/>
            <a:ext cx="329184" cy="32918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headlines: international enrollment is falling and campuses are cutting</a:t>
            </a:r>
          </a:p>
        </p:txBody>
      </p:sp>
      <p:sp>
        <p:nvSpPr>
          <p:cNvPr id="3" name="TextBox 2"/>
          <p:cNvSpPr txBox="1"/>
          <p:nvPr/>
        </p:nvSpPr>
        <p:spPr>
          <a:xfrm>
            <a:off x="457200" y="800472"/>
            <a:ext cx="11247120" cy="274320"/>
          </a:xfrm>
          <a:prstGeom prst="rect">
            <a:avLst/>
          </a:prstGeom>
          <a:noFill/>
        </p:spPr>
        <p:txBody>
          <a:bodyPr wrap="square" lIns="0" tIns="0" rIns="0" bIns="0" anchor="t">
            <a:spAutoFit/>
          </a:bodyPr>
          <a:lstStyle/>
          <a:p>
            <a:pPr algn="l"/>
            <a:r>
              <a:rPr sz="1400" b="0" i="0">
                <a:solidFill>
                  <a:srgbClr val="595959"/>
                </a:solidFill>
                <a:latin typeface="Lato"/>
              </a:rPr>
              <a:t>Recent coverage, June–August 2026, as clipped</a:t>
            </a:r>
          </a:p>
        </p:txBody>
      </p:sp>
      <p:sp>
        <p:nvSpPr>
          <p:cNvPr id="4" name="Rectangle 3"/>
          <p:cNvSpPr/>
          <p:nvPr/>
        </p:nvSpPr>
        <p:spPr>
          <a:xfrm>
            <a:off x="457200" y="1102224"/>
            <a:ext cx="11274552" cy="4526280"/>
          </a:xfrm>
          <a:prstGeom prst="rect">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 name="Group 10"/>
          <p:cNvGrpSpPr/>
          <p:nvPr/>
        </p:nvGrpSpPr>
        <p:grpSpPr>
          <a:xfrm rot="21480000">
            <a:off x="629378" y="1189453"/>
            <a:ext cx="2665019" cy="2161169"/>
            <a:chOff x="629378" y="1504549"/>
            <a:chExt cx="2665019" cy="2161169"/>
          </a:xfrm>
        </p:grpSpPr>
        <p:sp>
          <p:nvSpPr>
            <p:cNvPr id="5" name="Freeform 4"/>
            <p:cNvSpPr/>
            <p:nvPr/>
          </p:nvSpPr>
          <p:spPr>
            <a:xfrm>
              <a:off x="629378" y="1504549"/>
              <a:ext cx="2665019" cy="2161169"/>
            </a:xfrm>
            <a:custGeom>
              <a:avLst/>
              <a:gdLst/>
              <a:ahLst/>
              <a:cxnLst/>
              <a:rect l="l" t="t" r="r" b="b"/>
              <a:pathLst>
                <a:path w="2665019" h="2161169">
                  <a:moveTo>
                    <a:pt x="28990" y="8962"/>
                  </a:moveTo>
                  <a:lnTo>
                    <a:pt x="150202" y="48975"/>
                  </a:lnTo>
                  <a:lnTo>
                    <a:pt x="290338" y="46490"/>
                  </a:lnTo>
                  <a:lnTo>
                    <a:pt x="397025" y="50846"/>
                  </a:lnTo>
                  <a:lnTo>
                    <a:pt x="527484" y="4769"/>
                  </a:lnTo>
                  <a:lnTo>
                    <a:pt x="646655" y="2704"/>
                  </a:lnTo>
                  <a:lnTo>
                    <a:pt x="801285" y="60259"/>
                  </a:lnTo>
                  <a:lnTo>
                    <a:pt x="887131" y="19443"/>
                  </a:lnTo>
                  <a:lnTo>
                    <a:pt x="1038922" y="12688"/>
                  </a:lnTo>
                  <a:lnTo>
                    <a:pt x="1125283" y="11710"/>
                  </a:lnTo>
                  <a:lnTo>
                    <a:pt x="1260168" y="39728"/>
                  </a:lnTo>
                  <a:lnTo>
                    <a:pt x="1423714" y="13134"/>
                  </a:lnTo>
                  <a:lnTo>
                    <a:pt x="1547349" y="35189"/>
                  </a:lnTo>
                  <a:lnTo>
                    <a:pt x="1667929" y="51998"/>
                  </a:lnTo>
                  <a:lnTo>
                    <a:pt x="1744614" y="41150"/>
                  </a:lnTo>
                  <a:lnTo>
                    <a:pt x="1866386" y="0"/>
                  </a:lnTo>
                  <a:lnTo>
                    <a:pt x="2007856" y="49149"/>
                  </a:lnTo>
                  <a:lnTo>
                    <a:pt x="2142876" y="11969"/>
                  </a:lnTo>
                  <a:lnTo>
                    <a:pt x="2284576" y="58128"/>
                  </a:lnTo>
                  <a:lnTo>
                    <a:pt x="2370016" y="28326"/>
                  </a:lnTo>
                  <a:lnTo>
                    <a:pt x="2519753" y="57396"/>
                  </a:lnTo>
                  <a:lnTo>
                    <a:pt x="2635030" y="7743"/>
                  </a:lnTo>
                  <a:lnTo>
                    <a:pt x="2638483" y="154280"/>
                  </a:lnTo>
                  <a:lnTo>
                    <a:pt x="2665019" y="276917"/>
                  </a:lnTo>
                  <a:lnTo>
                    <a:pt x="2642013" y="399554"/>
                  </a:lnTo>
                  <a:lnTo>
                    <a:pt x="2648939" y="522191"/>
                  </a:lnTo>
                  <a:lnTo>
                    <a:pt x="2652629" y="644828"/>
                  </a:lnTo>
                  <a:lnTo>
                    <a:pt x="2635485" y="767466"/>
                  </a:lnTo>
                  <a:lnTo>
                    <a:pt x="2621579" y="890103"/>
                  </a:lnTo>
                  <a:lnTo>
                    <a:pt x="2640814" y="1012740"/>
                  </a:lnTo>
                  <a:lnTo>
                    <a:pt x="2636833" y="1135377"/>
                  </a:lnTo>
                  <a:lnTo>
                    <a:pt x="2624997" y="1258014"/>
                  </a:lnTo>
                  <a:lnTo>
                    <a:pt x="2657699" y="1380651"/>
                  </a:lnTo>
                  <a:lnTo>
                    <a:pt x="2626260" y="1503289"/>
                  </a:lnTo>
                  <a:lnTo>
                    <a:pt x="2633977" y="1625926"/>
                  </a:lnTo>
                  <a:lnTo>
                    <a:pt x="2651768" y="1748563"/>
                  </a:lnTo>
                  <a:lnTo>
                    <a:pt x="2655116" y="1871200"/>
                  </a:lnTo>
                  <a:lnTo>
                    <a:pt x="2660022" y="1993837"/>
                  </a:lnTo>
                  <a:lnTo>
                    <a:pt x="2644727" y="2116475"/>
                  </a:lnTo>
                  <a:lnTo>
                    <a:pt x="2495092" y="2152050"/>
                  </a:lnTo>
                  <a:lnTo>
                    <a:pt x="2413033" y="2138467"/>
                  </a:lnTo>
                  <a:lnTo>
                    <a:pt x="2279826" y="2117865"/>
                  </a:lnTo>
                  <a:lnTo>
                    <a:pt x="2138224" y="2124942"/>
                  </a:lnTo>
                  <a:lnTo>
                    <a:pt x="1991961" y="2134497"/>
                  </a:lnTo>
                  <a:lnTo>
                    <a:pt x="1913575" y="2082136"/>
                  </a:lnTo>
                  <a:lnTo>
                    <a:pt x="1782600" y="2137590"/>
                  </a:lnTo>
                  <a:lnTo>
                    <a:pt x="1617994" y="2070463"/>
                  </a:lnTo>
                  <a:lnTo>
                    <a:pt x="1524259" y="2087712"/>
                  </a:lnTo>
                  <a:lnTo>
                    <a:pt x="1381888" y="2128884"/>
                  </a:lnTo>
                  <a:lnTo>
                    <a:pt x="1279615" y="2141950"/>
                  </a:lnTo>
                  <a:lnTo>
                    <a:pt x="1150230" y="2099447"/>
                  </a:lnTo>
                  <a:lnTo>
                    <a:pt x="990564" y="2076946"/>
                  </a:lnTo>
                  <a:lnTo>
                    <a:pt x="878008" y="2119064"/>
                  </a:lnTo>
                  <a:lnTo>
                    <a:pt x="787661" y="2086687"/>
                  </a:lnTo>
                  <a:lnTo>
                    <a:pt x="642424" y="2161169"/>
                  </a:lnTo>
                  <a:lnTo>
                    <a:pt x="519016" y="2138310"/>
                  </a:lnTo>
                  <a:lnTo>
                    <a:pt x="408865" y="2132833"/>
                  </a:lnTo>
                  <a:lnTo>
                    <a:pt x="275693" y="2121092"/>
                  </a:lnTo>
                  <a:lnTo>
                    <a:pt x="165942" y="2081770"/>
                  </a:lnTo>
                  <a:lnTo>
                    <a:pt x="28990" y="2147071"/>
                  </a:lnTo>
                  <a:lnTo>
                    <a:pt x="52857" y="1993837"/>
                  </a:lnTo>
                  <a:lnTo>
                    <a:pt x="0" y="1871200"/>
                  </a:lnTo>
                  <a:lnTo>
                    <a:pt x="9667" y="1748563"/>
                  </a:lnTo>
                  <a:lnTo>
                    <a:pt x="12910" y="1625926"/>
                  </a:lnTo>
                  <a:lnTo>
                    <a:pt x="3024" y="1503289"/>
                  </a:lnTo>
                  <a:lnTo>
                    <a:pt x="5945" y="1380651"/>
                  </a:lnTo>
                  <a:lnTo>
                    <a:pt x="38042" y="1258014"/>
                  </a:lnTo>
                  <a:lnTo>
                    <a:pt x="4859" y="1135377"/>
                  </a:lnTo>
                  <a:lnTo>
                    <a:pt x="1261" y="1012740"/>
                  </a:lnTo>
                  <a:lnTo>
                    <a:pt x="57526" y="890103"/>
                  </a:lnTo>
                  <a:lnTo>
                    <a:pt x="22718" y="767466"/>
                  </a:lnTo>
                  <a:lnTo>
                    <a:pt x="31584" y="644828"/>
                  </a:lnTo>
                  <a:lnTo>
                    <a:pt x="27333" y="522191"/>
                  </a:lnTo>
                  <a:lnTo>
                    <a:pt x="18983" y="399554"/>
                  </a:lnTo>
                  <a:lnTo>
                    <a:pt x="26059" y="276917"/>
                  </a:lnTo>
                  <a:lnTo>
                    <a:pt x="9416" y="154280"/>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globe.png"/>
            <p:cNvPicPr>
              <a:picLocks noChangeAspect="1"/>
            </p:cNvPicPr>
            <p:nvPr/>
          </p:nvPicPr>
          <p:blipFill>
            <a:blip r:embed="rId2"/>
            <a:stretch>
              <a:fillRect/>
            </a:stretch>
          </p:blipFill>
          <p:spPr>
            <a:xfrm>
              <a:off x="886968" y="1670065"/>
              <a:ext cx="2148840" cy="335756"/>
            </a:xfrm>
            <a:prstGeom prst="rect">
              <a:avLst/>
            </a:prstGeom>
          </p:spPr>
        </p:pic>
        <p:cxnSp>
          <p:nvCxnSpPr>
            <p:cNvPr id="7" name="Connector 6"/>
            <p:cNvCxnSpPr/>
            <p:nvPr/>
          </p:nvCxnSpPr>
          <p:spPr>
            <a:xfrm>
              <a:off x="786384" y="2103120"/>
              <a:ext cx="235000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86384" y="2157984"/>
              <a:ext cx="235000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86384" y="2231136"/>
              <a:ext cx="2350008" cy="201168"/>
            </a:xfrm>
            <a:prstGeom prst="rect">
              <a:avLst/>
            </a:prstGeom>
            <a:noFill/>
          </p:spPr>
          <p:txBody>
            <a:bodyPr wrap="square" lIns="0" tIns="0" rIns="0" bIns="0" anchor="t">
              <a:spAutoFit/>
            </a:bodyPr>
            <a:lstStyle/>
            <a:p>
              <a:pPr algn="ctr"/>
              <a:r>
                <a:rPr sz="800" b="1" i="0">
                  <a:solidFill>
                    <a:srgbClr val="595959"/>
                  </a:solidFill>
                  <a:latin typeface="Lato"/>
                </a:rPr>
                <a:t>MAY 12, 2026</a:t>
              </a:r>
            </a:p>
          </p:txBody>
        </p:sp>
        <p:sp>
          <p:nvSpPr>
            <p:cNvPr id="10" name="TextBox 9"/>
            <p:cNvSpPr txBox="1"/>
            <p:nvPr/>
          </p:nvSpPr>
          <p:spPr>
            <a:xfrm>
              <a:off x="804672" y="2523744"/>
              <a:ext cx="2313432" cy="1042415"/>
            </a:xfrm>
            <a:prstGeom prst="rect">
              <a:avLst/>
            </a:prstGeom>
            <a:noFill/>
          </p:spPr>
          <p:txBody>
            <a:bodyPr wrap="square" lIns="0" tIns="0" rIns="0" bIns="0" anchor="t">
              <a:spAutoFit/>
            </a:bodyPr>
            <a:lstStyle/>
            <a:p>
              <a:pPr algn="l"/>
              <a:r>
                <a:rPr sz="1300" b="1" i="0">
                  <a:solidFill>
                    <a:srgbClr val="000000"/>
                  </a:solidFill>
                  <a:latin typeface="Georgia"/>
                </a:rPr>
                <a:t>US colleges report 20 percent drop in foreign students over visa clampdown</a:t>
              </a:r>
            </a:p>
          </p:txBody>
        </p:sp>
      </p:grpSp>
      <p:grpSp>
        <p:nvGrpSpPr>
          <p:cNvPr id="18" name="Group 17"/>
          <p:cNvGrpSpPr/>
          <p:nvPr/>
        </p:nvGrpSpPr>
        <p:grpSpPr>
          <a:xfrm rot="84000">
            <a:off x="3393975" y="1244373"/>
            <a:ext cx="2555397" cy="2163234"/>
            <a:chOff x="3393975" y="1559469"/>
            <a:chExt cx="2555397" cy="2163234"/>
          </a:xfrm>
        </p:grpSpPr>
        <p:sp>
          <p:nvSpPr>
            <p:cNvPr id="12" name="Freeform 11"/>
            <p:cNvSpPr/>
            <p:nvPr/>
          </p:nvSpPr>
          <p:spPr>
            <a:xfrm>
              <a:off x="3393975" y="1559469"/>
              <a:ext cx="2555397" cy="2163234"/>
            </a:xfrm>
            <a:custGeom>
              <a:avLst/>
              <a:gdLst/>
              <a:ahLst/>
              <a:cxnLst/>
              <a:rect l="l" t="t" r="r" b="b"/>
              <a:pathLst>
                <a:path w="2555397" h="2163234">
                  <a:moveTo>
                    <a:pt x="16737" y="36781"/>
                  </a:moveTo>
                  <a:lnTo>
                    <a:pt x="116941" y="61366"/>
                  </a:lnTo>
                  <a:lnTo>
                    <a:pt x="283360" y="29483"/>
                  </a:lnTo>
                  <a:lnTo>
                    <a:pt x="386429" y="13314"/>
                  </a:lnTo>
                  <a:lnTo>
                    <a:pt x="477894" y="18050"/>
                  </a:lnTo>
                  <a:lnTo>
                    <a:pt x="627767" y="13176"/>
                  </a:lnTo>
                  <a:lnTo>
                    <a:pt x="765348" y="4086"/>
                  </a:lnTo>
                  <a:lnTo>
                    <a:pt x="835304" y="5270"/>
                  </a:lnTo>
                  <a:lnTo>
                    <a:pt x="991955" y="23042"/>
                  </a:lnTo>
                  <a:lnTo>
                    <a:pt x="1092610" y="20451"/>
                  </a:lnTo>
                  <a:lnTo>
                    <a:pt x="1222961" y="25435"/>
                  </a:lnTo>
                  <a:lnTo>
                    <a:pt x="1315235" y="27116"/>
                  </a:lnTo>
                  <a:lnTo>
                    <a:pt x="1441124" y="6675"/>
                  </a:lnTo>
                  <a:lnTo>
                    <a:pt x="1594093" y="43117"/>
                  </a:lnTo>
                  <a:lnTo>
                    <a:pt x="1703684" y="56066"/>
                  </a:lnTo>
                  <a:lnTo>
                    <a:pt x="1806136" y="23859"/>
                  </a:lnTo>
                  <a:lnTo>
                    <a:pt x="1927691" y="25477"/>
                  </a:lnTo>
                  <a:lnTo>
                    <a:pt x="2063178" y="0"/>
                  </a:lnTo>
                  <a:lnTo>
                    <a:pt x="2169810" y="33832"/>
                  </a:lnTo>
                  <a:lnTo>
                    <a:pt x="2281962" y="982"/>
                  </a:lnTo>
                  <a:lnTo>
                    <a:pt x="2424689" y="187"/>
                  </a:lnTo>
                  <a:lnTo>
                    <a:pt x="2531337" y="35709"/>
                  </a:lnTo>
                  <a:lnTo>
                    <a:pt x="2509149" y="154224"/>
                  </a:lnTo>
                  <a:lnTo>
                    <a:pt x="2501546" y="276861"/>
                  </a:lnTo>
                  <a:lnTo>
                    <a:pt x="2510908" y="399498"/>
                  </a:lnTo>
                  <a:lnTo>
                    <a:pt x="2503540" y="522135"/>
                  </a:lnTo>
                  <a:lnTo>
                    <a:pt x="2508982" y="644772"/>
                  </a:lnTo>
                  <a:lnTo>
                    <a:pt x="2543170" y="767410"/>
                  </a:lnTo>
                  <a:lnTo>
                    <a:pt x="2545948" y="890047"/>
                  </a:lnTo>
                  <a:lnTo>
                    <a:pt x="2522554" y="1012684"/>
                  </a:lnTo>
                  <a:lnTo>
                    <a:pt x="2541091" y="1135321"/>
                  </a:lnTo>
                  <a:lnTo>
                    <a:pt x="2529745" y="1257958"/>
                  </a:lnTo>
                  <a:lnTo>
                    <a:pt x="2531237" y="1380595"/>
                  </a:lnTo>
                  <a:lnTo>
                    <a:pt x="2555397" y="1503233"/>
                  </a:lnTo>
                  <a:lnTo>
                    <a:pt x="2519258" y="1625870"/>
                  </a:lnTo>
                  <a:lnTo>
                    <a:pt x="2555019" y="1748507"/>
                  </a:lnTo>
                  <a:lnTo>
                    <a:pt x="2543567" y="1871144"/>
                  </a:lnTo>
                  <a:lnTo>
                    <a:pt x="2543079" y="1993781"/>
                  </a:lnTo>
                  <a:lnTo>
                    <a:pt x="2499713" y="2116418"/>
                  </a:lnTo>
                  <a:lnTo>
                    <a:pt x="2384970" y="2068489"/>
                  </a:lnTo>
                  <a:lnTo>
                    <a:pt x="2281979" y="2162105"/>
                  </a:lnTo>
                  <a:lnTo>
                    <a:pt x="2196156" y="2151093"/>
                  </a:lnTo>
                  <a:lnTo>
                    <a:pt x="2027970" y="2137487"/>
                  </a:lnTo>
                  <a:lnTo>
                    <a:pt x="1950191" y="2148090"/>
                  </a:lnTo>
                  <a:lnTo>
                    <a:pt x="1831585" y="2079582"/>
                  </a:lnTo>
                  <a:lnTo>
                    <a:pt x="1672579" y="2146380"/>
                  </a:lnTo>
                  <a:lnTo>
                    <a:pt x="1588641" y="2156610"/>
                  </a:lnTo>
                  <a:lnTo>
                    <a:pt x="1450225" y="2156316"/>
                  </a:lnTo>
                  <a:lnTo>
                    <a:pt x="1310827" y="2163234"/>
                  </a:lnTo>
                  <a:lnTo>
                    <a:pt x="1238775" y="2099782"/>
                  </a:lnTo>
                  <a:lnTo>
                    <a:pt x="1066742" y="2121389"/>
                  </a:lnTo>
                  <a:lnTo>
                    <a:pt x="986790" y="2101095"/>
                  </a:lnTo>
                  <a:lnTo>
                    <a:pt x="826613" y="2093752"/>
                  </a:lnTo>
                  <a:lnTo>
                    <a:pt x="755964" y="2074494"/>
                  </a:lnTo>
                  <a:lnTo>
                    <a:pt x="643439" y="2090817"/>
                  </a:lnTo>
                  <a:lnTo>
                    <a:pt x="476790" y="2076702"/>
                  </a:lnTo>
                  <a:lnTo>
                    <a:pt x="406755" y="2157491"/>
                  </a:lnTo>
                  <a:lnTo>
                    <a:pt x="244647" y="2075005"/>
                  </a:lnTo>
                  <a:lnTo>
                    <a:pt x="146292" y="2156111"/>
                  </a:lnTo>
                  <a:lnTo>
                    <a:pt x="16737" y="2066452"/>
                  </a:lnTo>
                  <a:lnTo>
                    <a:pt x="25252" y="1993781"/>
                  </a:lnTo>
                  <a:lnTo>
                    <a:pt x="39569" y="1871144"/>
                  </a:lnTo>
                  <a:lnTo>
                    <a:pt x="14101" y="1748507"/>
                  </a:lnTo>
                  <a:lnTo>
                    <a:pt x="21177" y="1625870"/>
                  </a:lnTo>
                  <a:lnTo>
                    <a:pt x="36212" y="1503233"/>
                  </a:lnTo>
                  <a:lnTo>
                    <a:pt x="0" y="1380595"/>
                  </a:lnTo>
                  <a:lnTo>
                    <a:pt x="2222" y="1257958"/>
                  </a:lnTo>
                  <a:lnTo>
                    <a:pt x="27004" y="1135321"/>
                  </a:lnTo>
                  <a:lnTo>
                    <a:pt x="20086" y="1012684"/>
                  </a:lnTo>
                  <a:lnTo>
                    <a:pt x="18999" y="890047"/>
                  </a:lnTo>
                  <a:lnTo>
                    <a:pt x="6134" y="767410"/>
                  </a:lnTo>
                  <a:lnTo>
                    <a:pt x="44706" y="644772"/>
                  </a:lnTo>
                  <a:lnTo>
                    <a:pt x="3176" y="522135"/>
                  </a:lnTo>
                  <a:lnTo>
                    <a:pt x="28187" y="399498"/>
                  </a:lnTo>
                  <a:lnTo>
                    <a:pt x="41966" y="276861"/>
                  </a:lnTo>
                  <a:lnTo>
                    <a:pt x="10387" y="154224"/>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globe.png"/>
            <p:cNvPicPr>
              <a:picLocks noChangeAspect="1"/>
            </p:cNvPicPr>
            <p:nvPr/>
          </p:nvPicPr>
          <p:blipFill>
            <a:blip r:embed="rId2"/>
            <a:stretch>
              <a:fillRect/>
            </a:stretch>
          </p:blipFill>
          <p:spPr>
            <a:xfrm>
              <a:off x="3639312" y="1732073"/>
              <a:ext cx="2057400" cy="321468"/>
            </a:xfrm>
            <a:prstGeom prst="rect">
              <a:avLst/>
            </a:prstGeom>
          </p:spPr>
        </p:pic>
        <p:cxnSp>
          <p:nvCxnSpPr>
            <p:cNvPr id="14" name="Connector 13"/>
            <p:cNvCxnSpPr/>
            <p:nvPr/>
          </p:nvCxnSpPr>
          <p:spPr>
            <a:xfrm>
              <a:off x="3538728" y="2157984"/>
              <a:ext cx="225856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538728" y="2212848"/>
              <a:ext cx="225856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538728" y="2286000"/>
              <a:ext cx="2258568" cy="201168"/>
            </a:xfrm>
            <a:prstGeom prst="rect">
              <a:avLst/>
            </a:prstGeom>
            <a:noFill/>
          </p:spPr>
          <p:txBody>
            <a:bodyPr wrap="square" lIns="0" tIns="0" rIns="0" bIns="0" anchor="t">
              <a:spAutoFit/>
            </a:bodyPr>
            <a:lstStyle/>
            <a:p>
              <a:pPr algn="ctr"/>
              <a:r>
                <a:rPr sz="800" b="1" i="0">
                  <a:solidFill>
                    <a:srgbClr val="595959"/>
                  </a:solidFill>
                  <a:latin typeface="Lato"/>
                </a:rPr>
                <a:t>JULY 31, 2026</a:t>
              </a:r>
            </a:p>
          </p:txBody>
        </p:sp>
        <p:sp>
          <p:nvSpPr>
            <p:cNvPr id="17" name="TextBox 16"/>
            <p:cNvSpPr txBox="1"/>
            <p:nvPr/>
          </p:nvSpPr>
          <p:spPr>
            <a:xfrm>
              <a:off x="3557016" y="2578608"/>
              <a:ext cx="2221992" cy="1042415"/>
            </a:xfrm>
            <a:prstGeom prst="rect">
              <a:avLst/>
            </a:prstGeom>
            <a:noFill/>
          </p:spPr>
          <p:txBody>
            <a:bodyPr wrap="square" lIns="0" tIns="0" rIns="0" bIns="0" anchor="t">
              <a:spAutoFit/>
            </a:bodyPr>
            <a:lstStyle/>
            <a:p>
              <a:pPr algn="l"/>
              <a:r>
                <a:rPr sz="1300" b="1" i="0">
                  <a:solidFill>
                    <a:srgbClr val="000000"/>
                  </a:solidFill>
                  <a:latin typeface="Georgia"/>
                </a:rPr>
                <a:t>New visa changes will upend international studies. Graduate programs are bracing for impact.</a:t>
              </a:r>
            </a:p>
          </p:txBody>
        </p:sp>
      </p:grpSp>
      <p:grpSp>
        <p:nvGrpSpPr>
          <p:cNvPr id="25" name="Group 24"/>
          <p:cNvGrpSpPr/>
          <p:nvPr/>
        </p:nvGrpSpPr>
        <p:grpSpPr>
          <a:xfrm rot="21534000">
            <a:off x="6076675" y="1191858"/>
            <a:ext cx="2713617" cy="2159548"/>
            <a:chOff x="6076675" y="1506954"/>
            <a:chExt cx="2713617" cy="2159548"/>
          </a:xfrm>
        </p:grpSpPr>
        <p:sp>
          <p:nvSpPr>
            <p:cNvPr id="19" name="Freeform 18"/>
            <p:cNvSpPr/>
            <p:nvPr/>
          </p:nvSpPr>
          <p:spPr>
            <a:xfrm>
              <a:off x="6076675" y="1506954"/>
              <a:ext cx="2713617" cy="2159548"/>
            </a:xfrm>
            <a:custGeom>
              <a:avLst/>
              <a:gdLst/>
              <a:ahLst/>
              <a:cxnLst/>
              <a:rect l="l" t="t" r="r" b="b"/>
              <a:pathLst>
                <a:path w="2713617" h="2159548">
                  <a:moveTo>
                    <a:pt x="31517" y="6718"/>
                  </a:moveTo>
                  <a:lnTo>
                    <a:pt x="159474" y="8095"/>
                  </a:lnTo>
                  <a:lnTo>
                    <a:pt x="286188" y="36140"/>
                  </a:lnTo>
                  <a:lnTo>
                    <a:pt x="385717" y="36758"/>
                  </a:lnTo>
                  <a:lnTo>
                    <a:pt x="517895" y="0"/>
                  </a:lnTo>
                  <a:lnTo>
                    <a:pt x="636117" y="36897"/>
                  </a:lnTo>
                  <a:lnTo>
                    <a:pt x="755979" y="53526"/>
                  </a:lnTo>
                  <a:lnTo>
                    <a:pt x="890320" y="21372"/>
                  </a:lnTo>
                  <a:lnTo>
                    <a:pt x="978308" y="5430"/>
                  </a:lnTo>
                  <a:lnTo>
                    <a:pt x="1136183" y="41385"/>
                  </a:lnTo>
                  <a:lnTo>
                    <a:pt x="1243859" y="25508"/>
                  </a:lnTo>
                  <a:lnTo>
                    <a:pt x="1357463" y="11445"/>
                  </a:lnTo>
                  <a:lnTo>
                    <a:pt x="1479877" y="6537"/>
                  </a:lnTo>
                  <a:lnTo>
                    <a:pt x="1606217" y="37569"/>
                  </a:lnTo>
                  <a:lnTo>
                    <a:pt x="1729900" y="13008"/>
                  </a:lnTo>
                  <a:lnTo>
                    <a:pt x="1813420" y="18547"/>
                  </a:lnTo>
                  <a:lnTo>
                    <a:pt x="1972079" y="29872"/>
                  </a:lnTo>
                  <a:lnTo>
                    <a:pt x="2096453" y="24824"/>
                  </a:lnTo>
                  <a:lnTo>
                    <a:pt x="2194637" y="55326"/>
                  </a:lnTo>
                  <a:lnTo>
                    <a:pt x="2300359" y="10506"/>
                  </a:lnTo>
                  <a:lnTo>
                    <a:pt x="2447892" y="37648"/>
                  </a:lnTo>
                  <a:lnTo>
                    <a:pt x="2558443" y="32954"/>
                  </a:lnTo>
                  <a:lnTo>
                    <a:pt x="2683277" y="25434"/>
                  </a:lnTo>
                  <a:lnTo>
                    <a:pt x="2694073" y="151875"/>
                  </a:lnTo>
                  <a:lnTo>
                    <a:pt x="2708164" y="274512"/>
                  </a:lnTo>
                  <a:lnTo>
                    <a:pt x="2704083" y="397149"/>
                  </a:lnTo>
                  <a:lnTo>
                    <a:pt x="2692189" y="519786"/>
                  </a:lnTo>
                  <a:lnTo>
                    <a:pt x="2681365" y="642423"/>
                  </a:lnTo>
                  <a:lnTo>
                    <a:pt x="2711923" y="765061"/>
                  </a:lnTo>
                  <a:lnTo>
                    <a:pt x="2679893" y="887698"/>
                  </a:lnTo>
                  <a:lnTo>
                    <a:pt x="2691324" y="1010335"/>
                  </a:lnTo>
                  <a:lnTo>
                    <a:pt x="2706862" y="1132972"/>
                  </a:lnTo>
                  <a:lnTo>
                    <a:pt x="2695015" y="1255609"/>
                  </a:lnTo>
                  <a:lnTo>
                    <a:pt x="2676283" y="1378246"/>
                  </a:lnTo>
                  <a:lnTo>
                    <a:pt x="2698831" y="1500884"/>
                  </a:lnTo>
                  <a:lnTo>
                    <a:pt x="2689696" y="1623521"/>
                  </a:lnTo>
                  <a:lnTo>
                    <a:pt x="2709839" y="1746158"/>
                  </a:lnTo>
                  <a:lnTo>
                    <a:pt x="2691155" y="1868795"/>
                  </a:lnTo>
                  <a:lnTo>
                    <a:pt x="2685432" y="1991432"/>
                  </a:lnTo>
                  <a:lnTo>
                    <a:pt x="2713617" y="2114070"/>
                  </a:lnTo>
                  <a:lnTo>
                    <a:pt x="2564512" y="2103668"/>
                  </a:lnTo>
                  <a:lnTo>
                    <a:pt x="2470224" y="2159548"/>
                  </a:lnTo>
                  <a:lnTo>
                    <a:pt x="2300679" y="2070280"/>
                  </a:lnTo>
                  <a:lnTo>
                    <a:pt x="2224057" y="2153266"/>
                  </a:lnTo>
                  <a:lnTo>
                    <a:pt x="2073209" y="2088950"/>
                  </a:lnTo>
                  <a:lnTo>
                    <a:pt x="1971878" y="2159142"/>
                  </a:lnTo>
                  <a:lnTo>
                    <a:pt x="1821170" y="2108727"/>
                  </a:lnTo>
                  <a:lnTo>
                    <a:pt x="1729413" y="2085477"/>
                  </a:lnTo>
                  <a:lnTo>
                    <a:pt x="1593016" y="2077501"/>
                  </a:lnTo>
                  <a:lnTo>
                    <a:pt x="1476632" y="2086409"/>
                  </a:lnTo>
                  <a:lnTo>
                    <a:pt x="1330555" y="2102718"/>
                  </a:lnTo>
                  <a:lnTo>
                    <a:pt x="1214472" y="2075036"/>
                  </a:lnTo>
                  <a:lnTo>
                    <a:pt x="1093963" y="2105641"/>
                  </a:lnTo>
                  <a:lnTo>
                    <a:pt x="984134" y="2137450"/>
                  </a:lnTo>
                  <a:lnTo>
                    <a:pt x="869778" y="2087774"/>
                  </a:lnTo>
                  <a:lnTo>
                    <a:pt x="734755" y="2093292"/>
                  </a:lnTo>
                  <a:lnTo>
                    <a:pt x="649763" y="2083502"/>
                  </a:lnTo>
                  <a:lnTo>
                    <a:pt x="511431" y="2145477"/>
                  </a:lnTo>
                  <a:lnTo>
                    <a:pt x="414226" y="2110214"/>
                  </a:lnTo>
                  <a:lnTo>
                    <a:pt x="294523" y="2128650"/>
                  </a:lnTo>
                  <a:lnTo>
                    <a:pt x="134567" y="2072375"/>
                  </a:lnTo>
                  <a:lnTo>
                    <a:pt x="31517" y="2080278"/>
                  </a:lnTo>
                  <a:lnTo>
                    <a:pt x="50088" y="1991432"/>
                  </a:lnTo>
                  <a:lnTo>
                    <a:pt x="24453" y="1868795"/>
                  </a:lnTo>
                  <a:lnTo>
                    <a:pt x="53118" y="1746158"/>
                  </a:lnTo>
                  <a:lnTo>
                    <a:pt x="61439" y="1623521"/>
                  </a:lnTo>
                  <a:lnTo>
                    <a:pt x="58358" y="1500884"/>
                  </a:lnTo>
                  <a:lnTo>
                    <a:pt x="29545" y="1378246"/>
                  </a:lnTo>
                  <a:lnTo>
                    <a:pt x="0" y="1255609"/>
                  </a:lnTo>
                  <a:lnTo>
                    <a:pt x="17200" y="1132972"/>
                  </a:lnTo>
                  <a:lnTo>
                    <a:pt x="13525" y="1010335"/>
                  </a:lnTo>
                  <a:lnTo>
                    <a:pt x="41058" y="887698"/>
                  </a:lnTo>
                  <a:lnTo>
                    <a:pt x="44441" y="765061"/>
                  </a:lnTo>
                  <a:lnTo>
                    <a:pt x="58505" y="642423"/>
                  </a:lnTo>
                  <a:lnTo>
                    <a:pt x="44648" y="519786"/>
                  </a:lnTo>
                  <a:lnTo>
                    <a:pt x="60938" y="397149"/>
                  </a:lnTo>
                  <a:lnTo>
                    <a:pt x="40355" y="274512"/>
                  </a:lnTo>
                  <a:lnTo>
                    <a:pt x="29904" y="151875"/>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fc.png"/>
            <p:cNvPicPr>
              <a:picLocks noChangeAspect="1"/>
            </p:cNvPicPr>
            <p:nvPr/>
          </p:nvPicPr>
          <p:blipFill>
            <a:blip r:embed="rId3"/>
            <a:stretch>
              <a:fillRect/>
            </a:stretch>
          </p:blipFill>
          <p:spPr>
            <a:xfrm>
              <a:off x="6336792" y="1724787"/>
              <a:ext cx="2194560" cy="226314"/>
            </a:xfrm>
            <a:prstGeom prst="rect">
              <a:avLst/>
            </a:prstGeom>
          </p:spPr>
        </p:pic>
        <p:cxnSp>
          <p:nvCxnSpPr>
            <p:cNvPr id="21" name="Connector 20"/>
            <p:cNvCxnSpPr/>
            <p:nvPr/>
          </p:nvCxnSpPr>
          <p:spPr>
            <a:xfrm>
              <a:off x="6236207" y="2103120"/>
              <a:ext cx="2395729"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36207" y="2157984"/>
              <a:ext cx="2395729"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236207" y="2231136"/>
              <a:ext cx="2395728" cy="201168"/>
            </a:xfrm>
            <a:prstGeom prst="rect">
              <a:avLst/>
            </a:prstGeom>
            <a:noFill/>
          </p:spPr>
          <p:txBody>
            <a:bodyPr wrap="square" lIns="0" tIns="0" rIns="0" bIns="0" anchor="t">
              <a:spAutoFit/>
            </a:bodyPr>
            <a:lstStyle/>
            <a:p>
              <a:pPr algn="ctr"/>
              <a:r>
                <a:rPr sz="800" b="1" i="0">
                  <a:solidFill>
                    <a:srgbClr val="595959"/>
                  </a:solidFill>
                  <a:latin typeface="Lato"/>
                </a:rPr>
                <a:t>JULY 2026</a:t>
              </a:r>
            </a:p>
          </p:txBody>
        </p:sp>
        <p:sp>
          <p:nvSpPr>
            <p:cNvPr id="24" name="TextBox 23"/>
            <p:cNvSpPr txBox="1"/>
            <p:nvPr/>
          </p:nvSpPr>
          <p:spPr>
            <a:xfrm>
              <a:off x="6254496" y="2523744"/>
              <a:ext cx="2359152" cy="1042415"/>
            </a:xfrm>
            <a:prstGeom prst="rect">
              <a:avLst/>
            </a:prstGeom>
            <a:noFill/>
          </p:spPr>
          <p:txBody>
            <a:bodyPr wrap="square" lIns="0" tIns="0" rIns="0" bIns="0" anchor="t">
              <a:spAutoFit/>
            </a:bodyPr>
            <a:lstStyle/>
            <a:p>
              <a:pPr algn="l"/>
              <a:r>
                <a:rPr sz="1300" b="1" i="0">
                  <a:solidFill>
                    <a:srgbClr val="000000"/>
                  </a:solidFill>
                  <a:latin typeface="Georgia"/>
                </a:rPr>
                <a:t>New student visa limits could ripple through Bay Area labs and campuses</a:t>
              </a:r>
            </a:p>
          </p:txBody>
        </p:sp>
      </p:grpSp>
      <p:grpSp>
        <p:nvGrpSpPr>
          <p:cNvPr id="32" name="Group 31"/>
          <p:cNvGrpSpPr/>
          <p:nvPr/>
        </p:nvGrpSpPr>
        <p:grpSpPr>
          <a:xfrm rot="108000">
            <a:off x="8912628" y="1249219"/>
            <a:ext cx="2622263" cy="2157043"/>
            <a:chOff x="8912628" y="1564315"/>
            <a:chExt cx="2622263" cy="2157043"/>
          </a:xfrm>
        </p:grpSpPr>
        <p:sp>
          <p:nvSpPr>
            <p:cNvPr id="26" name="Freeform 25"/>
            <p:cNvSpPr/>
            <p:nvPr/>
          </p:nvSpPr>
          <p:spPr>
            <a:xfrm>
              <a:off x="8912628" y="1564315"/>
              <a:ext cx="2622263" cy="2157043"/>
            </a:xfrm>
            <a:custGeom>
              <a:avLst/>
              <a:gdLst/>
              <a:ahLst/>
              <a:cxnLst/>
              <a:rect l="l" t="t" r="r" b="b"/>
              <a:pathLst>
                <a:path w="2622263" h="2157043">
                  <a:moveTo>
                    <a:pt x="30204" y="57404"/>
                  </a:moveTo>
                  <a:lnTo>
                    <a:pt x="149326" y="40748"/>
                  </a:lnTo>
                  <a:lnTo>
                    <a:pt x="289078" y="8492"/>
                  </a:lnTo>
                  <a:lnTo>
                    <a:pt x="368955" y="33317"/>
                  </a:lnTo>
                  <a:lnTo>
                    <a:pt x="493683" y="19202"/>
                  </a:lnTo>
                  <a:lnTo>
                    <a:pt x="664748" y="50561"/>
                  </a:lnTo>
                  <a:lnTo>
                    <a:pt x="737317" y="0"/>
                  </a:lnTo>
                  <a:lnTo>
                    <a:pt x="865880" y="47741"/>
                  </a:lnTo>
                  <a:lnTo>
                    <a:pt x="975142" y="9150"/>
                  </a:lnTo>
                  <a:lnTo>
                    <a:pt x="1102344" y="2906"/>
                  </a:lnTo>
                  <a:lnTo>
                    <a:pt x="1250903" y="6478"/>
                  </a:lnTo>
                  <a:lnTo>
                    <a:pt x="1365527" y="41666"/>
                  </a:lnTo>
                  <a:lnTo>
                    <a:pt x="1507517" y="21302"/>
                  </a:lnTo>
                  <a:lnTo>
                    <a:pt x="1633478" y="31382"/>
                  </a:lnTo>
                  <a:lnTo>
                    <a:pt x="1758012" y="10667"/>
                  </a:lnTo>
                  <a:lnTo>
                    <a:pt x="1850626" y="31883"/>
                  </a:lnTo>
                  <a:lnTo>
                    <a:pt x="2009464" y="34315"/>
                  </a:lnTo>
                  <a:lnTo>
                    <a:pt x="2101224" y="10800"/>
                  </a:lnTo>
                  <a:lnTo>
                    <a:pt x="2210767" y="8549"/>
                  </a:lnTo>
                  <a:lnTo>
                    <a:pt x="2377815" y="51485"/>
                  </a:lnTo>
                  <a:lnTo>
                    <a:pt x="2493859" y="28569"/>
                  </a:lnTo>
                  <a:lnTo>
                    <a:pt x="2590523" y="40079"/>
                  </a:lnTo>
                  <a:lnTo>
                    <a:pt x="2577497" y="149378"/>
                  </a:lnTo>
                  <a:lnTo>
                    <a:pt x="2589344" y="272015"/>
                  </a:lnTo>
                  <a:lnTo>
                    <a:pt x="2567835" y="394652"/>
                  </a:lnTo>
                  <a:lnTo>
                    <a:pt x="2585412" y="517289"/>
                  </a:lnTo>
                  <a:lnTo>
                    <a:pt x="2574695" y="639926"/>
                  </a:lnTo>
                  <a:lnTo>
                    <a:pt x="2564919" y="762564"/>
                  </a:lnTo>
                  <a:lnTo>
                    <a:pt x="2617371" y="885201"/>
                  </a:lnTo>
                  <a:lnTo>
                    <a:pt x="2564708" y="1007838"/>
                  </a:lnTo>
                  <a:lnTo>
                    <a:pt x="2610554" y="1130475"/>
                  </a:lnTo>
                  <a:lnTo>
                    <a:pt x="2603298" y="1253112"/>
                  </a:lnTo>
                  <a:lnTo>
                    <a:pt x="2564284" y="1375749"/>
                  </a:lnTo>
                  <a:lnTo>
                    <a:pt x="2589573" y="1498387"/>
                  </a:lnTo>
                  <a:lnTo>
                    <a:pt x="2622263" y="1621024"/>
                  </a:lnTo>
                  <a:lnTo>
                    <a:pt x="2621687" y="1743661"/>
                  </a:lnTo>
                  <a:lnTo>
                    <a:pt x="2594575" y="1866298"/>
                  </a:lnTo>
                  <a:lnTo>
                    <a:pt x="2607921" y="1988935"/>
                  </a:lnTo>
                  <a:lnTo>
                    <a:pt x="2603880" y="2111572"/>
                  </a:lnTo>
                  <a:lnTo>
                    <a:pt x="2455275" y="2116687"/>
                  </a:lnTo>
                  <a:lnTo>
                    <a:pt x="2352888" y="2100723"/>
                  </a:lnTo>
                  <a:lnTo>
                    <a:pt x="2245182" y="2105859"/>
                  </a:lnTo>
                  <a:lnTo>
                    <a:pt x="2118813" y="2066991"/>
                  </a:lnTo>
                  <a:lnTo>
                    <a:pt x="1977396" y="2064917"/>
                  </a:lnTo>
                  <a:lnTo>
                    <a:pt x="1868402" y="2149737"/>
                  </a:lnTo>
                  <a:lnTo>
                    <a:pt x="1739865" y="2118269"/>
                  </a:lnTo>
                  <a:lnTo>
                    <a:pt x="1623004" y="2083824"/>
                  </a:lnTo>
                  <a:lnTo>
                    <a:pt x="1485963" y="2119614"/>
                  </a:lnTo>
                  <a:lnTo>
                    <a:pt x="1380687" y="2099289"/>
                  </a:lnTo>
                  <a:lnTo>
                    <a:pt x="1247955" y="2094243"/>
                  </a:lnTo>
                  <a:lnTo>
                    <a:pt x="1130959" y="2129594"/>
                  </a:lnTo>
                  <a:lnTo>
                    <a:pt x="994539" y="2130519"/>
                  </a:lnTo>
                  <a:lnTo>
                    <a:pt x="905981" y="2115304"/>
                  </a:lnTo>
                  <a:lnTo>
                    <a:pt x="792471" y="2092063"/>
                  </a:lnTo>
                  <a:lnTo>
                    <a:pt x="666659" y="2078995"/>
                  </a:lnTo>
                  <a:lnTo>
                    <a:pt x="509142" y="2144022"/>
                  </a:lnTo>
                  <a:lnTo>
                    <a:pt x="366045" y="2123298"/>
                  </a:lnTo>
                  <a:lnTo>
                    <a:pt x="297811" y="2157043"/>
                  </a:lnTo>
                  <a:lnTo>
                    <a:pt x="163785" y="2095756"/>
                  </a:lnTo>
                  <a:lnTo>
                    <a:pt x="30204" y="2094397"/>
                  </a:lnTo>
                  <a:lnTo>
                    <a:pt x="38598" y="1988935"/>
                  </a:lnTo>
                  <a:lnTo>
                    <a:pt x="2470" y="1866298"/>
                  </a:lnTo>
                  <a:lnTo>
                    <a:pt x="0" y="1743661"/>
                  </a:lnTo>
                  <a:lnTo>
                    <a:pt x="54633" y="1621024"/>
                  </a:lnTo>
                  <a:lnTo>
                    <a:pt x="38326" y="1498387"/>
                  </a:lnTo>
                  <a:lnTo>
                    <a:pt x="8624" y="1375749"/>
                  </a:lnTo>
                  <a:lnTo>
                    <a:pt x="25642" y="1253112"/>
                  </a:lnTo>
                  <a:lnTo>
                    <a:pt x="16703" y="1130475"/>
                  </a:lnTo>
                  <a:lnTo>
                    <a:pt x="53841" y="1007838"/>
                  </a:lnTo>
                  <a:lnTo>
                    <a:pt x="16521" y="885201"/>
                  </a:lnTo>
                  <a:lnTo>
                    <a:pt x="44568" y="762564"/>
                  </a:lnTo>
                  <a:lnTo>
                    <a:pt x="45808" y="639926"/>
                  </a:lnTo>
                  <a:lnTo>
                    <a:pt x="18603" y="517289"/>
                  </a:lnTo>
                  <a:lnTo>
                    <a:pt x="14336" y="394652"/>
                  </a:lnTo>
                  <a:lnTo>
                    <a:pt x="31555" y="272015"/>
                  </a:lnTo>
                  <a:lnTo>
                    <a:pt x="23785" y="149378"/>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Picture 26" descr="ihe.png"/>
            <p:cNvPicPr>
              <a:picLocks noChangeAspect="1"/>
            </p:cNvPicPr>
            <p:nvPr/>
          </p:nvPicPr>
          <p:blipFill>
            <a:blip r:embed="rId4"/>
            <a:stretch>
              <a:fillRect/>
            </a:stretch>
          </p:blipFill>
          <p:spPr>
            <a:xfrm>
              <a:off x="9805064" y="1682496"/>
              <a:ext cx="835855" cy="420624"/>
            </a:xfrm>
            <a:prstGeom prst="rect">
              <a:avLst/>
            </a:prstGeom>
          </p:spPr>
        </p:pic>
        <p:cxnSp>
          <p:nvCxnSpPr>
            <p:cNvPr id="28" name="Connector 27"/>
            <p:cNvCxnSpPr/>
            <p:nvPr/>
          </p:nvCxnSpPr>
          <p:spPr>
            <a:xfrm>
              <a:off x="9070848" y="2157984"/>
              <a:ext cx="230428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070848" y="2212848"/>
              <a:ext cx="230428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070848" y="2286000"/>
              <a:ext cx="2304287" cy="201168"/>
            </a:xfrm>
            <a:prstGeom prst="rect">
              <a:avLst/>
            </a:prstGeom>
            <a:noFill/>
          </p:spPr>
          <p:txBody>
            <a:bodyPr wrap="square" lIns="0" tIns="0" rIns="0" bIns="0" anchor="t">
              <a:spAutoFit/>
            </a:bodyPr>
            <a:lstStyle/>
            <a:p>
              <a:pPr algn="ctr"/>
              <a:r>
                <a:rPr sz="800" b="1" i="0">
                  <a:solidFill>
                    <a:srgbClr val="595959"/>
                  </a:solidFill>
                  <a:latin typeface="Lato"/>
                </a:rPr>
                <a:t>AUGUST 24, 2026</a:t>
              </a:r>
            </a:p>
          </p:txBody>
        </p:sp>
        <p:sp>
          <p:nvSpPr>
            <p:cNvPr id="31" name="TextBox 30"/>
            <p:cNvSpPr txBox="1"/>
            <p:nvPr/>
          </p:nvSpPr>
          <p:spPr>
            <a:xfrm>
              <a:off x="9089136" y="2578608"/>
              <a:ext cx="2267712" cy="1042415"/>
            </a:xfrm>
            <a:prstGeom prst="rect">
              <a:avLst/>
            </a:prstGeom>
            <a:noFill/>
          </p:spPr>
          <p:txBody>
            <a:bodyPr wrap="square" lIns="0" tIns="0" rIns="0" bIns="0" anchor="t">
              <a:spAutoFit/>
            </a:bodyPr>
            <a:lstStyle/>
            <a:p>
              <a:pPr algn="l"/>
              <a:r>
                <a:rPr sz="1300" b="1" i="0">
                  <a:solidFill>
                    <a:srgbClr val="000000"/>
                  </a:solidFill>
                  <a:latin typeface="Georgia"/>
                </a:rPr>
                <a:t>International Student Rule Already Spurring Disenrollments</a:t>
              </a:r>
            </a:p>
          </p:txBody>
        </p:sp>
      </p:grpSp>
      <p:grpSp>
        <p:nvGrpSpPr>
          <p:cNvPr id="39" name="Group 38"/>
          <p:cNvGrpSpPr/>
          <p:nvPr/>
        </p:nvGrpSpPr>
        <p:grpSpPr>
          <a:xfrm rot="90000">
            <a:off x="611573" y="3390070"/>
            <a:ext cx="2620595" cy="2153115"/>
            <a:chOff x="611573" y="3705166"/>
            <a:chExt cx="2620595" cy="2153115"/>
          </a:xfrm>
        </p:grpSpPr>
        <p:sp>
          <p:nvSpPr>
            <p:cNvPr id="33" name="Freeform 32"/>
            <p:cNvSpPr/>
            <p:nvPr/>
          </p:nvSpPr>
          <p:spPr>
            <a:xfrm>
              <a:off x="611573" y="3705166"/>
              <a:ext cx="2620595" cy="2153115"/>
            </a:xfrm>
            <a:custGeom>
              <a:avLst/>
              <a:gdLst/>
              <a:ahLst/>
              <a:cxnLst/>
              <a:rect l="l" t="t" r="r" b="b"/>
              <a:pathLst>
                <a:path w="2620595" h="2153115">
                  <a:moveTo>
                    <a:pt x="28507" y="55027"/>
                  </a:moveTo>
                  <a:lnTo>
                    <a:pt x="174229" y="40429"/>
                  </a:lnTo>
                  <a:lnTo>
                    <a:pt x="254912" y="14745"/>
                  </a:lnTo>
                  <a:lnTo>
                    <a:pt x="407952" y="45217"/>
                  </a:lnTo>
                  <a:lnTo>
                    <a:pt x="485253" y="4251"/>
                  </a:lnTo>
                  <a:lnTo>
                    <a:pt x="663416" y="1142"/>
                  </a:lnTo>
                  <a:lnTo>
                    <a:pt x="769969" y="14685"/>
                  </a:lnTo>
                  <a:lnTo>
                    <a:pt x="891260" y="48774"/>
                  </a:lnTo>
                  <a:lnTo>
                    <a:pt x="1009084" y="18618"/>
                  </a:lnTo>
                  <a:lnTo>
                    <a:pt x="1114414" y="33358"/>
                  </a:lnTo>
                  <a:lnTo>
                    <a:pt x="1255920" y="19798"/>
                  </a:lnTo>
                  <a:lnTo>
                    <a:pt x="1367473" y="27911"/>
                  </a:lnTo>
                  <a:lnTo>
                    <a:pt x="1476079" y="5084"/>
                  </a:lnTo>
                  <a:lnTo>
                    <a:pt x="1617856" y="0"/>
                  </a:lnTo>
                  <a:lnTo>
                    <a:pt x="1741645" y="44903"/>
                  </a:lnTo>
                  <a:lnTo>
                    <a:pt x="1878305" y="9729"/>
                  </a:lnTo>
                  <a:lnTo>
                    <a:pt x="1973773" y="52686"/>
                  </a:lnTo>
                  <a:lnTo>
                    <a:pt x="2091538" y="57049"/>
                  </a:lnTo>
                  <a:lnTo>
                    <a:pt x="2203862" y="47396"/>
                  </a:lnTo>
                  <a:lnTo>
                    <a:pt x="2315605" y="36312"/>
                  </a:lnTo>
                  <a:lnTo>
                    <a:pt x="2486464" y="28632"/>
                  </a:lnTo>
                  <a:lnTo>
                    <a:pt x="2588827" y="34080"/>
                  </a:lnTo>
                  <a:lnTo>
                    <a:pt x="2615312" y="148223"/>
                  </a:lnTo>
                  <a:lnTo>
                    <a:pt x="2620595" y="270860"/>
                  </a:lnTo>
                  <a:lnTo>
                    <a:pt x="2568301" y="393497"/>
                  </a:lnTo>
                  <a:lnTo>
                    <a:pt x="2590278" y="516134"/>
                  </a:lnTo>
                  <a:lnTo>
                    <a:pt x="2559374" y="638771"/>
                  </a:lnTo>
                  <a:lnTo>
                    <a:pt x="2581052" y="761409"/>
                  </a:lnTo>
                  <a:lnTo>
                    <a:pt x="2566110" y="884046"/>
                  </a:lnTo>
                  <a:lnTo>
                    <a:pt x="2567080" y="1006683"/>
                  </a:lnTo>
                  <a:lnTo>
                    <a:pt x="2596817" y="1129320"/>
                  </a:lnTo>
                  <a:lnTo>
                    <a:pt x="2562230" y="1251957"/>
                  </a:lnTo>
                  <a:lnTo>
                    <a:pt x="2566680" y="1374594"/>
                  </a:lnTo>
                  <a:lnTo>
                    <a:pt x="2557449" y="1497232"/>
                  </a:lnTo>
                  <a:lnTo>
                    <a:pt x="2608895" y="1619869"/>
                  </a:lnTo>
                  <a:lnTo>
                    <a:pt x="2572421" y="1742506"/>
                  </a:lnTo>
                  <a:lnTo>
                    <a:pt x="2561449" y="1865143"/>
                  </a:lnTo>
                  <a:lnTo>
                    <a:pt x="2596573" y="1987780"/>
                  </a:lnTo>
                  <a:lnTo>
                    <a:pt x="2602753" y="2110417"/>
                  </a:lnTo>
                  <a:lnTo>
                    <a:pt x="2475262" y="2115274"/>
                  </a:lnTo>
                  <a:lnTo>
                    <a:pt x="2347200" y="2132905"/>
                  </a:lnTo>
                  <a:lnTo>
                    <a:pt x="2210922" y="2145507"/>
                  </a:lnTo>
                  <a:lnTo>
                    <a:pt x="2113556" y="2147100"/>
                  </a:lnTo>
                  <a:lnTo>
                    <a:pt x="2004226" y="2145201"/>
                  </a:lnTo>
                  <a:lnTo>
                    <a:pt x="1858533" y="2112706"/>
                  </a:lnTo>
                  <a:lnTo>
                    <a:pt x="1750344" y="2118515"/>
                  </a:lnTo>
                  <a:lnTo>
                    <a:pt x="1583250" y="2153115"/>
                  </a:lnTo>
                  <a:lnTo>
                    <a:pt x="1472286" y="2108822"/>
                  </a:lnTo>
                  <a:lnTo>
                    <a:pt x="1366578" y="2068765"/>
                  </a:lnTo>
                  <a:lnTo>
                    <a:pt x="1252716" y="2119667"/>
                  </a:lnTo>
                  <a:lnTo>
                    <a:pt x="1145827" y="2121905"/>
                  </a:lnTo>
                  <a:lnTo>
                    <a:pt x="991486" y="2117066"/>
                  </a:lnTo>
                  <a:lnTo>
                    <a:pt x="911338" y="2124413"/>
                  </a:lnTo>
                  <a:lnTo>
                    <a:pt x="782033" y="2060370"/>
                  </a:lnTo>
                  <a:lnTo>
                    <a:pt x="650242" y="2080843"/>
                  </a:lnTo>
                  <a:lnTo>
                    <a:pt x="494603" y="2093130"/>
                  </a:lnTo>
                  <a:lnTo>
                    <a:pt x="373646" y="2067989"/>
                  </a:lnTo>
                  <a:lnTo>
                    <a:pt x="253851" y="2082808"/>
                  </a:lnTo>
                  <a:lnTo>
                    <a:pt x="134389" y="2141026"/>
                  </a:lnTo>
                  <a:lnTo>
                    <a:pt x="28507" y="2067731"/>
                  </a:lnTo>
                  <a:lnTo>
                    <a:pt x="9315" y="1987780"/>
                  </a:lnTo>
                  <a:lnTo>
                    <a:pt x="0" y="1865143"/>
                  </a:lnTo>
                  <a:lnTo>
                    <a:pt x="28906" y="1742506"/>
                  </a:lnTo>
                  <a:lnTo>
                    <a:pt x="11167" y="1619869"/>
                  </a:lnTo>
                  <a:lnTo>
                    <a:pt x="30477" y="1497232"/>
                  </a:lnTo>
                  <a:lnTo>
                    <a:pt x="11720" y="1374594"/>
                  </a:lnTo>
                  <a:lnTo>
                    <a:pt x="9082" y="1251957"/>
                  </a:lnTo>
                  <a:lnTo>
                    <a:pt x="27735" y="1129320"/>
                  </a:lnTo>
                  <a:lnTo>
                    <a:pt x="1088" y="1006683"/>
                  </a:lnTo>
                  <a:lnTo>
                    <a:pt x="53125" y="884046"/>
                  </a:lnTo>
                  <a:lnTo>
                    <a:pt x="32511" y="761409"/>
                  </a:lnTo>
                  <a:lnTo>
                    <a:pt x="21805" y="638771"/>
                  </a:lnTo>
                  <a:lnTo>
                    <a:pt x="31695" y="516134"/>
                  </a:lnTo>
                  <a:lnTo>
                    <a:pt x="57139" y="393497"/>
                  </a:lnTo>
                  <a:lnTo>
                    <a:pt x="28145" y="270860"/>
                  </a:lnTo>
                  <a:lnTo>
                    <a:pt x="21732" y="148223"/>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Picture 33" descr="ihe.png"/>
            <p:cNvPicPr>
              <a:picLocks noChangeAspect="1"/>
            </p:cNvPicPr>
            <p:nvPr/>
          </p:nvPicPr>
          <p:blipFill>
            <a:blip r:embed="rId4"/>
            <a:stretch>
              <a:fillRect/>
            </a:stretch>
          </p:blipFill>
          <p:spPr>
            <a:xfrm>
              <a:off x="1502312" y="3822191"/>
              <a:ext cx="835855" cy="420624"/>
            </a:xfrm>
            <a:prstGeom prst="rect">
              <a:avLst/>
            </a:prstGeom>
          </p:spPr>
        </p:pic>
        <p:cxnSp>
          <p:nvCxnSpPr>
            <p:cNvPr id="35" name="Connector 34"/>
            <p:cNvCxnSpPr/>
            <p:nvPr/>
          </p:nvCxnSpPr>
          <p:spPr>
            <a:xfrm>
              <a:off x="768096" y="4297680"/>
              <a:ext cx="2304287"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68096" y="4352544"/>
              <a:ext cx="2304287"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68096" y="4425696"/>
              <a:ext cx="2304287" cy="201168"/>
            </a:xfrm>
            <a:prstGeom prst="rect">
              <a:avLst/>
            </a:prstGeom>
            <a:noFill/>
          </p:spPr>
          <p:txBody>
            <a:bodyPr wrap="square" lIns="0" tIns="0" rIns="0" bIns="0" anchor="t">
              <a:spAutoFit/>
            </a:bodyPr>
            <a:lstStyle/>
            <a:p>
              <a:pPr algn="ctr"/>
              <a:r>
                <a:rPr sz="800" b="1" i="0">
                  <a:solidFill>
                    <a:srgbClr val="595959"/>
                  </a:solidFill>
                  <a:latin typeface="Lato"/>
                </a:rPr>
                <a:t>AUGUST 6, 2026</a:t>
              </a:r>
            </a:p>
          </p:txBody>
        </p:sp>
        <p:sp>
          <p:nvSpPr>
            <p:cNvPr id="38" name="TextBox 37"/>
            <p:cNvSpPr txBox="1"/>
            <p:nvPr/>
          </p:nvSpPr>
          <p:spPr>
            <a:xfrm>
              <a:off x="786384" y="4718304"/>
              <a:ext cx="2267712" cy="1042415"/>
            </a:xfrm>
            <a:prstGeom prst="rect">
              <a:avLst/>
            </a:prstGeom>
            <a:noFill/>
          </p:spPr>
          <p:txBody>
            <a:bodyPr wrap="square" lIns="0" tIns="0" rIns="0" bIns="0" anchor="t">
              <a:spAutoFit/>
            </a:bodyPr>
            <a:lstStyle/>
            <a:p>
              <a:pPr algn="l"/>
              <a:r>
                <a:rPr sz="1300" b="1" i="0">
                  <a:solidFill>
                    <a:srgbClr val="000000"/>
                  </a:solidFill>
                  <a:latin typeface="Georgia"/>
                </a:rPr>
                <a:t>Campus Cuts Hit Even Wealthy Institutions</a:t>
              </a:r>
            </a:p>
          </p:txBody>
        </p:sp>
      </p:grpSp>
      <p:grpSp>
        <p:nvGrpSpPr>
          <p:cNvPr id="46" name="Group 45"/>
          <p:cNvGrpSpPr/>
          <p:nvPr/>
        </p:nvGrpSpPr>
        <p:grpSpPr>
          <a:xfrm rot="21492000">
            <a:off x="3409287" y="3447961"/>
            <a:ext cx="2710545" cy="2156201"/>
            <a:chOff x="3409287" y="3763057"/>
            <a:chExt cx="2710545" cy="2156201"/>
          </a:xfrm>
        </p:grpSpPr>
        <p:sp>
          <p:nvSpPr>
            <p:cNvPr id="40" name="Freeform 39"/>
            <p:cNvSpPr/>
            <p:nvPr/>
          </p:nvSpPr>
          <p:spPr>
            <a:xfrm>
              <a:off x="3409287" y="3763057"/>
              <a:ext cx="2710545" cy="2156201"/>
            </a:xfrm>
            <a:custGeom>
              <a:avLst/>
              <a:gdLst/>
              <a:ahLst/>
              <a:cxnLst/>
              <a:rect l="l" t="t" r="r" b="b"/>
              <a:pathLst>
                <a:path w="2710545" h="2156201">
                  <a:moveTo>
                    <a:pt x="28857" y="46760"/>
                  </a:moveTo>
                  <a:lnTo>
                    <a:pt x="139733" y="41167"/>
                  </a:lnTo>
                  <a:lnTo>
                    <a:pt x="298831" y="10539"/>
                  </a:lnTo>
                  <a:lnTo>
                    <a:pt x="407635" y="11978"/>
                  </a:lnTo>
                  <a:lnTo>
                    <a:pt x="489474" y="12849"/>
                  </a:lnTo>
                  <a:lnTo>
                    <a:pt x="647610" y="0"/>
                  </a:lnTo>
                  <a:lnTo>
                    <a:pt x="762257" y="13038"/>
                  </a:lnTo>
                  <a:lnTo>
                    <a:pt x="851414" y="18085"/>
                  </a:lnTo>
                  <a:lnTo>
                    <a:pt x="985866" y="20021"/>
                  </a:lnTo>
                  <a:lnTo>
                    <a:pt x="1138062" y="49465"/>
                  </a:lnTo>
                  <a:lnTo>
                    <a:pt x="1216744" y="53785"/>
                  </a:lnTo>
                  <a:lnTo>
                    <a:pt x="1361907" y="51986"/>
                  </a:lnTo>
                  <a:lnTo>
                    <a:pt x="1495546" y="24208"/>
                  </a:lnTo>
                  <a:lnTo>
                    <a:pt x="1579857" y="50044"/>
                  </a:lnTo>
                  <a:lnTo>
                    <a:pt x="1748289" y="30548"/>
                  </a:lnTo>
                  <a:lnTo>
                    <a:pt x="1812325" y="43244"/>
                  </a:lnTo>
                  <a:lnTo>
                    <a:pt x="1974389" y="46869"/>
                  </a:lnTo>
                  <a:lnTo>
                    <a:pt x="2108432" y="53012"/>
                  </a:lnTo>
                  <a:lnTo>
                    <a:pt x="2213596" y="15674"/>
                  </a:lnTo>
                  <a:lnTo>
                    <a:pt x="2321074" y="22860"/>
                  </a:lnTo>
                  <a:lnTo>
                    <a:pt x="2456216" y="30641"/>
                  </a:lnTo>
                  <a:lnTo>
                    <a:pt x="2580955" y="23551"/>
                  </a:lnTo>
                  <a:lnTo>
                    <a:pt x="2680617" y="28323"/>
                  </a:lnTo>
                  <a:lnTo>
                    <a:pt x="2710286" y="145196"/>
                  </a:lnTo>
                  <a:lnTo>
                    <a:pt x="2699296" y="267833"/>
                  </a:lnTo>
                  <a:lnTo>
                    <a:pt x="2708214" y="390470"/>
                  </a:lnTo>
                  <a:lnTo>
                    <a:pt x="2693339" y="513107"/>
                  </a:lnTo>
                  <a:lnTo>
                    <a:pt x="2656564" y="635744"/>
                  </a:lnTo>
                  <a:lnTo>
                    <a:pt x="2675428" y="758382"/>
                  </a:lnTo>
                  <a:lnTo>
                    <a:pt x="2667218" y="881019"/>
                  </a:lnTo>
                  <a:lnTo>
                    <a:pt x="2665422" y="1003656"/>
                  </a:lnTo>
                  <a:lnTo>
                    <a:pt x="2656744" y="1126293"/>
                  </a:lnTo>
                  <a:lnTo>
                    <a:pt x="2655680" y="1248930"/>
                  </a:lnTo>
                  <a:lnTo>
                    <a:pt x="2679406" y="1371567"/>
                  </a:lnTo>
                  <a:lnTo>
                    <a:pt x="2698723" y="1494205"/>
                  </a:lnTo>
                  <a:lnTo>
                    <a:pt x="2704130" y="1616842"/>
                  </a:lnTo>
                  <a:lnTo>
                    <a:pt x="2710545" y="1739479"/>
                  </a:lnTo>
                  <a:lnTo>
                    <a:pt x="2685863" y="1862116"/>
                  </a:lnTo>
                  <a:lnTo>
                    <a:pt x="2649535" y="1984753"/>
                  </a:lnTo>
                  <a:lnTo>
                    <a:pt x="2660856" y="2107391"/>
                  </a:lnTo>
                  <a:lnTo>
                    <a:pt x="2531741" y="2145090"/>
                  </a:lnTo>
                  <a:lnTo>
                    <a:pt x="2428017" y="2130289"/>
                  </a:lnTo>
                  <a:lnTo>
                    <a:pt x="2315890" y="2115975"/>
                  </a:lnTo>
                  <a:lnTo>
                    <a:pt x="2220987" y="2123482"/>
                  </a:lnTo>
                  <a:lnTo>
                    <a:pt x="2050729" y="2121213"/>
                  </a:lnTo>
                  <a:lnTo>
                    <a:pt x="1948169" y="2156201"/>
                  </a:lnTo>
                  <a:lnTo>
                    <a:pt x="1822006" y="2080962"/>
                  </a:lnTo>
                  <a:lnTo>
                    <a:pt x="1743381" y="2098582"/>
                  </a:lnTo>
                  <a:lnTo>
                    <a:pt x="1569104" y="2137724"/>
                  </a:lnTo>
                  <a:lnTo>
                    <a:pt x="1502096" y="2106585"/>
                  </a:lnTo>
                  <a:lnTo>
                    <a:pt x="1333434" y="2144885"/>
                  </a:lnTo>
                  <a:lnTo>
                    <a:pt x="1223957" y="2081346"/>
                  </a:lnTo>
                  <a:lnTo>
                    <a:pt x="1084455" y="2146422"/>
                  </a:lnTo>
                  <a:lnTo>
                    <a:pt x="976190" y="2068505"/>
                  </a:lnTo>
                  <a:lnTo>
                    <a:pt x="863886" y="2127893"/>
                  </a:lnTo>
                  <a:lnTo>
                    <a:pt x="783875" y="2077809"/>
                  </a:lnTo>
                  <a:lnTo>
                    <a:pt x="639051" y="2083840"/>
                  </a:lnTo>
                  <a:lnTo>
                    <a:pt x="534155" y="2106092"/>
                  </a:lnTo>
                  <a:lnTo>
                    <a:pt x="402216" y="2141994"/>
                  </a:lnTo>
                  <a:lnTo>
                    <a:pt x="272157" y="2104420"/>
                  </a:lnTo>
                  <a:lnTo>
                    <a:pt x="117992" y="2073158"/>
                  </a:lnTo>
                  <a:lnTo>
                    <a:pt x="28857" y="2127090"/>
                  </a:lnTo>
                  <a:lnTo>
                    <a:pt x="45551" y="1984753"/>
                  </a:lnTo>
                  <a:lnTo>
                    <a:pt x="33831" y="1862116"/>
                  </a:lnTo>
                  <a:lnTo>
                    <a:pt x="0" y="1739479"/>
                  </a:lnTo>
                  <a:lnTo>
                    <a:pt x="44652" y="1616842"/>
                  </a:lnTo>
                  <a:lnTo>
                    <a:pt x="51200" y="1494205"/>
                  </a:lnTo>
                  <a:lnTo>
                    <a:pt x="51649" y="1371567"/>
                  </a:lnTo>
                  <a:lnTo>
                    <a:pt x="44891" y="1248930"/>
                  </a:lnTo>
                  <a:lnTo>
                    <a:pt x="39286" y="1126293"/>
                  </a:lnTo>
                  <a:lnTo>
                    <a:pt x="19227" y="1003656"/>
                  </a:lnTo>
                  <a:lnTo>
                    <a:pt x="20030" y="881019"/>
                  </a:lnTo>
                  <a:lnTo>
                    <a:pt x="9028" y="758382"/>
                  </a:lnTo>
                  <a:lnTo>
                    <a:pt x="38037" y="635744"/>
                  </a:lnTo>
                  <a:lnTo>
                    <a:pt x="18556" y="513107"/>
                  </a:lnTo>
                  <a:lnTo>
                    <a:pt x="48664" y="390470"/>
                  </a:lnTo>
                  <a:lnTo>
                    <a:pt x="11706" y="267833"/>
                  </a:lnTo>
                  <a:lnTo>
                    <a:pt x="13715" y="145196"/>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1" name="Picture 40" descr="wapo.png"/>
            <p:cNvPicPr>
              <a:picLocks noChangeAspect="1"/>
            </p:cNvPicPr>
            <p:nvPr/>
          </p:nvPicPr>
          <p:blipFill>
            <a:blip r:embed="rId5"/>
            <a:stretch>
              <a:fillRect/>
            </a:stretch>
          </p:blipFill>
          <p:spPr>
            <a:xfrm>
              <a:off x="3769156" y="3931920"/>
              <a:ext cx="1989734" cy="310896"/>
            </a:xfrm>
            <a:prstGeom prst="rect">
              <a:avLst/>
            </a:prstGeom>
          </p:spPr>
        </p:pic>
        <p:cxnSp>
          <p:nvCxnSpPr>
            <p:cNvPr id="42" name="Connector 41"/>
            <p:cNvCxnSpPr/>
            <p:nvPr/>
          </p:nvCxnSpPr>
          <p:spPr>
            <a:xfrm>
              <a:off x="3566160" y="4352544"/>
              <a:ext cx="239572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3566160" y="4407407"/>
              <a:ext cx="239572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3566160" y="4480559"/>
              <a:ext cx="2395728" cy="201168"/>
            </a:xfrm>
            <a:prstGeom prst="rect">
              <a:avLst/>
            </a:prstGeom>
            <a:noFill/>
          </p:spPr>
          <p:txBody>
            <a:bodyPr wrap="square" lIns="0" tIns="0" rIns="0" bIns="0" anchor="t">
              <a:spAutoFit/>
            </a:bodyPr>
            <a:lstStyle/>
            <a:p>
              <a:pPr algn="ctr"/>
              <a:r>
                <a:rPr sz="800" b="1" i="0">
                  <a:solidFill>
                    <a:srgbClr val="595959"/>
                  </a:solidFill>
                  <a:latin typeface="Lato"/>
                </a:rPr>
                <a:t>JUNE 29, 2026</a:t>
              </a:r>
            </a:p>
          </p:txBody>
        </p:sp>
        <p:sp>
          <p:nvSpPr>
            <p:cNvPr id="45" name="TextBox 44"/>
            <p:cNvSpPr txBox="1"/>
            <p:nvPr/>
          </p:nvSpPr>
          <p:spPr>
            <a:xfrm>
              <a:off x="3584448" y="4773168"/>
              <a:ext cx="2359152" cy="1042415"/>
            </a:xfrm>
            <a:prstGeom prst="rect">
              <a:avLst/>
            </a:prstGeom>
            <a:noFill/>
          </p:spPr>
          <p:txBody>
            <a:bodyPr wrap="square" lIns="0" tIns="0" rIns="0" bIns="0" anchor="t">
              <a:spAutoFit/>
            </a:bodyPr>
            <a:lstStyle/>
            <a:p>
              <a:pPr algn="l"/>
              <a:r>
                <a:rPr sz="1300" b="1" i="0">
                  <a:solidFill>
                    <a:srgbClr val="000000"/>
                  </a:solidFill>
                  <a:latin typeface="Georgia"/>
                </a:rPr>
                <a:t>U.S. colleges cut programs, report budget gaps after losing foreign students</a:t>
              </a:r>
            </a:p>
          </p:txBody>
        </p:sp>
      </p:grpSp>
      <p:grpSp>
        <p:nvGrpSpPr>
          <p:cNvPr id="53" name="Group 52"/>
          <p:cNvGrpSpPr/>
          <p:nvPr/>
        </p:nvGrpSpPr>
        <p:grpSpPr>
          <a:xfrm rot="60000">
            <a:off x="6215361" y="3397506"/>
            <a:ext cx="2573452" cy="2165632"/>
            <a:chOff x="6060080" y="3699821"/>
            <a:chExt cx="2573452" cy="2165632"/>
          </a:xfrm>
        </p:grpSpPr>
        <p:sp>
          <p:nvSpPr>
            <p:cNvPr id="47" name="Freeform 46"/>
            <p:cNvSpPr/>
            <p:nvPr/>
          </p:nvSpPr>
          <p:spPr>
            <a:xfrm>
              <a:off x="6060080" y="3699821"/>
              <a:ext cx="2573452" cy="2165632"/>
            </a:xfrm>
            <a:custGeom>
              <a:avLst/>
              <a:gdLst/>
              <a:ahLst/>
              <a:cxnLst/>
              <a:rect l="l" t="t" r="r" b="b"/>
              <a:pathLst>
                <a:path w="2573452" h="2165632">
                  <a:moveTo>
                    <a:pt x="29824" y="44416"/>
                  </a:moveTo>
                  <a:lnTo>
                    <a:pt x="175240" y="0"/>
                  </a:lnTo>
                  <a:lnTo>
                    <a:pt x="297605" y="51477"/>
                  </a:lnTo>
                  <a:lnTo>
                    <a:pt x="360676" y="50538"/>
                  </a:lnTo>
                  <a:lnTo>
                    <a:pt x="528285" y="10941"/>
                  </a:lnTo>
                  <a:lnTo>
                    <a:pt x="658707" y="22221"/>
                  </a:lnTo>
                  <a:lnTo>
                    <a:pt x="745137" y="40772"/>
                  </a:lnTo>
                  <a:lnTo>
                    <a:pt x="880198" y="46711"/>
                  </a:lnTo>
                  <a:lnTo>
                    <a:pt x="973565" y="29907"/>
                  </a:lnTo>
                  <a:lnTo>
                    <a:pt x="1084301" y="16517"/>
                  </a:lnTo>
                  <a:lnTo>
                    <a:pt x="1226659" y="3696"/>
                  </a:lnTo>
                  <a:lnTo>
                    <a:pt x="1337319" y="51097"/>
                  </a:lnTo>
                  <a:lnTo>
                    <a:pt x="1446179" y="26670"/>
                  </a:lnTo>
                  <a:lnTo>
                    <a:pt x="1556872" y="46133"/>
                  </a:lnTo>
                  <a:lnTo>
                    <a:pt x="1680631" y="10562"/>
                  </a:lnTo>
                  <a:lnTo>
                    <a:pt x="1841669" y="27235"/>
                  </a:lnTo>
                  <a:lnTo>
                    <a:pt x="1949109" y="37920"/>
                  </a:lnTo>
                  <a:lnTo>
                    <a:pt x="2065238" y="26110"/>
                  </a:lnTo>
                  <a:lnTo>
                    <a:pt x="2163013" y="8028"/>
                  </a:lnTo>
                  <a:lnTo>
                    <a:pt x="2285981" y="14588"/>
                  </a:lnTo>
                  <a:lnTo>
                    <a:pt x="2413247" y="56010"/>
                  </a:lnTo>
                  <a:lnTo>
                    <a:pt x="2544424" y="12594"/>
                  </a:lnTo>
                  <a:lnTo>
                    <a:pt x="2520812" y="153568"/>
                  </a:lnTo>
                  <a:lnTo>
                    <a:pt x="2529627" y="276205"/>
                  </a:lnTo>
                  <a:lnTo>
                    <a:pt x="2520862" y="398842"/>
                  </a:lnTo>
                  <a:lnTo>
                    <a:pt x="2565488" y="521479"/>
                  </a:lnTo>
                  <a:lnTo>
                    <a:pt x="2573440" y="644116"/>
                  </a:lnTo>
                  <a:lnTo>
                    <a:pt x="2561434" y="766754"/>
                  </a:lnTo>
                  <a:lnTo>
                    <a:pt x="2573452" y="889391"/>
                  </a:lnTo>
                  <a:lnTo>
                    <a:pt x="2547612" y="1012028"/>
                  </a:lnTo>
                  <a:lnTo>
                    <a:pt x="2541412" y="1134665"/>
                  </a:lnTo>
                  <a:lnTo>
                    <a:pt x="2537041" y="1257302"/>
                  </a:lnTo>
                  <a:lnTo>
                    <a:pt x="2554190" y="1379939"/>
                  </a:lnTo>
                  <a:lnTo>
                    <a:pt x="2527745" y="1502577"/>
                  </a:lnTo>
                  <a:lnTo>
                    <a:pt x="2545930" y="1625214"/>
                  </a:lnTo>
                  <a:lnTo>
                    <a:pt x="2537354" y="1747851"/>
                  </a:lnTo>
                  <a:lnTo>
                    <a:pt x="2555201" y="1870488"/>
                  </a:lnTo>
                  <a:lnTo>
                    <a:pt x="2568201" y="1993125"/>
                  </a:lnTo>
                  <a:lnTo>
                    <a:pt x="2554547" y="2115762"/>
                  </a:lnTo>
                  <a:lnTo>
                    <a:pt x="2401580" y="2125335"/>
                  </a:lnTo>
                  <a:lnTo>
                    <a:pt x="2319744" y="2119627"/>
                  </a:lnTo>
                  <a:lnTo>
                    <a:pt x="2157411" y="2074194"/>
                  </a:lnTo>
                  <a:lnTo>
                    <a:pt x="2067940" y="2138035"/>
                  </a:lnTo>
                  <a:lnTo>
                    <a:pt x="1945382" y="2139176"/>
                  </a:lnTo>
                  <a:lnTo>
                    <a:pt x="1829136" y="2148883"/>
                  </a:lnTo>
                  <a:lnTo>
                    <a:pt x="1688038" y="2149715"/>
                  </a:lnTo>
                  <a:lnTo>
                    <a:pt x="1602381" y="2076256"/>
                  </a:lnTo>
                  <a:lnTo>
                    <a:pt x="1449177" y="2094621"/>
                  </a:lnTo>
                  <a:lnTo>
                    <a:pt x="1365303" y="2129929"/>
                  </a:lnTo>
                  <a:lnTo>
                    <a:pt x="1199596" y="2139862"/>
                  </a:lnTo>
                  <a:lnTo>
                    <a:pt x="1095165" y="2152998"/>
                  </a:lnTo>
                  <a:lnTo>
                    <a:pt x="973538" y="2074990"/>
                  </a:lnTo>
                  <a:lnTo>
                    <a:pt x="857227" y="2111830"/>
                  </a:lnTo>
                  <a:lnTo>
                    <a:pt x="743753" y="2119560"/>
                  </a:lnTo>
                  <a:lnTo>
                    <a:pt x="603431" y="2092556"/>
                  </a:lnTo>
                  <a:lnTo>
                    <a:pt x="479455" y="2165632"/>
                  </a:lnTo>
                  <a:lnTo>
                    <a:pt x="388240" y="2093902"/>
                  </a:lnTo>
                  <a:lnTo>
                    <a:pt x="248051" y="2126475"/>
                  </a:lnTo>
                  <a:lnTo>
                    <a:pt x="117878" y="2080730"/>
                  </a:lnTo>
                  <a:lnTo>
                    <a:pt x="29824" y="2132970"/>
                  </a:lnTo>
                  <a:lnTo>
                    <a:pt x="31604" y="1993125"/>
                  </a:lnTo>
                  <a:lnTo>
                    <a:pt x="43113" y="1870488"/>
                  </a:lnTo>
                  <a:lnTo>
                    <a:pt x="52092" y="1747851"/>
                  </a:lnTo>
                  <a:lnTo>
                    <a:pt x="18582" y="1625214"/>
                  </a:lnTo>
                  <a:lnTo>
                    <a:pt x="46664" y="1502577"/>
                  </a:lnTo>
                  <a:lnTo>
                    <a:pt x="49360" y="1379939"/>
                  </a:lnTo>
                  <a:lnTo>
                    <a:pt x="50745" y="1257302"/>
                  </a:lnTo>
                  <a:lnTo>
                    <a:pt x="32087" y="1134665"/>
                  </a:lnTo>
                  <a:lnTo>
                    <a:pt x="46690" y="1012028"/>
                  </a:lnTo>
                  <a:lnTo>
                    <a:pt x="0" y="889391"/>
                  </a:lnTo>
                  <a:lnTo>
                    <a:pt x="10066" y="766754"/>
                  </a:lnTo>
                  <a:lnTo>
                    <a:pt x="34732" y="644116"/>
                  </a:lnTo>
                  <a:lnTo>
                    <a:pt x="33338" y="521479"/>
                  </a:lnTo>
                  <a:lnTo>
                    <a:pt x="36915" y="398842"/>
                  </a:lnTo>
                  <a:lnTo>
                    <a:pt x="24381" y="276205"/>
                  </a:lnTo>
                  <a:lnTo>
                    <a:pt x="1005" y="153568"/>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8" name="Picture 47" descr="cnbc.png"/>
            <p:cNvPicPr>
              <a:picLocks noChangeAspect="1"/>
            </p:cNvPicPr>
            <p:nvPr/>
          </p:nvPicPr>
          <p:blipFill>
            <a:blip r:embed="rId6"/>
            <a:stretch>
              <a:fillRect/>
            </a:stretch>
          </p:blipFill>
          <p:spPr>
            <a:xfrm>
              <a:off x="6689550" y="3822191"/>
              <a:ext cx="1315306" cy="420624"/>
            </a:xfrm>
            <a:prstGeom prst="rect">
              <a:avLst/>
            </a:prstGeom>
          </p:spPr>
        </p:pic>
        <p:cxnSp>
          <p:nvCxnSpPr>
            <p:cNvPr id="49" name="Connector 48"/>
            <p:cNvCxnSpPr/>
            <p:nvPr/>
          </p:nvCxnSpPr>
          <p:spPr>
            <a:xfrm>
              <a:off x="6217920" y="4297680"/>
              <a:ext cx="225856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217920" y="4352544"/>
              <a:ext cx="225856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17920" y="4425696"/>
              <a:ext cx="2258568" cy="201168"/>
            </a:xfrm>
            <a:prstGeom prst="rect">
              <a:avLst/>
            </a:prstGeom>
            <a:noFill/>
          </p:spPr>
          <p:txBody>
            <a:bodyPr wrap="square" lIns="0" tIns="0" rIns="0" bIns="0" anchor="t">
              <a:spAutoFit/>
            </a:bodyPr>
            <a:lstStyle/>
            <a:p>
              <a:pPr algn="ctr"/>
              <a:r>
                <a:rPr sz="800" b="1" i="0">
                  <a:solidFill>
                    <a:srgbClr val="595959"/>
                  </a:solidFill>
                  <a:latin typeface="Lato"/>
                </a:rPr>
                <a:t>AUGUST 21, 2026</a:t>
              </a:r>
            </a:p>
          </p:txBody>
        </p:sp>
        <p:sp>
          <p:nvSpPr>
            <p:cNvPr id="52" name="TextBox 51"/>
            <p:cNvSpPr txBox="1"/>
            <p:nvPr/>
          </p:nvSpPr>
          <p:spPr>
            <a:xfrm>
              <a:off x="6236208" y="4718304"/>
              <a:ext cx="2221992" cy="1042415"/>
            </a:xfrm>
            <a:prstGeom prst="rect">
              <a:avLst/>
            </a:prstGeom>
            <a:noFill/>
          </p:spPr>
          <p:txBody>
            <a:bodyPr wrap="square" lIns="0" tIns="0" rIns="0" bIns="0" anchor="t">
              <a:spAutoFit/>
            </a:bodyPr>
            <a:lstStyle/>
            <a:p>
              <a:pPr algn="l"/>
              <a:r>
                <a:rPr sz="1300" b="1" i="0">
                  <a:solidFill>
                    <a:srgbClr val="000000"/>
                  </a:solidFill>
                  <a:latin typeface="Georgia"/>
                </a:rPr>
                <a:t>International student enrollment falls amid tighter U.S. visa policies, reports show</a:t>
              </a:r>
            </a:p>
          </p:txBody>
        </p:sp>
      </p:grpSp>
      <p:grpSp>
        <p:nvGrpSpPr>
          <p:cNvPr id="60" name="Group 59"/>
          <p:cNvGrpSpPr/>
          <p:nvPr/>
        </p:nvGrpSpPr>
        <p:grpSpPr>
          <a:xfrm rot="21516000">
            <a:off x="8933000" y="3447337"/>
            <a:ext cx="2664629" cy="2156966"/>
            <a:chOff x="8933000" y="3762433"/>
            <a:chExt cx="2664629" cy="2156966"/>
          </a:xfrm>
        </p:grpSpPr>
        <p:sp>
          <p:nvSpPr>
            <p:cNvPr id="54" name="Freeform 53"/>
            <p:cNvSpPr/>
            <p:nvPr/>
          </p:nvSpPr>
          <p:spPr>
            <a:xfrm>
              <a:off x="8933000" y="3762433"/>
              <a:ext cx="2664629" cy="2156966"/>
            </a:xfrm>
            <a:custGeom>
              <a:avLst/>
              <a:gdLst/>
              <a:ahLst/>
              <a:cxnLst/>
              <a:rect l="l" t="t" r="r" b="b"/>
              <a:pathLst>
                <a:path w="2664629" h="2156966">
                  <a:moveTo>
                    <a:pt x="28120" y="6955"/>
                  </a:moveTo>
                  <a:lnTo>
                    <a:pt x="157420" y="53412"/>
                  </a:lnTo>
                  <a:lnTo>
                    <a:pt x="286414" y="22064"/>
                  </a:lnTo>
                  <a:lnTo>
                    <a:pt x="388184" y="0"/>
                  </a:lnTo>
                  <a:lnTo>
                    <a:pt x="556431" y="39462"/>
                  </a:lnTo>
                  <a:lnTo>
                    <a:pt x="632611" y="29225"/>
                  </a:lnTo>
                  <a:lnTo>
                    <a:pt x="786065" y="49220"/>
                  </a:lnTo>
                  <a:lnTo>
                    <a:pt x="882740" y="11242"/>
                  </a:lnTo>
                  <a:lnTo>
                    <a:pt x="1000880" y="28928"/>
                  </a:lnTo>
                  <a:lnTo>
                    <a:pt x="1172004" y="38194"/>
                  </a:lnTo>
                  <a:lnTo>
                    <a:pt x="1246021" y="14995"/>
                  </a:lnTo>
                  <a:lnTo>
                    <a:pt x="1366081" y="1479"/>
                  </a:lnTo>
                  <a:lnTo>
                    <a:pt x="1516837" y="995"/>
                  </a:lnTo>
                  <a:lnTo>
                    <a:pt x="1626697" y="6740"/>
                  </a:lnTo>
                  <a:lnTo>
                    <a:pt x="1760516" y="45951"/>
                  </a:lnTo>
                  <a:lnTo>
                    <a:pt x="1872645" y="30417"/>
                  </a:lnTo>
                  <a:lnTo>
                    <a:pt x="2007276" y="9838"/>
                  </a:lnTo>
                  <a:lnTo>
                    <a:pt x="2124871" y="41033"/>
                  </a:lnTo>
                  <a:lnTo>
                    <a:pt x="2283804" y="38059"/>
                  </a:lnTo>
                  <a:lnTo>
                    <a:pt x="2410856" y="37800"/>
                  </a:lnTo>
                  <a:lnTo>
                    <a:pt x="2497172" y="6147"/>
                  </a:lnTo>
                  <a:lnTo>
                    <a:pt x="2634160" y="27453"/>
                  </a:lnTo>
                  <a:lnTo>
                    <a:pt x="2641145" y="145820"/>
                  </a:lnTo>
                  <a:lnTo>
                    <a:pt x="2652389" y="268457"/>
                  </a:lnTo>
                  <a:lnTo>
                    <a:pt x="2660161" y="391094"/>
                  </a:lnTo>
                  <a:lnTo>
                    <a:pt x="2653221" y="513731"/>
                  </a:lnTo>
                  <a:lnTo>
                    <a:pt x="2664629" y="636368"/>
                  </a:lnTo>
                  <a:lnTo>
                    <a:pt x="2645310" y="759006"/>
                  </a:lnTo>
                  <a:lnTo>
                    <a:pt x="2645841" y="881643"/>
                  </a:lnTo>
                  <a:lnTo>
                    <a:pt x="2653316" y="1004280"/>
                  </a:lnTo>
                  <a:lnTo>
                    <a:pt x="2633964" y="1126917"/>
                  </a:lnTo>
                  <a:lnTo>
                    <a:pt x="2653236" y="1249554"/>
                  </a:lnTo>
                  <a:lnTo>
                    <a:pt x="2658181" y="1372191"/>
                  </a:lnTo>
                  <a:lnTo>
                    <a:pt x="2634947" y="1494829"/>
                  </a:lnTo>
                  <a:lnTo>
                    <a:pt x="2624105" y="1617466"/>
                  </a:lnTo>
                  <a:lnTo>
                    <a:pt x="2626545" y="1740103"/>
                  </a:lnTo>
                  <a:lnTo>
                    <a:pt x="2641358" y="1862740"/>
                  </a:lnTo>
                  <a:lnTo>
                    <a:pt x="2638389" y="1985377"/>
                  </a:lnTo>
                  <a:lnTo>
                    <a:pt x="2633844" y="2108015"/>
                  </a:lnTo>
                  <a:lnTo>
                    <a:pt x="2502977" y="2132412"/>
                  </a:lnTo>
                  <a:lnTo>
                    <a:pt x="2397790" y="2152722"/>
                  </a:lnTo>
                  <a:lnTo>
                    <a:pt x="2291446" y="2058193"/>
                  </a:lnTo>
                  <a:lnTo>
                    <a:pt x="2131399" y="2132900"/>
                  </a:lnTo>
                  <a:lnTo>
                    <a:pt x="2015981" y="2120089"/>
                  </a:lnTo>
                  <a:lnTo>
                    <a:pt x="1874023" y="2096277"/>
                  </a:lnTo>
                  <a:lnTo>
                    <a:pt x="1788579" y="2125453"/>
                  </a:lnTo>
                  <a:lnTo>
                    <a:pt x="1665610" y="2150825"/>
                  </a:lnTo>
                  <a:lnTo>
                    <a:pt x="1544221" y="2145402"/>
                  </a:lnTo>
                  <a:lnTo>
                    <a:pt x="1419798" y="2148722"/>
                  </a:lnTo>
                  <a:lnTo>
                    <a:pt x="1296601" y="2099186"/>
                  </a:lnTo>
                  <a:lnTo>
                    <a:pt x="1139092" y="2102482"/>
                  </a:lnTo>
                  <a:lnTo>
                    <a:pt x="1037967" y="2156966"/>
                  </a:lnTo>
                  <a:lnTo>
                    <a:pt x="907791" y="2100743"/>
                  </a:lnTo>
                  <a:lnTo>
                    <a:pt x="745932" y="2070306"/>
                  </a:lnTo>
                  <a:lnTo>
                    <a:pt x="620866" y="2072124"/>
                  </a:lnTo>
                  <a:lnTo>
                    <a:pt x="492530" y="2097642"/>
                  </a:lnTo>
                  <a:lnTo>
                    <a:pt x="387911" y="2154037"/>
                  </a:lnTo>
                  <a:lnTo>
                    <a:pt x="254162" y="2066295"/>
                  </a:lnTo>
                  <a:lnTo>
                    <a:pt x="177730" y="2151210"/>
                  </a:lnTo>
                  <a:lnTo>
                    <a:pt x="28120" y="2109264"/>
                  </a:lnTo>
                  <a:lnTo>
                    <a:pt x="30618" y="1985377"/>
                  </a:lnTo>
                  <a:lnTo>
                    <a:pt x="17734" y="1862740"/>
                  </a:lnTo>
                  <a:lnTo>
                    <a:pt x="21521" y="1740103"/>
                  </a:lnTo>
                  <a:lnTo>
                    <a:pt x="14176" y="1617466"/>
                  </a:lnTo>
                  <a:lnTo>
                    <a:pt x="2645" y="1494829"/>
                  </a:lnTo>
                  <a:lnTo>
                    <a:pt x="58625" y="1372191"/>
                  </a:lnTo>
                  <a:lnTo>
                    <a:pt x="51636" y="1249554"/>
                  </a:lnTo>
                  <a:lnTo>
                    <a:pt x="51349" y="1126917"/>
                  </a:lnTo>
                  <a:lnTo>
                    <a:pt x="5594" y="1004280"/>
                  </a:lnTo>
                  <a:lnTo>
                    <a:pt x="36883" y="881643"/>
                  </a:lnTo>
                  <a:lnTo>
                    <a:pt x="0" y="759006"/>
                  </a:lnTo>
                  <a:lnTo>
                    <a:pt x="41891" y="636368"/>
                  </a:lnTo>
                  <a:lnTo>
                    <a:pt x="591" y="513731"/>
                  </a:lnTo>
                  <a:lnTo>
                    <a:pt x="35098" y="391094"/>
                  </a:lnTo>
                  <a:lnTo>
                    <a:pt x="6296" y="268457"/>
                  </a:lnTo>
                  <a:lnTo>
                    <a:pt x="58765" y="145820"/>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5" name="Picture 54" descr="csm.png"/>
            <p:cNvPicPr>
              <a:picLocks noChangeAspect="1"/>
            </p:cNvPicPr>
            <p:nvPr/>
          </p:nvPicPr>
          <p:blipFill>
            <a:blip r:embed="rId7"/>
            <a:stretch>
              <a:fillRect/>
            </a:stretch>
          </p:blipFill>
          <p:spPr>
            <a:xfrm>
              <a:off x="9428117" y="3886200"/>
              <a:ext cx="1672045" cy="402336"/>
            </a:xfrm>
            <a:prstGeom prst="rect">
              <a:avLst/>
            </a:prstGeom>
          </p:spPr>
        </p:pic>
        <p:cxnSp>
          <p:nvCxnSpPr>
            <p:cNvPr id="56" name="Connector 55"/>
            <p:cNvCxnSpPr/>
            <p:nvPr/>
          </p:nvCxnSpPr>
          <p:spPr>
            <a:xfrm>
              <a:off x="9089136" y="4352544"/>
              <a:ext cx="235000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089136" y="4407407"/>
              <a:ext cx="235000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9089136" y="4480559"/>
              <a:ext cx="2350008" cy="201168"/>
            </a:xfrm>
            <a:prstGeom prst="rect">
              <a:avLst/>
            </a:prstGeom>
            <a:noFill/>
          </p:spPr>
          <p:txBody>
            <a:bodyPr wrap="square" lIns="0" tIns="0" rIns="0" bIns="0" anchor="t">
              <a:spAutoFit/>
            </a:bodyPr>
            <a:lstStyle/>
            <a:p>
              <a:pPr algn="ctr"/>
              <a:r>
                <a:rPr sz="800" b="1" i="0">
                  <a:solidFill>
                    <a:srgbClr val="595959"/>
                  </a:solidFill>
                  <a:latin typeface="Lato"/>
                </a:rPr>
                <a:t>AUGUST 13, 2026</a:t>
              </a:r>
            </a:p>
          </p:txBody>
        </p:sp>
        <p:sp>
          <p:nvSpPr>
            <p:cNvPr id="59" name="TextBox 58"/>
            <p:cNvSpPr txBox="1"/>
            <p:nvPr/>
          </p:nvSpPr>
          <p:spPr>
            <a:xfrm>
              <a:off x="9107424" y="4773168"/>
              <a:ext cx="2313432" cy="1042415"/>
            </a:xfrm>
            <a:prstGeom prst="rect">
              <a:avLst/>
            </a:prstGeom>
            <a:noFill/>
          </p:spPr>
          <p:txBody>
            <a:bodyPr wrap="square" lIns="0" tIns="0" rIns="0" bIns="0" anchor="t">
              <a:spAutoFit/>
            </a:bodyPr>
            <a:lstStyle/>
            <a:p>
              <a:pPr algn="l"/>
              <a:r>
                <a:rPr sz="1300" b="1" i="0">
                  <a:solidFill>
                    <a:srgbClr val="000000"/>
                  </a:solidFill>
                  <a:latin typeface="Georgia"/>
                </a:rPr>
                <a:t>As financial outlook darkens, colleges cut staff, programs ahead of new school year</a:t>
              </a:r>
            </a:p>
          </p:txBody>
        </p:sp>
      </p:grpSp>
      <p:sp>
        <p:nvSpPr>
          <p:cNvPr id="61" name="TextBox 60"/>
          <p:cNvSpPr txBox="1"/>
          <p:nvPr/>
        </p:nvSpPr>
        <p:spPr>
          <a:xfrm>
            <a:off x="249606" y="5871464"/>
            <a:ext cx="11662308" cy="307777"/>
          </a:xfrm>
          <a:prstGeom prst="rect">
            <a:avLst/>
          </a:prstGeom>
          <a:noFill/>
        </p:spPr>
        <p:txBody>
          <a:bodyPr wrap="square" lIns="0" tIns="0" rIns="0" bIns="0" anchor="t">
            <a:spAutoFit/>
          </a:bodyPr>
          <a:lstStyle/>
          <a:p>
            <a:pPr algn="ctr"/>
            <a:r>
              <a:rPr sz="2000" b="1" i="0" dirty="0">
                <a:solidFill>
                  <a:srgbClr val="C8102E"/>
                </a:solidFill>
                <a:latin typeface="Lato"/>
              </a:rPr>
              <a:t>NAFSA projects roughly 111,000 fewer international students on U.S. campuses this fall (about −9.5%).</a:t>
            </a:r>
          </a:p>
        </p:txBody>
      </p:sp>
      <p:sp>
        <p:nvSpPr>
          <p:cNvPr id="62" name="TextBox 61"/>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headlines as published by each outlet; logos are the publications’ trademarks; NAFSA/JB International analysis via Inside Higher Ed, August 2026</a:t>
            </a:r>
          </a:p>
        </p:txBody>
      </p:sp>
      <p:sp>
        <p:nvSpPr>
          <p:cNvPr id="63"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6</a:t>
            </a:fld>
            <a:endParaRPr lang="en-US" sz="900" b="1">
              <a:solidFill>
                <a:srgbClr val="000000"/>
              </a:solidFill>
              <a:latin typeface="La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Research, education and healthcare each face structural change</a:t>
            </a:r>
          </a:p>
        </p:txBody>
      </p:sp>
      <p:sp>
        <p:nvSpPr>
          <p:cNvPr id="3" name="TextBox 2"/>
          <p:cNvSpPr txBox="1"/>
          <p:nvPr/>
        </p:nvSpPr>
        <p:spPr>
          <a:xfrm>
            <a:off x="457200" y="837010"/>
            <a:ext cx="11247120" cy="215444"/>
          </a:xfrm>
          <a:prstGeom prst="rect">
            <a:avLst/>
          </a:prstGeom>
          <a:noFill/>
        </p:spPr>
        <p:txBody>
          <a:bodyPr wrap="square" lIns="0" tIns="0" rIns="0" bIns="0" anchor="t">
            <a:spAutoFit/>
          </a:bodyPr>
          <a:lstStyle/>
          <a:p>
            <a:pPr algn="l"/>
            <a:r>
              <a:rPr lang="en-US" sz="1400" b="0" i="0" dirty="0">
                <a:solidFill>
                  <a:srgbClr val="595959"/>
                </a:solidFill>
                <a:latin typeface="Lato"/>
              </a:rPr>
              <a:t>Regulatory </a:t>
            </a:r>
            <a:r>
              <a:rPr sz="1400" b="0" i="0" dirty="0">
                <a:solidFill>
                  <a:srgbClr val="595959"/>
                </a:solidFill>
                <a:latin typeface="Lato"/>
              </a:rPr>
              <a:t>and compliance burden compounds each</a:t>
            </a:r>
          </a:p>
        </p:txBody>
      </p:sp>
      <p:sp>
        <p:nvSpPr>
          <p:cNvPr id="4" name="TextBox 3"/>
          <p:cNvSpPr txBox="1"/>
          <p:nvPr/>
        </p:nvSpPr>
        <p:spPr>
          <a:xfrm>
            <a:off x="457200" y="1325880"/>
            <a:ext cx="3611880" cy="365760"/>
          </a:xfrm>
          <a:prstGeom prst="rect">
            <a:avLst/>
          </a:prstGeom>
          <a:noFill/>
        </p:spPr>
        <p:txBody>
          <a:bodyPr wrap="square" lIns="0" tIns="0" rIns="0" bIns="0" anchor="t">
            <a:spAutoFit/>
          </a:bodyPr>
          <a:lstStyle/>
          <a:p>
            <a:pPr algn="l"/>
            <a:r>
              <a:rPr sz="2000" b="1" i="0">
                <a:solidFill>
                  <a:srgbClr val="C8102E"/>
                </a:solidFill>
                <a:latin typeface="Lato"/>
              </a:rPr>
              <a:t>Research</a:t>
            </a:r>
          </a:p>
        </p:txBody>
      </p:sp>
      <p:cxnSp>
        <p:nvCxnSpPr>
          <p:cNvPr id="5" name="Connector 4"/>
          <p:cNvCxnSpPr/>
          <p:nvPr/>
        </p:nvCxnSpPr>
        <p:spPr>
          <a:xfrm>
            <a:off x="457200" y="173736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1892808"/>
            <a:ext cx="3611880" cy="3457357"/>
          </a:xfrm>
          <a:prstGeom prst="rect">
            <a:avLst/>
          </a:prstGeom>
          <a:noFill/>
        </p:spPr>
        <p:txBody>
          <a:bodyPr wrap="square" lIns="0" tIns="0" rIns="0" bIns="0">
            <a:spAutoFit/>
          </a:bodyPr>
          <a:lstStyle/>
          <a:p>
            <a:pPr marL="171450" indent="-171450">
              <a:spcAft>
                <a:spcPts val="1000"/>
              </a:spcAft>
              <a:buChar char="•"/>
            </a:pPr>
            <a:r>
              <a:rPr sz="1600" dirty="0">
                <a:solidFill>
                  <a:srgbClr val="000000"/>
                </a:solidFill>
                <a:latin typeface="Lato"/>
              </a:rPr>
              <a:t>Federal R&amp;D funding was 0.63% of GDP in 2024 (1.86% at its 1964 peak), about 19% of all U.S. R&amp;D. The </a:t>
            </a:r>
            <a:r>
              <a:rPr sz="1600" b="1" dirty="0">
                <a:solidFill>
                  <a:srgbClr val="C00000"/>
                </a:solidFill>
                <a:latin typeface="Lato"/>
              </a:rPr>
              <a:t>federal share of basic and applied research funding fell from 45% to between 2010 and 2022</a:t>
            </a:r>
            <a:r>
              <a:rPr sz="1600" dirty="0">
                <a:solidFill>
                  <a:srgbClr val="C00000"/>
                </a:solidFill>
                <a:latin typeface="Lato"/>
              </a:rPr>
              <a:t>.</a:t>
            </a:r>
          </a:p>
          <a:p>
            <a:pPr marL="171450" indent="-171450">
              <a:spcAft>
                <a:spcPts val="1000"/>
              </a:spcAft>
              <a:buChar char="•"/>
            </a:pPr>
            <a:r>
              <a:rPr sz="1600" dirty="0">
                <a:solidFill>
                  <a:srgbClr val="000000"/>
                </a:solidFill>
                <a:latin typeface="Lato"/>
              </a:rPr>
              <a:t>Congress held NIH at $47.5 billion for FY2026 (+1.0%), $19.6 billion above the President’s request. NSF received $8.75 billion, down 3%.</a:t>
            </a:r>
          </a:p>
          <a:p>
            <a:pPr marL="171450" indent="-171450">
              <a:spcAft>
                <a:spcPts val="1000"/>
              </a:spcAft>
              <a:buChar char="•"/>
            </a:pPr>
            <a:r>
              <a:rPr sz="1600" dirty="0">
                <a:solidFill>
                  <a:srgbClr val="000000"/>
                </a:solidFill>
                <a:latin typeface="Lato"/>
              </a:rPr>
              <a:t>U.S. R&amp;D totaled an estimated $993 billion in 2024, driven by business funding.</a:t>
            </a:r>
          </a:p>
        </p:txBody>
      </p:sp>
      <p:sp>
        <p:nvSpPr>
          <p:cNvPr id="7" name="TextBox 6"/>
          <p:cNvSpPr txBox="1"/>
          <p:nvPr/>
        </p:nvSpPr>
        <p:spPr>
          <a:xfrm>
            <a:off x="4288536" y="1325880"/>
            <a:ext cx="3611880" cy="365760"/>
          </a:xfrm>
          <a:prstGeom prst="rect">
            <a:avLst/>
          </a:prstGeom>
          <a:noFill/>
        </p:spPr>
        <p:txBody>
          <a:bodyPr wrap="square" lIns="0" tIns="0" rIns="0" bIns="0" anchor="t">
            <a:spAutoFit/>
          </a:bodyPr>
          <a:lstStyle/>
          <a:p>
            <a:pPr algn="l"/>
            <a:r>
              <a:rPr sz="2000" b="1" i="0">
                <a:solidFill>
                  <a:srgbClr val="C8102E"/>
                </a:solidFill>
                <a:latin typeface="Lato"/>
              </a:rPr>
              <a:t>Education</a:t>
            </a:r>
          </a:p>
        </p:txBody>
      </p:sp>
      <p:cxnSp>
        <p:nvCxnSpPr>
          <p:cNvPr id="8" name="Connector 7"/>
          <p:cNvCxnSpPr/>
          <p:nvPr/>
        </p:nvCxnSpPr>
        <p:spPr>
          <a:xfrm>
            <a:off x="4288536" y="173736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288536" y="1892808"/>
            <a:ext cx="3611880" cy="4196020"/>
          </a:xfrm>
          <a:prstGeom prst="rect">
            <a:avLst/>
          </a:prstGeom>
          <a:noFill/>
        </p:spPr>
        <p:txBody>
          <a:bodyPr wrap="square" lIns="0" tIns="0" rIns="0" bIns="0">
            <a:spAutoFit/>
          </a:bodyPr>
          <a:lstStyle/>
          <a:p>
            <a:pPr marL="171450" indent="-171450">
              <a:spcAft>
                <a:spcPts val="1000"/>
              </a:spcAft>
              <a:buChar char="•"/>
            </a:pPr>
            <a:r>
              <a:rPr sz="1600" dirty="0">
                <a:solidFill>
                  <a:srgbClr val="000000"/>
                </a:solidFill>
                <a:latin typeface="Lato"/>
              </a:rPr>
              <a:t>Federal student loan debt reached a record </a:t>
            </a:r>
            <a:r>
              <a:rPr sz="1600" b="1" dirty="0">
                <a:solidFill>
                  <a:srgbClr val="C00000"/>
                </a:solidFill>
                <a:latin typeface="Lato"/>
              </a:rPr>
              <a:t>$1.696 trillion </a:t>
            </a:r>
            <a:r>
              <a:rPr sz="1600" dirty="0">
                <a:solidFill>
                  <a:srgbClr val="000000"/>
                </a:solidFill>
                <a:latin typeface="Lato"/>
              </a:rPr>
              <a:t>in December 2025, more than triple its 2007 level of $516 billion.</a:t>
            </a:r>
          </a:p>
          <a:p>
            <a:pPr marL="171450" indent="-171450">
              <a:spcAft>
                <a:spcPts val="1000"/>
              </a:spcAft>
              <a:buChar char="•"/>
            </a:pPr>
            <a:r>
              <a:rPr sz="1600" dirty="0">
                <a:solidFill>
                  <a:srgbClr val="000000"/>
                </a:solidFill>
                <a:latin typeface="Lato"/>
              </a:rPr>
              <a:t>Closures ran about ten a year in 2014–2025 versus three a year in 1996–2013 (SHEEO). </a:t>
            </a:r>
            <a:r>
              <a:rPr sz="1600" b="1" dirty="0">
                <a:solidFill>
                  <a:srgbClr val="C00000"/>
                </a:solidFill>
                <a:latin typeface="Lato"/>
              </a:rPr>
              <a:t>Nonprofit closure announcements alone reached 15 to 16 a year in 2023–2025.</a:t>
            </a:r>
          </a:p>
          <a:p>
            <a:pPr marL="171450" indent="-171450">
              <a:spcAft>
                <a:spcPts val="1000"/>
              </a:spcAft>
              <a:buChar char="•"/>
            </a:pPr>
            <a:r>
              <a:rPr sz="1600" dirty="0">
                <a:solidFill>
                  <a:srgbClr val="000000"/>
                </a:solidFill>
                <a:latin typeface="Lato"/>
              </a:rPr>
              <a:t>Recent-graduate unemployment was about 5.6% </a:t>
            </a:r>
            <a:r>
              <a:rPr sz="1600" dirty="0">
                <a:solidFill>
                  <a:srgbClr val="C00000"/>
                </a:solidFill>
                <a:latin typeface="Lato"/>
              </a:rPr>
              <a:t>with </a:t>
            </a:r>
            <a:r>
              <a:rPr sz="1600" b="1" dirty="0">
                <a:solidFill>
                  <a:srgbClr val="C00000"/>
                </a:solidFill>
                <a:latin typeface="Lato"/>
              </a:rPr>
              <a:t>42% underemployment in Q2 2026 as AI automates entry-level work</a:t>
            </a:r>
            <a:r>
              <a:rPr sz="1600" dirty="0">
                <a:solidFill>
                  <a:srgbClr val="000000"/>
                </a:solidFill>
                <a:latin typeface="Lato"/>
              </a:rPr>
              <a:t>. 61.1% of the fall 2019 cohort finished a credential within six years.</a:t>
            </a:r>
          </a:p>
        </p:txBody>
      </p:sp>
      <p:sp>
        <p:nvSpPr>
          <p:cNvPr id="10" name="TextBox 9"/>
          <p:cNvSpPr txBox="1"/>
          <p:nvPr/>
        </p:nvSpPr>
        <p:spPr>
          <a:xfrm>
            <a:off x="8119872" y="1325880"/>
            <a:ext cx="3611880" cy="365760"/>
          </a:xfrm>
          <a:prstGeom prst="rect">
            <a:avLst/>
          </a:prstGeom>
          <a:noFill/>
        </p:spPr>
        <p:txBody>
          <a:bodyPr wrap="square" lIns="0" tIns="0" rIns="0" bIns="0" anchor="t">
            <a:spAutoFit/>
          </a:bodyPr>
          <a:lstStyle/>
          <a:p>
            <a:pPr algn="l"/>
            <a:r>
              <a:rPr sz="2000" b="1" i="0">
                <a:solidFill>
                  <a:srgbClr val="C8102E"/>
                </a:solidFill>
                <a:latin typeface="Lato"/>
              </a:rPr>
              <a:t>Healthcare</a:t>
            </a:r>
          </a:p>
        </p:txBody>
      </p:sp>
      <p:cxnSp>
        <p:nvCxnSpPr>
          <p:cNvPr id="11" name="Connector 10"/>
          <p:cNvCxnSpPr/>
          <p:nvPr/>
        </p:nvCxnSpPr>
        <p:spPr>
          <a:xfrm>
            <a:off x="8119872" y="173736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19872" y="1892808"/>
            <a:ext cx="3611880" cy="3211135"/>
          </a:xfrm>
          <a:prstGeom prst="rect">
            <a:avLst/>
          </a:prstGeom>
          <a:noFill/>
        </p:spPr>
        <p:txBody>
          <a:bodyPr wrap="square" lIns="0" tIns="0" rIns="0" bIns="0">
            <a:spAutoFit/>
          </a:bodyPr>
          <a:lstStyle/>
          <a:p>
            <a:pPr marL="171450" indent="-171450">
              <a:spcAft>
                <a:spcPts val="1000"/>
              </a:spcAft>
              <a:buChar char="•"/>
            </a:pPr>
            <a:r>
              <a:rPr sz="1600" dirty="0">
                <a:solidFill>
                  <a:srgbClr val="000000"/>
                </a:solidFill>
                <a:latin typeface="Lato"/>
              </a:rPr>
              <a:t>Health spending reached </a:t>
            </a:r>
            <a:r>
              <a:rPr sz="1600" b="1" dirty="0">
                <a:solidFill>
                  <a:srgbClr val="C00000"/>
                </a:solidFill>
                <a:latin typeface="Lato"/>
              </a:rPr>
              <a:t>18.0% of GDP</a:t>
            </a:r>
            <a:r>
              <a:rPr sz="1600" dirty="0">
                <a:solidFill>
                  <a:srgbClr val="000000"/>
                </a:solidFill>
                <a:latin typeface="Lato"/>
              </a:rPr>
              <a:t> in 2024, up 8.2% on the year, and is projected to reach 20.3% by 2033.</a:t>
            </a:r>
          </a:p>
          <a:p>
            <a:pPr marL="171450" indent="-171450">
              <a:spcAft>
                <a:spcPts val="1000"/>
              </a:spcAft>
              <a:buChar char="•"/>
            </a:pPr>
            <a:r>
              <a:rPr sz="1600" dirty="0">
                <a:solidFill>
                  <a:srgbClr val="000000"/>
                </a:solidFill>
                <a:latin typeface="Lato"/>
              </a:rPr>
              <a:t>CMS projects private health insurance enrollment to fall 2.2% in 2026 when enhanced subsidies expire under current law.</a:t>
            </a:r>
          </a:p>
          <a:p>
            <a:pPr marL="171450" indent="-171450">
              <a:spcAft>
                <a:spcPts val="1000"/>
              </a:spcAft>
              <a:buChar char="•"/>
            </a:pPr>
            <a:r>
              <a:rPr sz="1600" dirty="0">
                <a:solidFill>
                  <a:srgbClr val="000000"/>
                </a:solidFill>
                <a:latin typeface="Lato"/>
              </a:rPr>
              <a:t>All reform proposals aim to contain health’s share of GDP, driving structural transformation and a shift from volume to value.</a:t>
            </a:r>
          </a:p>
        </p:txBody>
      </p:sp>
      <p:sp>
        <p:nvSpPr>
          <p:cNvPr id="13" name="TextBox 12"/>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Sources: NCSES; CRS (P.L. 119-75); Federal Student Aid; SHEEO; NY Fed; National Student Clearinghouse; CMS Office of the Actuary</a:t>
            </a:r>
          </a:p>
        </p:txBody>
      </p:sp>
      <p:sp>
        <p:nvSpPr>
          <p:cNvPr id="14"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7</a:t>
            </a:fld>
            <a:endParaRPr lang="en-US" sz="900" b="1">
              <a:solidFill>
                <a:srgbClr val="000000"/>
              </a:solidFill>
              <a:latin typeface="Lat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demographic cliff: four-year enrollment is forecast to fall about 15% from its 2025 peak</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Many colleges and universities will face declining or stagnant enrollment; the 2008 dip in births reaches college in 2025</a:t>
            </a:r>
          </a:p>
        </p:txBody>
      </p:sp>
      <p:sp>
        <p:nvSpPr>
          <p:cNvPr id="4" name="TextBox 3"/>
          <p:cNvSpPr txBox="1"/>
          <p:nvPr/>
        </p:nvSpPr>
        <p:spPr>
          <a:xfrm>
            <a:off x="457200" y="1600200"/>
            <a:ext cx="6309360" cy="274320"/>
          </a:xfrm>
          <a:prstGeom prst="rect">
            <a:avLst/>
          </a:prstGeom>
          <a:noFill/>
        </p:spPr>
        <p:txBody>
          <a:bodyPr wrap="square" lIns="0" tIns="0" rIns="0" bIns="0" anchor="t">
            <a:spAutoFit/>
          </a:bodyPr>
          <a:lstStyle/>
          <a:p>
            <a:pPr algn="l"/>
            <a:r>
              <a:rPr sz="1200" b="1" i="0">
                <a:solidFill>
                  <a:srgbClr val="000000"/>
                </a:solidFill>
                <a:latin typeface="Lato"/>
              </a:rPr>
              <a:t>Overall enrollment forecast, four-year institutions (index, 2025 peak = 100)</a:t>
            </a:r>
          </a:p>
        </p:txBody>
      </p:sp>
      <p:graphicFrame>
        <p:nvGraphicFramePr>
          <p:cNvPr id="5" name="Chart 4"/>
          <p:cNvGraphicFramePr>
            <a:graphicFrameLocks noGrp="1"/>
          </p:cNvGraphicFramePr>
          <p:nvPr/>
        </p:nvGraphicFramePr>
        <p:xfrm>
          <a:off x="457200" y="1874519"/>
          <a:ext cx="6309360" cy="2743200"/>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Box 5"/>
          <p:cNvSpPr txBox="1"/>
          <p:nvPr/>
        </p:nvSpPr>
        <p:spPr>
          <a:xfrm>
            <a:off x="7132320" y="1600200"/>
            <a:ext cx="4572000" cy="274320"/>
          </a:xfrm>
          <a:prstGeom prst="rect">
            <a:avLst/>
          </a:prstGeom>
          <a:noFill/>
        </p:spPr>
        <p:txBody>
          <a:bodyPr wrap="square" lIns="0" tIns="0" rIns="0" bIns="0" anchor="t">
            <a:spAutoFit/>
          </a:bodyPr>
          <a:lstStyle/>
          <a:p>
            <a:pPr algn="l"/>
            <a:r>
              <a:rPr sz="1200" b="1" i="0">
                <a:solidFill>
                  <a:srgbClr val="000000"/>
                </a:solidFill>
                <a:latin typeface="Lato"/>
              </a:rPr>
              <a:t>U.S. total fertility rate trend</a:t>
            </a:r>
          </a:p>
        </p:txBody>
      </p:sp>
      <p:pic>
        <p:nvPicPr>
          <p:cNvPr id="7" name="Picture 6" descr="image.png"/>
          <p:cNvPicPr>
            <a:picLocks noChangeAspect="1"/>
          </p:cNvPicPr>
          <p:nvPr/>
        </p:nvPicPr>
        <p:blipFill>
          <a:blip r:embed="rId3"/>
          <a:stretch>
            <a:fillRect/>
          </a:stretch>
        </p:blipFill>
        <p:spPr>
          <a:xfrm>
            <a:off x="7132320" y="1920240"/>
            <a:ext cx="4599432" cy="2453030"/>
          </a:xfrm>
          <a:prstGeom prst="rect">
            <a:avLst/>
          </a:prstGeom>
        </p:spPr>
      </p:pic>
      <p:sp>
        <p:nvSpPr>
          <p:cNvPr id="8" name="TextBox 7"/>
          <p:cNvSpPr txBox="1"/>
          <p:nvPr/>
        </p:nvSpPr>
        <p:spPr>
          <a:xfrm>
            <a:off x="457200" y="4800600"/>
            <a:ext cx="5577840" cy="274320"/>
          </a:xfrm>
          <a:prstGeom prst="rect">
            <a:avLst/>
          </a:prstGeom>
          <a:noFill/>
        </p:spPr>
        <p:txBody>
          <a:bodyPr wrap="square" lIns="0" tIns="0" rIns="0" bIns="0" anchor="t">
            <a:spAutoFit/>
          </a:bodyPr>
          <a:lstStyle/>
          <a:p>
            <a:pPr algn="l"/>
            <a:r>
              <a:rPr sz="1300" b="1" i="0">
                <a:solidFill>
                  <a:srgbClr val="C8102E"/>
                </a:solidFill>
                <a:latin typeface="Lato"/>
              </a:rPr>
              <a:t>Fertility falls with economic cycles</a:t>
            </a:r>
          </a:p>
        </p:txBody>
      </p:sp>
      <p:sp>
        <p:nvSpPr>
          <p:cNvPr id="9" name="TextBox 8"/>
          <p:cNvSpPr txBox="1"/>
          <p:nvPr/>
        </p:nvSpPr>
        <p:spPr>
          <a:xfrm>
            <a:off x="457200" y="5120640"/>
            <a:ext cx="5577840" cy="1128514"/>
          </a:xfrm>
          <a:prstGeom prst="rect">
            <a:avLst/>
          </a:prstGeom>
          <a:noFill/>
        </p:spPr>
        <p:txBody>
          <a:bodyPr wrap="square" lIns="0" tIns="0" rIns="0" bIns="0">
            <a:spAutoFit/>
          </a:bodyPr>
          <a:lstStyle/>
          <a:p>
            <a:pPr marL="171450" indent="-171450">
              <a:spcAft>
                <a:spcPts val="400"/>
              </a:spcAft>
              <a:buChar char="•"/>
            </a:pPr>
            <a:r>
              <a:rPr sz="1400" dirty="0">
                <a:solidFill>
                  <a:srgbClr val="000000"/>
                </a:solidFill>
                <a:latin typeface="Lato"/>
              </a:rPr>
              <a:t>Universities anticipate up to a ~15% drop in freshman prospects beginning in 2025, driven by the fall in births during the 2008 recession.</a:t>
            </a:r>
          </a:p>
          <a:p>
            <a:pPr marL="171450" indent="-171450">
              <a:spcAft>
                <a:spcPts val="400"/>
              </a:spcAft>
              <a:buChar char="•"/>
            </a:pPr>
            <a:r>
              <a:rPr sz="1400" dirty="0">
                <a:solidFill>
                  <a:srgbClr val="000000"/>
                </a:solidFill>
                <a:latin typeface="Lato"/>
              </a:rPr>
              <a:t>The dip in births in 2008 corresponds to students entering college 17 years later, in 2025.</a:t>
            </a:r>
          </a:p>
        </p:txBody>
      </p:sp>
      <p:sp>
        <p:nvSpPr>
          <p:cNvPr id="10" name="TextBox 9"/>
          <p:cNvSpPr txBox="1"/>
          <p:nvPr/>
        </p:nvSpPr>
        <p:spPr>
          <a:xfrm>
            <a:off x="6309360" y="4800600"/>
            <a:ext cx="5394960" cy="274320"/>
          </a:xfrm>
          <a:prstGeom prst="rect">
            <a:avLst/>
          </a:prstGeom>
          <a:noFill/>
        </p:spPr>
        <p:txBody>
          <a:bodyPr wrap="square" lIns="0" tIns="0" rIns="0" bIns="0" anchor="t">
            <a:spAutoFit/>
          </a:bodyPr>
          <a:lstStyle/>
          <a:p>
            <a:pPr algn="l"/>
            <a:r>
              <a:rPr sz="1300" b="1" i="0">
                <a:solidFill>
                  <a:srgbClr val="C8102E"/>
                </a:solidFill>
                <a:latin typeface="Lato"/>
              </a:rPr>
              <a:t>Trends by institution type</a:t>
            </a:r>
          </a:p>
        </p:txBody>
      </p:sp>
      <p:sp>
        <p:nvSpPr>
          <p:cNvPr id="11" name="TextBox 10"/>
          <p:cNvSpPr txBox="1"/>
          <p:nvPr/>
        </p:nvSpPr>
        <p:spPr>
          <a:xfrm>
            <a:off x="6309360" y="5120640"/>
            <a:ext cx="5422392" cy="1128514"/>
          </a:xfrm>
          <a:prstGeom prst="rect">
            <a:avLst/>
          </a:prstGeom>
          <a:noFill/>
        </p:spPr>
        <p:txBody>
          <a:bodyPr wrap="square" lIns="0" tIns="0" rIns="0" bIns="0">
            <a:spAutoFit/>
          </a:bodyPr>
          <a:lstStyle/>
          <a:p>
            <a:pPr marL="171450" indent="-171450">
              <a:spcAft>
                <a:spcPts val="400"/>
              </a:spcAft>
              <a:buChar char="•"/>
            </a:pPr>
            <a:r>
              <a:rPr sz="1400">
                <a:solidFill>
                  <a:srgbClr val="000000"/>
                </a:solidFill>
                <a:latin typeface="Lato"/>
              </a:rPr>
              <a:t>Demand for elite institutions is projected to drop by much less during 2025 to 2029.</a:t>
            </a:r>
          </a:p>
          <a:p>
            <a:pPr marL="171450" indent="-171450">
              <a:spcAft>
                <a:spcPts val="400"/>
              </a:spcAft>
              <a:buChar char="•"/>
            </a:pPr>
            <a:r>
              <a:rPr sz="1400">
                <a:solidFill>
                  <a:srgbClr val="000000"/>
                </a:solidFill>
                <a:latin typeface="Lato"/>
              </a:rPr>
              <a:t>Regional four-year institutions are expected to lose more than 11 percent of their students, from 1.43 million in 2012 to 1.27 million in 2029.</a:t>
            </a:r>
          </a:p>
        </p:txBody>
      </p:sp>
      <p:sp>
        <p:nvSpPr>
          <p:cNvPr id="12" name="TextBox 11"/>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Sources: CUPA-HR, “The Looming Enrollment Cliff” (2019); Wall Street Journal, “A Visual Breakdown of America’s Stagnating Number of Births” (2023)</a:t>
            </a:r>
          </a:p>
        </p:txBody>
      </p:sp>
      <p:sp>
        <p:nvSpPr>
          <p:cNvPr id="13"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8</a:t>
            </a:fld>
            <a:endParaRPr lang="en-US" sz="900" b="1">
              <a:solidFill>
                <a:srgbClr val="000000"/>
              </a:solidFill>
              <a:latin typeface="Lat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sector grew eightfold from 1870 to 2010, peaked at 4,726 in 2012–13, and has shrunk 18% since</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U.S. degree-granting institutions, including branch campuses: start of each decade, the 2012–13 peak, and 2018 and 2022–23</a:t>
            </a:r>
          </a:p>
        </p:txBody>
      </p:sp>
      <p:graphicFrame>
        <p:nvGraphicFramePr>
          <p:cNvPr id="4" name="Chart 3"/>
          <p:cNvGraphicFramePr>
            <a:graphicFrameLocks noGrp="1"/>
          </p:cNvGraphicFramePr>
          <p:nvPr>
            <p:extLst>
              <p:ext uri="{D42A27DB-BD31-4B8C-83A1-F6EECF244321}">
                <p14:modId xmlns:p14="http://schemas.microsoft.com/office/powerpoint/2010/main" val="1506495422"/>
              </p:ext>
            </p:extLst>
          </p:nvPr>
        </p:nvGraphicFramePr>
        <p:xfrm>
          <a:off x="457200" y="1691640"/>
          <a:ext cx="11274552" cy="4343400"/>
        </p:xfrm>
        <a:graphic>
          <a:graphicData uri="http://schemas.openxmlformats.org/drawingml/2006/chart">
            <c:chart xmlns:c="http://schemas.openxmlformats.org/drawingml/2006/chart" xmlns:r="http://schemas.openxmlformats.org/officeDocument/2006/relationships" r:id="rId2"/>
          </a:graphicData>
        </a:graphic>
      </p:graphicFrame>
      <p:sp>
        <p:nvSpPr>
          <p:cNvPr id="5" name="Rectangle 4"/>
          <p:cNvSpPr/>
          <p:nvPr/>
        </p:nvSpPr>
        <p:spPr>
          <a:xfrm>
            <a:off x="1234440" y="1920240"/>
            <a:ext cx="5256006"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371599" y="1993392"/>
            <a:ext cx="5118847" cy="738664"/>
          </a:xfrm>
          <a:prstGeom prst="rect">
            <a:avLst/>
          </a:prstGeom>
          <a:noFill/>
        </p:spPr>
        <p:txBody>
          <a:bodyPr wrap="square" lIns="0" tIns="0" rIns="0" bIns="0" anchor="t">
            <a:spAutoFit/>
          </a:bodyPr>
          <a:lstStyle/>
          <a:p>
            <a:pPr algn="l"/>
            <a:r>
              <a:rPr sz="1600" b="1" i="0" dirty="0">
                <a:solidFill>
                  <a:srgbClr val="C8102E"/>
                </a:solidFill>
                <a:latin typeface="Lato"/>
              </a:rPr>
              <a:t>2023–24 update</a:t>
            </a:r>
          </a:p>
          <a:p>
            <a:pPr algn="l"/>
            <a:r>
              <a:rPr sz="1600" b="0" i="0" dirty="0">
                <a:solidFill>
                  <a:srgbClr val="000000"/>
                </a:solidFill>
                <a:latin typeface="Lato"/>
              </a:rPr>
              <a:t>All Title IV institutions fell 2%, from 5,918 to 5,819: 161 closed, merged or lost eligibility and 62 were added.</a:t>
            </a:r>
          </a:p>
        </p:txBody>
      </p:sp>
      <p:sp>
        <p:nvSpPr>
          <p:cNvPr id="7" name="TextBox 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NCES Digest of Education Statistics 2023, Table 317.10; NCES press release, August 21, 2024 (Title IV institutions)</a:t>
            </a:r>
          </a:p>
        </p:txBody>
      </p:sp>
      <p:sp>
        <p:nvSpPr>
          <p:cNvPr id="8"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9</a:t>
            </a:fld>
            <a:endParaRPr lang="en-US" sz="900" b="1">
              <a:solidFill>
                <a:srgbClr val="000000"/>
              </a:solidFill>
              <a:latin typeface="Lat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92F37A4-0E0A-14FC-69C7-D7D9BB925861}"/>
              </a:ext>
            </a:extLst>
          </p:cNvPr>
          <p:cNvSpPr txBox="1"/>
          <p:nvPr/>
        </p:nvSpPr>
        <p:spPr>
          <a:xfrm>
            <a:off x="457200" y="320040"/>
            <a:ext cx="10241280" cy="77724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The United States has far more colleges/universities than other countries</a:t>
            </a:r>
          </a:p>
        </p:txBody>
      </p:sp>
      <p:graphicFrame>
        <p:nvGraphicFramePr>
          <p:cNvPr id="6" name="Chart 5">
            <a:extLst>
              <a:ext uri="{FF2B5EF4-FFF2-40B4-BE49-F238E27FC236}">
                <a16:creationId xmlns:a16="http://schemas.microsoft.com/office/drawing/2014/main" id="{F54F765B-EF1A-32C6-F931-83357DD50CAB}"/>
              </a:ext>
            </a:extLst>
          </p:cNvPr>
          <p:cNvGraphicFramePr/>
          <p:nvPr>
            <p:extLst>
              <p:ext uri="{D42A27DB-BD31-4B8C-83A1-F6EECF244321}">
                <p14:modId xmlns:p14="http://schemas.microsoft.com/office/powerpoint/2010/main" val="178165805"/>
              </p:ext>
            </p:extLst>
          </p:nvPr>
        </p:nvGraphicFramePr>
        <p:xfrm>
          <a:off x="197223" y="1051120"/>
          <a:ext cx="11797553" cy="5172217"/>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B847716B-BBD8-AF04-12BB-6DB03BBF1867}"/>
              </a:ext>
            </a:extLst>
          </p:cNvPr>
          <p:cNvSpPr txBox="1"/>
          <p:nvPr/>
        </p:nvSpPr>
        <p:spPr>
          <a:xfrm>
            <a:off x="2325445" y="1133011"/>
            <a:ext cx="7772400" cy="502920"/>
          </a:xfrm>
          <a:prstGeom prst="rect">
            <a:avLst/>
          </a:prstGeom>
          <a:noFill/>
        </p:spPr>
        <p:txBody>
          <a:bodyPr wrap="square" rtlCol="0">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effectLst/>
                <a:uLnTx/>
                <a:uFillTx/>
                <a:latin typeface="Lato" panose="020B0604020202020204" pitchFamily="34" charset="0"/>
                <a:ea typeface="+mn-ea"/>
                <a:cs typeface="Arial" panose="020B0604020202020204" pitchFamily="34" charset="0"/>
              </a:rPr>
              <a:t>Four-year c</a:t>
            </a:r>
            <a:r>
              <a:rPr kumimoji="0" lang="en-US" b="0" i="0" u="none" strike="noStrike" kern="1200" cap="none" spc="0" normalizeH="0" baseline="0" noProof="0" dirty="0" err="1">
                <a:ln>
                  <a:noFill/>
                </a:ln>
                <a:effectLst/>
                <a:uLnTx/>
                <a:uFillTx/>
                <a:latin typeface="Lato" panose="020B0604020202020204" pitchFamily="34" charset="0"/>
                <a:ea typeface="+mn-ea"/>
                <a:cs typeface="Arial" panose="020B0604020202020204" pitchFamily="34" charset="0"/>
              </a:rPr>
              <a:t>olleges</a:t>
            </a:r>
            <a:r>
              <a:rPr kumimoji="0" lang="en-US" b="0" i="0" u="none" strike="noStrike" kern="1200" cap="none" spc="0" normalizeH="0" baseline="0" noProof="0" dirty="0">
                <a:ln>
                  <a:noFill/>
                </a:ln>
                <a:effectLst/>
                <a:uLnTx/>
                <a:uFillTx/>
                <a:latin typeface="Lato" panose="020B0604020202020204" pitchFamily="34" charset="0"/>
                <a:ea typeface="+mn-ea"/>
                <a:cs typeface="Arial" panose="020B0604020202020204" pitchFamily="34" charset="0"/>
              </a:rPr>
              <a:t>/universities by country</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effectLst/>
                <a:uLnTx/>
                <a:uFillTx/>
                <a:latin typeface="Lato" panose="020B0604020202020204" pitchFamily="34" charset="0"/>
                <a:ea typeface="+mn-ea"/>
                <a:cs typeface="Arial" panose="020B0604020202020204" pitchFamily="34" charset="0"/>
              </a:rPr>
              <a:t>(for countries with ≥ 50 colleges/universities) n=36</a:t>
            </a:r>
          </a:p>
        </p:txBody>
      </p:sp>
      <p:sp>
        <p:nvSpPr>
          <p:cNvPr id="10" name="TextBox 9"/>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World Bank; HIPI university list</a:t>
            </a:r>
          </a:p>
        </p:txBody>
      </p:sp>
      <p:sp>
        <p:nvSpPr>
          <p:cNvPr id="11" name="TextBox 10"/>
          <p:cNvSpPr txBox="1"/>
          <p:nvPr/>
        </p:nvSpPr>
        <p:spPr>
          <a:xfrm>
            <a:off x="457200" y="6268212"/>
            <a:ext cx="11274552" cy="132588"/>
          </a:xfrm>
          <a:prstGeom prst="rect">
            <a:avLst/>
          </a:prstGeom>
          <a:noFill/>
        </p:spPr>
        <p:txBody>
          <a:bodyPr wrap="square" lIns="0" tIns="0" rIns="0" bIns="0" anchor="b">
            <a:spAutoFit/>
          </a:bodyPr>
          <a:lstStyle/>
          <a:p>
            <a:pPr algn="l"/>
            <a:r>
              <a:rPr sz="700" b="0" i="0">
                <a:solidFill>
                  <a:srgbClr val="595959"/>
                </a:solidFill>
                <a:latin typeface="Lato"/>
              </a:rPr>
              <a:t>The HIPI list counts 2,349 four-year U.S. institutions; NCES reports 2,628 four-year degree-granting institutions in 2022–23 (a different list and year).</a:t>
            </a:r>
          </a:p>
        </p:txBody>
      </p:sp>
      <p:sp>
        <p:nvSpPr>
          <p:cNvPr id="12"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10</a:t>
            </a:fld>
            <a:endParaRPr lang="en-US" sz="900" b="1">
              <a:solidFill>
                <a:srgbClr val="000000"/>
              </a:solidFill>
              <a:latin typeface="Lato"/>
            </a:endParaRPr>
          </a:p>
        </p:txBody>
      </p:sp>
    </p:spTree>
    <p:extLst>
      <p:ext uri="{BB962C8B-B14F-4D97-AF65-F5344CB8AC3E}">
        <p14:creationId xmlns:p14="http://schemas.microsoft.com/office/powerpoint/2010/main" val="25181382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199" y="320040"/>
            <a:ext cx="11161059" cy="369332"/>
          </a:xfrm>
          <a:prstGeom prst="rect">
            <a:avLst/>
          </a:prstGeom>
          <a:noFill/>
        </p:spPr>
        <p:txBody>
          <a:bodyPr wrap="square" lIns="0" tIns="0" rIns="0" bIns="0" anchor="t">
            <a:spAutoFit/>
          </a:bodyPr>
          <a:lstStyle/>
          <a:p>
            <a:pPr algn="l"/>
            <a:r>
              <a:rPr lang="en-US" sz="2400" b="1" i="0" dirty="0">
                <a:solidFill>
                  <a:srgbClr val="000000"/>
                </a:solidFill>
                <a:latin typeface="Lato"/>
              </a:rPr>
              <a:t>And we have more than four times the average per capita of other large countries</a:t>
            </a:r>
            <a:endParaRPr sz="2400" b="1" i="0" dirty="0">
              <a:solidFill>
                <a:srgbClr val="000000"/>
              </a:solidFill>
              <a:latin typeface="Lato"/>
            </a:endParaRPr>
          </a:p>
        </p:txBody>
      </p:sp>
      <p:sp>
        <p:nvSpPr>
          <p:cNvPr id="3" name="TextBox 2"/>
          <p:cNvSpPr txBox="1"/>
          <p:nvPr/>
        </p:nvSpPr>
        <p:spPr>
          <a:xfrm>
            <a:off x="944880" y="1115568"/>
            <a:ext cx="10237985" cy="246221"/>
          </a:xfrm>
          <a:prstGeom prst="rect">
            <a:avLst/>
          </a:prstGeom>
          <a:noFill/>
        </p:spPr>
        <p:txBody>
          <a:bodyPr wrap="square" lIns="0" tIns="0" rIns="0" bIns="0" anchor="t">
            <a:spAutoFit/>
          </a:bodyPr>
          <a:lstStyle/>
          <a:p>
            <a:pPr algn="ctr"/>
            <a:r>
              <a:rPr sz="1600" b="0" i="0" dirty="0">
                <a:latin typeface="Lato"/>
              </a:rPr>
              <a:t>Colleges and universities per 1 million population, countries with 50 million or more people (n=31); *see note</a:t>
            </a:r>
          </a:p>
        </p:txBody>
      </p:sp>
      <p:graphicFrame>
        <p:nvGraphicFramePr>
          <p:cNvPr id="4" name="Chart 3"/>
          <p:cNvGraphicFramePr>
            <a:graphicFrameLocks noGrp="1"/>
          </p:cNvGraphicFramePr>
          <p:nvPr>
            <p:extLst>
              <p:ext uri="{D42A27DB-BD31-4B8C-83A1-F6EECF244321}">
                <p14:modId xmlns:p14="http://schemas.microsoft.com/office/powerpoint/2010/main" val="1215818702"/>
              </p:ext>
            </p:extLst>
          </p:nvPr>
        </p:nvGraphicFramePr>
        <p:xfrm>
          <a:off x="457200" y="1600200"/>
          <a:ext cx="11274552" cy="420624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1382723" y="1903285"/>
            <a:ext cx="3059531" cy="923330"/>
          </a:xfrm>
          <a:prstGeom prst="rect">
            <a:avLst/>
          </a:prstGeom>
          <a:solidFill>
            <a:schemeClr val="bg1"/>
          </a:solidFill>
        </p:spPr>
        <p:txBody>
          <a:bodyPr wrap="square" lIns="0" tIns="0" rIns="0" bIns="0" anchor="t">
            <a:spAutoFit/>
          </a:bodyPr>
          <a:lstStyle/>
          <a:p>
            <a:pPr algn="l"/>
            <a:r>
              <a:rPr sz="1200" b="0" i="0" dirty="0">
                <a:solidFill>
                  <a:srgbClr val="000000"/>
                </a:solidFill>
                <a:latin typeface="Lato"/>
              </a:rPr>
              <a:t>Korea (4.71), Japan (4.61) and France (4.33) come closest, at 63% to 68% of the U.S. rate. </a:t>
            </a:r>
            <a:endParaRPr lang="en-US" sz="1200" b="0" i="0" dirty="0">
              <a:solidFill>
                <a:srgbClr val="000000"/>
              </a:solidFill>
              <a:latin typeface="Lato"/>
            </a:endParaRPr>
          </a:p>
          <a:p>
            <a:pPr algn="l"/>
            <a:endParaRPr lang="en-US" sz="1200" b="1" i="0" dirty="0">
              <a:solidFill>
                <a:schemeClr val="accent2"/>
              </a:solidFill>
              <a:latin typeface="Lato"/>
            </a:endParaRPr>
          </a:p>
          <a:p>
            <a:pPr algn="l"/>
            <a:r>
              <a:rPr sz="1200" b="1" i="0" dirty="0">
                <a:solidFill>
                  <a:schemeClr val="accent2"/>
                </a:solidFill>
                <a:latin typeface="Lato"/>
              </a:rPr>
              <a:t>The U.S. has 2,349 four-year institutions versus 572 in Japan.</a:t>
            </a:r>
          </a:p>
        </p:txBody>
      </p:sp>
      <p:sp>
        <p:nvSpPr>
          <p:cNvPr id="6" name="TextBox 5"/>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Sources: World Bank; HIPI university list; AISHE 2021–22 (India); China Ministry of Education (2024)</a:t>
            </a:r>
          </a:p>
        </p:txBody>
      </p:sp>
      <p:sp>
        <p:nvSpPr>
          <p:cNvPr id="7" name="TextBox 6"/>
          <p:cNvSpPr txBox="1"/>
          <p:nvPr/>
        </p:nvSpPr>
        <p:spPr>
          <a:xfrm>
            <a:off x="457200" y="6039612"/>
            <a:ext cx="11274552" cy="361188"/>
          </a:xfrm>
          <a:prstGeom prst="rect">
            <a:avLst/>
          </a:prstGeom>
          <a:noFill/>
        </p:spPr>
        <p:txBody>
          <a:bodyPr wrap="square" lIns="0" tIns="0" rIns="0" bIns="0" anchor="b">
            <a:spAutoFit/>
          </a:bodyPr>
          <a:lstStyle/>
          <a:p>
            <a:pPr algn="l"/>
            <a:r>
              <a:rPr sz="700" b="0" i="0">
                <a:solidFill>
                  <a:srgbClr val="595959"/>
                </a:solidFill>
                <a:latin typeface="Lato"/>
              </a:rPr>
              <a:t>*India (0.80 per million) is 1,168 universities (AISHE 2021–22) ÷ 1,451 million people; China (2.21) is 3,117 institutions of higher learning (Ministry of Education, 2024, including 1,560 vocational and technical colleges) ÷ 1,409 million. These official national counts are not like-for-like with the HIPI list of four-year institutions used for the other countries; on the HIPI basis India is 0.33 (474 institutions) and China 0.28 (398). Average of the 31 countries shown = 1.63.</a:t>
            </a:r>
          </a:p>
        </p:txBody>
      </p:sp>
      <p:sp>
        <p:nvSpPr>
          <p:cNvPr id="8"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11</a:t>
            </a:fld>
            <a:endParaRPr lang="en-US" sz="900" b="1">
              <a:solidFill>
                <a:srgbClr val="000000"/>
              </a:solidFill>
              <a:latin typeface="Lat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F50E232D-B298-FA49-85D1-175BC120D922}"/>
            </a:ext>
          </a:extLst>
        </p:cNvPr>
        <p:cNvGrpSpPr/>
        <p:nvPr/>
      </p:nvGrpSpPr>
      <p:grpSpPr>
        <a:xfrm>
          <a:off x="0" y="0"/>
          <a:ext cx="0" cy="0"/>
          <a:chOff x="0" y="0"/>
          <a:chExt cx="0" cy="0"/>
        </a:xfrm>
      </p:grpSpPr>
      <p:pic>
        <p:nvPicPr>
          <p:cNvPr id="2" name="Picture 1" descr="college_closures_map_dots_dedup_grey_legend.png">
            <a:extLst>
              <a:ext uri="{FF2B5EF4-FFF2-40B4-BE49-F238E27FC236}">
                <a16:creationId xmlns:a16="http://schemas.microsoft.com/office/drawing/2014/main" id="{862A38DB-964D-9F0E-7FF3-A991E980ED17}"/>
              </a:ext>
            </a:extLst>
          </p:cNvPr>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a:xfrm>
            <a:off x="968190" y="1051560"/>
            <a:ext cx="10255313" cy="5257800"/>
          </a:xfrm>
          <a:prstGeom prst="rect">
            <a:avLst/>
          </a:prstGeom>
        </p:spPr>
      </p:pic>
      <p:sp>
        <p:nvSpPr>
          <p:cNvPr id="3" name="TextBox 2">
            <a:extLst>
              <a:ext uri="{FF2B5EF4-FFF2-40B4-BE49-F238E27FC236}">
                <a16:creationId xmlns:a16="http://schemas.microsoft.com/office/drawing/2014/main" id="{2037DD51-9239-C949-5A02-DFD69A0960C1}"/>
              </a:ext>
            </a:extLst>
          </p:cNvPr>
          <p:cNvSpPr txBox="1"/>
          <p:nvPr/>
        </p:nvSpPr>
        <p:spPr>
          <a:xfrm>
            <a:off x="457200" y="320040"/>
            <a:ext cx="10241280" cy="77724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82 college closures since 2015, 53 of them since 2023</a:t>
            </a:r>
          </a:p>
        </p:txBody>
      </p:sp>
      <p:graphicFrame>
        <p:nvGraphicFramePr>
          <p:cNvPr id="7" name="Chart 6">
            <a:extLst>
              <a:ext uri="{FF2B5EF4-FFF2-40B4-BE49-F238E27FC236}">
                <a16:creationId xmlns:a16="http://schemas.microsoft.com/office/drawing/2014/main" id="{9679DFC2-0AA5-0A25-79F3-4CC65DD850F7}"/>
              </a:ext>
            </a:extLst>
          </p:cNvPr>
          <p:cNvGraphicFramePr/>
          <p:nvPr>
            <p:extLst>
              <p:ext uri="{D42A27DB-BD31-4B8C-83A1-F6EECF244321}">
                <p14:modId xmlns:p14="http://schemas.microsoft.com/office/powerpoint/2010/main" val="582421815"/>
              </p:ext>
            </p:extLst>
          </p:nvPr>
        </p:nvGraphicFramePr>
        <p:xfrm>
          <a:off x="2118280" y="1797469"/>
          <a:ext cx="2867439" cy="1693214"/>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9EEE59EE-CBCC-B812-D824-E413EA9BEEE0}"/>
              </a:ext>
            </a:extLst>
          </p:cNvPr>
          <p:cNvSpPr txBox="1"/>
          <p:nvPr/>
        </p:nvSpPr>
        <p:spPr>
          <a:xfrm>
            <a:off x="2738314" y="1797469"/>
            <a:ext cx="1627369" cy="307777"/>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Lato" panose="020B0604020202020204" pitchFamily="34" charset="0"/>
                <a:ea typeface="+mn-ea"/>
                <a:cs typeface="Arial" panose="020B0604020202020204" pitchFamily="34" charset="0"/>
              </a:rPr>
              <a:t>Closures by year</a:t>
            </a:r>
          </a:p>
        </p:txBody>
      </p:sp>
      <p:sp>
        <p:nvSpPr>
          <p:cNvPr id="9" name="2026 closure: University of Valley Forge (Phoenixville, PA)"/>
          <p:cNvSpPr/>
          <p:nvPr/>
        </p:nvSpPr>
        <p:spPr>
          <a:xfrm>
            <a:off x="9635715" y="2961237"/>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2026 closure: Anna Maria College (Paxton, MA)"/>
          <p:cNvSpPr/>
          <p:nvPr/>
        </p:nvSpPr>
        <p:spPr>
          <a:xfrm>
            <a:off x="10268181" y="2508969"/>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2026 closure: Hampshire College (Amherst, MA)"/>
          <p:cNvSpPr/>
          <p:nvPr/>
        </p:nvSpPr>
        <p:spPr>
          <a:xfrm>
            <a:off x="10162181" y="2506895"/>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2026 closure: Labouré College of Healthcare (Milton, MA)"/>
          <p:cNvSpPr/>
          <p:nvPr/>
        </p:nvSpPr>
        <p:spPr>
          <a:xfrm>
            <a:off x="10420114" y="2521417"/>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2026 closure: Lourdes University (Sylvania, OH)"/>
          <p:cNvSpPr/>
          <p:nvPr/>
        </p:nvSpPr>
        <p:spPr>
          <a:xfrm>
            <a:off x="8187049" y="2631372"/>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2026 closure: California College of the Arts (San Francisco, CA)"/>
          <p:cNvSpPr/>
          <p:nvPr/>
        </p:nvSpPr>
        <p:spPr>
          <a:xfrm>
            <a:off x="1348288" y="3450848"/>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legend 2026"/>
          <p:cNvSpPr/>
          <p:nvPr/>
        </p:nvSpPr>
        <p:spPr>
          <a:xfrm>
            <a:off x="3062154" y="6110557"/>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236031" y="6094555"/>
            <a:ext cx="457200" cy="146304"/>
          </a:xfrm>
          <a:prstGeom prst="rect">
            <a:avLst/>
          </a:prstGeom>
          <a:noFill/>
        </p:spPr>
        <p:txBody>
          <a:bodyPr wrap="none" lIns="0" tIns="0" rIns="0" bIns="0" anchor="ctr">
            <a:spAutoFit/>
          </a:bodyPr>
          <a:lstStyle/>
          <a:p>
            <a:r>
              <a:rPr sz="750">
                <a:solidFill>
                  <a:srgbClr val="000000"/>
                </a:solidFill>
                <a:latin typeface="Lato"/>
              </a:rPr>
              <a:t>2026*</a:t>
            </a:r>
          </a:p>
        </p:txBody>
      </p:sp>
      <p:sp>
        <p:nvSpPr>
          <p:cNvPr id="17" name="TextBox 1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Inside Higher Ed closure tallies (2023–2025); University Business closings tracker (2026); Northeastern analysis</a:t>
            </a:r>
          </a:p>
        </p:txBody>
      </p:sp>
      <p:sp>
        <p:nvSpPr>
          <p:cNvPr id="18" name="TextBox 17"/>
          <p:cNvSpPr txBox="1"/>
          <p:nvPr/>
        </p:nvSpPr>
        <p:spPr>
          <a:xfrm>
            <a:off x="3703320" y="5989320"/>
            <a:ext cx="5212080" cy="411480"/>
          </a:xfrm>
          <a:prstGeom prst="rect">
            <a:avLst/>
          </a:prstGeom>
          <a:noFill/>
        </p:spPr>
        <p:txBody>
          <a:bodyPr wrap="square" lIns="0" tIns="0" rIns="0" bIns="0" anchor="b">
            <a:spAutoFit/>
          </a:bodyPr>
          <a:lstStyle/>
          <a:p>
            <a:pPr algn="l"/>
            <a:r>
              <a:rPr sz="700" b="0" i="0">
                <a:solidFill>
                  <a:srgbClr val="595959"/>
                </a:solidFill>
                <a:latin typeface="Lato"/>
              </a:rPr>
              <a:t>Nonprofit institutions announcing closure each year. 2025 = 16 (Inside Higher Ed, Dec. 2025). *2026 through July 31 (University Business): Hampshire, Anna Maria, Labouré, Lourdes, California College of the Arts, Valley Forge. Other trackers count 8–9 by closing year.</a:t>
            </a:r>
          </a:p>
        </p:txBody>
      </p:sp>
      <p:sp>
        <p:nvSpPr>
          <p:cNvPr id="19"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12</a:t>
            </a:fld>
            <a:endParaRPr lang="en-US" sz="900" b="1">
              <a:solidFill>
                <a:srgbClr val="000000"/>
              </a:solidFill>
              <a:latin typeface="Lato"/>
            </a:endParaRPr>
          </a:p>
        </p:txBody>
      </p:sp>
    </p:spTree>
    <p:extLst>
      <p:ext uri="{BB962C8B-B14F-4D97-AF65-F5344CB8AC3E}">
        <p14:creationId xmlns:p14="http://schemas.microsoft.com/office/powerpoint/2010/main" val="17324613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Federal R&amp;D support has fallen from 1.9% of GDP to 0.6%, while other sources now fund 2.8%</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U.S. R&amp;D funding by source as a percent of GDP, 1953–2024</a:t>
            </a:r>
          </a:p>
        </p:txBody>
      </p:sp>
      <p:graphicFrame>
        <p:nvGraphicFramePr>
          <p:cNvPr id="4" name="Chart 3"/>
          <p:cNvGraphicFramePr>
            <a:graphicFrameLocks noGrp="1"/>
          </p:cNvGraphicFramePr>
          <p:nvPr/>
        </p:nvGraphicFramePr>
        <p:xfrm>
          <a:off x="457200" y="1600200"/>
          <a:ext cx="11274552" cy="4434840"/>
        </p:xfrm>
        <a:graphic>
          <a:graphicData uri="http://schemas.openxmlformats.org/drawingml/2006/chart">
            <c:chart xmlns:c="http://schemas.openxmlformats.org/drawingml/2006/chart" xmlns:r="http://schemas.openxmlformats.org/officeDocument/2006/relationships" r:id="rId2"/>
          </a:graphicData>
        </a:graphic>
      </p:graphicFrame>
      <p:cxnSp>
        <p:nvCxnSpPr>
          <p:cNvPr id="5" name="Connector 4"/>
          <p:cNvCxnSpPr/>
          <p:nvPr/>
        </p:nvCxnSpPr>
        <p:spPr>
          <a:xfrm>
            <a:off x="2887883" y="2212848"/>
            <a:ext cx="0" cy="3112617"/>
          </a:xfrm>
          <a:prstGeom prst="line">
            <a:avLst/>
          </a:prstGeom>
          <a:ln w="12700">
            <a:solidFill>
              <a:srgbClr val="8C8C8C"/>
            </a:solidFill>
            <a:prstDash val="dash"/>
          </a:ln>
        </p:spPr>
        <p:style>
          <a:lnRef idx="2">
            <a:schemeClr val="accent1"/>
          </a:lnRef>
          <a:fillRef idx="0">
            <a:schemeClr val="accent1"/>
          </a:fillRef>
          <a:effectRef idx="1">
            <a:schemeClr val="accent1"/>
          </a:effectRef>
          <a:fontRef idx="minor">
            <a:schemeClr val="tx1"/>
          </a:fontRef>
        </p:style>
      </p:cxnSp>
      <p:pic>
        <p:nvPicPr>
          <p:cNvPr id="6" name="Picture 5" descr="medicare.jpg"/>
          <p:cNvPicPr>
            <a:picLocks noChangeAspect="1"/>
          </p:cNvPicPr>
          <p:nvPr/>
        </p:nvPicPr>
        <p:blipFill>
          <a:blip r:embed="rId3"/>
          <a:stretch>
            <a:fillRect/>
          </a:stretch>
        </p:blipFill>
        <p:spPr>
          <a:xfrm>
            <a:off x="2979323" y="2212848"/>
            <a:ext cx="1188720" cy="794956"/>
          </a:xfrm>
          <a:prstGeom prst="rect">
            <a:avLst/>
          </a:prstGeom>
          <a:ln>
            <a:solidFill>
              <a:schemeClr val="accent1"/>
            </a:solidFill>
          </a:ln>
        </p:spPr>
      </p:pic>
      <p:sp>
        <p:nvSpPr>
          <p:cNvPr id="7" name="TextBox 6"/>
          <p:cNvSpPr txBox="1"/>
          <p:nvPr/>
        </p:nvSpPr>
        <p:spPr>
          <a:xfrm>
            <a:off x="4259483" y="2212848"/>
            <a:ext cx="2194560" cy="822960"/>
          </a:xfrm>
          <a:prstGeom prst="rect">
            <a:avLst/>
          </a:prstGeom>
          <a:noFill/>
        </p:spPr>
        <p:txBody>
          <a:bodyPr wrap="square" lIns="0" tIns="0" rIns="0" bIns="0" anchor="t">
            <a:spAutoFit/>
          </a:bodyPr>
          <a:lstStyle/>
          <a:p>
            <a:pPr algn="l"/>
            <a:r>
              <a:rPr sz="1000" b="1" i="0">
                <a:solidFill>
                  <a:srgbClr val="C8102E"/>
                </a:solidFill>
                <a:latin typeface="Lato"/>
              </a:rPr>
              <a:t>1965: Medicare enacted</a:t>
            </a:r>
          </a:p>
          <a:p>
            <a:pPr algn="l"/>
            <a:r>
              <a:rPr sz="1000" b="0" i="0">
                <a:solidFill>
                  <a:srgbClr val="000000"/>
                </a:solidFill>
                <a:latin typeface="Lato"/>
              </a:rPr>
              <a:t>President Johnson signs the bill with former President Truman (LBJ Library)</a:t>
            </a:r>
          </a:p>
        </p:txBody>
      </p:sp>
      <p:sp>
        <p:nvSpPr>
          <p:cNvPr id="8" name="Oval 7"/>
          <p:cNvSpPr/>
          <p:nvPr/>
        </p:nvSpPr>
        <p:spPr>
          <a:xfrm>
            <a:off x="2823875" y="3485304"/>
            <a:ext cx="128016" cy="128016"/>
          </a:xfrm>
          <a:prstGeom prst="ellipse">
            <a:avLst/>
          </a:prstGeom>
          <a:solidFill>
            <a:srgbClr val="C810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 name="Connector 8"/>
          <p:cNvCxnSpPr/>
          <p:nvPr/>
        </p:nvCxnSpPr>
        <p:spPr>
          <a:xfrm>
            <a:off x="5060583" y="4410722"/>
            <a:ext cx="0" cy="435598"/>
          </a:xfrm>
          <a:prstGeom prst="line">
            <a:avLst/>
          </a:prstGeom>
          <a:ln w="12700">
            <a:solidFill>
              <a:srgbClr val="8C8C8C"/>
            </a:solidFill>
            <a:prstDash val="dash"/>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996575" y="4213726"/>
            <a:ext cx="128016" cy="128016"/>
          </a:xfrm>
          <a:prstGeom prst="ellipse">
            <a:avLst/>
          </a:prstGeom>
          <a:solidFill>
            <a:srgbClr val="C810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23377" y="4846320"/>
            <a:ext cx="2377440" cy="548640"/>
          </a:xfrm>
          <a:prstGeom prst="rect">
            <a:avLst/>
          </a:prstGeom>
          <a:noFill/>
        </p:spPr>
        <p:txBody>
          <a:bodyPr wrap="square" lIns="0" tIns="0" rIns="0" bIns="0" anchor="t">
            <a:spAutoFit/>
          </a:bodyPr>
          <a:lstStyle/>
          <a:p>
            <a:pPr algn="l"/>
            <a:r>
              <a:rPr sz="1000" b="1" i="0" dirty="0">
                <a:solidFill>
                  <a:srgbClr val="C8102E"/>
                </a:solidFill>
                <a:latin typeface="Lato"/>
              </a:rPr>
              <a:t>1980: Bayh-Dole Act</a:t>
            </a:r>
          </a:p>
          <a:p>
            <a:pPr algn="l"/>
            <a:r>
              <a:rPr sz="1000" b="0" i="0" dirty="0">
                <a:solidFill>
                  <a:srgbClr val="000000"/>
                </a:solidFill>
                <a:latin typeface="Lato"/>
              </a:rPr>
              <a:t>Universities may patent federally funded research</a:t>
            </a:r>
          </a:p>
        </p:txBody>
      </p:sp>
      <p:cxnSp>
        <p:nvCxnSpPr>
          <p:cNvPr id="12" name="Connector 11"/>
          <p:cNvCxnSpPr/>
          <p:nvPr/>
        </p:nvCxnSpPr>
        <p:spPr>
          <a:xfrm>
            <a:off x="9261137" y="4610290"/>
            <a:ext cx="0" cy="236030"/>
          </a:xfrm>
          <a:prstGeom prst="line">
            <a:avLst/>
          </a:prstGeom>
          <a:ln w="12700">
            <a:solidFill>
              <a:srgbClr val="8C8C8C"/>
            </a:solidFill>
            <a:prstDash val="dash"/>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9197129" y="4393337"/>
            <a:ext cx="128016" cy="128016"/>
          </a:xfrm>
          <a:prstGeom prst="ellipse">
            <a:avLst/>
          </a:prstGeom>
          <a:solidFill>
            <a:srgbClr val="C810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00479" y="4892040"/>
            <a:ext cx="2377440" cy="548640"/>
          </a:xfrm>
          <a:prstGeom prst="rect">
            <a:avLst/>
          </a:prstGeom>
          <a:noFill/>
        </p:spPr>
        <p:txBody>
          <a:bodyPr wrap="square" lIns="0" tIns="0" rIns="0" bIns="0" anchor="t">
            <a:spAutoFit/>
          </a:bodyPr>
          <a:lstStyle/>
          <a:p>
            <a:pPr algn="r"/>
            <a:r>
              <a:rPr sz="1000" b="1" i="0" dirty="0">
                <a:solidFill>
                  <a:srgbClr val="C8102E"/>
                </a:solidFill>
                <a:latin typeface="Lato"/>
              </a:rPr>
              <a:t>2009: Recovery Act (ARRA)</a:t>
            </a:r>
          </a:p>
          <a:p>
            <a:pPr algn="r"/>
            <a:r>
              <a:rPr sz="1000" b="0" i="0" dirty="0">
                <a:solidFill>
                  <a:srgbClr val="000000"/>
                </a:solidFill>
                <a:latin typeface="Lato"/>
              </a:rPr>
              <a:t>Temporary federal R&amp;D bump</a:t>
            </a:r>
          </a:p>
        </p:txBody>
      </p:sp>
      <p:sp>
        <p:nvSpPr>
          <p:cNvPr id="15" name="Rectangle 14"/>
          <p:cNvSpPr/>
          <p:nvPr/>
        </p:nvSpPr>
        <p:spPr>
          <a:xfrm>
            <a:off x="7040880" y="2194560"/>
            <a:ext cx="2651760"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150608" y="2249424"/>
            <a:ext cx="2468880" cy="822960"/>
          </a:xfrm>
          <a:prstGeom prst="rect">
            <a:avLst/>
          </a:prstGeom>
          <a:noFill/>
        </p:spPr>
        <p:txBody>
          <a:bodyPr wrap="square" lIns="0" tIns="0" rIns="0" bIns="0" anchor="t">
            <a:spAutoFit/>
          </a:bodyPr>
          <a:lstStyle/>
          <a:p>
            <a:pPr algn="l"/>
            <a:r>
              <a:rPr sz="1000" b="1" i="0">
                <a:solidFill>
                  <a:srgbClr val="C8102E"/>
                </a:solidFill>
                <a:latin typeface="Lato"/>
              </a:rPr>
              <a:t>2024</a:t>
            </a:r>
          </a:p>
          <a:p>
            <a:pPr algn="l"/>
            <a:r>
              <a:rPr sz="1000" b="0" i="0">
                <a:solidFill>
                  <a:srgbClr val="000000"/>
                </a:solidFill>
                <a:latin typeface="Lato"/>
              </a:rPr>
              <a:t>Total U.S. R&amp;D was 3.39% of GDP: business 2.54%, federal 0.63%, other nonfederal 0.22%.</a:t>
            </a:r>
          </a:p>
        </p:txBody>
      </p:sp>
      <p:sp>
        <p:nvSpPr>
          <p:cNvPr id="17" name="TextBox 1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National Patterns of R&amp;D Resources (NSF 26-314, figure 3), 2024 estimate; photo: LBJ Library, public domain</a:t>
            </a:r>
          </a:p>
        </p:txBody>
      </p:sp>
      <p:sp>
        <p:nvSpPr>
          <p:cNvPr id="18"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13</a:t>
            </a:fld>
            <a:endParaRPr lang="en-US" sz="900" b="1">
              <a:solidFill>
                <a:srgbClr val="000000"/>
              </a:solidFill>
              <a:latin typeface="Lat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Federal regulation has grown from 9,745 pages in 1950 to 194,395 in 2024, twentyfold</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Total pages in the Code of Federal Regulations, 1950–2024. At one page a day, the full Code would take 533 years to read.</a:t>
            </a:r>
          </a:p>
        </p:txBody>
      </p:sp>
      <p:graphicFrame>
        <p:nvGraphicFramePr>
          <p:cNvPr id="4" name="Chart 3"/>
          <p:cNvGraphicFramePr>
            <a:graphicFrameLocks noGrp="1"/>
          </p:cNvGraphicFramePr>
          <p:nvPr/>
        </p:nvGraphicFramePr>
        <p:xfrm>
          <a:off x="457200" y="1600200"/>
          <a:ext cx="11274552" cy="443484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George Washington University Regulatory Studies Center, Reg-Stats (Federal Register statistics; GovInfo for 2024)</a:t>
            </a:r>
          </a:p>
        </p:txBody>
      </p:sp>
      <p:sp>
        <p:nvSpPr>
          <p:cNvPr id="6"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14</a:t>
            </a:fld>
            <a:endParaRPr lang="en-US" sz="900" b="1">
              <a:solidFill>
                <a:srgbClr val="000000"/>
              </a:solidFill>
              <a:latin typeface="Lat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Regulatory complexity is a growing burden: 35 areas, about 200 statutes, about 20 agencies</a:t>
            </a:r>
          </a:p>
        </p:txBody>
      </p:sp>
      <p:cxnSp>
        <p:nvCxnSpPr>
          <p:cNvPr id="3" name="Connector 2"/>
          <p:cNvCxnSpPr/>
          <p:nvPr/>
        </p:nvCxnSpPr>
        <p:spPr>
          <a:xfrm>
            <a:off x="457200"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463040"/>
            <a:ext cx="3611880" cy="822960"/>
          </a:xfrm>
          <a:prstGeom prst="rect">
            <a:avLst/>
          </a:prstGeom>
          <a:noFill/>
        </p:spPr>
        <p:txBody>
          <a:bodyPr wrap="square" lIns="0" tIns="0" rIns="0" bIns="0" anchor="t">
            <a:spAutoFit/>
          </a:bodyPr>
          <a:lstStyle/>
          <a:p>
            <a:pPr algn="l"/>
            <a:r>
              <a:rPr sz="4800" b="1" i="0">
                <a:solidFill>
                  <a:srgbClr val="C8102E"/>
                </a:solidFill>
                <a:latin typeface="Lato"/>
              </a:rPr>
              <a:t>&gt; 35</a:t>
            </a:r>
          </a:p>
        </p:txBody>
      </p:sp>
      <p:sp>
        <p:nvSpPr>
          <p:cNvPr id="5" name="TextBox 4"/>
          <p:cNvSpPr txBox="1"/>
          <p:nvPr/>
        </p:nvSpPr>
        <p:spPr>
          <a:xfrm>
            <a:off x="457200" y="2331720"/>
            <a:ext cx="3611880" cy="320040"/>
          </a:xfrm>
          <a:prstGeom prst="rect">
            <a:avLst/>
          </a:prstGeom>
          <a:noFill/>
        </p:spPr>
        <p:txBody>
          <a:bodyPr wrap="square" lIns="0" tIns="0" rIns="0" bIns="0" anchor="t">
            <a:spAutoFit/>
          </a:bodyPr>
          <a:lstStyle/>
          <a:p>
            <a:pPr algn="l"/>
            <a:r>
              <a:rPr sz="1600" b="1" i="0">
                <a:solidFill>
                  <a:srgbClr val="000000"/>
                </a:solidFill>
                <a:latin typeface="Lato"/>
              </a:rPr>
              <a:t>different regulatory areas</a:t>
            </a:r>
          </a:p>
        </p:txBody>
      </p:sp>
      <p:sp>
        <p:nvSpPr>
          <p:cNvPr id="6" name="TextBox 5"/>
          <p:cNvSpPr txBox="1"/>
          <p:nvPr/>
        </p:nvSpPr>
        <p:spPr>
          <a:xfrm>
            <a:off x="457200" y="2697480"/>
            <a:ext cx="3611880" cy="457200"/>
          </a:xfrm>
          <a:prstGeom prst="rect">
            <a:avLst/>
          </a:prstGeom>
          <a:noFill/>
        </p:spPr>
        <p:txBody>
          <a:bodyPr wrap="square" lIns="0" tIns="0" rIns="0" bIns="0" anchor="t">
            <a:spAutoFit/>
          </a:bodyPr>
          <a:lstStyle/>
          <a:p>
            <a:pPr algn="l"/>
            <a:r>
              <a:rPr sz="1100" b="0" i="0">
                <a:solidFill>
                  <a:srgbClr val="595959"/>
                </a:solidFill>
                <a:latin typeface="Lato"/>
              </a:rPr>
              <a:t>e.g., Accreditation, Campus Safety, Financial Aid, Grants and Contracts</a:t>
            </a:r>
          </a:p>
        </p:txBody>
      </p:sp>
      <p:sp>
        <p:nvSpPr>
          <p:cNvPr id="7" name="TextBox 6"/>
          <p:cNvSpPr txBox="1"/>
          <p:nvPr/>
        </p:nvSpPr>
        <p:spPr>
          <a:xfrm>
            <a:off x="457200" y="3200400"/>
            <a:ext cx="3611880" cy="2377440"/>
          </a:xfrm>
          <a:prstGeom prst="rect">
            <a:avLst/>
          </a:prstGeom>
          <a:noFill/>
        </p:spPr>
        <p:txBody>
          <a:bodyPr wrap="square" lIns="0" tIns="0" rIns="0" bIns="0">
            <a:spAutoFit/>
          </a:bodyPr>
          <a:lstStyle/>
          <a:p>
            <a:pPr marL="171450" indent="-171450">
              <a:spcAft>
                <a:spcPts val="400"/>
              </a:spcAft>
              <a:buChar char="•"/>
            </a:pPr>
            <a:r>
              <a:rPr sz="1100">
                <a:solidFill>
                  <a:srgbClr val="000000"/>
                </a:solidFill>
                <a:latin typeface="Lato"/>
              </a:rPr>
              <a:t>Accounting</a:t>
            </a:r>
          </a:p>
          <a:p>
            <a:pPr marL="171450" indent="-171450">
              <a:spcAft>
                <a:spcPts val="400"/>
              </a:spcAft>
              <a:buChar char="•"/>
            </a:pPr>
            <a:r>
              <a:rPr sz="1100">
                <a:solidFill>
                  <a:srgbClr val="000000"/>
                </a:solidFill>
                <a:latin typeface="Lato"/>
              </a:rPr>
              <a:t>Accreditation</a:t>
            </a:r>
          </a:p>
          <a:p>
            <a:pPr marL="171450" indent="-171450">
              <a:spcAft>
                <a:spcPts val="400"/>
              </a:spcAft>
              <a:buChar char="•"/>
            </a:pPr>
            <a:r>
              <a:rPr sz="1100">
                <a:solidFill>
                  <a:srgbClr val="000000"/>
                </a:solidFill>
                <a:latin typeface="Lato"/>
              </a:rPr>
              <a:t>Affirmative Action</a:t>
            </a:r>
          </a:p>
          <a:p>
            <a:pPr marL="171450" indent="-171450">
              <a:spcAft>
                <a:spcPts val="400"/>
              </a:spcAft>
              <a:buChar char="•"/>
            </a:pPr>
            <a:r>
              <a:rPr sz="1100">
                <a:solidFill>
                  <a:srgbClr val="000000"/>
                </a:solidFill>
                <a:latin typeface="Lato"/>
              </a:rPr>
              <a:t>Americans with Disabilities Act and Section 504</a:t>
            </a:r>
          </a:p>
          <a:p>
            <a:pPr marL="171450" indent="-171450">
              <a:spcAft>
                <a:spcPts val="400"/>
              </a:spcAft>
              <a:buChar char="•"/>
            </a:pPr>
            <a:r>
              <a:rPr sz="1100">
                <a:solidFill>
                  <a:srgbClr val="000000"/>
                </a:solidFill>
                <a:latin typeface="Lato"/>
              </a:rPr>
              <a:t>Athletics</a:t>
            </a:r>
          </a:p>
          <a:p>
            <a:pPr marL="171450" indent="-171450">
              <a:spcAft>
                <a:spcPts val="400"/>
              </a:spcAft>
              <a:buChar char="•"/>
            </a:pPr>
            <a:r>
              <a:rPr sz="1100">
                <a:solidFill>
                  <a:srgbClr val="000000"/>
                </a:solidFill>
                <a:latin typeface="Lato"/>
              </a:rPr>
              <a:t>Campus Safety / Clery Act</a:t>
            </a:r>
          </a:p>
          <a:p>
            <a:pPr marL="171450" indent="-171450">
              <a:spcAft>
                <a:spcPts val="400"/>
              </a:spcAft>
              <a:buChar char="•"/>
            </a:pPr>
            <a:r>
              <a:rPr sz="1100">
                <a:solidFill>
                  <a:srgbClr val="000000"/>
                </a:solidFill>
                <a:latin typeface="Lato"/>
              </a:rPr>
              <a:t>Conflict of Interest Policies</a:t>
            </a:r>
          </a:p>
          <a:p>
            <a:pPr marL="171450" indent="-171450">
              <a:spcAft>
                <a:spcPts val="400"/>
              </a:spcAft>
              <a:buChar char="•"/>
            </a:pPr>
            <a:r>
              <a:rPr sz="1100">
                <a:solidFill>
                  <a:srgbClr val="000000"/>
                </a:solidFill>
                <a:latin typeface="Lato"/>
              </a:rPr>
              <a:t>Copyright and Fair Use</a:t>
            </a:r>
          </a:p>
          <a:p>
            <a:pPr marL="171450" indent="-171450">
              <a:spcAft>
                <a:spcPts val="400"/>
              </a:spcAft>
              <a:buChar char="•"/>
            </a:pPr>
            <a:r>
              <a:rPr sz="1100">
                <a:solidFill>
                  <a:srgbClr val="000000"/>
                </a:solidFill>
                <a:latin typeface="Lato"/>
              </a:rPr>
              <a:t>Donors and Gifts</a:t>
            </a:r>
          </a:p>
          <a:p>
            <a:pPr marL="171450" indent="-171450">
              <a:spcAft>
                <a:spcPts val="400"/>
              </a:spcAft>
              <a:buChar char="•"/>
            </a:pPr>
            <a:r>
              <a:rPr sz="1100">
                <a:solidFill>
                  <a:srgbClr val="000000"/>
                </a:solidFill>
                <a:latin typeface="Lato"/>
              </a:rPr>
              <a:t>Environmental Health and Safety</a:t>
            </a:r>
          </a:p>
        </p:txBody>
      </p:sp>
      <p:cxnSp>
        <p:nvCxnSpPr>
          <p:cNvPr id="8" name="Connector 7"/>
          <p:cNvCxnSpPr/>
          <p:nvPr/>
        </p:nvCxnSpPr>
        <p:spPr>
          <a:xfrm>
            <a:off x="4288536"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288536" y="1463040"/>
            <a:ext cx="3611880" cy="822960"/>
          </a:xfrm>
          <a:prstGeom prst="rect">
            <a:avLst/>
          </a:prstGeom>
          <a:noFill/>
        </p:spPr>
        <p:txBody>
          <a:bodyPr wrap="square" lIns="0" tIns="0" rIns="0" bIns="0" anchor="t">
            <a:spAutoFit/>
          </a:bodyPr>
          <a:lstStyle/>
          <a:p>
            <a:pPr algn="l"/>
            <a:r>
              <a:rPr sz="4800" b="1" i="0">
                <a:solidFill>
                  <a:srgbClr val="C8102E"/>
                </a:solidFill>
                <a:latin typeface="Lato"/>
              </a:rPr>
              <a:t>~200</a:t>
            </a:r>
          </a:p>
        </p:txBody>
      </p:sp>
      <p:sp>
        <p:nvSpPr>
          <p:cNvPr id="10" name="TextBox 9"/>
          <p:cNvSpPr txBox="1"/>
          <p:nvPr/>
        </p:nvSpPr>
        <p:spPr>
          <a:xfrm>
            <a:off x="4288536" y="2331720"/>
            <a:ext cx="3611880" cy="320040"/>
          </a:xfrm>
          <a:prstGeom prst="rect">
            <a:avLst/>
          </a:prstGeom>
          <a:noFill/>
        </p:spPr>
        <p:txBody>
          <a:bodyPr wrap="square" lIns="0" tIns="0" rIns="0" bIns="0" anchor="t">
            <a:spAutoFit/>
          </a:bodyPr>
          <a:lstStyle/>
          <a:p>
            <a:pPr algn="l"/>
            <a:r>
              <a:rPr sz="1600" b="1" i="0">
                <a:solidFill>
                  <a:srgbClr val="000000"/>
                </a:solidFill>
                <a:latin typeface="Lato"/>
              </a:rPr>
              <a:t>different statutes</a:t>
            </a:r>
          </a:p>
        </p:txBody>
      </p:sp>
      <p:sp>
        <p:nvSpPr>
          <p:cNvPr id="11" name="TextBox 10"/>
          <p:cNvSpPr txBox="1"/>
          <p:nvPr/>
        </p:nvSpPr>
        <p:spPr>
          <a:xfrm>
            <a:off x="4288536" y="2697480"/>
            <a:ext cx="3611880" cy="457200"/>
          </a:xfrm>
          <a:prstGeom prst="rect">
            <a:avLst/>
          </a:prstGeom>
          <a:noFill/>
        </p:spPr>
        <p:txBody>
          <a:bodyPr wrap="square" lIns="0" tIns="0" rIns="0" bIns="0" anchor="t">
            <a:spAutoFit/>
          </a:bodyPr>
          <a:lstStyle/>
          <a:p>
            <a:pPr algn="l"/>
            <a:r>
              <a:rPr sz="1100" b="0" i="0">
                <a:solidFill>
                  <a:srgbClr val="595959"/>
                </a:solidFill>
                <a:latin typeface="Lato"/>
              </a:rPr>
              <a:t>e.g., ADA, FERPA, Higher Education Act, Title IX</a:t>
            </a:r>
          </a:p>
        </p:txBody>
      </p:sp>
      <p:sp>
        <p:nvSpPr>
          <p:cNvPr id="12" name="TextBox 11"/>
          <p:cNvSpPr txBox="1"/>
          <p:nvPr/>
        </p:nvSpPr>
        <p:spPr>
          <a:xfrm>
            <a:off x="4288536" y="3200400"/>
            <a:ext cx="3611880" cy="2377440"/>
          </a:xfrm>
          <a:prstGeom prst="rect">
            <a:avLst/>
          </a:prstGeom>
          <a:noFill/>
        </p:spPr>
        <p:txBody>
          <a:bodyPr wrap="square" lIns="0" tIns="0" rIns="0" bIns="0">
            <a:spAutoFit/>
          </a:bodyPr>
          <a:lstStyle/>
          <a:p>
            <a:pPr marL="171450" indent="-171450">
              <a:spcAft>
                <a:spcPts val="400"/>
              </a:spcAft>
              <a:buChar char="•"/>
            </a:pPr>
            <a:r>
              <a:rPr sz="1100">
                <a:solidFill>
                  <a:srgbClr val="000000"/>
                </a:solidFill>
                <a:latin typeface="Lato"/>
              </a:rPr>
              <a:t>GAAP</a:t>
            </a:r>
          </a:p>
          <a:p>
            <a:pPr marL="171450" indent="-171450">
              <a:spcAft>
                <a:spcPts val="400"/>
              </a:spcAft>
              <a:buChar char="•"/>
            </a:pPr>
            <a:r>
              <a:rPr sz="1100">
                <a:solidFill>
                  <a:srgbClr val="000000"/>
                </a:solidFill>
                <a:latin typeface="Lato"/>
              </a:rPr>
              <a:t>Higher Education Opportunity Act 2008</a:t>
            </a:r>
          </a:p>
          <a:p>
            <a:pPr marL="171450" indent="-171450">
              <a:spcAft>
                <a:spcPts val="400"/>
              </a:spcAft>
              <a:buChar char="•"/>
            </a:pPr>
            <a:r>
              <a:rPr sz="1100">
                <a:solidFill>
                  <a:srgbClr val="000000"/>
                </a:solidFill>
                <a:latin typeface="Lato"/>
              </a:rPr>
              <a:t>Americans with Disabilities Act and Section 504</a:t>
            </a:r>
          </a:p>
          <a:p>
            <a:pPr marL="171450" indent="-171450">
              <a:spcAft>
                <a:spcPts val="400"/>
              </a:spcAft>
              <a:buChar char="•"/>
            </a:pPr>
            <a:r>
              <a:rPr sz="1100">
                <a:solidFill>
                  <a:srgbClr val="000000"/>
                </a:solidFill>
                <a:latin typeface="Lato"/>
              </a:rPr>
              <a:t>Title IX</a:t>
            </a:r>
          </a:p>
          <a:p>
            <a:pPr marL="171450" indent="-171450">
              <a:spcAft>
                <a:spcPts val="400"/>
              </a:spcAft>
              <a:buChar char="•"/>
            </a:pPr>
            <a:r>
              <a:rPr sz="1100">
                <a:solidFill>
                  <a:srgbClr val="000000"/>
                </a:solidFill>
                <a:latin typeface="Lato"/>
              </a:rPr>
              <a:t>Clery Act</a:t>
            </a:r>
          </a:p>
          <a:p>
            <a:pPr marL="171450" indent="-171450">
              <a:spcAft>
                <a:spcPts val="400"/>
              </a:spcAft>
              <a:buChar char="•"/>
            </a:pPr>
            <a:r>
              <a:rPr sz="1100">
                <a:solidFill>
                  <a:srgbClr val="000000"/>
                </a:solidFill>
                <a:latin typeface="Lato"/>
              </a:rPr>
              <a:t>C.F.R. and public health</a:t>
            </a:r>
          </a:p>
          <a:p>
            <a:pPr marL="171450" indent="-171450">
              <a:spcAft>
                <a:spcPts val="400"/>
              </a:spcAft>
              <a:buChar char="•"/>
            </a:pPr>
            <a:r>
              <a:rPr sz="1100">
                <a:solidFill>
                  <a:srgbClr val="000000"/>
                </a:solidFill>
                <a:latin typeface="Lato"/>
              </a:rPr>
              <a:t>Copyright Law</a:t>
            </a:r>
          </a:p>
          <a:p>
            <a:pPr marL="171450" indent="-171450">
              <a:spcAft>
                <a:spcPts val="400"/>
              </a:spcAft>
              <a:buChar char="•"/>
            </a:pPr>
            <a:r>
              <a:rPr sz="1100">
                <a:solidFill>
                  <a:srgbClr val="000000"/>
                </a:solidFill>
                <a:latin typeface="Lato"/>
              </a:rPr>
              <a:t>Uniform Prudent Management of Funds Act</a:t>
            </a:r>
          </a:p>
        </p:txBody>
      </p:sp>
      <p:cxnSp>
        <p:nvCxnSpPr>
          <p:cNvPr id="13" name="Connector 12"/>
          <p:cNvCxnSpPr/>
          <p:nvPr/>
        </p:nvCxnSpPr>
        <p:spPr>
          <a:xfrm>
            <a:off x="8119872"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119872" y="1463040"/>
            <a:ext cx="3611880" cy="822960"/>
          </a:xfrm>
          <a:prstGeom prst="rect">
            <a:avLst/>
          </a:prstGeom>
          <a:noFill/>
        </p:spPr>
        <p:txBody>
          <a:bodyPr wrap="square" lIns="0" tIns="0" rIns="0" bIns="0" anchor="t">
            <a:spAutoFit/>
          </a:bodyPr>
          <a:lstStyle/>
          <a:p>
            <a:pPr algn="l"/>
            <a:r>
              <a:rPr sz="4800" b="1" i="0">
                <a:solidFill>
                  <a:srgbClr val="C8102E"/>
                </a:solidFill>
                <a:latin typeface="Lato"/>
              </a:rPr>
              <a:t>~20</a:t>
            </a:r>
          </a:p>
        </p:txBody>
      </p:sp>
      <p:sp>
        <p:nvSpPr>
          <p:cNvPr id="15" name="TextBox 14"/>
          <p:cNvSpPr txBox="1"/>
          <p:nvPr/>
        </p:nvSpPr>
        <p:spPr>
          <a:xfrm>
            <a:off x="8119872" y="2331720"/>
            <a:ext cx="3611880" cy="320040"/>
          </a:xfrm>
          <a:prstGeom prst="rect">
            <a:avLst/>
          </a:prstGeom>
          <a:noFill/>
        </p:spPr>
        <p:txBody>
          <a:bodyPr wrap="square" lIns="0" tIns="0" rIns="0" bIns="0" anchor="t">
            <a:spAutoFit/>
          </a:bodyPr>
          <a:lstStyle/>
          <a:p>
            <a:pPr algn="l"/>
            <a:r>
              <a:rPr sz="1600" b="1" i="0">
                <a:solidFill>
                  <a:srgbClr val="000000"/>
                </a:solidFill>
                <a:latin typeface="Lato"/>
              </a:rPr>
              <a:t>different agencies to report to</a:t>
            </a:r>
          </a:p>
        </p:txBody>
      </p:sp>
      <p:sp>
        <p:nvSpPr>
          <p:cNvPr id="16" name="TextBox 15"/>
          <p:cNvSpPr txBox="1"/>
          <p:nvPr/>
        </p:nvSpPr>
        <p:spPr>
          <a:xfrm>
            <a:off x="8119872" y="2697480"/>
            <a:ext cx="3611880" cy="457200"/>
          </a:xfrm>
          <a:prstGeom prst="rect">
            <a:avLst/>
          </a:prstGeom>
          <a:noFill/>
        </p:spPr>
        <p:txBody>
          <a:bodyPr wrap="square" lIns="0" tIns="0" rIns="0" bIns="0" anchor="t">
            <a:spAutoFit/>
          </a:bodyPr>
          <a:lstStyle/>
          <a:p>
            <a:pPr algn="l"/>
            <a:r>
              <a:rPr sz="1100" b="0" i="0">
                <a:solidFill>
                  <a:srgbClr val="595959"/>
                </a:solidFill>
                <a:latin typeface="Lato"/>
              </a:rPr>
              <a:t>e.g., Dept. of Education, NSF, NIH</a:t>
            </a:r>
          </a:p>
        </p:txBody>
      </p:sp>
      <p:sp>
        <p:nvSpPr>
          <p:cNvPr id="17" name="TextBox 16"/>
          <p:cNvSpPr txBox="1"/>
          <p:nvPr/>
        </p:nvSpPr>
        <p:spPr>
          <a:xfrm>
            <a:off x="8119872" y="3200400"/>
            <a:ext cx="3611880" cy="2377440"/>
          </a:xfrm>
          <a:prstGeom prst="rect">
            <a:avLst/>
          </a:prstGeom>
          <a:noFill/>
        </p:spPr>
        <p:txBody>
          <a:bodyPr wrap="square" lIns="0" tIns="0" rIns="0" bIns="0">
            <a:spAutoFit/>
          </a:bodyPr>
          <a:lstStyle/>
          <a:p>
            <a:pPr marL="171450" indent="-171450">
              <a:spcAft>
                <a:spcPts val="400"/>
              </a:spcAft>
              <a:buChar char="•"/>
            </a:pPr>
            <a:r>
              <a:rPr sz="1100">
                <a:solidFill>
                  <a:srgbClr val="000000"/>
                </a:solidFill>
                <a:latin typeface="Lato"/>
              </a:rPr>
              <a:t>Department of Education</a:t>
            </a:r>
          </a:p>
          <a:p>
            <a:pPr marL="171450" indent="-171450">
              <a:spcAft>
                <a:spcPts val="400"/>
              </a:spcAft>
              <a:buChar char="•"/>
            </a:pPr>
            <a:r>
              <a:rPr sz="1100">
                <a:solidFill>
                  <a:srgbClr val="000000"/>
                </a:solidFill>
                <a:latin typeface="Lato"/>
              </a:rPr>
              <a:t>Department of Justice</a:t>
            </a:r>
          </a:p>
          <a:p>
            <a:pPr marL="171450" indent="-171450">
              <a:spcAft>
                <a:spcPts val="400"/>
              </a:spcAft>
              <a:buChar char="•"/>
            </a:pPr>
            <a:r>
              <a:rPr sz="1100">
                <a:solidFill>
                  <a:srgbClr val="000000"/>
                </a:solidFill>
                <a:latin typeface="Lato"/>
              </a:rPr>
              <a:t>Financial Accounting Standards Board</a:t>
            </a:r>
          </a:p>
          <a:p>
            <a:pPr marL="171450" indent="-171450">
              <a:spcAft>
                <a:spcPts val="400"/>
              </a:spcAft>
              <a:buChar char="•"/>
            </a:pPr>
            <a:r>
              <a:rPr sz="1100">
                <a:solidFill>
                  <a:srgbClr val="000000"/>
                </a:solidFill>
                <a:latin typeface="Lato"/>
              </a:rPr>
              <a:t>National Science Foundation</a:t>
            </a:r>
          </a:p>
          <a:p>
            <a:pPr marL="171450" indent="-171450">
              <a:spcAft>
                <a:spcPts val="400"/>
              </a:spcAft>
              <a:buChar char="•"/>
            </a:pPr>
            <a:r>
              <a:rPr sz="1100">
                <a:solidFill>
                  <a:srgbClr val="000000"/>
                </a:solidFill>
                <a:latin typeface="Lato"/>
              </a:rPr>
              <a:t>National Institutes of Health</a:t>
            </a:r>
          </a:p>
          <a:p>
            <a:pPr marL="171450" indent="-171450">
              <a:spcAft>
                <a:spcPts val="400"/>
              </a:spcAft>
              <a:buChar char="•"/>
            </a:pPr>
            <a:r>
              <a:rPr sz="1100">
                <a:solidFill>
                  <a:srgbClr val="000000"/>
                </a:solidFill>
                <a:latin typeface="Lato"/>
              </a:rPr>
              <a:t>Public Health Agency</a:t>
            </a:r>
          </a:p>
          <a:p>
            <a:pPr marL="171450" indent="-171450">
              <a:spcAft>
                <a:spcPts val="400"/>
              </a:spcAft>
              <a:buChar char="•"/>
            </a:pPr>
            <a:r>
              <a:rPr sz="1100">
                <a:solidFill>
                  <a:srgbClr val="000000"/>
                </a:solidFill>
                <a:latin typeface="Lato"/>
              </a:rPr>
              <a:t>FDA</a:t>
            </a:r>
          </a:p>
        </p:txBody>
      </p:sp>
      <p:sp>
        <p:nvSpPr>
          <p:cNvPr id="18" name="TextBox 17"/>
          <p:cNvSpPr txBox="1"/>
          <p:nvPr/>
        </p:nvSpPr>
        <p:spPr>
          <a:xfrm>
            <a:off x="457200" y="5577840"/>
            <a:ext cx="11274552" cy="685800"/>
          </a:xfrm>
          <a:prstGeom prst="rect">
            <a:avLst/>
          </a:prstGeom>
          <a:noFill/>
        </p:spPr>
        <p:txBody>
          <a:bodyPr wrap="square" lIns="0" tIns="0" rIns="0" bIns="0" anchor="ctr">
            <a:spAutoFit/>
          </a:bodyPr>
          <a:lstStyle/>
          <a:p>
            <a:pPr algn="l"/>
            <a:r>
              <a:rPr sz="1200" b="0" i="1">
                <a:solidFill>
                  <a:srgbClr val="000000"/>
                </a:solidFill>
                <a:latin typeface="Lato"/>
              </a:rPr>
              <a:t>“HEA totals nearly 1,000 pages; there are over 1,000 pages in the official Code of Federal Regulations devoted to higher education… on average every workday ED issues one new sub-regulatory guidance directive or clarification… No one has taken the time to ‘weed the garden.’” — Senator Lamar Alexander</a:t>
            </a:r>
          </a:p>
        </p:txBody>
      </p:sp>
      <p:sp>
        <p:nvSpPr>
          <p:cNvPr id="19" name="TextBox 1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Financial Affairs; Senator Lamar Alexander</a:t>
            </a:r>
          </a:p>
        </p:txBody>
      </p:sp>
      <p:sp>
        <p:nvSpPr>
          <p:cNvPr id="20"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15</a:t>
            </a:fld>
            <a:endParaRPr lang="en-US" sz="900" b="1">
              <a:solidFill>
                <a:srgbClr val="000000"/>
              </a:solidFill>
              <a:latin typeface="Lat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U.S. policy uncertainty hit a record in April 2025 (725) and remains well above its average</a:t>
            </a:r>
          </a:p>
        </p:txBody>
      </p:sp>
      <p:sp>
        <p:nvSpPr>
          <p:cNvPr id="3" name="TextBox 2"/>
          <p:cNvSpPr txBox="1"/>
          <p:nvPr/>
        </p:nvSpPr>
        <p:spPr>
          <a:xfrm>
            <a:off x="457200" y="1115568"/>
            <a:ext cx="11274552" cy="274320"/>
          </a:xfrm>
          <a:prstGeom prst="rect">
            <a:avLst/>
          </a:prstGeom>
          <a:noFill/>
        </p:spPr>
        <p:txBody>
          <a:bodyPr wrap="square" lIns="0" tIns="0" rIns="0" bIns="0" anchor="t">
            <a:spAutoFit/>
          </a:bodyPr>
          <a:lstStyle/>
          <a:p>
            <a:pPr algn="l"/>
            <a:r>
              <a:rPr sz="1400" b="0" i="0">
                <a:solidFill>
                  <a:srgbClr val="595959"/>
                </a:solidFill>
                <a:latin typeface="Lato"/>
              </a:rPr>
              <a:t>U.S. Economic Policy Uncertainty Index (news-based), monthly, January 1985 to August 2026; latest reading 219</a:t>
            </a:r>
          </a:p>
        </p:txBody>
      </p:sp>
      <p:graphicFrame>
        <p:nvGraphicFramePr>
          <p:cNvPr id="4" name="Chart 3"/>
          <p:cNvGraphicFramePr>
            <a:graphicFrameLocks noGrp="1"/>
          </p:cNvGraphicFramePr>
          <p:nvPr/>
        </p:nvGraphicFramePr>
        <p:xfrm>
          <a:off x="457200" y="1554480"/>
          <a:ext cx="11274552" cy="457200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710696"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1985</a:t>
            </a:r>
          </a:p>
        </p:txBody>
      </p:sp>
      <p:sp>
        <p:nvSpPr>
          <p:cNvPr id="6" name="TextBox 5"/>
          <p:cNvSpPr txBox="1"/>
          <p:nvPr/>
        </p:nvSpPr>
        <p:spPr>
          <a:xfrm>
            <a:off x="1887759"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1990</a:t>
            </a:r>
          </a:p>
        </p:txBody>
      </p:sp>
      <p:sp>
        <p:nvSpPr>
          <p:cNvPr id="7" name="TextBox 6"/>
          <p:cNvSpPr txBox="1"/>
          <p:nvPr/>
        </p:nvSpPr>
        <p:spPr>
          <a:xfrm>
            <a:off x="3064822"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1995</a:t>
            </a:r>
          </a:p>
        </p:txBody>
      </p:sp>
      <p:sp>
        <p:nvSpPr>
          <p:cNvPr id="8" name="TextBox 7"/>
          <p:cNvSpPr txBox="1"/>
          <p:nvPr/>
        </p:nvSpPr>
        <p:spPr>
          <a:xfrm>
            <a:off x="4241886"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2000</a:t>
            </a:r>
          </a:p>
        </p:txBody>
      </p:sp>
      <p:sp>
        <p:nvSpPr>
          <p:cNvPr id="9" name="TextBox 8"/>
          <p:cNvSpPr txBox="1"/>
          <p:nvPr/>
        </p:nvSpPr>
        <p:spPr>
          <a:xfrm>
            <a:off x="5418949"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2005</a:t>
            </a:r>
          </a:p>
        </p:txBody>
      </p:sp>
      <p:sp>
        <p:nvSpPr>
          <p:cNvPr id="10" name="TextBox 9"/>
          <p:cNvSpPr txBox="1"/>
          <p:nvPr/>
        </p:nvSpPr>
        <p:spPr>
          <a:xfrm>
            <a:off x="6596012"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2010</a:t>
            </a:r>
          </a:p>
        </p:txBody>
      </p:sp>
      <p:sp>
        <p:nvSpPr>
          <p:cNvPr id="11" name="TextBox 10"/>
          <p:cNvSpPr txBox="1"/>
          <p:nvPr/>
        </p:nvSpPr>
        <p:spPr>
          <a:xfrm>
            <a:off x="7773075"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2015</a:t>
            </a:r>
          </a:p>
        </p:txBody>
      </p:sp>
      <p:sp>
        <p:nvSpPr>
          <p:cNvPr id="12" name="TextBox 11"/>
          <p:cNvSpPr txBox="1"/>
          <p:nvPr/>
        </p:nvSpPr>
        <p:spPr>
          <a:xfrm>
            <a:off x="8950139"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2020</a:t>
            </a:r>
          </a:p>
        </p:txBody>
      </p:sp>
      <p:sp>
        <p:nvSpPr>
          <p:cNvPr id="13" name="TextBox 12"/>
          <p:cNvSpPr txBox="1"/>
          <p:nvPr/>
        </p:nvSpPr>
        <p:spPr>
          <a:xfrm>
            <a:off x="10127202"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2025</a:t>
            </a:r>
          </a:p>
        </p:txBody>
      </p:sp>
      <p:sp>
        <p:nvSpPr>
          <p:cNvPr id="14" name="Oval 13"/>
          <p:cNvSpPr/>
          <p:nvPr/>
        </p:nvSpPr>
        <p:spPr>
          <a:xfrm>
            <a:off x="1636973" y="4803699"/>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flipV="1">
            <a:off x="1678121" y="4341927"/>
            <a:ext cx="0" cy="5029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66641" y="3957879"/>
            <a:ext cx="822960" cy="384048"/>
          </a:xfrm>
          <a:prstGeom prst="rect">
            <a:avLst/>
          </a:prstGeom>
          <a:noFill/>
        </p:spPr>
        <p:txBody>
          <a:bodyPr wrap="square" lIns="0" tIns="0" rIns="0" bIns="0" anchor="b">
            <a:spAutoFit/>
          </a:bodyPr>
          <a:lstStyle/>
          <a:p>
            <a:pPr algn="ctr"/>
            <a:r>
              <a:rPr sz="900" b="0" i="0">
                <a:solidFill>
                  <a:srgbClr val="000000"/>
                </a:solidFill>
                <a:latin typeface="Lato"/>
              </a:rPr>
              <a:t>Black Monday</a:t>
            </a:r>
          </a:p>
        </p:txBody>
      </p:sp>
      <p:sp>
        <p:nvSpPr>
          <p:cNvPr id="17" name="Oval 16"/>
          <p:cNvSpPr/>
          <p:nvPr/>
        </p:nvSpPr>
        <p:spPr>
          <a:xfrm>
            <a:off x="2402064" y="4649675"/>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8" name="Connector 17"/>
          <p:cNvCxnSpPr/>
          <p:nvPr/>
        </p:nvCxnSpPr>
        <p:spPr>
          <a:xfrm flipV="1">
            <a:off x="2443212" y="4005023"/>
            <a:ext cx="0" cy="68580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986012" y="3620975"/>
            <a:ext cx="914400" cy="384048"/>
          </a:xfrm>
          <a:prstGeom prst="rect">
            <a:avLst/>
          </a:prstGeom>
          <a:noFill/>
        </p:spPr>
        <p:txBody>
          <a:bodyPr wrap="square" lIns="0" tIns="0" rIns="0" bIns="0" anchor="b">
            <a:spAutoFit/>
          </a:bodyPr>
          <a:lstStyle/>
          <a:p>
            <a:pPr algn="ctr"/>
            <a:r>
              <a:rPr sz="900" b="0" i="0">
                <a:solidFill>
                  <a:srgbClr val="000000"/>
                </a:solidFill>
                <a:latin typeface="Lato"/>
              </a:rPr>
              <a:t>First Gulf War</a:t>
            </a:r>
          </a:p>
        </p:txBody>
      </p:sp>
      <p:sp>
        <p:nvSpPr>
          <p:cNvPr id="20" name="Oval 19"/>
          <p:cNvSpPr/>
          <p:nvPr/>
        </p:nvSpPr>
        <p:spPr>
          <a:xfrm>
            <a:off x="4913132" y="4335332"/>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1" name="Connector 20"/>
          <p:cNvCxnSpPr/>
          <p:nvPr/>
        </p:nvCxnSpPr>
        <p:spPr>
          <a:xfrm flipV="1">
            <a:off x="4954280" y="3873560"/>
            <a:ext cx="0" cy="5029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679960" y="3489512"/>
            <a:ext cx="548640" cy="384048"/>
          </a:xfrm>
          <a:prstGeom prst="rect">
            <a:avLst/>
          </a:prstGeom>
          <a:noFill/>
        </p:spPr>
        <p:txBody>
          <a:bodyPr wrap="square" lIns="0" tIns="0" rIns="0" bIns="0" anchor="b">
            <a:spAutoFit/>
          </a:bodyPr>
          <a:lstStyle/>
          <a:p>
            <a:pPr algn="ctr"/>
            <a:r>
              <a:rPr sz="900" b="0" i="0">
                <a:solidFill>
                  <a:srgbClr val="000000"/>
                </a:solidFill>
                <a:latin typeface="Lato"/>
              </a:rPr>
              <a:t>9/11</a:t>
            </a:r>
          </a:p>
        </p:txBody>
      </p:sp>
      <p:sp>
        <p:nvSpPr>
          <p:cNvPr id="23" name="Oval 22"/>
          <p:cNvSpPr/>
          <p:nvPr/>
        </p:nvSpPr>
        <p:spPr>
          <a:xfrm>
            <a:off x="6580638" y="4477029"/>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4" name="Connector 23"/>
          <p:cNvCxnSpPr/>
          <p:nvPr/>
        </p:nvCxnSpPr>
        <p:spPr>
          <a:xfrm flipH="1" flipV="1">
            <a:off x="6576066" y="4060977"/>
            <a:ext cx="45720" cy="45720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79954" y="3676929"/>
            <a:ext cx="914400" cy="384048"/>
          </a:xfrm>
          <a:prstGeom prst="rect">
            <a:avLst/>
          </a:prstGeom>
          <a:noFill/>
        </p:spPr>
        <p:txBody>
          <a:bodyPr wrap="square" lIns="0" tIns="0" rIns="0" bIns="0" anchor="b">
            <a:spAutoFit/>
          </a:bodyPr>
          <a:lstStyle/>
          <a:p>
            <a:pPr algn="r"/>
            <a:r>
              <a:rPr sz="900" b="0" i="0">
                <a:solidFill>
                  <a:srgbClr val="000000"/>
                </a:solidFill>
                <a:latin typeface="Lato"/>
              </a:rPr>
              <a:t>Lehman and TARP</a:t>
            </a:r>
          </a:p>
        </p:txBody>
      </p:sp>
      <p:sp>
        <p:nvSpPr>
          <p:cNvPr id="26" name="Oval 25"/>
          <p:cNvSpPr/>
          <p:nvPr/>
        </p:nvSpPr>
        <p:spPr>
          <a:xfrm>
            <a:off x="7247641" y="4285492"/>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7" name="Connector 26"/>
          <p:cNvCxnSpPr/>
          <p:nvPr/>
        </p:nvCxnSpPr>
        <p:spPr>
          <a:xfrm flipV="1">
            <a:off x="7288789" y="3823720"/>
            <a:ext cx="0" cy="5029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31589" y="3439672"/>
            <a:ext cx="914400" cy="384048"/>
          </a:xfrm>
          <a:prstGeom prst="rect">
            <a:avLst/>
          </a:prstGeom>
          <a:noFill/>
        </p:spPr>
        <p:txBody>
          <a:bodyPr wrap="square" lIns="0" tIns="0" rIns="0" bIns="0" anchor="b">
            <a:spAutoFit/>
          </a:bodyPr>
          <a:lstStyle/>
          <a:p>
            <a:pPr algn="ctr"/>
            <a:r>
              <a:rPr sz="900" b="0" i="0">
                <a:solidFill>
                  <a:srgbClr val="000000"/>
                </a:solidFill>
                <a:latin typeface="Lato"/>
              </a:rPr>
              <a:t>Debt ceiling dispute</a:t>
            </a:r>
          </a:p>
        </p:txBody>
      </p:sp>
      <p:sp>
        <p:nvSpPr>
          <p:cNvPr id="29" name="Oval 28"/>
          <p:cNvSpPr/>
          <p:nvPr/>
        </p:nvSpPr>
        <p:spPr>
          <a:xfrm>
            <a:off x="8483557" y="4420660"/>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0" name="Connector 29"/>
          <p:cNvCxnSpPr/>
          <p:nvPr/>
        </p:nvCxnSpPr>
        <p:spPr>
          <a:xfrm flipV="1">
            <a:off x="8524705" y="3821728"/>
            <a:ext cx="45720" cy="64008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58945" y="3437680"/>
            <a:ext cx="822960" cy="384048"/>
          </a:xfrm>
          <a:prstGeom prst="rect">
            <a:avLst/>
          </a:prstGeom>
          <a:noFill/>
        </p:spPr>
        <p:txBody>
          <a:bodyPr wrap="square" lIns="0" tIns="0" rIns="0" bIns="0" anchor="b">
            <a:spAutoFit/>
          </a:bodyPr>
          <a:lstStyle/>
          <a:p>
            <a:pPr algn="ctr"/>
            <a:r>
              <a:rPr sz="900" b="0" i="0">
                <a:solidFill>
                  <a:srgbClr val="000000"/>
                </a:solidFill>
                <a:latin typeface="Lato"/>
              </a:rPr>
              <a:t>2016 election</a:t>
            </a:r>
          </a:p>
        </p:txBody>
      </p:sp>
      <p:sp>
        <p:nvSpPr>
          <p:cNvPr id="32" name="Oval 31"/>
          <p:cNvSpPr/>
          <p:nvPr/>
        </p:nvSpPr>
        <p:spPr>
          <a:xfrm>
            <a:off x="9307501" y="3278291"/>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3" name="Connector 32"/>
          <p:cNvCxnSpPr/>
          <p:nvPr/>
        </p:nvCxnSpPr>
        <p:spPr>
          <a:xfrm flipH="1" flipV="1">
            <a:off x="8525689" y="3273719"/>
            <a:ext cx="822960" cy="457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446697" y="2889671"/>
            <a:ext cx="1097280" cy="384048"/>
          </a:xfrm>
          <a:prstGeom prst="rect">
            <a:avLst/>
          </a:prstGeom>
          <a:noFill/>
        </p:spPr>
        <p:txBody>
          <a:bodyPr wrap="square" lIns="0" tIns="0" rIns="0" bIns="0" anchor="b">
            <a:spAutoFit/>
          </a:bodyPr>
          <a:lstStyle/>
          <a:p>
            <a:pPr algn="r"/>
            <a:r>
              <a:rPr sz="900" b="0" i="0">
                <a:solidFill>
                  <a:srgbClr val="000000"/>
                </a:solidFill>
                <a:latin typeface="Lato"/>
              </a:rPr>
              <a:t>COVID-19 pandemic</a:t>
            </a:r>
          </a:p>
        </p:txBody>
      </p:sp>
      <p:sp>
        <p:nvSpPr>
          <p:cNvPr id="35" name="Oval 34"/>
          <p:cNvSpPr/>
          <p:nvPr/>
        </p:nvSpPr>
        <p:spPr>
          <a:xfrm>
            <a:off x="10464947" y="2268004"/>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6" name="Connector 35"/>
          <p:cNvCxnSpPr/>
          <p:nvPr/>
        </p:nvCxnSpPr>
        <p:spPr>
          <a:xfrm flipH="1">
            <a:off x="10231775" y="2309152"/>
            <a:ext cx="274320" cy="13716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695583" y="2446312"/>
            <a:ext cx="1554480" cy="384048"/>
          </a:xfrm>
          <a:prstGeom prst="rect">
            <a:avLst/>
          </a:prstGeom>
          <a:noFill/>
        </p:spPr>
        <p:txBody>
          <a:bodyPr wrap="square" lIns="0" tIns="0" rIns="0" bIns="0" anchor="t">
            <a:spAutoFit/>
          </a:bodyPr>
          <a:lstStyle/>
          <a:p>
            <a:pPr algn="r"/>
            <a:r>
              <a:rPr sz="900" b="1" i="0">
                <a:solidFill>
                  <a:srgbClr val="C8102E"/>
                </a:solidFill>
                <a:latin typeface="Lato"/>
              </a:rPr>
              <a:t>April 2025: tariff announcements (725, record)</a:t>
            </a:r>
          </a:p>
        </p:txBody>
      </p:sp>
      <p:sp>
        <p:nvSpPr>
          <p:cNvPr id="38" name="Oval 37"/>
          <p:cNvSpPr/>
          <p:nvPr/>
        </p:nvSpPr>
        <p:spPr>
          <a:xfrm>
            <a:off x="10778830" y="4580188"/>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9" name="Connector 38"/>
          <p:cNvCxnSpPr/>
          <p:nvPr/>
        </p:nvCxnSpPr>
        <p:spPr>
          <a:xfrm>
            <a:off x="10819978" y="4621336"/>
            <a:ext cx="128016" cy="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10929706" y="4621336"/>
            <a:ext cx="685800" cy="384048"/>
          </a:xfrm>
          <a:prstGeom prst="rect">
            <a:avLst/>
          </a:prstGeom>
          <a:noFill/>
        </p:spPr>
        <p:txBody>
          <a:bodyPr wrap="square" lIns="0" tIns="0" rIns="0" bIns="0" anchor="t">
            <a:spAutoFit/>
          </a:bodyPr>
          <a:lstStyle/>
          <a:p>
            <a:pPr algn="l"/>
            <a:r>
              <a:rPr sz="900" b="1" i="0">
                <a:solidFill>
                  <a:srgbClr val="C8102E"/>
                </a:solidFill>
                <a:latin typeface="Lato"/>
              </a:rPr>
              <a:t>Aug 2026</a:t>
            </a:r>
          </a:p>
          <a:p>
            <a:pPr algn="l"/>
            <a:r>
              <a:rPr sz="900" b="1" i="0">
                <a:solidFill>
                  <a:srgbClr val="C8102E"/>
                </a:solidFill>
                <a:latin typeface="Lato"/>
              </a:rPr>
              <a:t>219</a:t>
            </a:r>
          </a:p>
        </p:txBody>
      </p:sp>
      <p:sp>
        <p:nvSpPr>
          <p:cNvPr id="41" name="TextBox 40"/>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Baker, Bloom and Davis, Economic Policy Uncertainty (policyuncertainty.com), news-based U.S. index, data through August 2026</a:t>
            </a:r>
          </a:p>
        </p:txBody>
      </p:sp>
      <p:sp>
        <p:nvSpPr>
          <p:cNvPr id="42" name="TextBox 41"/>
          <p:cNvSpPr txBox="1"/>
          <p:nvPr/>
        </p:nvSpPr>
        <p:spPr>
          <a:xfrm>
            <a:off x="457200" y="6153912"/>
            <a:ext cx="11274552" cy="246888"/>
          </a:xfrm>
          <a:prstGeom prst="rect">
            <a:avLst/>
          </a:prstGeom>
          <a:noFill/>
        </p:spPr>
        <p:txBody>
          <a:bodyPr wrap="square" lIns="0" tIns="0" rIns="0" bIns="0" anchor="b">
            <a:spAutoFit/>
          </a:bodyPr>
          <a:lstStyle/>
          <a:p>
            <a:pPr algn="l"/>
            <a:r>
              <a:rPr sz="700" b="0" i="0">
                <a:solidFill>
                  <a:srgbClr val="595959"/>
                </a:solidFill>
                <a:latin typeface="Lato"/>
              </a:rPr>
              <a:t>The index measures the frequency of newspaper articles that discuss economic policy uncertainty (Baker, Bloom and Davis). Dashed line is the average of all months from January 1985 to August 2026. Event labels mark the month of each peak or the start of each episode.</a:t>
            </a:r>
          </a:p>
        </p:txBody>
      </p:sp>
      <p:sp>
        <p:nvSpPr>
          <p:cNvPr id="43"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16</a:t>
            </a:fld>
            <a:endParaRPr lang="en-US" sz="900" b="1">
              <a:solidFill>
                <a:srgbClr val="000000"/>
              </a:solidFill>
              <a:latin typeface="Lat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Global policy uncertainty also peaked in April 2025 (621) and stays above its 151 average</a:t>
            </a:r>
          </a:p>
        </p:txBody>
      </p:sp>
      <p:sp>
        <p:nvSpPr>
          <p:cNvPr id="3" name="TextBox 2"/>
          <p:cNvSpPr txBox="1"/>
          <p:nvPr/>
        </p:nvSpPr>
        <p:spPr>
          <a:xfrm>
            <a:off x="457200" y="1115568"/>
            <a:ext cx="11274552" cy="274320"/>
          </a:xfrm>
          <a:prstGeom prst="rect">
            <a:avLst/>
          </a:prstGeom>
          <a:noFill/>
        </p:spPr>
        <p:txBody>
          <a:bodyPr wrap="square" lIns="0" tIns="0" rIns="0" bIns="0" anchor="t">
            <a:spAutoFit/>
          </a:bodyPr>
          <a:lstStyle/>
          <a:p>
            <a:pPr algn="l"/>
            <a:r>
              <a:rPr sz="1400" b="0" i="0">
                <a:solidFill>
                  <a:srgbClr val="595959"/>
                </a:solidFill>
                <a:latin typeface="Lato"/>
              </a:rPr>
              <a:t>Global Economic Policy Uncertainty Index (current-dollar GDP weights), monthly, January 1997 to July 2026; latest reading 242</a:t>
            </a:r>
          </a:p>
        </p:txBody>
      </p:sp>
      <p:graphicFrame>
        <p:nvGraphicFramePr>
          <p:cNvPr id="4" name="Chart 3"/>
          <p:cNvGraphicFramePr>
            <a:graphicFrameLocks noGrp="1"/>
          </p:cNvGraphicFramePr>
          <p:nvPr/>
        </p:nvGraphicFramePr>
        <p:xfrm>
          <a:off x="457200" y="1554480"/>
          <a:ext cx="11274552" cy="457200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714702"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1997</a:t>
            </a:r>
          </a:p>
        </p:txBody>
      </p:sp>
      <p:sp>
        <p:nvSpPr>
          <p:cNvPr id="6" name="TextBox 5"/>
          <p:cNvSpPr txBox="1"/>
          <p:nvPr/>
        </p:nvSpPr>
        <p:spPr>
          <a:xfrm>
            <a:off x="1709404"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2000</a:t>
            </a:r>
          </a:p>
        </p:txBody>
      </p:sp>
      <p:sp>
        <p:nvSpPr>
          <p:cNvPr id="7" name="TextBox 6"/>
          <p:cNvSpPr txBox="1"/>
          <p:nvPr/>
        </p:nvSpPr>
        <p:spPr>
          <a:xfrm>
            <a:off x="2704105"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2003</a:t>
            </a:r>
          </a:p>
        </p:txBody>
      </p:sp>
      <p:sp>
        <p:nvSpPr>
          <p:cNvPr id="8" name="TextBox 7"/>
          <p:cNvSpPr txBox="1"/>
          <p:nvPr/>
        </p:nvSpPr>
        <p:spPr>
          <a:xfrm>
            <a:off x="3698806"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2006</a:t>
            </a:r>
          </a:p>
        </p:txBody>
      </p:sp>
      <p:sp>
        <p:nvSpPr>
          <p:cNvPr id="9" name="TextBox 8"/>
          <p:cNvSpPr txBox="1"/>
          <p:nvPr/>
        </p:nvSpPr>
        <p:spPr>
          <a:xfrm>
            <a:off x="4693508"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2009</a:t>
            </a:r>
          </a:p>
        </p:txBody>
      </p:sp>
      <p:sp>
        <p:nvSpPr>
          <p:cNvPr id="10" name="TextBox 9"/>
          <p:cNvSpPr txBox="1"/>
          <p:nvPr/>
        </p:nvSpPr>
        <p:spPr>
          <a:xfrm>
            <a:off x="5688209"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2012</a:t>
            </a:r>
          </a:p>
        </p:txBody>
      </p:sp>
      <p:sp>
        <p:nvSpPr>
          <p:cNvPr id="11" name="TextBox 10"/>
          <p:cNvSpPr txBox="1"/>
          <p:nvPr/>
        </p:nvSpPr>
        <p:spPr>
          <a:xfrm>
            <a:off x="6682910"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2015</a:t>
            </a:r>
          </a:p>
        </p:txBody>
      </p:sp>
      <p:sp>
        <p:nvSpPr>
          <p:cNvPr id="12" name="TextBox 11"/>
          <p:cNvSpPr txBox="1"/>
          <p:nvPr/>
        </p:nvSpPr>
        <p:spPr>
          <a:xfrm>
            <a:off x="7677612"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2018</a:t>
            </a:r>
          </a:p>
        </p:txBody>
      </p:sp>
      <p:sp>
        <p:nvSpPr>
          <p:cNvPr id="13" name="TextBox 12"/>
          <p:cNvSpPr txBox="1"/>
          <p:nvPr/>
        </p:nvSpPr>
        <p:spPr>
          <a:xfrm>
            <a:off x="8672313"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2021</a:t>
            </a:r>
          </a:p>
        </p:txBody>
      </p:sp>
      <p:sp>
        <p:nvSpPr>
          <p:cNvPr id="14" name="TextBox 13"/>
          <p:cNvSpPr txBox="1"/>
          <p:nvPr/>
        </p:nvSpPr>
        <p:spPr>
          <a:xfrm>
            <a:off x="9667014" y="5678424"/>
            <a:ext cx="640080" cy="182880"/>
          </a:xfrm>
          <a:prstGeom prst="rect">
            <a:avLst/>
          </a:prstGeom>
          <a:noFill/>
        </p:spPr>
        <p:txBody>
          <a:bodyPr wrap="square" lIns="0" tIns="0" rIns="0" bIns="0" anchor="t">
            <a:spAutoFit/>
          </a:bodyPr>
          <a:lstStyle/>
          <a:p>
            <a:pPr algn="ctr"/>
            <a:r>
              <a:rPr sz="1100" b="0" i="0">
                <a:solidFill>
                  <a:srgbClr val="000000"/>
                </a:solidFill>
                <a:latin typeface="Lato"/>
              </a:rPr>
              <a:t>2024</a:t>
            </a:r>
          </a:p>
        </p:txBody>
      </p:sp>
      <p:sp>
        <p:nvSpPr>
          <p:cNvPr id="15" name="Oval 14"/>
          <p:cNvSpPr/>
          <p:nvPr/>
        </p:nvSpPr>
        <p:spPr>
          <a:xfrm>
            <a:off x="2540908" y="4639710"/>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6" name="Connector 15"/>
          <p:cNvCxnSpPr/>
          <p:nvPr/>
        </p:nvCxnSpPr>
        <p:spPr>
          <a:xfrm flipV="1">
            <a:off x="2582056" y="4132218"/>
            <a:ext cx="0" cy="54864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307736" y="3748170"/>
            <a:ext cx="548640" cy="384048"/>
          </a:xfrm>
          <a:prstGeom prst="rect">
            <a:avLst/>
          </a:prstGeom>
          <a:noFill/>
        </p:spPr>
        <p:txBody>
          <a:bodyPr wrap="square" lIns="0" tIns="0" rIns="0" bIns="0" anchor="b">
            <a:spAutoFit/>
          </a:bodyPr>
          <a:lstStyle/>
          <a:p>
            <a:pPr algn="ctr"/>
            <a:r>
              <a:rPr sz="900" b="0" i="0">
                <a:solidFill>
                  <a:srgbClr val="000000"/>
                </a:solidFill>
                <a:latin typeface="Lato"/>
              </a:rPr>
              <a:t>9/11</a:t>
            </a:r>
          </a:p>
        </p:txBody>
      </p:sp>
      <p:sp>
        <p:nvSpPr>
          <p:cNvPr id="18" name="Oval 17"/>
          <p:cNvSpPr/>
          <p:nvPr/>
        </p:nvSpPr>
        <p:spPr>
          <a:xfrm>
            <a:off x="3038258" y="4672761"/>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9" name="Connector 18"/>
          <p:cNvCxnSpPr/>
          <p:nvPr/>
        </p:nvCxnSpPr>
        <p:spPr>
          <a:xfrm flipV="1">
            <a:off x="3079406" y="4302429"/>
            <a:ext cx="0" cy="41148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713646" y="3918381"/>
            <a:ext cx="731520" cy="384048"/>
          </a:xfrm>
          <a:prstGeom prst="rect">
            <a:avLst/>
          </a:prstGeom>
          <a:noFill/>
        </p:spPr>
        <p:txBody>
          <a:bodyPr wrap="square" lIns="0" tIns="0" rIns="0" bIns="0" anchor="b">
            <a:spAutoFit/>
          </a:bodyPr>
          <a:lstStyle/>
          <a:p>
            <a:pPr algn="ctr"/>
            <a:r>
              <a:rPr sz="900" b="0" i="0">
                <a:solidFill>
                  <a:srgbClr val="000000"/>
                </a:solidFill>
                <a:latin typeface="Lato"/>
              </a:rPr>
              <a:t>Iraq War</a:t>
            </a:r>
          </a:p>
        </p:txBody>
      </p:sp>
      <p:sp>
        <p:nvSpPr>
          <p:cNvPr id="21" name="Oval 20"/>
          <p:cNvSpPr/>
          <p:nvPr/>
        </p:nvSpPr>
        <p:spPr>
          <a:xfrm>
            <a:off x="4889508" y="4497555"/>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2" name="Connector 21"/>
          <p:cNvCxnSpPr/>
          <p:nvPr/>
        </p:nvCxnSpPr>
        <p:spPr>
          <a:xfrm flipH="1" flipV="1">
            <a:off x="4884936" y="4035783"/>
            <a:ext cx="45720" cy="5029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714504" y="3651735"/>
            <a:ext cx="1188720" cy="384048"/>
          </a:xfrm>
          <a:prstGeom prst="rect">
            <a:avLst/>
          </a:prstGeom>
          <a:noFill/>
        </p:spPr>
        <p:txBody>
          <a:bodyPr wrap="square" lIns="0" tIns="0" rIns="0" bIns="0" anchor="b">
            <a:spAutoFit/>
          </a:bodyPr>
          <a:lstStyle/>
          <a:p>
            <a:pPr algn="r"/>
            <a:r>
              <a:rPr sz="900" b="0" i="0">
                <a:solidFill>
                  <a:srgbClr val="000000"/>
                </a:solidFill>
                <a:latin typeface="Lato"/>
              </a:rPr>
              <a:t>Lehman failure and financial crisis</a:t>
            </a:r>
          </a:p>
        </p:txBody>
      </p:sp>
      <p:sp>
        <p:nvSpPr>
          <p:cNvPr id="24" name="Oval 23"/>
          <p:cNvSpPr/>
          <p:nvPr/>
        </p:nvSpPr>
        <p:spPr>
          <a:xfrm>
            <a:off x="5911840" y="4585285"/>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5" name="Connector 24"/>
          <p:cNvCxnSpPr/>
          <p:nvPr/>
        </p:nvCxnSpPr>
        <p:spPr>
          <a:xfrm flipV="1">
            <a:off x="5952988" y="3940633"/>
            <a:ext cx="0" cy="68580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495788" y="3556585"/>
            <a:ext cx="914400" cy="384048"/>
          </a:xfrm>
          <a:prstGeom prst="rect">
            <a:avLst/>
          </a:prstGeom>
          <a:noFill/>
        </p:spPr>
        <p:txBody>
          <a:bodyPr wrap="square" lIns="0" tIns="0" rIns="0" bIns="0" anchor="b">
            <a:spAutoFit/>
          </a:bodyPr>
          <a:lstStyle/>
          <a:p>
            <a:pPr algn="ctr"/>
            <a:r>
              <a:rPr sz="900" b="0" i="0">
                <a:solidFill>
                  <a:srgbClr val="000000"/>
                </a:solidFill>
                <a:latin typeface="Lato"/>
              </a:rPr>
              <a:t>Eurozone crisis</a:t>
            </a:r>
          </a:p>
        </p:txBody>
      </p:sp>
      <p:sp>
        <p:nvSpPr>
          <p:cNvPr id="27" name="Oval 26"/>
          <p:cNvSpPr/>
          <p:nvPr/>
        </p:nvSpPr>
        <p:spPr>
          <a:xfrm>
            <a:off x="7431522" y="4391276"/>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8" name="Connector 27"/>
          <p:cNvCxnSpPr/>
          <p:nvPr/>
        </p:nvCxnSpPr>
        <p:spPr>
          <a:xfrm flipH="1" flipV="1">
            <a:off x="7381230" y="3883784"/>
            <a:ext cx="91440" cy="54864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695430" y="3499736"/>
            <a:ext cx="1371600" cy="384048"/>
          </a:xfrm>
          <a:prstGeom prst="rect">
            <a:avLst/>
          </a:prstGeom>
          <a:noFill/>
        </p:spPr>
        <p:txBody>
          <a:bodyPr wrap="square" lIns="0" tIns="0" rIns="0" bIns="0" anchor="b">
            <a:spAutoFit/>
          </a:bodyPr>
          <a:lstStyle/>
          <a:p>
            <a:pPr algn="ctr"/>
            <a:r>
              <a:rPr sz="900" b="0" i="0">
                <a:solidFill>
                  <a:srgbClr val="000000"/>
                </a:solidFill>
                <a:latin typeface="Lato"/>
              </a:rPr>
              <a:t>Brexit vote and U.S. election</a:t>
            </a:r>
          </a:p>
        </p:txBody>
      </p:sp>
      <p:sp>
        <p:nvSpPr>
          <p:cNvPr id="30" name="Oval 29"/>
          <p:cNvSpPr/>
          <p:nvPr/>
        </p:nvSpPr>
        <p:spPr>
          <a:xfrm>
            <a:off x="8730160" y="3437495"/>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1" name="Connector 30"/>
          <p:cNvCxnSpPr/>
          <p:nvPr/>
        </p:nvCxnSpPr>
        <p:spPr>
          <a:xfrm flipH="1" flipV="1">
            <a:off x="7948348" y="3432923"/>
            <a:ext cx="822960" cy="457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869356" y="3048875"/>
            <a:ext cx="1097280" cy="384048"/>
          </a:xfrm>
          <a:prstGeom prst="rect">
            <a:avLst/>
          </a:prstGeom>
          <a:noFill/>
        </p:spPr>
        <p:txBody>
          <a:bodyPr wrap="square" lIns="0" tIns="0" rIns="0" bIns="0" anchor="b">
            <a:spAutoFit/>
          </a:bodyPr>
          <a:lstStyle/>
          <a:p>
            <a:pPr algn="r"/>
            <a:r>
              <a:rPr sz="900" b="0" i="0">
                <a:solidFill>
                  <a:srgbClr val="000000"/>
                </a:solidFill>
                <a:latin typeface="Lato"/>
              </a:rPr>
              <a:t>COVID-19 pandemic</a:t>
            </a:r>
          </a:p>
        </p:txBody>
      </p:sp>
      <p:sp>
        <p:nvSpPr>
          <p:cNvPr id="33" name="Oval 32"/>
          <p:cNvSpPr/>
          <p:nvPr/>
        </p:nvSpPr>
        <p:spPr>
          <a:xfrm>
            <a:off x="9338033" y="4043349"/>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4" name="Connector 33"/>
          <p:cNvCxnSpPr/>
          <p:nvPr/>
        </p:nvCxnSpPr>
        <p:spPr>
          <a:xfrm flipV="1">
            <a:off x="9379181" y="3307257"/>
            <a:ext cx="91440" cy="77724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921981" y="2923209"/>
            <a:ext cx="1097280" cy="384048"/>
          </a:xfrm>
          <a:prstGeom prst="rect">
            <a:avLst/>
          </a:prstGeom>
          <a:noFill/>
        </p:spPr>
        <p:txBody>
          <a:bodyPr wrap="square" lIns="0" tIns="0" rIns="0" bIns="0" anchor="b">
            <a:spAutoFit/>
          </a:bodyPr>
          <a:lstStyle/>
          <a:p>
            <a:pPr algn="ctr"/>
            <a:r>
              <a:rPr sz="900" b="0" i="0">
                <a:solidFill>
                  <a:srgbClr val="000000"/>
                </a:solidFill>
                <a:latin typeface="Lato"/>
              </a:rPr>
              <a:t>Russia invades Ukraine</a:t>
            </a:r>
          </a:p>
        </p:txBody>
      </p:sp>
      <p:sp>
        <p:nvSpPr>
          <p:cNvPr id="36" name="Oval 35"/>
          <p:cNvSpPr/>
          <p:nvPr/>
        </p:nvSpPr>
        <p:spPr>
          <a:xfrm>
            <a:off x="10360365" y="2338207"/>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7" name="Connector 36"/>
          <p:cNvCxnSpPr/>
          <p:nvPr/>
        </p:nvCxnSpPr>
        <p:spPr>
          <a:xfrm flipH="1">
            <a:off x="10127193" y="2379355"/>
            <a:ext cx="274320" cy="13716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591001" y="2516515"/>
            <a:ext cx="1554480" cy="384048"/>
          </a:xfrm>
          <a:prstGeom prst="rect">
            <a:avLst/>
          </a:prstGeom>
          <a:noFill/>
        </p:spPr>
        <p:txBody>
          <a:bodyPr wrap="square" lIns="0" tIns="0" rIns="0" bIns="0" anchor="t">
            <a:spAutoFit/>
          </a:bodyPr>
          <a:lstStyle/>
          <a:p>
            <a:pPr algn="r"/>
            <a:r>
              <a:rPr sz="900" b="1" i="0">
                <a:solidFill>
                  <a:srgbClr val="C8102E"/>
                </a:solidFill>
                <a:latin typeface="Lato"/>
              </a:rPr>
              <a:t>April 2025: tariff announcements (621, record)</a:t>
            </a:r>
          </a:p>
        </p:txBody>
      </p:sp>
      <p:sp>
        <p:nvSpPr>
          <p:cNvPr id="39" name="Oval 38"/>
          <p:cNvSpPr/>
          <p:nvPr/>
        </p:nvSpPr>
        <p:spPr>
          <a:xfrm>
            <a:off x="10774824" y="4319544"/>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0" name="Connector 39"/>
          <p:cNvCxnSpPr/>
          <p:nvPr/>
        </p:nvCxnSpPr>
        <p:spPr>
          <a:xfrm>
            <a:off x="10815972" y="4360692"/>
            <a:ext cx="128016" cy="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10925700" y="4360692"/>
            <a:ext cx="685800" cy="384048"/>
          </a:xfrm>
          <a:prstGeom prst="rect">
            <a:avLst/>
          </a:prstGeom>
          <a:noFill/>
        </p:spPr>
        <p:txBody>
          <a:bodyPr wrap="square" lIns="0" tIns="0" rIns="0" bIns="0" anchor="t">
            <a:spAutoFit/>
          </a:bodyPr>
          <a:lstStyle/>
          <a:p>
            <a:pPr algn="l"/>
            <a:r>
              <a:rPr sz="900" b="1" i="0">
                <a:solidFill>
                  <a:srgbClr val="C8102E"/>
                </a:solidFill>
                <a:latin typeface="Lato"/>
              </a:rPr>
              <a:t>Jul 2026</a:t>
            </a:r>
          </a:p>
          <a:p>
            <a:pPr algn="l"/>
            <a:r>
              <a:rPr sz="900" b="1" i="0">
                <a:solidFill>
                  <a:srgbClr val="C8102E"/>
                </a:solidFill>
                <a:latin typeface="Lato"/>
              </a:rPr>
              <a:t>242</a:t>
            </a:r>
          </a:p>
        </p:txBody>
      </p:sp>
      <p:sp>
        <p:nvSpPr>
          <p:cNvPr id="42" name="TextBox 41"/>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Baker, Bloom and Davis, Economic Policy Uncertainty (policyuncertainty.com), Global EPU (GDP-weighted national indices), data through July 2026</a:t>
            </a:r>
          </a:p>
        </p:txBody>
      </p:sp>
      <p:sp>
        <p:nvSpPr>
          <p:cNvPr id="43" name="TextBox 42"/>
          <p:cNvSpPr txBox="1"/>
          <p:nvPr/>
        </p:nvSpPr>
        <p:spPr>
          <a:xfrm>
            <a:off x="457200" y="6153912"/>
            <a:ext cx="11274552" cy="246888"/>
          </a:xfrm>
          <a:prstGeom prst="rect">
            <a:avLst/>
          </a:prstGeom>
          <a:noFill/>
        </p:spPr>
        <p:txBody>
          <a:bodyPr wrap="square" lIns="0" tIns="0" rIns="0" bIns="0" anchor="b">
            <a:spAutoFit/>
          </a:bodyPr>
          <a:lstStyle/>
          <a:p>
            <a:pPr algn="l"/>
            <a:r>
              <a:rPr sz="700" b="0" i="0">
                <a:solidFill>
                  <a:srgbClr val="595959"/>
                </a:solidFill>
                <a:latin typeface="Lato"/>
              </a:rPr>
              <a:t>Global EPU is a GDP-weighted average of national EPU indices, each based on the frequency of own-country newspaper articles that discuss economic policy uncertainty. Dashed line is the average of all months from January 1997 to July 2026.</a:t>
            </a:r>
          </a:p>
        </p:txBody>
      </p:sp>
      <p:sp>
        <p:nvSpPr>
          <p:cNvPr id="44"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17</a:t>
            </a:fld>
            <a:endParaRPr lang="en-US" sz="900" b="1">
              <a:solidFill>
                <a:srgbClr val="000000"/>
              </a:solidFill>
              <a:latin typeface="Lat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U.S. consumer sentiment hit a record low in May 2026 (44.8), while the OECD confidence index is only slightly below normal</a:t>
            </a:r>
          </a:p>
        </p:txBody>
      </p:sp>
      <p:sp>
        <p:nvSpPr>
          <p:cNvPr id="3" name="TextBox 2"/>
          <p:cNvSpPr txBox="1"/>
          <p:nvPr/>
        </p:nvSpPr>
        <p:spPr>
          <a:xfrm>
            <a:off x="457200" y="1115568"/>
            <a:ext cx="11274552" cy="274320"/>
          </a:xfrm>
          <a:prstGeom prst="rect">
            <a:avLst/>
          </a:prstGeom>
          <a:noFill/>
        </p:spPr>
        <p:txBody>
          <a:bodyPr wrap="square" lIns="0" tIns="0" rIns="0" bIns="0" anchor="t">
            <a:spAutoFit/>
          </a:bodyPr>
          <a:lstStyle/>
          <a:p>
            <a:pPr algn="l"/>
            <a:r>
              <a:rPr sz="1400" b="0" i="0">
                <a:solidFill>
                  <a:srgbClr val="595959"/>
                </a:solidFill>
                <a:latin typeface="Lato"/>
              </a:rPr>
              <a:t>University of Michigan Index of Consumer Sentiment, monthly, January 2004 to September 2026; latest reading 48.1</a:t>
            </a:r>
          </a:p>
        </p:txBody>
      </p:sp>
      <p:graphicFrame>
        <p:nvGraphicFramePr>
          <p:cNvPr id="4" name="Chart 3"/>
          <p:cNvGraphicFramePr>
            <a:graphicFrameLocks noGrp="1"/>
          </p:cNvGraphicFramePr>
          <p:nvPr/>
        </p:nvGraphicFramePr>
        <p:xfrm>
          <a:off x="457200" y="1481328"/>
          <a:ext cx="11274552" cy="233172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720091"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2004</a:t>
            </a:r>
          </a:p>
        </p:txBody>
      </p:sp>
      <p:sp>
        <p:nvSpPr>
          <p:cNvPr id="6" name="TextBox 5"/>
          <p:cNvSpPr txBox="1"/>
          <p:nvPr/>
        </p:nvSpPr>
        <p:spPr>
          <a:xfrm>
            <a:off x="1641879"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2006</a:t>
            </a:r>
          </a:p>
        </p:txBody>
      </p:sp>
      <p:sp>
        <p:nvSpPr>
          <p:cNvPr id="7" name="TextBox 6"/>
          <p:cNvSpPr txBox="1"/>
          <p:nvPr/>
        </p:nvSpPr>
        <p:spPr>
          <a:xfrm>
            <a:off x="2563666"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2008</a:t>
            </a:r>
          </a:p>
        </p:txBody>
      </p:sp>
      <p:sp>
        <p:nvSpPr>
          <p:cNvPr id="8" name="TextBox 7"/>
          <p:cNvSpPr txBox="1"/>
          <p:nvPr/>
        </p:nvSpPr>
        <p:spPr>
          <a:xfrm>
            <a:off x="3485454"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2010</a:t>
            </a:r>
          </a:p>
        </p:txBody>
      </p:sp>
      <p:sp>
        <p:nvSpPr>
          <p:cNvPr id="9" name="TextBox 8"/>
          <p:cNvSpPr txBox="1"/>
          <p:nvPr/>
        </p:nvSpPr>
        <p:spPr>
          <a:xfrm>
            <a:off x="4407241"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2012</a:t>
            </a:r>
          </a:p>
        </p:txBody>
      </p:sp>
      <p:sp>
        <p:nvSpPr>
          <p:cNvPr id="10" name="TextBox 9"/>
          <p:cNvSpPr txBox="1"/>
          <p:nvPr/>
        </p:nvSpPr>
        <p:spPr>
          <a:xfrm>
            <a:off x="5329029"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2014</a:t>
            </a:r>
          </a:p>
        </p:txBody>
      </p:sp>
      <p:sp>
        <p:nvSpPr>
          <p:cNvPr id="11" name="TextBox 10"/>
          <p:cNvSpPr txBox="1"/>
          <p:nvPr/>
        </p:nvSpPr>
        <p:spPr>
          <a:xfrm>
            <a:off x="6250816"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2016</a:t>
            </a:r>
          </a:p>
        </p:txBody>
      </p:sp>
      <p:sp>
        <p:nvSpPr>
          <p:cNvPr id="12" name="TextBox 11"/>
          <p:cNvSpPr txBox="1"/>
          <p:nvPr/>
        </p:nvSpPr>
        <p:spPr>
          <a:xfrm>
            <a:off x="7172604"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2018</a:t>
            </a:r>
          </a:p>
        </p:txBody>
      </p:sp>
      <p:sp>
        <p:nvSpPr>
          <p:cNvPr id="13" name="TextBox 12"/>
          <p:cNvSpPr txBox="1"/>
          <p:nvPr/>
        </p:nvSpPr>
        <p:spPr>
          <a:xfrm>
            <a:off x="8094391"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2020</a:t>
            </a:r>
          </a:p>
        </p:txBody>
      </p:sp>
      <p:sp>
        <p:nvSpPr>
          <p:cNvPr id="14" name="TextBox 13"/>
          <p:cNvSpPr txBox="1"/>
          <p:nvPr/>
        </p:nvSpPr>
        <p:spPr>
          <a:xfrm>
            <a:off x="9016179"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2022</a:t>
            </a:r>
          </a:p>
        </p:txBody>
      </p:sp>
      <p:sp>
        <p:nvSpPr>
          <p:cNvPr id="15" name="TextBox 14"/>
          <p:cNvSpPr txBox="1"/>
          <p:nvPr/>
        </p:nvSpPr>
        <p:spPr>
          <a:xfrm>
            <a:off x="9937966"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2024</a:t>
            </a:r>
          </a:p>
        </p:txBody>
      </p:sp>
      <p:sp>
        <p:nvSpPr>
          <p:cNvPr id="16" name="TextBox 15"/>
          <p:cNvSpPr txBox="1"/>
          <p:nvPr/>
        </p:nvSpPr>
        <p:spPr>
          <a:xfrm>
            <a:off x="10859754" y="3401568"/>
            <a:ext cx="640080" cy="182880"/>
          </a:xfrm>
          <a:prstGeom prst="rect">
            <a:avLst/>
          </a:prstGeom>
          <a:noFill/>
        </p:spPr>
        <p:txBody>
          <a:bodyPr wrap="square" lIns="0" tIns="0" rIns="0" bIns="0" anchor="t">
            <a:spAutoFit/>
          </a:bodyPr>
          <a:lstStyle/>
          <a:p>
            <a:pPr algn="ctr"/>
            <a:r>
              <a:rPr sz="900" b="0" i="0">
                <a:solidFill>
                  <a:srgbClr val="000000"/>
                </a:solidFill>
                <a:latin typeface="Lato"/>
              </a:rPr>
              <a:t>2026</a:t>
            </a:r>
          </a:p>
        </p:txBody>
      </p:sp>
      <p:sp>
        <p:nvSpPr>
          <p:cNvPr id="17" name="Oval 16"/>
          <p:cNvSpPr/>
          <p:nvPr/>
        </p:nvSpPr>
        <p:spPr>
          <a:xfrm>
            <a:off x="998983" y="1813022"/>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59003" y="1625570"/>
            <a:ext cx="1097280" cy="182880"/>
          </a:xfrm>
          <a:prstGeom prst="rect">
            <a:avLst/>
          </a:prstGeom>
          <a:noFill/>
        </p:spPr>
        <p:txBody>
          <a:bodyPr wrap="square" lIns="0" tIns="0" rIns="0" bIns="0" anchor="b">
            <a:spAutoFit/>
          </a:bodyPr>
          <a:lstStyle/>
          <a:p>
            <a:pPr algn="l"/>
            <a:r>
              <a:rPr sz="900" b="0" i="0">
                <a:solidFill>
                  <a:srgbClr val="000000"/>
                </a:solidFill>
                <a:latin typeface="Lato"/>
              </a:rPr>
              <a:t>Jan 2004: 103.8</a:t>
            </a:r>
          </a:p>
        </p:txBody>
      </p:sp>
      <p:sp>
        <p:nvSpPr>
          <p:cNvPr id="19" name="Oval 18"/>
          <p:cNvSpPr/>
          <p:nvPr/>
        </p:nvSpPr>
        <p:spPr>
          <a:xfrm>
            <a:off x="3226636" y="2510400"/>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0" name="Connector 19"/>
          <p:cNvCxnSpPr/>
          <p:nvPr/>
        </p:nvCxnSpPr>
        <p:spPr>
          <a:xfrm>
            <a:off x="3267784" y="2551548"/>
            <a:ext cx="0" cy="32004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719144" y="2871588"/>
            <a:ext cx="1097280" cy="182880"/>
          </a:xfrm>
          <a:prstGeom prst="rect">
            <a:avLst/>
          </a:prstGeom>
          <a:noFill/>
        </p:spPr>
        <p:txBody>
          <a:bodyPr wrap="square" lIns="0" tIns="0" rIns="0" bIns="0" anchor="t">
            <a:spAutoFit/>
          </a:bodyPr>
          <a:lstStyle/>
          <a:p>
            <a:pPr algn="ctr"/>
            <a:r>
              <a:rPr sz="900" b="0" i="0">
                <a:solidFill>
                  <a:srgbClr val="000000"/>
                </a:solidFill>
                <a:latin typeface="Lato"/>
              </a:rPr>
              <a:t>Nov 2008: 55.3</a:t>
            </a:r>
          </a:p>
        </p:txBody>
      </p:sp>
      <p:sp>
        <p:nvSpPr>
          <p:cNvPr id="22" name="Oval 21"/>
          <p:cNvSpPr/>
          <p:nvPr/>
        </p:nvSpPr>
        <p:spPr>
          <a:xfrm>
            <a:off x="4494094" y="2503211"/>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4535242" y="2544359"/>
            <a:ext cx="0" cy="32004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986602" y="2864399"/>
            <a:ext cx="1097280" cy="182880"/>
          </a:xfrm>
          <a:prstGeom prst="rect">
            <a:avLst/>
          </a:prstGeom>
          <a:noFill/>
        </p:spPr>
        <p:txBody>
          <a:bodyPr wrap="square" lIns="0" tIns="0" rIns="0" bIns="0" anchor="t">
            <a:spAutoFit/>
          </a:bodyPr>
          <a:lstStyle/>
          <a:p>
            <a:pPr algn="ctr"/>
            <a:r>
              <a:rPr sz="900" b="0" i="0">
                <a:solidFill>
                  <a:srgbClr val="000000"/>
                </a:solidFill>
                <a:latin typeface="Lato"/>
              </a:rPr>
              <a:t>Aug 2011: 55.8</a:t>
            </a:r>
          </a:p>
        </p:txBody>
      </p:sp>
      <p:sp>
        <p:nvSpPr>
          <p:cNvPr id="25" name="Oval 24"/>
          <p:cNvSpPr/>
          <p:nvPr/>
        </p:nvSpPr>
        <p:spPr>
          <a:xfrm>
            <a:off x="9487110" y="2586609"/>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6" name="Connector 25"/>
          <p:cNvCxnSpPr/>
          <p:nvPr/>
        </p:nvCxnSpPr>
        <p:spPr>
          <a:xfrm flipH="1">
            <a:off x="9455106" y="2627757"/>
            <a:ext cx="73152" cy="301752"/>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376114" y="2929509"/>
            <a:ext cx="1097280" cy="182880"/>
          </a:xfrm>
          <a:prstGeom prst="rect">
            <a:avLst/>
          </a:prstGeom>
          <a:noFill/>
        </p:spPr>
        <p:txBody>
          <a:bodyPr wrap="square" lIns="0" tIns="0" rIns="0" bIns="0" anchor="t">
            <a:spAutoFit/>
          </a:bodyPr>
          <a:lstStyle/>
          <a:p>
            <a:pPr algn="r"/>
            <a:r>
              <a:rPr sz="900" b="0" i="0">
                <a:solidFill>
                  <a:srgbClr val="000000"/>
                </a:solidFill>
                <a:latin typeface="Lato"/>
              </a:rPr>
              <a:t>Jun 2022: 50.0</a:t>
            </a:r>
          </a:p>
        </p:txBody>
      </p:sp>
      <p:sp>
        <p:nvSpPr>
          <p:cNvPr id="28" name="Oval 27"/>
          <p:cNvSpPr/>
          <p:nvPr/>
        </p:nvSpPr>
        <p:spPr>
          <a:xfrm>
            <a:off x="11292277" y="2661379"/>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9" name="Connector 28"/>
          <p:cNvCxnSpPr/>
          <p:nvPr/>
        </p:nvCxnSpPr>
        <p:spPr>
          <a:xfrm flipH="1">
            <a:off x="11241985" y="2702527"/>
            <a:ext cx="91440" cy="256032"/>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162993" y="2958559"/>
            <a:ext cx="1097280" cy="329184"/>
          </a:xfrm>
          <a:prstGeom prst="rect">
            <a:avLst/>
          </a:prstGeom>
          <a:noFill/>
        </p:spPr>
        <p:txBody>
          <a:bodyPr wrap="square" lIns="0" tIns="0" rIns="0" bIns="0" anchor="t">
            <a:spAutoFit/>
          </a:bodyPr>
          <a:lstStyle/>
          <a:p>
            <a:pPr algn="r"/>
            <a:r>
              <a:rPr sz="900" b="1" i="0">
                <a:solidFill>
                  <a:srgbClr val="C8102E"/>
                </a:solidFill>
                <a:latin typeface="Lato"/>
              </a:rPr>
              <a:t>May 2026: 44.8</a:t>
            </a:r>
          </a:p>
          <a:p>
            <a:pPr algn="r"/>
            <a:r>
              <a:rPr sz="900" b="1" i="0">
                <a:solidFill>
                  <a:srgbClr val="C8102E"/>
                </a:solidFill>
                <a:latin typeface="Lato"/>
              </a:rPr>
              <a:t>(record low)</a:t>
            </a:r>
          </a:p>
        </p:txBody>
      </p:sp>
      <p:sp>
        <p:nvSpPr>
          <p:cNvPr id="31" name="Oval 30"/>
          <p:cNvSpPr/>
          <p:nvPr/>
        </p:nvSpPr>
        <p:spPr>
          <a:xfrm>
            <a:off x="11445909" y="2613928"/>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1578497" y="2426476"/>
            <a:ext cx="457200" cy="182880"/>
          </a:xfrm>
          <a:prstGeom prst="rect">
            <a:avLst/>
          </a:prstGeom>
          <a:noFill/>
        </p:spPr>
        <p:txBody>
          <a:bodyPr wrap="square" lIns="0" tIns="0" rIns="0" bIns="0" anchor="b">
            <a:spAutoFit/>
          </a:bodyPr>
          <a:lstStyle/>
          <a:p>
            <a:pPr algn="l"/>
            <a:r>
              <a:rPr sz="900" b="1" i="0">
                <a:solidFill>
                  <a:srgbClr val="C8102E"/>
                </a:solidFill>
                <a:latin typeface="Lato"/>
              </a:rPr>
              <a:t>48.1</a:t>
            </a:r>
          </a:p>
        </p:txBody>
      </p:sp>
      <p:sp>
        <p:nvSpPr>
          <p:cNvPr id="33" name="TextBox 32"/>
          <p:cNvSpPr txBox="1"/>
          <p:nvPr/>
        </p:nvSpPr>
        <p:spPr>
          <a:xfrm>
            <a:off x="457200" y="3913632"/>
            <a:ext cx="7315200" cy="256032"/>
          </a:xfrm>
          <a:prstGeom prst="rect">
            <a:avLst/>
          </a:prstGeom>
          <a:noFill/>
        </p:spPr>
        <p:txBody>
          <a:bodyPr wrap="square" lIns="0" tIns="0" rIns="0" bIns="0" anchor="t">
            <a:spAutoFit/>
          </a:bodyPr>
          <a:lstStyle/>
          <a:p>
            <a:pPr algn="l"/>
            <a:r>
              <a:rPr sz="1200" b="1" i="0">
                <a:solidFill>
                  <a:srgbClr val="000000"/>
                </a:solidFill>
                <a:latin typeface="Lato"/>
              </a:rPr>
              <a:t>OECD Consumer Confidence Index (long-term average = 100)</a:t>
            </a:r>
          </a:p>
        </p:txBody>
      </p:sp>
      <p:graphicFrame>
        <p:nvGraphicFramePr>
          <p:cNvPr id="34" name="Chart 33"/>
          <p:cNvGraphicFramePr>
            <a:graphicFrameLocks noGrp="1"/>
          </p:cNvGraphicFramePr>
          <p:nvPr/>
        </p:nvGraphicFramePr>
        <p:xfrm>
          <a:off x="457200" y="4114800"/>
          <a:ext cx="11274552" cy="2212848"/>
        </p:xfrm>
        <a:graphic>
          <a:graphicData uri="http://schemas.openxmlformats.org/drawingml/2006/chart">
            <c:chart xmlns:c="http://schemas.openxmlformats.org/drawingml/2006/chart" xmlns:r="http://schemas.openxmlformats.org/officeDocument/2006/relationships" r:id="rId3"/>
          </a:graphicData>
        </a:graphic>
      </p:graphicFrame>
      <p:sp>
        <p:nvSpPr>
          <p:cNvPr id="35" name="TextBox 34"/>
          <p:cNvSpPr txBox="1"/>
          <p:nvPr/>
        </p:nvSpPr>
        <p:spPr>
          <a:xfrm>
            <a:off x="720091"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2004</a:t>
            </a:r>
          </a:p>
        </p:txBody>
      </p:sp>
      <p:sp>
        <p:nvSpPr>
          <p:cNvPr id="36" name="TextBox 35"/>
          <p:cNvSpPr txBox="1"/>
          <p:nvPr/>
        </p:nvSpPr>
        <p:spPr>
          <a:xfrm>
            <a:off x="1641879"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2006</a:t>
            </a:r>
          </a:p>
        </p:txBody>
      </p:sp>
      <p:sp>
        <p:nvSpPr>
          <p:cNvPr id="37" name="TextBox 36"/>
          <p:cNvSpPr txBox="1"/>
          <p:nvPr/>
        </p:nvSpPr>
        <p:spPr>
          <a:xfrm>
            <a:off x="2563666"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2008</a:t>
            </a:r>
          </a:p>
        </p:txBody>
      </p:sp>
      <p:sp>
        <p:nvSpPr>
          <p:cNvPr id="38" name="TextBox 37"/>
          <p:cNvSpPr txBox="1"/>
          <p:nvPr/>
        </p:nvSpPr>
        <p:spPr>
          <a:xfrm>
            <a:off x="3485454"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2010</a:t>
            </a:r>
          </a:p>
        </p:txBody>
      </p:sp>
      <p:sp>
        <p:nvSpPr>
          <p:cNvPr id="39" name="TextBox 38"/>
          <p:cNvSpPr txBox="1"/>
          <p:nvPr/>
        </p:nvSpPr>
        <p:spPr>
          <a:xfrm>
            <a:off x="4407241"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2012</a:t>
            </a:r>
          </a:p>
        </p:txBody>
      </p:sp>
      <p:sp>
        <p:nvSpPr>
          <p:cNvPr id="40" name="TextBox 39"/>
          <p:cNvSpPr txBox="1"/>
          <p:nvPr/>
        </p:nvSpPr>
        <p:spPr>
          <a:xfrm>
            <a:off x="5329029"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2014</a:t>
            </a:r>
          </a:p>
        </p:txBody>
      </p:sp>
      <p:sp>
        <p:nvSpPr>
          <p:cNvPr id="41" name="TextBox 40"/>
          <p:cNvSpPr txBox="1"/>
          <p:nvPr/>
        </p:nvSpPr>
        <p:spPr>
          <a:xfrm>
            <a:off x="6250816"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2016</a:t>
            </a:r>
          </a:p>
        </p:txBody>
      </p:sp>
      <p:sp>
        <p:nvSpPr>
          <p:cNvPr id="42" name="TextBox 41"/>
          <p:cNvSpPr txBox="1"/>
          <p:nvPr/>
        </p:nvSpPr>
        <p:spPr>
          <a:xfrm>
            <a:off x="7172604"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2018</a:t>
            </a:r>
          </a:p>
        </p:txBody>
      </p:sp>
      <p:sp>
        <p:nvSpPr>
          <p:cNvPr id="43" name="TextBox 42"/>
          <p:cNvSpPr txBox="1"/>
          <p:nvPr/>
        </p:nvSpPr>
        <p:spPr>
          <a:xfrm>
            <a:off x="8094391"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2020</a:t>
            </a:r>
          </a:p>
        </p:txBody>
      </p:sp>
      <p:sp>
        <p:nvSpPr>
          <p:cNvPr id="44" name="TextBox 43"/>
          <p:cNvSpPr txBox="1"/>
          <p:nvPr/>
        </p:nvSpPr>
        <p:spPr>
          <a:xfrm>
            <a:off x="9016179"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2022</a:t>
            </a:r>
          </a:p>
        </p:txBody>
      </p:sp>
      <p:sp>
        <p:nvSpPr>
          <p:cNvPr id="45" name="TextBox 44"/>
          <p:cNvSpPr txBox="1"/>
          <p:nvPr/>
        </p:nvSpPr>
        <p:spPr>
          <a:xfrm>
            <a:off x="9937966"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2024</a:t>
            </a:r>
          </a:p>
        </p:txBody>
      </p:sp>
      <p:sp>
        <p:nvSpPr>
          <p:cNvPr id="46" name="TextBox 45"/>
          <p:cNvSpPr txBox="1"/>
          <p:nvPr/>
        </p:nvSpPr>
        <p:spPr>
          <a:xfrm>
            <a:off x="10859754" y="5851428"/>
            <a:ext cx="640080" cy="182880"/>
          </a:xfrm>
          <a:prstGeom prst="rect">
            <a:avLst/>
          </a:prstGeom>
          <a:noFill/>
        </p:spPr>
        <p:txBody>
          <a:bodyPr wrap="square" lIns="0" tIns="0" rIns="0" bIns="0" anchor="t">
            <a:spAutoFit/>
          </a:bodyPr>
          <a:lstStyle/>
          <a:p>
            <a:pPr algn="ctr"/>
            <a:r>
              <a:rPr sz="900" b="0" i="0">
                <a:solidFill>
                  <a:srgbClr val="000000"/>
                </a:solidFill>
                <a:latin typeface="Lato"/>
              </a:rPr>
              <a:t>2026</a:t>
            </a:r>
          </a:p>
        </p:txBody>
      </p:sp>
      <p:sp>
        <p:nvSpPr>
          <p:cNvPr id="47" name="Oval 46"/>
          <p:cNvSpPr/>
          <p:nvPr/>
        </p:nvSpPr>
        <p:spPr>
          <a:xfrm>
            <a:off x="9602333" y="5211140"/>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8" name="Connector 47"/>
          <p:cNvCxnSpPr/>
          <p:nvPr/>
        </p:nvCxnSpPr>
        <p:spPr>
          <a:xfrm>
            <a:off x="9643481" y="5252288"/>
            <a:ext cx="411480" cy="2743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10036673" y="5526608"/>
            <a:ext cx="1463040" cy="329184"/>
          </a:xfrm>
          <a:prstGeom prst="rect">
            <a:avLst/>
          </a:prstGeom>
          <a:noFill/>
        </p:spPr>
        <p:txBody>
          <a:bodyPr wrap="square" lIns="0" tIns="0" rIns="0" bIns="0" anchor="t">
            <a:spAutoFit/>
          </a:bodyPr>
          <a:lstStyle/>
          <a:p>
            <a:pPr algn="l"/>
            <a:r>
              <a:rPr sz="900" b="0" i="0">
                <a:solidFill>
                  <a:srgbClr val="C8102E"/>
                </a:solidFill>
                <a:latin typeface="Lato"/>
              </a:rPr>
              <a:t>Euro area low:</a:t>
            </a:r>
          </a:p>
          <a:p>
            <a:pPr algn="l"/>
            <a:r>
              <a:rPr sz="900" b="0" i="0">
                <a:solidFill>
                  <a:srgbClr val="C8102E"/>
                </a:solidFill>
                <a:latin typeface="Lato"/>
              </a:rPr>
              <a:t>95.6 (Sep 2022)</a:t>
            </a:r>
          </a:p>
        </p:txBody>
      </p:sp>
      <p:sp>
        <p:nvSpPr>
          <p:cNvPr id="50" name="TextBox 49"/>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Sources: University of Michigan Surveys of Consumers (sca.isr.umich.edu); OECD Consumer Confidence Index (data through August 2026)</a:t>
            </a:r>
          </a:p>
        </p:txBody>
      </p:sp>
      <p:sp>
        <p:nvSpPr>
          <p:cNvPr id="51" name="TextBox 50"/>
          <p:cNvSpPr txBox="1"/>
          <p:nvPr/>
        </p:nvSpPr>
        <p:spPr>
          <a:xfrm>
            <a:off x="457200" y="6153912"/>
            <a:ext cx="11274552" cy="246888"/>
          </a:xfrm>
          <a:prstGeom prst="rect">
            <a:avLst/>
          </a:prstGeom>
          <a:noFill/>
        </p:spPr>
        <p:txBody>
          <a:bodyPr wrap="square" lIns="0" tIns="0" rIns="0" bIns="0" anchor="b">
            <a:spAutoFit/>
          </a:bodyPr>
          <a:lstStyle/>
          <a:p>
            <a:pPr algn="l"/>
            <a:r>
              <a:rPr sz="700" b="0" i="0">
                <a:solidFill>
                  <a:srgbClr val="595959"/>
                </a:solidFill>
                <a:latin typeface="Lato"/>
              </a:rPr>
              <a:t>Michigan index: 1966 Q1 = 100. OECD CCI: amplitude adjusted, long-term average = 100; euro area shown as EA20. OECD suspended its Russia series after May 2023, so Russia, shown in the earlier version of this page, is no longer plotted.</a:t>
            </a:r>
          </a:p>
        </p:txBody>
      </p:sp>
      <p:sp>
        <p:nvSpPr>
          <p:cNvPr id="52"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18</a:t>
            </a:fld>
            <a:endParaRPr lang="en-US" sz="900" b="1">
              <a:solidFill>
                <a:srgbClr val="000000"/>
              </a:solidFill>
              <a:latin typeface="Lat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Scorecard scatter [PEER_KEEP]" descr="Scatter chart: median earnings ten years after entry versus average annual net cost of attendance for 1,526 institutions (583 public, 943 private). Northeastern is highlighted in red; the private-institution trendline slopes upward."/>
          <p:cNvGraphicFramePr>
            <a:graphicFrameLocks noGrp="1"/>
          </p:cNvGraphicFramePr>
          <p:nvPr>
            <p:extLst>
              <p:ext uri="{D42A27DB-BD31-4B8C-83A1-F6EECF244321}">
                <p14:modId xmlns:p14="http://schemas.microsoft.com/office/powerpoint/2010/main" val="2089258578"/>
              </p:ext>
            </p:extLst>
          </p:nvPr>
        </p:nvGraphicFramePr>
        <p:xfrm>
          <a:off x="320040" y="1207008"/>
          <a:ext cx="11567160" cy="4279392"/>
        </p:xfrm>
        <a:graphic>
          <a:graphicData uri="http://schemas.openxmlformats.org/drawingml/2006/chart">
            <c:chart xmlns:c="http://schemas.openxmlformats.org/drawingml/2006/chart" xmlns:r="http://schemas.openxmlformats.org/officeDocument/2006/relationships" r:id="rId3"/>
          </a:graphicData>
        </a:graphic>
      </p:graphicFrame>
      <p:cxnSp>
        <p:nvCxnSpPr>
          <p:cNvPr id="8" name="Leader Yale University [PEER_KEEP]"/>
          <p:cNvCxnSpPr/>
          <p:nvPr/>
        </p:nvCxnSpPr>
        <p:spPr>
          <a:xfrm>
            <a:off x="5421464" y="2627416"/>
            <a:ext cx="475488" cy="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9" name="Leader Georgetown University [PEER_KEEP]"/>
          <p:cNvCxnSpPr/>
          <p:nvPr/>
        </p:nvCxnSpPr>
        <p:spPr>
          <a:xfrm flipV="1">
            <a:off x="8369649" y="2425491"/>
            <a:ext cx="115019"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0" name="Leader Stevens Institute of Technology [PEER_KEEP]"/>
          <p:cNvCxnSpPr/>
          <p:nvPr/>
        </p:nvCxnSpPr>
        <p:spPr>
          <a:xfrm flipV="1">
            <a:off x="8442384" y="2247550"/>
            <a:ext cx="0" cy="164592"/>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1" name="Leader University of Pennsylvania [PEER_KEEP]"/>
          <p:cNvCxnSpPr/>
          <p:nvPr/>
        </p:nvCxnSpPr>
        <p:spPr>
          <a:xfrm flipV="1">
            <a:off x="6267433" y="1881057"/>
            <a:ext cx="479865" cy="479865"/>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2" name="Leader California Polytechnic State University-San Luis Obispo [PEER_KEEP]"/>
          <p:cNvCxnSpPr/>
          <p:nvPr/>
        </p:nvCxnSpPr>
        <p:spPr>
          <a:xfrm>
            <a:off x="4160047" y="2877480"/>
            <a:ext cx="0" cy="475488"/>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3" name="Leader Colorado School of Mines [PEER_KEEP]"/>
          <p:cNvCxnSpPr/>
          <p:nvPr/>
        </p:nvCxnSpPr>
        <p:spPr>
          <a:xfrm flipV="1">
            <a:off x="6246474" y="1987095"/>
            <a:ext cx="0" cy="685800"/>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4" name="Leader Columbia University in the City of New York [PEER_KEEP]"/>
          <p:cNvCxnSpPr/>
          <p:nvPr/>
        </p:nvCxnSpPr>
        <p:spPr>
          <a:xfrm flipH="1" flipV="1">
            <a:off x="4662527" y="2230731"/>
            <a:ext cx="332647" cy="332647"/>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5" name="Leader SUNY Maritime College [PEER_KEEP]"/>
          <p:cNvCxnSpPr/>
          <p:nvPr/>
        </p:nvCxnSpPr>
        <p:spPr>
          <a:xfrm flipV="1">
            <a:off x="5149387" y="2228961"/>
            <a:ext cx="0" cy="475488"/>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6" name="Leader University of Southern California [PEER_KEEP]"/>
          <p:cNvCxnSpPr/>
          <p:nvPr/>
        </p:nvCxnSpPr>
        <p:spPr>
          <a:xfrm>
            <a:off x="6968576" y="2830003"/>
            <a:ext cx="115020" cy="11502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7" name="Leader Missouri University of Science and Technology [PEER_KEEP]"/>
          <p:cNvCxnSpPr/>
          <p:nvPr/>
        </p:nvCxnSpPr>
        <p:spPr>
          <a:xfrm flipH="1">
            <a:off x="3859541" y="3047529"/>
            <a:ext cx="217432" cy="217432"/>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8" name="Leader Johns Hopkins University [PEER_KEEP]"/>
          <p:cNvCxnSpPr/>
          <p:nvPr/>
        </p:nvCxnSpPr>
        <p:spPr>
          <a:xfrm>
            <a:off x="4532047" y="2950734"/>
            <a:ext cx="0" cy="164592"/>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9" name="Leader Dartmouth College [PEER_KEEP]"/>
          <p:cNvCxnSpPr/>
          <p:nvPr/>
        </p:nvCxnSpPr>
        <p:spPr>
          <a:xfrm>
            <a:off x="6390312" y="2725502"/>
            <a:ext cx="0" cy="68580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0" name="Leader Cornell University [PEER_KEEP]"/>
          <p:cNvCxnSpPr/>
          <p:nvPr/>
        </p:nvCxnSpPr>
        <p:spPr>
          <a:xfrm flipH="1" flipV="1">
            <a:off x="6112057" y="2412974"/>
            <a:ext cx="115020" cy="11502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1" name="Leader Boston College [PEER_KEEP]"/>
          <p:cNvCxnSpPr/>
          <p:nvPr/>
        </p:nvCxnSpPr>
        <p:spPr>
          <a:xfrm flipH="1" flipV="1">
            <a:off x="8370082" y="2415391"/>
            <a:ext cx="115020"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2" name="Leader Claremont McKenna College [PEER_KEEP]"/>
          <p:cNvCxnSpPr/>
          <p:nvPr/>
        </p:nvCxnSpPr>
        <p:spPr>
          <a:xfrm flipV="1">
            <a:off x="6293459" y="2179547"/>
            <a:ext cx="332647" cy="332647"/>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3" name="Leader Yeshiva University [PEER_KEEP]"/>
          <p:cNvCxnSpPr/>
          <p:nvPr/>
        </p:nvCxnSpPr>
        <p:spPr>
          <a:xfrm flipH="1" flipV="1">
            <a:off x="9803427" y="3158275"/>
            <a:ext cx="115020"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4" name="Leader Massachusetts Maritime Academy [PEER_KEEP]"/>
          <p:cNvCxnSpPr/>
          <p:nvPr/>
        </p:nvCxnSpPr>
        <p:spPr>
          <a:xfrm>
            <a:off x="5032581" y="3060410"/>
            <a:ext cx="217432" cy="217433"/>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25" name="Leader Illinois Institute of Technology [PEER_KEEP]"/>
          <p:cNvCxnSpPr/>
          <p:nvPr/>
        </p:nvCxnSpPr>
        <p:spPr>
          <a:xfrm flipV="1">
            <a:off x="4465420" y="2533533"/>
            <a:ext cx="0" cy="475488"/>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6" name="Leader Fairfield University [PEER_KEEP]"/>
          <p:cNvCxnSpPr/>
          <p:nvPr/>
        </p:nvCxnSpPr>
        <p:spPr>
          <a:xfrm flipV="1">
            <a:off x="9632782" y="2658224"/>
            <a:ext cx="217433" cy="217432"/>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7" name="Leader Washington University in St Louis [PEER_KEEP]"/>
          <p:cNvCxnSpPr/>
          <p:nvPr/>
        </p:nvCxnSpPr>
        <p:spPr>
          <a:xfrm flipH="1" flipV="1">
            <a:off x="4914162" y="2820188"/>
            <a:ext cx="115019"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8" name="Leader Vanderbilt University [PEER_KEEP]"/>
          <p:cNvCxnSpPr/>
          <p:nvPr/>
        </p:nvCxnSpPr>
        <p:spPr>
          <a:xfrm flipH="1">
            <a:off x="3883528" y="2851275"/>
            <a:ext cx="115020"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9" name="Leader Cal Poly Maritime Academy [PEER_KEEP]"/>
          <p:cNvCxnSpPr/>
          <p:nvPr/>
        </p:nvCxnSpPr>
        <p:spPr>
          <a:xfrm>
            <a:off x="4862423" y="2758487"/>
            <a:ext cx="475488" cy="0"/>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sp>
        <p:nvSpPr>
          <p:cNvPr id="30" name="Label Harvard University [PEER_KEEP]"/>
          <p:cNvSpPr txBox="1"/>
          <p:nvPr/>
        </p:nvSpPr>
        <p:spPr>
          <a:xfrm>
            <a:off x="4649791" y="2529562"/>
            <a:ext cx="42484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Harvard</a:t>
            </a:r>
          </a:p>
        </p:txBody>
      </p:sp>
      <p:sp>
        <p:nvSpPr>
          <p:cNvPr id="31" name="Label Massachusetts Institute of Technology [PEER_KEEP]"/>
          <p:cNvSpPr txBox="1"/>
          <p:nvPr/>
        </p:nvSpPr>
        <p:spPr>
          <a:xfrm>
            <a:off x="4831106" y="1582148"/>
            <a:ext cx="25247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MIT</a:t>
            </a:r>
          </a:p>
        </p:txBody>
      </p:sp>
      <p:sp>
        <p:nvSpPr>
          <p:cNvPr id="32" name="Label Stanford University [PEER_KEEP]"/>
          <p:cNvSpPr txBox="1"/>
          <p:nvPr/>
        </p:nvSpPr>
        <p:spPr>
          <a:xfrm>
            <a:off x="3148893" y="2021987"/>
            <a:ext cx="44211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Stanford</a:t>
            </a:r>
          </a:p>
        </p:txBody>
      </p:sp>
      <p:sp>
        <p:nvSpPr>
          <p:cNvPr id="33" name="Label Princeton University [PEER_KEEP]"/>
          <p:cNvSpPr txBox="1"/>
          <p:nvPr/>
        </p:nvSpPr>
        <p:spPr>
          <a:xfrm>
            <a:off x="2404952" y="2341492"/>
            <a:ext cx="48556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Princeton</a:t>
            </a:r>
          </a:p>
        </p:txBody>
      </p:sp>
      <p:sp>
        <p:nvSpPr>
          <p:cNvPr id="34" name="Label United States Merchant Marine Academy [PEER_KEEP]"/>
          <p:cNvSpPr txBox="1"/>
          <p:nvPr/>
        </p:nvSpPr>
        <p:spPr>
          <a:xfrm>
            <a:off x="2412933" y="2785070"/>
            <a:ext cx="51165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U.S. MMA</a:t>
            </a:r>
          </a:p>
        </p:txBody>
      </p:sp>
      <p:sp>
        <p:nvSpPr>
          <p:cNvPr id="35" name="Label Georgia Institute of Technology-Main Campus [PEER_KEEP]"/>
          <p:cNvSpPr txBox="1"/>
          <p:nvPr/>
        </p:nvSpPr>
        <p:spPr>
          <a:xfrm>
            <a:off x="3421969" y="2388002"/>
            <a:ext cx="42534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GA Tech</a:t>
            </a:r>
          </a:p>
        </p:txBody>
      </p:sp>
      <p:sp>
        <p:nvSpPr>
          <p:cNvPr id="36" name="Label Yale University [PEER_KEEP]"/>
          <p:cNvSpPr txBox="1"/>
          <p:nvPr/>
        </p:nvSpPr>
        <p:spPr>
          <a:xfrm>
            <a:off x="5896952" y="2558836"/>
            <a:ext cx="25365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Yale</a:t>
            </a:r>
          </a:p>
        </p:txBody>
      </p:sp>
      <p:sp>
        <p:nvSpPr>
          <p:cNvPr id="37" name="Label Georgetown University [PEER_KEEP]"/>
          <p:cNvSpPr txBox="1"/>
          <p:nvPr/>
        </p:nvSpPr>
        <p:spPr>
          <a:xfrm>
            <a:off x="8484668" y="2288331"/>
            <a:ext cx="59648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Georgetown</a:t>
            </a:r>
          </a:p>
        </p:txBody>
      </p:sp>
      <p:sp>
        <p:nvSpPr>
          <p:cNvPr id="38" name="Label Stevens Institute of Technology [PEER_KEEP]"/>
          <p:cNvSpPr txBox="1"/>
          <p:nvPr/>
        </p:nvSpPr>
        <p:spPr>
          <a:xfrm>
            <a:off x="7989299" y="2110390"/>
            <a:ext cx="90616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Stevens Inst of Tech</a:t>
            </a:r>
          </a:p>
        </p:txBody>
      </p:sp>
      <p:sp>
        <p:nvSpPr>
          <p:cNvPr id="39" name="Label Worcester Polytechnic Institute [PEER_KEEP]"/>
          <p:cNvSpPr txBox="1"/>
          <p:nvPr/>
        </p:nvSpPr>
        <p:spPr>
          <a:xfrm>
            <a:off x="7977285" y="2611661"/>
            <a:ext cx="71319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Worcester Poly</a:t>
            </a:r>
          </a:p>
        </p:txBody>
      </p:sp>
      <p:sp>
        <p:nvSpPr>
          <p:cNvPr id="40" name="Label University of Pennsylvania [PEER_KEEP]"/>
          <p:cNvSpPr txBox="1"/>
          <p:nvPr/>
        </p:nvSpPr>
        <p:spPr>
          <a:xfrm>
            <a:off x="6747298" y="1743897"/>
            <a:ext cx="38658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 Penn</a:t>
            </a:r>
          </a:p>
        </p:txBody>
      </p:sp>
      <p:sp>
        <p:nvSpPr>
          <p:cNvPr id="41" name="Label Berea College [PEER_KEEP]"/>
          <p:cNvSpPr txBox="1"/>
          <p:nvPr/>
        </p:nvSpPr>
        <p:spPr>
          <a:xfrm>
            <a:off x="1930060" y="3867113"/>
            <a:ext cx="32477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Berea</a:t>
            </a:r>
          </a:p>
        </p:txBody>
      </p:sp>
      <p:sp>
        <p:nvSpPr>
          <p:cNvPr id="42" name="Label CUNY Bernard M Baruch College [PEER_KEEP]"/>
          <p:cNvSpPr txBox="1"/>
          <p:nvPr/>
        </p:nvSpPr>
        <p:spPr>
          <a:xfrm>
            <a:off x="1867947" y="3118826"/>
            <a:ext cx="113926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CUNY Bernard M Baruch</a:t>
            </a:r>
          </a:p>
        </p:txBody>
      </p:sp>
      <p:sp>
        <p:nvSpPr>
          <p:cNvPr id="43" name="Label California Polytechnic State University-San Luis Obispo [PEER_KEEP]"/>
          <p:cNvSpPr txBox="1"/>
          <p:nvPr/>
        </p:nvSpPr>
        <p:spPr>
          <a:xfrm>
            <a:off x="3948795" y="3352968"/>
            <a:ext cx="42250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Cal Poly</a:t>
            </a:r>
          </a:p>
        </p:txBody>
      </p:sp>
      <p:sp>
        <p:nvSpPr>
          <p:cNvPr id="44" name="Label University of Virginia-Main Campus [PEER_KEEP]"/>
          <p:cNvSpPr txBox="1"/>
          <p:nvPr/>
        </p:nvSpPr>
        <p:spPr>
          <a:xfrm>
            <a:off x="4662405" y="2870498"/>
            <a:ext cx="27467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UVA</a:t>
            </a:r>
          </a:p>
        </p:txBody>
      </p:sp>
      <p:sp>
        <p:nvSpPr>
          <p:cNvPr id="45" name="Label Bryant University [PEER_KEEP]"/>
          <p:cNvSpPr txBox="1"/>
          <p:nvPr/>
        </p:nvSpPr>
        <p:spPr>
          <a:xfrm>
            <a:off x="8493500" y="2798796"/>
            <a:ext cx="45863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Bryant U</a:t>
            </a:r>
          </a:p>
        </p:txBody>
      </p:sp>
      <p:sp>
        <p:nvSpPr>
          <p:cNvPr id="46" name="Label California Institute of Technology [PEER_KEEP]"/>
          <p:cNvSpPr txBox="1"/>
          <p:nvPr/>
        </p:nvSpPr>
        <p:spPr>
          <a:xfrm>
            <a:off x="4130830" y="1919710"/>
            <a:ext cx="43342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Cal Tech</a:t>
            </a:r>
          </a:p>
        </p:txBody>
      </p:sp>
      <p:sp>
        <p:nvSpPr>
          <p:cNvPr id="47" name="Label Duke University [PEER_KEEP]"/>
          <p:cNvSpPr txBox="1"/>
          <p:nvPr/>
        </p:nvSpPr>
        <p:spPr>
          <a:xfrm>
            <a:off x="6053688" y="2740932"/>
            <a:ext cx="30155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Duke</a:t>
            </a:r>
          </a:p>
        </p:txBody>
      </p:sp>
      <p:sp>
        <p:nvSpPr>
          <p:cNvPr id="48" name="Label Rice University [PEER_KEEP]"/>
          <p:cNvSpPr txBox="1"/>
          <p:nvPr/>
        </p:nvSpPr>
        <p:spPr>
          <a:xfrm>
            <a:off x="3257172" y="2805407"/>
            <a:ext cx="25801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Rice</a:t>
            </a:r>
          </a:p>
        </p:txBody>
      </p:sp>
      <p:sp>
        <p:nvSpPr>
          <p:cNvPr id="49" name="Label Colorado School of Mines [PEER_KEEP]"/>
          <p:cNvSpPr txBox="1"/>
          <p:nvPr/>
        </p:nvSpPr>
        <p:spPr>
          <a:xfrm>
            <a:off x="5856989" y="1849935"/>
            <a:ext cx="77897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Col Sch of Mines</a:t>
            </a:r>
          </a:p>
        </p:txBody>
      </p:sp>
      <p:sp>
        <p:nvSpPr>
          <p:cNvPr id="50" name="Label Naropa University [PEER_KEEP]"/>
          <p:cNvSpPr txBox="1"/>
          <p:nvPr/>
        </p:nvSpPr>
        <p:spPr>
          <a:xfrm>
            <a:off x="6404471" y="4196103"/>
            <a:ext cx="48930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Naropa U</a:t>
            </a:r>
          </a:p>
        </p:txBody>
      </p:sp>
      <p:sp>
        <p:nvSpPr>
          <p:cNvPr id="51" name="Label Sacred Heart University [PEER_KEEP]"/>
          <p:cNvSpPr txBox="1"/>
          <p:nvPr/>
        </p:nvSpPr>
        <p:spPr>
          <a:xfrm>
            <a:off x="8596197" y="3259405"/>
            <a:ext cx="63267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Sacred Heart</a:t>
            </a:r>
          </a:p>
        </p:txBody>
      </p:sp>
      <p:sp>
        <p:nvSpPr>
          <p:cNvPr id="52" name="Label Bentley University [PEER_KEEP]"/>
          <p:cNvSpPr txBox="1"/>
          <p:nvPr/>
        </p:nvSpPr>
        <p:spPr>
          <a:xfrm>
            <a:off x="7604267" y="1951410"/>
            <a:ext cx="49083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Bentley U</a:t>
            </a:r>
          </a:p>
        </p:txBody>
      </p:sp>
      <p:sp>
        <p:nvSpPr>
          <p:cNvPr id="53" name="Label Carnegie Mellon University [PEER_KEEP]"/>
          <p:cNvSpPr txBox="1"/>
          <p:nvPr/>
        </p:nvSpPr>
        <p:spPr>
          <a:xfrm>
            <a:off x="6884219" y="2232148"/>
            <a:ext cx="76611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Carnegie Mellon</a:t>
            </a:r>
          </a:p>
        </p:txBody>
      </p:sp>
      <p:sp>
        <p:nvSpPr>
          <p:cNvPr id="54" name="Label Columbia University in the City of New York [PEER_KEEP]"/>
          <p:cNvSpPr txBox="1"/>
          <p:nvPr/>
        </p:nvSpPr>
        <p:spPr>
          <a:xfrm>
            <a:off x="4180015" y="2093571"/>
            <a:ext cx="48251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Columbia</a:t>
            </a:r>
          </a:p>
        </p:txBody>
      </p:sp>
      <p:sp>
        <p:nvSpPr>
          <p:cNvPr id="55" name="Label SUNY Maritime College [PEER_KEEP]"/>
          <p:cNvSpPr txBox="1"/>
          <p:nvPr/>
        </p:nvSpPr>
        <p:spPr>
          <a:xfrm>
            <a:off x="4780400" y="2091801"/>
            <a:ext cx="73797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SUNY Maritime</a:t>
            </a:r>
          </a:p>
        </p:txBody>
      </p:sp>
      <p:sp>
        <p:nvSpPr>
          <p:cNvPr id="56" name="Label University of Southern California [PEER_KEEP]"/>
          <p:cNvSpPr txBox="1"/>
          <p:nvPr/>
        </p:nvSpPr>
        <p:spPr>
          <a:xfrm>
            <a:off x="7083596" y="2945023"/>
            <a:ext cx="26695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USC</a:t>
            </a:r>
          </a:p>
        </p:txBody>
      </p:sp>
      <p:sp>
        <p:nvSpPr>
          <p:cNvPr id="57" name="Label Villanova University [PEER_KEEP]"/>
          <p:cNvSpPr txBox="1"/>
          <p:nvPr/>
        </p:nvSpPr>
        <p:spPr>
          <a:xfrm>
            <a:off x="8933688" y="2561344"/>
            <a:ext cx="47112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Villanova</a:t>
            </a:r>
          </a:p>
        </p:txBody>
      </p:sp>
      <p:sp>
        <p:nvSpPr>
          <p:cNvPr id="58" name="Label Emerson College [PEER_KEEP]"/>
          <p:cNvSpPr txBox="1"/>
          <p:nvPr/>
        </p:nvSpPr>
        <p:spPr>
          <a:xfrm>
            <a:off x="9282814" y="3418382"/>
            <a:ext cx="44567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Emerson</a:t>
            </a:r>
          </a:p>
        </p:txBody>
      </p:sp>
      <p:sp>
        <p:nvSpPr>
          <p:cNvPr id="59" name="Label University of Chicago [PEER_KEEP]"/>
          <p:cNvSpPr txBox="1"/>
          <p:nvPr/>
        </p:nvSpPr>
        <p:spPr>
          <a:xfrm>
            <a:off x="3898073" y="2636215"/>
            <a:ext cx="49057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UChicago</a:t>
            </a:r>
          </a:p>
        </p:txBody>
      </p:sp>
      <p:sp>
        <p:nvSpPr>
          <p:cNvPr id="60" name="Label Missouri University of Science and Technology [PEER_KEEP]"/>
          <p:cNvSpPr txBox="1"/>
          <p:nvPr/>
        </p:nvSpPr>
        <p:spPr>
          <a:xfrm>
            <a:off x="3227787" y="3264961"/>
            <a:ext cx="63175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Missouri S&amp;T</a:t>
            </a:r>
          </a:p>
        </p:txBody>
      </p:sp>
      <p:sp>
        <p:nvSpPr>
          <p:cNvPr id="61" name="Label Harvey Mudd College [PEER_KEEP]"/>
          <p:cNvSpPr txBox="1"/>
          <p:nvPr/>
        </p:nvSpPr>
        <p:spPr>
          <a:xfrm>
            <a:off x="7574778" y="1688961"/>
            <a:ext cx="65283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Harvey Mudd</a:t>
            </a:r>
          </a:p>
        </p:txBody>
      </p:sp>
      <p:sp>
        <p:nvSpPr>
          <p:cNvPr id="62" name="Label University of Notre Dame [PEER_KEEP]"/>
          <p:cNvSpPr txBox="1"/>
          <p:nvPr/>
        </p:nvSpPr>
        <p:spPr>
          <a:xfrm>
            <a:off x="5266198" y="2451657"/>
            <a:ext cx="59766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Notre Dame</a:t>
            </a:r>
          </a:p>
        </p:txBody>
      </p:sp>
      <p:sp>
        <p:nvSpPr>
          <p:cNvPr id="63" name="Label Johns Hopkins University [PEER_KEEP]"/>
          <p:cNvSpPr txBox="1"/>
          <p:nvPr/>
        </p:nvSpPr>
        <p:spPr>
          <a:xfrm>
            <a:off x="4187472" y="3115326"/>
            <a:ext cx="68914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Johns Hopkins</a:t>
            </a:r>
          </a:p>
        </p:txBody>
      </p:sp>
      <p:sp>
        <p:nvSpPr>
          <p:cNvPr id="64" name="Label Dartmouth College [PEER_KEEP]"/>
          <p:cNvSpPr txBox="1"/>
          <p:nvPr/>
        </p:nvSpPr>
        <p:spPr>
          <a:xfrm>
            <a:off x="6114079" y="3411302"/>
            <a:ext cx="55246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Dartmouth</a:t>
            </a:r>
          </a:p>
        </p:txBody>
      </p:sp>
      <p:sp>
        <p:nvSpPr>
          <p:cNvPr id="65" name="Label Landmark College [PEER_KEEP]"/>
          <p:cNvSpPr txBox="1"/>
          <p:nvPr/>
        </p:nvSpPr>
        <p:spPr>
          <a:xfrm>
            <a:off x="10666692" y="4029452"/>
            <a:ext cx="96758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Landmark College (3)</a:t>
            </a:r>
          </a:p>
        </p:txBody>
      </p:sp>
      <p:sp>
        <p:nvSpPr>
          <p:cNvPr id="66" name="Label Bucknell University [PEER_KEEP]"/>
          <p:cNvSpPr txBox="1"/>
          <p:nvPr/>
        </p:nvSpPr>
        <p:spPr>
          <a:xfrm>
            <a:off x="7851726" y="2831968"/>
            <a:ext cx="43881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Bucknell</a:t>
            </a:r>
          </a:p>
        </p:txBody>
      </p:sp>
      <p:sp>
        <p:nvSpPr>
          <p:cNvPr id="67" name="Label Cornell University [PEER_KEEP]"/>
          <p:cNvSpPr txBox="1"/>
          <p:nvPr/>
        </p:nvSpPr>
        <p:spPr>
          <a:xfrm>
            <a:off x="5732216" y="2275814"/>
            <a:ext cx="37984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Cornell</a:t>
            </a:r>
          </a:p>
        </p:txBody>
      </p:sp>
      <p:sp>
        <p:nvSpPr>
          <p:cNvPr id="68" name="Label Beacon College [PEER_KEEP]"/>
          <p:cNvSpPr txBox="1"/>
          <p:nvPr/>
        </p:nvSpPr>
        <p:spPr>
          <a:xfrm>
            <a:off x="10191962" y="4321876"/>
            <a:ext cx="72436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Beacon College</a:t>
            </a:r>
          </a:p>
        </p:txBody>
      </p:sp>
      <p:sp>
        <p:nvSpPr>
          <p:cNvPr id="69" name="Label Berklee College of Music [PEER_KEEP]"/>
          <p:cNvSpPr txBox="1"/>
          <p:nvPr/>
        </p:nvSpPr>
        <p:spPr>
          <a:xfrm>
            <a:off x="8672983" y="4083772"/>
            <a:ext cx="110495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Berklee College of Music</a:t>
            </a:r>
          </a:p>
        </p:txBody>
      </p:sp>
      <p:sp>
        <p:nvSpPr>
          <p:cNvPr id="70" name="Label California Institute of the Arts [PEER_KEEP]"/>
          <p:cNvSpPr txBox="1"/>
          <p:nvPr/>
        </p:nvSpPr>
        <p:spPr>
          <a:xfrm>
            <a:off x="7880720" y="3791830"/>
            <a:ext cx="133184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California Institute of the Arts</a:t>
            </a:r>
          </a:p>
        </p:txBody>
      </p:sp>
      <p:sp>
        <p:nvSpPr>
          <p:cNvPr id="71" name="Label Savannah College of Art and Design [PEER_KEEP]"/>
          <p:cNvSpPr txBox="1"/>
          <p:nvPr/>
        </p:nvSpPr>
        <p:spPr>
          <a:xfrm>
            <a:off x="9918169" y="3803184"/>
            <a:ext cx="33335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SCAD</a:t>
            </a:r>
          </a:p>
        </p:txBody>
      </p:sp>
      <p:sp>
        <p:nvSpPr>
          <p:cNvPr id="72" name="Label Howard University [PEER_KEEP]"/>
          <p:cNvSpPr txBox="1"/>
          <p:nvPr/>
        </p:nvSpPr>
        <p:spPr>
          <a:xfrm>
            <a:off x="10110589" y="3413047"/>
            <a:ext cx="86432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Howard University</a:t>
            </a:r>
          </a:p>
        </p:txBody>
      </p:sp>
      <p:sp>
        <p:nvSpPr>
          <p:cNvPr id="73" name="Label Boston College [PEER_KEEP]"/>
          <p:cNvSpPr txBox="1"/>
          <p:nvPr/>
        </p:nvSpPr>
        <p:spPr>
          <a:xfrm>
            <a:off x="7663200" y="2278231"/>
            <a:ext cx="70688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Boston College</a:t>
            </a:r>
          </a:p>
        </p:txBody>
      </p:sp>
      <p:sp>
        <p:nvSpPr>
          <p:cNvPr id="74" name="Label Northwestern University [PEER_KEEP]"/>
          <p:cNvSpPr txBox="1"/>
          <p:nvPr/>
        </p:nvSpPr>
        <p:spPr>
          <a:xfrm>
            <a:off x="6380443" y="2933287"/>
            <a:ext cx="66376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Northwestern</a:t>
            </a:r>
          </a:p>
        </p:txBody>
      </p:sp>
      <p:sp>
        <p:nvSpPr>
          <p:cNvPr id="75" name="Label Claremont McKenna College [PEER_KEEP]"/>
          <p:cNvSpPr txBox="1"/>
          <p:nvPr/>
        </p:nvSpPr>
        <p:spPr>
          <a:xfrm>
            <a:off x="6626106" y="2042387"/>
            <a:ext cx="94595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Claremont McKenna</a:t>
            </a:r>
          </a:p>
        </p:txBody>
      </p:sp>
      <p:sp>
        <p:nvSpPr>
          <p:cNvPr id="76" name="Label Yeshiva University [PEER_KEEP]"/>
          <p:cNvSpPr txBox="1"/>
          <p:nvPr/>
        </p:nvSpPr>
        <p:spPr>
          <a:xfrm>
            <a:off x="8958298" y="3021115"/>
            <a:ext cx="84512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Yeshiva University</a:t>
            </a:r>
          </a:p>
        </p:txBody>
      </p:sp>
      <p:sp>
        <p:nvSpPr>
          <p:cNvPr id="77" name="Label Keiser University-Ft Lauderdale [PEER_KEEP]"/>
          <p:cNvSpPr txBox="1"/>
          <p:nvPr/>
        </p:nvSpPr>
        <p:spPr>
          <a:xfrm>
            <a:off x="6633327" y="3945861"/>
            <a:ext cx="138111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Keiser University Ft Lauderdale</a:t>
            </a:r>
          </a:p>
        </p:txBody>
      </p:sp>
      <p:sp>
        <p:nvSpPr>
          <p:cNvPr id="78" name="Label University of Rio Grande [PEER_KEEP]"/>
          <p:cNvSpPr txBox="1"/>
          <p:nvPr/>
        </p:nvSpPr>
        <p:spPr>
          <a:xfrm>
            <a:off x="4827114" y="4046965"/>
            <a:ext cx="110225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University of Rio Grande</a:t>
            </a:r>
          </a:p>
        </p:txBody>
      </p:sp>
      <p:sp>
        <p:nvSpPr>
          <p:cNvPr id="79" name="Label Massachusetts Maritime Academy [PEER_KEEP]"/>
          <p:cNvSpPr txBox="1"/>
          <p:nvPr/>
        </p:nvSpPr>
        <p:spPr>
          <a:xfrm>
            <a:off x="5250013" y="3277843"/>
            <a:ext cx="70810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Mass Maritime</a:t>
            </a:r>
          </a:p>
        </p:txBody>
      </p:sp>
      <p:sp>
        <p:nvSpPr>
          <p:cNvPr id="80" name="Label University of California-Berkeley [PEER_KEEP]"/>
          <p:cNvSpPr txBox="1"/>
          <p:nvPr/>
        </p:nvSpPr>
        <p:spPr>
          <a:xfrm>
            <a:off x="2960398" y="2623425"/>
            <a:ext cx="59599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UC Berkeley</a:t>
            </a:r>
          </a:p>
        </p:txBody>
      </p:sp>
      <p:sp>
        <p:nvSpPr>
          <p:cNvPr id="81" name="Label University of California-Los Angeles [PEER_KEEP]"/>
          <p:cNvSpPr txBox="1"/>
          <p:nvPr/>
        </p:nvSpPr>
        <p:spPr>
          <a:xfrm>
            <a:off x="3281836" y="3111452"/>
            <a:ext cx="32776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UCLA</a:t>
            </a:r>
          </a:p>
        </p:txBody>
      </p:sp>
      <p:sp>
        <p:nvSpPr>
          <p:cNvPr id="82" name="Label Florida Gateway College [PEER_KEEP]"/>
          <p:cNvSpPr txBox="1"/>
          <p:nvPr/>
        </p:nvSpPr>
        <p:spPr>
          <a:xfrm>
            <a:off x="1811708" y="4128677"/>
            <a:ext cx="77506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Florida Gateway</a:t>
            </a:r>
          </a:p>
        </p:txBody>
      </p:sp>
      <p:sp>
        <p:nvSpPr>
          <p:cNvPr id="83" name="Label Dewey University-Carolina [PEER_KEEP]"/>
          <p:cNvSpPr txBox="1"/>
          <p:nvPr/>
        </p:nvSpPr>
        <p:spPr>
          <a:xfrm>
            <a:off x="2042842" y="4400360"/>
            <a:ext cx="81773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Dewey University</a:t>
            </a:r>
          </a:p>
        </p:txBody>
      </p:sp>
      <p:sp>
        <p:nvSpPr>
          <p:cNvPr id="84" name="Label Southern Methodist University [PEER_KEEP]"/>
          <p:cNvSpPr txBox="1"/>
          <p:nvPr/>
        </p:nvSpPr>
        <p:spPr>
          <a:xfrm>
            <a:off x="8436763" y="3064496"/>
            <a:ext cx="29113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SMU</a:t>
            </a:r>
          </a:p>
        </p:txBody>
      </p:sp>
      <p:sp>
        <p:nvSpPr>
          <p:cNvPr id="85" name="Label Illinois Institute of Technology [PEER_KEEP]"/>
          <p:cNvSpPr txBox="1"/>
          <p:nvPr/>
        </p:nvSpPr>
        <p:spPr>
          <a:xfrm>
            <a:off x="4184421" y="2396373"/>
            <a:ext cx="56199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Illinois Tech</a:t>
            </a:r>
          </a:p>
        </p:txBody>
      </p:sp>
      <p:sp>
        <p:nvSpPr>
          <p:cNvPr id="86" name="Label Fairfield University [PEER_KEEP]"/>
          <p:cNvSpPr txBox="1"/>
          <p:nvPr/>
        </p:nvSpPr>
        <p:spPr>
          <a:xfrm>
            <a:off x="9850215" y="2521064"/>
            <a:ext cx="86839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Fairfield University</a:t>
            </a:r>
          </a:p>
        </p:txBody>
      </p:sp>
      <p:sp>
        <p:nvSpPr>
          <p:cNvPr id="87" name="Label Washington University in St Louis [PEER_KEEP]"/>
          <p:cNvSpPr txBox="1"/>
          <p:nvPr/>
        </p:nvSpPr>
        <p:spPr>
          <a:xfrm>
            <a:off x="4525899" y="2683028"/>
            <a:ext cx="38826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WashU</a:t>
            </a:r>
          </a:p>
        </p:txBody>
      </p:sp>
      <p:sp>
        <p:nvSpPr>
          <p:cNvPr id="88" name="Label Maine Maritime Academy [PEER_KEEP]"/>
          <p:cNvSpPr txBox="1"/>
          <p:nvPr/>
        </p:nvSpPr>
        <p:spPr>
          <a:xfrm>
            <a:off x="5382255" y="2919585"/>
            <a:ext cx="75265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Maine Maritime</a:t>
            </a:r>
          </a:p>
        </p:txBody>
      </p:sp>
      <p:sp>
        <p:nvSpPr>
          <p:cNvPr id="89" name="Label Vanderbilt University [PEER_KEEP]"/>
          <p:cNvSpPr txBox="1"/>
          <p:nvPr/>
        </p:nvSpPr>
        <p:spPr>
          <a:xfrm>
            <a:off x="3365511" y="2966294"/>
            <a:ext cx="51801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Vanderbilt</a:t>
            </a:r>
          </a:p>
        </p:txBody>
      </p:sp>
      <p:sp>
        <p:nvSpPr>
          <p:cNvPr id="90" name="Label Cal Poly Maritime Academy [PEER_KEEP]"/>
          <p:cNvSpPr txBox="1"/>
          <p:nvPr/>
        </p:nvSpPr>
        <p:spPr>
          <a:xfrm>
            <a:off x="5337911" y="2689907"/>
            <a:ext cx="62641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Cal Maritime</a:t>
            </a:r>
          </a:p>
        </p:txBody>
      </p:sp>
      <p:sp>
        <p:nvSpPr>
          <p:cNvPr id="91" name="Label St. John's College (Santa Fe, NM) [PEER_KEEP]"/>
          <p:cNvSpPr txBox="1"/>
          <p:nvPr/>
        </p:nvSpPr>
        <p:spPr>
          <a:xfrm>
            <a:off x="5947889" y="3705490"/>
            <a:ext cx="79802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St. John’s College</a:t>
            </a:r>
          </a:p>
        </p:txBody>
      </p:sp>
      <p:sp>
        <p:nvSpPr>
          <p:cNvPr id="92" name="Label Boston University [PEER_KEEP]"/>
          <p:cNvSpPr txBox="1"/>
          <p:nvPr/>
        </p:nvSpPr>
        <p:spPr>
          <a:xfrm>
            <a:off x="5553681" y="3072931"/>
            <a:ext cx="82611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Boston University</a:t>
            </a:r>
          </a:p>
        </p:txBody>
      </p:sp>
      <p:sp>
        <p:nvSpPr>
          <p:cNvPr id="93" name="Label __focus__ [PEER_KEEP]"/>
          <p:cNvSpPr txBox="1"/>
          <p:nvPr/>
        </p:nvSpPr>
        <p:spPr>
          <a:xfrm>
            <a:off x="6496023" y="2554420"/>
            <a:ext cx="999517" cy="210312"/>
          </a:xfrm>
          <a:prstGeom prst="rect">
            <a:avLst/>
          </a:prstGeom>
          <a:solidFill>
            <a:srgbClr val="FFFFFF">
              <a:alpha val="82000"/>
            </a:srgbClr>
          </a:solidFill>
        </p:spPr>
        <p:txBody>
          <a:bodyPr wrap="none" lIns="27432" tIns="0" rIns="27432" bIns="0" anchor="ctr">
            <a:spAutoFit/>
          </a:bodyPr>
          <a:lstStyle/>
          <a:p>
            <a:pPr algn="ctr"/>
            <a:r>
              <a:rPr sz="1200" b="1" i="0" dirty="0">
                <a:solidFill>
                  <a:srgbClr val="C8102E"/>
                </a:solidFill>
                <a:latin typeface="Lato"/>
              </a:rPr>
              <a:t>Northeastern</a:t>
            </a:r>
          </a:p>
        </p:txBody>
      </p:sp>
      <p:sp>
        <p:nvSpPr>
          <p:cNvPr id="94" name="Better deal [PEER_KEEP]"/>
          <p:cNvSpPr txBox="1"/>
          <p:nvPr/>
        </p:nvSpPr>
        <p:spPr>
          <a:xfrm rot="21184654">
            <a:off x="10652882" y="2609539"/>
            <a:ext cx="914400" cy="215444"/>
          </a:xfrm>
          <a:prstGeom prst="rect">
            <a:avLst/>
          </a:prstGeom>
          <a:noFill/>
        </p:spPr>
        <p:txBody>
          <a:bodyPr wrap="square" lIns="0" tIns="0" rIns="0" bIns="0" anchor="ctr">
            <a:spAutoFit/>
          </a:bodyPr>
          <a:lstStyle/>
          <a:p>
            <a:pPr algn="ctr"/>
            <a:r>
              <a:rPr sz="1400" b="1" i="1" dirty="0">
                <a:solidFill>
                  <a:srgbClr val="00B050"/>
                </a:solidFill>
                <a:latin typeface="Lato"/>
              </a:rPr>
              <a:t>Better deal</a:t>
            </a:r>
          </a:p>
        </p:txBody>
      </p:sp>
      <p:sp>
        <p:nvSpPr>
          <p:cNvPr id="95" name="Worse deal [PEER_KEEP]"/>
          <p:cNvSpPr txBox="1"/>
          <p:nvPr/>
        </p:nvSpPr>
        <p:spPr>
          <a:xfrm rot="21184654">
            <a:off x="10676047" y="3067570"/>
            <a:ext cx="914400" cy="215444"/>
          </a:xfrm>
          <a:prstGeom prst="rect">
            <a:avLst/>
          </a:prstGeom>
          <a:noFill/>
        </p:spPr>
        <p:txBody>
          <a:bodyPr wrap="square" lIns="0" tIns="0" rIns="0" bIns="0" anchor="ctr">
            <a:spAutoFit/>
          </a:bodyPr>
          <a:lstStyle/>
          <a:p>
            <a:pPr algn="ctr"/>
            <a:r>
              <a:rPr sz="1400" b="1" i="1" dirty="0">
                <a:solidFill>
                  <a:srgbClr val="FF0000"/>
                </a:solidFill>
                <a:latin typeface="Lato"/>
              </a:rPr>
              <a:t>Worse deal</a:t>
            </a:r>
          </a:p>
        </p:txBody>
      </p:sp>
      <p:sp>
        <p:nvSpPr>
          <p:cNvPr id="96" name="Legend [PEER_KEEP]"/>
          <p:cNvSpPr/>
          <p:nvPr/>
        </p:nvSpPr>
        <p:spPr>
          <a:xfrm>
            <a:off x="6135583" y="1277874"/>
            <a:ext cx="77724" cy="77724"/>
          </a:xfrm>
          <a:prstGeom prst="ellipse">
            <a:avLst/>
          </a:prstGeom>
          <a:solidFill>
            <a:srgbClr val="8A8D8F"/>
          </a:solidFill>
          <a:ln w="3175">
            <a:solidFill>
              <a:srgbClr val="000000"/>
            </a:solid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97" name="Legend [PEER_KEEP]"/>
          <p:cNvSpPr txBox="1"/>
          <p:nvPr/>
        </p:nvSpPr>
        <p:spPr>
          <a:xfrm>
            <a:off x="6302461" y="1225296"/>
            <a:ext cx="934965" cy="182880"/>
          </a:xfrm>
          <a:prstGeom prst="rect">
            <a:avLst/>
          </a:prstGeom>
          <a:noFill/>
        </p:spPr>
        <p:txBody>
          <a:bodyPr wrap="none" lIns="0" tIns="0" rIns="0" bIns="0" anchor="ctr">
            <a:spAutoFit/>
          </a:bodyPr>
          <a:lstStyle/>
          <a:p>
            <a:pPr algn="l"/>
            <a:r>
              <a:rPr sz="900" b="0" i="0">
                <a:solidFill>
                  <a:srgbClr val="000000"/>
                </a:solidFill>
                <a:latin typeface="Lato"/>
              </a:rPr>
              <a:t>Public institutions</a:t>
            </a:r>
          </a:p>
        </p:txBody>
      </p:sp>
      <p:sp>
        <p:nvSpPr>
          <p:cNvPr id="98" name="Legend [PEER_KEEP]"/>
          <p:cNvSpPr/>
          <p:nvPr/>
        </p:nvSpPr>
        <p:spPr>
          <a:xfrm>
            <a:off x="7511747" y="1271016"/>
            <a:ext cx="91440" cy="91440"/>
          </a:xfrm>
          <a:prstGeom prst="ellipse">
            <a:avLst/>
          </a:prstGeom>
          <a:solidFill>
            <a:srgbClr val="1F4FE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99" name="Legend [PEER_KEEP]"/>
          <p:cNvSpPr txBox="1"/>
          <p:nvPr/>
        </p:nvSpPr>
        <p:spPr>
          <a:xfrm>
            <a:off x="7685483" y="1225296"/>
            <a:ext cx="981542" cy="182880"/>
          </a:xfrm>
          <a:prstGeom prst="rect">
            <a:avLst/>
          </a:prstGeom>
          <a:noFill/>
        </p:spPr>
        <p:txBody>
          <a:bodyPr wrap="none" lIns="0" tIns="0" rIns="0" bIns="0" anchor="ctr">
            <a:spAutoFit/>
          </a:bodyPr>
          <a:lstStyle/>
          <a:p>
            <a:pPr algn="l"/>
            <a:r>
              <a:rPr sz="900" b="0" i="0">
                <a:solidFill>
                  <a:srgbClr val="000000"/>
                </a:solidFill>
                <a:latin typeface="Lato"/>
              </a:rPr>
              <a:t>Private institutions</a:t>
            </a:r>
          </a:p>
        </p:txBody>
      </p:sp>
      <p:cxnSp>
        <p:nvCxnSpPr>
          <p:cNvPr id="100" name="Legend [PEER_KEEP]"/>
          <p:cNvCxnSpPr/>
          <p:nvPr/>
        </p:nvCxnSpPr>
        <p:spPr>
          <a:xfrm>
            <a:off x="8923057" y="1316736"/>
            <a:ext cx="292608" cy="0"/>
          </a:xfrm>
          <a:prstGeom prst="line">
            <a:avLst/>
          </a:prstGeom>
          <a:ln w="19050">
            <a:solidFill>
              <a:srgbClr val="000000"/>
            </a:solidFill>
          </a:ln>
        </p:spPr>
        <p:style>
          <a:lnRef idx="2">
            <a:srgbClr val="C8102E"/>
          </a:lnRef>
          <a:fillRef idx="0">
            <a:srgbClr val="C8102E"/>
          </a:fillRef>
          <a:effectRef idx="1">
            <a:srgbClr val="C8102E"/>
          </a:effectRef>
          <a:fontRef idx="minor">
            <a:srgbClr val="000000"/>
          </a:fontRef>
        </p:style>
      </p:cxnSp>
      <p:sp>
        <p:nvSpPr>
          <p:cNvPr id="101" name="Legend [PEER_KEEP]"/>
          <p:cNvSpPr txBox="1"/>
          <p:nvPr/>
        </p:nvSpPr>
        <p:spPr>
          <a:xfrm>
            <a:off x="9279673" y="1225296"/>
            <a:ext cx="1244950" cy="182880"/>
          </a:xfrm>
          <a:prstGeom prst="rect">
            <a:avLst/>
          </a:prstGeom>
          <a:noFill/>
        </p:spPr>
        <p:txBody>
          <a:bodyPr wrap="none" lIns="0" tIns="0" rIns="0" bIns="0" anchor="ctr">
            <a:spAutoFit/>
          </a:bodyPr>
          <a:lstStyle/>
          <a:p>
            <a:pPr algn="l"/>
            <a:r>
              <a:rPr sz="900" b="0" i="0">
                <a:solidFill>
                  <a:srgbClr val="000000"/>
                </a:solidFill>
                <a:latin typeface="Lato"/>
              </a:rPr>
              <a:t>Private college trendline</a:t>
            </a:r>
          </a:p>
        </p:txBody>
      </p:sp>
      <p:sp>
        <p:nvSpPr>
          <p:cNvPr id="102" name="Legend [PEER_KEEP]"/>
          <p:cNvSpPr/>
          <p:nvPr/>
        </p:nvSpPr>
        <p:spPr>
          <a:xfrm>
            <a:off x="10785227" y="1257300"/>
            <a:ext cx="118872" cy="118872"/>
          </a:xfrm>
          <a:prstGeom prst="ellipse">
            <a:avLst/>
          </a:prstGeom>
          <a:solidFill>
            <a:srgbClr val="C8102E"/>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03" name="Legend [PEER_KEEP]"/>
          <p:cNvSpPr txBox="1"/>
          <p:nvPr/>
        </p:nvSpPr>
        <p:spPr>
          <a:xfrm>
            <a:off x="10972679" y="1225296"/>
            <a:ext cx="706311" cy="182880"/>
          </a:xfrm>
          <a:prstGeom prst="rect">
            <a:avLst/>
          </a:prstGeom>
          <a:noFill/>
        </p:spPr>
        <p:txBody>
          <a:bodyPr wrap="none" lIns="0" tIns="0" rIns="0" bIns="0" anchor="ctr">
            <a:spAutoFit/>
          </a:bodyPr>
          <a:lstStyle/>
          <a:p>
            <a:pPr algn="l"/>
            <a:r>
              <a:rPr sz="900" b="0" i="0">
                <a:solidFill>
                  <a:srgbClr val="000000"/>
                </a:solidFill>
                <a:latin typeface="Lato"/>
              </a:rPr>
              <a:t>Northeastern</a:t>
            </a:r>
          </a:p>
        </p:txBody>
      </p:sp>
      <p:sp>
        <p:nvSpPr>
          <p:cNvPr id="104" name="TextBox 103"/>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Wide variation in ‘return’ on college investment</a:t>
            </a:r>
          </a:p>
        </p:txBody>
      </p:sp>
      <p:sp>
        <p:nvSpPr>
          <p:cNvPr id="105" name="TextBox 104"/>
          <p:cNvSpPr txBox="1"/>
          <p:nvPr/>
        </p:nvSpPr>
        <p:spPr>
          <a:xfrm>
            <a:off x="457200" y="777240"/>
            <a:ext cx="11274552" cy="274320"/>
          </a:xfrm>
          <a:prstGeom prst="rect">
            <a:avLst/>
          </a:prstGeom>
          <a:noFill/>
        </p:spPr>
        <p:txBody>
          <a:bodyPr wrap="square" lIns="0" tIns="0" rIns="0" bIns="0" anchor="t">
            <a:spAutoFit/>
          </a:bodyPr>
          <a:lstStyle/>
          <a:p>
            <a:pPr algn="l"/>
            <a:r>
              <a:rPr sz="1400" b="0" i="0">
                <a:solidFill>
                  <a:srgbClr val="595959"/>
                </a:solidFill>
                <a:latin typeface="Lato"/>
              </a:rPr>
              <a:t>Northeastern ranks 33rd (of 1,527) in median earnings 10 years after entry: $93K at a $31K average net price</a:t>
            </a:r>
          </a:p>
        </p:txBody>
      </p:sp>
      <p:sp>
        <p:nvSpPr>
          <p:cNvPr id="106" name="TextBox 105"/>
          <p:cNvSpPr txBox="1"/>
          <p:nvPr/>
        </p:nvSpPr>
        <p:spPr>
          <a:xfrm>
            <a:off x="457200" y="5797296"/>
            <a:ext cx="11274552" cy="603504"/>
          </a:xfrm>
          <a:prstGeom prst="rect">
            <a:avLst/>
          </a:prstGeom>
          <a:noFill/>
        </p:spPr>
        <p:txBody>
          <a:bodyPr wrap="square" lIns="0" tIns="0" rIns="0" bIns="0" anchor="b">
            <a:spAutoFit/>
          </a:bodyPr>
          <a:lstStyle/>
          <a:p>
            <a:pPr algn="l"/>
            <a:r>
              <a:rPr sz="700" b="0" i="0">
                <a:solidFill>
                  <a:srgbClr val="595959"/>
                </a:solidFill>
                <a:latin typeface="Lato"/>
              </a:rPr>
              <a:t>(1) Median earnings of federally aided (Title IV) students who entered in 2009–10 or 2010–11, are working and not enrolled, measured in 2020 and 2021 (10th year after entry); 2022 dollars.</a:t>
            </a:r>
          </a:p>
          <a:p>
            <a:pPr algn="l"/>
            <a:r>
              <a:rPr sz="700" b="0" i="0">
                <a:solidFill>
                  <a:srgbClr val="595959"/>
                </a:solidFill>
                <a:latin typeface="Lato"/>
              </a:rPr>
              <a:t>(2) Average net price, academic year 2023–24, for undergraduate Title IV-receiving students: full cost of attendance (tuition and fees, books and supplies, living expenses) minus federal, state and institutional aid.</a:t>
            </a:r>
          </a:p>
          <a:p>
            <a:pPr algn="l"/>
            <a:r>
              <a:rPr sz="700" b="0" i="0">
                <a:solidFill>
                  <a:srgbClr val="595959"/>
                </a:solidFill>
                <a:latin typeface="Lato"/>
              </a:rPr>
              <a:t>(3) Landmark College is located in Putney, Vermont and is dedicated to students with learning disabilities (ADHD, dyslexia and autism).</a:t>
            </a:r>
          </a:p>
          <a:p>
            <a:pPr algn="l"/>
            <a:r>
              <a:rPr sz="700" b="0" i="0">
                <a:solidFill>
                  <a:srgbClr val="595959"/>
                </a:solidFill>
                <a:latin typeface="Lato"/>
              </a:rPr>
              <a:t>Note: Of 6,273 institutions in the Scorecard file, the analysis includes 1,527 (584 public, 943 private) with CONTROL = public or private not-for-profit; CCBASIC = 15–23; CCUGPROF = 5–15; net price and 10-year earnings reported. 1 institution with a negative reported net price is counted but falls left of the axis.</a:t>
            </a:r>
          </a:p>
        </p:txBody>
      </p:sp>
      <p:sp>
        <p:nvSpPr>
          <p:cNvPr id="107" name="Source [PEER_KEEP]"/>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U.S. Department of Education, College Scorecard institution-level data (collegescorecard.ed.gov/data), release of June 10, 2026; Northeastern analysis.</a:t>
            </a:r>
          </a:p>
        </p:txBody>
      </p:sp>
      <p:sp>
        <p:nvSpPr>
          <p:cNvPr id="108"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19</a:t>
            </a:fld>
            <a:endParaRPr lang="en-US" sz="900" b="1">
              <a:solidFill>
                <a:srgbClr val="000000"/>
              </a:solidFill>
              <a:latin typeface="Lat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155984"/>
            <a:ext cx="1828800" cy="1463040"/>
          </a:xfrm>
          <a:prstGeom prst="rect">
            <a:avLst/>
          </a:prstGeom>
          <a:noFill/>
        </p:spPr>
        <p:txBody>
          <a:bodyPr wrap="square" lIns="0" tIns="0" rIns="0" bIns="0" anchor="t">
            <a:spAutoFit/>
          </a:bodyPr>
          <a:lstStyle/>
          <a:p>
            <a:pPr algn="l"/>
            <a:r>
              <a:rPr sz="9600" b="1" i="0">
                <a:solidFill>
                  <a:srgbClr val="C8102E"/>
                </a:solidFill>
                <a:latin typeface="Lato"/>
              </a:rPr>
              <a:t>2</a:t>
            </a:r>
          </a:p>
        </p:txBody>
      </p:sp>
      <p:sp>
        <p:nvSpPr>
          <p:cNvPr id="3" name="TextBox 2"/>
          <p:cNvSpPr txBox="1"/>
          <p:nvPr/>
        </p:nvSpPr>
        <p:spPr>
          <a:xfrm>
            <a:off x="2834640" y="476024"/>
            <a:ext cx="8686800" cy="822960"/>
          </a:xfrm>
          <a:prstGeom prst="rect">
            <a:avLst/>
          </a:prstGeom>
          <a:noFill/>
        </p:spPr>
        <p:txBody>
          <a:bodyPr wrap="square" lIns="0" tIns="0" rIns="0" bIns="0" anchor="t">
            <a:spAutoFit/>
          </a:bodyPr>
          <a:lstStyle/>
          <a:p>
            <a:pPr algn="l"/>
            <a:r>
              <a:rPr sz="4000" b="1" i="0">
                <a:solidFill>
                  <a:srgbClr val="000000"/>
                </a:solidFill>
                <a:latin typeface="Lato"/>
              </a:rPr>
              <a:t>Where Northeastern stands</a:t>
            </a:r>
          </a:p>
        </p:txBody>
      </p:sp>
      <p:sp>
        <p:nvSpPr>
          <p:cNvPr id="4" name="TextBox 3"/>
          <p:cNvSpPr txBox="1"/>
          <p:nvPr/>
        </p:nvSpPr>
        <p:spPr>
          <a:xfrm>
            <a:off x="2834640" y="1247883"/>
            <a:ext cx="8229600" cy="1097280"/>
          </a:xfrm>
          <a:prstGeom prst="rect">
            <a:avLst/>
          </a:prstGeom>
          <a:noFill/>
        </p:spPr>
        <p:txBody>
          <a:bodyPr wrap="square" lIns="0" tIns="0" rIns="0" bIns="0" anchor="t">
            <a:spAutoFit/>
          </a:bodyPr>
          <a:lstStyle/>
          <a:p>
            <a:pPr algn="l"/>
            <a:r>
              <a:rPr sz="1800" b="0" i="0">
                <a:solidFill>
                  <a:srgbClr val="595959"/>
                </a:solidFill>
                <a:latin typeface="Lato"/>
              </a:rPr>
              <a:t>Research momentum, enrollment, staffing and financial performance</a:t>
            </a:r>
          </a:p>
        </p:txBody>
      </p:sp>
      <p:pic>
        <p:nvPicPr>
          <p:cNvPr id="7" name="Picture 2" descr="https://media.licdn.com/mpr/mpr/shrinknp_800_800/AAEAAQAAAAAAAAkMAAAAJDJjYTBjNDhlLTg2MWMtNDBjOC05MzhhLWNiOWM2OTk1NDgyMA.jpg">
            <a:extLst>
              <a:ext uri="{FF2B5EF4-FFF2-40B4-BE49-F238E27FC236}">
                <a16:creationId xmlns:a16="http://schemas.microsoft.com/office/drawing/2014/main" id="{A650EF76-482F-CB8D-2AC1-493FA821E86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4042" b="5099"/>
          <a:stretch>
            <a:fillRect/>
          </a:stretch>
        </p:blipFill>
        <p:spPr bwMode="auto">
          <a:xfrm>
            <a:off x="3060236" y="1699013"/>
            <a:ext cx="6639817" cy="4534847"/>
          </a:xfrm>
          <a:prstGeom prst="rect">
            <a:avLst/>
          </a:prstGeom>
          <a:ln w="190500" cap="sq">
            <a:solidFill>
              <a:srgbClr val="C8C6BD"/>
            </a:solidFill>
            <a:prstDash val="solid"/>
            <a:miter lim="800000"/>
          </a:ln>
          <a:effectLst>
            <a:outerShdw blurRad="254000" algn="bl" rotWithShape="0">
              <a:srgbClr val="000000">
                <a:alpha val="43000"/>
              </a:srgbClr>
            </a:outerShdw>
          </a:effectLst>
          <a:scene3d>
            <a:camera prst="perspectiveFront" fov="5400000"/>
            <a:lightRig rig="threePt" dir="t">
              <a:rot lat="0" lon="0" rev="2100000"/>
            </a:lightRig>
          </a:scene3d>
          <a:sp3d extrusionH="25400">
            <a:bevelT w="304800" h="152400" prst="hardEdge"/>
            <a:extrusionClr>
              <a:srgbClr val="000000"/>
            </a:extrusionClr>
          </a:sp3d>
          <a:extLst>
            <a:ext uri="{909E8E84-426E-40DD-AFC4-6F175D3DCCD1}">
              <a14:hiddenFill xmlns:a14="http://schemas.microsoft.com/office/drawing/2010/main">
                <a:solidFill>
                  <a:srgbClr val="FFFFFF"/>
                </a:solidFill>
              </a14:hiddenFill>
            </a:ext>
          </a:extLst>
        </p:spPr>
      </p:pic>
      <p:sp>
        <p:nvSpPr>
          <p:cNvPr id="8"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20</a:t>
            </a:fld>
            <a:endParaRPr lang="en-US" sz="900" b="1">
              <a:solidFill>
                <a:srgbClr val="000000"/>
              </a:solidFill>
              <a:latin typeface="Lat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ranked #99 of 925 institutions in FY 2024 R&amp;D expenditures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Top 150 institutions by FY 2024 total R&amp;D; Northeastern was #107 in FY 2023 and #134 in FY 2014</a:t>
            </a:r>
          </a:p>
        </p:txBody>
      </p:sp>
      <p:graphicFrame>
        <p:nvGraphicFramePr>
          <p:cNvPr id="9" name="Chart 8"/>
          <p:cNvGraphicFramePr>
            <a:graphicFrameLocks noGrp="1"/>
          </p:cNvGraphicFramePr>
          <p:nvPr/>
        </p:nvGraphicFramePr>
        <p:xfrm>
          <a:off x="548640" y="1325880"/>
          <a:ext cx="1106424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825896"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a:t>
            </a:r>
          </a:p>
        </p:txBody>
      </p:sp>
      <p:sp>
        <p:nvSpPr>
          <p:cNvPr id="11" name="TextBox 10"/>
          <p:cNvSpPr txBox="1"/>
          <p:nvPr/>
        </p:nvSpPr>
        <p:spPr>
          <a:xfrm>
            <a:off x="2481107"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#25</a:t>
            </a:r>
          </a:p>
        </p:txBody>
      </p:sp>
      <p:sp>
        <p:nvSpPr>
          <p:cNvPr id="12" name="TextBox 11"/>
          <p:cNvSpPr txBox="1"/>
          <p:nvPr/>
        </p:nvSpPr>
        <p:spPr>
          <a:xfrm>
            <a:off x="4205284"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#50</a:t>
            </a:r>
          </a:p>
        </p:txBody>
      </p:sp>
      <p:sp>
        <p:nvSpPr>
          <p:cNvPr id="13" name="TextBox 12"/>
          <p:cNvSpPr txBox="1"/>
          <p:nvPr/>
        </p:nvSpPr>
        <p:spPr>
          <a:xfrm>
            <a:off x="5929461"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#75</a:t>
            </a:r>
          </a:p>
        </p:txBody>
      </p:sp>
      <p:sp>
        <p:nvSpPr>
          <p:cNvPr id="14" name="TextBox 13"/>
          <p:cNvSpPr txBox="1"/>
          <p:nvPr/>
        </p:nvSpPr>
        <p:spPr>
          <a:xfrm>
            <a:off x="7653639"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#100</a:t>
            </a:r>
          </a:p>
        </p:txBody>
      </p:sp>
      <p:sp>
        <p:nvSpPr>
          <p:cNvPr id="15" name="TextBox 14"/>
          <p:cNvSpPr txBox="1"/>
          <p:nvPr/>
        </p:nvSpPr>
        <p:spPr>
          <a:xfrm>
            <a:off x="9377816"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#125</a:t>
            </a:r>
          </a:p>
        </p:txBody>
      </p:sp>
      <p:sp>
        <p:nvSpPr>
          <p:cNvPr id="16" name="TextBox 15"/>
          <p:cNvSpPr txBox="1"/>
          <p:nvPr/>
        </p:nvSpPr>
        <p:spPr>
          <a:xfrm>
            <a:off x="11101994"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#150</a:t>
            </a:r>
          </a:p>
        </p:txBody>
      </p:sp>
      <p:cxnSp>
        <p:nvCxnSpPr>
          <p:cNvPr id="17" name="Connector 16"/>
          <p:cNvCxnSpPr/>
          <p:nvPr/>
        </p:nvCxnSpPr>
        <p:spPr>
          <a:xfrm>
            <a:off x="3708955"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754675"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37 institutions ≥ $1B</a:t>
            </a:r>
          </a:p>
        </p:txBody>
      </p:sp>
      <p:cxnSp>
        <p:nvCxnSpPr>
          <p:cNvPr id="19" name="Connector 18"/>
          <p:cNvCxnSpPr/>
          <p:nvPr/>
        </p:nvCxnSpPr>
        <p:spPr>
          <a:xfrm>
            <a:off x="6122804"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68524"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72 institutions ≥ $500M</a:t>
            </a:r>
          </a:p>
        </p:txBody>
      </p:sp>
      <p:cxnSp>
        <p:nvCxnSpPr>
          <p:cNvPr id="21" name="Connector 20"/>
          <p:cNvCxnSpPr/>
          <p:nvPr/>
        </p:nvCxnSpPr>
        <p:spPr>
          <a:xfrm>
            <a:off x="9915994"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961714"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127 institutions ≥ $250M</a:t>
            </a:r>
          </a:p>
        </p:txBody>
      </p:sp>
      <p:cxnSp>
        <p:nvCxnSpPr>
          <p:cNvPr id="24" name="Connector 23"/>
          <p:cNvCxnSpPr/>
          <p:nvPr/>
        </p:nvCxnSpPr>
        <p:spPr>
          <a:xfrm>
            <a:off x="7950432" y="3946398"/>
            <a:ext cx="0" cy="911436"/>
          </a:xfrm>
          <a:prstGeom prst="line">
            <a:avLst/>
          </a:prstGeom>
          <a:ln w="28575">
            <a:solidFill>
              <a:srgbClr val="C810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52560" y="146304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299448" y="141732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27" name="Rectangle 26"/>
          <p:cNvSpPr/>
          <p:nvPr/>
        </p:nvSpPr>
        <p:spPr>
          <a:xfrm>
            <a:off x="9052560" y="171907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99448" y="167335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29" name="Rectangle 28"/>
          <p:cNvSpPr/>
          <p:nvPr/>
        </p:nvSpPr>
        <p:spPr>
          <a:xfrm>
            <a:off x="9052560" y="197510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299448" y="192938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31" name="TextBox 30"/>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32" name="TextBox 31"/>
          <p:cNvSpPr txBox="1"/>
          <p:nvPr/>
        </p:nvSpPr>
        <p:spPr>
          <a:xfrm>
            <a:off x="457200" y="6281928"/>
            <a:ext cx="11274552" cy="118872"/>
          </a:xfrm>
          <a:prstGeom prst="rect">
            <a:avLst/>
          </a:prstGeom>
          <a:noFill/>
        </p:spPr>
        <p:txBody>
          <a:bodyPr wrap="square" lIns="0" tIns="0" rIns="0" bIns="0" anchor="b">
            <a:spAutoFit/>
          </a:bodyPr>
          <a:lstStyle/>
          <a:p>
            <a:pPr algn="l"/>
            <a:r>
              <a:rPr sz="700" b="0" i="0">
                <a:solidFill>
                  <a:srgbClr val="595959"/>
                </a:solidFill>
                <a:latin typeface="Lato"/>
              </a:rPr>
              <a:t>Note: Johns Hopkins includes the Applied Physics Laboratory ($2.55B of $4.13B). Total higher-ed R&amp;D in FY 2024 was $117.7B across 925 institutions.</a:t>
            </a:r>
          </a:p>
        </p:txBody>
      </p:sp>
      <p:sp>
        <p:nvSpPr>
          <p:cNvPr id="33"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21</a:t>
            </a:fld>
            <a:endParaRPr lang="en-US" sz="900" b="1">
              <a:solidFill>
                <a:srgbClr val="000000"/>
              </a:solidFill>
              <a:latin typeface="Lato"/>
            </a:endParaRPr>
          </a:p>
        </p:txBody>
      </p:sp>
      <p:pic>
        <p:nvPicPr>
          <p:cNvPr id="34" name="Logo Northeastern" descr="Northeastern logo"/>
          <p:cNvPicPr>
            <a:picLocks noChangeAspect="1"/>
          </p:cNvPicPr>
          <p:nvPr/>
        </p:nvPicPr>
        <p:blipFill>
          <a:blip r:embed="rId4"/>
          <a:stretch>
            <a:fillRect/>
          </a:stretch>
        </p:blipFill>
        <p:spPr>
          <a:xfrm>
            <a:off x="7754111" y="3493008"/>
            <a:ext cx="384048" cy="384048"/>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ranked #33 among private institutions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Top 50 private institutions by FY 2024 total R&amp;D; Northeastern was #36 in FY 2023 and #42 in FY 2014</a:t>
            </a:r>
          </a:p>
        </p:txBody>
      </p:sp>
      <p:graphicFrame>
        <p:nvGraphicFramePr>
          <p:cNvPr id="9" name="Chart 8"/>
          <p:cNvGraphicFramePr>
            <a:graphicFrameLocks noGrp="1"/>
          </p:cNvGraphicFramePr>
          <p:nvPr/>
        </p:nvGraphicFramePr>
        <p:xfrm>
          <a:off x="548640" y="1280160"/>
          <a:ext cx="11064240" cy="4754880"/>
        </p:xfrm>
        <a:graphic>
          <a:graphicData uri="http://schemas.openxmlformats.org/drawingml/2006/chart">
            <c:chart xmlns:c="http://schemas.openxmlformats.org/drawingml/2006/chart" xmlns:r="http://schemas.openxmlformats.org/officeDocument/2006/relationships" r:id="rId3"/>
          </a:graphicData>
        </a:graphic>
      </p:graphicFrame>
      <p:cxnSp>
        <p:nvCxnSpPr>
          <p:cNvPr id="11" name="Connector 10"/>
          <p:cNvCxnSpPr/>
          <p:nvPr/>
        </p:nvCxnSpPr>
        <p:spPr>
          <a:xfrm>
            <a:off x="7881465" y="2722473"/>
            <a:ext cx="0" cy="1287612"/>
          </a:xfrm>
          <a:prstGeom prst="line">
            <a:avLst/>
          </a:prstGeom>
          <a:ln w="28575">
            <a:solidFill>
              <a:srgbClr val="C810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9052560" y="141732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299448" y="137160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14" name="Rectangle 13"/>
          <p:cNvSpPr/>
          <p:nvPr/>
        </p:nvSpPr>
        <p:spPr>
          <a:xfrm>
            <a:off x="9052560" y="167335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99448" y="162763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16" name="Rectangle 15"/>
          <p:cNvSpPr/>
          <p:nvPr/>
        </p:nvSpPr>
        <p:spPr>
          <a:xfrm>
            <a:off x="9052560" y="192938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299448" y="188366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18" name="TextBox 17"/>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19" name="TextBox 18"/>
          <p:cNvSpPr txBox="1"/>
          <p:nvPr/>
        </p:nvSpPr>
        <p:spPr>
          <a:xfrm>
            <a:off x="457200" y="6281928"/>
            <a:ext cx="11274552" cy="118872"/>
          </a:xfrm>
          <a:prstGeom prst="rect">
            <a:avLst/>
          </a:prstGeom>
          <a:noFill/>
        </p:spPr>
        <p:txBody>
          <a:bodyPr wrap="square" lIns="0" tIns="0" rIns="0" bIns="0" anchor="b">
            <a:spAutoFit/>
          </a:bodyPr>
          <a:lstStyle/>
          <a:p>
            <a:pPr algn="l"/>
            <a:r>
              <a:rPr sz="700" b="0" i="0">
                <a:solidFill>
                  <a:srgbClr val="595959"/>
                </a:solidFill>
                <a:latin typeface="Lato"/>
              </a:rPr>
              <a:t>Note: Johns Hopkins includes the Applied Physics Laboratory ($2.55B of $4.13B).</a:t>
            </a:r>
          </a:p>
        </p:txBody>
      </p:sp>
      <p:sp>
        <p:nvSpPr>
          <p:cNvPr id="20"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22</a:t>
            </a:fld>
            <a:endParaRPr lang="en-US" sz="900" b="1">
              <a:solidFill>
                <a:srgbClr val="000000"/>
              </a:solidFill>
              <a:latin typeface="Lato"/>
            </a:endParaRPr>
          </a:p>
        </p:txBody>
      </p:sp>
      <p:pic>
        <p:nvPicPr>
          <p:cNvPr id="21" name="Logo Northeastern" descr="Northeastern logo"/>
          <p:cNvPicPr>
            <a:picLocks noChangeAspect="1"/>
          </p:cNvPicPr>
          <p:nvPr/>
        </p:nvPicPr>
        <p:blipFill>
          <a:blip r:embed="rId4"/>
          <a:stretch>
            <a:fillRect/>
          </a:stretch>
        </p:blipFill>
        <p:spPr>
          <a:xfrm>
            <a:off x="7690103" y="2286000"/>
            <a:ext cx="384048" cy="384048"/>
          </a:xfrm>
          <a:prstGeom prst="rect">
            <a:avLst/>
          </a:prstGeom>
        </p:spPr>
      </p:pic>
      <p:cxnSp>
        <p:nvCxnSpPr>
          <p:cNvPr id="22" name="Connector 21"/>
          <p:cNvCxnSpPr/>
          <p:nvPr/>
        </p:nvCxnSpPr>
        <p:spPr>
          <a:xfrm>
            <a:off x="4157241" y="3293059"/>
            <a:ext cx="0" cy="288843"/>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pic>
        <p:nvPicPr>
          <p:cNvPr id="23" name="Logo MIT" descr="MIT logo"/>
          <p:cNvPicPr>
            <a:picLocks noChangeAspect="1"/>
          </p:cNvPicPr>
          <p:nvPr/>
        </p:nvPicPr>
        <p:blipFill>
          <a:blip r:embed="rId5"/>
          <a:stretch>
            <a:fillRect/>
          </a:stretch>
        </p:blipFill>
        <p:spPr>
          <a:xfrm>
            <a:off x="3956073" y="2985942"/>
            <a:ext cx="402336" cy="211896"/>
          </a:xfrm>
          <a:prstGeom prst="rect">
            <a:avLst/>
          </a:prstGeom>
        </p:spPr>
      </p:pic>
      <p:cxnSp>
        <p:nvCxnSpPr>
          <p:cNvPr id="24" name="Connector 23"/>
          <p:cNvCxnSpPr/>
          <p:nvPr/>
        </p:nvCxnSpPr>
        <p:spPr>
          <a:xfrm>
            <a:off x="5605550" y="3641750"/>
            <a:ext cx="0" cy="261537"/>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pic>
        <p:nvPicPr>
          <p:cNvPr id="25" name="Logo Princeton" descr="Princeton logo"/>
          <p:cNvPicPr>
            <a:picLocks noChangeAspect="1"/>
          </p:cNvPicPr>
          <p:nvPr/>
        </p:nvPicPr>
        <p:blipFill>
          <a:blip r:embed="rId6"/>
          <a:stretch>
            <a:fillRect/>
          </a:stretch>
        </p:blipFill>
        <p:spPr>
          <a:xfrm>
            <a:off x="5445287" y="3239414"/>
            <a:ext cx="320527" cy="402336"/>
          </a:xfrm>
          <a:prstGeom prst="rect">
            <a:avLst/>
          </a:prstGeom>
        </p:spPr>
      </p:pic>
      <p:cxnSp>
        <p:nvCxnSpPr>
          <p:cNvPr id="26" name="Connector 25"/>
          <p:cNvCxnSpPr/>
          <p:nvPr/>
        </p:nvCxnSpPr>
        <p:spPr>
          <a:xfrm>
            <a:off x="5812452" y="3166262"/>
            <a:ext cx="0" cy="770856"/>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pic>
        <p:nvPicPr>
          <p:cNvPr id="27" name="Logo CMU" descr="CMU logo"/>
          <p:cNvPicPr>
            <a:picLocks noChangeAspect="1"/>
          </p:cNvPicPr>
          <p:nvPr/>
        </p:nvPicPr>
        <p:blipFill>
          <a:blip r:embed="rId7"/>
          <a:stretch>
            <a:fillRect/>
          </a:stretch>
        </p:blipFill>
        <p:spPr>
          <a:xfrm>
            <a:off x="5611284" y="2763926"/>
            <a:ext cx="402336" cy="402336"/>
          </a:xfrm>
          <a:prstGeom prst="rect">
            <a:avLst/>
          </a:prstGeom>
        </p:spPr>
      </p:pic>
      <p:cxnSp>
        <p:nvCxnSpPr>
          <p:cNvPr id="28" name="Connector 27"/>
          <p:cNvCxnSpPr/>
          <p:nvPr/>
        </p:nvCxnSpPr>
        <p:spPr>
          <a:xfrm>
            <a:off x="6433156" y="3641750"/>
            <a:ext cx="0" cy="333463"/>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pic>
        <p:nvPicPr>
          <p:cNvPr id="29" name="Logo Caltech" descr="Caltech logo"/>
          <p:cNvPicPr>
            <a:picLocks noChangeAspect="1"/>
          </p:cNvPicPr>
          <p:nvPr/>
        </p:nvPicPr>
        <p:blipFill>
          <a:blip r:embed="rId8"/>
          <a:stretch>
            <a:fillRect/>
          </a:stretch>
        </p:blipFill>
        <p:spPr>
          <a:xfrm>
            <a:off x="6231988" y="3239414"/>
            <a:ext cx="402336" cy="40233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Over the past five years, Northeastern's R&amp;D grew 13.5% per year, 1.9x the rate of all institutions</a:t>
            </a:r>
          </a:p>
        </p:txBody>
      </p:sp>
      <p:graphicFrame>
        <p:nvGraphicFramePr>
          <p:cNvPr id="7" name="Chart 6"/>
          <p:cNvGraphicFramePr>
            <a:graphicFrameLocks noGrp="1"/>
          </p:cNvGraphicFramePr>
          <p:nvPr/>
        </p:nvGraphicFramePr>
        <p:xfrm>
          <a:off x="548640" y="1280160"/>
          <a:ext cx="11064240" cy="4709160"/>
        </p:xfrm>
        <a:graphic>
          <a:graphicData uri="http://schemas.openxmlformats.org/drawingml/2006/chart">
            <c:chart xmlns:c="http://schemas.openxmlformats.org/drawingml/2006/chart" xmlns:r="http://schemas.openxmlformats.org/officeDocument/2006/relationships" r:id="rId3"/>
          </a:graphicData>
        </a:graphic>
      </p:graphicFrame>
      <p:cxnSp>
        <p:nvCxnSpPr>
          <p:cNvPr id="8" name="Connector 7"/>
          <p:cNvCxnSpPr/>
          <p:nvPr/>
        </p:nvCxnSpPr>
        <p:spPr>
          <a:xfrm>
            <a:off x="1157173" y="3221405"/>
            <a:ext cx="10345064" cy="0"/>
          </a:xfrm>
          <a:prstGeom prst="line">
            <a:avLst/>
          </a:prstGeom>
          <a:ln w="12700">
            <a:solidFill>
              <a:srgbClr val="C8102E"/>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052560" y="2231136"/>
            <a:ext cx="164592" cy="0"/>
          </a:xfrm>
          <a:prstGeom prst="line">
            <a:avLst/>
          </a:prstGeom>
          <a:ln w="12700">
            <a:solidFill>
              <a:srgbClr val="C8102E"/>
            </a:solidFill>
            <a:prstDash val="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9299448" y="2112264"/>
            <a:ext cx="2743200" cy="237744"/>
          </a:xfrm>
          <a:prstGeom prst="rect">
            <a:avLst/>
          </a:prstGeom>
          <a:noFill/>
        </p:spPr>
        <p:txBody>
          <a:bodyPr wrap="square" lIns="0" tIns="0" rIns="0" bIns="0" anchor="ctr">
            <a:spAutoFit/>
          </a:bodyPr>
          <a:lstStyle/>
          <a:p>
            <a:pPr algn="l"/>
            <a:r>
              <a:rPr sz="1200" b="0" i="0">
                <a:solidFill>
                  <a:srgbClr val="2B2B2B"/>
                </a:solidFill>
                <a:latin typeface="Lato"/>
              </a:rPr>
              <a:t>All HERD institutions: 7.1%/yr</a:t>
            </a:r>
          </a:p>
        </p:txBody>
      </p:sp>
      <p:sp>
        <p:nvSpPr>
          <p:cNvPr id="11" name="Rectangle 10"/>
          <p:cNvSpPr/>
          <p:nvPr/>
        </p:nvSpPr>
        <p:spPr>
          <a:xfrm>
            <a:off x="9052560" y="141732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99448" y="137160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13" name="Rectangle 12"/>
          <p:cNvSpPr/>
          <p:nvPr/>
        </p:nvSpPr>
        <p:spPr>
          <a:xfrm>
            <a:off x="9052560" y="167335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299448" y="162763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15" name="Rectangle 14"/>
          <p:cNvSpPr/>
          <p:nvPr/>
        </p:nvSpPr>
        <p:spPr>
          <a:xfrm>
            <a:off x="9052560" y="192938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299448" y="188366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17" name="TextBox 16"/>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Annual growth rate of R&amp;D expenditures, FY 2019–2024, top 50 privates: Northeastern ranked #3 of 50</a:t>
            </a:r>
          </a:p>
        </p:txBody>
      </p:sp>
      <p:sp>
        <p:nvSpPr>
          <p:cNvPr id="18" name="TextBox 17"/>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19"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23</a:t>
            </a:fld>
            <a:endParaRPr lang="en-US" sz="900" b="1">
              <a:solidFill>
                <a:srgbClr val="000000"/>
              </a:solidFill>
              <a:latin typeface="Lat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is a “beluga”: smaller than the median top-50 private, but among the fastest growing</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FY 2024 R&amp;D expenditures vs. annual R&amp;D growth rate (FY 2014–2024), top 50 private institutions</a:t>
            </a:r>
          </a:p>
        </p:txBody>
      </p:sp>
      <p:graphicFrame>
        <p:nvGraphicFramePr>
          <p:cNvPr id="9" name="Chart 8"/>
          <p:cNvGraphicFramePr>
            <a:graphicFrameLocks noGrp="1"/>
          </p:cNvGraphicFramePr>
          <p:nvPr>
            <p:extLst>
              <p:ext uri="{D42A27DB-BD31-4B8C-83A1-F6EECF244321}">
                <p14:modId xmlns:p14="http://schemas.microsoft.com/office/powerpoint/2010/main" val="960987928"/>
              </p:ext>
            </p:extLst>
          </p:nvPr>
        </p:nvGraphicFramePr>
        <p:xfrm>
          <a:off x="548640" y="1325880"/>
          <a:ext cx="11064240" cy="466344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755294" y="5484571"/>
            <a:ext cx="914400" cy="169277"/>
          </a:xfrm>
          <a:prstGeom prst="rect">
            <a:avLst/>
          </a:prstGeom>
          <a:noFill/>
        </p:spPr>
        <p:txBody>
          <a:bodyPr wrap="square" lIns="0" tIns="0" rIns="0" bIns="0" anchor="t">
            <a:spAutoFit/>
          </a:bodyPr>
          <a:lstStyle/>
          <a:p>
            <a:pPr algn="ctr"/>
            <a:r>
              <a:rPr sz="1100" b="0" i="0" dirty="0">
                <a:latin typeface="Lato"/>
              </a:rPr>
              <a:t>$100M</a:t>
            </a:r>
          </a:p>
        </p:txBody>
      </p:sp>
      <p:sp>
        <p:nvSpPr>
          <p:cNvPr id="12" name="TextBox 11"/>
          <p:cNvSpPr txBox="1"/>
          <p:nvPr/>
        </p:nvSpPr>
        <p:spPr>
          <a:xfrm>
            <a:off x="2558866" y="5484571"/>
            <a:ext cx="914400" cy="169277"/>
          </a:xfrm>
          <a:prstGeom prst="rect">
            <a:avLst/>
          </a:prstGeom>
          <a:noFill/>
        </p:spPr>
        <p:txBody>
          <a:bodyPr wrap="square" lIns="0" tIns="0" rIns="0" bIns="0" anchor="t">
            <a:spAutoFit/>
          </a:bodyPr>
          <a:lstStyle/>
          <a:p>
            <a:pPr algn="ctr"/>
            <a:r>
              <a:rPr sz="1100" b="0" i="0">
                <a:latin typeface="Lato"/>
              </a:rPr>
              <a:t>$200M</a:t>
            </a:r>
          </a:p>
        </p:txBody>
      </p:sp>
      <p:sp>
        <p:nvSpPr>
          <p:cNvPr id="14" name="TextBox 13"/>
          <p:cNvSpPr txBox="1"/>
          <p:nvPr/>
        </p:nvSpPr>
        <p:spPr>
          <a:xfrm>
            <a:off x="4943058" y="5484571"/>
            <a:ext cx="914400" cy="169277"/>
          </a:xfrm>
          <a:prstGeom prst="rect">
            <a:avLst/>
          </a:prstGeom>
          <a:noFill/>
        </p:spPr>
        <p:txBody>
          <a:bodyPr wrap="square" lIns="0" tIns="0" rIns="0" bIns="0" anchor="t">
            <a:spAutoFit/>
          </a:bodyPr>
          <a:lstStyle/>
          <a:p>
            <a:pPr algn="ctr"/>
            <a:r>
              <a:rPr sz="1100" b="0" i="0">
                <a:latin typeface="Lato"/>
              </a:rPr>
              <a:t>$500M</a:t>
            </a:r>
          </a:p>
        </p:txBody>
      </p:sp>
      <p:sp>
        <p:nvSpPr>
          <p:cNvPr id="16" name="TextBox 15"/>
          <p:cNvSpPr txBox="1"/>
          <p:nvPr/>
        </p:nvSpPr>
        <p:spPr>
          <a:xfrm>
            <a:off x="6746630" y="5484571"/>
            <a:ext cx="914400" cy="169277"/>
          </a:xfrm>
          <a:prstGeom prst="rect">
            <a:avLst/>
          </a:prstGeom>
          <a:noFill/>
        </p:spPr>
        <p:txBody>
          <a:bodyPr wrap="square" lIns="0" tIns="0" rIns="0" bIns="0" anchor="t">
            <a:spAutoFit/>
          </a:bodyPr>
          <a:lstStyle/>
          <a:p>
            <a:pPr algn="ctr"/>
            <a:r>
              <a:rPr sz="1100" b="0" i="0" dirty="0">
                <a:latin typeface="Lato"/>
              </a:rPr>
              <a:t>$1B</a:t>
            </a:r>
          </a:p>
        </p:txBody>
      </p:sp>
      <p:sp>
        <p:nvSpPr>
          <p:cNvPr id="18" name="TextBox 17"/>
          <p:cNvSpPr txBox="1"/>
          <p:nvPr/>
        </p:nvSpPr>
        <p:spPr>
          <a:xfrm>
            <a:off x="8550202" y="5484571"/>
            <a:ext cx="914400" cy="169277"/>
          </a:xfrm>
          <a:prstGeom prst="rect">
            <a:avLst/>
          </a:prstGeom>
          <a:noFill/>
        </p:spPr>
        <p:txBody>
          <a:bodyPr wrap="square" lIns="0" tIns="0" rIns="0" bIns="0" anchor="t">
            <a:spAutoFit/>
          </a:bodyPr>
          <a:lstStyle/>
          <a:p>
            <a:pPr algn="ctr"/>
            <a:r>
              <a:rPr sz="1100" b="0" i="0">
                <a:latin typeface="Lato"/>
              </a:rPr>
              <a:t>$2B</a:t>
            </a:r>
          </a:p>
        </p:txBody>
      </p:sp>
      <p:sp>
        <p:nvSpPr>
          <p:cNvPr id="20" name="TextBox 19"/>
          <p:cNvSpPr txBox="1"/>
          <p:nvPr/>
        </p:nvSpPr>
        <p:spPr>
          <a:xfrm>
            <a:off x="10353774" y="5484571"/>
            <a:ext cx="914400" cy="169277"/>
          </a:xfrm>
          <a:prstGeom prst="rect">
            <a:avLst/>
          </a:prstGeom>
          <a:noFill/>
        </p:spPr>
        <p:txBody>
          <a:bodyPr wrap="square" lIns="0" tIns="0" rIns="0" bIns="0" anchor="t">
            <a:spAutoFit/>
          </a:bodyPr>
          <a:lstStyle/>
          <a:p>
            <a:pPr algn="ctr"/>
            <a:r>
              <a:rPr sz="1100" b="0" i="0">
                <a:latin typeface="Lato"/>
              </a:rPr>
              <a:t>$4B</a:t>
            </a:r>
          </a:p>
        </p:txBody>
      </p:sp>
      <p:sp>
        <p:nvSpPr>
          <p:cNvPr id="21" name="TextBox 20"/>
          <p:cNvSpPr txBox="1"/>
          <p:nvPr/>
        </p:nvSpPr>
        <p:spPr>
          <a:xfrm>
            <a:off x="1212494" y="5704027"/>
            <a:ext cx="10179100" cy="169277"/>
          </a:xfrm>
          <a:prstGeom prst="rect">
            <a:avLst/>
          </a:prstGeom>
          <a:noFill/>
        </p:spPr>
        <p:txBody>
          <a:bodyPr wrap="square" lIns="0" tIns="0" rIns="0" bIns="0" anchor="t">
            <a:spAutoFit/>
          </a:bodyPr>
          <a:lstStyle/>
          <a:p>
            <a:pPr algn="ctr"/>
            <a:r>
              <a:rPr sz="1100" b="0" i="0">
                <a:latin typeface="Lato"/>
              </a:rPr>
              <a:t>FY 2024 total R&amp;D expenditures (log scale)</a:t>
            </a:r>
          </a:p>
        </p:txBody>
      </p:sp>
      <p:cxnSp>
        <p:nvCxnSpPr>
          <p:cNvPr id="22" name="Connector 21"/>
          <p:cNvCxnSpPr/>
          <p:nvPr/>
        </p:nvCxnSpPr>
        <p:spPr>
          <a:xfrm>
            <a:off x="5360256" y="1419148"/>
            <a:ext cx="0" cy="4010559"/>
          </a:xfrm>
          <a:prstGeom prst="line">
            <a:avLst/>
          </a:prstGeom>
          <a:ln w="28575">
            <a:solidFill>
              <a:srgbClr val="00B0F0"/>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212494" y="3600197"/>
            <a:ext cx="10179101" cy="0"/>
          </a:xfrm>
          <a:prstGeom prst="line">
            <a:avLst/>
          </a:prstGeom>
          <a:ln w="28575">
            <a:solidFill>
              <a:srgbClr val="00B0F0"/>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269894" y="1474012"/>
            <a:ext cx="1737360" cy="365760"/>
          </a:xfrm>
          <a:prstGeom prst="rect">
            <a:avLst/>
          </a:prstGeom>
          <a:noFill/>
        </p:spPr>
        <p:txBody>
          <a:bodyPr wrap="square" lIns="0" tIns="0" rIns="0" bIns="0" anchor="t">
            <a:spAutoFit/>
          </a:bodyPr>
          <a:lstStyle/>
          <a:p>
            <a:pPr algn="l"/>
            <a:r>
              <a:rPr sz="1300" b="1" i="0">
                <a:solidFill>
                  <a:srgbClr val="000000"/>
                </a:solidFill>
                <a:latin typeface="Lato"/>
              </a:rPr>
              <a:t>Beluga whales</a:t>
            </a:r>
          </a:p>
          <a:p>
            <a:pPr algn="l"/>
            <a:r>
              <a:rPr sz="1000" b="0" i="1">
                <a:solidFill>
                  <a:srgbClr val="A4804A"/>
                </a:solidFill>
                <a:latin typeface="Lato"/>
              </a:rPr>
              <a:t>Smaller / faster growing</a:t>
            </a:r>
          </a:p>
        </p:txBody>
      </p:sp>
      <p:pic>
        <p:nvPicPr>
          <p:cNvPr id="25" name="Picture 24" descr="whale_Picture_2.png"/>
          <p:cNvPicPr>
            <a:picLocks noChangeAspect="1"/>
          </p:cNvPicPr>
          <p:nvPr/>
        </p:nvPicPr>
        <p:blipFill>
          <a:blip r:embed="rId4"/>
          <a:stretch>
            <a:fillRect/>
          </a:stretch>
        </p:blipFill>
        <p:spPr>
          <a:xfrm>
            <a:off x="3269894" y="1727263"/>
            <a:ext cx="1005840" cy="671398"/>
          </a:xfrm>
          <a:prstGeom prst="rect">
            <a:avLst/>
          </a:prstGeom>
        </p:spPr>
      </p:pic>
      <p:sp>
        <p:nvSpPr>
          <p:cNvPr id="26" name="TextBox 25"/>
          <p:cNvSpPr txBox="1"/>
          <p:nvPr/>
        </p:nvSpPr>
        <p:spPr>
          <a:xfrm>
            <a:off x="9581083" y="1474012"/>
            <a:ext cx="1737360" cy="365760"/>
          </a:xfrm>
          <a:prstGeom prst="rect">
            <a:avLst/>
          </a:prstGeom>
          <a:noFill/>
        </p:spPr>
        <p:txBody>
          <a:bodyPr wrap="square" lIns="0" tIns="0" rIns="0" bIns="0" anchor="t">
            <a:spAutoFit/>
          </a:bodyPr>
          <a:lstStyle/>
          <a:p>
            <a:pPr algn="r"/>
            <a:r>
              <a:rPr sz="1300" b="1" i="0">
                <a:solidFill>
                  <a:srgbClr val="000000"/>
                </a:solidFill>
                <a:latin typeface="Lato"/>
              </a:rPr>
              <a:t>Sperm whales</a:t>
            </a:r>
          </a:p>
          <a:p>
            <a:pPr algn="r"/>
            <a:r>
              <a:rPr sz="1000" b="0" i="1">
                <a:solidFill>
                  <a:srgbClr val="A4804A"/>
                </a:solidFill>
                <a:latin typeface="Lato"/>
              </a:rPr>
              <a:t>Larger / faster growing</a:t>
            </a:r>
          </a:p>
        </p:txBody>
      </p:sp>
      <p:pic>
        <p:nvPicPr>
          <p:cNvPr id="27" name="Picture 26" descr="whale_Picture_10.png"/>
          <p:cNvPicPr>
            <a:picLocks noChangeAspect="1"/>
          </p:cNvPicPr>
          <p:nvPr/>
        </p:nvPicPr>
        <p:blipFill>
          <a:blip r:embed="rId5"/>
          <a:stretch>
            <a:fillRect/>
          </a:stretch>
        </p:blipFill>
        <p:spPr>
          <a:xfrm>
            <a:off x="10084003" y="1727263"/>
            <a:ext cx="1234440" cy="823989"/>
          </a:xfrm>
          <a:prstGeom prst="rect">
            <a:avLst/>
          </a:prstGeom>
        </p:spPr>
      </p:pic>
      <p:pic>
        <p:nvPicPr>
          <p:cNvPr id="28" name="Picture 27" descr="whale_Picture_28.png"/>
          <p:cNvPicPr>
            <a:picLocks noChangeAspect="1"/>
          </p:cNvPicPr>
          <p:nvPr/>
        </p:nvPicPr>
        <p:blipFill>
          <a:blip r:embed="rId6"/>
          <a:stretch>
            <a:fillRect/>
          </a:stretch>
        </p:blipFill>
        <p:spPr>
          <a:xfrm>
            <a:off x="1285646" y="4478731"/>
            <a:ext cx="1234440" cy="473262"/>
          </a:xfrm>
          <a:prstGeom prst="rect">
            <a:avLst/>
          </a:prstGeom>
        </p:spPr>
      </p:pic>
      <p:sp>
        <p:nvSpPr>
          <p:cNvPr id="29" name="TextBox 28"/>
          <p:cNvSpPr txBox="1"/>
          <p:nvPr/>
        </p:nvSpPr>
        <p:spPr>
          <a:xfrm>
            <a:off x="1285646" y="5009083"/>
            <a:ext cx="1737360" cy="365760"/>
          </a:xfrm>
          <a:prstGeom prst="rect">
            <a:avLst/>
          </a:prstGeom>
          <a:noFill/>
        </p:spPr>
        <p:txBody>
          <a:bodyPr wrap="square" lIns="0" tIns="0" rIns="0" bIns="0" anchor="t">
            <a:spAutoFit/>
          </a:bodyPr>
          <a:lstStyle/>
          <a:p>
            <a:pPr algn="l"/>
            <a:r>
              <a:rPr sz="1300" b="1" i="0">
                <a:solidFill>
                  <a:srgbClr val="000000"/>
                </a:solidFill>
                <a:latin typeface="Lato"/>
              </a:rPr>
              <a:t>Humpback whales</a:t>
            </a:r>
          </a:p>
          <a:p>
            <a:pPr algn="l"/>
            <a:r>
              <a:rPr sz="1000" b="0" i="1">
                <a:solidFill>
                  <a:srgbClr val="A4804A"/>
                </a:solidFill>
                <a:latin typeface="Lato"/>
              </a:rPr>
              <a:t>Smaller / slower growing</a:t>
            </a:r>
          </a:p>
        </p:txBody>
      </p:sp>
      <p:pic>
        <p:nvPicPr>
          <p:cNvPr id="30" name="Picture 29" descr="whale_Picture_23.png"/>
          <p:cNvPicPr>
            <a:picLocks noChangeAspect="1"/>
          </p:cNvPicPr>
          <p:nvPr/>
        </p:nvPicPr>
        <p:blipFill>
          <a:blip r:embed="rId7"/>
          <a:stretch>
            <a:fillRect/>
          </a:stretch>
        </p:blipFill>
        <p:spPr>
          <a:xfrm>
            <a:off x="10084003" y="4578121"/>
            <a:ext cx="1234440" cy="252821"/>
          </a:xfrm>
          <a:prstGeom prst="rect">
            <a:avLst/>
          </a:prstGeom>
        </p:spPr>
      </p:pic>
      <p:sp>
        <p:nvSpPr>
          <p:cNvPr id="31" name="TextBox 30"/>
          <p:cNvSpPr txBox="1"/>
          <p:nvPr/>
        </p:nvSpPr>
        <p:spPr>
          <a:xfrm>
            <a:off x="9581083" y="5009083"/>
            <a:ext cx="1737360" cy="365760"/>
          </a:xfrm>
          <a:prstGeom prst="rect">
            <a:avLst/>
          </a:prstGeom>
          <a:noFill/>
        </p:spPr>
        <p:txBody>
          <a:bodyPr wrap="square" lIns="0" tIns="0" rIns="0" bIns="0" anchor="t">
            <a:spAutoFit/>
          </a:bodyPr>
          <a:lstStyle/>
          <a:p>
            <a:pPr algn="r"/>
            <a:r>
              <a:rPr sz="1300" b="1" i="0">
                <a:solidFill>
                  <a:srgbClr val="000000"/>
                </a:solidFill>
                <a:latin typeface="Lato"/>
              </a:rPr>
              <a:t>Blue whales</a:t>
            </a:r>
          </a:p>
          <a:p>
            <a:pPr algn="r"/>
            <a:r>
              <a:rPr sz="1000" b="0" i="1">
                <a:solidFill>
                  <a:srgbClr val="A4804A"/>
                </a:solidFill>
                <a:latin typeface="Lato"/>
              </a:rPr>
              <a:t>Larger / slower growing</a:t>
            </a:r>
          </a:p>
        </p:txBody>
      </p:sp>
      <p:sp>
        <p:nvSpPr>
          <p:cNvPr id="32" name="TextBox 31"/>
          <p:cNvSpPr txBox="1"/>
          <p:nvPr/>
        </p:nvSpPr>
        <p:spPr>
          <a:xfrm>
            <a:off x="5415120" y="1464868"/>
            <a:ext cx="1463040" cy="153888"/>
          </a:xfrm>
          <a:prstGeom prst="rect">
            <a:avLst/>
          </a:prstGeom>
          <a:noFill/>
        </p:spPr>
        <p:txBody>
          <a:bodyPr wrap="square" lIns="0" tIns="0" rIns="0" bIns="0" anchor="t">
            <a:spAutoFit/>
          </a:bodyPr>
          <a:lstStyle/>
          <a:p>
            <a:pPr algn="l"/>
            <a:r>
              <a:rPr sz="1000" b="0" i="1">
                <a:solidFill>
                  <a:srgbClr val="0070C0"/>
                </a:solidFill>
                <a:latin typeface="Lato"/>
              </a:rPr>
              <a:t>Median $492M</a:t>
            </a:r>
          </a:p>
        </p:txBody>
      </p:sp>
      <p:sp>
        <p:nvSpPr>
          <p:cNvPr id="33" name="TextBox 32"/>
          <p:cNvSpPr txBox="1"/>
          <p:nvPr/>
        </p:nvSpPr>
        <p:spPr>
          <a:xfrm>
            <a:off x="9517075" y="3627629"/>
            <a:ext cx="1828800" cy="153888"/>
          </a:xfrm>
          <a:prstGeom prst="rect">
            <a:avLst/>
          </a:prstGeom>
          <a:noFill/>
        </p:spPr>
        <p:txBody>
          <a:bodyPr wrap="square" lIns="0" tIns="0" rIns="0" bIns="0" anchor="t">
            <a:spAutoFit/>
          </a:bodyPr>
          <a:lstStyle/>
          <a:p>
            <a:pPr algn="r"/>
            <a:r>
              <a:rPr sz="1000" b="0" i="1" dirty="0">
                <a:solidFill>
                  <a:srgbClr val="0070C0"/>
                </a:solidFill>
                <a:latin typeface="Lato"/>
              </a:rPr>
              <a:t>Median 6.2% per year</a:t>
            </a:r>
          </a:p>
        </p:txBody>
      </p:sp>
      <p:cxnSp>
        <p:nvCxnSpPr>
          <p:cNvPr id="34" name="Connector 33"/>
          <p:cNvCxnSpPr/>
          <p:nvPr/>
        </p:nvCxnSpPr>
        <p:spPr>
          <a:xfrm flipV="1">
            <a:off x="1990976" y="1437436"/>
            <a:ext cx="0" cy="896112"/>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064128" y="1876348"/>
            <a:ext cx="1188720" cy="411480"/>
          </a:xfrm>
          <a:prstGeom prst="rect">
            <a:avLst/>
          </a:prstGeom>
          <a:noFill/>
        </p:spPr>
        <p:txBody>
          <a:bodyPr wrap="square" lIns="0" tIns="0" rIns="0" bIns="0" anchor="t">
            <a:spAutoFit/>
          </a:bodyPr>
          <a:lstStyle/>
          <a:p>
            <a:pPr algn="l"/>
            <a:r>
              <a:rPr sz="1100" b="1" i="0">
                <a:solidFill>
                  <a:srgbClr val="000000"/>
                </a:solidFill>
                <a:latin typeface="Lato"/>
              </a:rPr>
              <a:t>Baylor U.</a:t>
            </a:r>
          </a:p>
          <a:p>
            <a:pPr algn="l"/>
            <a:r>
              <a:rPr sz="900" b="0" i="0">
                <a:solidFill>
                  <a:srgbClr val="2B2B2B"/>
                </a:solidFill>
                <a:latin typeface="Lato"/>
              </a:rPr>
              <a:t>$135M · 20.6%/yr</a:t>
            </a:r>
          </a:p>
        </p:txBody>
      </p:sp>
      <p:sp>
        <p:nvSpPr>
          <p:cNvPr id="36" name="TextBox 35"/>
          <p:cNvSpPr txBox="1"/>
          <p:nvPr/>
        </p:nvSpPr>
        <p:spPr>
          <a:xfrm>
            <a:off x="4531336" y="2309295"/>
            <a:ext cx="1088136" cy="201168"/>
          </a:xfrm>
          <a:prstGeom prst="rect">
            <a:avLst/>
          </a:prstGeom>
          <a:noFill/>
        </p:spPr>
        <p:txBody>
          <a:bodyPr wrap="none" lIns="0" tIns="0" rIns="0" bIns="0" anchor="ctr">
            <a:spAutoFit/>
          </a:bodyPr>
          <a:lstStyle/>
          <a:p>
            <a:pPr algn="l"/>
            <a:r>
              <a:rPr sz="1200" b="1" i="0">
                <a:solidFill>
                  <a:srgbClr val="C8102E"/>
                </a:solidFill>
                <a:latin typeface="Lato"/>
              </a:rPr>
              <a:t>Northeastern</a:t>
            </a:r>
          </a:p>
        </p:txBody>
      </p:sp>
      <p:sp>
        <p:nvSpPr>
          <p:cNvPr id="37" name="TextBox 36"/>
          <p:cNvSpPr txBox="1"/>
          <p:nvPr/>
        </p:nvSpPr>
        <p:spPr>
          <a:xfrm>
            <a:off x="10478593" y="3343676"/>
            <a:ext cx="830275" cy="155448"/>
          </a:xfrm>
          <a:prstGeom prst="rect">
            <a:avLst/>
          </a:prstGeom>
          <a:noFill/>
        </p:spPr>
        <p:txBody>
          <a:bodyPr wrap="none" lIns="0" tIns="0" rIns="0" bIns="0" anchor="ctr">
            <a:spAutoFit/>
          </a:bodyPr>
          <a:lstStyle/>
          <a:p>
            <a:pPr algn="l"/>
            <a:r>
              <a:rPr sz="900" b="0" i="0">
                <a:solidFill>
                  <a:srgbClr val="2B2B2B"/>
                </a:solidFill>
                <a:latin typeface="Lato"/>
              </a:rPr>
              <a:t>Johns Hopkins</a:t>
            </a:r>
          </a:p>
        </p:txBody>
      </p:sp>
      <p:sp>
        <p:nvSpPr>
          <p:cNvPr id="38" name="TextBox 37"/>
          <p:cNvSpPr txBox="1"/>
          <p:nvPr/>
        </p:nvSpPr>
        <p:spPr>
          <a:xfrm>
            <a:off x="9298975" y="2656714"/>
            <a:ext cx="950976" cy="155448"/>
          </a:xfrm>
          <a:prstGeom prst="rect">
            <a:avLst/>
          </a:prstGeom>
          <a:noFill/>
        </p:spPr>
        <p:txBody>
          <a:bodyPr wrap="none" lIns="0" tIns="0" rIns="0" bIns="0" anchor="ctr">
            <a:spAutoFit/>
          </a:bodyPr>
          <a:lstStyle/>
          <a:p>
            <a:pPr algn="l"/>
            <a:r>
              <a:rPr sz="900" b="0" i="0">
                <a:solidFill>
                  <a:srgbClr val="2B2B2B"/>
                </a:solidFill>
                <a:latin typeface="Lato"/>
              </a:rPr>
              <a:t>U. Pennsylvania</a:t>
            </a:r>
          </a:p>
        </p:txBody>
      </p:sp>
      <p:sp>
        <p:nvSpPr>
          <p:cNvPr id="39" name="TextBox 38"/>
          <p:cNvSpPr txBox="1"/>
          <p:nvPr/>
        </p:nvSpPr>
        <p:spPr>
          <a:xfrm>
            <a:off x="8576437" y="3676003"/>
            <a:ext cx="528523" cy="155448"/>
          </a:xfrm>
          <a:prstGeom prst="rect">
            <a:avLst/>
          </a:prstGeom>
          <a:noFill/>
        </p:spPr>
        <p:txBody>
          <a:bodyPr wrap="none" lIns="0" tIns="0" rIns="0" bIns="0" anchor="ctr">
            <a:spAutoFit/>
          </a:bodyPr>
          <a:lstStyle/>
          <a:p>
            <a:pPr algn="l"/>
            <a:r>
              <a:rPr sz="900" b="0" i="0">
                <a:solidFill>
                  <a:srgbClr val="2B2B2B"/>
                </a:solidFill>
                <a:latin typeface="Lato"/>
              </a:rPr>
              <a:t>Stanford</a:t>
            </a:r>
          </a:p>
        </p:txBody>
      </p:sp>
      <p:sp>
        <p:nvSpPr>
          <p:cNvPr id="40" name="TextBox 39"/>
          <p:cNvSpPr txBox="1"/>
          <p:nvPr/>
        </p:nvSpPr>
        <p:spPr>
          <a:xfrm>
            <a:off x="7898387" y="3522473"/>
            <a:ext cx="468172" cy="155448"/>
          </a:xfrm>
          <a:prstGeom prst="rect">
            <a:avLst/>
          </a:prstGeom>
          <a:noFill/>
        </p:spPr>
        <p:txBody>
          <a:bodyPr wrap="none" lIns="0" tIns="0" rIns="0" bIns="0" anchor="ctr">
            <a:spAutoFit/>
          </a:bodyPr>
          <a:lstStyle/>
          <a:p>
            <a:pPr algn="l"/>
            <a:r>
              <a:rPr sz="900" b="0" i="0">
                <a:solidFill>
                  <a:srgbClr val="2B2B2B"/>
                </a:solidFill>
                <a:latin typeface="Lato"/>
              </a:rPr>
              <a:t>Cornell</a:t>
            </a:r>
          </a:p>
        </p:txBody>
      </p:sp>
      <p:sp>
        <p:nvSpPr>
          <p:cNvPr id="41" name="TextBox 40"/>
          <p:cNvSpPr txBox="1"/>
          <p:nvPr/>
        </p:nvSpPr>
        <p:spPr>
          <a:xfrm>
            <a:off x="8477592" y="3946568"/>
            <a:ext cx="287121" cy="155448"/>
          </a:xfrm>
          <a:prstGeom prst="rect">
            <a:avLst/>
          </a:prstGeom>
          <a:noFill/>
        </p:spPr>
        <p:txBody>
          <a:bodyPr wrap="none" lIns="0" tIns="0" rIns="0" bIns="0" anchor="ctr">
            <a:spAutoFit/>
          </a:bodyPr>
          <a:lstStyle/>
          <a:p>
            <a:pPr algn="l"/>
            <a:r>
              <a:rPr sz="900" b="0" i="0">
                <a:solidFill>
                  <a:srgbClr val="2B2B2B"/>
                </a:solidFill>
                <a:latin typeface="Lato"/>
              </a:rPr>
              <a:t>Duke</a:t>
            </a:r>
          </a:p>
        </p:txBody>
      </p:sp>
      <p:sp>
        <p:nvSpPr>
          <p:cNvPr id="42" name="TextBox 41"/>
          <p:cNvSpPr txBox="1"/>
          <p:nvPr/>
        </p:nvSpPr>
        <p:spPr>
          <a:xfrm>
            <a:off x="8375089" y="3347643"/>
            <a:ext cx="287121" cy="155448"/>
          </a:xfrm>
          <a:prstGeom prst="rect">
            <a:avLst/>
          </a:prstGeom>
          <a:noFill/>
        </p:spPr>
        <p:txBody>
          <a:bodyPr wrap="none" lIns="0" tIns="0" rIns="0" bIns="0" anchor="ctr">
            <a:spAutoFit/>
          </a:bodyPr>
          <a:lstStyle/>
          <a:p>
            <a:pPr algn="l"/>
            <a:r>
              <a:rPr sz="900" b="0" i="0">
                <a:solidFill>
                  <a:srgbClr val="2B2B2B"/>
                </a:solidFill>
                <a:latin typeface="Lato"/>
              </a:rPr>
              <a:t>Yale</a:t>
            </a:r>
          </a:p>
        </p:txBody>
      </p:sp>
      <p:sp>
        <p:nvSpPr>
          <p:cNvPr id="43" name="TextBox 42"/>
          <p:cNvSpPr txBox="1"/>
          <p:nvPr/>
        </p:nvSpPr>
        <p:spPr>
          <a:xfrm>
            <a:off x="8342418" y="2432368"/>
            <a:ext cx="528523" cy="155448"/>
          </a:xfrm>
          <a:prstGeom prst="rect">
            <a:avLst/>
          </a:prstGeom>
          <a:noFill/>
        </p:spPr>
        <p:txBody>
          <a:bodyPr wrap="none" lIns="0" tIns="0" rIns="0" bIns="0" anchor="ctr">
            <a:spAutoFit/>
          </a:bodyPr>
          <a:lstStyle/>
          <a:p>
            <a:pPr algn="l"/>
            <a:r>
              <a:rPr sz="900" b="0" i="0">
                <a:solidFill>
                  <a:srgbClr val="2B2B2B"/>
                </a:solidFill>
                <a:latin typeface="Lato"/>
              </a:rPr>
              <a:t>New York</a:t>
            </a:r>
          </a:p>
        </p:txBody>
      </p:sp>
      <p:sp>
        <p:nvSpPr>
          <p:cNvPr id="44" name="TextBox 43"/>
          <p:cNvSpPr txBox="1"/>
          <p:nvPr/>
        </p:nvSpPr>
        <p:spPr>
          <a:xfrm>
            <a:off x="7723561" y="3969226"/>
            <a:ext cx="468172" cy="155448"/>
          </a:xfrm>
          <a:prstGeom prst="rect">
            <a:avLst/>
          </a:prstGeom>
          <a:noFill/>
        </p:spPr>
        <p:txBody>
          <a:bodyPr wrap="none" lIns="0" tIns="0" rIns="0" bIns="0" anchor="ctr">
            <a:spAutoFit/>
          </a:bodyPr>
          <a:lstStyle/>
          <a:p>
            <a:pPr algn="l"/>
            <a:r>
              <a:rPr sz="900" b="0" i="0">
                <a:solidFill>
                  <a:srgbClr val="2B2B2B"/>
                </a:solidFill>
                <a:latin typeface="Lato"/>
              </a:rPr>
              <a:t>Harvard</a:t>
            </a:r>
          </a:p>
        </p:txBody>
      </p:sp>
      <p:sp>
        <p:nvSpPr>
          <p:cNvPr id="45" name="TextBox 44"/>
          <p:cNvSpPr txBox="1"/>
          <p:nvPr/>
        </p:nvSpPr>
        <p:spPr>
          <a:xfrm>
            <a:off x="7558986" y="3794300"/>
            <a:ext cx="528523" cy="155448"/>
          </a:xfrm>
          <a:prstGeom prst="rect">
            <a:avLst/>
          </a:prstGeom>
          <a:noFill/>
        </p:spPr>
        <p:txBody>
          <a:bodyPr wrap="none" lIns="0" tIns="0" rIns="0" bIns="0" anchor="ctr">
            <a:spAutoFit/>
          </a:bodyPr>
          <a:lstStyle/>
          <a:p>
            <a:pPr algn="l"/>
            <a:r>
              <a:rPr sz="900" b="0" i="0">
                <a:solidFill>
                  <a:srgbClr val="2B2B2B"/>
                </a:solidFill>
                <a:latin typeface="Lato"/>
              </a:rPr>
              <a:t>Columbia</a:t>
            </a:r>
          </a:p>
        </p:txBody>
      </p:sp>
      <p:cxnSp>
        <p:nvCxnSpPr>
          <p:cNvPr id="46" name="Connector 45"/>
          <p:cNvCxnSpPr/>
          <p:nvPr/>
        </p:nvCxnSpPr>
        <p:spPr>
          <a:xfrm flipH="1">
            <a:off x="7667377" y="3455524"/>
            <a:ext cx="21031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7018153" y="3377800"/>
            <a:ext cx="649224" cy="155448"/>
          </a:xfrm>
          <a:prstGeom prst="rect">
            <a:avLst/>
          </a:prstGeom>
          <a:noFill/>
        </p:spPr>
        <p:txBody>
          <a:bodyPr wrap="none" lIns="0" tIns="0" rIns="0" bIns="0" anchor="ctr">
            <a:spAutoFit/>
          </a:bodyPr>
          <a:lstStyle/>
          <a:p>
            <a:pPr algn="l"/>
            <a:r>
              <a:rPr sz="900" b="0" i="0">
                <a:solidFill>
                  <a:srgbClr val="2B2B2B"/>
                </a:solidFill>
                <a:latin typeface="Lato"/>
              </a:rPr>
              <a:t>Vanderbilt</a:t>
            </a:r>
          </a:p>
        </p:txBody>
      </p:sp>
      <p:cxnSp>
        <p:nvCxnSpPr>
          <p:cNvPr id="48" name="Connector 47"/>
          <p:cNvCxnSpPr/>
          <p:nvPr/>
        </p:nvCxnSpPr>
        <p:spPr>
          <a:xfrm flipV="1">
            <a:off x="7859097" y="3391723"/>
            <a:ext cx="146764" cy="146764"/>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8005861" y="3236275"/>
            <a:ext cx="226771" cy="155448"/>
          </a:xfrm>
          <a:prstGeom prst="rect">
            <a:avLst/>
          </a:prstGeom>
          <a:noFill/>
        </p:spPr>
        <p:txBody>
          <a:bodyPr wrap="none" lIns="0" tIns="0" rIns="0" bIns="0" anchor="ctr">
            <a:spAutoFit/>
          </a:bodyPr>
          <a:lstStyle/>
          <a:p>
            <a:pPr algn="l"/>
            <a:r>
              <a:rPr sz="900" b="0" i="0">
                <a:solidFill>
                  <a:srgbClr val="2B2B2B"/>
                </a:solidFill>
                <a:latin typeface="Lato"/>
              </a:rPr>
              <a:t>USC</a:t>
            </a:r>
          </a:p>
        </p:txBody>
      </p:sp>
      <p:cxnSp>
        <p:nvCxnSpPr>
          <p:cNvPr id="50" name="Connector 49"/>
          <p:cNvCxnSpPr/>
          <p:nvPr/>
        </p:nvCxnSpPr>
        <p:spPr>
          <a:xfrm flipV="1">
            <a:off x="7800759" y="2943399"/>
            <a:ext cx="0" cy="43891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15796" y="2787951"/>
            <a:ext cx="769924" cy="155448"/>
          </a:xfrm>
          <a:prstGeom prst="rect">
            <a:avLst/>
          </a:prstGeom>
          <a:noFill/>
        </p:spPr>
        <p:txBody>
          <a:bodyPr wrap="none" lIns="0" tIns="0" rIns="0" bIns="0" anchor="ctr">
            <a:spAutoFit/>
          </a:bodyPr>
          <a:lstStyle/>
          <a:p>
            <a:pPr algn="l"/>
            <a:r>
              <a:rPr sz="900" b="0" i="0">
                <a:solidFill>
                  <a:srgbClr val="2B2B2B"/>
                </a:solidFill>
                <a:latin typeface="Lato"/>
              </a:rPr>
              <a:t>Northwestern</a:t>
            </a:r>
          </a:p>
        </p:txBody>
      </p:sp>
      <p:sp>
        <p:nvSpPr>
          <p:cNvPr id="52" name="TextBox 51"/>
          <p:cNvSpPr txBox="1"/>
          <p:nvPr/>
        </p:nvSpPr>
        <p:spPr>
          <a:xfrm>
            <a:off x="7859466" y="3044218"/>
            <a:ext cx="347472" cy="155448"/>
          </a:xfrm>
          <a:prstGeom prst="rect">
            <a:avLst/>
          </a:prstGeom>
          <a:noFill/>
        </p:spPr>
        <p:txBody>
          <a:bodyPr wrap="none" lIns="0" tIns="0" rIns="0" bIns="0" anchor="ctr">
            <a:spAutoFit/>
          </a:bodyPr>
          <a:lstStyle/>
          <a:p>
            <a:pPr algn="l"/>
            <a:r>
              <a:rPr sz="900" b="0" i="0">
                <a:solidFill>
                  <a:srgbClr val="2B2B2B"/>
                </a:solidFill>
                <a:latin typeface="Lato"/>
              </a:rPr>
              <a:t>Emory</a:t>
            </a:r>
          </a:p>
        </p:txBody>
      </p:sp>
      <p:sp>
        <p:nvSpPr>
          <p:cNvPr id="53" name="TextBox 52"/>
          <p:cNvSpPr txBox="1"/>
          <p:nvPr/>
        </p:nvSpPr>
        <p:spPr>
          <a:xfrm>
            <a:off x="7365000" y="3602422"/>
            <a:ext cx="347472" cy="155448"/>
          </a:xfrm>
          <a:prstGeom prst="rect">
            <a:avLst/>
          </a:prstGeom>
          <a:noFill/>
        </p:spPr>
        <p:txBody>
          <a:bodyPr wrap="none" lIns="0" tIns="0" rIns="0" bIns="0" anchor="ctr">
            <a:spAutoFit/>
          </a:bodyPr>
          <a:lstStyle/>
          <a:p>
            <a:pPr algn="l"/>
            <a:r>
              <a:rPr sz="900" b="0" i="0">
                <a:solidFill>
                  <a:srgbClr val="2B2B2B"/>
                </a:solidFill>
                <a:latin typeface="Lato"/>
              </a:rPr>
              <a:t>WashU</a:t>
            </a:r>
          </a:p>
        </p:txBody>
      </p:sp>
      <p:sp>
        <p:nvSpPr>
          <p:cNvPr id="54" name="TextBox 53"/>
          <p:cNvSpPr txBox="1"/>
          <p:nvPr/>
        </p:nvSpPr>
        <p:spPr>
          <a:xfrm>
            <a:off x="7451340" y="4547033"/>
            <a:ext cx="226771" cy="155448"/>
          </a:xfrm>
          <a:prstGeom prst="rect">
            <a:avLst/>
          </a:prstGeom>
          <a:noFill/>
        </p:spPr>
        <p:txBody>
          <a:bodyPr wrap="none" lIns="0" tIns="0" rIns="0" bIns="0" anchor="ctr">
            <a:spAutoFit/>
          </a:bodyPr>
          <a:lstStyle/>
          <a:p>
            <a:pPr algn="l"/>
            <a:r>
              <a:rPr sz="900" b="0" i="0">
                <a:solidFill>
                  <a:srgbClr val="2B2B2B"/>
                </a:solidFill>
                <a:latin typeface="Lato"/>
              </a:rPr>
              <a:t>MIT</a:t>
            </a:r>
          </a:p>
        </p:txBody>
      </p:sp>
      <p:sp>
        <p:nvSpPr>
          <p:cNvPr id="55" name="TextBox 54"/>
          <p:cNvSpPr txBox="1"/>
          <p:nvPr/>
        </p:nvSpPr>
        <p:spPr>
          <a:xfrm>
            <a:off x="6114824" y="2952511"/>
            <a:ext cx="1071676" cy="155448"/>
          </a:xfrm>
          <a:prstGeom prst="rect">
            <a:avLst/>
          </a:prstGeom>
          <a:noFill/>
        </p:spPr>
        <p:txBody>
          <a:bodyPr wrap="none" lIns="0" tIns="0" rIns="0" bIns="0" anchor="ctr">
            <a:spAutoFit/>
          </a:bodyPr>
          <a:lstStyle/>
          <a:p>
            <a:pPr algn="l"/>
            <a:r>
              <a:rPr sz="900" b="0" i="0">
                <a:solidFill>
                  <a:srgbClr val="2B2B2B"/>
                </a:solidFill>
                <a:latin typeface="Lato"/>
              </a:rPr>
              <a:t>Icahn Mount Sinai</a:t>
            </a:r>
          </a:p>
        </p:txBody>
      </p:sp>
      <p:sp>
        <p:nvSpPr>
          <p:cNvPr id="56" name="TextBox 55"/>
          <p:cNvSpPr txBox="1"/>
          <p:nvPr/>
        </p:nvSpPr>
        <p:spPr>
          <a:xfrm>
            <a:off x="6429517" y="3749796"/>
            <a:ext cx="890625" cy="155448"/>
          </a:xfrm>
          <a:prstGeom prst="rect">
            <a:avLst/>
          </a:prstGeom>
          <a:noFill/>
        </p:spPr>
        <p:txBody>
          <a:bodyPr wrap="none" lIns="0" tIns="0" rIns="0" bIns="0" anchor="ctr">
            <a:spAutoFit/>
          </a:bodyPr>
          <a:lstStyle/>
          <a:p>
            <a:pPr algn="l"/>
            <a:r>
              <a:rPr sz="900" b="0" i="0">
                <a:solidFill>
                  <a:srgbClr val="2B2B2B"/>
                </a:solidFill>
                <a:latin typeface="Lato"/>
              </a:rPr>
              <a:t>Baylor C. Med.</a:t>
            </a:r>
          </a:p>
        </p:txBody>
      </p:sp>
      <p:sp>
        <p:nvSpPr>
          <p:cNvPr id="57" name="TextBox 56"/>
          <p:cNvSpPr txBox="1"/>
          <p:nvPr/>
        </p:nvSpPr>
        <p:spPr>
          <a:xfrm>
            <a:off x="6654116" y="3150359"/>
            <a:ext cx="407822" cy="155448"/>
          </a:xfrm>
          <a:prstGeom prst="rect">
            <a:avLst/>
          </a:prstGeom>
          <a:noFill/>
        </p:spPr>
        <p:txBody>
          <a:bodyPr wrap="none" lIns="0" tIns="0" rIns="0" bIns="0" anchor="ctr">
            <a:spAutoFit/>
          </a:bodyPr>
          <a:lstStyle/>
          <a:p>
            <a:pPr algn="l"/>
            <a:r>
              <a:rPr sz="900" b="0" i="0">
                <a:solidFill>
                  <a:srgbClr val="2B2B2B"/>
                </a:solidFill>
                <a:latin typeface="Lato"/>
              </a:rPr>
              <a:t>Boston</a:t>
            </a:r>
          </a:p>
        </p:txBody>
      </p:sp>
      <p:sp>
        <p:nvSpPr>
          <p:cNvPr id="58" name="TextBox 57"/>
          <p:cNvSpPr txBox="1"/>
          <p:nvPr/>
        </p:nvSpPr>
        <p:spPr>
          <a:xfrm>
            <a:off x="5471695" y="3630477"/>
            <a:ext cx="649224" cy="155448"/>
          </a:xfrm>
          <a:prstGeom prst="rect">
            <a:avLst/>
          </a:prstGeom>
          <a:noFill/>
        </p:spPr>
        <p:txBody>
          <a:bodyPr wrap="none" lIns="0" tIns="0" rIns="0" bIns="0" anchor="ctr">
            <a:spAutoFit/>
          </a:bodyPr>
          <a:lstStyle/>
          <a:p>
            <a:pPr algn="l"/>
            <a:r>
              <a:rPr sz="900" b="0" i="0">
                <a:solidFill>
                  <a:srgbClr val="2B2B2B"/>
                </a:solidFill>
                <a:latin typeface="Lato"/>
              </a:rPr>
              <a:t>U. Chicago</a:t>
            </a:r>
          </a:p>
        </p:txBody>
      </p:sp>
      <p:sp>
        <p:nvSpPr>
          <p:cNvPr id="59" name="TextBox 58"/>
          <p:cNvSpPr txBox="1"/>
          <p:nvPr/>
        </p:nvSpPr>
        <p:spPr>
          <a:xfrm>
            <a:off x="6135216" y="3933108"/>
            <a:ext cx="769924" cy="155448"/>
          </a:xfrm>
          <a:prstGeom prst="rect">
            <a:avLst/>
          </a:prstGeom>
          <a:noFill/>
        </p:spPr>
        <p:txBody>
          <a:bodyPr wrap="none" lIns="0" tIns="0" rIns="0" bIns="0" anchor="ctr">
            <a:spAutoFit/>
          </a:bodyPr>
          <a:lstStyle/>
          <a:p>
            <a:pPr algn="l"/>
            <a:r>
              <a:rPr sz="900" b="0" i="0">
                <a:solidFill>
                  <a:srgbClr val="2B2B2B"/>
                </a:solidFill>
                <a:latin typeface="Lato"/>
              </a:rPr>
              <a:t>Case Western</a:t>
            </a:r>
          </a:p>
        </p:txBody>
      </p:sp>
      <p:sp>
        <p:nvSpPr>
          <p:cNvPr id="60" name="TextBox 59"/>
          <p:cNvSpPr txBox="1"/>
          <p:nvPr/>
        </p:nvSpPr>
        <p:spPr>
          <a:xfrm>
            <a:off x="5079731" y="3810104"/>
            <a:ext cx="528523" cy="155448"/>
          </a:xfrm>
          <a:prstGeom prst="rect">
            <a:avLst/>
          </a:prstGeom>
          <a:noFill/>
        </p:spPr>
        <p:txBody>
          <a:bodyPr wrap="none" lIns="0" tIns="0" rIns="0" bIns="0" anchor="ctr">
            <a:spAutoFit/>
          </a:bodyPr>
          <a:lstStyle/>
          <a:p>
            <a:pPr algn="l"/>
            <a:r>
              <a:rPr sz="900" b="0" i="0">
                <a:solidFill>
                  <a:srgbClr val="2B2B2B"/>
                </a:solidFill>
                <a:latin typeface="Lato"/>
              </a:rPr>
              <a:t>U. Miami</a:t>
            </a:r>
          </a:p>
        </p:txBody>
      </p:sp>
      <p:sp>
        <p:nvSpPr>
          <p:cNvPr id="61" name="TextBox 60"/>
          <p:cNvSpPr txBox="1"/>
          <p:nvPr/>
        </p:nvSpPr>
        <p:spPr>
          <a:xfrm>
            <a:off x="5771035" y="3423387"/>
            <a:ext cx="588873" cy="155448"/>
          </a:xfrm>
          <a:prstGeom prst="rect">
            <a:avLst/>
          </a:prstGeom>
          <a:noFill/>
        </p:spPr>
        <p:txBody>
          <a:bodyPr wrap="none" lIns="0" tIns="0" rIns="0" bIns="0" anchor="ctr">
            <a:spAutoFit/>
          </a:bodyPr>
          <a:lstStyle/>
          <a:p>
            <a:pPr algn="l"/>
            <a:r>
              <a:rPr sz="900" b="0" i="0">
                <a:solidFill>
                  <a:srgbClr val="2B2B2B"/>
                </a:solidFill>
                <a:latin typeface="Lato"/>
              </a:rPr>
              <a:t>Princeton</a:t>
            </a:r>
          </a:p>
        </p:txBody>
      </p:sp>
      <p:sp>
        <p:nvSpPr>
          <p:cNvPr id="62" name="TextBox 61"/>
          <p:cNvSpPr txBox="1"/>
          <p:nvPr/>
        </p:nvSpPr>
        <p:spPr>
          <a:xfrm>
            <a:off x="4952011" y="3133810"/>
            <a:ext cx="950976" cy="155448"/>
          </a:xfrm>
          <a:prstGeom prst="rect">
            <a:avLst/>
          </a:prstGeom>
          <a:noFill/>
        </p:spPr>
        <p:txBody>
          <a:bodyPr wrap="none" lIns="0" tIns="0" rIns="0" bIns="0" anchor="ctr">
            <a:spAutoFit/>
          </a:bodyPr>
          <a:lstStyle/>
          <a:p>
            <a:pPr algn="l"/>
            <a:r>
              <a:rPr sz="900" b="0" i="0">
                <a:solidFill>
                  <a:srgbClr val="2B2B2B"/>
                </a:solidFill>
                <a:latin typeface="Lato"/>
              </a:rPr>
              <a:t>Carnegie Mellon</a:t>
            </a:r>
          </a:p>
        </p:txBody>
      </p:sp>
      <p:sp>
        <p:nvSpPr>
          <p:cNvPr id="63" name="TextBox 62"/>
          <p:cNvSpPr txBox="1"/>
          <p:nvPr/>
        </p:nvSpPr>
        <p:spPr>
          <a:xfrm>
            <a:off x="5490183" y="4316940"/>
            <a:ext cx="1011326" cy="155448"/>
          </a:xfrm>
          <a:prstGeom prst="rect">
            <a:avLst/>
          </a:prstGeom>
          <a:noFill/>
        </p:spPr>
        <p:txBody>
          <a:bodyPr wrap="none" lIns="0" tIns="0" rIns="0" bIns="0" anchor="ctr">
            <a:spAutoFit/>
          </a:bodyPr>
          <a:lstStyle/>
          <a:p>
            <a:pPr algn="l"/>
            <a:r>
              <a:rPr sz="900" b="0" i="0">
                <a:solidFill>
                  <a:srgbClr val="2B2B2B"/>
                </a:solidFill>
                <a:latin typeface="Lato"/>
              </a:rPr>
              <a:t>Scripps Research</a:t>
            </a:r>
          </a:p>
        </p:txBody>
      </p:sp>
      <p:sp>
        <p:nvSpPr>
          <p:cNvPr id="64" name="TextBox 63"/>
          <p:cNvSpPr txBox="1"/>
          <p:nvPr/>
        </p:nvSpPr>
        <p:spPr>
          <a:xfrm>
            <a:off x="5442552" y="4155190"/>
            <a:ext cx="769924" cy="155448"/>
          </a:xfrm>
          <a:prstGeom prst="rect">
            <a:avLst/>
          </a:prstGeom>
          <a:noFill/>
        </p:spPr>
        <p:txBody>
          <a:bodyPr wrap="none" lIns="0" tIns="0" rIns="0" bIns="0" anchor="ctr">
            <a:spAutoFit/>
          </a:bodyPr>
          <a:lstStyle/>
          <a:p>
            <a:pPr algn="l"/>
            <a:r>
              <a:rPr sz="900" b="0" i="0">
                <a:solidFill>
                  <a:srgbClr val="2B2B2B"/>
                </a:solidFill>
                <a:latin typeface="Lato"/>
              </a:rPr>
              <a:t>U. Rochester</a:t>
            </a:r>
          </a:p>
        </p:txBody>
      </p:sp>
      <p:sp>
        <p:nvSpPr>
          <p:cNvPr id="65" name="TextBox 64"/>
          <p:cNvSpPr txBox="1"/>
          <p:nvPr/>
        </p:nvSpPr>
        <p:spPr>
          <a:xfrm>
            <a:off x="5180344" y="4473064"/>
            <a:ext cx="468172" cy="155448"/>
          </a:xfrm>
          <a:prstGeom prst="rect">
            <a:avLst/>
          </a:prstGeom>
          <a:noFill/>
        </p:spPr>
        <p:txBody>
          <a:bodyPr wrap="none" lIns="0" tIns="0" rIns="0" bIns="0" anchor="ctr">
            <a:spAutoFit/>
          </a:bodyPr>
          <a:lstStyle/>
          <a:p>
            <a:pPr algn="l"/>
            <a:r>
              <a:rPr sz="900" b="0" i="0">
                <a:solidFill>
                  <a:srgbClr val="2B2B2B"/>
                </a:solidFill>
                <a:latin typeface="Lato"/>
              </a:rPr>
              <a:t>Caltech</a:t>
            </a:r>
          </a:p>
        </p:txBody>
      </p:sp>
      <p:sp>
        <p:nvSpPr>
          <p:cNvPr id="66" name="TextBox 65"/>
          <p:cNvSpPr txBox="1"/>
          <p:nvPr/>
        </p:nvSpPr>
        <p:spPr>
          <a:xfrm>
            <a:off x="4642402" y="3505579"/>
            <a:ext cx="588873" cy="155448"/>
          </a:xfrm>
          <a:prstGeom prst="rect">
            <a:avLst/>
          </a:prstGeom>
          <a:noFill/>
        </p:spPr>
        <p:txBody>
          <a:bodyPr wrap="none" lIns="0" tIns="0" rIns="0" bIns="0" anchor="ctr">
            <a:spAutoFit/>
          </a:bodyPr>
          <a:lstStyle/>
          <a:p>
            <a:pPr algn="l"/>
            <a:r>
              <a:rPr sz="900" b="0" i="0">
                <a:solidFill>
                  <a:srgbClr val="2B2B2B"/>
                </a:solidFill>
                <a:latin typeface="Lato"/>
              </a:rPr>
              <a:t>Dartmouth</a:t>
            </a:r>
          </a:p>
        </p:txBody>
      </p:sp>
      <p:sp>
        <p:nvSpPr>
          <p:cNvPr id="67" name="TextBox 66"/>
          <p:cNvSpPr txBox="1"/>
          <p:nvPr/>
        </p:nvSpPr>
        <p:spPr>
          <a:xfrm>
            <a:off x="3567699" y="3864165"/>
            <a:ext cx="1071676" cy="155448"/>
          </a:xfrm>
          <a:prstGeom prst="rect">
            <a:avLst/>
          </a:prstGeom>
          <a:noFill/>
        </p:spPr>
        <p:txBody>
          <a:bodyPr wrap="none" lIns="0" tIns="0" rIns="0" bIns="0" anchor="ctr">
            <a:spAutoFit/>
          </a:bodyPr>
          <a:lstStyle/>
          <a:p>
            <a:pPr algn="l"/>
            <a:r>
              <a:rPr sz="900" b="0" i="0">
                <a:solidFill>
                  <a:srgbClr val="2B2B2B"/>
                </a:solidFill>
                <a:latin typeface="Lato"/>
              </a:rPr>
              <a:t>George Washington</a:t>
            </a:r>
          </a:p>
        </p:txBody>
      </p:sp>
      <p:sp>
        <p:nvSpPr>
          <p:cNvPr id="68" name="TextBox 67"/>
          <p:cNvSpPr txBox="1"/>
          <p:nvPr/>
        </p:nvSpPr>
        <p:spPr>
          <a:xfrm>
            <a:off x="3931267" y="3100140"/>
            <a:ext cx="649224" cy="155448"/>
          </a:xfrm>
          <a:prstGeom prst="rect">
            <a:avLst/>
          </a:prstGeom>
          <a:noFill/>
        </p:spPr>
        <p:txBody>
          <a:bodyPr wrap="none" lIns="0" tIns="0" rIns="0" bIns="0" anchor="ctr">
            <a:spAutoFit/>
          </a:bodyPr>
          <a:lstStyle/>
          <a:p>
            <a:pPr algn="l"/>
            <a:r>
              <a:rPr sz="900" b="0" i="0">
                <a:solidFill>
                  <a:srgbClr val="2B2B2B"/>
                </a:solidFill>
                <a:latin typeface="Lato"/>
              </a:rPr>
              <a:t>Georgetown</a:t>
            </a:r>
          </a:p>
        </p:txBody>
      </p:sp>
      <p:sp>
        <p:nvSpPr>
          <p:cNvPr id="69" name="TextBox 68"/>
          <p:cNvSpPr txBox="1"/>
          <p:nvPr/>
        </p:nvSpPr>
        <p:spPr>
          <a:xfrm>
            <a:off x="4730560" y="4700066"/>
            <a:ext cx="347472" cy="155448"/>
          </a:xfrm>
          <a:prstGeom prst="rect">
            <a:avLst/>
          </a:prstGeom>
          <a:noFill/>
        </p:spPr>
        <p:txBody>
          <a:bodyPr wrap="none" lIns="0" tIns="0" rIns="0" bIns="0" anchor="ctr">
            <a:spAutoFit/>
          </a:bodyPr>
          <a:lstStyle/>
          <a:p>
            <a:pPr algn="l"/>
            <a:r>
              <a:rPr sz="900" b="0" i="0">
                <a:solidFill>
                  <a:srgbClr val="2B2B2B"/>
                </a:solidFill>
                <a:latin typeface="Lato"/>
              </a:rPr>
              <a:t>Brown</a:t>
            </a:r>
          </a:p>
        </p:txBody>
      </p:sp>
      <p:cxnSp>
        <p:nvCxnSpPr>
          <p:cNvPr id="70" name="Connector 69"/>
          <p:cNvCxnSpPr/>
          <p:nvPr/>
        </p:nvCxnSpPr>
        <p:spPr>
          <a:xfrm>
            <a:off x="4592982" y="3675033"/>
            <a:ext cx="306784" cy="306784"/>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4899766" y="3981817"/>
            <a:ext cx="1071676" cy="155448"/>
          </a:xfrm>
          <a:prstGeom prst="rect">
            <a:avLst/>
          </a:prstGeom>
          <a:noFill/>
        </p:spPr>
        <p:txBody>
          <a:bodyPr wrap="none" lIns="0" tIns="0" rIns="0" bIns="0" anchor="ctr">
            <a:spAutoFit/>
          </a:bodyPr>
          <a:lstStyle/>
          <a:p>
            <a:pPr algn="l"/>
            <a:r>
              <a:rPr sz="900" b="0" i="0">
                <a:solidFill>
                  <a:srgbClr val="2B2B2B"/>
                </a:solidFill>
                <a:latin typeface="Lato"/>
              </a:rPr>
              <a:t>Med. C. Wisconsin</a:t>
            </a:r>
          </a:p>
        </p:txBody>
      </p:sp>
      <p:cxnSp>
        <p:nvCxnSpPr>
          <p:cNvPr id="72" name="Connector 71"/>
          <p:cNvCxnSpPr/>
          <p:nvPr/>
        </p:nvCxnSpPr>
        <p:spPr>
          <a:xfrm flipV="1">
            <a:off x="4440708" y="3007204"/>
            <a:ext cx="0" cy="43891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4025570" y="2851756"/>
            <a:ext cx="830275" cy="155448"/>
          </a:xfrm>
          <a:prstGeom prst="rect">
            <a:avLst/>
          </a:prstGeom>
          <a:noFill/>
        </p:spPr>
        <p:txBody>
          <a:bodyPr wrap="none" lIns="0" tIns="0" rIns="0" bIns="0" anchor="ctr">
            <a:spAutoFit/>
          </a:bodyPr>
          <a:lstStyle/>
          <a:p>
            <a:pPr algn="l"/>
            <a:r>
              <a:rPr sz="900" b="0" i="0">
                <a:solidFill>
                  <a:srgbClr val="2B2B2B"/>
                </a:solidFill>
                <a:latin typeface="Lato"/>
              </a:rPr>
              <a:t>U. Notre Dame</a:t>
            </a:r>
          </a:p>
        </p:txBody>
      </p:sp>
      <p:cxnSp>
        <p:nvCxnSpPr>
          <p:cNvPr id="74" name="Connector 73"/>
          <p:cNvCxnSpPr/>
          <p:nvPr/>
        </p:nvCxnSpPr>
        <p:spPr>
          <a:xfrm flipH="1">
            <a:off x="3699584" y="3441310"/>
            <a:ext cx="66751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2990009" y="3363586"/>
            <a:ext cx="709574" cy="155448"/>
          </a:xfrm>
          <a:prstGeom prst="rect">
            <a:avLst/>
          </a:prstGeom>
          <a:noFill/>
        </p:spPr>
        <p:txBody>
          <a:bodyPr wrap="none" lIns="0" tIns="0" rIns="0" bIns="0" anchor="ctr">
            <a:spAutoFit/>
          </a:bodyPr>
          <a:lstStyle/>
          <a:p>
            <a:pPr algn="l"/>
            <a:r>
              <a:rPr sz="900" b="0" i="0">
                <a:solidFill>
                  <a:srgbClr val="2B2B2B"/>
                </a:solidFill>
                <a:latin typeface="Lato"/>
              </a:rPr>
              <a:t>Wake Forest</a:t>
            </a:r>
          </a:p>
        </p:txBody>
      </p:sp>
      <p:sp>
        <p:nvSpPr>
          <p:cNvPr id="76" name="TextBox 75"/>
          <p:cNvSpPr txBox="1"/>
          <p:nvPr/>
        </p:nvSpPr>
        <p:spPr>
          <a:xfrm>
            <a:off x="4223888" y="4142293"/>
            <a:ext cx="649224" cy="155448"/>
          </a:xfrm>
          <a:prstGeom prst="rect">
            <a:avLst/>
          </a:prstGeom>
          <a:noFill/>
        </p:spPr>
        <p:txBody>
          <a:bodyPr wrap="none" lIns="0" tIns="0" rIns="0" bIns="0" anchor="ctr">
            <a:spAutoFit/>
          </a:bodyPr>
          <a:lstStyle/>
          <a:p>
            <a:pPr algn="l"/>
            <a:r>
              <a:rPr sz="900" b="0" i="0">
                <a:solidFill>
                  <a:srgbClr val="2B2B2B"/>
                </a:solidFill>
                <a:latin typeface="Lato"/>
              </a:rPr>
              <a:t>Woods Hole</a:t>
            </a:r>
          </a:p>
        </p:txBody>
      </p:sp>
      <p:sp>
        <p:nvSpPr>
          <p:cNvPr id="77" name="TextBox 76"/>
          <p:cNvSpPr txBox="1"/>
          <p:nvPr/>
        </p:nvSpPr>
        <p:spPr>
          <a:xfrm>
            <a:off x="4198951" y="4985569"/>
            <a:ext cx="709574" cy="155448"/>
          </a:xfrm>
          <a:prstGeom prst="rect">
            <a:avLst/>
          </a:prstGeom>
          <a:noFill/>
        </p:spPr>
        <p:txBody>
          <a:bodyPr wrap="none" lIns="0" tIns="0" rIns="0" bIns="0" anchor="ctr">
            <a:spAutoFit/>
          </a:bodyPr>
          <a:lstStyle/>
          <a:p>
            <a:pPr algn="l"/>
            <a:r>
              <a:rPr sz="900" b="0" i="0">
                <a:solidFill>
                  <a:srgbClr val="2B2B2B"/>
                </a:solidFill>
                <a:latin typeface="Lato"/>
              </a:rPr>
              <a:t>Rockefeller</a:t>
            </a:r>
          </a:p>
        </p:txBody>
      </p:sp>
      <p:sp>
        <p:nvSpPr>
          <p:cNvPr id="78" name="TextBox 77"/>
          <p:cNvSpPr txBox="1"/>
          <p:nvPr/>
        </p:nvSpPr>
        <p:spPr>
          <a:xfrm>
            <a:off x="3958055" y="3650363"/>
            <a:ext cx="347472" cy="155448"/>
          </a:xfrm>
          <a:prstGeom prst="rect">
            <a:avLst/>
          </a:prstGeom>
          <a:noFill/>
        </p:spPr>
        <p:txBody>
          <a:bodyPr wrap="none" lIns="0" tIns="0" rIns="0" bIns="0" anchor="ctr">
            <a:spAutoFit/>
          </a:bodyPr>
          <a:lstStyle/>
          <a:p>
            <a:pPr algn="l"/>
            <a:r>
              <a:rPr sz="900" b="0" i="0">
                <a:solidFill>
                  <a:srgbClr val="2B2B2B"/>
                </a:solidFill>
                <a:latin typeface="Lato"/>
              </a:rPr>
              <a:t>Tufts</a:t>
            </a:r>
          </a:p>
        </p:txBody>
      </p:sp>
      <p:sp>
        <p:nvSpPr>
          <p:cNvPr id="79" name="TextBox 78"/>
          <p:cNvSpPr txBox="1"/>
          <p:nvPr/>
        </p:nvSpPr>
        <p:spPr>
          <a:xfrm>
            <a:off x="3952243" y="3301928"/>
            <a:ext cx="287121" cy="155448"/>
          </a:xfrm>
          <a:prstGeom prst="rect">
            <a:avLst/>
          </a:prstGeom>
          <a:noFill/>
        </p:spPr>
        <p:txBody>
          <a:bodyPr wrap="none" lIns="0" tIns="0" rIns="0" bIns="0" anchor="ctr">
            <a:spAutoFit/>
          </a:bodyPr>
          <a:lstStyle/>
          <a:p>
            <a:pPr algn="l"/>
            <a:r>
              <a:rPr sz="900" b="0" i="0">
                <a:solidFill>
                  <a:srgbClr val="2B2B2B"/>
                </a:solidFill>
                <a:latin typeface="Lato"/>
              </a:rPr>
              <a:t>Rice</a:t>
            </a:r>
          </a:p>
        </p:txBody>
      </p:sp>
      <p:sp>
        <p:nvSpPr>
          <p:cNvPr id="80" name="TextBox 79"/>
          <p:cNvSpPr txBox="1"/>
          <p:nvPr/>
        </p:nvSpPr>
        <p:spPr>
          <a:xfrm>
            <a:off x="3362926" y="3626579"/>
            <a:ext cx="407822" cy="155448"/>
          </a:xfrm>
          <a:prstGeom prst="rect">
            <a:avLst/>
          </a:prstGeom>
          <a:noFill/>
        </p:spPr>
        <p:txBody>
          <a:bodyPr wrap="none" lIns="0" tIns="0" rIns="0" bIns="0" anchor="ctr">
            <a:spAutoFit/>
          </a:bodyPr>
          <a:lstStyle/>
          <a:p>
            <a:pPr algn="l"/>
            <a:r>
              <a:rPr sz="900" b="0" i="0">
                <a:solidFill>
                  <a:srgbClr val="2B2B2B"/>
                </a:solidFill>
                <a:latin typeface="Lato"/>
              </a:rPr>
              <a:t>Tulane</a:t>
            </a:r>
          </a:p>
        </p:txBody>
      </p:sp>
      <p:sp>
        <p:nvSpPr>
          <p:cNvPr id="81" name="TextBox 80"/>
          <p:cNvSpPr txBox="1"/>
          <p:nvPr/>
        </p:nvSpPr>
        <p:spPr>
          <a:xfrm>
            <a:off x="2714837" y="2980640"/>
            <a:ext cx="1011326" cy="155448"/>
          </a:xfrm>
          <a:prstGeom prst="rect">
            <a:avLst/>
          </a:prstGeom>
          <a:noFill/>
        </p:spPr>
        <p:txBody>
          <a:bodyPr wrap="none" lIns="0" tIns="0" rIns="0" bIns="0" anchor="ctr">
            <a:spAutoFit/>
          </a:bodyPr>
          <a:lstStyle/>
          <a:p>
            <a:pPr algn="l"/>
            <a:r>
              <a:rPr sz="900" b="0" i="0">
                <a:solidFill>
                  <a:srgbClr val="2B2B2B"/>
                </a:solidFill>
                <a:latin typeface="Lato"/>
              </a:rPr>
              <a:t>Thomas Jefferson</a:t>
            </a:r>
          </a:p>
        </p:txBody>
      </p:sp>
      <p:sp>
        <p:nvSpPr>
          <p:cNvPr id="82" name="TextBox 81"/>
          <p:cNvSpPr txBox="1"/>
          <p:nvPr/>
        </p:nvSpPr>
        <p:spPr>
          <a:xfrm>
            <a:off x="3705254" y="2397483"/>
            <a:ext cx="588873" cy="155448"/>
          </a:xfrm>
          <a:prstGeom prst="rect">
            <a:avLst/>
          </a:prstGeom>
          <a:noFill/>
        </p:spPr>
        <p:txBody>
          <a:bodyPr wrap="none" lIns="0" tIns="0" rIns="0" bIns="0" anchor="ctr">
            <a:spAutoFit/>
          </a:bodyPr>
          <a:lstStyle/>
          <a:p>
            <a:pPr algn="l"/>
            <a:r>
              <a:rPr sz="900" b="0" i="0">
                <a:solidFill>
                  <a:srgbClr val="2B2B2B"/>
                </a:solidFill>
                <a:latin typeface="Lato"/>
              </a:rPr>
              <a:t>U. Dayton</a:t>
            </a:r>
          </a:p>
        </p:txBody>
      </p:sp>
      <p:sp>
        <p:nvSpPr>
          <p:cNvPr id="83" name="TextBox 82"/>
          <p:cNvSpPr txBox="1"/>
          <p:nvPr/>
        </p:nvSpPr>
        <p:spPr>
          <a:xfrm>
            <a:off x="2388933" y="2321702"/>
            <a:ext cx="528523" cy="155448"/>
          </a:xfrm>
          <a:prstGeom prst="rect">
            <a:avLst/>
          </a:prstGeom>
          <a:noFill/>
        </p:spPr>
        <p:txBody>
          <a:bodyPr wrap="none" lIns="0" tIns="0" rIns="0" bIns="0" anchor="ctr">
            <a:spAutoFit/>
          </a:bodyPr>
          <a:lstStyle/>
          <a:p>
            <a:pPr algn="l"/>
            <a:r>
              <a:rPr sz="900" b="0" i="0">
                <a:solidFill>
                  <a:srgbClr val="2B2B2B"/>
                </a:solidFill>
                <a:latin typeface="Lato"/>
              </a:rPr>
              <a:t>Syracuse</a:t>
            </a:r>
          </a:p>
        </p:txBody>
      </p:sp>
      <p:sp>
        <p:nvSpPr>
          <p:cNvPr id="84" name="TextBox 83"/>
          <p:cNvSpPr txBox="1"/>
          <p:nvPr/>
        </p:nvSpPr>
        <p:spPr>
          <a:xfrm>
            <a:off x="2678623" y="4318301"/>
            <a:ext cx="407822" cy="155448"/>
          </a:xfrm>
          <a:prstGeom prst="rect">
            <a:avLst/>
          </a:prstGeom>
          <a:noFill/>
        </p:spPr>
        <p:txBody>
          <a:bodyPr wrap="none" lIns="0" tIns="0" rIns="0" bIns="0" anchor="ctr">
            <a:spAutoFit/>
          </a:bodyPr>
          <a:lstStyle/>
          <a:p>
            <a:pPr algn="l"/>
            <a:r>
              <a:rPr sz="900" b="0" i="0">
                <a:solidFill>
                  <a:srgbClr val="2B2B2B"/>
                </a:solidFill>
                <a:latin typeface="Lato"/>
              </a:rPr>
              <a:t>Drexel</a:t>
            </a:r>
          </a:p>
        </p:txBody>
      </p:sp>
      <p:sp>
        <p:nvSpPr>
          <p:cNvPr id="85" name="TextBox 84"/>
          <p:cNvSpPr txBox="1"/>
          <p:nvPr/>
        </p:nvSpPr>
        <p:spPr>
          <a:xfrm>
            <a:off x="2490259" y="1492221"/>
            <a:ext cx="226771" cy="155448"/>
          </a:xfrm>
          <a:prstGeom prst="rect">
            <a:avLst/>
          </a:prstGeom>
          <a:noFill/>
        </p:spPr>
        <p:txBody>
          <a:bodyPr wrap="none" lIns="0" tIns="0" rIns="0" bIns="0" anchor="ctr">
            <a:spAutoFit/>
          </a:bodyPr>
          <a:lstStyle/>
          <a:p>
            <a:pPr algn="l"/>
            <a:r>
              <a:rPr sz="900" b="0" i="0">
                <a:solidFill>
                  <a:srgbClr val="2B2B2B"/>
                </a:solidFill>
                <a:latin typeface="Lato"/>
              </a:rPr>
              <a:t>BYU</a:t>
            </a:r>
          </a:p>
        </p:txBody>
      </p:sp>
      <p:sp>
        <p:nvSpPr>
          <p:cNvPr id="86" name="TextBox 85"/>
          <p:cNvSpPr txBox="1"/>
          <p:nvPr/>
        </p:nvSpPr>
        <p:spPr>
          <a:xfrm>
            <a:off x="2174879" y="4265271"/>
            <a:ext cx="226771" cy="155448"/>
          </a:xfrm>
          <a:prstGeom prst="rect">
            <a:avLst/>
          </a:prstGeom>
          <a:noFill/>
        </p:spPr>
        <p:txBody>
          <a:bodyPr wrap="none" lIns="0" tIns="0" rIns="0" bIns="0" anchor="ctr">
            <a:spAutoFit/>
          </a:bodyPr>
          <a:lstStyle/>
          <a:p>
            <a:pPr algn="l"/>
            <a:r>
              <a:rPr sz="900" b="0" i="0">
                <a:solidFill>
                  <a:srgbClr val="2B2B2B"/>
                </a:solidFill>
                <a:latin typeface="Lato"/>
              </a:rPr>
              <a:t>RPI</a:t>
            </a:r>
          </a:p>
        </p:txBody>
      </p:sp>
      <p:sp>
        <p:nvSpPr>
          <p:cNvPr id="87" name="TextBox 86"/>
          <p:cNvSpPr txBox="1"/>
          <p:nvPr/>
        </p:nvSpPr>
        <p:spPr>
          <a:xfrm>
            <a:off x="2157156" y="3651996"/>
            <a:ext cx="287121" cy="155448"/>
          </a:xfrm>
          <a:prstGeom prst="rect">
            <a:avLst/>
          </a:prstGeom>
          <a:noFill/>
        </p:spPr>
        <p:txBody>
          <a:bodyPr wrap="none" lIns="0" tIns="0" rIns="0" bIns="0" anchor="ctr">
            <a:spAutoFit/>
          </a:bodyPr>
          <a:lstStyle/>
          <a:p>
            <a:pPr algn="l"/>
            <a:r>
              <a:rPr sz="900" b="0" i="0">
                <a:solidFill>
                  <a:srgbClr val="2B2B2B"/>
                </a:solidFill>
                <a:latin typeface="Lato"/>
              </a:rPr>
              <a:t>Rush</a:t>
            </a:r>
          </a:p>
        </p:txBody>
      </p:sp>
      <p:sp>
        <p:nvSpPr>
          <p:cNvPr id="88" name="TextBox 87"/>
          <p:cNvSpPr txBox="1"/>
          <p:nvPr/>
        </p:nvSpPr>
        <p:spPr>
          <a:xfrm>
            <a:off x="1258180" y="3924193"/>
            <a:ext cx="1132027" cy="155448"/>
          </a:xfrm>
          <a:prstGeom prst="rect">
            <a:avLst/>
          </a:prstGeom>
          <a:noFill/>
        </p:spPr>
        <p:txBody>
          <a:bodyPr wrap="none" lIns="0" tIns="0" rIns="0" bIns="0" anchor="ctr">
            <a:spAutoFit/>
          </a:bodyPr>
          <a:lstStyle/>
          <a:p>
            <a:pPr algn="l"/>
            <a:r>
              <a:rPr sz="900" b="0" i="0">
                <a:solidFill>
                  <a:srgbClr val="2B2B2B"/>
                </a:solidFill>
                <a:latin typeface="Lato"/>
              </a:rPr>
              <a:t>Cold Spring Harbor</a:t>
            </a:r>
          </a:p>
        </p:txBody>
      </p:sp>
      <p:sp>
        <p:nvSpPr>
          <p:cNvPr id="89" name="TextBox 88"/>
          <p:cNvSpPr txBox="1"/>
          <p:nvPr/>
        </p:nvSpPr>
        <p:spPr>
          <a:xfrm>
            <a:off x="1472272" y="4098881"/>
            <a:ext cx="528523" cy="155448"/>
          </a:xfrm>
          <a:prstGeom prst="rect">
            <a:avLst/>
          </a:prstGeom>
          <a:noFill/>
        </p:spPr>
        <p:txBody>
          <a:bodyPr wrap="none" lIns="0" tIns="0" rIns="0" bIns="0" anchor="ctr">
            <a:spAutoFit/>
          </a:bodyPr>
          <a:lstStyle/>
          <a:p>
            <a:pPr algn="l"/>
            <a:r>
              <a:rPr sz="900" b="0" i="0">
                <a:solidFill>
                  <a:srgbClr val="2B2B2B"/>
                </a:solidFill>
                <a:latin typeface="Lato"/>
              </a:rPr>
              <a:t>Brandeis</a:t>
            </a:r>
          </a:p>
        </p:txBody>
      </p:sp>
      <p:sp>
        <p:nvSpPr>
          <p:cNvPr id="90" name="TextBox 89"/>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91" name="TextBox 90"/>
          <p:cNvSpPr txBox="1"/>
          <p:nvPr/>
        </p:nvSpPr>
        <p:spPr>
          <a:xfrm>
            <a:off x="457200" y="6281928"/>
            <a:ext cx="11274552" cy="118872"/>
          </a:xfrm>
          <a:prstGeom prst="rect">
            <a:avLst/>
          </a:prstGeom>
          <a:noFill/>
        </p:spPr>
        <p:txBody>
          <a:bodyPr wrap="square" lIns="0" tIns="0" rIns="0" bIns="0" anchor="b">
            <a:spAutoFit/>
          </a:bodyPr>
          <a:lstStyle/>
          <a:p>
            <a:pPr algn="l"/>
            <a:r>
              <a:rPr sz="700" b="0" i="0">
                <a:solidFill>
                  <a:srgbClr val="595959"/>
                </a:solidFill>
                <a:latin typeface="Lato"/>
              </a:rPr>
              <a:t>Note: Vertical axis capped at 16% (Baylor U., 20.6%, shown by arrow); horizontal axis is logarithmic. Johns Hopkins includes APL; Albert Einstein excluded (no FY 2014 data).</a:t>
            </a:r>
          </a:p>
        </p:txBody>
      </p:sp>
      <p:sp>
        <p:nvSpPr>
          <p:cNvPr id="92"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24</a:t>
            </a:fld>
            <a:endParaRPr lang="en-US" sz="900" b="1">
              <a:solidFill>
                <a:srgbClr val="000000"/>
              </a:solidFill>
              <a:latin typeface="Lat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A87A6A-FFAC-952B-C6AC-99BDFF858FB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2C0C2D9-2972-2C4A-AE40-91AA8431CDCA}"/>
              </a:ext>
            </a:extLst>
          </p:cNvPr>
          <p:cNvSpPr txBox="1"/>
          <p:nvPr/>
        </p:nvSpPr>
        <p:spPr>
          <a:xfrm>
            <a:off x="457200" y="163678"/>
            <a:ext cx="11247120" cy="341568"/>
          </a:xfrm>
          <a:prstGeom prst="rect">
            <a:avLst/>
          </a:prstGeom>
          <a:noFill/>
        </p:spPr>
        <p:txBody>
          <a:bodyPr wrap="square" lIns="0" tIns="0" rIns="0" bIns="0">
            <a:noAutofit/>
          </a:bodyPr>
          <a:lstStyle/>
          <a:p>
            <a:pPr algn="l">
              <a:lnSpc>
                <a:spcPct val="105000"/>
              </a:lnSpc>
            </a:pPr>
            <a:r>
              <a:rPr sz="2300" b="1">
                <a:solidFill>
                  <a:srgbClr val="000000"/>
                </a:solidFill>
                <a:latin typeface="Lato"/>
              </a:rPr>
              <a:t>Enrollment, net tuition and tuition discount by student group</a:t>
            </a:r>
          </a:p>
        </p:txBody>
      </p:sp>
      <p:sp>
        <p:nvSpPr>
          <p:cNvPr id="3" name="TextBox 2">
            <a:extLst>
              <a:ext uri="{FF2B5EF4-FFF2-40B4-BE49-F238E27FC236}">
                <a16:creationId xmlns:a16="http://schemas.microsoft.com/office/drawing/2014/main" id="{CF0A5A3D-70C1-48F6-86C1-11E45F1CBC30}"/>
              </a:ext>
            </a:extLst>
          </p:cNvPr>
          <p:cNvSpPr txBox="1"/>
          <p:nvPr/>
        </p:nvSpPr>
        <p:spPr>
          <a:xfrm>
            <a:off x="457200" y="694318"/>
            <a:ext cx="11338560" cy="176972"/>
          </a:xfrm>
          <a:prstGeom prst="rect">
            <a:avLst/>
          </a:prstGeom>
          <a:noFill/>
        </p:spPr>
        <p:txBody>
          <a:bodyPr wrap="square" lIns="0" tIns="0" rIns="0" bIns="0">
            <a:spAutoFit/>
          </a:bodyPr>
          <a:lstStyle/>
          <a:p>
            <a:pPr algn="l"/>
            <a:r>
              <a:rPr sz="1150" b="0">
                <a:solidFill>
                  <a:srgbClr val="49494D"/>
                </a:solidFill>
                <a:latin typeface="Lato"/>
              </a:rPr>
              <a:t>Undergraduate, professional graduate and JD/PhD  ·  FY20 – FY27  ·  1 October snapshots; FY27 = low scenario</a:t>
            </a:r>
          </a:p>
        </p:txBody>
      </p:sp>
      <p:sp>
        <p:nvSpPr>
          <p:cNvPr id="53" name="Rectangle 52">
            <a:extLst>
              <a:ext uri="{FF2B5EF4-FFF2-40B4-BE49-F238E27FC236}">
                <a16:creationId xmlns:a16="http://schemas.microsoft.com/office/drawing/2014/main" id="{591DA18A-DDCF-9F2B-848F-4A72C5AA8DFB}"/>
              </a:ext>
            </a:extLst>
          </p:cNvPr>
          <p:cNvSpPr/>
          <p:nvPr/>
        </p:nvSpPr>
        <p:spPr>
          <a:xfrm>
            <a:off x="502920" y="1042416"/>
            <a:ext cx="118872" cy="11887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4" name="TextBox 53">
            <a:extLst>
              <a:ext uri="{FF2B5EF4-FFF2-40B4-BE49-F238E27FC236}">
                <a16:creationId xmlns:a16="http://schemas.microsoft.com/office/drawing/2014/main" id="{6F4BE29A-A809-F944-88EF-93D4B831BC11}"/>
              </a:ext>
            </a:extLst>
          </p:cNvPr>
          <p:cNvSpPr txBox="1"/>
          <p:nvPr/>
        </p:nvSpPr>
        <p:spPr>
          <a:xfrm>
            <a:off x="685800" y="1005840"/>
            <a:ext cx="2011680" cy="201168"/>
          </a:xfrm>
          <a:prstGeom prst="rect">
            <a:avLst/>
          </a:prstGeom>
          <a:noFill/>
        </p:spPr>
        <p:txBody>
          <a:bodyPr wrap="square" lIns="0" tIns="0" rIns="0" bIns="0" anchor="t">
            <a:spAutoFit/>
          </a:bodyPr>
          <a:lstStyle/>
          <a:p>
            <a:pPr algn="l"/>
            <a:r>
              <a:rPr sz="1100" b="0">
                <a:solidFill>
                  <a:srgbClr val="49494D"/>
                </a:solidFill>
                <a:latin typeface="Lato"/>
              </a:rPr>
              <a:t>Undergraduate</a:t>
            </a:r>
          </a:p>
        </p:txBody>
      </p:sp>
      <p:sp>
        <p:nvSpPr>
          <p:cNvPr id="55" name="Rectangle 54">
            <a:extLst>
              <a:ext uri="{FF2B5EF4-FFF2-40B4-BE49-F238E27FC236}">
                <a16:creationId xmlns:a16="http://schemas.microsoft.com/office/drawing/2014/main" id="{5D128B72-9A6A-040A-1B65-6DB983772888}"/>
              </a:ext>
            </a:extLst>
          </p:cNvPr>
          <p:cNvSpPr/>
          <p:nvPr/>
        </p:nvSpPr>
        <p:spPr>
          <a:xfrm>
            <a:off x="2016252" y="1042416"/>
            <a:ext cx="118872" cy="11887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6" name="TextBox 55">
            <a:extLst>
              <a:ext uri="{FF2B5EF4-FFF2-40B4-BE49-F238E27FC236}">
                <a16:creationId xmlns:a16="http://schemas.microsoft.com/office/drawing/2014/main" id="{060B6D03-2B0A-2D6F-05AB-7D3D1AF7B1F3}"/>
              </a:ext>
            </a:extLst>
          </p:cNvPr>
          <p:cNvSpPr txBox="1"/>
          <p:nvPr/>
        </p:nvSpPr>
        <p:spPr>
          <a:xfrm>
            <a:off x="2199132" y="1005840"/>
            <a:ext cx="2011680" cy="201168"/>
          </a:xfrm>
          <a:prstGeom prst="rect">
            <a:avLst/>
          </a:prstGeom>
          <a:noFill/>
        </p:spPr>
        <p:txBody>
          <a:bodyPr wrap="square" lIns="0" tIns="0" rIns="0" bIns="0" anchor="t">
            <a:spAutoFit/>
          </a:bodyPr>
          <a:lstStyle/>
          <a:p>
            <a:pPr algn="l"/>
            <a:r>
              <a:rPr sz="1100" b="0">
                <a:solidFill>
                  <a:srgbClr val="49494D"/>
                </a:solidFill>
                <a:latin typeface="Lato"/>
              </a:rPr>
              <a:t>Professional Graduate</a:t>
            </a:r>
          </a:p>
        </p:txBody>
      </p:sp>
      <p:sp>
        <p:nvSpPr>
          <p:cNvPr id="57" name="Rectangle 56">
            <a:extLst>
              <a:ext uri="{FF2B5EF4-FFF2-40B4-BE49-F238E27FC236}">
                <a16:creationId xmlns:a16="http://schemas.microsoft.com/office/drawing/2014/main" id="{ECD9A0F6-F46A-7940-A88C-C4563F295B3C}"/>
              </a:ext>
            </a:extLst>
          </p:cNvPr>
          <p:cNvSpPr/>
          <p:nvPr/>
        </p:nvSpPr>
        <p:spPr>
          <a:xfrm>
            <a:off x="4151376" y="1042416"/>
            <a:ext cx="118872" cy="118872"/>
          </a:xfrm>
          <a:prstGeom prst="rect">
            <a:avLst/>
          </a:prstGeom>
          <a:solidFill>
            <a:srgbClr val="9B9C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8" name="TextBox 57">
            <a:extLst>
              <a:ext uri="{FF2B5EF4-FFF2-40B4-BE49-F238E27FC236}">
                <a16:creationId xmlns:a16="http://schemas.microsoft.com/office/drawing/2014/main" id="{7DE34966-5C1F-6588-C629-6C2A80E03F72}"/>
              </a:ext>
            </a:extLst>
          </p:cNvPr>
          <p:cNvSpPr txBox="1"/>
          <p:nvPr/>
        </p:nvSpPr>
        <p:spPr>
          <a:xfrm>
            <a:off x="4334256" y="1005840"/>
            <a:ext cx="2011680" cy="201168"/>
          </a:xfrm>
          <a:prstGeom prst="rect">
            <a:avLst/>
          </a:prstGeom>
          <a:noFill/>
        </p:spPr>
        <p:txBody>
          <a:bodyPr wrap="square" lIns="0" tIns="0" rIns="0" bIns="0" anchor="t">
            <a:spAutoFit/>
          </a:bodyPr>
          <a:lstStyle/>
          <a:p>
            <a:pPr algn="l"/>
            <a:r>
              <a:rPr sz="1100" b="0">
                <a:solidFill>
                  <a:srgbClr val="49494D"/>
                </a:solidFill>
                <a:latin typeface="Lato"/>
              </a:rPr>
              <a:t>JD/PhD</a:t>
            </a:r>
          </a:p>
        </p:txBody>
      </p:sp>
      <p:sp>
        <p:nvSpPr>
          <p:cNvPr id="59" name="TextBox 58">
            <a:extLst>
              <a:ext uri="{FF2B5EF4-FFF2-40B4-BE49-F238E27FC236}">
                <a16:creationId xmlns:a16="http://schemas.microsoft.com/office/drawing/2014/main" id="{3262CF0D-EC25-D608-8580-BC6AD81698DE}"/>
              </a:ext>
            </a:extLst>
          </p:cNvPr>
          <p:cNvSpPr txBox="1"/>
          <p:nvPr/>
        </p:nvSpPr>
        <p:spPr>
          <a:xfrm>
            <a:off x="502920" y="1371600"/>
            <a:ext cx="3310128" cy="274320"/>
          </a:xfrm>
          <a:prstGeom prst="rect">
            <a:avLst/>
          </a:prstGeom>
          <a:noFill/>
        </p:spPr>
        <p:txBody>
          <a:bodyPr wrap="square" lIns="0" tIns="0" rIns="0" bIns="0" anchor="t">
            <a:spAutoFit/>
          </a:bodyPr>
          <a:lstStyle/>
          <a:p>
            <a:pPr algn="l"/>
            <a:r>
              <a:rPr sz="1600" b="1">
                <a:solidFill>
                  <a:srgbClr val="000000"/>
                </a:solidFill>
                <a:latin typeface="Lato"/>
              </a:rPr>
              <a:t>Degree-seeking enrollment</a:t>
            </a:r>
          </a:p>
        </p:txBody>
      </p:sp>
      <p:sp>
        <p:nvSpPr>
          <p:cNvPr id="60" name="TextBox 59">
            <a:extLst>
              <a:ext uri="{FF2B5EF4-FFF2-40B4-BE49-F238E27FC236}">
                <a16:creationId xmlns:a16="http://schemas.microsoft.com/office/drawing/2014/main" id="{E7FE629B-55CB-7C0A-8EFE-F8998D19348F}"/>
              </a:ext>
            </a:extLst>
          </p:cNvPr>
          <p:cNvSpPr txBox="1"/>
          <p:nvPr/>
        </p:nvSpPr>
        <p:spPr>
          <a:xfrm>
            <a:off x="502920" y="1645920"/>
            <a:ext cx="3310128" cy="201168"/>
          </a:xfrm>
          <a:prstGeom prst="rect">
            <a:avLst/>
          </a:prstGeom>
          <a:noFill/>
        </p:spPr>
        <p:txBody>
          <a:bodyPr wrap="square" lIns="0" tIns="0" rIns="0" bIns="0" anchor="t">
            <a:spAutoFit/>
          </a:bodyPr>
          <a:lstStyle/>
          <a:p>
            <a:pPr algn="l"/>
            <a:r>
              <a:rPr sz="1100" b="0">
                <a:solidFill>
                  <a:srgbClr val="6E6F73"/>
                </a:solidFill>
                <a:latin typeface="Lato"/>
              </a:rPr>
              <a:t>Students (thousands)</a:t>
            </a:r>
          </a:p>
        </p:txBody>
      </p:sp>
      <p:sp>
        <p:nvSpPr>
          <p:cNvPr id="61" name="TextBox 60">
            <a:extLst>
              <a:ext uri="{FF2B5EF4-FFF2-40B4-BE49-F238E27FC236}">
                <a16:creationId xmlns:a16="http://schemas.microsoft.com/office/drawing/2014/main" id="{259FCA63-9679-73AD-081A-16A5DB59BD62}"/>
              </a:ext>
            </a:extLst>
          </p:cNvPr>
          <p:cNvSpPr txBox="1"/>
          <p:nvPr/>
        </p:nvSpPr>
        <p:spPr>
          <a:xfrm>
            <a:off x="4178808" y="1371600"/>
            <a:ext cx="3310128" cy="274320"/>
          </a:xfrm>
          <a:prstGeom prst="rect">
            <a:avLst/>
          </a:prstGeom>
          <a:noFill/>
        </p:spPr>
        <p:txBody>
          <a:bodyPr wrap="square" lIns="0" tIns="0" rIns="0" bIns="0" anchor="t">
            <a:spAutoFit/>
          </a:bodyPr>
          <a:lstStyle/>
          <a:p>
            <a:pPr algn="l"/>
            <a:r>
              <a:rPr sz="1600" b="1">
                <a:solidFill>
                  <a:srgbClr val="000000"/>
                </a:solidFill>
                <a:latin typeface="Lato"/>
              </a:rPr>
              <a:t>Net tuition revenue</a:t>
            </a:r>
          </a:p>
        </p:txBody>
      </p:sp>
      <p:sp>
        <p:nvSpPr>
          <p:cNvPr id="62" name="TextBox 61">
            <a:extLst>
              <a:ext uri="{FF2B5EF4-FFF2-40B4-BE49-F238E27FC236}">
                <a16:creationId xmlns:a16="http://schemas.microsoft.com/office/drawing/2014/main" id="{A705E87B-2856-784E-9FC4-91C16C100FB3}"/>
              </a:ext>
            </a:extLst>
          </p:cNvPr>
          <p:cNvSpPr txBox="1"/>
          <p:nvPr/>
        </p:nvSpPr>
        <p:spPr>
          <a:xfrm>
            <a:off x="4144223" y="1645920"/>
            <a:ext cx="3310128" cy="201168"/>
          </a:xfrm>
          <a:prstGeom prst="rect">
            <a:avLst/>
          </a:prstGeom>
          <a:noFill/>
        </p:spPr>
        <p:txBody>
          <a:bodyPr wrap="square" lIns="0" tIns="0" rIns="0" bIns="0" anchor="t">
            <a:spAutoFit/>
          </a:bodyPr>
          <a:lstStyle/>
          <a:p>
            <a:pPr algn="l"/>
            <a:r>
              <a:rPr sz="1100" b="0">
                <a:solidFill>
                  <a:srgbClr val="6E6F73"/>
                </a:solidFill>
                <a:latin typeface="Lato"/>
              </a:rPr>
              <a:t>$ millions · management reporting, not GAAP</a:t>
            </a:r>
          </a:p>
        </p:txBody>
      </p:sp>
      <p:sp>
        <p:nvSpPr>
          <p:cNvPr id="63" name="TextBox 62">
            <a:extLst>
              <a:ext uri="{FF2B5EF4-FFF2-40B4-BE49-F238E27FC236}">
                <a16:creationId xmlns:a16="http://schemas.microsoft.com/office/drawing/2014/main" id="{14C2F9AC-343F-D73D-6EB3-D03CB19BDE14}"/>
              </a:ext>
            </a:extLst>
          </p:cNvPr>
          <p:cNvSpPr txBox="1"/>
          <p:nvPr/>
        </p:nvSpPr>
        <p:spPr>
          <a:xfrm>
            <a:off x="7854696" y="1371600"/>
            <a:ext cx="3310128" cy="274320"/>
          </a:xfrm>
          <a:prstGeom prst="rect">
            <a:avLst/>
          </a:prstGeom>
          <a:noFill/>
        </p:spPr>
        <p:txBody>
          <a:bodyPr wrap="square" lIns="0" tIns="0" rIns="0" bIns="0" anchor="t">
            <a:spAutoFit/>
          </a:bodyPr>
          <a:lstStyle/>
          <a:p>
            <a:pPr algn="l"/>
            <a:r>
              <a:rPr sz="1600" b="1">
                <a:solidFill>
                  <a:srgbClr val="000000"/>
                </a:solidFill>
                <a:latin typeface="Lato"/>
              </a:rPr>
              <a:t>Tuition discount by year</a:t>
            </a:r>
          </a:p>
        </p:txBody>
      </p:sp>
      <p:sp>
        <p:nvSpPr>
          <p:cNvPr id="64" name="TextBox 63">
            <a:extLst>
              <a:ext uri="{FF2B5EF4-FFF2-40B4-BE49-F238E27FC236}">
                <a16:creationId xmlns:a16="http://schemas.microsoft.com/office/drawing/2014/main" id="{8874C390-8F1A-E1BF-191F-0196316FB57E}"/>
              </a:ext>
            </a:extLst>
          </p:cNvPr>
          <p:cNvSpPr txBox="1"/>
          <p:nvPr/>
        </p:nvSpPr>
        <p:spPr>
          <a:xfrm>
            <a:off x="7854696" y="1645920"/>
            <a:ext cx="3310128" cy="201168"/>
          </a:xfrm>
          <a:prstGeom prst="rect">
            <a:avLst/>
          </a:prstGeom>
          <a:noFill/>
        </p:spPr>
        <p:txBody>
          <a:bodyPr wrap="square" lIns="0" tIns="0" rIns="0" bIns="0" anchor="t">
            <a:spAutoFit/>
          </a:bodyPr>
          <a:lstStyle/>
          <a:p>
            <a:pPr algn="l"/>
            <a:r>
              <a:rPr sz="1100" b="0">
                <a:solidFill>
                  <a:srgbClr val="6E6F73"/>
                </a:solidFill>
                <a:latin typeface="Lato"/>
              </a:rPr>
              <a:t>Discount rate, % of gross tuition</a:t>
            </a:r>
          </a:p>
        </p:txBody>
      </p:sp>
      <p:graphicFrame>
        <p:nvGraphicFramePr>
          <p:cNvPr id="69" name="Chart 68">
            <a:extLst>
              <a:ext uri="{FF2B5EF4-FFF2-40B4-BE49-F238E27FC236}">
                <a16:creationId xmlns:a16="http://schemas.microsoft.com/office/drawing/2014/main" id="{887AC2EC-11E3-A08B-9452-D286FE7FA210}"/>
              </a:ext>
            </a:extLst>
          </p:cNvPr>
          <p:cNvGraphicFramePr>
            <a:graphicFrameLocks noGrp="1"/>
          </p:cNvGraphicFramePr>
          <p:nvPr/>
        </p:nvGraphicFramePr>
        <p:xfrm>
          <a:off x="457200" y="1901952"/>
          <a:ext cx="3355848" cy="2807208"/>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0" name="Chart 69">
            <a:extLst>
              <a:ext uri="{FF2B5EF4-FFF2-40B4-BE49-F238E27FC236}">
                <a16:creationId xmlns:a16="http://schemas.microsoft.com/office/drawing/2014/main" id="{536593C3-793D-DA1C-0614-1466FE68C47F}"/>
              </a:ext>
            </a:extLst>
          </p:cNvPr>
          <p:cNvGraphicFramePr>
            <a:graphicFrameLocks noGrp="1"/>
          </p:cNvGraphicFramePr>
          <p:nvPr/>
        </p:nvGraphicFramePr>
        <p:xfrm>
          <a:off x="4133088" y="1901952"/>
          <a:ext cx="3355848" cy="2807208"/>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1" name="Chart 70">
            <a:extLst>
              <a:ext uri="{FF2B5EF4-FFF2-40B4-BE49-F238E27FC236}">
                <a16:creationId xmlns:a16="http://schemas.microsoft.com/office/drawing/2014/main" id="{C355A5D2-05E2-CEE6-A603-948FE0270CA1}"/>
              </a:ext>
            </a:extLst>
          </p:cNvPr>
          <p:cNvGraphicFramePr>
            <a:graphicFrameLocks noGrp="1"/>
          </p:cNvGraphicFramePr>
          <p:nvPr/>
        </p:nvGraphicFramePr>
        <p:xfrm>
          <a:off x="7808976" y="1901952"/>
          <a:ext cx="3355848" cy="2807208"/>
        </p:xfrm>
        <a:graphic>
          <a:graphicData uri="http://schemas.openxmlformats.org/drawingml/2006/chart">
            <c:chart xmlns:c="http://schemas.openxmlformats.org/drawingml/2006/chart" xmlns:r="http://schemas.openxmlformats.org/officeDocument/2006/relationships" r:id="rId4"/>
          </a:graphicData>
        </a:graphic>
      </p:graphicFrame>
      <p:sp>
        <p:nvSpPr>
          <p:cNvPr id="72" name="TextBox 71">
            <a:extLst>
              <a:ext uri="{FF2B5EF4-FFF2-40B4-BE49-F238E27FC236}">
                <a16:creationId xmlns:a16="http://schemas.microsoft.com/office/drawing/2014/main" id="{316A1B30-83EA-D05A-6546-86755254E239}"/>
              </a:ext>
            </a:extLst>
          </p:cNvPr>
          <p:cNvSpPr txBox="1"/>
          <p:nvPr/>
        </p:nvSpPr>
        <p:spPr>
          <a:xfrm>
            <a:off x="502920" y="4864608"/>
            <a:ext cx="3310128" cy="1210588"/>
          </a:xfrm>
          <a:prstGeom prst="rect">
            <a:avLst/>
          </a:prstGeom>
          <a:noFill/>
        </p:spPr>
        <p:txBody>
          <a:bodyPr wrap="square" lIns="0" tIns="0" rIns="0" bIns="0">
            <a:spAutoFit/>
          </a:bodyPr>
          <a:lstStyle/>
          <a:p>
            <a:pPr marL="164592" indent="-164592">
              <a:spcAft>
                <a:spcPts val="400"/>
              </a:spcAft>
              <a:buFont typeface="Arial"/>
              <a:buChar char="•"/>
            </a:pPr>
            <a:r>
              <a:rPr sz="1200">
                <a:solidFill>
                  <a:srgbClr val="49494D"/>
                </a:solidFill>
                <a:latin typeface="Lato"/>
              </a:rPr>
              <a:t>Total enrollment dec</a:t>
            </a:r>
            <a:r>
              <a:rPr lang="en-US" sz="1200">
                <a:solidFill>
                  <a:srgbClr val="49494D"/>
                </a:solidFill>
                <a:latin typeface="Lato"/>
              </a:rPr>
              <a:t>reased</a:t>
            </a:r>
            <a:r>
              <a:rPr sz="1200">
                <a:solidFill>
                  <a:srgbClr val="49494D"/>
                </a:solidFill>
                <a:latin typeface="Lato"/>
              </a:rPr>
              <a:t> 7.</a:t>
            </a:r>
            <a:r>
              <a:rPr lang="en-US" sz="1200">
                <a:solidFill>
                  <a:srgbClr val="49494D"/>
                </a:solidFill>
                <a:latin typeface="Lato"/>
              </a:rPr>
              <a:t>2</a:t>
            </a:r>
            <a:r>
              <a:rPr sz="1200">
                <a:solidFill>
                  <a:srgbClr val="49494D"/>
                </a:solidFill>
                <a:latin typeface="Lato"/>
              </a:rPr>
              <a:t>% from FY25 to FY27</a:t>
            </a:r>
          </a:p>
          <a:p>
            <a:pPr marL="164592" indent="-164592">
              <a:spcAft>
                <a:spcPts val="400"/>
              </a:spcAft>
              <a:buFont typeface="Arial"/>
              <a:buChar char="•"/>
            </a:pPr>
            <a:r>
              <a:rPr sz="1200">
                <a:solidFill>
                  <a:srgbClr val="49494D"/>
                </a:solidFill>
                <a:latin typeface="Lato"/>
              </a:rPr>
              <a:t>Undergraduate increased </a:t>
            </a:r>
            <a:r>
              <a:rPr lang="en-US" sz="1200">
                <a:solidFill>
                  <a:srgbClr val="49494D"/>
                </a:solidFill>
                <a:latin typeface="Lato"/>
              </a:rPr>
              <a:t>7.8</a:t>
            </a:r>
            <a:r>
              <a:rPr sz="1200">
                <a:solidFill>
                  <a:srgbClr val="49494D"/>
                </a:solidFill>
                <a:latin typeface="Lato"/>
              </a:rPr>
              <a:t>% from FY25 to FY27</a:t>
            </a:r>
          </a:p>
          <a:p>
            <a:pPr marL="164592" indent="-164592">
              <a:spcAft>
                <a:spcPts val="400"/>
              </a:spcAft>
              <a:buFont typeface="Arial"/>
              <a:buChar char="•"/>
            </a:pPr>
            <a:r>
              <a:rPr sz="1200">
                <a:solidFill>
                  <a:srgbClr val="49494D"/>
                </a:solidFill>
                <a:latin typeface="Lato"/>
              </a:rPr>
              <a:t>Professional graduate decreased 2</a:t>
            </a:r>
            <a:r>
              <a:rPr lang="en-US" sz="1200">
                <a:solidFill>
                  <a:srgbClr val="49494D"/>
                </a:solidFill>
                <a:latin typeface="Lato"/>
              </a:rPr>
              <a:t>2.8</a:t>
            </a:r>
            <a:r>
              <a:rPr sz="1200">
                <a:solidFill>
                  <a:srgbClr val="49494D"/>
                </a:solidFill>
                <a:latin typeface="Lato"/>
              </a:rPr>
              <a:t>% from FY25 to FY27</a:t>
            </a:r>
          </a:p>
        </p:txBody>
      </p:sp>
      <p:sp>
        <p:nvSpPr>
          <p:cNvPr id="73" name="TextBox 72">
            <a:extLst>
              <a:ext uri="{FF2B5EF4-FFF2-40B4-BE49-F238E27FC236}">
                <a16:creationId xmlns:a16="http://schemas.microsoft.com/office/drawing/2014/main" id="{17A651BC-57E8-8DC0-135F-FE151B850336}"/>
              </a:ext>
            </a:extLst>
          </p:cNvPr>
          <p:cNvSpPr txBox="1"/>
          <p:nvPr/>
        </p:nvSpPr>
        <p:spPr>
          <a:xfrm>
            <a:off x="4178808" y="4864608"/>
            <a:ext cx="3471672" cy="1025922"/>
          </a:xfrm>
          <a:prstGeom prst="rect">
            <a:avLst/>
          </a:prstGeom>
          <a:noFill/>
        </p:spPr>
        <p:txBody>
          <a:bodyPr wrap="square" lIns="0" tIns="0" rIns="0" bIns="0">
            <a:spAutoFit/>
          </a:bodyPr>
          <a:lstStyle/>
          <a:p>
            <a:pPr marL="164592" indent="-164592">
              <a:spcAft>
                <a:spcPts val="400"/>
              </a:spcAft>
              <a:buFont typeface="Arial"/>
              <a:buChar char="•"/>
            </a:pPr>
            <a:r>
              <a:rPr lang="en-US" sz="1200">
                <a:solidFill>
                  <a:srgbClr val="49494D"/>
                </a:solidFill>
                <a:latin typeface="Lato"/>
              </a:rPr>
              <a:t>Total net tuition increased 0.4% from FY25 to FY27</a:t>
            </a:r>
          </a:p>
          <a:p>
            <a:pPr marL="164592" indent="-164592">
              <a:spcAft>
                <a:spcPts val="400"/>
              </a:spcAft>
              <a:buFont typeface="Arial"/>
              <a:buChar char="•"/>
            </a:pPr>
            <a:r>
              <a:rPr lang="en-US" sz="1200">
                <a:solidFill>
                  <a:srgbClr val="49494D"/>
                </a:solidFill>
                <a:latin typeface="Lato"/>
              </a:rPr>
              <a:t>Undergraduate increased 12.6% from FY25 to FY27</a:t>
            </a:r>
          </a:p>
          <a:p>
            <a:pPr marL="164592" indent="-164592">
              <a:spcAft>
                <a:spcPts val="400"/>
              </a:spcAft>
              <a:buFont typeface="Arial"/>
              <a:buChar char="•"/>
            </a:pPr>
            <a:r>
              <a:rPr lang="en-US" sz="1200">
                <a:solidFill>
                  <a:srgbClr val="49494D"/>
                </a:solidFill>
                <a:latin typeface="Lato"/>
              </a:rPr>
              <a:t>Professional graduate decreased by 28.4% from FY25 to FY27</a:t>
            </a:r>
          </a:p>
        </p:txBody>
      </p:sp>
      <p:sp>
        <p:nvSpPr>
          <p:cNvPr id="74" name="TextBox 73">
            <a:extLst>
              <a:ext uri="{FF2B5EF4-FFF2-40B4-BE49-F238E27FC236}">
                <a16:creationId xmlns:a16="http://schemas.microsoft.com/office/drawing/2014/main" id="{D1F30B51-6AE4-53F5-406A-49DC4CF516DE}"/>
              </a:ext>
            </a:extLst>
          </p:cNvPr>
          <p:cNvSpPr txBox="1"/>
          <p:nvPr/>
        </p:nvSpPr>
        <p:spPr>
          <a:xfrm>
            <a:off x="7996428" y="4864608"/>
            <a:ext cx="3310128" cy="1549142"/>
          </a:xfrm>
          <a:prstGeom prst="rect">
            <a:avLst/>
          </a:prstGeom>
          <a:noFill/>
        </p:spPr>
        <p:txBody>
          <a:bodyPr wrap="square" lIns="0" tIns="0" rIns="0" bIns="0">
            <a:spAutoFit/>
          </a:bodyPr>
          <a:lstStyle/>
          <a:p>
            <a:pPr>
              <a:spcAft>
                <a:spcPts val="400"/>
              </a:spcAft>
            </a:pPr>
            <a:r>
              <a:rPr lang="en-US" sz="1200">
                <a:solidFill>
                  <a:srgbClr val="49494D"/>
                </a:solidFill>
                <a:latin typeface="Lato"/>
              </a:rPr>
              <a:t>Drivers of higher discounts:</a:t>
            </a:r>
          </a:p>
          <a:p>
            <a:pPr marL="171450" indent="-171450">
              <a:spcAft>
                <a:spcPts val="400"/>
              </a:spcAft>
              <a:buFont typeface="Arial" panose="020B0604020202020204" pitchFamily="34" charset="0"/>
              <a:buChar char="•"/>
            </a:pPr>
            <a:r>
              <a:rPr lang="en-US" sz="1200">
                <a:solidFill>
                  <a:srgbClr val="49494D"/>
                </a:solidFill>
                <a:latin typeface="Lato"/>
              </a:rPr>
              <a:t>Decrease in international students</a:t>
            </a:r>
          </a:p>
          <a:p>
            <a:pPr marL="171450" indent="-171450">
              <a:spcAft>
                <a:spcPts val="400"/>
              </a:spcAft>
              <a:buFont typeface="Arial" panose="020B0604020202020204" pitchFamily="34" charset="0"/>
              <a:buChar char="•"/>
            </a:pPr>
            <a:r>
              <a:rPr lang="en-US" sz="1200">
                <a:solidFill>
                  <a:srgbClr val="49494D"/>
                </a:solidFill>
                <a:latin typeface="Lato"/>
              </a:rPr>
              <a:t>Decrease in NUin</a:t>
            </a:r>
          </a:p>
          <a:p>
            <a:pPr marL="171450" indent="-171450">
              <a:spcAft>
                <a:spcPts val="400"/>
              </a:spcAft>
              <a:buFont typeface="Arial" panose="020B0604020202020204" pitchFamily="34" charset="0"/>
              <a:buChar char="•"/>
            </a:pPr>
            <a:r>
              <a:rPr lang="en-US" sz="1200">
                <a:solidFill>
                  <a:srgbClr val="49494D"/>
                </a:solidFill>
                <a:latin typeface="Lato"/>
              </a:rPr>
              <a:t>Increase in Pell students and overall need</a:t>
            </a:r>
          </a:p>
          <a:p>
            <a:pPr marL="171450" indent="-171450">
              <a:spcAft>
                <a:spcPts val="400"/>
              </a:spcAft>
              <a:buFont typeface="Arial" panose="020B0604020202020204" pitchFamily="34" charset="0"/>
              <a:buChar char="•"/>
            </a:pPr>
            <a:r>
              <a:rPr lang="en-US" sz="1200">
                <a:solidFill>
                  <a:srgbClr val="49494D"/>
                </a:solidFill>
                <a:latin typeface="Lato"/>
              </a:rPr>
              <a:t>Increase merit appeals approved due to high discounting by competitors (e.g., Syracuse)</a:t>
            </a:r>
          </a:p>
          <a:p>
            <a:pPr marL="171450" indent="-171450">
              <a:spcAft>
                <a:spcPts val="400"/>
              </a:spcAft>
              <a:buFont typeface="Arial" panose="020B0604020202020204" pitchFamily="34" charset="0"/>
              <a:buChar char="•"/>
            </a:pPr>
            <a:endParaRPr sz="1200">
              <a:solidFill>
                <a:srgbClr val="49494D"/>
              </a:solidFill>
              <a:latin typeface="Lato"/>
            </a:endParaRPr>
          </a:p>
        </p:txBody>
      </p:sp>
      <p:sp>
        <p:nvSpPr>
          <p:cNvPr id="75" name="TextBox 7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(enrollment): degree-seeking enrollment by reporting group, supplied 17 September 2026, Fall 2019 – Fall 2026; fiscal year ends June 30, so Fall 2019 = FY20 … Fall 2026 = FY27.</a:t>
            </a:r>
          </a:p>
        </p:txBody>
      </p:sp>
      <p:sp>
        <p:nvSpPr>
          <p:cNvPr id="76"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25</a:t>
            </a:fld>
            <a:endParaRPr lang="en-US" sz="900" b="1">
              <a:solidFill>
                <a:srgbClr val="000000"/>
              </a:solidFill>
              <a:latin typeface="Lato"/>
            </a:endParaRPr>
          </a:p>
        </p:txBody>
      </p:sp>
    </p:spTree>
    <p:extLst>
      <p:ext uri="{BB962C8B-B14F-4D97-AF65-F5344CB8AC3E}">
        <p14:creationId xmlns:p14="http://schemas.microsoft.com/office/powerpoint/2010/main" val="36722335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11247120" cy="341568"/>
          </a:xfrm>
          <a:prstGeom prst="rect">
            <a:avLst/>
          </a:prstGeom>
          <a:noFill/>
        </p:spPr>
        <p:txBody>
          <a:bodyPr wrap="square" lIns="0" tIns="0" rIns="0" bIns="0">
            <a:noAutofit/>
          </a:bodyPr>
          <a:lstStyle/>
          <a:p>
            <a:pPr algn="l">
              <a:lnSpc>
                <a:spcPct val="105000"/>
              </a:lnSpc>
            </a:pPr>
            <a:r>
              <a:rPr sz="2300" b="1" dirty="0">
                <a:solidFill>
                  <a:srgbClr val="000000"/>
                </a:solidFill>
                <a:latin typeface="Lato"/>
              </a:rPr>
              <a:t>Undergraduate </a:t>
            </a:r>
            <a:r>
              <a:rPr lang="en-US" sz="2300" b="1" dirty="0">
                <a:solidFill>
                  <a:srgbClr val="000000"/>
                </a:solidFill>
                <a:latin typeface="Lato"/>
              </a:rPr>
              <a:t>the dominant growth driver since FY20</a:t>
            </a:r>
            <a:endParaRPr sz="2300" b="1" dirty="0">
              <a:solidFill>
                <a:srgbClr val="000000"/>
              </a:solidFill>
              <a:latin typeface="Lato"/>
            </a:endParaRPr>
          </a:p>
        </p:txBody>
      </p:sp>
      <p:sp>
        <p:nvSpPr>
          <p:cNvPr id="3" name="TextBox 2"/>
          <p:cNvSpPr txBox="1"/>
          <p:nvPr/>
        </p:nvSpPr>
        <p:spPr>
          <a:xfrm>
            <a:off x="457200" y="749808"/>
            <a:ext cx="11338560" cy="176972"/>
          </a:xfrm>
          <a:prstGeom prst="rect">
            <a:avLst/>
          </a:prstGeom>
          <a:noFill/>
        </p:spPr>
        <p:txBody>
          <a:bodyPr wrap="square" lIns="0" tIns="0" rIns="0" bIns="0">
            <a:spAutoFit/>
          </a:bodyPr>
          <a:lstStyle/>
          <a:p>
            <a:pPr algn="l"/>
            <a:r>
              <a:rPr sz="1150" b="0">
                <a:solidFill>
                  <a:srgbClr val="49494D"/>
                </a:solidFill>
                <a:latin typeface="Lato"/>
              </a:rPr>
              <a:t>Degree-seeking students by reporting group  ·  FY20 – FY27  ·  1 October snapshots; FY27 estimated</a:t>
            </a:r>
          </a:p>
        </p:txBody>
      </p:sp>
      <p:sp>
        <p:nvSpPr>
          <p:cNvPr id="4" name="TextBox 3"/>
          <p:cNvSpPr txBox="1"/>
          <p:nvPr/>
        </p:nvSpPr>
        <p:spPr>
          <a:xfrm>
            <a:off x="457200" y="1042415"/>
            <a:ext cx="11338560" cy="274320"/>
          </a:xfrm>
          <a:prstGeom prst="rect">
            <a:avLst/>
          </a:prstGeom>
          <a:noFill/>
        </p:spPr>
        <p:txBody>
          <a:bodyPr wrap="square" lIns="0" tIns="0" rIns="0" bIns="0">
            <a:spAutoFit/>
          </a:bodyPr>
          <a:lstStyle/>
          <a:p>
            <a:pPr algn="l"/>
            <a:r>
              <a:rPr sz="1250" b="0">
                <a:solidFill>
                  <a:srgbClr val="000000"/>
                </a:solidFill>
                <a:latin typeface="Lato"/>
              </a:rPr>
              <a:t>Undergraduate added 6,601 students since FY20. Professional graduate rose 6,087 to a peak of 23,247 in FY24 and has given nearly all of it back — 17,607 in FY27, +447 on FY20.</a:t>
            </a:r>
          </a:p>
        </p:txBody>
      </p:sp>
      <p:graphicFrame>
        <p:nvGraphicFramePr>
          <p:cNvPr id="5" name="Chart 4" descr="Chart"/>
          <p:cNvGraphicFramePr>
            <a:graphicFrameLocks noGrp="1"/>
          </p:cNvGraphicFramePr>
          <p:nvPr/>
        </p:nvGraphicFramePr>
        <p:xfrm>
          <a:off x="411480" y="1719072"/>
          <a:ext cx="7498079" cy="4453128"/>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Box 5"/>
          <p:cNvSpPr txBox="1"/>
          <p:nvPr/>
        </p:nvSpPr>
        <p:spPr>
          <a:xfrm>
            <a:off x="1031558" y="2428942"/>
            <a:ext cx="914400" cy="237744"/>
          </a:xfrm>
          <a:prstGeom prst="rect">
            <a:avLst/>
          </a:prstGeom>
          <a:noFill/>
        </p:spPr>
        <p:txBody>
          <a:bodyPr wrap="square" lIns="0" tIns="0" rIns="0" bIns="0">
            <a:spAutoFit/>
          </a:bodyPr>
          <a:lstStyle/>
          <a:p>
            <a:pPr algn="ctr"/>
            <a:r>
              <a:rPr sz="1100" b="1">
                <a:solidFill>
                  <a:srgbClr val="000000"/>
                </a:solidFill>
                <a:latin typeface="Lato"/>
              </a:rPr>
              <a:t>37,779</a:t>
            </a:r>
          </a:p>
        </p:txBody>
      </p:sp>
      <p:sp>
        <p:nvSpPr>
          <p:cNvPr id="7" name="TextBox 6"/>
          <p:cNvSpPr txBox="1"/>
          <p:nvPr/>
        </p:nvSpPr>
        <p:spPr>
          <a:xfrm>
            <a:off x="1869376" y="2425998"/>
            <a:ext cx="914400" cy="237744"/>
          </a:xfrm>
          <a:prstGeom prst="rect">
            <a:avLst/>
          </a:prstGeom>
          <a:noFill/>
        </p:spPr>
        <p:txBody>
          <a:bodyPr wrap="square" lIns="0" tIns="0" rIns="0" bIns="0">
            <a:spAutoFit/>
          </a:bodyPr>
          <a:lstStyle/>
          <a:p>
            <a:pPr algn="ctr"/>
            <a:r>
              <a:rPr sz="1100" b="1">
                <a:solidFill>
                  <a:srgbClr val="000000"/>
                </a:solidFill>
                <a:latin typeface="Lato"/>
              </a:rPr>
              <a:t>37,825</a:t>
            </a:r>
          </a:p>
        </p:txBody>
      </p:sp>
      <p:sp>
        <p:nvSpPr>
          <p:cNvPr id="8" name="TextBox 7"/>
          <p:cNvSpPr txBox="1"/>
          <p:nvPr/>
        </p:nvSpPr>
        <p:spPr>
          <a:xfrm>
            <a:off x="2707195" y="2168922"/>
            <a:ext cx="914400" cy="237744"/>
          </a:xfrm>
          <a:prstGeom prst="rect">
            <a:avLst/>
          </a:prstGeom>
          <a:noFill/>
        </p:spPr>
        <p:txBody>
          <a:bodyPr wrap="square" lIns="0" tIns="0" rIns="0" bIns="0">
            <a:spAutoFit/>
          </a:bodyPr>
          <a:lstStyle/>
          <a:p>
            <a:pPr algn="ctr"/>
            <a:r>
              <a:rPr sz="1100" b="1">
                <a:solidFill>
                  <a:srgbClr val="000000"/>
                </a:solidFill>
                <a:latin typeface="Lato"/>
              </a:rPr>
              <a:t>41,842</a:t>
            </a:r>
          </a:p>
        </p:txBody>
      </p:sp>
      <p:sp>
        <p:nvSpPr>
          <p:cNvPr id="9" name="TextBox 8"/>
          <p:cNvSpPr txBox="1"/>
          <p:nvPr/>
        </p:nvSpPr>
        <p:spPr>
          <a:xfrm>
            <a:off x="3545013" y="1936868"/>
            <a:ext cx="914400" cy="237744"/>
          </a:xfrm>
          <a:prstGeom prst="rect">
            <a:avLst/>
          </a:prstGeom>
          <a:noFill/>
        </p:spPr>
        <p:txBody>
          <a:bodyPr wrap="square" lIns="0" tIns="0" rIns="0" bIns="0">
            <a:spAutoFit/>
          </a:bodyPr>
          <a:lstStyle/>
          <a:p>
            <a:pPr algn="ctr"/>
            <a:r>
              <a:rPr sz="1100" b="1">
                <a:solidFill>
                  <a:srgbClr val="000000"/>
                </a:solidFill>
                <a:latin typeface="Lato"/>
              </a:rPr>
              <a:t>45,468</a:t>
            </a:r>
          </a:p>
        </p:txBody>
      </p:sp>
      <p:sp>
        <p:nvSpPr>
          <p:cNvPr id="10" name="TextBox 9"/>
          <p:cNvSpPr txBox="1"/>
          <p:nvPr/>
        </p:nvSpPr>
        <p:spPr>
          <a:xfrm>
            <a:off x="4382831" y="1789547"/>
            <a:ext cx="914400" cy="237744"/>
          </a:xfrm>
          <a:prstGeom prst="rect">
            <a:avLst/>
          </a:prstGeom>
          <a:noFill/>
        </p:spPr>
        <p:txBody>
          <a:bodyPr wrap="square" lIns="0" tIns="0" rIns="0" bIns="0">
            <a:spAutoFit/>
          </a:bodyPr>
          <a:lstStyle/>
          <a:p>
            <a:pPr algn="ctr"/>
            <a:r>
              <a:rPr sz="1100" b="1">
                <a:solidFill>
                  <a:srgbClr val="000000"/>
                </a:solidFill>
                <a:latin typeface="Lato"/>
              </a:rPr>
              <a:t>47,770</a:t>
            </a:r>
          </a:p>
        </p:txBody>
      </p:sp>
      <p:sp>
        <p:nvSpPr>
          <p:cNvPr id="11" name="TextBox 10"/>
          <p:cNvSpPr txBox="1"/>
          <p:nvPr/>
        </p:nvSpPr>
        <p:spPr>
          <a:xfrm>
            <a:off x="5220650" y="1722862"/>
            <a:ext cx="914400" cy="237744"/>
          </a:xfrm>
          <a:prstGeom prst="rect">
            <a:avLst/>
          </a:prstGeom>
          <a:noFill/>
        </p:spPr>
        <p:txBody>
          <a:bodyPr wrap="square" lIns="0" tIns="0" rIns="0" bIns="0">
            <a:spAutoFit/>
          </a:bodyPr>
          <a:lstStyle/>
          <a:p>
            <a:pPr algn="ctr"/>
            <a:r>
              <a:rPr sz="1100" b="1">
                <a:solidFill>
                  <a:srgbClr val="000000"/>
                </a:solidFill>
                <a:latin typeface="Lato"/>
              </a:rPr>
              <a:t>48,812</a:t>
            </a:r>
          </a:p>
        </p:txBody>
      </p:sp>
      <p:sp>
        <p:nvSpPr>
          <p:cNvPr id="12" name="TextBox 11"/>
          <p:cNvSpPr txBox="1"/>
          <p:nvPr/>
        </p:nvSpPr>
        <p:spPr>
          <a:xfrm>
            <a:off x="6058468" y="1815338"/>
            <a:ext cx="914400" cy="237744"/>
          </a:xfrm>
          <a:prstGeom prst="rect">
            <a:avLst/>
          </a:prstGeom>
          <a:noFill/>
        </p:spPr>
        <p:txBody>
          <a:bodyPr wrap="square" lIns="0" tIns="0" rIns="0" bIns="0">
            <a:spAutoFit/>
          </a:bodyPr>
          <a:lstStyle/>
          <a:p>
            <a:pPr algn="ctr"/>
            <a:r>
              <a:rPr sz="1100" b="1">
                <a:solidFill>
                  <a:srgbClr val="000000"/>
                </a:solidFill>
                <a:latin typeface="Lato"/>
              </a:rPr>
              <a:t>47,367</a:t>
            </a:r>
          </a:p>
        </p:txBody>
      </p:sp>
      <p:sp>
        <p:nvSpPr>
          <p:cNvPr id="13" name="TextBox 12"/>
          <p:cNvSpPr txBox="1"/>
          <p:nvPr/>
        </p:nvSpPr>
        <p:spPr>
          <a:xfrm>
            <a:off x="6896287" y="1960419"/>
            <a:ext cx="914400" cy="237744"/>
          </a:xfrm>
          <a:prstGeom prst="rect">
            <a:avLst/>
          </a:prstGeom>
          <a:noFill/>
        </p:spPr>
        <p:txBody>
          <a:bodyPr wrap="square" lIns="0" tIns="0" rIns="0" bIns="0">
            <a:spAutoFit/>
          </a:bodyPr>
          <a:lstStyle/>
          <a:p>
            <a:pPr algn="ctr"/>
            <a:r>
              <a:rPr sz="1100" b="1">
                <a:solidFill>
                  <a:srgbClr val="000000"/>
                </a:solidFill>
                <a:latin typeface="Lato"/>
              </a:rPr>
              <a:t>45,300</a:t>
            </a:r>
          </a:p>
        </p:txBody>
      </p:sp>
      <p:sp>
        <p:nvSpPr>
          <p:cNvPr id="14" name="TextBox 13"/>
          <p:cNvSpPr txBox="1"/>
          <p:nvPr/>
        </p:nvSpPr>
        <p:spPr>
          <a:xfrm>
            <a:off x="9660484" y="1444752"/>
            <a:ext cx="960120" cy="256032"/>
          </a:xfrm>
          <a:prstGeom prst="rect">
            <a:avLst/>
          </a:prstGeom>
          <a:noFill/>
        </p:spPr>
        <p:txBody>
          <a:bodyPr wrap="square" lIns="0" tIns="0" rIns="0" bIns="0">
            <a:spAutoFit/>
          </a:bodyPr>
          <a:lstStyle/>
          <a:p>
            <a:pPr algn="r"/>
            <a:r>
              <a:rPr sz="1200" b="1">
                <a:solidFill>
                  <a:srgbClr val="000000"/>
                </a:solidFill>
                <a:latin typeface="Lato"/>
              </a:rPr>
              <a:t>CAGR</a:t>
            </a:r>
          </a:p>
          <a:p>
            <a:pPr algn="r"/>
            <a:r>
              <a:rPr sz="850" b="0">
                <a:solidFill>
                  <a:srgbClr val="9B9C9E"/>
                </a:solidFill>
                <a:latin typeface="Lato"/>
              </a:rPr>
              <a:t>FY20 → FY27</a:t>
            </a:r>
          </a:p>
        </p:txBody>
      </p:sp>
      <p:sp>
        <p:nvSpPr>
          <p:cNvPr id="19" name="TextBox 18"/>
          <p:cNvSpPr txBox="1"/>
          <p:nvPr/>
        </p:nvSpPr>
        <p:spPr>
          <a:xfrm>
            <a:off x="8092440" y="2175290"/>
            <a:ext cx="2148840" cy="274320"/>
          </a:xfrm>
          <a:prstGeom prst="rect">
            <a:avLst/>
          </a:prstGeom>
          <a:noFill/>
        </p:spPr>
        <p:txBody>
          <a:bodyPr wrap="square" lIns="0" tIns="0" rIns="0" bIns="0" anchor="ctr">
            <a:spAutoFit/>
          </a:bodyPr>
          <a:lstStyle/>
          <a:p>
            <a:pPr algn="l"/>
            <a:r>
              <a:rPr sz="950" b="0">
                <a:solidFill>
                  <a:srgbClr val="49494D"/>
                </a:solidFill>
                <a:latin typeface="Lato"/>
              </a:rPr>
              <a:t>JD/PhD  (+473)</a:t>
            </a:r>
          </a:p>
        </p:txBody>
      </p:sp>
      <p:sp>
        <p:nvSpPr>
          <p:cNvPr id="20" name="TextBox 19"/>
          <p:cNvSpPr txBox="1"/>
          <p:nvPr/>
        </p:nvSpPr>
        <p:spPr>
          <a:xfrm>
            <a:off x="9660484" y="2175290"/>
            <a:ext cx="960120" cy="274320"/>
          </a:xfrm>
          <a:prstGeom prst="rect">
            <a:avLst/>
          </a:prstGeom>
          <a:noFill/>
        </p:spPr>
        <p:txBody>
          <a:bodyPr wrap="square" lIns="0" tIns="0" rIns="0" bIns="0" anchor="ctr">
            <a:spAutoFit/>
          </a:bodyPr>
          <a:lstStyle/>
          <a:p>
            <a:pPr algn="r"/>
            <a:r>
              <a:rPr sz="950" b="1">
                <a:solidFill>
                  <a:srgbClr val="7F7F7F"/>
                </a:solidFill>
                <a:latin typeface="Lato"/>
              </a:rPr>
              <a:t>+2.9%</a:t>
            </a:r>
          </a:p>
        </p:txBody>
      </p:sp>
      <p:sp>
        <p:nvSpPr>
          <p:cNvPr id="28" name="TextBox 27"/>
          <p:cNvSpPr txBox="1"/>
          <p:nvPr/>
        </p:nvSpPr>
        <p:spPr>
          <a:xfrm>
            <a:off x="8092440" y="2803026"/>
            <a:ext cx="2148840" cy="292388"/>
          </a:xfrm>
          <a:prstGeom prst="rect">
            <a:avLst/>
          </a:prstGeom>
          <a:noFill/>
        </p:spPr>
        <p:txBody>
          <a:bodyPr wrap="square" lIns="0" tIns="0" rIns="0" bIns="0" anchor="ctr">
            <a:spAutoFit/>
          </a:bodyPr>
          <a:lstStyle/>
          <a:p>
            <a:pPr algn="l"/>
            <a:r>
              <a:rPr sz="950" b="0" dirty="0">
                <a:solidFill>
                  <a:srgbClr val="49494D"/>
                </a:solidFill>
                <a:latin typeface="Lato"/>
              </a:rPr>
              <a:t>Professional Graduate  (+447)</a:t>
            </a:r>
            <a:endParaRPr lang="en-US" sz="950" dirty="0">
              <a:solidFill>
                <a:srgbClr val="49494D"/>
              </a:solidFill>
              <a:latin typeface="Lato"/>
            </a:endParaRPr>
          </a:p>
          <a:p>
            <a:pPr algn="l"/>
            <a:r>
              <a:rPr lang="en-US" sz="950" b="1" i="1" dirty="0">
                <a:solidFill>
                  <a:srgbClr val="C8102E"/>
                </a:solidFill>
                <a:latin typeface="Lato"/>
              </a:rPr>
              <a:t>Down 24% since FY24</a:t>
            </a:r>
            <a:endParaRPr sz="950" b="1" i="1" dirty="0">
              <a:solidFill>
                <a:srgbClr val="C8102E"/>
              </a:solidFill>
              <a:latin typeface="Lato"/>
            </a:endParaRPr>
          </a:p>
        </p:txBody>
      </p:sp>
      <p:sp>
        <p:nvSpPr>
          <p:cNvPr id="29" name="TextBox 28"/>
          <p:cNvSpPr txBox="1"/>
          <p:nvPr/>
        </p:nvSpPr>
        <p:spPr>
          <a:xfrm>
            <a:off x="9660484" y="2812060"/>
            <a:ext cx="960120" cy="274320"/>
          </a:xfrm>
          <a:prstGeom prst="rect">
            <a:avLst/>
          </a:prstGeom>
          <a:noFill/>
        </p:spPr>
        <p:txBody>
          <a:bodyPr wrap="square" lIns="0" tIns="0" rIns="0" bIns="0" anchor="ctr">
            <a:spAutoFit/>
          </a:bodyPr>
          <a:lstStyle/>
          <a:p>
            <a:pPr algn="r"/>
            <a:r>
              <a:rPr sz="950" b="1">
                <a:solidFill>
                  <a:srgbClr val="7F7F7F"/>
                </a:solidFill>
                <a:latin typeface="Lato"/>
              </a:rPr>
              <a:t>+0.4%</a:t>
            </a:r>
          </a:p>
        </p:txBody>
      </p:sp>
      <p:sp>
        <p:nvSpPr>
          <p:cNvPr id="43" name="TextBox 42"/>
          <p:cNvSpPr txBox="1"/>
          <p:nvPr/>
        </p:nvSpPr>
        <p:spPr>
          <a:xfrm>
            <a:off x="8092440" y="4175197"/>
            <a:ext cx="2148840" cy="274320"/>
          </a:xfrm>
          <a:prstGeom prst="rect">
            <a:avLst/>
          </a:prstGeom>
          <a:noFill/>
        </p:spPr>
        <p:txBody>
          <a:bodyPr wrap="square" lIns="0" tIns="0" rIns="0" bIns="0" anchor="ctr">
            <a:spAutoFit/>
          </a:bodyPr>
          <a:lstStyle/>
          <a:p>
            <a:pPr algn="l"/>
            <a:r>
              <a:rPr sz="950" b="0">
                <a:solidFill>
                  <a:srgbClr val="49494D"/>
                </a:solidFill>
                <a:latin typeface="Lato"/>
              </a:rPr>
              <a:t>Undergraduate  (+6,601)</a:t>
            </a:r>
          </a:p>
        </p:txBody>
      </p:sp>
      <p:sp>
        <p:nvSpPr>
          <p:cNvPr id="44" name="TextBox 43"/>
          <p:cNvSpPr txBox="1"/>
          <p:nvPr/>
        </p:nvSpPr>
        <p:spPr>
          <a:xfrm>
            <a:off x="9660484" y="4175197"/>
            <a:ext cx="960120" cy="274320"/>
          </a:xfrm>
          <a:prstGeom prst="rect">
            <a:avLst/>
          </a:prstGeom>
          <a:noFill/>
        </p:spPr>
        <p:txBody>
          <a:bodyPr wrap="square" lIns="0" tIns="0" rIns="0" bIns="0" anchor="ctr">
            <a:spAutoFit/>
          </a:bodyPr>
          <a:lstStyle/>
          <a:p>
            <a:pPr algn="r"/>
            <a:r>
              <a:rPr sz="950" b="1">
                <a:solidFill>
                  <a:srgbClr val="7F7F7F"/>
                </a:solidFill>
                <a:latin typeface="Lato"/>
              </a:rPr>
              <a:t>+4.5%</a:t>
            </a:r>
          </a:p>
        </p:txBody>
      </p:sp>
      <p:sp>
        <p:nvSpPr>
          <p:cNvPr id="45" name="Rectangle 44"/>
          <p:cNvSpPr/>
          <p:nvPr/>
        </p:nvSpPr>
        <p:spPr>
          <a:xfrm>
            <a:off x="8092440" y="5248655"/>
            <a:ext cx="3749039" cy="1371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46" name="TextBox 45"/>
          <p:cNvSpPr txBox="1"/>
          <p:nvPr/>
        </p:nvSpPr>
        <p:spPr>
          <a:xfrm>
            <a:off x="8092440" y="5376671"/>
            <a:ext cx="2148840" cy="310896"/>
          </a:xfrm>
          <a:prstGeom prst="rect">
            <a:avLst/>
          </a:prstGeom>
          <a:noFill/>
        </p:spPr>
        <p:txBody>
          <a:bodyPr wrap="square" lIns="0" tIns="0" rIns="0" bIns="0" anchor="ctr">
            <a:spAutoFit/>
          </a:bodyPr>
          <a:lstStyle/>
          <a:p>
            <a:pPr algn="l"/>
            <a:r>
              <a:rPr sz="1250" b="1">
                <a:solidFill>
                  <a:srgbClr val="000000"/>
                </a:solidFill>
                <a:latin typeface="Lato"/>
              </a:rPr>
              <a:t>Total degree-seeking</a:t>
            </a:r>
          </a:p>
        </p:txBody>
      </p:sp>
      <p:sp>
        <p:nvSpPr>
          <p:cNvPr id="47" name="Oval 46"/>
          <p:cNvSpPr/>
          <p:nvPr/>
        </p:nvSpPr>
        <p:spPr>
          <a:xfrm>
            <a:off x="10019488" y="5353812"/>
            <a:ext cx="709351" cy="361188"/>
          </a:xfrm>
          <a:prstGeom prst="ellipse">
            <a:avLst/>
          </a:prstGeom>
          <a:noFill/>
          <a:ln w="190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48" name="TextBox 47"/>
          <p:cNvSpPr txBox="1"/>
          <p:nvPr/>
        </p:nvSpPr>
        <p:spPr>
          <a:xfrm>
            <a:off x="9660484" y="5376671"/>
            <a:ext cx="960120" cy="310896"/>
          </a:xfrm>
          <a:prstGeom prst="rect">
            <a:avLst/>
          </a:prstGeom>
          <a:noFill/>
        </p:spPr>
        <p:txBody>
          <a:bodyPr wrap="square" lIns="0" tIns="0" rIns="0" bIns="0" anchor="ctr">
            <a:spAutoFit/>
          </a:bodyPr>
          <a:lstStyle/>
          <a:p>
            <a:pPr algn="r"/>
            <a:r>
              <a:rPr sz="1350" b="1">
                <a:solidFill>
                  <a:srgbClr val="C8102E"/>
                </a:solidFill>
                <a:latin typeface="Lato"/>
              </a:rPr>
              <a:t>+2.6%</a:t>
            </a:r>
          </a:p>
        </p:txBody>
      </p:sp>
      <p:sp>
        <p:nvSpPr>
          <p:cNvPr id="49" name="TextBox 48"/>
          <p:cNvSpPr txBox="1"/>
          <p:nvPr/>
        </p:nvSpPr>
        <p:spPr>
          <a:xfrm>
            <a:off x="8092440" y="5779008"/>
            <a:ext cx="3108960" cy="822960"/>
          </a:xfrm>
          <a:prstGeom prst="rect">
            <a:avLst/>
          </a:prstGeom>
          <a:noFill/>
        </p:spPr>
        <p:txBody>
          <a:bodyPr wrap="square" lIns="0" tIns="0" rIns="0" bIns="0">
            <a:spAutoFit/>
          </a:bodyPr>
          <a:lstStyle/>
          <a:p>
            <a:pPr algn="l">
              <a:lnSpc>
                <a:spcPct val="120000"/>
              </a:lnSpc>
              <a:spcAft>
                <a:spcPts val="500"/>
              </a:spcAft>
            </a:pPr>
            <a:r>
              <a:rPr sz="850" b="0">
                <a:solidFill>
                  <a:srgbClr val="49494D"/>
                </a:solidFill>
                <a:latin typeface="Lato"/>
              </a:rPr>
              <a:t>Professional graduate is 24% below its FY24 peak of 23,247.</a:t>
            </a:r>
          </a:p>
          <a:p>
            <a:pPr algn="l">
              <a:lnSpc>
                <a:spcPct val="120000"/>
              </a:lnSpc>
              <a:spcAft>
                <a:spcPts val="500"/>
              </a:spcAft>
            </a:pPr>
            <a:r>
              <a:rPr sz="850" b="0">
                <a:solidFill>
                  <a:srgbClr val="49494D"/>
                </a:solidFill>
                <a:latin typeface="Lato"/>
              </a:rPr>
              <a:t>Undergraduate leads it by 7,496 in FY27.</a:t>
            </a:r>
          </a:p>
        </p:txBody>
      </p:sp>
      <p:cxnSp>
        <p:nvCxnSpPr>
          <p:cNvPr id="55" name="Connector 54"/>
          <p:cNvCxnSpPr/>
          <p:nvPr/>
        </p:nvCxnSpPr>
        <p:spPr>
          <a:xfrm>
            <a:off x="7690104" y="2312146"/>
            <a:ext cx="347472" cy="303"/>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690104" y="2948975"/>
            <a:ext cx="347472" cy="244"/>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7690104" y="4312238"/>
            <a:ext cx="347472" cy="118"/>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D9AC25E2-970E-50B6-AAE1-F4C23D66B74D}"/>
              </a:ext>
            </a:extLst>
          </p:cNvPr>
          <p:cNvSpPr txBox="1"/>
          <p:nvPr/>
        </p:nvSpPr>
        <p:spPr>
          <a:xfrm>
            <a:off x="10323576" y="109728"/>
            <a:ext cx="1408176" cy="274320"/>
          </a:xfrm>
          <a:prstGeom prst="rect">
            <a:avLst/>
          </a:prstGeom>
          <a:solidFill>
            <a:srgbClr val="C8102E"/>
          </a:solidFill>
          <a:ln>
            <a:noFill/>
          </a:ln>
        </p:spPr>
        <p:txBody>
          <a:bodyPr wrap="none" rtlCol="0" anchor="ctr">
            <a:spAutoFit/>
          </a:bodyPr>
          <a:lstStyle/>
          <a:p>
            <a:pPr algn="r"/>
            <a:r>
              <a:rPr lang="en-US" sz="1100" b="1" dirty="0">
                <a:solidFill>
                  <a:srgbClr val="FFFFFF"/>
                </a:solidFill>
                <a:latin typeface="Lato"/>
              </a:rPr>
              <a:t>Degree-seeking</a:t>
            </a:r>
          </a:p>
        </p:txBody>
      </p:sp>
      <p:sp>
        <p:nvSpPr>
          <p:cNvPr id="64" name="TextBox 19_chg"/>
          <p:cNvSpPr txBox="1"/>
          <p:nvPr/>
        </p:nvSpPr>
        <p:spPr>
          <a:xfrm>
            <a:off x="10657180" y="2175290"/>
            <a:ext cx="841248" cy="274320"/>
          </a:xfrm>
          <a:prstGeom prst="rect">
            <a:avLst/>
          </a:prstGeom>
          <a:noFill/>
        </p:spPr>
        <p:txBody>
          <a:bodyPr wrap="square" lIns="0" tIns="0" rIns="0" bIns="0" anchor="ctr">
            <a:spAutoFit/>
          </a:bodyPr>
          <a:lstStyle/>
          <a:p>
            <a:pPr algn="r"/>
            <a:r>
              <a:rPr sz="950" b="1">
                <a:solidFill>
                  <a:srgbClr val="7F7F7F"/>
                </a:solidFill>
                <a:latin typeface="Lato"/>
              </a:rPr>
              <a:t>+473</a:t>
            </a:r>
          </a:p>
        </p:txBody>
      </p:sp>
      <p:sp>
        <p:nvSpPr>
          <p:cNvPr id="65" name="TextBox 28_chg"/>
          <p:cNvSpPr txBox="1"/>
          <p:nvPr/>
        </p:nvSpPr>
        <p:spPr>
          <a:xfrm>
            <a:off x="10657180" y="2812060"/>
            <a:ext cx="841248" cy="274320"/>
          </a:xfrm>
          <a:prstGeom prst="rect">
            <a:avLst/>
          </a:prstGeom>
          <a:noFill/>
        </p:spPr>
        <p:txBody>
          <a:bodyPr wrap="square" lIns="0" tIns="0" rIns="0" bIns="0" anchor="ctr">
            <a:spAutoFit/>
          </a:bodyPr>
          <a:lstStyle/>
          <a:p>
            <a:pPr algn="r"/>
            <a:r>
              <a:rPr sz="950" b="1">
                <a:solidFill>
                  <a:srgbClr val="7F7F7F"/>
                </a:solidFill>
                <a:latin typeface="Lato"/>
              </a:rPr>
              <a:t>+447</a:t>
            </a:r>
          </a:p>
        </p:txBody>
      </p:sp>
      <p:sp>
        <p:nvSpPr>
          <p:cNvPr id="66" name="TextBox 43_chg"/>
          <p:cNvSpPr txBox="1"/>
          <p:nvPr/>
        </p:nvSpPr>
        <p:spPr>
          <a:xfrm>
            <a:off x="10657180" y="4175197"/>
            <a:ext cx="841248" cy="274320"/>
          </a:xfrm>
          <a:prstGeom prst="rect">
            <a:avLst/>
          </a:prstGeom>
          <a:noFill/>
        </p:spPr>
        <p:txBody>
          <a:bodyPr wrap="square" lIns="0" tIns="0" rIns="0" bIns="0" anchor="ctr">
            <a:spAutoFit/>
          </a:bodyPr>
          <a:lstStyle/>
          <a:p>
            <a:pPr algn="r"/>
            <a:r>
              <a:rPr sz="950" b="1">
                <a:solidFill>
                  <a:srgbClr val="7F7F7F"/>
                </a:solidFill>
                <a:latin typeface="Lato"/>
              </a:rPr>
              <a:t>+6,601</a:t>
            </a:r>
          </a:p>
        </p:txBody>
      </p:sp>
      <p:sp>
        <p:nvSpPr>
          <p:cNvPr id="67" name="TextBox 47_chg"/>
          <p:cNvSpPr txBox="1"/>
          <p:nvPr/>
        </p:nvSpPr>
        <p:spPr>
          <a:xfrm>
            <a:off x="10657180" y="5376671"/>
            <a:ext cx="841248" cy="310896"/>
          </a:xfrm>
          <a:prstGeom prst="rect">
            <a:avLst/>
          </a:prstGeom>
          <a:noFill/>
        </p:spPr>
        <p:txBody>
          <a:bodyPr wrap="square" lIns="0" tIns="0" rIns="0" bIns="0" anchor="ctr">
            <a:spAutoFit/>
          </a:bodyPr>
          <a:lstStyle/>
          <a:p>
            <a:pPr algn="r"/>
            <a:r>
              <a:rPr sz="1350" b="1">
                <a:solidFill>
                  <a:srgbClr val="C8102E"/>
                </a:solidFill>
                <a:latin typeface="Lato"/>
              </a:rPr>
              <a:t>+7,521</a:t>
            </a:r>
          </a:p>
        </p:txBody>
      </p:sp>
      <p:sp>
        <p:nvSpPr>
          <p:cNvPr id="68" name="TextBox 13_chg"/>
          <p:cNvSpPr txBox="1"/>
          <p:nvPr/>
        </p:nvSpPr>
        <p:spPr>
          <a:xfrm>
            <a:off x="10657180" y="1444752"/>
            <a:ext cx="841248" cy="256032"/>
          </a:xfrm>
          <a:prstGeom prst="rect">
            <a:avLst/>
          </a:prstGeom>
          <a:noFill/>
        </p:spPr>
        <p:txBody>
          <a:bodyPr wrap="square" lIns="0" tIns="0" rIns="0" bIns="0">
            <a:spAutoFit/>
          </a:bodyPr>
          <a:lstStyle/>
          <a:p>
            <a:pPr algn="r"/>
            <a:r>
              <a:rPr sz="1200" b="1">
                <a:solidFill>
                  <a:srgbClr val="000000"/>
                </a:solidFill>
                <a:latin typeface="Lato"/>
              </a:rPr>
              <a:t>Change</a:t>
            </a:r>
          </a:p>
          <a:p>
            <a:pPr algn="r"/>
            <a:r>
              <a:rPr sz="850" b="0">
                <a:solidFill>
                  <a:srgbClr val="9B9C9E"/>
                </a:solidFill>
                <a:latin typeface="Lato"/>
              </a:rPr>
              <a:t>FY20 → FY27</a:t>
            </a:r>
          </a:p>
        </p:txBody>
      </p:sp>
      <p:sp>
        <p:nvSpPr>
          <p:cNvPr id="69" name="TextBox 6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degree-seeking enrollment by reporting group, supplied September 2026 (FY27 is an estimate); full notes in speaker notes</a:t>
            </a:r>
          </a:p>
        </p:txBody>
      </p:sp>
      <p:sp>
        <p:nvSpPr>
          <p:cNvPr id="70"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26</a:t>
            </a:fld>
            <a:endParaRPr lang="en-US" sz="900" b="1">
              <a:solidFill>
                <a:srgbClr val="000000"/>
              </a:solidFill>
              <a:latin typeface="La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19456"/>
            <a:ext cx="11247120" cy="341568"/>
          </a:xfrm>
          <a:prstGeom prst="rect">
            <a:avLst/>
          </a:prstGeom>
          <a:noFill/>
        </p:spPr>
        <p:txBody>
          <a:bodyPr wrap="square" lIns="0" tIns="0" rIns="0" bIns="0">
            <a:noAutofit/>
          </a:bodyPr>
          <a:lstStyle/>
          <a:p>
            <a:pPr algn="l">
              <a:lnSpc>
                <a:spcPct val="105000"/>
              </a:lnSpc>
            </a:pPr>
            <a:r>
              <a:rPr sz="2300" b="1" dirty="0">
                <a:solidFill>
                  <a:srgbClr val="000000"/>
                </a:solidFill>
                <a:latin typeface="Lato"/>
              </a:rPr>
              <a:t>Professional graduate enrollment rose 35% to a FY24 peak, then falls 24% by FY27</a:t>
            </a:r>
          </a:p>
        </p:txBody>
      </p:sp>
      <p:sp>
        <p:nvSpPr>
          <p:cNvPr id="3" name="TextBox 2"/>
          <p:cNvSpPr txBox="1"/>
          <p:nvPr/>
        </p:nvSpPr>
        <p:spPr>
          <a:xfrm>
            <a:off x="457200" y="749808"/>
            <a:ext cx="11338560" cy="176972"/>
          </a:xfrm>
          <a:prstGeom prst="rect">
            <a:avLst/>
          </a:prstGeom>
          <a:noFill/>
        </p:spPr>
        <p:txBody>
          <a:bodyPr wrap="square" lIns="0" tIns="0" rIns="0" bIns="0">
            <a:spAutoFit/>
          </a:bodyPr>
          <a:lstStyle/>
          <a:p>
            <a:pPr algn="l"/>
            <a:r>
              <a:rPr sz="1150" b="0">
                <a:solidFill>
                  <a:srgbClr val="49494D"/>
                </a:solidFill>
                <a:latin typeface="Lato"/>
              </a:rPr>
              <a:t>Professional graduate students, headcount (not FTE)  ·  FY20 – FY27  ·  1 October snapshots; FY27 estimated</a:t>
            </a:r>
          </a:p>
        </p:txBody>
      </p:sp>
      <p:sp>
        <p:nvSpPr>
          <p:cNvPr id="69" name="TextBox 6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degree-seeking enrollment by reporting group, supplied September 2026 (FY27 is an estimate). Headcount of students, not FTE; excludes undergraduate and JD/PhD.</a:t>
            </a:r>
          </a:p>
        </p:txBody>
      </p:sp>
      <p:sp>
        <p:nvSpPr>
          <p:cNvPr id="70"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27</a:t>
            </a:fld>
            <a:endParaRPr lang="en-US" sz="900" b="1">
              <a:solidFill>
                <a:srgbClr val="000000"/>
              </a:solidFill>
              <a:latin typeface="Lato"/>
            </a:endParaRPr>
          </a:p>
        </p:txBody>
      </p:sp>
      <p:sp>
        <p:nvSpPr>
          <p:cNvPr id="4" name="TextBox 3"/>
          <p:cNvSpPr txBox="1"/>
          <p:nvPr/>
        </p:nvSpPr>
        <p:spPr>
          <a:xfrm>
            <a:off x="457200" y="1024128"/>
            <a:ext cx="11338560" cy="274320"/>
          </a:xfrm>
          <a:prstGeom prst="rect">
            <a:avLst/>
          </a:prstGeom>
          <a:noFill/>
        </p:spPr>
        <p:txBody>
          <a:bodyPr wrap="square" lIns="0" tIns="0" rIns="0" bIns="0">
            <a:spAutoFit/>
          </a:bodyPr>
          <a:lstStyle/>
          <a:p>
            <a:pPr algn="l"/>
            <a:r>
              <a:rPr sz="1250" b="0">
                <a:solidFill>
                  <a:srgbClr val="000000"/>
                </a:solidFill>
                <a:latin typeface="Lato"/>
              </a:rPr>
              <a:t>Up 6,087 students in four years, then down 5,640 in three.</a:t>
            </a:r>
          </a:p>
        </p:txBody>
      </p:sp>
      <p:graphicFrame>
        <p:nvGraphicFramePr>
          <p:cNvPr id="71" name="Professional graduate enrollment chart"/>
          <p:cNvGraphicFramePr>
            <a:graphicFrameLocks noGrp="1"/>
          </p:cNvGraphicFramePr>
          <p:nvPr/>
        </p:nvGraphicFramePr>
        <p:xfrm>
          <a:off x="457200" y="1417320"/>
          <a:ext cx="7955279" cy="4754880"/>
        </p:xfrm>
        <a:graphic>
          <a:graphicData uri="http://schemas.openxmlformats.org/drawingml/2006/chart">
            <c:chart xmlns:c="http://schemas.openxmlformats.org/drawingml/2006/chart" xmlns:r="http://schemas.openxmlformats.org/officeDocument/2006/relationships" r:id="rId3"/>
          </a:graphicData>
        </a:graphic>
      </p:graphicFrame>
      <p:cxnSp>
        <p:nvCxnSpPr>
          <p:cNvPr id="72" name="Connector 71"/>
          <p:cNvCxnSpPr/>
          <p:nvPr/>
        </p:nvCxnSpPr>
        <p:spPr>
          <a:xfrm>
            <a:off x="5813298" y="2111988"/>
            <a:ext cx="1970531" cy="0"/>
          </a:xfrm>
          <a:prstGeom prst="line">
            <a:avLst/>
          </a:prstGeom>
          <a:ln w="1270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7674102" y="2111988"/>
            <a:ext cx="0" cy="876449"/>
          </a:xfrm>
          <a:prstGeom prst="line">
            <a:avLst/>
          </a:prstGeom>
          <a:ln w="31750">
            <a:solidFill>
              <a:srgbClr val="C8102E"/>
            </a:solidFill>
            <a:tailEnd type="triangle"/>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7066026" y="2970149"/>
            <a:ext cx="717803" cy="0"/>
          </a:xfrm>
          <a:prstGeom prst="line">
            <a:avLst/>
          </a:prstGeom>
          <a:ln w="12700">
            <a:solidFill>
              <a:srgbClr val="C8102E"/>
            </a:solidFill>
            <a:prstDash val="dash"/>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7765542" y="2266749"/>
            <a:ext cx="914400" cy="548640"/>
          </a:xfrm>
          <a:prstGeom prst="rect">
            <a:avLst/>
          </a:prstGeom>
          <a:noFill/>
        </p:spPr>
        <p:txBody>
          <a:bodyPr wrap="square" lIns="0" tIns="0" rIns="0" bIns="0" anchor="ctr">
            <a:spAutoFit/>
          </a:bodyPr>
          <a:lstStyle/>
          <a:p>
            <a:pPr algn="l"/>
            <a:r>
              <a:rPr sz="1400" b="1">
                <a:solidFill>
                  <a:srgbClr val="C8102E"/>
                </a:solidFill>
                <a:latin typeface="Lato"/>
              </a:rPr>
              <a:t>−5,640</a:t>
            </a:r>
          </a:p>
          <a:p>
            <a:pPr algn="l"/>
            <a:r>
              <a:rPr sz="1400" b="1">
                <a:solidFill>
                  <a:srgbClr val="C8102E"/>
                </a:solidFill>
                <a:latin typeface="Lato"/>
              </a:rPr>
              <a:t>−24%</a:t>
            </a:r>
          </a:p>
        </p:txBody>
      </p:sp>
      <p:cxnSp>
        <p:nvCxnSpPr>
          <p:cNvPr id="76" name="Connector 75"/>
          <p:cNvCxnSpPr/>
          <p:nvPr/>
        </p:nvCxnSpPr>
        <p:spPr>
          <a:xfrm>
            <a:off x="8915400" y="1600200"/>
            <a:ext cx="2816352" cy="0"/>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8915400" y="1709928"/>
            <a:ext cx="2816352" cy="731520"/>
          </a:xfrm>
          <a:prstGeom prst="rect">
            <a:avLst/>
          </a:prstGeom>
          <a:noFill/>
        </p:spPr>
        <p:txBody>
          <a:bodyPr wrap="square" lIns="0" tIns="0" rIns="0" bIns="0" anchor="t">
            <a:spAutoFit/>
          </a:bodyPr>
          <a:lstStyle/>
          <a:p>
            <a:pPr algn="l"/>
            <a:r>
              <a:rPr sz="4400" b="1">
                <a:solidFill>
                  <a:srgbClr val="000000"/>
                </a:solidFill>
                <a:latin typeface="Lato"/>
              </a:rPr>
              <a:t>+35%</a:t>
            </a:r>
          </a:p>
        </p:txBody>
      </p:sp>
      <p:sp>
        <p:nvSpPr>
          <p:cNvPr id="78" name="TextBox 77"/>
          <p:cNvSpPr txBox="1"/>
          <p:nvPr/>
        </p:nvSpPr>
        <p:spPr>
          <a:xfrm>
            <a:off x="8915400" y="2331720"/>
            <a:ext cx="2816352" cy="640080"/>
          </a:xfrm>
          <a:prstGeom prst="rect">
            <a:avLst/>
          </a:prstGeom>
          <a:noFill/>
        </p:spPr>
        <p:txBody>
          <a:bodyPr wrap="square" lIns="0" tIns="0" rIns="0" bIns="0" anchor="t">
            <a:spAutoFit/>
          </a:bodyPr>
          <a:lstStyle/>
          <a:p>
            <a:pPr algn="l"/>
            <a:r>
              <a:rPr sz="1200" b="0">
                <a:solidFill>
                  <a:srgbClr val="000000"/>
                </a:solidFill>
                <a:latin typeface="Lato"/>
              </a:rPr>
              <a:t>FY20 → FY24</a:t>
            </a:r>
          </a:p>
          <a:p>
            <a:pPr algn="l"/>
            <a:r>
              <a:rPr sz="1200" b="0">
                <a:solidFill>
                  <a:srgbClr val="000000"/>
                </a:solidFill>
                <a:latin typeface="Lato"/>
              </a:rPr>
              <a:t>+6,087 students</a:t>
            </a:r>
          </a:p>
          <a:p>
            <a:pPr algn="l"/>
            <a:r>
              <a:rPr sz="1200" b="0">
                <a:solidFill>
                  <a:srgbClr val="000000"/>
                </a:solidFill>
                <a:latin typeface="Lato"/>
              </a:rPr>
              <a:t>17,160 → 23,247</a:t>
            </a:r>
          </a:p>
        </p:txBody>
      </p:sp>
      <p:cxnSp>
        <p:nvCxnSpPr>
          <p:cNvPr id="79" name="Connector 78"/>
          <p:cNvCxnSpPr/>
          <p:nvPr/>
        </p:nvCxnSpPr>
        <p:spPr>
          <a:xfrm>
            <a:off x="8915400" y="3200400"/>
            <a:ext cx="28163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8915400" y="3310128"/>
            <a:ext cx="2816352" cy="731520"/>
          </a:xfrm>
          <a:prstGeom prst="rect">
            <a:avLst/>
          </a:prstGeom>
          <a:noFill/>
        </p:spPr>
        <p:txBody>
          <a:bodyPr wrap="square" lIns="0" tIns="0" rIns="0" bIns="0" anchor="t">
            <a:spAutoFit/>
          </a:bodyPr>
          <a:lstStyle/>
          <a:p>
            <a:pPr algn="l"/>
            <a:r>
              <a:rPr sz="4400" b="1">
                <a:solidFill>
                  <a:srgbClr val="C8102E"/>
                </a:solidFill>
                <a:latin typeface="Lato"/>
              </a:rPr>
              <a:t>−24%</a:t>
            </a:r>
          </a:p>
        </p:txBody>
      </p:sp>
      <p:sp>
        <p:nvSpPr>
          <p:cNvPr id="81" name="TextBox 80"/>
          <p:cNvSpPr txBox="1"/>
          <p:nvPr/>
        </p:nvSpPr>
        <p:spPr>
          <a:xfrm>
            <a:off x="8915400" y="4069080"/>
            <a:ext cx="2816352" cy="640080"/>
          </a:xfrm>
          <a:prstGeom prst="rect">
            <a:avLst/>
          </a:prstGeom>
          <a:noFill/>
        </p:spPr>
        <p:txBody>
          <a:bodyPr wrap="square" lIns="0" tIns="0" rIns="0" bIns="0" anchor="t">
            <a:spAutoFit/>
          </a:bodyPr>
          <a:lstStyle/>
          <a:p>
            <a:pPr algn="l"/>
            <a:r>
              <a:rPr sz="1200" b="0">
                <a:solidFill>
                  <a:srgbClr val="000000"/>
                </a:solidFill>
                <a:latin typeface="Lato"/>
              </a:rPr>
              <a:t>FY24 → FY27</a:t>
            </a:r>
          </a:p>
          <a:p>
            <a:pPr algn="l"/>
            <a:r>
              <a:rPr sz="1200" b="0">
                <a:solidFill>
                  <a:srgbClr val="000000"/>
                </a:solidFill>
                <a:latin typeface="Lato"/>
              </a:rPr>
              <a:t>−5,640 students</a:t>
            </a:r>
          </a:p>
          <a:p>
            <a:pPr algn="l"/>
            <a:r>
              <a:rPr sz="1200" b="0">
                <a:solidFill>
                  <a:srgbClr val="000000"/>
                </a:solidFill>
                <a:latin typeface="Lato"/>
              </a:rPr>
              <a:t>23,247 → 17,607</a:t>
            </a:r>
          </a:p>
        </p:txBody>
      </p:sp>
      <p:cxnSp>
        <p:nvCxnSpPr>
          <p:cNvPr id="82" name="Connector 81"/>
          <p:cNvCxnSpPr/>
          <p:nvPr/>
        </p:nvCxnSpPr>
        <p:spPr>
          <a:xfrm>
            <a:off x="8915400" y="4937760"/>
            <a:ext cx="28163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8915400" y="5047488"/>
            <a:ext cx="2816352" cy="1005840"/>
          </a:xfrm>
          <a:prstGeom prst="rect">
            <a:avLst/>
          </a:prstGeom>
          <a:noFill/>
        </p:spPr>
        <p:txBody>
          <a:bodyPr wrap="square" lIns="0" tIns="0" rIns="0" bIns="0" anchor="t">
            <a:spAutoFit/>
          </a:bodyPr>
          <a:lstStyle/>
          <a:p>
            <a:pPr algn="l"/>
            <a:r>
              <a:rPr sz="1150" b="0">
                <a:solidFill>
                  <a:srgbClr val="000000"/>
                </a:solidFill>
                <a:latin typeface="Lato"/>
              </a:rPr>
              <a:t>FY27 is 447 students (2.6%) above FY20: the entire gain has been given back.</a:t>
            </a:r>
          </a:p>
          <a:p>
            <a:pPr algn="l"/>
            <a:r>
              <a:rPr sz="1150" b="0">
                <a:solidFill>
                  <a:srgbClr val="000000"/>
                </a:solidFill>
                <a:latin typeface="Lato"/>
              </a:rPr>
              <a:t>FY25 → FY27: −22.8%.</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274E6-5AB9-61CD-CAF0-E819BFD957C8}"/>
            </a:ext>
          </a:extLst>
        </p:cNvPr>
        <p:cNvGrpSpPr/>
        <p:nvPr/>
      </p:nvGrpSpPr>
      <p:grpSpPr>
        <a:xfrm>
          <a:off x="0" y="0"/>
          <a:ext cx="0" cy="0"/>
          <a:chOff x="0" y="0"/>
          <a:chExt cx="0" cy="0"/>
        </a:xfrm>
      </p:grpSpPr>
      <p:graphicFrame>
        <p:nvGraphicFramePr>
          <p:cNvPr id="2" name="Chart 1">
            <a:extLst>
              <a:ext uri="{FF2B5EF4-FFF2-40B4-BE49-F238E27FC236}">
                <a16:creationId xmlns:a16="http://schemas.microsoft.com/office/drawing/2014/main" id="{95CC7A77-A75E-B83C-E980-2849466DEAE7}"/>
              </a:ext>
            </a:extLst>
          </p:cNvPr>
          <p:cNvGraphicFramePr/>
          <p:nvPr/>
        </p:nvGraphicFramePr>
        <p:xfrm>
          <a:off x="988540" y="379853"/>
          <a:ext cx="10501183" cy="5650243"/>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Box 13">
            <a:extLst>
              <a:ext uri="{FF2B5EF4-FFF2-40B4-BE49-F238E27FC236}">
                <a16:creationId xmlns:a16="http://schemas.microsoft.com/office/drawing/2014/main" id="{20DFDE72-EB78-0712-4F6A-2FEFF552D5E5}"/>
              </a:ext>
            </a:extLst>
          </p:cNvPr>
          <p:cNvSpPr txBox="1"/>
          <p:nvPr/>
        </p:nvSpPr>
        <p:spPr>
          <a:xfrm>
            <a:off x="6838178" y="3543575"/>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-10%</a:t>
            </a:r>
          </a:p>
        </p:txBody>
      </p:sp>
      <p:sp>
        <p:nvSpPr>
          <p:cNvPr id="18" name="TextBox 17">
            <a:extLst>
              <a:ext uri="{FF2B5EF4-FFF2-40B4-BE49-F238E27FC236}">
                <a16:creationId xmlns:a16="http://schemas.microsoft.com/office/drawing/2014/main" id="{C65C51A4-3D8D-BCFF-D562-894FDE658127}"/>
              </a:ext>
            </a:extLst>
          </p:cNvPr>
          <p:cNvSpPr txBox="1"/>
          <p:nvPr/>
        </p:nvSpPr>
        <p:spPr>
          <a:xfrm>
            <a:off x="1274551" y="5965213"/>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19" name="TextBox 18">
            <a:extLst>
              <a:ext uri="{FF2B5EF4-FFF2-40B4-BE49-F238E27FC236}">
                <a16:creationId xmlns:a16="http://schemas.microsoft.com/office/drawing/2014/main" id="{AD08BDFB-EA97-9D00-641D-33D0C28E28DB}"/>
              </a:ext>
            </a:extLst>
          </p:cNvPr>
          <p:cNvSpPr txBox="1"/>
          <p:nvPr/>
        </p:nvSpPr>
        <p:spPr>
          <a:xfrm>
            <a:off x="2853897" y="5960585"/>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20" name="TextBox 19">
            <a:extLst>
              <a:ext uri="{FF2B5EF4-FFF2-40B4-BE49-F238E27FC236}">
                <a16:creationId xmlns:a16="http://schemas.microsoft.com/office/drawing/2014/main" id="{C73A9155-5FD2-9B17-D017-103854D485FF}"/>
              </a:ext>
            </a:extLst>
          </p:cNvPr>
          <p:cNvSpPr txBox="1"/>
          <p:nvPr/>
        </p:nvSpPr>
        <p:spPr>
          <a:xfrm>
            <a:off x="4448432" y="5960585"/>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21" name="TextBox 20">
            <a:extLst>
              <a:ext uri="{FF2B5EF4-FFF2-40B4-BE49-F238E27FC236}">
                <a16:creationId xmlns:a16="http://schemas.microsoft.com/office/drawing/2014/main" id="{6C2690DA-914D-ABA7-1E37-8F54D8D42136}"/>
              </a:ext>
            </a:extLst>
          </p:cNvPr>
          <p:cNvSpPr txBox="1"/>
          <p:nvPr/>
        </p:nvSpPr>
        <p:spPr>
          <a:xfrm>
            <a:off x="5897004" y="5960585"/>
            <a:ext cx="990602"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Forecast</a:t>
            </a:r>
          </a:p>
        </p:txBody>
      </p:sp>
      <p:sp>
        <p:nvSpPr>
          <p:cNvPr id="22" name="TextBox 21">
            <a:extLst>
              <a:ext uri="{FF2B5EF4-FFF2-40B4-BE49-F238E27FC236}">
                <a16:creationId xmlns:a16="http://schemas.microsoft.com/office/drawing/2014/main" id="{2A7FAFE1-6705-E2D0-0FC1-F46DB954700A}"/>
              </a:ext>
            </a:extLst>
          </p:cNvPr>
          <p:cNvSpPr txBox="1"/>
          <p:nvPr/>
        </p:nvSpPr>
        <p:spPr>
          <a:xfrm>
            <a:off x="7426922" y="5960585"/>
            <a:ext cx="108302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br>
              <a:rPr kumimoji="0" lang="en-US" sz="1200" b="0" i="0" u="none" strike="noStrike" kern="1200" cap="none" spc="0" normalizeH="0" baseline="0" noProof="0">
                <a:ln>
                  <a:noFill/>
                </a:ln>
                <a:solidFill>
                  <a:prstClr val="black"/>
                </a:solidFill>
                <a:effectLst/>
                <a:uLnTx/>
                <a:uFillTx/>
                <a:latin typeface="Lato"/>
                <a:ea typeface="+mn-ea"/>
                <a:cs typeface="+mn-cs"/>
              </a:rPr>
            </a:b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23" name="TextBox 22">
            <a:extLst>
              <a:ext uri="{FF2B5EF4-FFF2-40B4-BE49-F238E27FC236}">
                <a16:creationId xmlns:a16="http://schemas.microsoft.com/office/drawing/2014/main" id="{CB69ED83-605B-D9F9-3641-72D967C7885A}"/>
              </a:ext>
            </a:extLst>
          </p:cNvPr>
          <p:cNvSpPr txBox="1"/>
          <p:nvPr/>
        </p:nvSpPr>
        <p:spPr>
          <a:xfrm>
            <a:off x="8971003" y="5960585"/>
            <a:ext cx="116643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p>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24" name="TextBox 23">
            <a:extLst>
              <a:ext uri="{FF2B5EF4-FFF2-40B4-BE49-F238E27FC236}">
                <a16:creationId xmlns:a16="http://schemas.microsoft.com/office/drawing/2014/main" id="{5F2365D8-83E9-791F-16A3-B70C83757C16}"/>
              </a:ext>
            </a:extLst>
          </p:cNvPr>
          <p:cNvSpPr txBox="1"/>
          <p:nvPr/>
        </p:nvSpPr>
        <p:spPr>
          <a:xfrm>
            <a:off x="10554719" y="5960585"/>
            <a:ext cx="116643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p>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3" name="TextBox 2">
            <a:extLst>
              <a:ext uri="{FF2B5EF4-FFF2-40B4-BE49-F238E27FC236}">
                <a16:creationId xmlns:a16="http://schemas.microsoft.com/office/drawing/2014/main" id="{64D1FAE5-A8E2-D7C8-850E-C781D3366F4E}"/>
              </a:ext>
            </a:extLst>
          </p:cNvPr>
          <p:cNvSpPr txBox="1"/>
          <p:nvPr/>
        </p:nvSpPr>
        <p:spPr>
          <a:xfrm>
            <a:off x="6838177" y="3066474"/>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-3%</a:t>
            </a:r>
          </a:p>
        </p:txBody>
      </p:sp>
      <p:sp>
        <p:nvSpPr>
          <p:cNvPr id="9" name="TextBox 8">
            <a:extLst>
              <a:ext uri="{FF2B5EF4-FFF2-40B4-BE49-F238E27FC236}">
                <a16:creationId xmlns:a16="http://schemas.microsoft.com/office/drawing/2014/main" id="{C4B26E91-4030-C7B7-46A3-C62DE09A074C}"/>
              </a:ext>
            </a:extLst>
          </p:cNvPr>
          <p:cNvSpPr txBox="1"/>
          <p:nvPr/>
        </p:nvSpPr>
        <p:spPr>
          <a:xfrm>
            <a:off x="8410186" y="378651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a:t>
            </a:r>
          </a:p>
        </p:txBody>
      </p:sp>
      <p:sp>
        <p:nvSpPr>
          <p:cNvPr id="17" name="TextBox 16">
            <a:extLst>
              <a:ext uri="{FF2B5EF4-FFF2-40B4-BE49-F238E27FC236}">
                <a16:creationId xmlns:a16="http://schemas.microsoft.com/office/drawing/2014/main" id="{D0542701-11A2-C5BA-B997-DC79CD6DBDF7}"/>
              </a:ext>
            </a:extLst>
          </p:cNvPr>
          <p:cNvSpPr txBox="1"/>
          <p:nvPr/>
        </p:nvSpPr>
        <p:spPr>
          <a:xfrm>
            <a:off x="9949954" y="3844073"/>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a:t>
            </a:r>
          </a:p>
        </p:txBody>
      </p:sp>
      <p:sp>
        <p:nvSpPr>
          <p:cNvPr id="25" name="TextBox 24">
            <a:extLst>
              <a:ext uri="{FF2B5EF4-FFF2-40B4-BE49-F238E27FC236}">
                <a16:creationId xmlns:a16="http://schemas.microsoft.com/office/drawing/2014/main" id="{62BE0563-58B3-A97A-F7BD-6C9B9AE74088}"/>
              </a:ext>
            </a:extLst>
          </p:cNvPr>
          <p:cNvSpPr txBox="1"/>
          <p:nvPr/>
        </p:nvSpPr>
        <p:spPr>
          <a:xfrm>
            <a:off x="8410184" y="316977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-1%</a:t>
            </a:r>
          </a:p>
        </p:txBody>
      </p:sp>
      <p:sp>
        <p:nvSpPr>
          <p:cNvPr id="26" name="TextBox 25">
            <a:extLst>
              <a:ext uri="{FF2B5EF4-FFF2-40B4-BE49-F238E27FC236}">
                <a16:creationId xmlns:a16="http://schemas.microsoft.com/office/drawing/2014/main" id="{093E7EA7-D4C2-07ED-028A-13CEC464AE45}"/>
              </a:ext>
            </a:extLst>
          </p:cNvPr>
          <p:cNvSpPr txBox="1"/>
          <p:nvPr/>
        </p:nvSpPr>
        <p:spPr>
          <a:xfrm>
            <a:off x="9971883" y="3228715"/>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-1%</a:t>
            </a:r>
          </a:p>
        </p:txBody>
      </p:sp>
      <p:sp>
        <p:nvSpPr>
          <p:cNvPr id="4" name="TextBox 3">
            <a:extLst>
              <a:ext uri="{FF2B5EF4-FFF2-40B4-BE49-F238E27FC236}">
                <a16:creationId xmlns:a16="http://schemas.microsoft.com/office/drawing/2014/main" id="{94CCF381-A4E0-DC7D-5B2A-43964C93A9A3}"/>
              </a:ext>
            </a:extLst>
          </p:cNvPr>
          <p:cNvSpPr txBox="1"/>
          <p:nvPr/>
        </p:nvSpPr>
        <p:spPr>
          <a:xfrm>
            <a:off x="2121761" y="1757233"/>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-3%</a:t>
            </a:r>
          </a:p>
        </p:txBody>
      </p:sp>
      <p:sp>
        <p:nvSpPr>
          <p:cNvPr id="5" name="TextBox 4">
            <a:extLst>
              <a:ext uri="{FF2B5EF4-FFF2-40B4-BE49-F238E27FC236}">
                <a16:creationId xmlns:a16="http://schemas.microsoft.com/office/drawing/2014/main" id="{D288806F-D965-B0CC-9CF7-B7CDED8D30B4}"/>
              </a:ext>
            </a:extLst>
          </p:cNvPr>
          <p:cNvSpPr txBox="1"/>
          <p:nvPr/>
        </p:nvSpPr>
        <p:spPr>
          <a:xfrm>
            <a:off x="3728134" y="2154647"/>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-9%</a:t>
            </a:r>
          </a:p>
        </p:txBody>
      </p:sp>
      <p:sp>
        <p:nvSpPr>
          <p:cNvPr id="6" name="TextBox 5">
            <a:extLst>
              <a:ext uri="{FF2B5EF4-FFF2-40B4-BE49-F238E27FC236}">
                <a16:creationId xmlns:a16="http://schemas.microsoft.com/office/drawing/2014/main" id="{D1EA7AE3-57ED-ECCF-89E8-8BB8B99CCD02}"/>
              </a:ext>
            </a:extLst>
          </p:cNvPr>
          <p:cNvSpPr txBox="1"/>
          <p:nvPr/>
        </p:nvSpPr>
        <p:spPr>
          <a:xfrm>
            <a:off x="5311043" y="271504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-9%</a:t>
            </a:r>
          </a:p>
        </p:txBody>
      </p:sp>
      <p:sp>
        <p:nvSpPr>
          <p:cNvPr id="11" name="5-Point Star 10">
            <a:extLst>
              <a:ext uri="{FF2B5EF4-FFF2-40B4-BE49-F238E27FC236}">
                <a16:creationId xmlns:a16="http://schemas.microsoft.com/office/drawing/2014/main" id="{2DE7672D-32CC-A9B2-F305-64E63328C0A5}"/>
              </a:ext>
            </a:extLst>
          </p:cNvPr>
          <p:cNvSpPr/>
          <p:nvPr/>
        </p:nvSpPr>
        <p:spPr>
          <a:xfrm>
            <a:off x="6282987" y="2450664"/>
            <a:ext cx="239902" cy="239902"/>
          </a:xfrm>
          <a:prstGeom prst="star5">
            <a:avLst/>
          </a:prstGeom>
          <a:solidFill>
            <a:schemeClr val="tx1"/>
          </a:solidFill>
          <a:ln>
            <a:solidFill>
              <a:schemeClr val="tx1"/>
            </a:solidFill>
          </a:ln>
        </p:spPr>
        <p:style>
          <a:lnRef idx="2">
            <a:srgbClr val="000000">
              <a:shade val="15000"/>
            </a:srgbClr>
          </a:lnRef>
          <a:fillRef idx="1">
            <a:srgbClr val="000000"/>
          </a:fillRef>
          <a:effectRef idx="0">
            <a:srgbClr val="00000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endParaRPr kumimoji="0" lang="en-US" sz="1800" b="0" i="0" u="none" strike="noStrike" kern="1200" cap="none" spc="0" normalizeH="0" baseline="0" noProof="0">
              <a:ln>
                <a:noFill/>
              </a:ln>
              <a:solidFill>
                <a:prstClr val="white"/>
              </a:solidFill>
              <a:effectLst/>
              <a:uLnTx/>
              <a:uFillTx/>
              <a:latin typeface="Lato"/>
              <a:ea typeface="+mn-ea"/>
              <a:cs typeface="+mn-cs"/>
            </a:endParaRPr>
          </a:p>
        </p:txBody>
      </p:sp>
      <p:sp>
        <p:nvSpPr>
          <p:cNvPr id="28" name="TextBox 27"/>
          <p:cNvSpPr txBox="1"/>
          <p:nvPr/>
        </p:nvSpPr>
        <p:spPr>
          <a:xfrm>
            <a:off x="457200" y="109728"/>
            <a:ext cx="11247120" cy="548640"/>
          </a:xfrm>
          <a:prstGeom prst="rect">
            <a:avLst/>
          </a:prstGeom>
          <a:noFill/>
        </p:spPr>
        <p:txBody>
          <a:bodyPr wrap="square" lIns="0" tIns="0" rIns="0" bIns="0">
            <a:noAutofit/>
          </a:bodyPr>
          <a:lstStyle/>
          <a:p>
            <a:pPr algn="l"/>
            <a:r>
              <a:rPr sz="2400" b="1">
                <a:solidFill>
                  <a:srgbClr val="000000"/>
                </a:solidFill>
                <a:latin typeface="Lato"/>
              </a:rPr>
              <a:t>Professional New Student Scenarios</a:t>
            </a:r>
          </a:p>
        </p:txBody>
      </p:sp>
      <p:sp>
        <p:nvSpPr>
          <p:cNvPr id="30" name="TextBox 2">
            <a:extLst>
              <a:ext uri="{FF2B5EF4-FFF2-40B4-BE49-F238E27FC236}">
                <a16:creationId xmlns:a16="http://schemas.microsoft.com/office/drawing/2014/main" id="{D8F8848A-3B07-E878-25E7-FCCFC5CC80E4}"/>
              </a:ext>
            </a:extLst>
          </p:cNvPr>
          <p:cNvSpPr txBox="1"/>
          <p:nvPr/>
        </p:nvSpPr>
        <p:spPr>
          <a:xfrm>
            <a:off x="10789920" y="109728"/>
            <a:ext cx="941832" cy="274320"/>
          </a:xfrm>
          <a:prstGeom prst="rect">
            <a:avLst/>
          </a:prstGeom>
          <a:solidFill>
            <a:srgbClr val="C8102E"/>
          </a:solidFill>
          <a:ln>
            <a:noFill/>
          </a:ln>
          <a:effectLst/>
        </p:spPr>
        <p:txBody>
          <a:bodyPr wrap="none" lIns="0" tIns="18288" rIns="0" bIns="0" anchor="ctr" anchorCtr="1">
            <a:noAutofit/>
          </a:bodyPr>
          <a:lstStyle/>
          <a:p>
            <a:pPr algn="r"/>
            <a:r>
              <a:rPr sz="1100" b="1" dirty="0">
                <a:solidFill>
                  <a:srgbClr val="FFFFFF"/>
                </a:solidFill>
                <a:latin typeface="Lato"/>
              </a:rPr>
              <a:t>Graduate</a:t>
            </a:r>
          </a:p>
        </p:txBody>
      </p:sp>
      <p:sp>
        <p:nvSpPr>
          <p:cNvPr id="31"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28</a:t>
            </a:fld>
            <a:endParaRPr lang="en-US" sz="900" b="1">
              <a:solidFill>
                <a:srgbClr val="000000"/>
              </a:solidFill>
              <a:latin typeface="Lato"/>
            </a:endParaRPr>
          </a:p>
        </p:txBody>
      </p:sp>
    </p:spTree>
    <p:extLst>
      <p:ext uri="{BB962C8B-B14F-4D97-AF65-F5344CB8AC3E}">
        <p14:creationId xmlns:p14="http://schemas.microsoft.com/office/powerpoint/2010/main" val="38970255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149840" cy="692497"/>
          </a:xfrm>
          <a:prstGeom prst="rect">
            <a:avLst/>
          </a:prstGeom>
          <a:noFill/>
        </p:spPr>
        <p:txBody>
          <a:bodyPr wrap="square" lIns="0" tIns="0" rIns="0" bIns="0" anchor="t">
            <a:noAutofit/>
          </a:bodyPr>
          <a:lstStyle/>
          <a:p>
            <a:pPr algn="l">
              <a:lnSpc>
                <a:spcPct val="100000"/>
              </a:lnSpc>
            </a:pPr>
            <a:r>
              <a:rPr sz="2500" b="1" dirty="0">
                <a:solidFill>
                  <a:srgbClr val="000000"/>
                </a:solidFill>
                <a:latin typeface="Lato"/>
              </a:rPr>
              <a:t>Margin bottomed at 1.1% in FY25 and recover</a:t>
            </a:r>
            <a:r>
              <a:rPr lang="en-US" sz="2500" b="1" dirty="0">
                <a:solidFill>
                  <a:srgbClr val="000000"/>
                </a:solidFill>
                <a:latin typeface="Lato"/>
              </a:rPr>
              <a:t>ed</a:t>
            </a:r>
            <a:r>
              <a:rPr sz="2500" b="1" dirty="0">
                <a:solidFill>
                  <a:srgbClr val="000000"/>
                </a:solidFill>
                <a:latin typeface="Lato"/>
              </a:rPr>
              <a:t> to 4.0% in FY26</a:t>
            </a:r>
            <a:endParaRPr lang="en-US" sz="2500" b="1" dirty="0">
              <a:solidFill>
                <a:srgbClr val="000000"/>
              </a:solidFill>
              <a:latin typeface="Lato"/>
            </a:endParaRPr>
          </a:p>
          <a:p>
            <a:pPr algn="l">
              <a:lnSpc>
                <a:spcPct val="100000"/>
              </a:lnSpc>
            </a:pPr>
            <a:r>
              <a:rPr lang="en-US" sz="2000" i="1" dirty="0">
                <a:solidFill>
                  <a:srgbClr val="000000"/>
                </a:solidFill>
                <a:latin typeface="Lato"/>
              </a:rPr>
              <a:t>S</a:t>
            </a:r>
            <a:r>
              <a:rPr sz="2000" i="1" dirty="0">
                <a:solidFill>
                  <a:srgbClr val="000000"/>
                </a:solidFill>
                <a:latin typeface="Lato"/>
              </a:rPr>
              <a:t>till 320bp below FY18</a:t>
            </a:r>
          </a:p>
        </p:txBody>
      </p:sp>
      <p:sp>
        <p:nvSpPr>
          <p:cNvPr id="3" name="TextBox 2"/>
          <p:cNvSpPr txBox="1"/>
          <p:nvPr/>
        </p:nvSpPr>
        <p:spPr>
          <a:xfrm>
            <a:off x="457200" y="1280160"/>
            <a:ext cx="10149840" cy="411480"/>
          </a:xfrm>
          <a:prstGeom prst="rect">
            <a:avLst/>
          </a:prstGeom>
          <a:noFill/>
        </p:spPr>
        <p:txBody>
          <a:bodyPr wrap="square" lIns="0" tIns="0" rIns="0" bIns="0" anchor="t">
            <a:spAutoFit/>
          </a:bodyPr>
          <a:lstStyle/>
          <a:p>
            <a:pPr algn="l"/>
            <a:r>
              <a:rPr sz="1250" b="0">
                <a:solidFill>
                  <a:srgbClr val="49494D"/>
                </a:solidFill>
                <a:latin typeface="Lato"/>
              </a:rPr>
              <a:t>Operating margin (operating result ÷ total operating revenues and other support), FY18–FY25 actuals, FY26 preliminary</a:t>
            </a:r>
          </a:p>
        </p:txBody>
      </p:sp>
      <p:graphicFrame>
        <p:nvGraphicFramePr>
          <p:cNvPr id="4" name="Chart 3" descr="Chart"/>
          <p:cNvGraphicFramePr>
            <a:graphicFrameLocks noGrp="1"/>
          </p:cNvGraphicFramePr>
          <p:nvPr/>
        </p:nvGraphicFramePr>
        <p:xfrm>
          <a:off x="502920" y="1691640"/>
          <a:ext cx="8517636" cy="4537976"/>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4"/>
          <p:cNvSpPr/>
          <p:nvPr/>
        </p:nvSpPr>
        <p:spPr>
          <a:xfrm>
            <a:off x="9322308" y="1755648"/>
            <a:ext cx="2569464"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08008" y="1847088"/>
            <a:ext cx="2798064" cy="415498"/>
          </a:xfrm>
          <a:prstGeom prst="rect">
            <a:avLst/>
          </a:prstGeom>
          <a:noFill/>
        </p:spPr>
        <p:txBody>
          <a:bodyPr wrap="square" lIns="0" tIns="0" rIns="0" bIns="0" anchor="t">
            <a:spAutoFit/>
          </a:bodyPr>
          <a:lstStyle/>
          <a:p>
            <a:pPr algn="ctr"/>
            <a:r>
              <a:rPr sz="2700" b="1">
                <a:solidFill>
                  <a:srgbClr val="C8102E"/>
                </a:solidFill>
                <a:latin typeface="Lato"/>
              </a:rPr>
              <a:t>–320 bps</a:t>
            </a:r>
          </a:p>
        </p:txBody>
      </p:sp>
      <p:sp>
        <p:nvSpPr>
          <p:cNvPr id="7" name="TextBox 6"/>
          <p:cNvSpPr txBox="1"/>
          <p:nvPr/>
        </p:nvSpPr>
        <p:spPr>
          <a:xfrm>
            <a:off x="9208008" y="2432304"/>
            <a:ext cx="2798064" cy="161583"/>
          </a:xfrm>
          <a:prstGeom prst="rect">
            <a:avLst/>
          </a:prstGeom>
          <a:noFill/>
        </p:spPr>
        <p:txBody>
          <a:bodyPr wrap="square" lIns="0" tIns="0" rIns="0" bIns="0" anchor="t">
            <a:spAutoFit/>
          </a:bodyPr>
          <a:lstStyle/>
          <a:p>
            <a:pPr algn="ctr">
              <a:lnSpc>
                <a:spcPct val="100000"/>
              </a:lnSpc>
            </a:pPr>
            <a:r>
              <a:rPr sz="1050" b="0">
                <a:solidFill>
                  <a:srgbClr val="49494D"/>
                </a:solidFill>
                <a:latin typeface="Lato"/>
              </a:rPr>
              <a:t>Margin compression, FY18 to FY26</a:t>
            </a:r>
          </a:p>
        </p:txBody>
      </p:sp>
      <p:sp>
        <p:nvSpPr>
          <p:cNvPr id="8" name="Rectangle 7"/>
          <p:cNvSpPr/>
          <p:nvPr/>
        </p:nvSpPr>
        <p:spPr>
          <a:xfrm>
            <a:off x="9322308" y="3108960"/>
            <a:ext cx="2569464" cy="1188720"/>
          </a:xfrm>
          <a:prstGeom prst="rect">
            <a:avLst/>
          </a:prstGeom>
          <a:solidFill>
            <a:srgbClr val="F6F6F4"/>
          </a:solidFill>
          <a:ln w="571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208008" y="3182112"/>
            <a:ext cx="2798064" cy="415498"/>
          </a:xfrm>
          <a:prstGeom prst="rect">
            <a:avLst/>
          </a:prstGeom>
          <a:noFill/>
        </p:spPr>
        <p:txBody>
          <a:bodyPr wrap="square" lIns="0" tIns="0" rIns="0" bIns="0" anchor="t">
            <a:spAutoFit/>
          </a:bodyPr>
          <a:lstStyle/>
          <a:p>
            <a:pPr algn="ctr"/>
            <a:r>
              <a:rPr sz="2700" b="1">
                <a:solidFill>
                  <a:srgbClr val="C8102E"/>
                </a:solidFill>
                <a:latin typeface="Lato"/>
              </a:rPr>
              <a:t>$79M</a:t>
            </a:r>
          </a:p>
        </p:txBody>
      </p:sp>
      <p:sp>
        <p:nvSpPr>
          <p:cNvPr id="10" name="TextBox 9"/>
          <p:cNvSpPr txBox="1"/>
          <p:nvPr/>
        </p:nvSpPr>
        <p:spPr>
          <a:xfrm>
            <a:off x="9509760" y="3767328"/>
            <a:ext cx="2194560" cy="323165"/>
          </a:xfrm>
          <a:prstGeom prst="rect">
            <a:avLst/>
          </a:prstGeom>
          <a:noFill/>
        </p:spPr>
        <p:txBody>
          <a:bodyPr wrap="square" lIns="0" tIns="0" rIns="0" bIns="0" anchor="t">
            <a:spAutoFit/>
          </a:bodyPr>
          <a:lstStyle/>
          <a:p>
            <a:pPr algn="ctr">
              <a:lnSpc>
                <a:spcPct val="100000"/>
              </a:lnSpc>
            </a:pPr>
            <a:r>
              <a:rPr sz="1050" b="0" dirty="0">
                <a:solidFill>
                  <a:srgbClr val="49494D"/>
                </a:solidFill>
                <a:latin typeface="Lato"/>
              </a:rPr>
              <a:t>Annual surplus forgone vs. holding the FY18 margin on FY26 revenue</a:t>
            </a:r>
          </a:p>
        </p:txBody>
      </p:sp>
      <p:sp>
        <p:nvSpPr>
          <p:cNvPr id="11" name="Rectangle 10"/>
          <p:cNvSpPr/>
          <p:nvPr/>
        </p:nvSpPr>
        <p:spPr>
          <a:xfrm>
            <a:off x="9322308" y="4425696"/>
            <a:ext cx="2569464"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08008" y="4517136"/>
            <a:ext cx="2798064" cy="415498"/>
          </a:xfrm>
          <a:prstGeom prst="rect">
            <a:avLst/>
          </a:prstGeom>
          <a:noFill/>
        </p:spPr>
        <p:txBody>
          <a:bodyPr wrap="square" lIns="0" tIns="0" rIns="0" bIns="0" anchor="t">
            <a:spAutoFit/>
          </a:bodyPr>
          <a:lstStyle/>
          <a:p>
            <a:pPr algn="ctr"/>
            <a:r>
              <a:rPr sz="2700" b="1">
                <a:solidFill>
                  <a:srgbClr val="000000"/>
                </a:solidFill>
                <a:latin typeface="Lato"/>
              </a:rPr>
              <a:t>$25M</a:t>
            </a:r>
          </a:p>
        </p:txBody>
      </p:sp>
      <p:sp>
        <p:nvSpPr>
          <p:cNvPr id="13" name="TextBox 12"/>
          <p:cNvSpPr txBox="1"/>
          <p:nvPr/>
        </p:nvSpPr>
        <p:spPr>
          <a:xfrm>
            <a:off x="9624060" y="5102352"/>
            <a:ext cx="1965960" cy="323165"/>
          </a:xfrm>
          <a:prstGeom prst="rect">
            <a:avLst/>
          </a:prstGeom>
          <a:noFill/>
        </p:spPr>
        <p:txBody>
          <a:bodyPr wrap="square" lIns="0" tIns="0" rIns="0" bIns="0" anchor="t">
            <a:spAutoFit/>
          </a:bodyPr>
          <a:lstStyle/>
          <a:p>
            <a:pPr algn="ctr">
              <a:lnSpc>
                <a:spcPct val="100000"/>
              </a:lnSpc>
            </a:pPr>
            <a:r>
              <a:rPr sz="1050" b="0" dirty="0">
                <a:solidFill>
                  <a:srgbClr val="49494D"/>
                </a:solidFill>
                <a:latin typeface="Lato"/>
              </a:rPr>
              <a:t>What one point of FY26 margin is worth</a:t>
            </a:r>
          </a:p>
        </p:txBody>
      </p:sp>
      <p:sp>
        <p:nvSpPr>
          <p:cNvPr id="16"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7" name="TextBox 1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Financial Affairs (FY26 preliminary, unaudited)</a:t>
            </a:r>
          </a:p>
        </p:txBody>
      </p:sp>
      <p:sp>
        <p:nvSpPr>
          <p:cNvPr id="18" name="TextBox 17"/>
          <p:cNvSpPr txBox="1"/>
          <p:nvPr/>
        </p:nvSpPr>
        <p:spPr>
          <a:xfrm>
            <a:off x="457200" y="6163056"/>
            <a:ext cx="11274552" cy="237744"/>
          </a:xfrm>
          <a:prstGeom prst="rect">
            <a:avLst/>
          </a:prstGeom>
          <a:noFill/>
        </p:spPr>
        <p:txBody>
          <a:bodyPr wrap="square" lIns="0" tIns="0" rIns="0" bIns="0" anchor="b">
            <a:spAutoFit/>
          </a:bodyPr>
          <a:lstStyle/>
          <a:p>
            <a:pPr algn="l"/>
            <a:r>
              <a:rPr sz="700" b="0" i="0">
                <a:solidFill>
                  <a:srgbClr val="595959"/>
                </a:solidFill>
                <a:latin typeface="Lato"/>
              </a:rPr>
              <a:t>Source: as above. "$79M forgone" is arithmetic — FY26 revenue at the FY18 margin ($177M) less the FY26 result ($98M). It is not a claim that the FY18 margin was achievable in FY26. FY26 is preliminary and unaudited, from the 9/24/26 FAC draft. Nonoperating activity is excluded on this basis.</a:t>
            </a:r>
          </a:p>
        </p:txBody>
      </p:sp>
      <p:sp>
        <p:nvSpPr>
          <p:cNvPr id="19"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29</a:t>
            </a:fld>
            <a:endParaRPr lang="en-US" sz="900" b="1">
              <a:solidFill>
                <a:srgbClr val="000000"/>
              </a:solidFill>
              <a:latin typeface="Lato"/>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15085"/>
            <a:ext cx="10058400" cy="169277"/>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dirty="0">
                <a:ln>
                  <a:noFill/>
                </a:ln>
                <a:solidFill>
                  <a:srgbClr val="C8102E"/>
                </a:solidFill>
                <a:effectLst/>
                <a:uLnTx/>
                <a:uFillTx/>
                <a:latin typeface="Lato"/>
                <a:ea typeface="+mn-ea"/>
                <a:cs typeface="+mn-cs"/>
              </a:rPr>
              <a:t>FY21–FY25 ACTUALS WITH FY26 </a:t>
            </a:r>
            <a:r>
              <a:rPr kumimoji="0" lang="en-US" sz="1100" b="1" i="0" u="none" strike="noStrike" kern="1200" cap="none" spc="0" normalizeH="0" baseline="0" noProof="0" dirty="0">
                <a:ln>
                  <a:noFill/>
                </a:ln>
                <a:solidFill>
                  <a:srgbClr val="C8102E"/>
                </a:solidFill>
                <a:effectLst/>
                <a:uLnTx/>
                <a:uFillTx/>
                <a:latin typeface="Lato"/>
                <a:ea typeface="+mn-ea"/>
                <a:cs typeface="+mn-cs"/>
              </a:rPr>
              <a:t>UNAUDITED</a:t>
            </a:r>
            <a:endParaRPr kumimoji="0" sz="1100" b="1" i="0" u="none" strike="noStrike" kern="1200" cap="none" spc="0" normalizeH="0" baseline="0" noProof="0" dirty="0">
              <a:ln>
                <a:noFill/>
              </a:ln>
              <a:solidFill>
                <a:srgbClr val="C8102E"/>
              </a:solidFill>
              <a:effectLst/>
              <a:uLnTx/>
              <a:uFillTx/>
              <a:latin typeface="Lato"/>
              <a:ea typeface="+mn-ea"/>
              <a:cs typeface="+mn-cs"/>
            </a:endParaRPr>
          </a:p>
        </p:txBody>
      </p:sp>
      <p:sp>
        <p:nvSpPr>
          <p:cNvPr id="3" name="TextBox 2"/>
          <p:cNvSpPr txBox="1"/>
          <p:nvPr/>
        </p:nvSpPr>
        <p:spPr>
          <a:xfrm>
            <a:off x="457200" y="507693"/>
            <a:ext cx="11247120" cy="646331"/>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a:ea typeface="+mn-ea"/>
                <a:cs typeface="+mn-cs"/>
              </a:rPr>
              <a:t>We continue to perform well operationally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000000"/>
                </a:solidFill>
                <a:effectLst/>
                <a:uLnTx/>
                <a:uFillTx/>
                <a:latin typeface="Lato"/>
                <a:ea typeface="+mn-ea"/>
                <a:cs typeface="+mn-cs"/>
              </a:rPr>
              <a:t>Credit rating comparison</a:t>
            </a:r>
            <a:endParaRPr kumimoji="0" sz="2400" b="0" i="1" u="none" strike="noStrike" kern="1200" cap="none" spc="0" normalizeH="0" baseline="0" noProof="0" dirty="0">
              <a:ln>
                <a:noFill/>
              </a:ln>
              <a:solidFill>
                <a:srgbClr val="000000"/>
              </a:solidFill>
              <a:effectLst/>
              <a:uLnTx/>
              <a:uFillTx/>
              <a:latin typeface="Lato"/>
              <a:ea typeface="+mn-ea"/>
              <a:cs typeface="+mn-cs"/>
            </a:endParaRPr>
          </a:p>
        </p:txBody>
      </p:sp>
      <p:sp>
        <p:nvSpPr>
          <p:cNvPr id="4" name="Rectangle 3"/>
          <p:cNvSpPr/>
          <p:nvPr/>
        </p:nvSpPr>
        <p:spPr>
          <a:xfrm>
            <a:off x="502920" y="1207008"/>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502920" y="1371600"/>
            <a:ext cx="5349240" cy="33832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1A1A1A"/>
                </a:solidFill>
                <a:effectLst/>
                <a:uLnTx/>
                <a:uFillTx/>
                <a:latin typeface="Lato"/>
                <a:ea typeface="+mn-ea"/>
                <a:cs typeface="+mn-cs"/>
              </a:rPr>
              <a:t>Operating Results</a:t>
            </a:r>
          </a:p>
        </p:txBody>
      </p:sp>
      <p:sp>
        <p:nvSpPr>
          <p:cNvPr id="6" name="TextBox 5"/>
          <p:cNvSpPr txBox="1"/>
          <p:nvPr/>
        </p:nvSpPr>
        <p:spPr>
          <a:xfrm>
            <a:off x="502920" y="1737360"/>
            <a:ext cx="5349240" cy="20116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0" i="1" u="none" strike="noStrike" kern="1200" cap="none" spc="0" normalizeH="0" baseline="0" noProof="0">
                <a:ln>
                  <a:noFill/>
                </a:ln>
                <a:solidFill>
                  <a:srgbClr val="6B6B70"/>
                </a:solidFill>
                <a:effectLst/>
                <a:uLnTx/>
                <a:uFillTx/>
                <a:latin typeface="Lato"/>
                <a:ea typeface="+mn-ea"/>
                <a:cs typeface="+mn-cs"/>
              </a:rPr>
              <a:t>GAAP UR EBIDA Margin</a:t>
            </a:r>
          </a:p>
        </p:txBody>
      </p:sp>
      <p:graphicFrame>
        <p:nvGraphicFramePr>
          <p:cNvPr id="7" name="Chart 6"/>
          <p:cNvGraphicFramePr>
            <a:graphicFrameLocks noGrp="1"/>
          </p:cNvGraphicFramePr>
          <p:nvPr/>
        </p:nvGraphicFramePr>
        <p:xfrm>
          <a:off x="429768" y="1975104"/>
          <a:ext cx="544068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20" name="TextBox 19"/>
          <p:cNvSpPr txBox="1"/>
          <p:nvPr/>
        </p:nvSpPr>
        <p:spPr>
          <a:xfrm>
            <a:off x="6336792" y="1371600"/>
            <a:ext cx="5349240" cy="33832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1A1A1A"/>
                </a:solidFill>
                <a:effectLst/>
                <a:uLnTx/>
                <a:uFillTx/>
                <a:latin typeface="Lato"/>
                <a:ea typeface="+mn-ea"/>
                <a:cs typeface="+mn-cs"/>
              </a:rPr>
              <a:t>Annual Debt Service Coverage</a:t>
            </a:r>
          </a:p>
        </p:txBody>
      </p:sp>
      <p:sp>
        <p:nvSpPr>
          <p:cNvPr id="21" name="TextBox 20"/>
          <p:cNvSpPr txBox="1"/>
          <p:nvPr/>
        </p:nvSpPr>
        <p:spPr>
          <a:xfrm>
            <a:off x="6336792" y="1737360"/>
            <a:ext cx="5349240" cy="20116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0" i="1" u="none" strike="noStrike" kern="1200" cap="none" spc="0" normalizeH="0" baseline="0" noProof="0">
                <a:ln>
                  <a:noFill/>
                </a:ln>
                <a:solidFill>
                  <a:srgbClr val="6B6B70"/>
                </a:solidFill>
                <a:effectLst/>
                <a:uLnTx/>
                <a:uFillTx/>
                <a:latin typeface="Lato"/>
                <a:ea typeface="+mn-ea"/>
                <a:cs typeface="+mn-cs"/>
              </a:rPr>
              <a:t>EBIDA to Debt Service</a:t>
            </a:r>
          </a:p>
        </p:txBody>
      </p:sp>
      <p:graphicFrame>
        <p:nvGraphicFramePr>
          <p:cNvPr id="22" name="Chart 21"/>
          <p:cNvGraphicFramePr>
            <a:graphicFrameLocks noGrp="1"/>
          </p:cNvGraphicFramePr>
          <p:nvPr/>
        </p:nvGraphicFramePr>
        <p:xfrm>
          <a:off x="6263640" y="1975104"/>
          <a:ext cx="5440680" cy="3931920"/>
        </p:xfrm>
        <a:graphic>
          <a:graphicData uri="http://schemas.openxmlformats.org/drawingml/2006/chart">
            <c:chart xmlns:c="http://schemas.openxmlformats.org/drawingml/2006/chart" xmlns:r="http://schemas.openxmlformats.org/officeDocument/2006/relationships" r:id="rId4"/>
          </a:graphicData>
        </a:graphic>
      </p:graphicFrame>
      <p:sp>
        <p:nvSpPr>
          <p:cNvPr id="23" name="Rectangle 22"/>
          <p:cNvSpPr/>
          <p:nvPr/>
        </p:nvSpPr>
        <p:spPr>
          <a:xfrm>
            <a:off x="9052560" y="457200"/>
            <a:ext cx="201168" cy="128016"/>
          </a:xfrm>
          <a:prstGeom prst="rect">
            <a:avLst/>
          </a:prstGeom>
          <a:solidFill>
            <a:srgbClr val="8A8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4" name="TextBox 23"/>
          <p:cNvSpPr txBox="1"/>
          <p:nvPr/>
        </p:nvSpPr>
        <p:spPr>
          <a:xfrm>
            <a:off x="9308592" y="440436"/>
            <a:ext cx="91440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2B2B2B"/>
                </a:solidFill>
                <a:effectLst/>
                <a:uLnTx/>
                <a:uFillTx/>
                <a:latin typeface="Lato"/>
                <a:ea typeface="+mn-ea"/>
                <a:cs typeface="+mn-cs"/>
              </a:rPr>
              <a:t>Actual</a:t>
            </a:r>
          </a:p>
        </p:txBody>
      </p:sp>
      <p:sp>
        <p:nvSpPr>
          <p:cNvPr id="25" name="Rectangle 24"/>
          <p:cNvSpPr/>
          <p:nvPr/>
        </p:nvSpPr>
        <p:spPr>
          <a:xfrm>
            <a:off x="10104120" y="457200"/>
            <a:ext cx="201168"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6" name="TextBox 25"/>
          <p:cNvSpPr txBox="1"/>
          <p:nvPr/>
        </p:nvSpPr>
        <p:spPr>
          <a:xfrm>
            <a:off x="10360152" y="440436"/>
            <a:ext cx="14630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2B2B2B"/>
                </a:solidFill>
                <a:effectLst/>
                <a:uLnTx/>
                <a:uFillTx/>
                <a:latin typeface="Lato"/>
                <a:ea typeface="+mn-ea"/>
                <a:cs typeface="+mn-cs"/>
              </a:rPr>
              <a:t>FY26 Unaudited</a:t>
            </a:r>
          </a:p>
        </p:txBody>
      </p:sp>
      <p:cxnSp>
        <p:nvCxnSpPr>
          <p:cNvPr id="30" name="Connector 29"/>
          <p:cNvCxnSpPr/>
          <p:nvPr/>
        </p:nvCxnSpPr>
        <p:spPr>
          <a:xfrm>
            <a:off x="9052560" y="740664"/>
            <a:ext cx="365760" cy="0"/>
          </a:xfrm>
          <a:prstGeom prst="line">
            <a:avLst/>
          </a:prstGeom>
          <a:ln w="31750">
            <a:solidFill>
              <a:srgbClr val="000000"/>
            </a:solidFill>
            <a:prstDash val="soli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491472" y="658368"/>
            <a:ext cx="23774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000000"/>
                </a:solidFill>
                <a:effectLst/>
                <a:uLnTx/>
                <a:uFillTx/>
                <a:latin typeface="Lato"/>
                <a:ea typeface="+mn-ea"/>
                <a:cs typeface="+mn-cs"/>
              </a:rPr>
              <a:t>Moody's “A” rated peer median (FY25)</a:t>
            </a:r>
          </a:p>
        </p:txBody>
      </p:sp>
      <p:cxnSp>
        <p:nvCxnSpPr>
          <p:cNvPr id="33" name="Connector 32"/>
          <p:cNvCxnSpPr/>
          <p:nvPr/>
        </p:nvCxnSpPr>
        <p:spPr>
          <a:xfrm>
            <a:off x="9052560" y="960120"/>
            <a:ext cx="365760" cy="0"/>
          </a:xfrm>
          <a:prstGeom prst="line">
            <a:avLst/>
          </a:prstGeom>
          <a:ln w="28575">
            <a:solidFill>
              <a:srgbClr val="7F7F7F"/>
            </a:solidFill>
            <a:prstDash val="sysDash"/>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491472" y="877824"/>
            <a:ext cx="23774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7F7F7F"/>
                </a:solidFill>
                <a:effectLst/>
                <a:uLnTx/>
                <a:uFillTx/>
                <a:latin typeface="Lato"/>
                <a:ea typeface="+mn-ea"/>
                <a:cs typeface="+mn-cs"/>
              </a:rPr>
              <a:t>Moody's “Aa” rated peer median (FY25)</a:t>
            </a:r>
          </a:p>
        </p:txBody>
      </p:sp>
      <p:sp>
        <p:nvSpPr>
          <p:cNvPr id="35" name="TextBox 3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Moody’s Ratings (June 24, 2026); Northeastern Financial Affairs</a:t>
            </a:r>
          </a:p>
        </p:txBody>
      </p:sp>
      <p:sp>
        <p:nvSpPr>
          <p:cNvPr id="36"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30</a:t>
            </a:fld>
            <a:endParaRPr lang="en-US" sz="900" b="1">
              <a:solidFill>
                <a:srgbClr val="000000"/>
              </a:solidFill>
              <a:latin typeface="Lat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686800" cy="2743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C8102E"/>
                </a:solidFill>
                <a:effectLst/>
                <a:uLnTx/>
                <a:uFillTx/>
                <a:latin typeface="Lato"/>
                <a:ea typeface="+mn-ea"/>
                <a:cs typeface="+mn-cs"/>
              </a:rPr>
              <a:t>PEER BENCHMARKING · GAAP UR OP EBIDA MARGIN</a:t>
            </a:r>
          </a:p>
        </p:txBody>
      </p:sp>
      <p:sp>
        <p:nvSpPr>
          <p:cNvPr id="3" name="TextBox 2"/>
          <p:cNvSpPr txBox="1"/>
          <p:nvPr/>
        </p:nvSpPr>
        <p:spPr>
          <a:xfrm>
            <a:off x="457200" y="548640"/>
            <a:ext cx="11247120" cy="384048"/>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Lato"/>
                <a:ea typeface="+mn-ea"/>
                <a:cs typeface="+mn-cs"/>
              </a:rPr>
              <a:t>13.0% FY26 EBIDA margin would put Northeastern fifth among 20 academic peers</a:t>
            </a:r>
          </a:p>
        </p:txBody>
      </p:sp>
      <p:sp>
        <p:nvSpPr>
          <p:cNvPr id="4" name="Rectangle 3"/>
          <p:cNvSpPr/>
          <p:nvPr/>
        </p:nvSpPr>
        <p:spPr>
          <a:xfrm>
            <a:off x="502920" y="969264"/>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457200" y="1060704"/>
            <a:ext cx="10789920" cy="161583"/>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50" b="0" i="1" u="none" strike="noStrike" kern="1200" cap="none" spc="0" normalizeH="0" baseline="0" noProof="0">
                <a:ln>
                  <a:noFill/>
                </a:ln>
                <a:solidFill>
                  <a:srgbClr val="6B6B70"/>
                </a:solidFill>
                <a:effectLst/>
                <a:uLnTx/>
                <a:uFillTx/>
                <a:latin typeface="Lato"/>
                <a:ea typeface="+mn-ea"/>
                <a:cs typeface="+mn-cs"/>
              </a:rPr>
              <a:t>Peers at FY2025 audited actuals; Northeastern shown at its FY2026 </a:t>
            </a:r>
            <a:r>
              <a:rPr kumimoji="0" lang="en-US" sz="1050" b="0" i="1" u="none" strike="noStrike" kern="1200" cap="none" spc="0" normalizeH="0" baseline="0" noProof="0">
                <a:ln>
                  <a:noFill/>
                </a:ln>
                <a:solidFill>
                  <a:srgbClr val="6B6B70"/>
                </a:solidFill>
                <a:effectLst/>
                <a:uLnTx/>
                <a:uFillTx/>
                <a:latin typeface="Lato"/>
                <a:ea typeface="+mn-ea"/>
                <a:cs typeface="+mn-cs"/>
              </a:rPr>
              <a:t>projection</a:t>
            </a:r>
            <a:endParaRPr kumimoji="0" sz="1050" b="0" i="1" u="none" strike="noStrike" kern="1200" cap="none" spc="0" normalizeH="0" baseline="0" noProof="0">
              <a:ln>
                <a:noFill/>
              </a:ln>
              <a:solidFill>
                <a:srgbClr val="6B6B70"/>
              </a:solidFill>
              <a:effectLst/>
              <a:uLnTx/>
              <a:uFillTx/>
              <a:latin typeface="Lato"/>
              <a:ea typeface="+mn-ea"/>
              <a:cs typeface="+mn-cs"/>
            </a:endParaRPr>
          </a:p>
        </p:txBody>
      </p:sp>
      <p:graphicFrame>
        <p:nvGraphicFramePr>
          <p:cNvPr id="114" name="Chart 113"/>
          <p:cNvGraphicFramePr>
            <a:graphicFrameLocks noGrp="1"/>
          </p:cNvGraphicFramePr>
          <p:nvPr/>
        </p:nvGraphicFramePr>
        <p:xfrm>
          <a:off x="502920" y="1600200"/>
          <a:ext cx="11228832" cy="4251960"/>
        </p:xfrm>
        <a:graphic>
          <a:graphicData uri="http://schemas.openxmlformats.org/drawingml/2006/chart">
            <c:chart xmlns:c="http://schemas.openxmlformats.org/drawingml/2006/chart" xmlns:r="http://schemas.openxmlformats.org/officeDocument/2006/relationships" r:id="rId3"/>
          </a:graphicData>
        </a:graphic>
      </p:graphicFrame>
      <p:sp>
        <p:nvSpPr>
          <p:cNvPr id="118" name="TextBox 117"/>
          <p:cNvSpPr txBox="1"/>
          <p:nvPr/>
        </p:nvSpPr>
        <p:spPr>
          <a:xfrm>
            <a:off x="974530" y="5886393"/>
            <a:ext cx="3048627"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Aa1</a:t>
            </a:r>
          </a:p>
        </p:txBody>
      </p:sp>
      <p:cxnSp>
        <p:nvCxnSpPr>
          <p:cNvPr id="119" name="Connector 118"/>
          <p:cNvCxnSpPr/>
          <p:nvPr/>
        </p:nvCxnSpPr>
        <p:spPr>
          <a:xfrm>
            <a:off x="4023157"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4023157"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4023157" y="5886393"/>
            <a:ext cx="1524313"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Aa2</a:t>
            </a:r>
          </a:p>
        </p:txBody>
      </p:sp>
      <p:cxnSp>
        <p:nvCxnSpPr>
          <p:cNvPr id="122" name="Connector 121"/>
          <p:cNvCxnSpPr/>
          <p:nvPr/>
        </p:nvCxnSpPr>
        <p:spPr>
          <a:xfrm>
            <a:off x="5547471"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5547471"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5547471" y="5886393"/>
            <a:ext cx="3048627"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Aa3</a:t>
            </a:r>
          </a:p>
        </p:txBody>
      </p:sp>
      <p:cxnSp>
        <p:nvCxnSpPr>
          <p:cNvPr id="125" name="Connector 124"/>
          <p:cNvCxnSpPr/>
          <p:nvPr/>
        </p:nvCxnSpPr>
        <p:spPr>
          <a:xfrm>
            <a:off x="8596099"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8596099"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8596099" y="5886393"/>
            <a:ext cx="1016209"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A1</a:t>
            </a:r>
          </a:p>
        </p:txBody>
      </p:sp>
      <p:cxnSp>
        <p:nvCxnSpPr>
          <p:cNvPr id="128" name="Connector 127"/>
          <p:cNvCxnSpPr/>
          <p:nvPr/>
        </p:nvCxnSpPr>
        <p:spPr>
          <a:xfrm>
            <a:off x="9612308"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9612308"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30" name="TextBox 129"/>
          <p:cNvSpPr txBox="1"/>
          <p:nvPr/>
        </p:nvSpPr>
        <p:spPr>
          <a:xfrm>
            <a:off x="9612308" y="5886393"/>
            <a:ext cx="1016209"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A2</a:t>
            </a:r>
          </a:p>
        </p:txBody>
      </p:sp>
      <p:cxnSp>
        <p:nvCxnSpPr>
          <p:cNvPr id="131" name="Connector 130"/>
          <p:cNvCxnSpPr/>
          <p:nvPr/>
        </p:nvCxnSpPr>
        <p:spPr>
          <a:xfrm>
            <a:off x="10628517"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10628517"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10628517" y="5886393"/>
            <a:ext cx="508104"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A3</a:t>
            </a:r>
          </a:p>
        </p:txBody>
      </p:sp>
      <p:sp>
        <p:nvSpPr>
          <p:cNvPr id="134" name="TextBox 133"/>
          <p:cNvSpPr txBox="1"/>
          <p:nvPr/>
        </p:nvSpPr>
        <p:spPr>
          <a:xfrm>
            <a:off x="457200" y="5817144"/>
            <a:ext cx="471610" cy="307777"/>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00" b="0" i="1" u="none" strike="noStrike" kern="1200" cap="none" spc="0" normalizeH="0" baseline="0" noProof="0">
                <a:ln>
                  <a:noFill/>
                </a:ln>
                <a:solidFill>
                  <a:srgbClr val="000000"/>
                </a:solidFill>
                <a:effectLst/>
                <a:uLnTx/>
                <a:uFillTx/>
                <a:latin typeface="Lato"/>
                <a:ea typeface="+mn-ea"/>
                <a:cs typeface="+mn-cs"/>
              </a:rPr>
              <a:t>Moody's rating</a:t>
            </a:r>
          </a:p>
        </p:txBody>
      </p:sp>
      <p:cxnSp>
        <p:nvCxnSpPr>
          <p:cNvPr id="144" name="Connector 143"/>
          <p:cNvCxnSpPr/>
          <p:nvPr/>
        </p:nvCxnSpPr>
        <p:spPr>
          <a:xfrm>
            <a:off x="6537960" y="1360071"/>
            <a:ext cx="365760" cy="0"/>
          </a:xfrm>
          <a:prstGeom prst="line">
            <a:avLst/>
          </a:prstGeom>
          <a:ln w="31750">
            <a:solidFill>
              <a:srgbClr val="000000"/>
            </a:solidFill>
          </a:ln>
        </p:spPr>
        <p:style>
          <a:lnRef idx="2">
            <a:schemeClr val="accent1"/>
          </a:lnRef>
          <a:fillRef idx="0">
            <a:schemeClr val="accent1"/>
          </a:fillRef>
          <a:effectRef idx="1">
            <a:schemeClr val="accent1"/>
          </a:effectRef>
          <a:fontRef idx="minor">
            <a:schemeClr val="tx1"/>
          </a:fontRef>
        </p:style>
      </p:cxnSp>
      <p:sp>
        <p:nvSpPr>
          <p:cNvPr id="145" name="TextBox 144"/>
          <p:cNvSpPr txBox="1"/>
          <p:nvPr/>
        </p:nvSpPr>
        <p:spPr>
          <a:xfrm>
            <a:off x="6976872" y="1280160"/>
            <a:ext cx="23774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000000"/>
                </a:solidFill>
                <a:effectLst/>
                <a:uLnTx/>
                <a:uFillTx/>
                <a:latin typeface="Lato"/>
                <a:ea typeface="+mn-ea"/>
                <a:cs typeface="+mn-cs"/>
              </a:rPr>
              <a:t>Moody's “A” rated peer median (FY25)</a:t>
            </a:r>
          </a:p>
        </p:txBody>
      </p:sp>
      <p:cxnSp>
        <p:nvCxnSpPr>
          <p:cNvPr id="146" name="Connector 145"/>
          <p:cNvCxnSpPr/>
          <p:nvPr/>
        </p:nvCxnSpPr>
        <p:spPr>
          <a:xfrm>
            <a:off x="9281160" y="1360071"/>
            <a:ext cx="365760" cy="0"/>
          </a:xfrm>
          <a:prstGeom prst="line">
            <a:avLst/>
          </a:prstGeom>
          <a:ln w="28575">
            <a:solidFill>
              <a:srgbClr val="7F7F7F"/>
            </a:solidFill>
            <a:prstDash val="sysDash"/>
          </a:ln>
        </p:spPr>
        <p:style>
          <a:lnRef idx="2">
            <a:schemeClr val="accent1"/>
          </a:lnRef>
          <a:fillRef idx="0">
            <a:schemeClr val="accent1"/>
          </a:fillRef>
          <a:effectRef idx="1">
            <a:schemeClr val="accent1"/>
          </a:effectRef>
          <a:fontRef idx="minor">
            <a:schemeClr val="tx1"/>
          </a:fontRef>
        </p:style>
      </p:cxnSp>
      <p:sp>
        <p:nvSpPr>
          <p:cNvPr id="147" name="TextBox 146"/>
          <p:cNvSpPr txBox="1"/>
          <p:nvPr/>
        </p:nvSpPr>
        <p:spPr>
          <a:xfrm>
            <a:off x="9720072" y="1280160"/>
            <a:ext cx="246888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7F7F7F"/>
                </a:solidFill>
                <a:effectLst/>
                <a:uLnTx/>
                <a:uFillTx/>
                <a:latin typeface="Lato"/>
                <a:ea typeface="+mn-ea"/>
                <a:cs typeface="+mn-cs"/>
              </a:rPr>
              <a:t>Moody's “Aa” rated peer median (FY25)</a:t>
            </a:r>
          </a:p>
        </p:txBody>
      </p:sp>
      <p:sp>
        <p:nvSpPr>
          <p:cNvPr id="148" name="TextBox 147"/>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institutions’ audited FY2025 financial statements; Moody’s; methodology in speaker notes</a:t>
            </a:r>
          </a:p>
        </p:txBody>
      </p:sp>
      <p:sp>
        <p:nvSpPr>
          <p:cNvPr id="149" name="TextBox 148"/>
          <p:cNvSpPr txBox="1"/>
          <p:nvPr/>
        </p:nvSpPr>
        <p:spPr>
          <a:xfrm>
            <a:off x="457200" y="6268212"/>
            <a:ext cx="11274552" cy="132588"/>
          </a:xfrm>
          <a:prstGeom prst="rect">
            <a:avLst/>
          </a:prstGeom>
          <a:noFill/>
        </p:spPr>
        <p:txBody>
          <a:bodyPr wrap="square" lIns="0" tIns="0" rIns="0" bIns="0" anchor="b">
            <a:spAutoFit/>
          </a:bodyPr>
          <a:lstStyle/>
          <a:p>
            <a:pPr algn="l"/>
            <a:r>
              <a:rPr sz="700" b="0" i="0">
                <a:solidFill>
                  <a:srgbClr val="595959"/>
                </a:solidFill>
                <a:latin typeface="Lato"/>
              </a:rPr>
              <a:t>Peer set: 19 peers plus Northeastern. Notre Dame (10.0%) and Drexel (3.1%), shown on the FY25 peer ranking, are not on this chart; Northeastern ranks fifth of 22 with them included.</a:t>
            </a:r>
          </a:p>
        </p:txBody>
      </p:sp>
      <p:sp>
        <p:nvSpPr>
          <p:cNvPr id="150"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31</a:t>
            </a:fld>
            <a:endParaRPr lang="en-US" sz="900" b="1">
              <a:solidFill>
                <a:srgbClr val="000000"/>
              </a:solidFill>
              <a:latin typeface="Lato"/>
            </a:endParaRPr>
          </a:p>
        </p:txBody>
      </p:sp>
      <p:pic>
        <p:nvPicPr>
          <p:cNvPr id="151" name="Rod of Asclepius marker" descr="Rod of Asclepius: health-system peer"/>
          <p:cNvPicPr>
            <a:picLocks noChangeAspect="1"/>
          </p:cNvPicPr>
          <p:nvPr/>
        </p:nvPicPr>
        <p:blipFill>
          <a:blip r:embed="rId4"/>
          <a:stretch>
            <a:fillRect/>
          </a:stretch>
        </p:blipFill>
        <p:spPr>
          <a:xfrm>
            <a:off x="2647705" y="3332472"/>
            <a:ext cx="210380" cy="365760"/>
          </a:xfrm>
          <a:prstGeom prst="rect">
            <a:avLst/>
          </a:prstGeom>
        </p:spPr>
      </p:pic>
      <p:pic>
        <p:nvPicPr>
          <p:cNvPr id="152" name="Rod of Asclepius marker" descr="Rod of Asclepius: health-system peer"/>
          <p:cNvPicPr>
            <a:picLocks noChangeAspect="1"/>
          </p:cNvPicPr>
          <p:nvPr/>
        </p:nvPicPr>
        <p:blipFill>
          <a:blip r:embed="rId4"/>
          <a:stretch>
            <a:fillRect/>
          </a:stretch>
        </p:blipFill>
        <p:spPr>
          <a:xfrm>
            <a:off x="3155809" y="3483502"/>
            <a:ext cx="210380" cy="365760"/>
          </a:xfrm>
          <a:prstGeom prst="rect">
            <a:avLst/>
          </a:prstGeom>
        </p:spPr>
      </p:pic>
      <p:pic>
        <p:nvPicPr>
          <p:cNvPr id="153" name="Rod of Asclepius marker" descr="Rod of Asclepius: health-system peer"/>
          <p:cNvPicPr>
            <a:picLocks noChangeAspect="1"/>
          </p:cNvPicPr>
          <p:nvPr/>
        </p:nvPicPr>
        <p:blipFill>
          <a:blip r:embed="rId4"/>
          <a:stretch>
            <a:fillRect/>
          </a:stretch>
        </p:blipFill>
        <p:spPr>
          <a:xfrm>
            <a:off x="4172018" y="2942312"/>
            <a:ext cx="210380" cy="365760"/>
          </a:xfrm>
          <a:prstGeom prst="rect">
            <a:avLst/>
          </a:prstGeom>
        </p:spPr>
      </p:pic>
      <p:pic>
        <p:nvPicPr>
          <p:cNvPr id="154" name="Rod of Asclepius marker" descr="Rod of Asclepius: health-system peer"/>
          <p:cNvPicPr>
            <a:picLocks noChangeAspect="1"/>
          </p:cNvPicPr>
          <p:nvPr/>
        </p:nvPicPr>
        <p:blipFill>
          <a:blip r:embed="rId4"/>
          <a:stretch>
            <a:fillRect/>
          </a:stretch>
        </p:blipFill>
        <p:spPr>
          <a:xfrm>
            <a:off x="4680123" y="3294715"/>
            <a:ext cx="210380" cy="365760"/>
          </a:xfrm>
          <a:prstGeom prst="rect">
            <a:avLst/>
          </a:prstGeom>
        </p:spPr>
      </p:pic>
      <p:pic>
        <p:nvPicPr>
          <p:cNvPr id="155" name="Rod of Asclepius marker" descr="Rod of Asclepius: health-system peer"/>
          <p:cNvPicPr>
            <a:picLocks noChangeAspect="1"/>
          </p:cNvPicPr>
          <p:nvPr/>
        </p:nvPicPr>
        <p:blipFill>
          <a:blip r:embed="rId4"/>
          <a:stretch>
            <a:fillRect/>
          </a:stretch>
        </p:blipFill>
        <p:spPr>
          <a:xfrm>
            <a:off x="5188228" y="3823317"/>
            <a:ext cx="210380" cy="365760"/>
          </a:xfrm>
          <a:prstGeom prst="rect">
            <a:avLst/>
          </a:prstGeom>
        </p:spPr>
      </p:pic>
      <p:pic>
        <p:nvPicPr>
          <p:cNvPr id="156" name="Rod of Asclepius marker" descr="Rod of Asclepius: health-system peer"/>
          <p:cNvPicPr>
            <a:picLocks noChangeAspect="1"/>
          </p:cNvPicPr>
          <p:nvPr/>
        </p:nvPicPr>
        <p:blipFill>
          <a:blip r:embed="rId4"/>
          <a:stretch>
            <a:fillRect/>
          </a:stretch>
        </p:blipFill>
        <p:spPr>
          <a:xfrm>
            <a:off x="6712541" y="2753525"/>
            <a:ext cx="210380" cy="365760"/>
          </a:xfrm>
          <a:prstGeom prst="rect">
            <a:avLst/>
          </a:prstGeom>
        </p:spPr>
      </p:pic>
      <p:pic>
        <p:nvPicPr>
          <p:cNvPr id="157" name="Rod of Asclepius marker" descr="Rod of Asclepius: health-system peer"/>
          <p:cNvPicPr>
            <a:picLocks noChangeAspect="1"/>
          </p:cNvPicPr>
          <p:nvPr/>
        </p:nvPicPr>
        <p:blipFill>
          <a:blip r:embed="rId4"/>
          <a:stretch>
            <a:fillRect/>
          </a:stretch>
        </p:blipFill>
        <p:spPr>
          <a:xfrm>
            <a:off x="9253064" y="3143685"/>
            <a:ext cx="210380" cy="365760"/>
          </a:xfrm>
          <a:prstGeom prst="rect">
            <a:avLst/>
          </a:prstGeom>
        </p:spPr>
      </p:pic>
      <p:pic>
        <p:nvPicPr>
          <p:cNvPr id="158" name="Rod of Asclepius marker" descr="Rod of Asclepius: health-system peer"/>
          <p:cNvPicPr>
            <a:picLocks noChangeAspect="1"/>
          </p:cNvPicPr>
          <p:nvPr/>
        </p:nvPicPr>
        <p:blipFill>
          <a:blip r:embed="rId4"/>
          <a:stretch>
            <a:fillRect/>
          </a:stretch>
        </p:blipFill>
        <p:spPr>
          <a:xfrm>
            <a:off x="9761169" y="2816454"/>
            <a:ext cx="210380" cy="365760"/>
          </a:xfrm>
          <a:prstGeom prst="rect">
            <a:avLst/>
          </a:prstGeom>
        </p:spPr>
      </p:pic>
      <p:pic>
        <p:nvPicPr>
          <p:cNvPr id="159" name="Rod of Asclepius marker" descr="Rod of Asclepius: health-system peer"/>
          <p:cNvPicPr>
            <a:picLocks noChangeAspect="1"/>
          </p:cNvPicPr>
          <p:nvPr/>
        </p:nvPicPr>
        <p:blipFill>
          <a:blip r:embed="rId4"/>
          <a:stretch>
            <a:fillRect/>
          </a:stretch>
        </p:blipFill>
        <p:spPr>
          <a:xfrm>
            <a:off x="10269274" y="4100206"/>
            <a:ext cx="210380" cy="36576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93192"/>
            <a:ext cx="11247120" cy="355091"/>
          </a:xfrm>
          <a:prstGeom prst="rect">
            <a:avLst/>
          </a:prstGeom>
          <a:noFill/>
        </p:spPr>
        <p:txBody>
          <a:bodyPr wrap="square" lIns="0" tIns="0" rIns="0" bIns="0">
            <a:noAutofit/>
          </a:bodyPr>
          <a:lstStyle/>
          <a:p>
            <a:pPr algn="l">
              <a:lnSpc>
                <a:spcPct val="105000"/>
              </a:lnSpc>
            </a:pPr>
            <a:r>
              <a:rPr sz="2000" b="1" dirty="0">
                <a:solidFill>
                  <a:srgbClr val="000000"/>
                </a:solidFill>
                <a:latin typeface="Lato"/>
              </a:rPr>
              <a:t>Full-time staff grew 46% since FY20, to 4,179 — but headcount has fallen 312 in the past year</a:t>
            </a:r>
          </a:p>
        </p:txBody>
      </p:sp>
      <p:sp>
        <p:nvSpPr>
          <p:cNvPr id="3" name="TextBox 2"/>
          <p:cNvSpPr txBox="1"/>
          <p:nvPr/>
        </p:nvSpPr>
        <p:spPr>
          <a:xfrm>
            <a:off x="457200" y="775715"/>
            <a:ext cx="11338560" cy="246221"/>
          </a:xfrm>
          <a:prstGeom prst="rect">
            <a:avLst/>
          </a:prstGeom>
          <a:noFill/>
        </p:spPr>
        <p:txBody>
          <a:bodyPr wrap="square" lIns="0" tIns="0" rIns="0" bIns="0">
            <a:spAutoFit/>
          </a:bodyPr>
          <a:lstStyle/>
          <a:p>
            <a:pPr algn="l"/>
            <a:r>
              <a:rPr sz="1600" b="0" i="1" dirty="0">
                <a:solidFill>
                  <a:srgbClr val="000000"/>
                </a:solidFill>
                <a:latin typeface="Lato"/>
              </a:rPr>
              <a:t>Total full-time staff by year, by funding source and campus  ·  </a:t>
            </a:r>
            <a:r>
              <a:rPr sz="1600" b="1" i="1" u="sng" dirty="0">
                <a:solidFill>
                  <a:srgbClr val="000000"/>
                </a:solidFill>
                <a:latin typeface="Lato"/>
              </a:rPr>
              <a:t>FY20 – FY27</a:t>
            </a:r>
            <a:r>
              <a:rPr sz="1600" b="0" i="1" dirty="0">
                <a:solidFill>
                  <a:srgbClr val="000000"/>
                </a:solidFill>
                <a:latin typeface="Lato"/>
              </a:rPr>
              <a:t>  ·  1 Oct snapshots; FY27 at 1 Aug 2026</a:t>
            </a:r>
          </a:p>
        </p:txBody>
      </p:sp>
      <p:sp>
        <p:nvSpPr>
          <p:cNvPr id="4" name="TextBox 3"/>
          <p:cNvSpPr txBox="1"/>
          <p:nvPr/>
        </p:nvSpPr>
        <p:spPr>
          <a:xfrm>
            <a:off x="457200" y="1068324"/>
            <a:ext cx="11338560" cy="192360"/>
          </a:xfrm>
          <a:prstGeom prst="rect">
            <a:avLst/>
          </a:prstGeom>
          <a:noFill/>
        </p:spPr>
        <p:txBody>
          <a:bodyPr wrap="square" lIns="0" tIns="0" rIns="0" bIns="0">
            <a:spAutoFit/>
          </a:bodyPr>
          <a:lstStyle/>
          <a:p>
            <a:pPr algn="l"/>
            <a:r>
              <a:rPr sz="1250" b="0" dirty="0">
                <a:solidFill>
                  <a:srgbClr val="000000"/>
                </a:solidFill>
                <a:latin typeface="Lato"/>
              </a:rPr>
              <a:t>Of the +1,312 net adds, London supplied 182 and Oakland 218; the rest of the internally funded base added 802, and externally funded staff 110.</a:t>
            </a:r>
          </a:p>
        </p:txBody>
      </p:sp>
      <p:sp>
        <p:nvSpPr>
          <p:cNvPr id="6" name="TextBox 5"/>
          <p:cNvSpPr txBox="1"/>
          <p:nvPr/>
        </p:nvSpPr>
        <p:spPr>
          <a:xfrm>
            <a:off x="1031557" y="3605157"/>
            <a:ext cx="914400" cy="237744"/>
          </a:xfrm>
          <a:prstGeom prst="rect">
            <a:avLst/>
          </a:prstGeom>
          <a:noFill/>
        </p:spPr>
        <p:txBody>
          <a:bodyPr wrap="square" lIns="0" tIns="0" rIns="0" bIns="0">
            <a:spAutoFit/>
          </a:bodyPr>
          <a:lstStyle/>
          <a:p>
            <a:pPr algn="ctr"/>
            <a:r>
              <a:rPr sz="1100" b="1">
                <a:solidFill>
                  <a:srgbClr val="000000"/>
                </a:solidFill>
                <a:latin typeface="Lato"/>
              </a:rPr>
              <a:t>2,867</a:t>
            </a:r>
          </a:p>
        </p:txBody>
      </p:sp>
      <p:sp>
        <p:nvSpPr>
          <p:cNvPr id="7" name="TextBox 6"/>
          <p:cNvSpPr txBox="1"/>
          <p:nvPr/>
        </p:nvSpPr>
        <p:spPr>
          <a:xfrm>
            <a:off x="1869376" y="3526767"/>
            <a:ext cx="914400" cy="237744"/>
          </a:xfrm>
          <a:prstGeom prst="rect">
            <a:avLst/>
          </a:prstGeom>
          <a:noFill/>
        </p:spPr>
        <p:txBody>
          <a:bodyPr wrap="square" lIns="0" tIns="0" rIns="0" bIns="0">
            <a:spAutoFit/>
          </a:bodyPr>
          <a:lstStyle/>
          <a:p>
            <a:pPr algn="ctr"/>
            <a:r>
              <a:rPr sz="1100" b="1">
                <a:solidFill>
                  <a:srgbClr val="000000"/>
                </a:solidFill>
                <a:latin typeface="Lato"/>
              </a:rPr>
              <a:t>3,055</a:t>
            </a:r>
          </a:p>
        </p:txBody>
      </p:sp>
      <p:sp>
        <p:nvSpPr>
          <p:cNvPr id="8" name="TextBox 7"/>
          <p:cNvSpPr txBox="1"/>
          <p:nvPr/>
        </p:nvSpPr>
        <p:spPr>
          <a:xfrm>
            <a:off x="2707195" y="3513007"/>
            <a:ext cx="914400" cy="237744"/>
          </a:xfrm>
          <a:prstGeom prst="rect">
            <a:avLst/>
          </a:prstGeom>
          <a:noFill/>
        </p:spPr>
        <p:txBody>
          <a:bodyPr wrap="square" lIns="0" tIns="0" rIns="0" bIns="0">
            <a:spAutoFit/>
          </a:bodyPr>
          <a:lstStyle/>
          <a:p>
            <a:pPr algn="ctr"/>
            <a:r>
              <a:rPr sz="1100" b="1">
                <a:solidFill>
                  <a:srgbClr val="000000"/>
                </a:solidFill>
                <a:latin typeface="Lato"/>
              </a:rPr>
              <a:t>3,088</a:t>
            </a:r>
          </a:p>
        </p:txBody>
      </p:sp>
      <p:sp>
        <p:nvSpPr>
          <p:cNvPr id="9" name="TextBox 8"/>
          <p:cNvSpPr txBox="1"/>
          <p:nvPr/>
        </p:nvSpPr>
        <p:spPr>
          <a:xfrm>
            <a:off x="3545014" y="3277421"/>
            <a:ext cx="914400" cy="237744"/>
          </a:xfrm>
          <a:prstGeom prst="rect">
            <a:avLst/>
          </a:prstGeom>
          <a:noFill/>
        </p:spPr>
        <p:txBody>
          <a:bodyPr wrap="square" lIns="0" tIns="0" rIns="0" bIns="0">
            <a:spAutoFit/>
          </a:bodyPr>
          <a:lstStyle/>
          <a:p>
            <a:pPr algn="ctr"/>
            <a:r>
              <a:rPr sz="1100" b="1">
                <a:solidFill>
                  <a:srgbClr val="000000"/>
                </a:solidFill>
                <a:latin typeface="Lato"/>
              </a:rPr>
              <a:t>3,653</a:t>
            </a:r>
          </a:p>
        </p:txBody>
      </p:sp>
      <p:sp>
        <p:nvSpPr>
          <p:cNvPr id="10" name="TextBox 9"/>
          <p:cNvSpPr txBox="1"/>
          <p:nvPr/>
        </p:nvSpPr>
        <p:spPr>
          <a:xfrm>
            <a:off x="4382833" y="3018485"/>
            <a:ext cx="914400" cy="237744"/>
          </a:xfrm>
          <a:prstGeom prst="rect">
            <a:avLst/>
          </a:prstGeom>
          <a:noFill/>
        </p:spPr>
        <p:txBody>
          <a:bodyPr wrap="square" lIns="0" tIns="0" rIns="0" bIns="0">
            <a:spAutoFit/>
          </a:bodyPr>
          <a:lstStyle/>
          <a:p>
            <a:pPr algn="ctr"/>
            <a:r>
              <a:rPr sz="1100" b="1">
                <a:solidFill>
                  <a:srgbClr val="000000"/>
                </a:solidFill>
                <a:latin typeface="Lato"/>
              </a:rPr>
              <a:t>4,274</a:t>
            </a:r>
          </a:p>
        </p:txBody>
      </p:sp>
      <p:sp>
        <p:nvSpPr>
          <p:cNvPr id="11" name="TextBox 10"/>
          <p:cNvSpPr txBox="1"/>
          <p:nvPr/>
        </p:nvSpPr>
        <p:spPr>
          <a:xfrm>
            <a:off x="5220652" y="2946350"/>
            <a:ext cx="914400" cy="237744"/>
          </a:xfrm>
          <a:prstGeom prst="rect">
            <a:avLst/>
          </a:prstGeom>
          <a:noFill/>
        </p:spPr>
        <p:txBody>
          <a:bodyPr wrap="square" lIns="0" tIns="0" rIns="0" bIns="0">
            <a:spAutoFit/>
          </a:bodyPr>
          <a:lstStyle/>
          <a:p>
            <a:pPr algn="ctr"/>
            <a:r>
              <a:rPr sz="1100" b="1">
                <a:solidFill>
                  <a:srgbClr val="000000"/>
                </a:solidFill>
                <a:latin typeface="Lato"/>
              </a:rPr>
              <a:t>4,447</a:t>
            </a:r>
          </a:p>
        </p:txBody>
      </p:sp>
      <p:sp>
        <p:nvSpPr>
          <p:cNvPr id="12" name="TextBox 11"/>
          <p:cNvSpPr txBox="1"/>
          <p:nvPr/>
        </p:nvSpPr>
        <p:spPr>
          <a:xfrm>
            <a:off x="6058471" y="2928003"/>
            <a:ext cx="914400" cy="237744"/>
          </a:xfrm>
          <a:prstGeom prst="rect">
            <a:avLst/>
          </a:prstGeom>
          <a:noFill/>
        </p:spPr>
        <p:txBody>
          <a:bodyPr wrap="square" lIns="0" tIns="0" rIns="0" bIns="0">
            <a:spAutoFit/>
          </a:bodyPr>
          <a:lstStyle/>
          <a:p>
            <a:pPr algn="ctr"/>
            <a:r>
              <a:rPr sz="1100" b="1">
                <a:solidFill>
                  <a:srgbClr val="000000"/>
                </a:solidFill>
                <a:latin typeface="Lato"/>
              </a:rPr>
              <a:t>4,491</a:t>
            </a:r>
          </a:p>
        </p:txBody>
      </p:sp>
      <p:sp>
        <p:nvSpPr>
          <p:cNvPr id="13" name="TextBox 12"/>
          <p:cNvSpPr txBox="1"/>
          <p:nvPr/>
        </p:nvSpPr>
        <p:spPr>
          <a:xfrm>
            <a:off x="6896290" y="3058097"/>
            <a:ext cx="914400" cy="237744"/>
          </a:xfrm>
          <a:prstGeom prst="rect">
            <a:avLst/>
          </a:prstGeom>
          <a:noFill/>
        </p:spPr>
        <p:txBody>
          <a:bodyPr wrap="square" lIns="0" tIns="0" rIns="0" bIns="0">
            <a:spAutoFit/>
          </a:bodyPr>
          <a:lstStyle/>
          <a:p>
            <a:pPr algn="ctr"/>
            <a:r>
              <a:rPr sz="1100" b="1">
                <a:solidFill>
                  <a:srgbClr val="000000"/>
                </a:solidFill>
                <a:latin typeface="Lato"/>
              </a:rPr>
              <a:t>4,179</a:t>
            </a:r>
          </a:p>
        </p:txBody>
      </p:sp>
      <p:sp>
        <p:nvSpPr>
          <p:cNvPr id="14" name="TextBox 13"/>
          <p:cNvSpPr txBox="1"/>
          <p:nvPr/>
        </p:nvSpPr>
        <p:spPr>
          <a:xfrm>
            <a:off x="8092440" y="2770632"/>
            <a:ext cx="3749039" cy="184666"/>
          </a:xfrm>
          <a:prstGeom prst="rect">
            <a:avLst/>
          </a:prstGeom>
          <a:noFill/>
        </p:spPr>
        <p:txBody>
          <a:bodyPr wrap="square" lIns="0" tIns="0" rIns="0" bIns="0">
            <a:spAutoFit/>
          </a:bodyPr>
          <a:lstStyle/>
          <a:p>
            <a:pPr algn="r"/>
            <a:r>
              <a:rPr sz="1200" b="1" dirty="0">
                <a:solidFill>
                  <a:srgbClr val="000000"/>
                </a:solidFill>
                <a:latin typeface="Lato"/>
              </a:rPr>
              <a:t>CAGR  FY20 → FY27</a:t>
            </a:r>
          </a:p>
        </p:txBody>
      </p:sp>
      <p:sp>
        <p:nvSpPr>
          <p:cNvPr id="16" name="TextBox 15"/>
          <p:cNvSpPr txBox="1"/>
          <p:nvPr/>
        </p:nvSpPr>
        <p:spPr>
          <a:xfrm>
            <a:off x="8092440" y="3108960"/>
            <a:ext cx="2743200" cy="153888"/>
          </a:xfrm>
          <a:prstGeom prst="rect">
            <a:avLst/>
          </a:prstGeom>
          <a:noFill/>
        </p:spPr>
        <p:txBody>
          <a:bodyPr wrap="square" lIns="0" tIns="0" rIns="0" bIns="0" anchor="ctr">
            <a:spAutoFit/>
          </a:bodyPr>
          <a:lstStyle/>
          <a:p>
            <a:pPr algn="l"/>
            <a:r>
              <a:rPr sz="1000" b="0">
                <a:solidFill>
                  <a:srgbClr val="000000"/>
                </a:solidFill>
                <a:latin typeface="Lato"/>
              </a:rPr>
              <a:t>Externally funded  </a:t>
            </a:r>
            <a:r>
              <a:rPr sz="850" b="0">
                <a:solidFill>
                  <a:srgbClr val="000000"/>
                </a:solidFill>
                <a:latin typeface="Lato"/>
              </a:rPr>
              <a:t>(+110)</a:t>
            </a:r>
          </a:p>
        </p:txBody>
      </p:sp>
      <p:sp>
        <p:nvSpPr>
          <p:cNvPr id="17" name="TextBox 16"/>
          <p:cNvSpPr txBox="1"/>
          <p:nvPr/>
        </p:nvSpPr>
        <p:spPr>
          <a:xfrm>
            <a:off x="10881359" y="3044952"/>
            <a:ext cx="960120" cy="274320"/>
          </a:xfrm>
          <a:prstGeom prst="rect">
            <a:avLst/>
          </a:prstGeom>
          <a:noFill/>
        </p:spPr>
        <p:txBody>
          <a:bodyPr wrap="square" lIns="0" tIns="0" rIns="0" bIns="0" anchor="ctr">
            <a:spAutoFit/>
          </a:bodyPr>
          <a:lstStyle/>
          <a:p>
            <a:pPr algn="r"/>
            <a:r>
              <a:rPr sz="1100" b="1">
                <a:solidFill>
                  <a:srgbClr val="7F7F7F"/>
                </a:solidFill>
                <a:latin typeface="Lato"/>
              </a:rPr>
              <a:t>+9.9%</a:t>
            </a:r>
          </a:p>
        </p:txBody>
      </p:sp>
      <p:sp>
        <p:nvSpPr>
          <p:cNvPr id="19" name="TextBox 18"/>
          <p:cNvSpPr txBox="1"/>
          <p:nvPr/>
        </p:nvSpPr>
        <p:spPr>
          <a:xfrm>
            <a:off x="8092440" y="4023360"/>
            <a:ext cx="2743200" cy="153888"/>
          </a:xfrm>
          <a:prstGeom prst="rect">
            <a:avLst/>
          </a:prstGeom>
          <a:noFill/>
        </p:spPr>
        <p:txBody>
          <a:bodyPr wrap="square" lIns="0" tIns="0" rIns="0" bIns="0" anchor="ctr">
            <a:spAutoFit/>
          </a:bodyPr>
          <a:lstStyle/>
          <a:p>
            <a:pPr algn="l"/>
            <a:r>
              <a:rPr sz="1000" b="0" dirty="0">
                <a:solidFill>
                  <a:srgbClr val="000000"/>
                </a:solidFill>
                <a:latin typeface="Lato"/>
              </a:rPr>
              <a:t>London  </a:t>
            </a:r>
            <a:r>
              <a:rPr sz="850" b="0" dirty="0">
                <a:solidFill>
                  <a:srgbClr val="000000"/>
                </a:solidFill>
                <a:latin typeface="Lato"/>
              </a:rPr>
              <a:t>(+182)</a:t>
            </a:r>
          </a:p>
        </p:txBody>
      </p:sp>
      <p:sp>
        <p:nvSpPr>
          <p:cNvPr id="20" name="TextBox 19"/>
          <p:cNvSpPr txBox="1"/>
          <p:nvPr/>
        </p:nvSpPr>
        <p:spPr>
          <a:xfrm>
            <a:off x="10881359" y="3959352"/>
            <a:ext cx="960120" cy="274320"/>
          </a:xfrm>
          <a:prstGeom prst="rect">
            <a:avLst/>
          </a:prstGeom>
          <a:noFill/>
        </p:spPr>
        <p:txBody>
          <a:bodyPr wrap="square" lIns="0" tIns="0" rIns="0" bIns="0" anchor="ctr">
            <a:spAutoFit/>
          </a:bodyPr>
          <a:lstStyle/>
          <a:p>
            <a:pPr algn="r"/>
            <a:r>
              <a:rPr sz="1100" b="1">
                <a:solidFill>
                  <a:srgbClr val="9B9C9E"/>
                </a:solidFill>
                <a:latin typeface="Lato"/>
              </a:rPr>
              <a:t>n/a</a:t>
            </a:r>
          </a:p>
        </p:txBody>
      </p:sp>
      <p:sp>
        <p:nvSpPr>
          <p:cNvPr id="21" name="Rectangle 20"/>
          <p:cNvSpPr/>
          <p:nvPr/>
        </p:nvSpPr>
        <p:spPr>
          <a:xfrm>
            <a:off x="8092440" y="5202936"/>
            <a:ext cx="3749039" cy="1371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92440" y="5330951"/>
            <a:ext cx="2194560" cy="310896"/>
          </a:xfrm>
          <a:prstGeom prst="rect">
            <a:avLst/>
          </a:prstGeom>
          <a:noFill/>
        </p:spPr>
        <p:txBody>
          <a:bodyPr wrap="square" lIns="0" tIns="0" rIns="0" bIns="0" anchor="ctr">
            <a:spAutoFit/>
          </a:bodyPr>
          <a:lstStyle/>
          <a:p>
            <a:pPr algn="l"/>
            <a:r>
              <a:rPr sz="1250" b="1">
                <a:solidFill>
                  <a:srgbClr val="000000"/>
                </a:solidFill>
                <a:latin typeface="Lato"/>
              </a:rPr>
              <a:t>Total University</a:t>
            </a:r>
          </a:p>
        </p:txBody>
      </p:sp>
      <p:sp>
        <p:nvSpPr>
          <p:cNvPr id="23" name="Oval 22"/>
          <p:cNvSpPr/>
          <p:nvPr/>
        </p:nvSpPr>
        <p:spPr>
          <a:xfrm>
            <a:off x="11109959" y="5257799"/>
            <a:ext cx="932688" cy="457200"/>
          </a:xfrm>
          <a:prstGeom prst="ellipse">
            <a:avLst/>
          </a:prstGeom>
          <a:noFill/>
          <a:ln w="190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881359" y="5330951"/>
            <a:ext cx="960120" cy="310896"/>
          </a:xfrm>
          <a:prstGeom prst="rect">
            <a:avLst/>
          </a:prstGeom>
          <a:noFill/>
        </p:spPr>
        <p:txBody>
          <a:bodyPr wrap="square" lIns="0" tIns="0" rIns="0" bIns="0" anchor="ctr">
            <a:spAutoFit/>
          </a:bodyPr>
          <a:lstStyle/>
          <a:p>
            <a:pPr algn="r"/>
            <a:r>
              <a:rPr sz="1350" b="1">
                <a:solidFill>
                  <a:srgbClr val="C8102E"/>
                </a:solidFill>
                <a:latin typeface="Lato"/>
              </a:rPr>
              <a:t>+5.5%</a:t>
            </a:r>
          </a:p>
        </p:txBody>
      </p:sp>
      <p:sp>
        <p:nvSpPr>
          <p:cNvPr id="25" name="TextBox 24"/>
          <p:cNvSpPr txBox="1"/>
          <p:nvPr/>
        </p:nvSpPr>
        <p:spPr>
          <a:xfrm>
            <a:off x="8092440" y="5650992"/>
            <a:ext cx="3108960" cy="822960"/>
          </a:xfrm>
          <a:prstGeom prst="rect">
            <a:avLst/>
          </a:prstGeom>
          <a:noFill/>
        </p:spPr>
        <p:txBody>
          <a:bodyPr wrap="square" lIns="0" tIns="0" rIns="0" bIns="0">
            <a:spAutoFit/>
          </a:bodyPr>
          <a:lstStyle/>
          <a:p>
            <a:pPr algn="l">
              <a:lnSpc>
                <a:spcPct val="120000"/>
              </a:lnSpc>
              <a:spcAft>
                <a:spcPts val="500"/>
              </a:spcAft>
            </a:pPr>
            <a:r>
              <a:rPr sz="800" b="0">
                <a:solidFill>
                  <a:srgbClr val="49494D"/>
                </a:solidFill>
                <a:latin typeface="Lato"/>
              </a:rPr>
              <a:t>Externally funded = sponsored sources (Restricted and Research funds); internally funded = all other university sources.</a:t>
            </a:r>
          </a:p>
          <a:p>
            <a:pPr algn="l">
              <a:lnSpc>
                <a:spcPct val="120000"/>
              </a:lnSpc>
              <a:spcAft>
                <a:spcPts val="500"/>
              </a:spcAft>
            </a:pPr>
            <a:r>
              <a:rPr sz="800" b="0">
                <a:solidFill>
                  <a:srgbClr val="49494D"/>
                </a:solidFill>
                <a:latin typeface="Lato"/>
              </a:rPr>
              <a:t>Oakland and London are internally funded carve-outs; neither has a CAGR (zero FY20 base).</a:t>
            </a:r>
          </a:p>
        </p:txBody>
      </p:sp>
      <p:sp>
        <p:nvSpPr>
          <p:cNvPr id="38" name="Rectangle 37"/>
          <p:cNvSpPr/>
          <p:nvPr/>
        </p:nvSpPr>
        <p:spPr>
          <a:xfrm>
            <a:off x="9151620" y="1522476"/>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171432" y="1534668"/>
            <a:ext cx="2286000" cy="411480"/>
          </a:xfrm>
          <a:prstGeom prst="rect">
            <a:avLst/>
          </a:prstGeom>
          <a:noFill/>
        </p:spPr>
        <p:txBody>
          <a:bodyPr wrap="square" lIns="0" tIns="0" rIns="0" bIns="0">
            <a:spAutoFit/>
          </a:bodyPr>
          <a:lstStyle/>
          <a:p>
            <a:pPr algn="ctr"/>
            <a:r>
              <a:rPr sz="2600" b="1" dirty="0">
                <a:solidFill>
                  <a:srgbClr val="C8102E"/>
                </a:solidFill>
                <a:latin typeface="Lato"/>
              </a:rPr>
              <a:t>–312</a:t>
            </a:r>
          </a:p>
        </p:txBody>
      </p:sp>
      <p:sp>
        <p:nvSpPr>
          <p:cNvPr id="40" name="TextBox 39"/>
          <p:cNvSpPr txBox="1"/>
          <p:nvPr/>
        </p:nvSpPr>
        <p:spPr>
          <a:xfrm>
            <a:off x="9171432" y="1937004"/>
            <a:ext cx="2286000" cy="146194"/>
          </a:xfrm>
          <a:prstGeom prst="rect">
            <a:avLst/>
          </a:prstGeom>
          <a:noFill/>
        </p:spPr>
        <p:txBody>
          <a:bodyPr wrap="square" lIns="0" tIns="0" rIns="0" bIns="0">
            <a:spAutoFit/>
          </a:bodyPr>
          <a:lstStyle/>
          <a:p>
            <a:pPr algn="ctr"/>
            <a:r>
              <a:rPr sz="950" b="0">
                <a:solidFill>
                  <a:srgbClr val="49494D"/>
                </a:solidFill>
                <a:latin typeface="Lato"/>
              </a:rPr>
              <a:t>Change from FY26 peak of 4,491</a:t>
            </a:r>
          </a:p>
        </p:txBody>
      </p:sp>
      <p:graphicFrame>
        <p:nvGraphicFramePr>
          <p:cNvPr id="41" name="Chart 40" descr="Chart"/>
          <p:cNvGraphicFramePr>
            <a:graphicFrameLocks noGrp="1"/>
          </p:cNvGraphicFramePr>
          <p:nvPr>
            <p:extLst>
              <p:ext uri="{D42A27DB-BD31-4B8C-83A1-F6EECF244321}">
                <p14:modId xmlns:p14="http://schemas.microsoft.com/office/powerpoint/2010/main" val="1131560655"/>
              </p:ext>
            </p:extLst>
          </p:nvPr>
        </p:nvGraphicFramePr>
        <p:xfrm>
          <a:off x="411480" y="2788920"/>
          <a:ext cx="7498080" cy="3456432"/>
        </p:xfrm>
        <a:graphic>
          <a:graphicData uri="http://schemas.openxmlformats.org/drawingml/2006/chart">
            <c:chart xmlns:c="http://schemas.openxmlformats.org/drawingml/2006/chart" xmlns:r="http://schemas.openxmlformats.org/officeDocument/2006/relationships" r:id="rId3"/>
          </a:graphicData>
        </a:graphic>
      </p:graphicFrame>
      <p:sp>
        <p:nvSpPr>
          <p:cNvPr id="42" name="TextBox 41"/>
          <p:cNvSpPr txBox="1"/>
          <p:nvPr/>
        </p:nvSpPr>
        <p:spPr>
          <a:xfrm>
            <a:off x="8092440" y="4480560"/>
            <a:ext cx="2743200" cy="153888"/>
          </a:xfrm>
          <a:prstGeom prst="rect">
            <a:avLst/>
          </a:prstGeom>
          <a:noFill/>
        </p:spPr>
        <p:txBody>
          <a:bodyPr wrap="square" lIns="0" tIns="0" rIns="0" bIns="0" anchor="ctr">
            <a:spAutoFit/>
          </a:bodyPr>
          <a:lstStyle/>
          <a:p>
            <a:pPr algn="l"/>
            <a:r>
              <a:rPr sz="1000" b="0">
                <a:solidFill>
                  <a:srgbClr val="000000"/>
                </a:solidFill>
                <a:latin typeface="Lato"/>
              </a:rPr>
              <a:t>Internally funded, all other  </a:t>
            </a:r>
            <a:r>
              <a:rPr sz="850" b="0">
                <a:solidFill>
                  <a:srgbClr val="000000"/>
                </a:solidFill>
                <a:latin typeface="Lato"/>
              </a:rPr>
              <a:t>(+802)</a:t>
            </a:r>
          </a:p>
        </p:txBody>
      </p:sp>
      <p:sp>
        <p:nvSpPr>
          <p:cNvPr id="43" name="TextBox 42"/>
          <p:cNvSpPr txBox="1"/>
          <p:nvPr/>
        </p:nvSpPr>
        <p:spPr>
          <a:xfrm>
            <a:off x="10881360" y="4416552"/>
            <a:ext cx="960120" cy="274320"/>
          </a:xfrm>
          <a:prstGeom prst="rect">
            <a:avLst/>
          </a:prstGeom>
          <a:noFill/>
        </p:spPr>
        <p:txBody>
          <a:bodyPr wrap="square" lIns="0" tIns="0" rIns="0" bIns="0" anchor="ctr">
            <a:spAutoFit/>
          </a:bodyPr>
          <a:lstStyle/>
          <a:p>
            <a:pPr algn="r"/>
            <a:r>
              <a:rPr sz="1100" b="1">
                <a:solidFill>
                  <a:srgbClr val="7F7F7F"/>
                </a:solidFill>
                <a:latin typeface="Lato"/>
              </a:rPr>
              <a:t>+3.7%</a:t>
            </a:r>
          </a:p>
        </p:txBody>
      </p:sp>
      <p:sp>
        <p:nvSpPr>
          <p:cNvPr id="15" name="TextBox 14">
            <a:extLst>
              <a:ext uri="{FF2B5EF4-FFF2-40B4-BE49-F238E27FC236}">
                <a16:creationId xmlns:a16="http://schemas.microsoft.com/office/drawing/2014/main" id="{A783F1D6-CF1A-D3BE-0156-8D9DD7F21ADD}"/>
              </a:ext>
            </a:extLst>
          </p:cNvPr>
          <p:cNvSpPr txBox="1"/>
          <p:nvPr/>
        </p:nvSpPr>
        <p:spPr>
          <a:xfrm>
            <a:off x="1029329" y="5541264"/>
            <a:ext cx="877824" cy="237744"/>
          </a:xfrm>
          <a:prstGeom prst="rect">
            <a:avLst/>
          </a:prstGeom>
          <a:noFill/>
        </p:spPr>
        <p:txBody>
          <a:bodyPr wrap="square" lIns="0" tIns="0" rIns="0" bIns="0">
            <a:spAutoFit/>
          </a:bodyPr>
          <a:lstStyle/>
          <a:p>
            <a:pPr algn="ctr"/>
            <a:r>
              <a:rPr sz="900" b="1">
                <a:solidFill>
                  <a:srgbClr val="C8102E"/>
                </a:solidFill>
                <a:latin typeface="Lato"/>
              </a:rPr>
              <a:t>117</a:t>
            </a:r>
            <a:r>
              <a:rPr sz="800" b="0">
                <a:solidFill>
                  <a:srgbClr val="C8102E"/>
                </a:solidFill>
                <a:latin typeface="Lato"/>
              </a:rPr>
              <a:t>  (4.1%)</a:t>
            </a:r>
          </a:p>
        </p:txBody>
      </p:sp>
      <p:sp>
        <p:nvSpPr>
          <p:cNvPr id="47" name="TextBox 46">
            <a:extLst>
              <a:ext uri="{FF2B5EF4-FFF2-40B4-BE49-F238E27FC236}">
                <a16:creationId xmlns:a16="http://schemas.microsoft.com/office/drawing/2014/main" id="{DA47551C-3A16-B4B9-BE1C-E08143A59BF3}"/>
              </a:ext>
            </a:extLst>
          </p:cNvPr>
          <p:cNvSpPr txBox="1"/>
          <p:nvPr/>
        </p:nvSpPr>
        <p:spPr>
          <a:xfrm>
            <a:off x="1868176" y="5541264"/>
            <a:ext cx="877824" cy="237744"/>
          </a:xfrm>
          <a:prstGeom prst="rect">
            <a:avLst/>
          </a:prstGeom>
          <a:noFill/>
        </p:spPr>
        <p:txBody>
          <a:bodyPr wrap="square" lIns="0" tIns="0" rIns="0" bIns="0">
            <a:spAutoFit/>
          </a:bodyPr>
          <a:lstStyle/>
          <a:p>
            <a:pPr algn="ctr"/>
            <a:r>
              <a:rPr sz="900" b="1">
                <a:solidFill>
                  <a:srgbClr val="C8102E"/>
                </a:solidFill>
                <a:latin typeface="Lato"/>
              </a:rPr>
              <a:t>124</a:t>
            </a:r>
            <a:r>
              <a:rPr sz="800" b="0">
                <a:solidFill>
                  <a:srgbClr val="C8102E"/>
                </a:solidFill>
                <a:latin typeface="Lato"/>
              </a:rPr>
              <a:t>  (4.1%)</a:t>
            </a:r>
          </a:p>
        </p:txBody>
      </p:sp>
      <p:sp>
        <p:nvSpPr>
          <p:cNvPr id="49" name="TextBox 48">
            <a:extLst>
              <a:ext uri="{FF2B5EF4-FFF2-40B4-BE49-F238E27FC236}">
                <a16:creationId xmlns:a16="http://schemas.microsoft.com/office/drawing/2014/main" id="{764DC129-7D06-0473-A067-5DC8D3298DA2}"/>
              </a:ext>
            </a:extLst>
          </p:cNvPr>
          <p:cNvSpPr txBox="1"/>
          <p:nvPr/>
        </p:nvSpPr>
        <p:spPr>
          <a:xfrm>
            <a:off x="2707024" y="5541264"/>
            <a:ext cx="877824" cy="237744"/>
          </a:xfrm>
          <a:prstGeom prst="rect">
            <a:avLst/>
          </a:prstGeom>
          <a:noFill/>
        </p:spPr>
        <p:txBody>
          <a:bodyPr wrap="square" lIns="0" tIns="0" rIns="0" bIns="0">
            <a:spAutoFit/>
          </a:bodyPr>
          <a:lstStyle/>
          <a:p>
            <a:pPr algn="ctr"/>
            <a:r>
              <a:rPr sz="900" b="1">
                <a:solidFill>
                  <a:srgbClr val="C8102E"/>
                </a:solidFill>
                <a:latin typeface="Lato"/>
              </a:rPr>
              <a:t>124</a:t>
            </a:r>
            <a:r>
              <a:rPr sz="800" b="0">
                <a:solidFill>
                  <a:srgbClr val="C8102E"/>
                </a:solidFill>
                <a:latin typeface="Lato"/>
              </a:rPr>
              <a:t>  (4.0%)</a:t>
            </a:r>
          </a:p>
        </p:txBody>
      </p:sp>
      <p:sp>
        <p:nvSpPr>
          <p:cNvPr id="51" name="TextBox 50">
            <a:extLst>
              <a:ext uri="{FF2B5EF4-FFF2-40B4-BE49-F238E27FC236}">
                <a16:creationId xmlns:a16="http://schemas.microsoft.com/office/drawing/2014/main" id="{7744C945-C45B-2694-ADE1-E3C73F16C3AB}"/>
              </a:ext>
            </a:extLst>
          </p:cNvPr>
          <p:cNvSpPr txBox="1"/>
          <p:nvPr/>
        </p:nvSpPr>
        <p:spPr>
          <a:xfrm>
            <a:off x="3545872" y="5541264"/>
            <a:ext cx="877824" cy="237744"/>
          </a:xfrm>
          <a:prstGeom prst="rect">
            <a:avLst/>
          </a:prstGeom>
          <a:noFill/>
        </p:spPr>
        <p:txBody>
          <a:bodyPr wrap="square" lIns="0" tIns="0" rIns="0" bIns="0">
            <a:spAutoFit/>
          </a:bodyPr>
          <a:lstStyle/>
          <a:p>
            <a:pPr algn="ctr"/>
            <a:r>
              <a:rPr sz="900" b="1">
                <a:solidFill>
                  <a:srgbClr val="C8102E"/>
                </a:solidFill>
                <a:latin typeface="Lato"/>
              </a:rPr>
              <a:t>145</a:t>
            </a:r>
            <a:r>
              <a:rPr sz="800" b="0">
                <a:solidFill>
                  <a:srgbClr val="C8102E"/>
                </a:solidFill>
                <a:latin typeface="Lato"/>
              </a:rPr>
              <a:t>  (4.0%)</a:t>
            </a:r>
          </a:p>
        </p:txBody>
      </p:sp>
      <p:sp>
        <p:nvSpPr>
          <p:cNvPr id="53" name="TextBox 52">
            <a:extLst>
              <a:ext uri="{FF2B5EF4-FFF2-40B4-BE49-F238E27FC236}">
                <a16:creationId xmlns:a16="http://schemas.microsoft.com/office/drawing/2014/main" id="{06D4D450-F63D-EACB-340D-BE2A749DC5C7}"/>
              </a:ext>
            </a:extLst>
          </p:cNvPr>
          <p:cNvSpPr txBox="1"/>
          <p:nvPr/>
        </p:nvSpPr>
        <p:spPr>
          <a:xfrm>
            <a:off x="4384719" y="5541264"/>
            <a:ext cx="877824" cy="237744"/>
          </a:xfrm>
          <a:prstGeom prst="rect">
            <a:avLst/>
          </a:prstGeom>
          <a:noFill/>
        </p:spPr>
        <p:txBody>
          <a:bodyPr wrap="square" lIns="0" tIns="0" rIns="0" bIns="0">
            <a:spAutoFit/>
          </a:bodyPr>
          <a:lstStyle/>
          <a:p>
            <a:pPr algn="ctr"/>
            <a:r>
              <a:rPr sz="900" b="1">
                <a:solidFill>
                  <a:srgbClr val="C8102E"/>
                </a:solidFill>
                <a:latin typeface="Lato"/>
              </a:rPr>
              <a:t>176</a:t>
            </a:r>
            <a:r>
              <a:rPr sz="800" b="0">
                <a:solidFill>
                  <a:srgbClr val="C8102E"/>
                </a:solidFill>
                <a:latin typeface="Lato"/>
              </a:rPr>
              <a:t>  (4.1%)</a:t>
            </a:r>
          </a:p>
        </p:txBody>
      </p:sp>
      <p:sp>
        <p:nvSpPr>
          <p:cNvPr id="55" name="TextBox 54">
            <a:extLst>
              <a:ext uri="{FF2B5EF4-FFF2-40B4-BE49-F238E27FC236}">
                <a16:creationId xmlns:a16="http://schemas.microsoft.com/office/drawing/2014/main" id="{7AF2F221-2A4A-17DE-DBD1-F2F133A5F525}"/>
              </a:ext>
            </a:extLst>
          </p:cNvPr>
          <p:cNvSpPr txBox="1"/>
          <p:nvPr/>
        </p:nvSpPr>
        <p:spPr>
          <a:xfrm>
            <a:off x="5223567" y="5541264"/>
            <a:ext cx="877824" cy="237744"/>
          </a:xfrm>
          <a:prstGeom prst="rect">
            <a:avLst/>
          </a:prstGeom>
          <a:noFill/>
        </p:spPr>
        <p:txBody>
          <a:bodyPr wrap="square" lIns="0" tIns="0" rIns="0" bIns="0">
            <a:spAutoFit/>
          </a:bodyPr>
          <a:lstStyle/>
          <a:p>
            <a:pPr algn="ctr"/>
            <a:r>
              <a:rPr sz="900" b="1">
                <a:solidFill>
                  <a:srgbClr val="C8102E"/>
                </a:solidFill>
                <a:latin typeface="Lato"/>
              </a:rPr>
              <a:t>227</a:t>
            </a:r>
            <a:r>
              <a:rPr sz="800" b="0">
                <a:solidFill>
                  <a:srgbClr val="C8102E"/>
                </a:solidFill>
                <a:latin typeface="Lato"/>
              </a:rPr>
              <a:t>  (5.1%)</a:t>
            </a:r>
          </a:p>
        </p:txBody>
      </p:sp>
      <p:sp>
        <p:nvSpPr>
          <p:cNvPr id="57" name="TextBox 56">
            <a:extLst>
              <a:ext uri="{FF2B5EF4-FFF2-40B4-BE49-F238E27FC236}">
                <a16:creationId xmlns:a16="http://schemas.microsoft.com/office/drawing/2014/main" id="{77FB59F7-2E9A-4D03-2F6E-D81DC92F3033}"/>
              </a:ext>
            </a:extLst>
          </p:cNvPr>
          <p:cNvSpPr txBox="1"/>
          <p:nvPr/>
        </p:nvSpPr>
        <p:spPr>
          <a:xfrm>
            <a:off x="6062415" y="5541264"/>
            <a:ext cx="877824" cy="237744"/>
          </a:xfrm>
          <a:prstGeom prst="rect">
            <a:avLst/>
          </a:prstGeom>
          <a:noFill/>
        </p:spPr>
        <p:txBody>
          <a:bodyPr wrap="square" lIns="0" tIns="0" rIns="0" bIns="0">
            <a:spAutoFit/>
          </a:bodyPr>
          <a:lstStyle/>
          <a:p>
            <a:pPr algn="ctr"/>
            <a:r>
              <a:rPr sz="900" b="1">
                <a:solidFill>
                  <a:srgbClr val="C8102E"/>
                </a:solidFill>
                <a:latin typeface="Lato"/>
              </a:rPr>
              <a:t>217</a:t>
            </a:r>
            <a:r>
              <a:rPr sz="800" b="0">
                <a:solidFill>
                  <a:srgbClr val="C8102E"/>
                </a:solidFill>
                <a:latin typeface="Lato"/>
              </a:rPr>
              <a:t>  (4.8%)</a:t>
            </a:r>
          </a:p>
        </p:txBody>
      </p:sp>
      <p:sp>
        <p:nvSpPr>
          <p:cNvPr id="59" name="TextBox 58">
            <a:extLst>
              <a:ext uri="{FF2B5EF4-FFF2-40B4-BE49-F238E27FC236}">
                <a16:creationId xmlns:a16="http://schemas.microsoft.com/office/drawing/2014/main" id="{F25A2190-BC22-58E4-CE0D-BEC15DD50841}"/>
              </a:ext>
            </a:extLst>
          </p:cNvPr>
          <p:cNvSpPr txBox="1"/>
          <p:nvPr/>
        </p:nvSpPr>
        <p:spPr>
          <a:xfrm>
            <a:off x="6901263" y="5541264"/>
            <a:ext cx="877824" cy="237744"/>
          </a:xfrm>
          <a:prstGeom prst="rect">
            <a:avLst/>
          </a:prstGeom>
          <a:noFill/>
        </p:spPr>
        <p:txBody>
          <a:bodyPr wrap="square" lIns="0" tIns="0" rIns="0" bIns="0">
            <a:spAutoFit/>
          </a:bodyPr>
          <a:lstStyle/>
          <a:p>
            <a:pPr algn="ctr"/>
            <a:r>
              <a:rPr sz="900" b="1">
                <a:solidFill>
                  <a:srgbClr val="C8102E"/>
                </a:solidFill>
                <a:latin typeface="Lato"/>
              </a:rPr>
              <a:t>227</a:t>
            </a:r>
            <a:r>
              <a:rPr sz="800" b="0">
                <a:solidFill>
                  <a:srgbClr val="C8102E"/>
                </a:solidFill>
                <a:latin typeface="Lato"/>
              </a:rPr>
              <a:t>  (5.4%)</a:t>
            </a:r>
          </a:p>
        </p:txBody>
      </p:sp>
      <p:sp>
        <p:nvSpPr>
          <p:cNvPr id="61" name="TextBox 60">
            <a:extLst>
              <a:ext uri="{FF2B5EF4-FFF2-40B4-BE49-F238E27FC236}">
                <a16:creationId xmlns:a16="http://schemas.microsoft.com/office/drawing/2014/main" id="{EA2AADC3-3057-E67D-910E-A994E953A7B1}"/>
              </a:ext>
            </a:extLst>
          </p:cNvPr>
          <p:cNvSpPr txBox="1"/>
          <p:nvPr/>
        </p:nvSpPr>
        <p:spPr>
          <a:xfrm>
            <a:off x="365760" y="5541264"/>
            <a:ext cx="612648" cy="237744"/>
          </a:xfrm>
          <a:prstGeom prst="rect">
            <a:avLst/>
          </a:prstGeom>
          <a:noFill/>
        </p:spPr>
        <p:txBody>
          <a:bodyPr wrap="square" lIns="0" tIns="0" rIns="0" bIns="0">
            <a:spAutoFit/>
          </a:bodyPr>
          <a:lstStyle/>
          <a:p>
            <a:pPr algn="r">
              <a:lnSpc>
                <a:spcPct val="105000"/>
              </a:lnSpc>
            </a:pPr>
            <a:r>
              <a:rPr sz="700" b="0" dirty="0">
                <a:solidFill>
                  <a:srgbClr val="C8102E"/>
                </a:solidFill>
                <a:latin typeface="Lato"/>
              </a:rPr>
              <a:t>externally
funded</a:t>
            </a:r>
          </a:p>
        </p:txBody>
      </p:sp>
      <p:sp>
        <p:nvSpPr>
          <p:cNvPr id="63" name="Rectangle 62">
            <a:extLst>
              <a:ext uri="{FF2B5EF4-FFF2-40B4-BE49-F238E27FC236}">
                <a16:creationId xmlns:a16="http://schemas.microsoft.com/office/drawing/2014/main" id="{02A5F1C8-0C0F-7E3B-E693-5994788C3098}"/>
              </a:ext>
            </a:extLst>
          </p:cNvPr>
          <p:cNvSpPr/>
          <p:nvPr/>
        </p:nvSpPr>
        <p:spPr>
          <a:xfrm>
            <a:off x="647700" y="1485900"/>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a:extLst>
              <a:ext uri="{FF2B5EF4-FFF2-40B4-BE49-F238E27FC236}">
                <a16:creationId xmlns:a16="http://schemas.microsoft.com/office/drawing/2014/main" id="{DE90DC62-EE15-C944-E08F-365623436D07}"/>
              </a:ext>
            </a:extLst>
          </p:cNvPr>
          <p:cNvSpPr txBox="1"/>
          <p:nvPr/>
        </p:nvSpPr>
        <p:spPr>
          <a:xfrm>
            <a:off x="667512" y="1498092"/>
            <a:ext cx="2276856" cy="411480"/>
          </a:xfrm>
          <a:prstGeom prst="rect">
            <a:avLst/>
          </a:prstGeom>
          <a:noFill/>
        </p:spPr>
        <p:txBody>
          <a:bodyPr wrap="square" lIns="0" tIns="0" rIns="0" bIns="0">
            <a:spAutoFit/>
          </a:bodyPr>
          <a:lstStyle/>
          <a:p>
            <a:pPr algn="ctr"/>
            <a:r>
              <a:rPr sz="2600" b="1">
                <a:solidFill>
                  <a:srgbClr val="000000"/>
                </a:solidFill>
                <a:latin typeface="Lato"/>
              </a:rPr>
              <a:t>+1,312</a:t>
            </a:r>
          </a:p>
        </p:txBody>
      </p:sp>
      <p:sp>
        <p:nvSpPr>
          <p:cNvPr id="67" name="TextBox 66">
            <a:extLst>
              <a:ext uri="{FF2B5EF4-FFF2-40B4-BE49-F238E27FC236}">
                <a16:creationId xmlns:a16="http://schemas.microsoft.com/office/drawing/2014/main" id="{52FEE99B-BA8B-1391-F5A3-54516D9500A1}"/>
              </a:ext>
            </a:extLst>
          </p:cNvPr>
          <p:cNvSpPr txBox="1"/>
          <p:nvPr/>
        </p:nvSpPr>
        <p:spPr>
          <a:xfrm>
            <a:off x="667512" y="1900428"/>
            <a:ext cx="2276856" cy="146194"/>
          </a:xfrm>
          <a:prstGeom prst="rect">
            <a:avLst/>
          </a:prstGeom>
          <a:noFill/>
        </p:spPr>
        <p:txBody>
          <a:bodyPr wrap="square" lIns="0" tIns="0" rIns="0" bIns="0">
            <a:spAutoFit/>
          </a:bodyPr>
          <a:lstStyle/>
          <a:p>
            <a:pPr algn="ctr"/>
            <a:r>
              <a:rPr sz="950" b="0">
                <a:solidFill>
                  <a:srgbClr val="49494D"/>
                </a:solidFill>
                <a:latin typeface="Lato"/>
              </a:rPr>
              <a:t>Total FTE added since FY20 (+46%)</a:t>
            </a:r>
          </a:p>
        </p:txBody>
      </p:sp>
      <p:sp>
        <p:nvSpPr>
          <p:cNvPr id="69" name="Rectangle 68">
            <a:extLst>
              <a:ext uri="{FF2B5EF4-FFF2-40B4-BE49-F238E27FC236}">
                <a16:creationId xmlns:a16="http://schemas.microsoft.com/office/drawing/2014/main" id="{E310338A-9FDC-F80D-609B-5C8017F933CE}"/>
              </a:ext>
            </a:extLst>
          </p:cNvPr>
          <p:cNvSpPr/>
          <p:nvPr/>
        </p:nvSpPr>
        <p:spPr>
          <a:xfrm>
            <a:off x="3482340" y="1485899"/>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a:extLst>
              <a:ext uri="{FF2B5EF4-FFF2-40B4-BE49-F238E27FC236}">
                <a16:creationId xmlns:a16="http://schemas.microsoft.com/office/drawing/2014/main" id="{78ADF9F1-F3BD-080E-12A9-AB5689F59D98}"/>
              </a:ext>
            </a:extLst>
          </p:cNvPr>
          <p:cNvSpPr txBox="1"/>
          <p:nvPr/>
        </p:nvSpPr>
        <p:spPr>
          <a:xfrm>
            <a:off x="3502152" y="1498091"/>
            <a:ext cx="2276856" cy="411480"/>
          </a:xfrm>
          <a:prstGeom prst="rect">
            <a:avLst/>
          </a:prstGeom>
          <a:noFill/>
        </p:spPr>
        <p:txBody>
          <a:bodyPr wrap="square" lIns="0" tIns="0" rIns="0" bIns="0">
            <a:spAutoFit/>
          </a:bodyPr>
          <a:lstStyle/>
          <a:p>
            <a:pPr algn="ctr"/>
            <a:r>
              <a:rPr sz="2600" b="1">
                <a:solidFill>
                  <a:srgbClr val="000000"/>
                </a:solidFill>
                <a:latin typeface="Lato"/>
              </a:rPr>
              <a:t>+1,202</a:t>
            </a:r>
          </a:p>
        </p:txBody>
      </p:sp>
      <p:sp>
        <p:nvSpPr>
          <p:cNvPr id="73" name="TextBox 72">
            <a:extLst>
              <a:ext uri="{FF2B5EF4-FFF2-40B4-BE49-F238E27FC236}">
                <a16:creationId xmlns:a16="http://schemas.microsoft.com/office/drawing/2014/main" id="{73153D05-695E-D2A4-1B82-6A75212919CC}"/>
              </a:ext>
            </a:extLst>
          </p:cNvPr>
          <p:cNvSpPr txBox="1"/>
          <p:nvPr/>
        </p:nvSpPr>
        <p:spPr>
          <a:xfrm>
            <a:off x="3502152" y="1900427"/>
            <a:ext cx="2276856" cy="146194"/>
          </a:xfrm>
          <a:prstGeom prst="rect">
            <a:avLst/>
          </a:prstGeom>
          <a:noFill/>
        </p:spPr>
        <p:txBody>
          <a:bodyPr wrap="square" lIns="0" tIns="0" rIns="0" bIns="0">
            <a:spAutoFit/>
          </a:bodyPr>
          <a:lstStyle/>
          <a:p>
            <a:pPr algn="ctr"/>
            <a:r>
              <a:rPr sz="950" b="0">
                <a:solidFill>
                  <a:srgbClr val="49494D"/>
                </a:solidFill>
                <a:latin typeface="Lato"/>
              </a:rPr>
              <a:t>Internally funded adds — 92% of growth</a:t>
            </a:r>
          </a:p>
        </p:txBody>
      </p:sp>
      <p:sp>
        <p:nvSpPr>
          <p:cNvPr id="75" name="Rectangle 74">
            <a:extLst>
              <a:ext uri="{FF2B5EF4-FFF2-40B4-BE49-F238E27FC236}">
                <a16:creationId xmlns:a16="http://schemas.microsoft.com/office/drawing/2014/main" id="{200080B4-C01E-6309-1241-69793BDFB00C}"/>
              </a:ext>
            </a:extLst>
          </p:cNvPr>
          <p:cNvSpPr/>
          <p:nvPr/>
        </p:nvSpPr>
        <p:spPr>
          <a:xfrm>
            <a:off x="6316980" y="1485899"/>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a:extLst>
              <a:ext uri="{FF2B5EF4-FFF2-40B4-BE49-F238E27FC236}">
                <a16:creationId xmlns:a16="http://schemas.microsoft.com/office/drawing/2014/main" id="{C6D953A2-9053-4752-9014-6A9481B3E3B0}"/>
              </a:ext>
            </a:extLst>
          </p:cNvPr>
          <p:cNvSpPr txBox="1"/>
          <p:nvPr/>
        </p:nvSpPr>
        <p:spPr>
          <a:xfrm>
            <a:off x="6336792" y="1498091"/>
            <a:ext cx="2276856" cy="411480"/>
          </a:xfrm>
          <a:prstGeom prst="rect">
            <a:avLst/>
          </a:prstGeom>
          <a:noFill/>
        </p:spPr>
        <p:txBody>
          <a:bodyPr wrap="square" lIns="0" tIns="0" rIns="0" bIns="0">
            <a:spAutoFit/>
          </a:bodyPr>
          <a:lstStyle/>
          <a:p>
            <a:pPr algn="ctr"/>
            <a:r>
              <a:rPr sz="2600" b="1">
                <a:solidFill>
                  <a:srgbClr val="000000"/>
                </a:solidFill>
                <a:latin typeface="Lato"/>
              </a:rPr>
              <a:t>+110</a:t>
            </a:r>
          </a:p>
        </p:txBody>
      </p:sp>
      <p:sp>
        <p:nvSpPr>
          <p:cNvPr id="79" name="TextBox 78">
            <a:extLst>
              <a:ext uri="{FF2B5EF4-FFF2-40B4-BE49-F238E27FC236}">
                <a16:creationId xmlns:a16="http://schemas.microsoft.com/office/drawing/2014/main" id="{B0D8BCDC-E12B-2BEB-5A88-26569E8AC2AF}"/>
              </a:ext>
            </a:extLst>
          </p:cNvPr>
          <p:cNvSpPr txBox="1"/>
          <p:nvPr/>
        </p:nvSpPr>
        <p:spPr>
          <a:xfrm>
            <a:off x="6336792" y="1900427"/>
            <a:ext cx="2276856" cy="146194"/>
          </a:xfrm>
          <a:prstGeom prst="rect">
            <a:avLst/>
          </a:prstGeom>
          <a:noFill/>
        </p:spPr>
        <p:txBody>
          <a:bodyPr wrap="square" lIns="0" tIns="0" rIns="0" bIns="0">
            <a:spAutoFit/>
          </a:bodyPr>
          <a:lstStyle/>
          <a:p>
            <a:pPr algn="ctr"/>
            <a:r>
              <a:rPr sz="950" b="0">
                <a:solidFill>
                  <a:srgbClr val="49494D"/>
                </a:solidFill>
                <a:latin typeface="Lato"/>
              </a:rPr>
              <a:t>Externally funded adds — 8% of growth</a:t>
            </a:r>
          </a:p>
        </p:txBody>
      </p:sp>
      <p:pic>
        <p:nvPicPr>
          <p:cNvPr id="18" name="Picture 17">
            <a:extLst>
              <a:ext uri="{FF2B5EF4-FFF2-40B4-BE49-F238E27FC236}">
                <a16:creationId xmlns:a16="http://schemas.microsoft.com/office/drawing/2014/main" id="{DE6E69CF-953B-6810-771E-E20AAF6D4379}"/>
              </a:ext>
            </a:extLst>
          </p:cNvPr>
          <p:cNvPicPr>
            <a:picLocks noChangeAspect="1"/>
          </p:cNvPicPr>
          <p:nvPr/>
        </p:nvPicPr>
        <p:blipFill>
          <a:blip r:embed="rId4"/>
          <a:stretch>
            <a:fillRect/>
          </a:stretch>
        </p:blipFill>
        <p:spPr>
          <a:xfrm>
            <a:off x="2823866" y="2735988"/>
            <a:ext cx="661163" cy="756206"/>
          </a:xfrm>
          <a:prstGeom prst="rect">
            <a:avLst/>
          </a:prstGeom>
        </p:spPr>
      </p:pic>
      <p:pic>
        <p:nvPicPr>
          <p:cNvPr id="30" name="Picture 29">
            <a:extLst>
              <a:ext uri="{FF2B5EF4-FFF2-40B4-BE49-F238E27FC236}">
                <a16:creationId xmlns:a16="http://schemas.microsoft.com/office/drawing/2014/main" id="{513C6261-CF63-DAD5-394D-B243978AC610}"/>
              </a:ext>
            </a:extLst>
          </p:cNvPr>
          <p:cNvPicPr>
            <a:picLocks noChangeAspect="1"/>
          </p:cNvPicPr>
          <p:nvPr/>
        </p:nvPicPr>
        <p:blipFill>
          <a:blip r:embed="rId5"/>
          <a:stretch>
            <a:fillRect/>
          </a:stretch>
        </p:blipFill>
        <p:spPr>
          <a:xfrm>
            <a:off x="5396737" y="2207595"/>
            <a:ext cx="661163" cy="756206"/>
          </a:xfrm>
          <a:prstGeom prst="rect">
            <a:avLst/>
          </a:prstGeom>
        </p:spPr>
      </p:pic>
      <p:sp>
        <p:nvSpPr>
          <p:cNvPr id="5" name="Right Brace 4">
            <a:extLst>
              <a:ext uri="{FF2B5EF4-FFF2-40B4-BE49-F238E27FC236}">
                <a16:creationId xmlns:a16="http://schemas.microsoft.com/office/drawing/2014/main" id="{AFE40440-26EA-1B38-F9DE-8DD49E9D513F}"/>
              </a:ext>
            </a:extLst>
          </p:cNvPr>
          <p:cNvSpPr/>
          <p:nvPr/>
        </p:nvSpPr>
        <p:spPr>
          <a:xfrm>
            <a:off x="9831557" y="3009381"/>
            <a:ext cx="386143" cy="1671452"/>
          </a:xfrm>
          <a:prstGeom prst="rightBrace">
            <a:avLst>
              <a:gd name="adj1" fmla="val 35467"/>
              <a:gd name="adj2" fmla="val 50000"/>
            </a:avLst>
          </a:prstGeom>
          <a:ln>
            <a:solidFill>
              <a:srgbClr val="0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9" name="TextBox 28">
            <a:extLst>
              <a:ext uri="{FF2B5EF4-FFF2-40B4-BE49-F238E27FC236}">
                <a16:creationId xmlns:a16="http://schemas.microsoft.com/office/drawing/2014/main" id="{B68D413F-78F1-60EF-FBC1-16EC7975EE5D}"/>
              </a:ext>
            </a:extLst>
          </p:cNvPr>
          <p:cNvSpPr txBox="1"/>
          <p:nvPr/>
        </p:nvSpPr>
        <p:spPr>
          <a:xfrm>
            <a:off x="9961814" y="3525655"/>
            <a:ext cx="1417320" cy="461665"/>
          </a:xfrm>
          <a:prstGeom prst="rect">
            <a:avLst/>
          </a:prstGeom>
          <a:noFill/>
        </p:spPr>
        <p:txBody>
          <a:bodyPr wrap="square" rtlCol="0">
            <a:spAutoFit/>
          </a:bodyPr>
          <a:lstStyle/>
          <a:p>
            <a:pPr algn="ctr"/>
            <a:r>
              <a:rPr lang="en-US" sz="1200" b="1" dirty="0">
                <a:solidFill>
                  <a:srgbClr val="000000"/>
                </a:solidFill>
              </a:rPr>
              <a:t>46%   growth since FY20</a:t>
            </a:r>
          </a:p>
        </p:txBody>
      </p:sp>
      <p:sp>
        <p:nvSpPr>
          <p:cNvPr id="32" name="Oval 31">
            <a:extLst>
              <a:ext uri="{FF2B5EF4-FFF2-40B4-BE49-F238E27FC236}">
                <a16:creationId xmlns:a16="http://schemas.microsoft.com/office/drawing/2014/main" id="{BCCF537C-61B8-74C3-1CA8-1CCF3B6798C5}"/>
              </a:ext>
            </a:extLst>
          </p:cNvPr>
          <p:cNvSpPr/>
          <p:nvPr/>
        </p:nvSpPr>
        <p:spPr>
          <a:xfrm>
            <a:off x="10134297" y="3553087"/>
            <a:ext cx="448056" cy="242316"/>
          </a:xfrm>
          <a:prstGeom prst="ellipse">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a:extLst>
              <a:ext uri="{FF2B5EF4-FFF2-40B4-BE49-F238E27FC236}">
                <a16:creationId xmlns:a16="http://schemas.microsoft.com/office/drawing/2014/main" id="{86089919-7ABE-E8DA-2FB0-17EDAB8F8A64}"/>
              </a:ext>
            </a:extLst>
          </p:cNvPr>
          <p:cNvSpPr txBox="1"/>
          <p:nvPr/>
        </p:nvSpPr>
        <p:spPr>
          <a:xfrm>
            <a:off x="10517958" y="45510"/>
            <a:ext cx="1213794" cy="246221"/>
          </a:xfrm>
          <a:prstGeom prst="rect">
            <a:avLst/>
          </a:prstGeom>
          <a:solidFill>
            <a:schemeClr val="bg1">
              <a:lumMod val="75000"/>
              <a:lumOff val="25000"/>
            </a:schemeClr>
          </a:solidFill>
          <a:ln>
            <a:solidFill>
              <a:schemeClr val="bg1"/>
            </a:solidFill>
          </a:ln>
        </p:spPr>
        <p:txBody>
          <a:bodyPr wrap="none" rtlCol="0">
            <a:spAutoFit/>
          </a:bodyPr>
          <a:lstStyle/>
          <a:p>
            <a:pPr algn="r"/>
            <a:r>
              <a:rPr lang="en-US" sz="1000" b="1" dirty="0"/>
              <a:t>By funding source</a:t>
            </a:r>
          </a:p>
        </p:txBody>
      </p:sp>
      <p:sp>
        <p:nvSpPr>
          <p:cNvPr id="31" name="TextBox 18"/>
          <p:cNvSpPr txBox="1"/>
          <p:nvPr/>
        </p:nvSpPr>
        <p:spPr>
          <a:xfrm>
            <a:off x="8092440" y="3809256"/>
            <a:ext cx="2743200" cy="153888"/>
          </a:xfrm>
          <a:prstGeom prst="rect">
            <a:avLst/>
          </a:prstGeom>
          <a:noFill/>
        </p:spPr>
        <p:txBody>
          <a:bodyPr wrap="square" lIns="0" tIns="0" rIns="0" bIns="0" anchor="ctr">
            <a:spAutoFit/>
          </a:bodyPr>
          <a:lstStyle/>
          <a:p>
            <a:pPr algn="l"/>
            <a:r>
              <a:rPr sz="1000" b="0" dirty="0">
                <a:solidFill>
                  <a:srgbClr val="000000"/>
                </a:solidFill>
                <a:latin typeface="Lato"/>
              </a:rPr>
              <a:t>Oakland campus  </a:t>
            </a:r>
            <a:r>
              <a:rPr sz="850" b="0" dirty="0">
                <a:solidFill>
                  <a:srgbClr val="000000"/>
                </a:solidFill>
                <a:latin typeface="Lato"/>
              </a:rPr>
              <a:t>(+218)</a:t>
            </a:r>
          </a:p>
        </p:txBody>
      </p:sp>
      <p:sp>
        <p:nvSpPr>
          <p:cNvPr id="34" name="TextBox 19"/>
          <p:cNvSpPr txBox="1"/>
          <p:nvPr/>
        </p:nvSpPr>
        <p:spPr>
          <a:xfrm>
            <a:off x="10881359" y="3749040"/>
            <a:ext cx="960120" cy="274320"/>
          </a:xfrm>
          <a:prstGeom prst="rect">
            <a:avLst/>
          </a:prstGeom>
          <a:noFill/>
        </p:spPr>
        <p:txBody>
          <a:bodyPr wrap="square" lIns="0" tIns="0" rIns="0" bIns="0" anchor="ctr">
            <a:spAutoFit/>
          </a:bodyPr>
          <a:lstStyle/>
          <a:p>
            <a:pPr algn="r"/>
            <a:r>
              <a:rPr sz="1100" b="1">
                <a:solidFill>
                  <a:srgbClr val="9B9C9E"/>
                </a:solidFill>
                <a:latin typeface="Lato"/>
              </a:rPr>
              <a:t>n/a</a:t>
            </a:r>
          </a:p>
        </p:txBody>
      </p:sp>
      <p:cxnSp>
        <p:nvCxnSpPr>
          <p:cNvPr id="44" name="Connector 43"/>
          <p:cNvCxnSpPr/>
          <p:nvPr/>
        </p:nvCxnSpPr>
        <p:spPr>
          <a:xfrm flipV="1">
            <a:off x="7690104" y="3185903"/>
            <a:ext cx="347472" cy="192491"/>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43"/>
          <p:cNvCxnSpPr/>
          <p:nvPr/>
        </p:nvCxnSpPr>
        <p:spPr>
          <a:xfrm>
            <a:off x="7690104" y="3471124"/>
            <a:ext cx="347472" cy="415075"/>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43"/>
          <p:cNvCxnSpPr/>
          <p:nvPr/>
        </p:nvCxnSpPr>
        <p:spPr>
          <a:xfrm>
            <a:off x="7690104" y="3554477"/>
            <a:ext cx="347472" cy="545826"/>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43"/>
          <p:cNvCxnSpPr/>
          <p:nvPr/>
        </p:nvCxnSpPr>
        <p:spPr>
          <a:xfrm>
            <a:off x="7690104" y="4332574"/>
            <a:ext cx="347472" cy="224929"/>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staff headcount files, September 2026; full methodology in speaker notes</a:t>
            </a:r>
          </a:p>
        </p:txBody>
      </p:sp>
      <p:sp>
        <p:nvSpPr>
          <p:cNvPr id="81"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32</a:t>
            </a:fld>
            <a:endParaRPr lang="en-US" sz="900" b="1">
              <a:solidFill>
                <a:srgbClr val="000000"/>
              </a:solidFill>
              <a:latin typeface="Lat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hart heading [PEER_KEEP]"/>
          <p:cNvSpPr txBox="1"/>
          <p:nvPr/>
        </p:nvSpPr>
        <p:spPr>
          <a:xfrm>
            <a:off x="768096" y="1481328"/>
            <a:ext cx="7315200" cy="237744"/>
          </a:xfrm>
          <a:prstGeom prst="rect">
            <a:avLst/>
          </a:prstGeom>
          <a:noFill/>
        </p:spPr>
        <p:txBody>
          <a:bodyPr wrap="square" lIns="0" tIns="0" rIns="0" bIns="0" anchor="t">
            <a:spAutoFit/>
          </a:bodyPr>
          <a:lstStyle/>
          <a:p>
            <a:pPr algn="l"/>
            <a:r>
              <a:rPr sz="1300" b="1" i="0">
                <a:solidFill>
                  <a:srgbClr val="000000"/>
                </a:solidFill>
                <a:latin typeface="Lato"/>
              </a:rPr>
              <a:t>FY25 salaries and wages per student</a:t>
            </a:r>
          </a:p>
        </p:txBody>
      </p:sp>
      <p:graphicFrame>
        <p:nvGraphicFramePr>
          <p:cNvPr id="8" name="S&amp;W per student iso-line chart [PEER_KEEP]" descr="Scatter chart of FY25 core operating expense per student (x) against salaries and wages as a share of core operating expenses (y) for 14 universities, with dashed iso-lines of constant salaries and wages per student from $40K to $560K; the y axis runs from 30% to 60%. Universities that consolidate a health system are blue; Northeastern is red."/>
          <p:cNvGraphicFramePr>
            <a:graphicFrameLocks noGrp="1"/>
          </p:cNvGraphicFramePr>
          <p:nvPr/>
        </p:nvGraphicFramePr>
        <p:xfrm>
          <a:off x="320040" y="1773936"/>
          <a:ext cx="11567160" cy="3758183"/>
        </p:xfrm>
        <a:graphic>
          <a:graphicData uri="http://schemas.openxmlformats.org/drawingml/2006/chart">
            <c:chart xmlns:c="http://schemas.openxmlformats.org/drawingml/2006/chart" xmlns:r="http://schemas.openxmlformats.org/officeDocument/2006/relationships" r:id="rId3"/>
          </a:graphicData>
        </a:graphic>
      </p:graphicFrame>
      <p:cxnSp>
        <p:nvCxnSpPr>
          <p:cNvPr id="9" name="Leader Rice [PEER_KEEP]"/>
          <p:cNvCxnSpPr/>
          <p:nvPr/>
        </p:nvCxnSpPr>
        <p:spPr>
          <a:xfrm>
            <a:off x="2325072" y="2625914"/>
            <a:ext cx="203863"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0" name="Leader Vanderbilt [PEER_KEEP]"/>
          <p:cNvCxnSpPr>
            <a:cxnSpLocks/>
          </p:cNvCxnSpPr>
          <p:nvPr/>
        </p:nvCxnSpPr>
        <p:spPr>
          <a:xfrm>
            <a:off x="2348753" y="3227294"/>
            <a:ext cx="80033" cy="706289"/>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1" name="Leader Northwestern [PEER_KEEP]"/>
          <p:cNvCxnSpPr>
            <a:cxnSpLocks/>
          </p:cNvCxnSpPr>
          <p:nvPr/>
        </p:nvCxnSpPr>
        <p:spPr>
          <a:xfrm>
            <a:off x="2662518" y="3352800"/>
            <a:ext cx="590927" cy="580986"/>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2" name="Leader Princeton [PEER_KEEP]"/>
          <p:cNvCxnSpPr>
            <a:cxnSpLocks/>
          </p:cNvCxnSpPr>
          <p:nvPr/>
        </p:nvCxnSpPr>
        <p:spPr>
          <a:xfrm>
            <a:off x="3810000" y="2958353"/>
            <a:ext cx="187709" cy="129225"/>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3" name="Leader Harvard [PEER_KEEP]"/>
          <p:cNvCxnSpPr>
            <a:cxnSpLocks/>
          </p:cNvCxnSpPr>
          <p:nvPr/>
        </p:nvCxnSpPr>
        <p:spPr>
          <a:xfrm>
            <a:off x="3738282" y="3478306"/>
            <a:ext cx="184123" cy="129873"/>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4" name="Leader Yale [PEER_KEEP]"/>
          <p:cNvCxnSpPr/>
          <p:nvPr/>
        </p:nvCxnSpPr>
        <p:spPr>
          <a:xfrm>
            <a:off x="4791759" y="2824387"/>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5" name="Leader Chicago [PEER_KEEP]"/>
          <p:cNvCxnSpPr/>
          <p:nvPr/>
        </p:nvCxnSpPr>
        <p:spPr>
          <a:xfrm>
            <a:off x="6170129" y="3258360"/>
            <a:ext cx="145260" cy="145261"/>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6" name="Leader Duke [PEER_KEEP]"/>
          <p:cNvCxnSpPr/>
          <p:nvPr/>
        </p:nvCxnSpPr>
        <p:spPr>
          <a:xfrm>
            <a:off x="7421820" y="3086600"/>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7" name="Leader Emory [PEER_KEEP]"/>
          <p:cNvCxnSpPr/>
          <p:nvPr/>
        </p:nvCxnSpPr>
        <p:spPr>
          <a:xfrm>
            <a:off x="8210220" y="2768292"/>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8" name="Leader Penn [PEER_KEEP]"/>
          <p:cNvCxnSpPr/>
          <p:nvPr/>
        </p:nvCxnSpPr>
        <p:spPr>
          <a:xfrm>
            <a:off x="8062519" y="3664354"/>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9" name="Leader Stanford [PEER_KEEP]"/>
          <p:cNvCxnSpPr/>
          <p:nvPr/>
        </p:nvCxnSpPr>
        <p:spPr>
          <a:xfrm flipH="1">
            <a:off x="10765762" y="3067945"/>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20" name="Leader Boston University [PEER_KEEP]"/>
          <p:cNvCxnSpPr>
            <a:cxnSpLocks/>
          </p:cNvCxnSpPr>
          <p:nvPr/>
        </p:nvCxnSpPr>
        <p:spPr>
          <a:xfrm flipV="1">
            <a:off x="1712259" y="2537673"/>
            <a:ext cx="124099" cy="322068"/>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21" name="Leader MIT [PEER_KEEP]"/>
          <p:cNvCxnSpPr/>
          <p:nvPr/>
        </p:nvCxnSpPr>
        <p:spPr>
          <a:xfrm>
            <a:off x="5316651" y="3568997"/>
            <a:ext cx="273277" cy="273277"/>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22" name="Leader Northeastern [PEER_KEEP]"/>
          <p:cNvCxnSpPr/>
          <p:nvPr/>
        </p:nvCxnSpPr>
        <p:spPr>
          <a:xfrm>
            <a:off x="1663829" y="3398419"/>
            <a:ext cx="0" cy="224028"/>
          </a:xfrm>
          <a:prstGeom prst="line">
            <a:avLst/>
          </a:prstGeom>
          <a:ln w="6350">
            <a:solidFill>
              <a:srgbClr val="C8102E"/>
            </a:solidFill>
          </a:ln>
        </p:spPr>
        <p:style>
          <a:lnRef idx="2">
            <a:srgbClr val="C8102E"/>
          </a:lnRef>
          <a:fillRef idx="0">
            <a:srgbClr val="C8102E"/>
          </a:fillRef>
          <a:effectRef idx="1">
            <a:srgbClr val="C8102E"/>
          </a:effectRef>
          <a:fontRef idx="minor">
            <a:srgbClr val="000000"/>
          </a:fontRef>
        </p:style>
      </p:cxnSp>
      <p:sp>
        <p:nvSpPr>
          <p:cNvPr id="23" name="Label Rice [PEER_KEEP]"/>
          <p:cNvSpPr txBox="1"/>
          <p:nvPr/>
        </p:nvSpPr>
        <p:spPr>
          <a:xfrm>
            <a:off x="2528935" y="2475038"/>
            <a:ext cx="1082746"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Rice</a:t>
            </a:r>
          </a:p>
          <a:p>
            <a:pPr algn="ctr"/>
            <a:r>
              <a:rPr sz="800" b="0" i="0">
                <a:solidFill>
                  <a:srgbClr val="6B6B70"/>
                </a:solidFill>
                <a:latin typeface="Lato"/>
              </a:rPr>
              <a:t>$58K · 8,961 students</a:t>
            </a:r>
          </a:p>
        </p:txBody>
      </p:sp>
      <p:sp>
        <p:nvSpPr>
          <p:cNvPr id="24" name="Label Vanderbilt [PEER_KEEP]"/>
          <p:cNvSpPr txBox="1"/>
          <p:nvPr/>
        </p:nvSpPr>
        <p:spPr>
          <a:xfrm>
            <a:off x="1857949" y="3933583"/>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Vanderbilt (3)</a:t>
            </a:r>
          </a:p>
          <a:p>
            <a:pPr algn="ctr"/>
            <a:r>
              <a:rPr sz="800" b="0" i="0">
                <a:solidFill>
                  <a:srgbClr val="6B6B70"/>
                </a:solidFill>
                <a:latin typeface="Lato"/>
              </a:rPr>
              <a:t>$59K · 13,575 students</a:t>
            </a:r>
          </a:p>
        </p:txBody>
      </p:sp>
      <p:sp>
        <p:nvSpPr>
          <p:cNvPr id="25" name="Label Northwestern [PEER_KEEP]"/>
          <p:cNvSpPr txBox="1"/>
          <p:nvPr/>
        </p:nvSpPr>
        <p:spPr>
          <a:xfrm>
            <a:off x="3253445" y="3933786"/>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Northwestern (3)</a:t>
            </a:r>
          </a:p>
          <a:p>
            <a:pPr algn="ctr"/>
            <a:r>
              <a:rPr sz="800" b="0" i="0">
                <a:solidFill>
                  <a:srgbClr val="6B6B70"/>
                </a:solidFill>
                <a:latin typeface="Lato"/>
              </a:rPr>
              <a:t>$66K · 23,431 students</a:t>
            </a:r>
          </a:p>
        </p:txBody>
      </p:sp>
      <p:sp>
        <p:nvSpPr>
          <p:cNvPr id="26" name="Label Princeton [PEER_KEEP]"/>
          <p:cNvSpPr txBox="1"/>
          <p:nvPr/>
        </p:nvSpPr>
        <p:spPr>
          <a:xfrm>
            <a:off x="3997709" y="3087578"/>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Princeton (2)</a:t>
            </a:r>
          </a:p>
          <a:p>
            <a:pPr algn="ctr"/>
            <a:r>
              <a:rPr sz="800" b="0" i="0">
                <a:solidFill>
                  <a:srgbClr val="6B6B70"/>
                </a:solidFill>
                <a:latin typeface="Lato"/>
              </a:rPr>
              <a:t>$128K · 9,050 students</a:t>
            </a:r>
          </a:p>
        </p:txBody>
      </p:sp>
      <p:sp>
        <p:nvSpPr>
          <p:cNvPr id="27" name="Label Harvard [PEER_KEEP]"/>
          <p:cNvSpPr txBox="1"/>
          <p:nvPr/>
        </p:nvSpPr>
        <p:spPr>
          <a:xfrm>
            <a:off x="3922405" y="3608179"/>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Harvard</a:t>
            </a:r>
          </a:p>
          <a:p>
            <a:pPr algn="ctr"/>
            <a:r>
              <a:rPr sz="800" b="0" i="0">
                <a:solidFill>
                  <a:srgbClr val="6B6B70"/>
                </a:solidFill>
                <a:latin typeface="Lato"/>
              </a:rPr>
              <a:t>$111K · 24,819 students</a:t>
            </a:r>
          </a:p>
        </p:txBody>
      </p:sp>
      <p:sp>
        <p:nvSpPr>
          <p:cNvPr id="28" name="Label Yale [PEER_KEEP]"/>
          <p:cNvSpPr txBox="1"/>
          <p:nvPr/>
        </p:nvSpPr>
        <p:spPr>
          <a:xfrm>
            <a:off x="4999785" y="2673511"/>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Yale</a:t>
            </a:r>
          </a:p>
          <a:p>
            <a:pPr algn="ctr"/>
            <a:r>
              <a:rPr sz="800" b="0" i="0">
                <a:solidFill>
                  <a:srgbClr val="6B6B70"/>
                </a:solidFill>
                <a:latin typeface="Lato"/>
              </a:rPr>
              <a:t>$176K · 15,564 students</a:t>
            </a:r>
          </a:p>
        </p:txBody>
      </p:sp>
      <p:sp>
        <p:nvSpPr>
          <p:cNvPr id="29" name="Label Chicago [PEER_KEEP]"/>
          <p:cNvSpPr txBox="1"/>
          <p:nvPr/>
        </p:nvSpPr>
        <p:spPr>
          <a:xfrm>
            <a:off x="6315389" y="3349831"/>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Chicago (1)</a:t>
            </a:r>
          </a:p>
          <a:p>
            <a:pPr algn="ctr"/>
            <a:r>
              <a:rPr sz="800" b="0" i="0">
                <a:solidFill>
                  <a:srgbClr val="6B6B70"/>
                </a:solidFill>
                <a:latin typeface="Lato"/>
              </a:rPr>
              <a:t>$227K · 16,221 students</a:t>
            </a:r>
          </a:p>
        </p:txBody>
      </p:sp>
      <p:sp>
        <p:nvSpPr>
          <p:cNvPr id="30" name="Label Duke [PEER_KEEP]"/>
          <p:cNvSpPr txBox="1"/>
          <p:nvPr/>
        </p:nvSpPr>
        <p:spPr>
          <a:xfrm>
            <a:off x="7629846" y="2935724"/>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Duke (1)</a:t>
            </a:r>
          </a:p>
          <a:p>
            <a:pPr algn="ctr"/>
            <a:r>
              <a:rPr sz="800" b="0" i="0">
                <a:solidFill>
                  <a:srgbClr val="6B6B70"/>
                </a:solidFill>
                <a:latin typeface="Lato"/>
              </a:rPr>
              <a:t>$288K · 17,499 students</a:t>
            </a:r>
          </a:p>
        </p:txBody>
      </p:sp>
      <p:sp>
        <p:nvSpPr>
          <p:cNvPr id="31" name="Label Emory [PEER_KEEP]"/>
          <p:cNvSpPr txBox="1"/>
          <p:nvPr/>
        </p:nvSpPr>
        <p:spPr>
          <a:xfrm>
            <a:off x="8418246" y="2617416"/>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Emory (1)</a:t>
            </a:r>
          </a:p>
          <a:p>
            <a:pPr algn="ctr"/>
            <a:r>
              <a:rPr sz="800" b="0" i="0">
                <a:solidFill>
                  <a:srgbClr val="6B6B70"/>
                </a:solidFill>
                <a:latin typeface="Lato"/>
              </a:rPr>
              <a:t>$347K · 15,179 students</a:t>
            </a:r>
          </a:p>
        </p:txBody>
      </p:sp>
      <p:sp>
        <p:nvSpPr>
          <p:cNvPr id="32" name="Label Penn [PEER_KEEP]"/>
          <p:cNvSpPr txBox="1"/>
          <p:nvPr/>
        </p:nvSpPr>
        <p:spPr>
          <a:xfrm>
            <a:off x="8270545" y="3513478"/>
            <a:ext cx="1384649"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Penn (1) (4)</a:t>
            </a:r>
          </a:p>
          <a:p>
            <a:pPr algn="ctr"/>
            <a:r>
              <a:rPr sz="800" b="0" i="0">
                <a:solidFill>
                  <a:srgbClr val="6B6B70"/>
                </a:solidFill>
                <a:latin typeface="Lato"/>
              </a:rPr>
              <a:t>$278K est. · 24,023 students</a:t>
            </a:r>
          </a:p>
        </p:txBody>
      </p:sp>
      <p:sp>
        <p:nvSpPr>
          <p:cNvPr id="33" name="Label Stanford [PEER_KEEP]"/>
          <p:cNvSpPr txBox="1"/>
          <p:nvPr/>
        </p:nvSpPr>
        <p:spPr>
          <a:xfrm>
            <a:off x="9551442" y="2952928"/>
            <a:ext cx="1384649"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Stanford (1) (2) (4)</a:t>
            </a:r>
          </a:p>
          <a:p>
            <a:pPr algn="ctr"/>
            <a:r>
              <a:rPr sz="800" b="0" i="0">
                <a:solidFill>
                  <a:srgbClr val="6B6B70"/>
                </a:solidFill>
                <a:latin typeface="Lato"/>
              </a:rPr>
              <a:t>$463K est. · 18,625 students</a:t>
            </a:r>
          </a:p>
        </p:txBody>
      </p:sp>
      <p:sp>
        <p:nvSpPr>
          <p:cNvPr id="34" name="Label Boston University [PEER_KEEP]"/>
          <p:cNvSpPr txBox="1"/>
          <p:nvPr/>
        </p:nvSpPr>
        <p:spPr>
          <a:xfrm>
            <a:off x="1155793" y="2235921"/>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Boston University</a:t>
            </a:r>
          </a:p>
          <a:p>
            <a:pPr algn="ctr"/>
            <a:r>
              <a:rPr sz="800" b="0" i="0">
                <a:solidFill>
                  <a:srgbClr val="6B6B70"/>
                </a:solidFill>
                <a:latin typeface="Lato"/>
              </a:rPr>
              <a:t>$33K · 37,737 students</a:t>
            </a:r>
          </a:p>
        </p:txBody>
      </p:sp>
      <p:sp>
        <p:nvSpPr>
          <p:cNvPr id="35" name="Label MIT [PEER_KEEP]"/>
          <p:cNvSpPr txBox="1"/>
          <p:nvPr/>
        </p:nvSpPr>
        <p:spPr>
          <a:xfrm>
            <a:off x="5589928" y="3770554"/>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MIT (2)</a:t>
            </a:r>
          </a:p>
          <a:p>
            <a:pPr algn="ctr"/>
            <a:r>
              <a:rPr sz="800" b="0" i="0">
                <a:solidFill>
                  <a:srgbClr val="6B6B70"/>
                </a:solidFill>
                <a:latin typeface="Lato"/>
              </a:rPr>
              <a:t>$176K · 11,886 students</a:t>
            </a:r>
          </a:p>
        </p:txBody>
      </p:sp>
      <p:sp>
        <p:nvSpPr>
          <p:cNvPr id="36" name="Label Northeastern [PEER_KEEP]"/>
          <p:cNvSpPr txBox="1"/>
          <p:nvPr/>
        </p:nvSpPr>
        <p:spPr>
          <a:xfrm>
            <a:off x="1101360" y="3622447"/>
            <a:ext cx="1141674" cy="301752"/>
          </a:xfrm>
          <a:prstGeom prst="rect">
            <a:avLst/>
          </a:prstGeom>
          <a:solidFill>
            <a:srgbClr val="FFFFFF">
              <a:alpha val="80000"/>
            </a:srgbClr>
          </a:solidFill>
        </p:spPr>
        <p:txBody>
          <a:bodyPr wrap="none" lIns="27432" tIns="0" rIns="27432" bIns="0" anchor="ctr">
            <a:spAutoFit/>
          </a:bodyPr>
          <a:lstStyle/>
          <a:p>
            <a:pPr algn="ctr"/>
            <a:r>
              <a:rPr sz="1000" b="1" i="0">
                <a:solidFill>
                  <a:srgbClr val="C8102E"/>
                </a:solidFill>
                <a:latin typeface="Lato"/>
              </a:rPr>
              <a:t>Northeastern (3)</a:t>
            </a:r>
          </a:p>
          <a:p>
            <a:pPr algn="ctr"/>
            <a:r>
              <a:rPr sz="800" b="0" i="0">
                <a:solidFill>
                  <a:srgbClr val="C8102E"/>
                </a:solidFill>
                <a:latin typeface="Lato"/>
              </a:rPr>
              <a:t>$25K · 39,774 students</a:t>
            </a:r>
          </a:p>
        </p:txBody>
      </p:sp>
      <p:sp>
        <p:nvSpPr>
          <p:cNvPr id="37" name="Legend [PEER_KEEP]"/>
          <p:cNvSpPr/>
          <p:nvPr/>
        </p:nvSpPr>
        <p:spPr>
          <a:xfrm>
            <a:off x="4815829" y="1547622"/>
            <a:ext cx="105156" cy="105156"/>
          </a:xfrm>
          <a:prstGeom prst="ellipse">
            <a:avLst/>
          </a:prstGeom>
          <a:solidFill>
            <a:srgbClr val="00000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38" name="Legend [PEER_KEEP]"/>
          <p:cNvSpPr txBox="1"/>
          <p:nvPr/>
        </p:nvSpPr>
        <p:spPr>
          <a:xfrm>
            <a:off x="4996423" y="1508760"/>
            <a:ext cx="957437" cy="182880"/>
          </a:xfrm>
          <a:prstGeom prst="rect">
            <a:avLst/>
          </a:prstGeom>
          <a:noFill/>
        </p:spPr>
        <p:txBody>
          <a:bodyPr wrap="none" lIns="0" tIns="0" rIns="0" bIns="0" anchor="ctr">
            <a:spAutoFit/>
          </a:bodyPr>
          <a:lstStyle/>
          <a:p>
            <a:pPr algn="l"/>
            <a:r>
              <a:rPr sz="950" b="0" i="0">
                <a:solidFill>
                  <a:srgbClr val="000000"/>
                </a:solidFill>
                <a:latin typeface="Lato"/>
              </a:rPr>
              <a:t>No health system</a:t>
            </a:r>
          </a:p>
        </p:txBody>
      </p:sp>
      <p:sp>
        <p:nvSpPr>
          <p:cNvPr id="39" name="Legend [PEER_KEEP]"/>
          <p:cNvSpPr/>
          <p:nvPr/>
        </p:nvSpPr>
        <p:spPr>
          <a:xfrm>
            <a:off x="6221322" y="1547622"/>
            <a:ext cx="105156" cy="105156"/>
          </a:xfrm>
          <a:prstGeom prst="ellipse">
            <a:avLst/>
          </a:prstGeom>
          <a:solidFill>
            <a:srgbClr val="1F4FE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40" name="Legend [PEER_KEEP]"/>
          <p:cNvSpPr txBox="1"/>
          <p:nvPr/>
        </p:nvSpPr>
        <p:spPr>
          <a:xfrm>
            <a:off x="6401916" y="1508760"/>
            <a:ext cx="1658309" cy="182880"/>
          </a:xfrm>
          <a:prstGeom prst="rect">
            <a:avLst/>
          </a:prstGeom>
          <a:noFill/>
        </p:spPr>
        <p:txBody>
          <a:bodyPr wrap="none" lIns="0" tIns="0" rIns="0" bIns="0" anchor="ctr">
            <a:spAutoFit/>
          </a:bodyPr>
          <a:lstStyle/>
          <a:p>
            <a:pPr algn="l"/>
            <a:r>
              <a:rPr sz="950" b="0" i="0">
                <a:solidFill>
                  <a:srgbClr val="000000"/>
                </a:solidFill>
                <a:latin typeface="Lato"/>
              </a:rPr>
              <a:t>Health system consolidated (1)</a:t>
            </a:r>
          </a:p>
        </p:txBody>
      </p:sp>
      <p:sp>
        <p:nvSpPr>
          <p:cNvPr id="41" name="Legend [PEER_KEEP]"/>
          <p:cNvSpPr/>
          <p:nvPr/>
        </p:nvSpPr>
        <p:spPr>
          <a:xfrm>
            <a:off x="8327688" y="1547622"/>
            <a:ext cx="105156" cy="105156"/>
          </a:xfrm>
          <a:prstGeom prst="ellipse">
            <a:avLst/>
          </a:prstGeom>
          <a:solidFill>
            <a:srgbClr val="8FA9F5"/>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42" name="Legend [PEER_KEEP]"/>
          <p:cNvSpPr txBox="1"/>
          <p:nvPr/>
        </p:nvSpPr>
        <p:spPr>
          <a:xfrm>
            <a:off x="8508282" y="1508760"/>
            <a:ext cx="2004462" cy="182880"/>
          </a:xfrm>
          <a:prstGeom prst="rect">
            <a:avLst/>
          </a:prstGeom>
          <a:noFill/>
        </p:spPr>
        <p:txBody>
          <a:bodyPr wrap="none" lIns="0" tIns="0" rIns="0" bIns="0" anchor="ctr">
            <a:spAutoFit/>
          </a:bodyPr>
          <a:lstStyle/>
          <a:p>
            <a:pPr algn="l"/>
            <a:r>
              <a:rPr sz="950" b="0" i="0">
                <a:solidFill>
                  <a:srgbClr val="000000"/>
                </a:solidFill>
                <a:latin typeface="Lato"/>
              </a:rPr>
              <a:t>Health system, S&amp;W estimated (1) (4)</a:t>
            </a:r>
          </a:p>
        </p:txBody>
      </p:sp>
      <p:sp>
        <p:nvSpPr>
          <p:cNvPr id="43" name="Legend [PEER_KEEP]"/>
          <p:cNvSpPr/>
          <p:nvPr/>
        </p:nvSpPr>
        <p:spPr>
          <a:xfrm>
            <a:off x="10759632" y="1527048"/>
            <a:ext cx="146304" cy="146304"/>
          </a:xfrm>
          <a:prstGeom prst="ellipse">
            <a:avLst/>
          </a:prstGeom>
          <a:solidFill>
            <a:srgbClr val="C8102E"/>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44" name="Legend [PEER_KEEP]"/>
          <p:cNvSpPr txBox="1"/>
          <p:nvPr/>
        </p:nvSpPr>
        <p:spPr>
          <a:xfrm>
            <a:off x="10960800" y="1508760"/>
            <a:ext cx="743519" cy="182880"/>
          </a:xfrm>
          <a:prstGeom prst="rect">
            <a:avLst/>
          </a:prstGeom>
          <a:noFill/>
        </p:spPr>
        <p:txBody>
          <a:bodyPr wrap="none" lIns="0" tIns="0" rIns="0" bIns="0" anchor="ctr">
            <a:spAutoFit/>
          </a:bodyPr>
          <a:lstStyle/>
          <a:p>
            <a:pPr algn="l"/>
            <a:r>
              <a:rPr sz="950" b="0" i="0">
                <a:solidFill>
                  <a:srgbClr val="000000"/>
                </a:solidFill>
                <a:latin typeface="Lato"/>
              </a:rPr>
              <a:t>Northeastern</a:t>
            </a:r>
          </a:p>
        </p:txBody>
      </p:sp>
      <p:sp>
        <p:nvSpPr>
          <p:cNvPr id="45" name="TextBox 44"/>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Northeastern’s S&amp;W per student is $25K, the lowest in the peer set, at a 46% share of expenses vs a 49% peer median</a:t>
            </a:r>
          </a:p>
        </p:txBody>
      </p:sp>
      <p:sp>
        <p:nvSpPr>
          <p:cNvPr id="46" name="TextBox 45"/>
          <p:cNvSpPr txBox="1"/>
          <p:nvPr/>
        </p:nvSpPr>
        <p:spPr>
          <a:xfrm>
            <a:off x="457200" y="1097280"/>
            <a:ext cx="11274552" cy="274320"/>
          </a:xfrm>
          <a:prstGeom prst="rect">
            <a:avLst/>
          </a:prstGeom>
          <a:noFill/>
        </p:spPr>
        <p:txBody>
          <a:bodyPr wrap="square" lIns="0" tIns="0" rIns="0" bIns="0" anchor="t">
            <a:spAutoFit/>
          </a:bodyPr>
          <a:lstStyle/>
          <a:p>
            <a:pPr algn="l"/>
            <a:r>
              <a:rPr sz="1400" b="0" i="0">
                <a:solidFill>
                  <a:srgbClr val="595959"/>
                </a:solidFill>
                <a:latin typeface="Lato"/>
              </a:rPr>
              <a:t>Core operating expense per student and S&amp;W share of that expense; dashed lines, labelled at top, mark constant S&amp;W per student</a:t>
            </a:r>
          </a:p>
        </p:txBody>
      </p:sp>
      <p:sp>
        <p:nvSpPr>
          <p:cNvPr id="47" name="TextBox 46"/>
          <p:cNvSpPr txBox="1"/>
          <p:nvPr/>
        </p:nvSpPr>
        <p:spPr>
          <a:xfrm>
            <a:off x="457200" y="5920740"/>
            <a:ext cx="11274552" cy="480060"/>
          </a:xfrm>
          <a:prstGeom prst="rect">
            <a:avLst/>
          </a:prstGeom>
          <a:noFill/>
        </p:spPr>
        <p:txBody>
          <a:bodyPr wrap="square" lIns="0" tIns="0" rIns="0" bIns="0" anchor="b">
            <a:spAutoFit/>
          </a:bodyPr>
          <a:lstStyle/>
          <a:p>
            <a:pPr algn="l"/>
            <a:r>
              <a:rPr sz="700" b="0" i="0">
                <a:solidFill>
                  <a:srgbClr val="595959"/>
                </a:solidFill>
                <a:latin typeface="Lato"/>
              </a:rPr>
              <a:t>(1) Blue markers: consolidates a health care system (academic medical center): Chicago, Duke, Emory, Penn, Stanford.  (2) Consolidates a federal laboratory: MIT (Lincoln Laboratory), Princeton (Plasma Physics Laboratory), Stanford (SLAC).</a:t>
            </a:r>
          </a:p>
          <a:p>
            <a:pPr algn="l"/>
            <a:r>
              <a:rPr sz="700" b="0" i="0">
                <a:solidFill>
                  <a:srgbClr val="595959"/>
                </a:solidFill>
                <a:latin typeface="Lato"/>
              </a:rPr>
              <a:t>(3) Audited statements report salaries and benefits combined: Northeastern S&amp;W = audited line ÷ 1.33 (33% fringe benefit rate); Northwestern S&amp;W from its Form 990; Vanderbilt from the MD&amp;A expense chart.  (4) Light blue: Penn and Stanford S&amp;W estimated from combined salaries and benefits, assuming a 35% fringe benefit rate (S&amp;W = combined ÷ 1.35).</a:t>
            </a:r>
          </a:p>
          <a:p>
            <a:pPr algn="l"/>
            <a:r>
              <a:rPr sz="700" b="0" i="0">
                <a:solidFill>
                  <a:srgbClr val="595959"/>
                </a:solidFill>
                <a:latin typeface="Lato"/>
              </a:rPr>
              <a:t>Note: FY25 audited financial statements (fiscal years end June 30; Emory, Northwestern, Stanford August 31). Core operating expenses = total operating expenses less depreciation, amortization and interest. Students = fall 2024 total enrollment per Common Data Set 2024–25 (Princeton: Report of the Treasurer); Harvard’s count includes Extension School degree students.</a:t>
            </a:r>
          </a:p>
        </p:txBody>
      </p:sp>
      <p:sp>
        <p:nvSpPr>
          <p:cNvPr id="48" name="Source [PEER_KEEP]"/>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University FY25 audited financial statements, IRS Form 990 filings, Common Data Sets; Northeastern analysis.</a:t>
            </a:r>
          </a:p>
        </p:txBody>
      </p:sp>
      <p:sp>
        <p:nvSpPr>
          <p:cNvPr id="49"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33</a:t>
            </a:fld>
            <a:endParaRPr lang="en-US" sz="900" b="1">
              <a:solidFill>
                <a:srgbClr val="000000"/>
              </a:solidFill>
              <a:latin typeface="Lato"/>
            </a:endParaRPr>
          </a:p>
        </p:txBody>
      </p:sp>
      <p:grpSp>
        <p:nvGrpSpPr>
          <p:cNvPr id="3" name="Group 2">
            <a:extLst>
              <a:ext uri="{FF2B5EF4-FFF2-40B4-BE49-F238E27FC236}">
                <a16:creationId xmlns:a16="http://schemas.microsoft.com/office/drawing/2014/main" id="{61E455DB-59E6-88F1-824E-DB2C78E62A72}"/>
              </a:ext>
            </a:extLst>
          </p:cNvPr>
          <p:cNvGrpSpPr/>
          <p:nvPr/>
        </p:nvGrpSpPr>
        <p:grpSpPr>
          <a:xfrm>
            <a:off x="1593918" y="2884713"/>
            <a:ext cx="237744" cy="237744"/>
            <a:chOff x="1717485" y="2859999"/>
            <a:chExt cx="237744" cy="237744"/>
          </a:xfrm>
        </p:grpSpPr>
        <p:sp>
          <p:nvSpPr>
            <p:cNvPr id="50" name="Logo disc bu"/>
            <p:cNvSpPr/>
            <p:nvPr/>
          </p:nvSpPr>
          <p:spPr>
            <a:xfrm>
              <a:off x="1717485" y="2859999"/>
              <a:ext cx="237744" cy="237744"/>
            </a:xfrm>
            <a:prstGeom prst="ellipse">
              <a:avLst/>
            </a:prstGeom>
            <a:solidFill>
              <a:srgbClr val="FFFFFF"/>
            </a:solid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1" name="Logo bu" descr="bu logo"/>
            <p:cNvPicPr>
              <a:picLocks noChangeAspect="1"/>
            </p:cNvPicPr>
            <p:nvPr/>
          </p:nvPicPr>
          <p:blipFill>
            <a:blip r:embed="rId4"/>
            <a:stretch>
              <a:fillRect/>
            </a:stretch>
          </p:blipFill>
          <p:spPr>
            <a:xfrm>
              <a:off x="1754061" y="2896575"/>
              <a:ext cx="164592" cy="164592"/>
            </a:xfrm>
            <a:prstGeom prst="rect">
              <a:avLst/>
            </a:prstGeom>
          </p:spPr>
        </p:pic>
      </p:grpSp>
      <p:grpSp>
        <p:nvGrpSpPr>
          <p:cNvPr id="4" name="Group 3">
            <a:extLst>
              <a:ext uri="{FF2B5EF4-FFF2-40B4-BE49-F238E27FC236}">
                <a16:creationId xmlns:a16="http://schemas.microsoft.com/office/drawing/2014/main" id="{23CFFC30-1432-E122-C321-5B177A032B55}"/>
              </a:ext>
            </a:extLst>
          </p:cNvPr>
          <p:cNvGrpSpPr/>
          <p:nvPr/>
        </p:nvGrpSpPr>
        <p:grpSpPr>
          <a:xfrm>
            <a:off x="2069410" y="2513226"/>
            <a:ext cx="237744" cy="237744"/>
            <a:chOff x="2155907" y="2507048"/>
            <a:chExt cx="237744" cy="237744"/>
          </a:xfrm>
        </p:grpSpPr>
        <p:sp>
          <p:nvSpPr>
            <p:cNvPr id="52" name="Logo disc rice"/>
            <p:cNvSpPr/>
            <p:nvPr/>
          </p:nvSpPr>
          <p:spPr>
            <a:xfrm>
              <a:off x="2155907" y="2507048"/>
              <a:ext cx="237744" cy="237744"/>
            </a:xfrm>
            <a:prstGeom prst="ellipse">
              <a:avLst/>
            </a:prstGeom>
            <a:solidFill>
              <a:srgbClr val="FFFFFF"/>
            </a:solid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3" name="Logo rice" descr="rice logo"/>
            <p:cNvPicPr>
              <a:picLocks noChangeAspect="1"/>
            </p:cNvPicPr>
            <p:nvPr/>
          </p:nvPicPr>
          <p:blipFill>
            <a:blip r:embed="rId5"/>
            <a:stretch>
              <a:fillRect/>
            </a:stretch>
          </p:blipFill>
          <p:spPr>
            <a:xfrm>
              <a:off x="2206336" y="2543624"/>
              <a:ext cx="136885" cy="164592"/>
            </a:xfrm>
            <a:prstGeom prst="rect">
              <a:avLst/>
            </a:prstGeom>
          </p:spPr>
        </p:pic>
      </p:grpSp>
      <p:sp>
        <p:nvSpPr>
          <p:cNvPr id="54" name="Logo disc vanderbilt"/>
          <p:cNvSpPr/>
          <p:nvPr/>
        </p:nvSpPr>
        <p:spPr>
          <a:xfrm>
            <a:off x="2224339" y="2984936"/>
            <a:ext cx="237744" cy="237744"/>
          </a:xfrm>
          <a:prstGeom prst="ellipse">
            <a:avLst/>
          </a:prstGeom>
          <a:solidFill>
            <a:srgbClr val="FFFFFF"/>
          </a:solid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5" name="Logo vanderbilt" descr="vanderbilt logo"/>
          <p:cNvPicPr>
            <a:picLocks noChangeAspect="1"/>
          </p:cNvPicPr>
          <p:nvPr/>
        </p:nvPicPr>
        <p:blipFill>
          <a:blip r:embed="rId6"/>
          <a:stretch>
            <a:fillRect/>
          </a:stretch>
        </p:blipFill>
        <p:spPr>
          <a:xfrm>
            <a:off x="2260915" y="3022884"/>
            <a:ext cx="164592" cy="161848"/>
          </a:xfrm>
          <a:prstGeom prst="rect">
            <a:avLst/>
          </a:prstGeom>
        </p:spPr>
      </p:pic>
      <p:grpSp>
        <p:nvGrpSpPr>
          <p:cNvPr id="2" name="Group 1">
            <a:extLst>
              <a:ext uri="{FF2B5EF4-FFF2-40B4-BE49-F238E27FC236}">
                <a16:creationId xmlns:a16="http://schemas.microsoft.com/office/drawing/2014/main" id="{F37FF962-1312-BFED-01BB-E275CB4EA70C}"/>
              </a:ext>
            </a:extLst>
          </p:cNvPr>
          <p:cNvGrpSpPr/>
          <p:nvPr/>
        </p:nvGrpSpPr>
        <p:grpSpPr>
          <a:xfrm>
            <a:off x="2471177" y="3116796"/>
            <a:ext cx="237744" cy="237744"/>
            <a:chOff x="2507545" y="3115400"/>
            <a:chExt cx="237744" cy="237744"/>
          </a:xfrm>
        </p:grpSpPr>
        <p:sp>
          <p:nvSpPr>
            <p:cNvPr id="56" name="Logo disc northwestern"/>
            <p:cNvSpPr/>
            <p:nvPr/>
          </p:nvSpPr>
          <p:spPr>
            <a:xfrm>
              <a:off x="2507545" y="3115400"/>
              <a:ext cx="237744" cy="237744"/>
            </a:xfrm>
            <a:prstGeom prst="ellipse">
              <a:avLst/>
            </a:prstGeom>
            <a:solidFill>
              <a:srgbClr val="FFFFFF"/>
            </a:solid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7" name="Logo northwestern" descr="northwestern logo"/>
            <p:cNvPicPr>
              <a:picLocks noChangeAspect="1"/>
            </p:cNvPicPr>
            <p:nvPr/>
          </p:nvPicPr>
          <p:blipFill>
            <a:blip r:embed="rId7"/>
            <a:stretch>
              <a:fillRect/>
            </a:stretch>
          </p:blipFill>
          <p:spPr>
            <a:xfrm>
              <a:off x="2573747" y="3151976"/>
              <a:ext cx="105338" cy="164592"/>
            </a:xfrm>
            <a:prstGeom prst="rect">
              <a:avLst/>
            </a:prstGeom>
          </p:spPr>
        </p:pic>
      </p:grpSp>
      <p:grpSp>
        <p:nvGrpSpPr>
          <p:cNvPr id="5" name="Group 4">
            <a:extLst>
              <a:ext uri="{FF2B5EF4-FFF2-40B4-BE49-F238E27FC236}">
                <a16:creationId xmlns:a16="http://schemas.microsoft.com/office/drawing/2014/main" id="{F6333976-4CB5-AA80-6325-CD3FDAAF49E4}"/>
              </a:ext>
            </a:extLst>
          </p:cNvPr>
          <p:cNvGrpSpPr/>
          <p:nvPr/>
        </p:nvGrpSpPr>
        <p:grpSpPr>
          <a:xfrm>
            <a:off x="3515628" y="3280353"/>
            <a:ext cx="237744" cy="237744"/>
            <a:chOff x="3608304" y="3292710"/>
            <a:chExt cx="237744" cy="237744"/>
          </a:xfrm>
        </p:grpSpPr>
        <p:sp>
          <p:nvSpPr>
            <p:cNvPr id="58" name="Logo disc harvard"/>
            <p:cNvSpPr/>
            <p:nvPr/>
          </p:nvSpPr>
          <p:spPr>
            <a:xfrm>
              <a:off x="3608304" y="3292710"/>
              <a:ext cx="237744" cy="237744"/>
            </a:xfrm>
            <a:prstGeom prst="ellipse">
              <a:avLst/>
            </a:prstGeom>
            <a:solidFill>
              <a:srgbClr val="FFFFFF"/>
            </a:solid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9" name="Logo harvard" descr="harvard logo"/>
            <p:cNvPicPr>
              <a:picLocks noChangeAspect="1"/>
            </p:cNvPicPr>
            <p:nvPr/>
          </p:nvPicPr>
          <p:blipFill>
            <a:blip r:embed="rId8"/>
            <a:stretch>
              <a:fillRect/>
            </a:stretch>
          </p:blipFill>
          <p:spPr>
            <a:xfrm>
              <a:off x="3657362" y="3329286"/>
              <a:ext cx="139628" cy="164592"/>
            </a:xfrm>
            <a:prstGeom prst="rect">
              <a:avLst/>
            </a:prstGeom>
          </p:spPr>
        </p:pic>
      </p:grpSp>
      <p:grpSp>
        <p:nvGrpSpPr>
          <p:cNvPr id="6" name="Group 5">
            <a:extLst>
              <a:ext uri="{FF2B5EF4-FFF2-40B4-BE49-F238E27FC236}">
                <a16:creationId xmlns:a16="http://schemas.microsoft.com/office/drawing/2014/main" id="{482C51DB-BCD9-CAC1-381E-CE9D87C6205D}"/>
              </a:ext>
            </a:extLst>
          </p:cNvPr>
          <p:cNvGrpSpPr/>
          <p:nvPr/>
        </p:nvGrpSpPr>
        <p:grpSpPr>
          <a:xfrm>
            <a:off x="3592979" y="2794059"/>
            <a:ext cx="237744" cy="237744"/>
            <a:chOff x="3698012" y="2787881"/>
            <a:chExt cx="237744" cy="237744"/>
          </a:xfrm>
        </p:grpSpPr>
        <p:sp>
          <p:nvSpPr>
            <p:cNvPr id="60" name="Logo disc princeton"/>
            <p:cNvSpPr/>
            <p:nvPr/>
          </p:nvSpPr>
          <p:spPr>
            <a:xfrm>
              <a:off x="3698012" y="2787881"/>
              <a:ext cx="237744" cy="237744"/>
            </a:xfrm>
            <a:prstGeom prst="ellipse">
              <a:avLst/>
            </a:prstGeom>
            <a:solidFill>
              <a:srgbClr val="FFFFFF"/>
            </a:solid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1" name="Logo princeton" descr="princeton logo"/>
            <p:cNvPicPr>
              <a:picLocks noChangeAspect="1"/>
            </p:cNvPicPr>
            <p:nvPr/>
          </p:nvPicPr>
          <p:blipFill>
            <a:blip r:embed="rId9"/>
            <a:stretch>
              <a:fillRect/>
            </a:stretch>
          </p:blipFill>
          <p:spPr>
            <a:xfrm>
              <a:off x="3751322" y="2824457"/>
              <a:ext cx="131124" cy="164592"/>
            </a:xfrm>
            <a:prstGeom prst="rect">
              <a:avLst/>
            </a:prstGeom>
          </p:spPr>
        </p:pic>
      </p:grpSp>
      <p:grpSp>
        <p:nvGrpSpPr>
          <p:cNvPr id="78" name="Group 77">
            <a:extLst>
              <a:ext uri="{FF2B5EF4-FFF2-40B4-BE49-F238E27FC236}">
                <a16:creationId xmlns:a16="http://schemas.microsoft.com/office/drawing/2014/main" id="{F2E27F8E-52F9-C63E-F505-92DFC307AA37}"/>
              </a:ext>
            </a:extLst>
          </p:cNvPr>
          <p:cNvGrpSpPr/>
          <p:nvPr/>
        </p:nvGrpSpPr>
        <p:grpSpPr>
          <a:xfrm>
            <a:off x="4566987" y="2705516"/>
            <a:ext cx="237744" cy="237744"/>
            <a:chOff x="4622593" y="2705516"/>
            <a:chExt cx="237744" cy="237744"/>
          </a:xfrm>
        </p:grpSpPr>
        <p:sp>
          <p:nvSpPr>
            <p:cNvPr id="62" name="Logo disc yale"/>
            <p:cNvSpPr/>
            <p:nvPr/>
          </p:nvSpPr>
          <p:spPr>
            <a:xfrm>
              <a:off x="4622593" y="2705516"/>
              <a:ext cx="237744" cy="237744"/>
            </a:xfrm>
            <a:prstGeom prst="ellipse">
              <a:avLst/>
            </a:prstGeom>
            <a:solidFill>
              <a:srgbClr val="FFFFFF"/>
            </a:solid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3" name="Logo yale" descr="yale logo"/>
            <p:cNvPicPr>
              <a:picLocks noChangeAspect="1"/>
            </p:cNvPicPr>
            <p:nvPr/>
          </p:nvPicPr>
          <p:blipFill>
            <a:blip r:embed="rId10"/>
            <a:stretch>
              <a:fillRect/>
            </a:stretch>
          </p:blipFill>
          <p:spPr>
            <a:xfrm>
              <a:off x="4662324" y="2742092"/>
              <a:ext cx="158282" cy="164592"/>
            </a:xfrm>
            <a:prstGeom prst="rect">
              <a:avLst/>
            </a:prstGeom>
          </p:spPr>
        </p:pic>
      </p:grpSp>
      <p:grpSp>
        <p:nvGrpSpPr>
          <p:cNvPr id="79" name="Group 78">
            <a:extLst>
              <a:ext uri="{FF2B5EF4-FFF2-40B4-BE49-F238E27FC236}">
                <a16:creationId xmlns:a16="http://schemas.microsoft.com/office/drawing/2014/main" id="{46EA62EA-9F77-B490-A85D-6905AA1A8E4E}"/>
              </a:ext>
            </a:extLst>
          </p:cNvPr>
          <p:cNvGrpSpPr/>
          <p:nvPr/>
        </p:nvGrpSpPr>
        <p:grpSpPr>
          <a:xfrm>
            <a:off x="5081896" y="3342845"/>
            <a:ext cx="237744" cy="237744"/>
            <a:chOff x="5162215" y="3342845"/>
            <a:chExt cx="237744" cy="237744"/>
          </a:xfrm>
        </p:grpSpPr>
        <p:sp>
          <p:nvSpPr>
            <p:cNvPr id="64" name="Logo disc mit"/>
            <p:cNvSpPr/>
            <p:nvPr/>
          </p:nvSpPr>
          <p:spPr>
            <a:xfrm>
              <a:off x="5162215" y="3342845"/>
              <a:ext cx="237744" cy="237744"/>
            </a:xfrm>
            <a:prstGeom prst="ellipse">
              <a:avLst/>
            </a:prstGeom>
            <a:solidFill>
              <a:srgbClr val="FFFFFF"/>
            </a:solid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5" name="Logo mit" descr="mit logo"/>
            <p:cNvPicPr>
              <a:picLocks noChangeAspect="1"/>
            </p:cNvPicPr>
            <p:nvPr/>
          </p:nvPicPr>
          <p:blipFill>
            <a:blip r:embed="rId11"/>
            <a:stretch>
              <a:fillRect/>
            </a:stretch>
          </p:blipFill>
          <p:spPr>
            <a:xfrm>
              <a:off x="5198791" y="3418375"/>
              <a:ext cx="164592" cy="86685"/>
            </a:xfrm>
            <a:prstGeom prst="rect">
              <a:avLst/>
            </a:prstGeom>
          </p:spPr>
        </p:pic>
      </p:grpSp>
      <p:grpSp>
        <p:nvGrpSpPr>
          <p:cNvPr id="80" name="Group 79">
            <a:extLst>
              <a:ext uri="{FF2B5EF4-FFF2-40B4-BE49-F238E27FC236}">
                <a16:creationId xmlns:a16="http://schemas.microsoft.com/office/drawing/2014/main" id="{8B113814-14DA-7218-EE80-D7D06EE14A1E}"/>
              </a:ext>
            </a:extLst>
          </p:cNvPr>
          <p:cNvGrpSpPr/>
          <p:nvPr/>
        </p:nvGrpSpPr>
        <p:grpSpPr>
          <a:xfrm>
            <a:off x="5941551" y="3056314"/>
            <a:ext cx="237744" cy="237744"/>
            <a:chOff x="6015691" y="3050135"/>
            <a:chExt cx="237744" cy="237744"/>
          </a:xfrm>
        </p:grpSpPr>
        <p:sp>
          <p:nvSpPr>
            <p:cNvPr id="66" name="Logo disc chicago"/>
            <p:cNvSpPr/>
            <p:nvPr/>
          </p:nvSpPr>
          <p:spPr>
            <a:xfrm>
              <a:off x="6015691" y="3050135"/>
              <a:ext cx="237744" cy="237744"/>
            </a:xfrm>
            <a:prstGeom prst="ellipse">
              <a:avLst/>
            </a:prstGeom>
            <a:solidFill>
              <a:srgbClr val="FFFFFF"/>
            </a:solidFill>
            <a:ln w="22225">
              <a:solidFill>
                <a:srgbClr val="1F5B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7" name="Logo chicago" descr="chicago logo"/>
            <p:cNvPicPr>
              <a:picLocks noChangeAspect="1"/>
            </p:cNvPicPr>
            <p:nvPr/>
          </p:nvPicPr>
          <p:blipFill>
            <a:blip r:embed="rId12"/>
            <a:stretch>
              <a:fillRect/>
            </a:stretch>
          </p:blipFill>
          <p:spPr>
            <a:xfrm>
              <a:off x="6069138" y="3086711"/>
              <a:ext cx="130850" cy="164592"/>
            </a:xfrm>
            <a:prstGeom prst="rect">
              <a:avLst/>
            </a:prstGeom>
          </p:spPr>
        </p:pic>
      </p:grpSp>
      <p:grpSp>
        <p:nvGrpSpPr>
          <p:cNvPr id="81" name="Group 80">
            <a:extLst>
              <a:ext uri="{FF2B5EF4-FFF2-40B4-BE49-F238E27FC236}">
                <a16:creationId xmlns:a16="http://schemas.microsoft.com/office/drawing/2014/main" id="{A48A8CE5-339E-7A82-A442-EE546683D75E}"/>
              </a:ext>
            </a:extLst>
          </p:cNvPr>
          <p:cNvGrpSpPr/>
          <p:nvPr/>
        </p:nvGrpSpPr>
        <p:grpSpPr>
          <a:xfrm>
            <a:off x="7172334" y="2967731"/>
            <a:ext cx="237744" cy="237744"/>
            <a:chOff x="7252653" y="2967731"/>
            <a:chExt cx="237744" cy="237744"/>
          </a:xfrm>
        </p:grpSpPr>
        <p:sp>
          <p:nvSpPr>
            <p:cNvPr id="68" name="Logo disc duke"/>
            <p:cNvSpPr/>
            <p:nvPr/>
          </p:nvSpPr>
          <p:spPr>
            <a:xfrm>
              <a:off x="7252653" y="2967731"/>
              <a:ext cx="237744" cy="237744"/>
            </a:xfrm>
            <a:prstGeom prst="ellipse">
              <a:avLst/>
            </a:prstGeom>
            <a:solidFill>
              <a:srgbClr val="FFFFFF"/>
            </a:solidFill>
            <a:ln w="22225">
              <a:solidFill>
                <a:srgbClr val="1F5B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9" name="Logo duke" descr="duke logo"/>
            <p:cNvPicPr>
              <a:picLocks noChangeAspect="1"/>
            </p:cNvPicPr>
            <p:nvPr/>
          </p:nvPicPr>
          <p:blipFill>
            <a:blip r:embed="rId13"/>
            <a:stretch>
              <a:fillRect/>
            </a:stretch>
          </p:blipFill>
          <p:spPr>
            <a:xfrm>
              <a:off x="7289229" y="3050393"/>
              <a:ext cx="164592" cy="72420"/>
            </a:xfrm>
            <a:prstGeom prst="rect">
              <a:avLst/>
            </a:prstGeom>
          </p:spPr>
        </p:pic>
      </p:grpSp>
      <p:grpSp>
        <p:nvGrpSpPr>
          <p:cNvPr id="83" name="Group 82">
            <a:extLst>
              <a:ext uri="{FF2B5EF4-FFF2-40B4-BE49-F238E27FC236}">
                <a16:creationId xmlns:a16="http://schemas.microsoft.com/office/drawing/2014/main" id="{D04632BC-4D1F-1EE1-B18A-E073EDEA8D10}"/>
              </a:ext>
            </a:extLst>
          </p:cNvPr>
          <p:cNvGrpSpPr/>
          <p:nvPr/>
        </p:nvGrpSpPr>
        <p:grpSpPr>
          <a:xfrm>
            <a:off x="7960734" y="2649417"/>
            <a:ext cx="237744" cy="237744"/>
            <a:chOff x="8041052" y="2649417"/>
            <a:chExt cx="237744" cy="237744"/>
          </a:xfrm>
        </p:grpSpPr>
        <p:sp>
          <p:nvSpPr>
            <p:cNvPr id="70" name="Logo disc emory"/>
            <p:cNvSpPr/>
            <p:nvPr/>
          </p:nvSpPr>
          <p:spPr>
            <a:xfrm>
              <a:off x="8041052" y="2649417"/>
              <a:ext cx="237744" cy="237744"/>
            </a:xfrm>
            <a:prstGeom prst="ellipse">
              <a:avLst/>
            </a:prstGeom>
            <a:solidFill>
              <a:srgbClr val="FFFFFF"/>
            </a:solidFill>
            <a:ln w="22225">
              <a:solidFill>
                <a:srgbClr val="1F5B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1" name="Logo emory" descr="emory logo"/>
            <p:cNvPicPr>
              <a:picLocks noChangeAspect="1"/>
            </p:cNvPicPr>
            <p:nvPr/>
          </p:nvPicPr>
          <p:blipFill>
            <a:blip r:embed="rId14"/>
            <a:stretch>
              <a:fillRect/>
            </a:stretch>
          </p:blipFill>
          <p:spPr>
            <a:xfrm>
              <a:off x="8077628" y="2685993"/>
              <a:ext cx="164592" cy="164592"/>
            </a:xfrm>
            <a:prstGeom prst="rect">
              <a:avLst/>
            </a:prstGeom>
          </p:spPr>
        </p:pic>
      </p:grpSp>
      <p:grpSp>
        <p:nvGrpSpPr>
          <p:cNvPr id="82" name="Group 81">
            <a:extLst>
              <a:ext uri="{FF2B5EF4-FFF2-40B4-BE49-F238E27FC236}">
                <a16:creationId xmlns:a16="http://schemas.microsoft.com/office/drawing/2014/main" id="{CD252254-6E00-B406-824C-531B09C4D7DB}"/>
              </a:ext>
            </a:extLst>
          </p:cNvPr>
          <p:cNvGrpSpPr/>
          <p:nvPr/>
        </p:nvGrpSpPr>
        <p:grpSpPr>
          <a:xfrm>
            <a:off x="7806853" y="3533127"/>
            <a:ext cx="237744" cy="237744"/>
            <a:chOff x="7893351" y="3545484"/>
            <a:chExt cx="237744" cy="237744"/>
          </a:xfrm>
        </p:grpSpPr>
        <p:sp>
          <p:nvSpPr>
            <p:cNvPr id="72" name="Logo disc penn"/>
            <p:cNvSpPr/>
            <p:nvPr/>
          </p:nvSpPr>
          <p:spPr>
            <a:xfrm>
              <a:off x="7893351" y="3545484"/>
              <a:ext cx="237744" cy="237744"/>
            </a:xfrm>
            <a:prstGeom prst="ellipse">
              <a:avLst/>
            </a:prstGeom>
            <a:solidFill>
              <a:srgbClr val="FFFFFF"/>
            </a:solidFill>
            <a:ln w="22225">
              <a:solidFill>
                <a:srgbClr val="8FA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3" name="Logo penn" descr="penn logo"/>
            <p:cNvPicPr>
              <a:picLocks noChangeAspect="1"/>
            </p:cNvPicPr>
            <p:nvPr/>
          </p:nvPicPr>
          <p:blipFill>
            <a:blip r:embed="rId15"/>
            <a:stretch>
              <a:fillRect/>
            </a:stretch>
          </p:blipFill>
          <p:spPr>
            <a:xfrm>
              <a:off x="7929927" y="3592758"/>
              <a:ext cx="164592" cy="143195"/>
            </a:xfrm>
            <a:prstGeom prst="rect">
              <a:avLst/>
            </a:prstGeom>
          </p:spPr>
        </p:pic>
      </p:grpSp>
      <p:grpSp>
        <p:nvGrpSpPr>
          <p:cNvPr id="84" name="Group 83">
            <a:extLst>
              <a:ext uri="{FF2B5EF4-FFF2-40B4-BE49-F238E27FC236}">
                <a16:creationId xmlns:a16="http://schemas.microsoft.com/office/drawing/2014/main" id="{D356B76B-EBE3-61D7-A8AC-B4B7B5C5EA17}"/>
              </a:ext>
            </a:extLst>
          </p:cNvPr>
          <p:cNvGrpSpPr/>
          <p:nvPr/>
        </p:nvGrpSpPr>
        <p:grpSpPr>
          <a:xfrm>
            <a:off x="10982856" y="2960223"/>
            <a:ext cx="237744" cy="237744"/>
            <a:chOff x="11075531" y="2984936"/>
            <a:chExt cx="237744" cy="237744"/>
          </a:xfrm>
        </p:grpSpPr>
        <p:sp>
          <p:nvSpPr>
            <p:cNvPr id="74" name="Logo disc stanford"/>
            <p:cNvSpPr/>
            <p:nvPr/>
          </p:nvSpPr>
          <p:spPr>
            <a:xfrm>
              <a:off x="11075531" y="2984936"/>
              <a:ext cx="237744" cy="237744"/>
            </a:xfrm>
            <a:prstGeom prst="ellipse">
              <a:avLst/>
            </a:prstGeom>
            <a:solidFill>
              <a:srgbClr val="FFFFFF"/>
            </a:solidFill>
            <a:ln w="22225">
              <a:solidFill>
                <a:srgbClr val="8FA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5" name="Logo stanford" descr="stanford logo"/>
            <p:cNvPicPr>
              <a:picLocks noChangeAspect="1"/>
            </p:cNvPicPr>
            <p:nvPr/>
          </p:nvPicPr>
          <p:blipFill>
            <a:blip r:embed="rId16"/>
            <a:stretch>
              <a:fillRect/>
            </a:stretch>
          </p:blipFill>
          <p:spPr>
            <a:xfrm>
              <a:off x="11140224" y="3021512"/>
              <a:ext cx="108356" cy="164592"/>
            </a:xfrm>
            <a:prstGeom prst="rect">
              <a:avLst/>
            </a:prstGeom>
          </p:spPr>
        </p:pic>
      </p:grpSp>
      <p:sp>
        <p:nvSpPr>
          <p:cNvPr id="76" name="Logo disc northeastern"/>
          <p:cNvSpPr/>
          <p:nvPr/>
        </p:nvSpPr>
        <p:spPr>
          <a:xfrm>
            <a:off x="1544956" y="3229256"/>
            <a:ext cx="237744" cy="237744"/>
          </a:xfrm>
          <a:prstGeom prst="ellipse">
            <a:avLst/>
          </a:prstGeom>
          <a:solidFill>
            <a:srgbClr val="FFFFFF"/>
          </a:solidFill>
          <a:ln w="22225">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7" name="Logo northeastern" descr="northeastern logo"/>
          <p:cNvPicPr>
            <a:picLocks noChangeAspect="1"/>
          </p:cNvPicPr>
          <p:nvPr/>
        </p:nvPicPr>
        <p:blipFill>
          <a:blip r:embed="rId17"/>
          <a:stretch>
            <a:fillRect/>
          </a:stretch>
        </p:blipFill>
        <p:spPr>
          <a:xfrm>
            <a:off x="1581532" y="3265832"/>
            <a:ext cx="164592" cy="164592"/>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414599"/>
            <a:ext cx="11274552" cy="307777"/>
          </a:xfrm>
          <a:prstGeom prst="rect">
            <a:avLst/>
          </a:prstGeom>
          <a:noFill/>
        </p:spPr>
        <p:txBody>
          <a:bodyPr wrap="square" lIns="0" tIns="0" rIns="0" bIns="0" anchor="t">
            <a:spAutoFit/>
          </a:bodyPr>
          <a:lstStyle/>
          <a:p>
            <a:pPr algn="l"/>
            <a:r>
              <a:rPr sz="2000" b="1" i="0" dirty="0">
                <a:solidFill>
                  <a:srgbClr val="000000"/>
                </a:solidFill>
                <a:latin typeface="Lato"/>
              </a:rPr>
              <a:t>Northeastern and the economic turmoil: plan carefully, protect the core, stay resilient</a:t>
            </a:r>
          </a:p>
        </p:txBody>
      </p:sp>
      <p:cxnSp>
        <p:nvCxnSpPr>
          <p:cNvPr id="3" name="Connector 2"/>
          <p:cNvCxnSpPr/>
          <p:nvPr/>
        </p:nvCxnSpPr>
        <p:spPr>
          <a:xfrm>
            <a:off x="457200" y="1417320"/>
            <a:ext cx="112745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563624"/>
            <a:ext cx="822960" cy="640080"/>
          </a:xfrm>
          <a:prstGeom prst="rect">
            <a:avLst/>
          </a:prstGeom>
          <a:noFill/>
        </p:spPr>
        <p:txBody>
          <a:bodyPr wrap="square" lIns="0" tIns="0" rIns="0" bIns="0" anchor="t">
            <a:spAutoFit/>
          </a:bodyPr>
          <a:lstStyle/>
          <a:p>
            <a:pPr algn="l"/>
            <a:r>
              <a:rPr sz="4000" b="1" i="0">
                <a:solidFill>
                  <a:srgbClr val="C8102E"/>
                </a:solidFill>
                <a:latin typeface="Lato"/>
              </a:rPr>
              <a:t>1</a:t>
            </a:r>
          </a:p>
        </p:txBody>
      </p:sp>
      <p:sp>
        <p:nvSpPr>
          <p:cNvPr id="5" name="TextBox 4"/>
          <p:cNvSpPr txBox="1"/>
          <p:nvPr/>
        </p:nvSpPr>
        <p:spPr>
          <a:xfrm>
            <a:off x="1371600" y="1664208"/>
            <a:ext cx="2377440" cy="457200"/>
          </a:xfrm>
          <a:prstGeom prst="rect">
            <a:avLst/>
          </a:prstGeom>
          <a:noFill/>
        </p:spPr>
        <p:txBody>
          <a:bodyPr wrap="square" lIns="0" tIns="0" rIns="0" bIns="0" anchor="t">
            <a:spAutoFit/>
          </a:bodyPr>
          <a:lstStyle/>
          <a:p>
            <a:pPr algn="l"/>
            <a:r>
              <a:rPr sz="2000" b="1" i="0">
                <a:solidFill>
                  <a:srgbClr val="000000"/>
                </a:solidFill>
                <a:latin typeface="Lato"/>
              </a:rPr>
              <a:t>Context</a:t>
            </a:r>
          </a:p>
        </p:txBody>
      </p:sp>
      <p:sp>
        <p:nvSpPr>
          <p:cNvPr id="6" name="TextBox 5"/>
          <p:cNvSpPr txBox="1"/>
          <p:nvPr/>
        </p:nvSpPr>
        <p:spPr>
          <a:xfrm>
            <a:off x="3931920" y="1600200"/>
            <a:ext cx="7772400" cy="731520"/>
          </a:xfrm>
          <a:prstGeom prst="rect">
            <a:avLst/>
          </a:prstGeom>
          <a:noFill/>
        </p:spPr>
        <p:txBody>
          <a:bodyPr wrap="square" lIns="0" tIns="0" rIns="0" bIns="0" anchor="t">
            <a:spAutoFit/>
          </a:bodyPr>
          <a:lstStyle/>
          <a:p>
            <a:pPr algn="l"/>
            <a:r>
              <a:rPr sz="1500" b="0" i="0">
                <a:solidFill>
                  <a:srgbClr val="000000"/>
                </a:solidFill>
                <a:latin typeface="Lato"/>
              </a:rPr>
              <a:t>Northeastern is no exception to the financial uncertainty affecting colleges and universities around the country and the world. The final impact is difficult to predict.</a:t>
            </a:r>
          </a:p>
        </p:txBody>
      </p:sp>
      <p:cxnSp>
        <p:nvCxnSpPr>
          <p:cNvPr id="7" name="Connector 6"/>
          <p:cNvCxnSpPr/>
          <p:nvPr/>
        </p:nvCxnSpPr>
        <p:spPr>
          <a:xfrm>
            <a:off x="457200" y="2368296"/>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2514600"/>
            <a:ext cx="822960" cy="640080"/>
          </a:xfrm>
          <a:prstGeom prst="rect">
            <a:avLst/>
          </a:prstGeom>
          <a:noFill/>
        </p:spPr>
        <p:txBody>
          <a:bodyPr wrap="square" lIns="0" tIns="0" rIns="0" bIns="0" anchor="t">
            <a:spAutoFit/>
          </a:bodyPr>
          <a:lstStyle/>
          <a:p>
            <a:pPr algn="l"/>
            <a:r>
              <a:rPr sz="4000" b="1" i="0">
                <a:solidFill>
                  <a:srgbClr val="C8102E"/>
                </a:solidFill>
                <a:latin typeface="Lato"/>
              </a:rPr>
              <a:t>2</a:t>
            </a:r>
          </a:p>
        </p:txBody>
      </p:sp>
      <p:sp>
        <p:nvSpPr>
          <p:cNvPr id="9" name="TextBox 8"/>
          <p:cNvSpPr txBox="1"/>
          <p:nvPr/>
        </p:nvSpPr>
        <p:spPr>
          <a:xfrm>
            <a:off x="1371600" y="2615184"/>
            <a:ext cx="2377440" cy="457200"/>
          </a:xfrm>
          <a:prstGeom prst="rect">
            <a:avLst/>
          </a:prstGeom>
          <a:noFill/>
        </p:spPr>
        <p:txBody>
          <a:bodyPr wrap="square" lIns="0" tIns="0" rIns="0" bIns="0" anchor="t">
            <a:spAutoFit/>
          </a:bodyPr>
          <a:lstStyle/>
          <a:p>
            <a:pPr algn="l"/>
            <a:r>
              <a:rPr sz="2000" b="1" i="0">
                <a:solidFill>
                  <a:srgbClr val="000000"/>
                </a:solidFill>
                <a:latin typeface="Lato"/>
              </a:rPr>
              <a:t>Response</a:t>
            </a:r>
          </a:p>
        </p:txBody>
      </p:sp>
      <p:sp>
        <p:nvSpPr>
          <p:cNvPr id="10" name="TextBox 9"/>
          <p:cNvSpPr txBox="1"/>
          <p:nvPr/>
        </p:nvSpPr>
        <p:spPr>
          <a:xfrm>
            <a:off x="3931920" y="2551176"/>
            <a:ext cx="7772400" cy="731520"/>
          </a:xfrm>
          <a:prstGeom prst="rect">
            <a:avLst/>
          </a:prstGeom>
          <a:noFill/>
        </p:spPr>
        <p:txBody>
          <a:bodyPr wrap="square" lIns="0" tIns="0" rIns="0" bIns="0" anchor="t">
            <a:spAutoFit/>
          </a:bodyPr>
          <a:lstStyle/>
          <a:p>
            <a:pPr algn="l"/>
            <a:r>
              <a:rPr sz="1500" b="0" i="0">
                <a:solidFill>
                  <a:srgbClr val="000000"/>
                </a:solidFill>
                <a:latin typeface="Lato"/>
              </a:rPr>
              <a:t>Leaders across the colleges are meeting regularly to assess options, weigh issues and develop programs to assist our employees. Market fluctuations underscore the importance of planning and priority setting.</a:t>
            </a:r>
          </a:p>
        </p:txBody>
      </p:sp>
      <p:cxnSp>
        <p:nvCxnSpPr>
          <p:cNvPr id="11" name="Connector 10"/>
          <p:cNvCxnSpPr/>
          <p:nvPr/>
        </p:nvCxnSpPr>
        <p:spPr>
          <a:xfrm>
            <a:off x="457200" y="3319272"/>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57200" y="3465576"/>
            <a:ext cx="822960" cy="640080"/>
          </a:xfrm>
          <a:prstGeom prst="rect">
            <a:avLst/>
          </a:prstGeom>
          <a:noFill/>
        </p:spPr>
        <p:txBody>
          <a:bodyPr wrap="square" lIns="0" tIns="0" rIns="0" bIns="0" anchor="t">
            <a:spAutoFit/>
          </a:bodyPr>
          <a:lstStyle/>
          <a:p>
            <a:pPr algn="l"/>
            <a:r>
              <a:rPr sz="4000" b="1" i="0">
                <a:solidFill>
                  <a:srgbClr val="C8102E"/>
                </a:solidFill>
                <a:latin typeface="Lato"/>
              </a:rPr>
              <a:t>3</a:t>
            </a:r>
          </a:p>
        </p:txBody>
      </p:sp>
      <p:sp>
        <p:nvSpPr>
          <p:cNvPr id="13" name="TextBox 12"/>
          <p:cNvSpPr txBox="1"/>
          <p:nvPr/>
        </p:nvSpPr>
        <p:spPr>
          <a:xfrm>
            <a:off x="1371600" y="3566160"/>
            <a:ext cx="2377440" cy="457200"/>
          </a:xfrm>
          <a:prstGeom prst="rect">
            <a:avLst/>
          </a:prstGeom>
          <a:noFill/>
        </p:spPr>
        <p:txBody>
          <a:bodyPr wrap="square" lIns="0" tIns="0" rIns="0" bIns="0" anchor="t">
            <a:spAutoFit/>
          </a:bodyPr>
          <a:lstStyle/>
          <a:p>
            <a:pPr algn="l"/>
            <a:r>
              <a:rPr sz="2000" b="1" i="0">
                <a:solidFill>
                  <a:srgbClr val="000000"/>
                </a:solidFill>
                <a:latin typeface="Lato"/>
              </a:rPr>
              <a:t>Resilience</a:t>
            </a:r>
          </a:p>
        </p:txBody>
      </p:sp>
      <p:sp>
        <p:nvSpPr>
          <p:cNvPr id="14" name="TextBox 13"/>
          <p:cNvSpPr txBox="1"/>
          <p:nvPr/>
        </p:nvSpPr>
        <p:spPr>
          <a:xfrm>
            <a:off x="3931920" y="3502152"/>
            <a:ext cx="7772400" cy="731520"/>
          </a:xfrm>
          <a:prstGeom prst="rect">
            <a:avLst/>
          </a:prstGeom>
          <a:noFill/>
        </p:spPr>
        <p:txBody>
          <a:bodyPr wrap="square" lIns="0" tIns="0" rIns="0" bIns="0" anchor="t">
            <a:spAutoFit/>
          </a:bodyPr>
          <a:lstStyle/>
          <a:p>
            <a:pPr algn="l"/>
            <a:r>
              <a:rPr sz="1500" b="0" i="0">
                <a:solidFill>
                  <a:srgbClr val="000000"/>
                </a:solidFill>
                <a:latin typeface="Lato"/>
              </a:rPr>
              <a:t>Universities have shown remarkable resilience and creative power in the face of unpredictability and change for centuries. Active and careful stewardship has enabled Northeastern to weather previous stormy periods, and we will do so again.</a:t>
            </a:r>
          </a:p>
        </p:txBody>
      </p:sp>
      <p:cxnSp>
        <p:nvCxnSpPr>
          <p:cNvPr id="15" name="Connector 14"/>
          <p:cNvCxnSpPr/>
          <p:nvPr/>
        </p:nvCxnSpPr>
        <p:spPr>
          <a:xfrm>
            <a:off x="457200" y="4270248"/>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57200" y="4416552"/>
            <a:ext cx="822960" cy="640080"/>
          </a:xfrm>
          <a:prstGeom prst="rect">
            <a:avLst/>
          </a:prstGeom>
          <a:noFill/>
        </p:spPr>
        <p:txBody>
          <a:bodyPr wrap="square" lIns="0" tIns="0" rIns="0" bIns="0" anchor="t">
            <a:spAutoFit/>
          </a:bodyPr>
          <a:lstStyle/>
          <a:p>
            <a:pPr algn="l"/>
            <a:r>
              <a:rPr sz="4000" b="1" i="0">
                <a:solidFill>
                  <a:srgbClr val="C8102E"/>
                </a:solidFill>
                <a:latin typeface="Lato"/>
              </a:rPr>
              <a:t>4</a:t>
            </a:r>
          </a:p>
        </p:txBody>
      </p:sp>
      <p:sp>
        <p:nvSpPr>
          <p:cNvPr id="17" name="TextBox 16"/>
          <p:cNvSpPr txBox="1"/>
          <p:nvPr/>
        </p:nvSpPr>
        <p:spPr>
          <a:xfrm>
            <a:off x="1371600" y="4517136"/>
            <a:ext cx="2377440" cy="457200"/>
          </a:xfrm>
          <a:prstGeom prst="rect">
            <a:avLst/>
          </a:prstGeom>
          <a:noFill/>
        </p:spPr>
        <p:txBody>
          <a:bodyPr wrap="square" lIns="0" tIns="0" rIns="0" bIns="0" anchor="t">
            <a:spAutoFit/>
          </a:bodyPr>
          <a:lstStyle/>
          <a:p>
            <a:pPr algn="l"/>
            <a:r>
              <a:rPr sz="2000" b="1" i="0">
                <a:solidFill>
                  <a:srgbClr val="000000"/>
                </a:solidFill>
                <a:latin typeface="Lato"/>
              </a:rPr>
              <a:t>Priorities</a:t>
            </a:r>
          </a:p>
        </p:txBody>
      </p:sp>
      <p:sp>
        <p:nvSpPr>
          <p:cNvPr id="18" name="TextBox 17"/>
          <p:cNvSpPr txBox="1"/>
          <p:nvPr/>
        </p:nvSpPr>
        <p:spPr>
          <a:xfrm>
            <a:off x="3931920" y="4453128"/>
            <a:ext cx="7772400" cy="731520"/>
          </a:xfrm>
          <a:prstGeom prst="rect">
            <a:avLst/>
          </a:prstGeom>
          <a:noFill/>
        </p:spPr>
        <p:txBody>
          <a:bodyPr wrap="square" lIns="0" tIns="0" rIns="0" bIns="0" anchor="t">
            <a:spAutoFit/>
          </a:bodyPr>
          <a:lstStyle/>
          <a:p>
            <a:pPr algn="l"/>
            <a:r>
              <a:rPr sz="1500" b="0" i="0">
                <a:solidFill>
                  <a:srgbClr val="000000"/>
                </a:solidFill>
                <a:latin typeface="Lato"/>
              </a:rPr>
              <a:t>Moving forward, we must ensure that our core, our educational programs and faculty research, remains strong. We must sustain Northeastern’s excellence and assist our students.</a:t>
            </a:r>
          </a:p>
        </p:txBody>
      </p:sp>
      <p:cxnSp>
        <p:nvCxnSpPr>
          <p:cNvPr id="19" name="Connector 18"/>
          <p:cNvCxnSpPr/>
          <p:nvPr/>
        </p:nvCxnSpPr>
        <p:spPr>
          <a:xfrm>
            <a:off x="457200" y="5221224"/>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 y="5367528"/>
            <a:ext cx="822960" cy="640080"/>
          </a:xfrm>
          <a:prstGeom prst="rect">
            <a:avLst/>
          </a:prstGeom>
          <a:noFill/>
        </p:spPr>
        <p:txBody>
          <a:bodyPr wrap="square" lIns="0" tIns="0" rIns="0" bIns="0" anchor="t">
            <a:spAutoFit/>
          </a:bodyPr>
          <a:lstStyle/>
          <a:p>
            <a:pPr algn="l"/>
            <a:r>
              <a:rPr sz="4000" b="1" i="0">
                <a:solidFill>
                  <a:srgbClr val="C8102E"/>
                </a:solidFill>
                <a:latin typeface="Lato"/>
              </a:rPr>
              <a:t>5</a:t>
            </a:r>
          </a:p>
        </p:txBody>
      </p:sp>
      <p:sp>
        <p:nvSpPr>
          <p:cNvPr id="21" name="TextBox 20"/>
          <p:cNvSpPr txBox="1"/>
          <p:nvPr/>
        </p:nvSpPr>
        <p:spPr>
          <a:xfrm>
            <a:off x="1371600" y="5468112"/>
            <a:ext cx="2377440" cy="457200"/>
          </a:xfrm>
          <a:prstGeom prst="rect">
            <a:avLst/>
          </a:prstGeom>
          <a:noFill/>
        </p:spPr>
        <p:txBody>
          <a:bodyPr wrap="square" lIns="0" tIns="0" rIns="0" bIns="0" anchor="t">
            <a:spAutoFit/>
          </a:bodyPr>
          <a:lstStyle/>
          <a:p>
            <a:pPr algn="l"/>
            <a:r>
              <a:rPr sz="2000" b="1" i="0">
                <a:solidFill>
                  <a:srgbClr val="000000"/>
                </a:solidFill>
                <a:latin typeface="Lato"/>
              </a:rPr>
              <a:t>Opportunity</a:t>
            </a:r>
          </a:p>
        </p:txBody>
      </p:sp>
      <p:sp>
        <p:nvSpPr>
          <p:cNvPr id="22" name="TextBox 21"/>
          <p:cNvSpPr txBox="1"/>
          <p:nvPr/>
        </p:nvSpPr>
        <p:spPr>
          <a:xfrm>
            <a:off x="3931920" y="5404104"/>
            <a:ext cx="7772400" cy="731520"/>
          </a:xfrm>
          <a:prstGeom prst="rect">
            <a:avLst/>
          </a:prstGeom>
          <a:noFill/>
        </p:spPr>
        <p:txBody>
          <a:bodyPr wrap="square" lIns="0" tIns="0" rIns="0" bIns="0" anchor="t">
            <a:spAutoFit/>
          </a:bodyPr>
          <a:lstStyle/>
          <a:p>
            <a:pPr algn="l"/>
            <a:r>
              <a:rPr sz="1500" b="0" i="0">
                <a:solidFill>
                  <a:srgbClr val="000000"/>
                </a:solidFill>
                <a:latin typeface="Lato"/>
              </a:rPr>
              <a:t>We must also take advantage, when appropriate, of opportunities resulting from current market conditions.</a:t>
            </a:r>
          </a:p>
        </p:txBody>
      </p:sp>
      <p:cxnSp>
        <p:nvCxnSpPr>
          <p:cNvPr id="23" name="Connector 22"/>
          <p:cNvCxnSpPr/>
          <p:nvPr/>
        </p:nvCxnSpPr>
        <p:spPr>
          <a:xfrm>
            <a:off x="457200" y="617220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leadership messaging; draft for review</a:t>
            </a:r>
          </a:p>
        </p:txBody>
      </p:sp>
      <p:sp>
        <p:nvSpPr>
          <p:cNvPr id="25"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34</a:t>
            </a:fld>
            <a:endParaRPr lang="en-US" sz="900" b="1">
              <a:solidFill>
                <a:srgbClr val="000000"/>
              </a:solidFill>
              <a:latin typeface="Lat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487680"/>
            <a:ext cx="1828800" cy="1463040"/>
          </a:xfrm>
          <a:prstGeom prst="rect">
            <a:avLst/>
          </a:prstGeom>
          <a:noFill/>
        </p:spPr>
        <p:txBody>
          <a:bodyPr wrap="square" lIns="0" tIns="0" rIns="0" bIns="0" anchor="t">
            <a:spAutoFit/>
          </a:bodyPr>
          <a:lstStyle/>
          <a:p>
            <a:pPr algn="l"/>
            <a:r>
              <a:rPr sz="9600" b="1" i="0">
                <a:solidFill>
                  <a:srgbClr val="C8102E"/>
                </a:solidFill>
                <a:latin typeface="Lato"/>
              </a:rPr>
              <a:t>3</a:t>
            </a:r>
          </a:p>
        </p:txBody>
      </p:sp>
      <p:sp>
        <p:nvSpPr>
          <p:cNvPr id="3" name="TextBox 2"/>
          <p:cNvSpPr txBox="1"/>
          <p:nvPr/>
        </p:nvSpPr>
        <p:spPr>
          <a:xfrm>
            <a:off x="2834640" y="807720"/>
            <a:ext cx="8686800" cy="822960"/>
          </a:xfrm>
          <a:prstGeom prst="rect">
            <a:avLst/>
          </a:prstGeom>
          <a:noFill/>
        </p:spPr>
        <p:txBody>
          <a:bodyPr wrap="square" lIns="0" tIns="0" rIns="0" bIns="0" anchor="t">
            <a:spAutoFit/>
          </a:bodyPr>
          <a:lstStyle/>
          <a:p>
            <a:pPr algn="l"/>
            <a:r>
              <a:rPr sz="4000" b="1" i="0">
                <a:solidFill>
                  <a:srgbClr val="000000"/>
                </a:solidFill>
                <a:latin typeface="Lato"/>
              </a:rPr>
              <a:t>Challenges ahead</a:t>
            </a:r>
          </a:p>
        </p:txBody>
      </p:sp>
      <p:sp>
        <p:nvSpPr>
          <p:cNvPr id="4" name="TextBox 3"/>
          <p:cNvSpPr txBox="1"/>
          <p:nvPr/>
        </p:nvSpPr>
        <p:spPr>
          <a:xfrm>
            <a:off x="2834640" y="1534758"/>
            <a:ext cx="8229600" cy="1097280"/>
          </a:xfrm>
          <a:prstGeom prst="rect">
            <a:avLst/>
          </a:prstGeom>
          <a:noFill/>
        </p:spPr>
        <p:txBody>
          <a:bodyPr wrap="square" lIns="0" tIns="0" rIns="0" bIns="0" anchor="t">
            <a:spAutoFit/>
          </a:bodyPr>
          <a:lstStyle/>
          <a:p>
            <a:pPr algn="l"/>
            <a:r>
              <a:rPr sz="1800" b="0" i="0" dirty="0">
                <a:solidFill>
                  <a:srgbClr val="595959"/>
                </a:solidFill>
                <a:latin typeface="Lato"/>
              </a:rPr>
              <a:t>What to watch, and where Legal is likely to be engaged</a:t>
            </a:r>
          </a:p>
        </p:txBody>
      </p:sp>
      <p:pic>
        <p:nvPicPr>
          <p:cNvPr id="7" name="Picture 2" descr="http://i.kinja-img.com/gawker-media/image/upload/ounezlynjlsv8luvdagr.jpg">
            <a:extLst>
              <a:ext uri="{FF2B5EF4-FFF2-40B4-BE49-F238E27FC236}">
                <a16:creationId xmlns:a16="http://schemas.microsoft.com/office/drawing/2014/main" id="{5AE3B39E-B1D6-5084-5311-E303BB59AAD4}"/>
              </a:ext>
            </a:extLst>
          </p:cNvPr>
          <p:cNvPicPr>
            <a:picLocks noChangeAspect="1" noChangeArrowheads="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2584583" y="1950720"/>
            <a:ext cx="7622098" cy="4289459"/>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sp>
        <p:nvSpPr>
          <p:cNvPr id="8"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35</a:t>
            </a:fld>
            <a:endParaRPr lang="en-US" sz="900" b="1">
              <a:solidFill>
                <a:srgbClr val="000000"/>
              </a:solidFill>
              <a:latin typeface="Lat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tatement [PEER_KEEP]"/>
          <p:cNvSpPr txBox="1"/>
          <p:nvPr/>
        </p:nvSpPr>
        <p:spPr>
          <a:xfrm>
            <a:off x="768096" y="1207008"/>
            <a:ext cx="10972800" cy="274320"/>
          </a:xfrm>
          <a:prstGeom prst="rect">
            <a:avLst/>
          </a:prstGeom>
          <a:noFill/>
        </p:spPr>
        <p:txBody>
          <a:bodyPr wrap="square" lIns="0" tIns="0" rIns="0" bIns="0" anchor="t">
            <a:spAutoFit/>
          </a:bodyPr>
          <a:lstStyle/>
          <a:p>
            <a:pPr algn="l"/>
            <a:r>
              <a:rPr sz="1600" b="1" i="1">
                <a:solidFill>
                  <a:srgbClr val="000000"/>
                </a:solidFill>
                <a:latin typeface="Lato"/>
              </a:rPr>
              <a:t>_____ are aware of and understand the financial challenges confronting my institution</a:t>
            </a:r>
          </a:p>
        </p:txBody>
      </p:sp>
      <p:sp>
        <p:nvSpPr>
          <p:cNvPr id="8" name="Scale note [PEER_KEEP]"/>
          <p:cNvSpPr txBox="1"/>
          <p:nvPr/>
        </p:nvSpPr>
        <p:spPr>
          <a:xfrm>
            <a:off x="768096" y="1499616"/>
            <a:ext cx="10972800" cy="201168"/>
          </a:xfrm>
          <a:prstGeom prst="rect">
            <a:avLst/>
          </a:prstGeom>
          <a:noFill/>
        </p:spPr>
        <p:txBody>
          <a:bodyPr wrap="square" lIns="0" tIns="0" rIns="0" bIns="0" anchor="t">
            <a:spAutoFit/>
          </a:bodyPr>
          <a:lstStyle/>
          <a:p>
            <a:pPr algn="l"/>
            <a:r>
              <a:rPr sz="1050" b="0" i="1">
                <a:solidFill>
                  <a:srgbClr val="6B6B70"/>
                </a:solidFill>
                <a:latin typeface="Lato"/>
              </a:rPr>
              <a:t>(percent of business officers answering 4 or 5 on a five-point scale, with 5 = strongly agree and 1 = strongly disagree)</a:t>
            </a:r>
          </a:p>
        </p:txBody>
      </p:sp>
      <p:sp>
        <p:nvSpPr>
          <p:cNvPr id="9" name="Legend Faculty [PEER_KEEP]"/>
          <p:cNvSpPr/>
          <p:nvPr/>
        </p:nvSpPr>
        <p:spPr>
          <a:xfrm>
            <a:off x="768096" y="1801368"/>
            <a:ext cx="128016" cy="128016"/>
          </a:xfrm>
          <a:prstGeom prst="ellipse">
            <a:avLst/>
          </a:prstGeom>
          <a:solidFill>
            <a:srgbClr val="C8102E"/>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0" name="Legend text Faculty [PEER_KEEP]"/>
          <p:cNvSpPr txBox="1"/>
          <p:nvPr/>
        </p:nvSpPr>
        <p:spPr>
          <a:xfrm>
            <a:off x="969264" y="1773936"/>
            <a:ext cx="509690" cy="182880"/>
          </a:xfrm>
          <a:prstGeom prst="rect">
            <a:avLst/>
          </a:prstGeom>
          <a:noFill/>
        </p:spPr>
        <p:txBody>
          <a:bodyPr wrap="none" lIns="0" tIns="0" rIns="0" bIns="0" anchor="ctr">
            <a:spAutoFit/>
          </a:bodyPr>
          <a:lstStyle/>
          <a:p>
            <a:pPr algn="l"/>
            <a:r>
              <a:rPr sz="1050" b="0" i="0">
                <a:solidFill>
                  <a:srgbClr val="000000"/>
                </a:solidFill>
                <a:latin typeface="Lato"/>
              </a:rPr>
              <a:t>Faculty</a:t>
            </a:r>
          </a:p>
        </p:txBody>
      </p:sp>
      <p:sp>
        <p:nvSpPr>
          <p:cNvPr id="11" name="Legend Trustees [PEER_KEEP]"/>
          <p:cNvSpPr/>
          <p:nvPr/>
        </p:nvSpPr>
        <p:spPr>
          <a:xfrm>
            <a:off x="1789850" y="1792224"/>
            <a:ext cx="146304" cy="146304"/>
          </a:xfrm>
          <a:prstGeom prst="ellipse">
            <a:avLst/>
          </a:prstGeom>
          <a:solidFill>
            <a:srgbClr val="8A8D8F"/>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2" name="Legend text Trustees [PEER_KEEP]"/>
          <p:cNvSpPr txBox="1"/>
          <p:nvPr/>
        </p:nvSpPr>
        <p:spPr>
          <a:xfrm>
            <a:off x="2000162" y="1773936"/>
            <a:ext cx="582147" cy="182880"/>
          </a:xfrm>
          <a:prstGeom prst="rect">
            <a:avLst/>
          </a:prstGeom>
          <a:noFill/>
        </p:spPr>
        <p:txBody>
          <a:bodyPr wrap="none" lIns="0" tIns="0" rIns="0" bIns="0" anchor="ctr">
            <a:spAutoFit/>
          </a:bodyPr>
          <a:lstStyle/>
          <a:p>
            <a:pPr algn="l"/>
            <a:r>
              <a:rPr sz="1050" b="0" i="0">
                <a:solidFill>
                  <a:srgbClr val="000000"/>
                </a:solidFill>
                <a:latin typeface="Lato"/>
              </a:rPr>
              <a:t>Trustees</a:t>
            </a:r>
          </a:p>
        </p:txBody>
      </p:sp>
      <p:sp>
        <p:nvSpPr>
          <p:cNvPr id="14" name="Legend text Sr. Administrators [PEER_KEEP]"/>
          <p:cNvSpPr txBox="1"/>
          <p:nvPr/>
        </p:nvSpPr>
        <p:spPr>
          <a:xfrm>
            <a:off x="3103517" y="1773936"/>
            <a:ext cx="1125704" cy="182880"/>
          </a:xfrm>
          <a:prstGeom prst="rect">
            <a:avLst/>
          </a:prstGeom>
          <a:noFill/>
        </p:spPr>
        <p:txBody>
          <a:bodyPr wrap="none" lIns="0" tIns="0" rIns="0" bIns="0" anchor="ctr">
            <a:spAutoFit/>
          </a:bodyPr>
          <a:lstStyle/>
          <a:p>
            <a:pPr algn="l"/>
            <a:r>
              <a:rPr sz="1050" b="0" i="0">
                <a:solidFill>
                  <a:srgbClr val="000000"/>
                </a:solidFill>
                <a:latin typeface="Lato"/>
              </a:rPr>
              <a:t>Sr. Administrators</a:t>
            </a:r>
          </a:p>
        </p:txBody>
      </p:sp>
      <p:sp>
        <p:nvSpPr>
          <p:cNvPr id="15" name="Legend Trustees only (2025–26 item) [PEER_KEEP]"/>
          <p:cNvSpPr/>
          <p:nvPr/>
        </p:nvSpPr>
        <p:spPr>
          <a:xfrm>
            <a:off x="4558406" y="1810512"/>
            <a:ext cx="109728" cy="109728"/>
          </a:xfrm>
          <a:prstGeom prst="ellipse">
            <a:avLst/>
          </a:prstGeom>
          <a:solidFill>
            <a:srgbClr val="C9C9CC"/>
          </a:solidFill>
          <a:ln w="22225">
            <a:solidFill>
              <a:srgbClr val="8A8D8F"/>
            </a:solid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6" name="Legend text Trustees only (2025–26 item) [PEER_KEEP]"/>
          <p:cNvSpPr txBox="1"/>
          <p:nvPr/>
        </p:nvSpPr>
        <p:spPr>
          <a:xfrm>
            <a:off x="4750430" y="1773936"/>
            <a:ext cx="1801372" cy="182880"/>
          </a:xfrm>
          <a:prstGeom prst="rect">
            <a:avLst/>
          </a:prstGeom>
          <a:noFill/>
        </p:spPr>
        <p:txBody>
          <a:bodyPr wrap="none" lIns="0" tIns="0" rIns="0" bIns="0" anchor="ctr">
            <a:spAutoFit/>
          </a:bodyPr>
          <a:lstStyle/>
          <a:p>
            <a:pPr algn="l"/>
            <a:r>
              <a:rPr sz="1050" b="0" i="0">
                <a:solidFill>
                  <a:srgbClr val="000000"/>
                </a:solidFill>
                <a:latin typeface="Lato"/>
              </a:rPr>
              <a:t>Trustees only (2025–26 item)</a:t>
            </a:r>
          </a:p>
        </p:txBody>
      </p:sp>
      <p:graphicFrame>
        <p:nvGraphicFramePr>
          <p:cNvPr id="17" name="Perception dot plot [PEER_KEEP]" descr="Dot plot by year, 2015–2026: percent of business officers who agree that faculty, trustees and senior administrators are realistic and aware of the institution's financial challenges. Faculty sit far below the other two groups in every year."/>
          <p:cNvGraphicFramePr>
            <a:graphicFrameLocks noGrp="1"/>
          </p:cNvGraphicFramePr>
          <p:nvPr>
            <p:extLst>
              <p:ext uri="{D42A27DB-BD31-4B8C-83A1-F6EECF244321}">
                <p14:modId xmlns:p14="http://schemas.microsoft.com/office/powerpoint/2010/main" val="1731262970"/>
              </p:ext>
            </p:extLst>
          </p:nvPr>
        </p:nvGraphicFramePr>
        <p:xfrm>
          <a:off x="320040" y="2048255"/>
          <a:ext cx="11567160" cy="3822191"/>
        </p:xfrm>
        <a:graphic>
          <a:graphicData uri="http://schemas.openxmlformats.org/drawingml/2006/chart">
            <c:chart xmlns:c="http://schemas.openxmlformats.org/drawingml/2006/chart" xmlns:r="http://schemas.openxmlformats.org/officeDocument/2006/relationships" r:id="rId3"/>
          </a:graphicData>
        </a:graphic>
      </p:graphicFrame>
      <p:sp>
        <p:nvSpPr>
          <p:cNvPr id="18" name="Legend Trustees [PEER_KEEP]">
            <a:extLst>
              <a:ext uri="{FF2B5EF4-FFF2-40B4-BE49-F238E27FC236}">
                <a16:creationId xmlns:a16="http://schemas.microsoft.com/office/drawing/2014/main" id="{5888E14E-6735-14E2-AB18-A33BA3C84016}"/>
              </a:ext>
            </a:extLst>
          </p:cNvPr>
          <p:cNvSpPr/>
          <p:nvPr/>
        </p:nvSpPr>
        <p:spPr>
          <a:xfrm>
            <a:off x="2865773" y="1792224"/>
            <a:ext cx="146304" cy="146304"/>
          </a:xfrm>
          <a:prstGeom prst="ellipse">
            <a:avLst/>
          </a:prstGeom>
          <a:solidFill>
            <a:srgbClr val="00000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9" name="TextBox 18"/>
          <p:cNvSpPr txBox="1"/>
          <p:nvPr/>
        </p:nvSpPr>
        <p:spPr>
          <a:xfrm>
            <a:off x="457200" y="320040"/>
            <a:ext cx="11274552" cy="777240"/>
          </a:xfrm>
          <a:prstGeom prst="rect">
            <a:avLst/>
          </a:prstGeom>
          <a:noFill/>
        </p:spPr>
        <p:txBody>
          <a:bodyPr wrap="square" lIns="0" tIns="0" rIns="0" bIns="0" anchor="t">
            <a:spAutoFit/>
          </a:bodyPr>
          <a:lstStyle/>
          <a:p>
            <a:pPr algn="l"/>
            <a:r>
              <a:rPr sz="2400" b="1" i="0" dirty="0">
                <a:solidFill>
                  <a:srgbClr val="000000"/>
                </a:solidFill>
                <a:latin typeface="Lato"/>
              </a:rPr>
              <a:t>Is there a dangerous disconnect in perception at our institutions?</a:t>
            </a:r>
          </a:p>
        </p:txBody>
      </p:sp>
      <p:sp>
        <p:nvSpPr>
          <p:cNvPr id="20" name="TextBox 19"/>
          <p:cNvSpPr txBox="1"/>
          <p:nvPr/>
        </p:nvSpPr>
        <p:spPr>
          <a:xfrm>
            <a:off x="457200" y="777240"/>
            <a:ext cx="11274552" cy="274320"/>
          </a:xfrm>
          <a:prstGeom prst="rect">
            <a:avLst/>
          </a:prstGeom>
          <a:noFill/>
        </p:spPr>
        <p:txBody>
          <a:bodyPr wrap="square" lIns="0" tIns="0" rIns="0" bIns="0" anchor="t">
            <a:spAutoFit/>
          </a:bodyPr>
          <a:lstStyle/>
          <a:p>
            <a:pPr algn="l"/>
            <a:r>
              <a:rPr sz="1400" b="0" i="0">
                <a:solidFill>
                  <a:srgbClr val="595959"/>
                </a:solidFill>
                <a:latin typeface="Lato"/>
              </a:rPr>
              <a:t>From Inside Higher Ed’s annual survey of college and university business officers</a:t>
            </a:r>
          </a:p>
        </p:txBody>
      </p:sp>
      <p:sp>
        <p:nvSpPr>
          <p:cNvPr id="21" name="TextBox 20"/>
          <p:cNvSpPr txBox="1"/>
          <p:nvPr/>
        </p:nvSpPr>
        <p:spPr>
          <a:xfrm>
            <a:off x="457200" y="6044184"/>
            <a:ext cx="11274552" cy="356616"/>
          </a:xfrm>
          <a:prstGeom prst="rect">
            <a:avLst/>
          </a:prstGeom>
          <a:noFill/>
        </p:spPr>
        <p:txBody>
          <a:bodyPr wrap="square" lIns="0" tIns="0" rIns="0" bIns="0" anchor="b">
            <a:spAutoFit/>
          </a:bodyPr>
          <a:lstStyle/>
          <a:p>
            <a:pPr algn="l"/>
            <a:r>
              <a:rPr sz="700" b="0" i="0">
                <a:solidFill>
                  <a:srgbClr val="595959"/>
                </a:solidFill>
                <a:latin typeface="Lato"/>
              </a:rPr>
              <a:t>* 2016 and 2017 faculty item asked whether faculty understand the challenges when they take part in budget discussions. Open markers, 2025–2026: a trustees-only statement (“Trustees understand…”); faculty and senior administrators were not asked.</a:t>
            </a:r>
          </a:p>
          <a:p>
            <a:pPr algn="l"/>
            <a:r>
              <a:rPr sz="700" b="0" i="0">
                <a:solidFill>
                  <a:srgbClr val="595959"/>
                </a:solidFill>
                <a:latin typeface="Lato"/>
              </a:rPr>
              <a:t>Note: All institutions. Wording 2015–2024: “aware of and understand” (the 2014 survey asked about “realistic”). Ratings are business officers’ perceptions of each group, not self-reports by faculty or trustees.</a:t>
            </a:r>
          </a:p>
        </p:txBody>
      </p:sp>
      <p:sp>
        <p:nvSpPr>
          <p:cNvPr id="22" name="Source [PEER_KEEP]"/>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Inside Higher Ed, Survey of College and University (Chief) Business Officers, 2015–2026 (n = 133 to 416 per year).</a:t>
            </a:r>
          </a:p>
        </p:txBody>
      </p:sp>
      <p:sp>
        <p:nvSpPr>
          <p:cNvPr id="23"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36</a:t>
            </a:fld>
            <a:endParaRPr lang="en-US" sz="900" b="1">
              <a:solidFill>
                <a:srgbClr val="000000"/>
              </a:solidFill>
              <a:latin typeface="Lat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Challenges ahead: margin, enrollment mix and federal exposure, and where Legal comes in</a:t>
            </a:r>
          </a:p>
        </p:txBody>
      </p:sp>
      <p:sp>
        <p:nvSpPr>
          <p:cNvPr id="3" name="TextBox 2"/>
          <p:cNvSpPr txBox="1"/>
          <p:nvPr/>
        </p:nvSpPr>
        <p:spPr>
          <a:xfrm>
            <a:off x="457200" y="1325880"/>
            <a:ext cx="2103120" cy="274320"/>
          </a:xfrm>
          <a:prstGeom prst="rect">
            <a:avLst/>
          </a:prstGeom>
          <a:noFill/>
        </p:spPr>
        <p:txBody>
          <a:bodyPr wrap="square" lIns="0" tIns="0" rIns="0" bIns="0" anchor="t">
            <a:spAutoFit/>
          </a:bodyPr>
          <a:lstStyle/>
          <a:p>
            <a:pPr algn="l"/>
            <a:r>
              <a:rPr sz="1200" b="1" i="0">
                <a:solidFill>
                  <a:srgbClr val="C8102E"/>
                </a:solidFill>
                <a:latin typeface="Lato"/>
              </a:rPr>
              <a:t>Challenge</a:t>
            </a:r>
          </a:p>
        </p:txBody>
      </p:sp>
      <p:sp>
        <p:nvSpPr>
          <p:cNvPr id="4" name="TextBox 3"/>
          <p:cNvSpPr txBox="1"/>
          <p:nvPr/>
        </p:nvSpPr>
        <p:spPr>
          <a:xfrm>
            <a:off x="2697480" y="1325880"/>
            <a:ext cx="4572000" cy="274320"/>
          </a:xfrm>
          <a:prstGeom prst="rect">
            <a:avLst/>
          </a:prstGeom>
          <a:noFill/>
        </p:spPr>
        <p:txBody>
          <a:bodyPr wrap="square" lIns="0" tIns="0" rIns="0" bIns="0" anchor="t">
            <a:spAutoFit/>
          </a:bodyPr>
          <a:lstStyle/>
          <a:p>
            <a:pPr algn="l"/>
            <a:r>
              <a:rPr sz="1200" b="1" i="0">
                <a:solidFill>
                  <a:srgbClr val="C8102E"/>
                </a:solidFill>
                <a:latin typeface="Lato"/>
              </a:rPr>
              <a:t>What the data shows</a:t>
            </a:r>
          </a:p>
        </p:txBody>
      </p:sp>
      <p:sp>
        <p:nvSpPr>
          <p:cNvPr id="5" name="TextBox 4"/>
          <p:cNvSpPr txBox="1"/>
          <p:nvPr/>
        </p:nvSpPr>
        <p:spPr>
          <a:xfrm>
            <a:off x="7406640" y="1325880"/>
            <a:ext cx="4325112" cy="274320"/>
          </a:xfrm>
          <a:prstGeom prst="rect">
            <a:avLst/>
          </a:prstGeom>
          <a:noFill/>
        </p:spPr>
        <p:txBody>
          <a:bodyPr wrap="square" lIns="0" tIns="0" rIns="0" bIns="0" anchor="t">
            <a:spAutoFit/>
          </a:bodyPr>
          <a:lstStyle/>
          <a:p>
            <a:pPr algn="l"/>
            <a:r>
              <a:rPr sz="1200" b="1" i="0">
                <a:solidFill>
                  <a:srgbClr val="C8102E"/>
                </a:solidFill>
                <a:latin typeface="Lato"/>
              </a:rPr>
              <a:t>Likely areas of GC engagement (for discussion)</a:t>
            </a:r>
          </a:p>
        </p:txBody>
      </p:sp>
      <p:cxnSp>
        <p:nvCxnSpPr>
          <p:cNvPr id="6" name="Connector 5"/>
          <p:cNvCxnSpPr/>
          <p:nvPr/>
        </p:nvCxnSpPr>
        <p:spPr>
          <a:xfrm>
            <a:off x="457200" y="1645920"/>
            <a:ext cx="112745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60120" y="1810512"/>
            <a:ext cx="1645920" cy="731520"/>
          </a:xfrm>
          <a:prstGeom prst="rect">
            <a:avLst/>
          </a:prstGeom>
          <a:noFill/>
        </p:spPr>
        <p:txBody>
          <a:bodyPr wrap="square" lIns="0" tIns="0" rIns="0" bIns="0" anchor="t">
            <a:spAutoFit/>
          </a:bodyPr>
          <a:lstStyle/>
          <a:p>
            <a:pPr algn="l"/>
            <a:r>
              <a:rPr sz="1400" b="1" i="0">
                <a:solidFill>
                  <a:srgbClr val="000000"/>
                </a:solidFill>
                <a:latin typeface="Lato"/>
              </a:rPr>
              <a:t>Margin below history</a:t>
            </a:r>
          </a:p>
        </p:txBody>
      </p:sp>
      <p:sp>
        <p:nvSpPr>
          <p:cNvPr id="8" name="TextBox 7"/>
          <p:cNvSpPr txBox="1"/>
          <p:nvPr/>
        </p:nvSpPr>
        <p:spPr>
          <a:xfrm>
            <a:off x="2697480" y="1810512"/>
            <a:ext cx="4480560" cy="777240"/>
          </a:xfrm>
          <a:prstGeom prst="rect">
            <a:avLst/>
          </a:prstGeom>
          <a:noFill/>
        </p:spPr>
        <p:txBody>
          <a:bodyPr wrap="square" lIns="0" tIns="0" rIns="0" bIns="0" anchor="t">
            <a:spAutoFit/>
          </a:bodyPr>
          <a:lstStyle/>
          <a:p>
            <a:pPr algn="l"/>
            <a:r>
              <a:rPr sz="1200" b="0" i="0">
                <a:solidFill>
                  <a:srgbClr val="000000"/>
                </a:solidFill>
                <a:latin typeface="Lato"/>
              </a:rPr>
              <a:t>Operating margin recovered to 4.0% in FY26 from 1.1% in FY25, still 320 bp below FY18. EBIDA margin was 9.5% in FY25 (11.5% A-category median) and is 13.0% in FY26 (preliminary).</a:t>
            </a:r>
          </a:p>
        </p:txBody>
      </p:sp>
      <p:sp>
        <p:nvSpPr>
          <p:cNvPr id="9" name="TextBox 8"/>
          <p:cNvSpPr txBox="1"/>
          <p:nvPr/>
        </p:nvSpPr>
        <p:spPr>
          <a:xfrm>
            <a:off x="7406640" y="1810512"/>
            <a:ext cx="4297680" cy="369332"/>
          </a:xfrm>
          <a:prstGeom prst="rect">
            <a:avLst/>
          </a:prstGeom>
          <a:noFill/>
        </p:spPr>
        <p:txBody>
          <a:bodyPr wrap="square" lIns="0" tIns="0" rIns="0" bIns="0" anchor="t">
            <a:spAutoFit/>
          </a:bodyPr>
          <a:lstStyle/>
          <a:p>
            <a:pPr algn="l"/>
            <a:r>
              <a:rPr sz="1200" b="0" i="0" dirty="0">
                <a:solidFill>
                  <a:srgbClr val="000000"/>
                </a:solidFill>
                <a:latin typeface="Lato"/>
              </a:rPr>
              <a:t>Cost-reduction actions: workforce, vendor and lease commitments.</a:t>
            </a:r>
          </a:p>
        </p:txBody>
      </p:sp>
      <p:cxnSp>
        <p:nvCxnSpPr>
          <p:cNvPr id="10" name="Connector 9"/>
          <p:cNvCxnSpPr/>
          <p:nvPr/>
        </p:nvCxnSpPr>
        <p:spPr>
          <a:xfrm>
            <a:off x="457200" y="2615184"/>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60120" y="2706624"/>
            <a:ext cx="1645920" cy="731520"/>
          </a:xfrm>
          <a:prstGeom prst="rect">
            <a:avLst/>
          </a:prstGeom>
          <a:noFill/>
        </p:spPr>
        <p:txBody>
          <a:bodyPr wrap="square" lIns="0" tIns="0" rIns="0" bIns="0" anchor="t">
            <a:spAutoFit/>
          </a:bodyPr>
          <a:lstStyle/>
          <a:p>
            <a:pPr algn="l"/>
            <a:r>
              <a:rPr sz="1400" b="1" i="0">
                <a:solidFill>
                  <a:srgbClr val="000000"/>
                </a:solidFill>
                <a:latin typeface="Lato"/>
              </a:rPr>
              <a:t>Enrollment mix and discount</a:t>
            </a:r>
          </a:p>
        </p:txBody>
      </p:sp>
      <p:sp>
        <p:nvSpPr>
          <p:cNvPr id="12" name="TextBox 11"/>
          <p:cNvSpPr txBox="1"/>
          <p:nvPr/>
        </p:nvSpPr>
        <p:spPr>
          <a:xfrm>
            <a:off x="2697480" y="2706624"/>
            <a:ext cx="4480560" cy="777240"/>
          </a:xfrm>
          <a:prstGeom prst="rect">
            <a:avLst/>
          </a:prstGeom>
          <a:noFill/>
        </p:spPr>
        <p:txBody>
          <a:bodyPr wrap="square" lIns="0" tIns="0" rIns="0" bIns="0" anchor="t">
            <a:spAutoFit/>
          </a:bodyPr>
          <a:lstStyle/>
          <a:p>
            <a:pPr algn="l"/>
            <a:r>
              <a:rPr sz="1200" b="0" i="0">
                <a:solidFill>
                  <a:srgbClr val="000000"/>
                </a:solidFill>
                <a:latin typeface="Lato"/>
              </a:rPr>
              <a:t>Degree-seeking enrollment down 7.2% FY25–FY27 (low scenario); professional graduate down 22.8% (24% from its FY24 peak). Net tuition up only 0.4% as discounting rises.</a:t>
            </a:r>
          </a:p>
        </p:txBody>
      </p:sp>
      <p:sp>
        <p:nvSpPr>
          <p:cNvPr id="13" name="TextBox 12"/>
          <p:cNvSpPr txBox="1"/>
          <p:nvPr/>
        </p:nvSpPr>
        <p:spPr>
          <a:xfrm>
            <a:off x="7406640" y="2706624"/>
            <a:ext cx="4297680" cy="777240"/>
          </a:xfrm>
          <a:prstGeom prst="rect">
            <a:avLst/>
          </a:prstGeom>
          <a:noFill/>
        </p:spPr>
        <p:txBody>
          <a:bodyPr wrap="square" lIns="0" tIns="0" rIns="0" bIns="0" anchor="t">
            <a:spAutoFit/>
          </a:bodyPr>
          <a:lstStyle/>
          <a:p>
            <a:pPr algn="l"/>
            <a:r>
              <a:rPr sz="1200" b="0" i="0" dirty="0">
                <a:solidFill>
                  <a:srgbClr val="000000"/>
                </a:solidFill>
                <a:latin typeface="Lato"/>
              </a:rPr>
              <a:t>Immigration and SEVP compliance; the new duration-of-status visa rule; student contract and program-closure terms.</a:t>
            </a:r>
          </a:p>
        </p:txBody>
      </p:sp>
      <p:cxnSp>
        <p:nvCxnSpPr>
          <p:cNvPr id="14" name="Connector 13"/>
          <p:cNvCxnSpPr/>
          <p:nvPr/>
        </p:nvCxnSpPr>
        <p:spPr>
          <a:xfrm>
            <a:off x="457200" y="3511296"/>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60120" y="3602736"/>
            <a:ext cx="1645920" cy="731520"/>
          </a:xfrm>
          <a:prstGeom prst="rect">
            <a:avLst/>
          </a:prstGeom>
          <a:noFill/>
        </p:spPr>
        <p:txBody>
          <a:bodyPr wrap="square" lIns="0" tIns="0" rIns="0" bIns="0" anchor="t">
            <a:spAutoFit/>
          </a:bodyPr>
          <a:lstStyle/>
          <a:p>
            <a:pPr algn="l"/>
            <a:r>
              <a:rPr sz="1400" b="1" i="0">
                <a:solidFill>
                  <a:srgbClr val="000000"/>
                </a:solidFill>
                <a:latin typeface="Lato"/>
              </a:rPr>
              <a:t>Federal funding and regulation</a:t>
            </a:r>
          </a:p>
        </p:txBody>
      </p:sp>
      <p:sp>
        <p:nvSpPr>
          <p:cNvPr id="16" name="TextBox 15"/>
          <p:cNvSpPr txBox="1"/>
          <p:nvPr/>
        </p:nvSpPr>
        <p:spPr>
          <a:xfrm>
            <a:off x="2697480" y="3602736"/>
            <a:ext cx="4480560" cy="777240"/>
          </a:xfrm>
          <a:prstGeom prst="rect">
            <a:avLst/>
          </a:prstGeom>
          <a:noFill/>
        </p:spPr>
        <p:txBody>
          <a:bodyPr wrap="square" lIns="0" tIns="0" rIns="0" bIns="0" anchor="t">
            <a:spAutoFit/>
          </a:bodyPr>
          <a:lstStyle/>
          <a:p>
            <a:pPr algn="l"/>
            <a:r>
              <a:rPr sz="1200" b="0" i="0" dirty="0">
                <a:solidFill>
                  <a:srgbClr val="000000"/>
                </a:solidFill>
                <a:latin typeface="Lato"/>
              </a:rPr>
              <a:t>Research awards of $291M in FY26. Peers face funding cuts, executive orders and endowment taxation. Federal regulation is 20 times its 1950 page count.</a:t>
            </a:r>
          </a:p>
        </p:txBody>
      </p:sp>
      <p:sp>
        <p:nvSpPr>
          <p:cNvPr id="17" name="TextBox 16"/>
          <p:cNvSpPr txBox="1"/>
          <p:nvPr/>
        </p:nvSpPr>
        <p:spPr>
          <a:xfrm>
            <a:off x="7406640" y="3602736"/>
            <a:ext cx="4297680" cy="777240"/>
          </a:xfrm>
          <a:prstGeom prst="rect">
            <a:avLst/>
          </a:prstGeom>
          <a:noFill/>
        </p:spPr>
        <p:txBody>
          <a:bodyPr wrap="square" lIns="0" tIns="0" rIns="0" bIns="0" anchor="t">
            <a:spAutoFit/>
          </a:bodyPr>
          <a:lstStyle/>
          <a:p>
            <a:pPr algn="l"/>
            <a:r>
              <a:rPr sz="1200" b="0" i="0" dirty="0">
                <a:solidFill>
                  <a:srgbClr val="000000"/>
                </a:solidFill>
                <a:latin typeface="Lato"/>
              </a:rPr>
              <a:t>Grant compliance, government inquiries, executive-order response and research security.</a:t>
            </a:r>
          </a:p>
        </p:txBody>
      </p:sp>
      <p:cxnSp>
        <p:nvCxnSpPr>
          <p:cNvPr id="18" name="Connector 17"/>
          <p:cNvCxnSpPr/>
          <p:nvPr/>
        </p:nvCxnSpPr>
        <p:spPr>
          <a:xfrm>
            <a:off x="457200" y="4407408"/>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60120" y="4498848"/>
            <a:ext cx="1645920" cy="731520"/>
          </a:xfrm>
          <a:prstGeom prst="rect">
            <a:avLst/>
          </a:prstGeom>
          <a:noFill/>
        </p:spPr>
        <p:txBody>
          <a:bodyPr wrap="square" lIns="0" tIns="0" rIns="0" bIns="0" anchor="t">
            <a:spAutoFit/>
          </a:bodyPr>
          <a:lstStyle/>
          <a:p>
            <a:pPr algn="l"/>
            <a:r>
              <a:rPr sz="1400" b="1" i="0">
                <a:solidFill>
                  <a:srgbClr val="000000"/>
                </a:solidFill>
                <a:latin typeface="Lato"/>
              </a:rPr>
              <a:t>Cost base</a:t>
            </a:r>
          </a:p>
        </p:txBody>
      </p:sp>
      <p:sp>
        <p:nvSpPr>
          <p:cNvPr id="20" name="TextBox 19"/>
          <p:cNvSpPr txBox="1"/>
          <p:nvPr/>
        </p:nvSpPr>
        <p:spPr>
          <a:xfrm>
            <a:off x="2697480" y="4498848"/>
            <a:ext cx="4480560" cy="777240"/>
          </a:xfrm>
          <a:prstGeom prst="rect">
            <a:avLst/>
          </a:prstGeom>
          <a:noFill/>
        </p:spPr>
        <p:txBody>
          <a:bodyPr wrap="square" lIns="0" tIns="0" rIns="0" bIns="0" anchor="t">
            <a:spAutoFit/>
          </a:bodyPr>
          <a:lstStyle/>
          <a:p>
            <a:pPr algn="l"/>
            <a:r>
              <a:rPr sz="1200" b="0" i="0" dirty="0">
                <a:solidFill>
                  <a:srgbClr val="000000"/>
                </a:solidFill>
                <a:latin typeface="Lato"/>
              </a:rPr>
              <a:t>Full-time staff up 46% since FY20 to 4,179, down 312 in the past year; 92% of growth was internally funded. S&amp;W per student is $25K, the lowest in the peer set.</a:t>
            </a:r>
          </a:p>
        </p:txBody>
      </p:sp>
      <p:sp>
        <p:nvSpPr>
          <p:cNvPr id="21" name="TextBox 20"/>
          <p:cNvSpPr txBox="1"/>
          <p:nvPr/>
        </p:nvSpPr>
        <p:spPr>
          <a:xfrm>
            <a:off x="7406640" y="4498848"/>
            <a:ext cx="4297680" cy="777240"/>
          </a:xfrm>
          <a:prstGeom prst="rect">
            <a:avLst/>
          </a:prstGeom>
          <a:noFill/>
        </p:spPr>
        <p:txBody>
          <a:bodyPr wrap="square" lIns="0" tIns="0" rIns="0" bIns="0" anchor="t">
            <a:spAutoFit/>
          </a:bodyPr>
          <a:lstStyle/>
          <a:p>
            <a:pPr algn="l"/>
            <a:r>
              <a:rPr sz="1200" b="0" i="0">
                <a:solidFill>
                  <a:srgbClr val="000000"/>
                </a:solidFill>
                <a:latin typeface="Lato"/>
              </a:rPr>
              <a:t>Employment actions and restructuring; London and Oakland campus obligations.</a:t>
            </a:r>
          </a:p>
        </p:txBody>
      </p:sp>
      <p:cxnSp>
        <p:nvCxnSpPr>
          <p:cNvPr id="22" name="Connector 21"/>
          <p:cNvCxnSpPr/>
          <p:nvPr/>
        </p:nvCxnSpPr>
        <p:spPr>
          <a:xfrm>
            <a:off x="457200" y="5303520"/>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60120" y="5394960"/>
            <a:ext cx="1645920" cy="731520"/>
          </a:xfrm>
          <a:prstGeom prst="rect">
            <a:avLst/>
          </a:prstGeom>
          <a:noFill/>
        </p:spPr>
        <p:txBody>
          <a:bodyPr wrap="square" lIns="0" tIns="0" rIns="0" bIns="0" anchor="t">
            <a:spAutoFit/>
          </a:bodyPr>
          <a:lstStyle/>
          <a:p>
            <a:pPr algn="l"/>
            <a:r>
              <a:rPr sz="1400" b="1" i="0">
                <a:solidFill>
                  <a:srgbClr val="000000"/>
                </a:solidFill>
                <a:latin typeface="Lato"/>
              </a:rPr>
              <a:t>Leverage and endowment</a:t>
            </a:r>
          </a:p>
        </p:txBody>
      </p:sp>
      <p:sp>
        <p:nvSpPr>
          <p:cNvPr id="24" name="TextBox 23"/>
          <p:cNvSpPr txBox="1"/>
          <p:nvPr/>
        </p:nvSpPr>
        <p:spPr>
          <a:xfrm>
            <a:off x="2697480" y="5394960"/>
            <a:ext cx="4480560" cy="777240"/>
          </a:xfrm>
          <a:prstGeom prst="rect">
            <a:avLst/>
          </a:prstGeom>
          <a:noFill/>
        </p:spPr>
        <p:txBody>
          <a:bodyPr wrap="square" lIns="0" tIns="0" rIns="0" bIns="0" anchor="t">
            <a:spAutoFit/>
          </a:bodyPr>
          <a:lstStyle/>
          <a:p>
            <a:pPr algn="l"/>
            <a:r>
              <a:rPr sz="1200" b="0" i="0" dirty="0">
                <a:solidFill>
                  <a:srgbClr val="000000"/>
                </a:solidFill>
                <a:latin typeface="Lato"/>
              </a:rPr>
              <a:t>Long-term debt of $1,954M (from $1,432M in FY25, incl. $485M Series 2026). Debt service coverage 3.8x (FY26, at the 13.0% EBIDA margin). Endowment $2,361M.</a:t>
            </a:r>
          </a:p>
        </p:txBody>
      </p:sp>
      <p:sp>
        <p:nvSpPr>
          <p:cNvPr id="25" name="TextBox 24"/>
          <p:cNvSpPr txBox="1"/>
          <p:nvPr/>
        </p:nvSpPr>
        <p:spPr>
          <a:xfrm>
            <a:off x="7406640" y="5394960"/>
            <a:ext cx="4297680" cy="777240"/>
          </a:xfrm>
          <a:prstGeom prst="rect">
            <a:avLst/>
          </a:prstGeom>
          <a:noFill/>
        </p:spPr>
        <p:txBody>
          <a:bodyPr wrap="square" lIns="0" tIns="0" rIns="0" bIns="0" anchor="t">
            <a:spAutoFit/>
          </a:bodyPr>
          <a:lstStyle/>
          <a:p>
            <a:pPr algn="l"/>
            <a:r>
              <a:rPr sz="1200" b="0" i="0">
                <a:solidFill>
                  <a:srgbClr val="000000"/>
                </a:solidFill>
                <a:latin typeface="Lato"/>
              </a:rPr>
              <a:t>Bond covenants and disclosure; donor restrictions and endowment gift terms.</a:t>
            </a:r>
          </a:p>
        </p:txBody>
      </p:sp>
      <p:cxnSp>
        <p:nvCxnSpPr>
          <p:cNvPr id="26" name="Connector 25"/>
          <p:cNvCxnSpPr/>
          <p:nvPr/>
        </p:nvCxnSpPr>
        <p:spPr>
          <a:xfrm>
            <a:off x="457200" y="6199632"/>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Financial Affairs (FY26 unaudited); enrollment and staffing data supplied September 2026. GC areas are proposed for discussion.</a:t>
            </a:r>
          </a:p>
        </p:txBody>
      </p:sp>
      <p:sp>
        <p:nvSpPr>
          <p:cNvPr id="28"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37</a:t>
            </a:fld>
            <a:endParaRPr lang="en-US" sz="900" b="1">
              <a:solidFill>
                <a:srgbClr val="000000"/>
              </a:solidFill>
              <a:latin typeface="Lato"/>
            </a:endParaRPr>
          </a:p>
        </p:txBody>
      </p:sp>
      <p:pic>
        <p:nvPicPr>
          <p:cNvPr id="29" name="Icon Row icon trending-down" descr="Row icon trending-down"/>
          <p:cNvPicPr>
            <a:picLocks noChangeAspect="1"/>
          </p:cNvPicPr>
          <p:nvPr/>
        </p:nvPicPr>
        <p:blipFill>
          <a:blip r:embed="rId2"/>
          <a:stretch>
            <a:fillRect/>
          </a:stretch>
        </p:blipFill>
        <p:spPr>
          <a:xfrm>
            <a:off x="457200" y="1792224"/>
            <a:ext cx="384048" cy="384048"/>
          </a:xfrm>
          <a:prstGeom prst="rect">
            <a:avLst/>
          </a:prstGeom>
        </p:spPr>
      </p:pic>
      <p:pic>
        <p:nvPicPr>
          <p:cNvPr id="30" name="Icon Row icon percent" descr="Row icon percent"/>
          <p:cNvPicPr>
            <a:picLocks noChangeAspect="1"/>
          </p:cNvPicPr>
          <p:nvPr/>
        </p:nvPicPr>
        <p:blipFill>
          <a:blip r:embed="rId3"/>
          <a:stretch>
            <a:fillRect/>
          </a:stretch>
        </p:blipFill>
        <p:spPr>
          <a:xfrm>
            <a:off x="457200" y="2688336"/>
            <a:ext cx="384048" cy="384048"/>
          </a:xfrm>
          <a:prstGeom prst="rect">
            <a:avLst/>
          </a:prstGeom>
        </p:spPr>
      </p:pic>
      <p:pic>
        <p:nvPicPr>
          <p:cNvPr id="31" name="Icon Row icon landmark" descr="Row icon landmark"/>
          <p:cNvPicPr>
            <a:picLocks noChangeAspect="1"/>
          </p:cNvPicPr>
          <p:nvPr/>
        </p:nvPicPr>
        <p:blipFill>
          <a:blip r:embed="rId4"/>
          <a:stretch>
            <a:fillRect/>
          </a:stretch>
        </p:blipFill>
        <p:spPr>
          <a:xfrm>
            <a:off x="457200" y="3584448"/>
            <a:ext cx="384048" cy="384048"/>
          </a:xfrm>
          <a:prstGeom prst="rect">
            <a:avLst/>
          </a:prstGeom>
        </p:spPr>
      </p:pic>
      <p:pic>
        <p:nvPicPr>
          <p:cNvPr id="32" name="Icon Row icon receipt" descr="Row icon receipt"/>
          <p:cNvPicPr>
            <a:picLocks noChangeAspect="1"/>
          </p:cNvPicPr>
          <p:nvPr/>
        </p:nvPicPr>
        <p:blipFill>
          <a:blip r:embed="rId5"/>
          <a:stretch>
            <a:fillRect/>
          </a:stretch>
        </p:blipFill>
        <p:spPr>
          <a:xfrm>
            <a:off x="457200" y="4480560"/>
            <a:ext cx="384048" cy="384048"/>
          </a:xfrm>
          <a:prstGeom prst="rect">
            <a:avLst/>
          </a:prstGeom>
        </p:spPr>
      </p:pic>
      <p:pic>
        <p:nvPicPr>
          <p:cNvPr id="33" name="Icon Row icon piggy-bank" descr="Row icon piggy-bank"/>
          <p:cNvPicPr>
            <a:picLocks noChangeAspect="1"/>
          </p:cNvPicPr>
          <p:nvPr/>
        </p:nvPicPr>
        <p:blipFill>
          <a:blip r:embed="rId6"/>
          <a:stretch>
            <a:fillRect/>
          </a:stretch>
        </p:blipFill>
        <p:spPr>
          <a:xfrm>
            <a:off x="457200" y="5376672"/>
            <a:ext cx="384048" cy="384048"/>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Balance is needed: success depends on working together</a:t>
            </a:r>
          </a:p>
        </p:txBody>
      </p:sp>
      <p:sp>
        <p:nvSpPr>
          <p:cNvPr id="3" name="Rectangle 2"/>
          <p:cNvSpPr/>
          <p:nvPr/>
        </p:nvSpPr>
        <p:spPr>
          <a:xfrm>
            <a:off x="457200" y="1417320"/>
            <a:ext cx="5527548" cy="214884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581912"/>
            <a:ext cx="548640" cy="548640"/>
          </a:xfrm>
          <a:prstGeom prst="rect">
            <a:avLst/>
          </a:prstGeom>
          <a:noFill/>
        </p:spPr>
        <p:txBody>
          <a:bodyPr wrap="square" lIns="0" tIns="0" rIns="0" bIns="0" anchor="t">
            <a:spAutoFit/>
          </a:bodyPr>
          <a:lstStyle/>
          <a:p>
            <a:pPr algn="l"/>
            <a:r>
              <a:rPr sz="3000" b="1" i="0">
                <a:solidFill>
                  <a:srgbClr val="C8102E"/>
                </a:solidFill>
                <a:latin typeface="Lato"/>
              </a:rPr>
              <a:t>1</a:t>
            </a:r>
          </a:p>
        </p:txBody>
      </p:sp>
      <p:sp>
        <p:nvSpPr>
          <p:cNvPr id="5" name="TextBox 4"/>
          <p:cNvSpPr txBox="1"/>
          <p:nvPr/>
        </p:nvSpPr>
        <p:spPr>
          <a:xfrm>
            <a:off x="1234440" y="1664208"/>
            <a:ext cx="3840480" cy="411480"/>
          </a:xfrm>
          <a:prstGeom prst="rect">
            <a:avLst/>
          </a:prstGeom>
          <a:noFill/>
        </p:spPr>
        <p:txBody>
          <a:bodyPr wrap="square" lIns="0" tIns="0" rIns="0" bIns="0" anchor="t">
            <a:spAutoFit/>
          </a:bodyPr>
          <a:lstStyle/>
          <a:p>
            <a:pPr algn="l"/>
            <a:r>
              <a:rPr sz="2000" b="1" i="0">
                <a:solidFill>
                  <a:srgbClr val="000000"/>
                </a:solidFill>
                <a:latin typeface="Lato"/>
              </a:rPr>
              <a:t>Succeed together</a:t>
            </a:r>
          </a:p>
        </p:txBody>
      </p:sp>
      <p:sp>
        <p:nvSpPr>
          <p:cNvPr id="6" name="TextBox 5"/>
          <p:cNvSpPr txBox="1"/>
          <p:nvPr/>
        </p:nvSpPr>
        <p:spPr>
          <a:xfrm>
            <a:off x="685800" y="2097737"/>
            <a:ext cx="5070348" cy="1384995"/>
          </a:xfrm>
          <a:prstGeom prst="rect">
            <a:avLst/>
          </a:prstGeom>
          <a:noFill/>
        </p:spPr>
        <p:txBody>
          <a:bodyPr wrap="square" lIns="0" tIns="0" rIns="0" bIns="0" anchor="t">
            <a:spAutoFit/>
          </a:bodyPr>
          <a:lstStyle/>
          <a:p>
            <a:pPr algn="l"/>
            <a:r>
              <a:rPr b="0" i="0" dirty="0">
                <a:solidFill>
                  <a:srgbClr val="000000"/>
                </a:solidFill>
                <a:latin typeface="Lato"/>
              </a:rPr>
              <a:t>If we are to succeed as a university, we have to figure out how to be successful together. We will need to support each area’s mission and neither abuse nor neglect any part of the academic environment.</a:t>
            </a:r>
          </a:p>
        </p:txBody>
      </p:sp>
      <p:sp>
        <p:nvSpPr>
          <p:cNvPr id="7" name="Rectangle 6"/>
          <p:cNvSpPr/>
          <p:nvPr/>
        </p:nvSpPr>
        <p:spPr>
          <a:xfrm>
            <a:off x="6204204" y="1417320"/>
            <a:ext cx="5527548" cy="214884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32804" y="1581912"/>
            <a:ext cx="548640" cy="548640"/>
          </a:xfrm>
          <a:prstGeom prst="rect">
            <a:avLst/>
          </a:prstGeom>
          <a:noFill/>
        </p:spPr>
        <p:txBody>
          <a:bodyPr wrap="square" lIns="0" tIns="0" rIns="0" bIns="0" anchor="t">
            <a:spAutoFit/>
          </a:bodyPr>
          <a:lstStyle/>
          <a:p>
            <a:pPr algn="l"/>
            <a:r>
              <a:rPr sz="3000" b="1" i="0">
                <a:solidFill>
                  <a:srgbClr val="C8102E"/>
                </a:solidFill>
                <a:latin typeface="Lato"/>
              </a:rPr>
              <a:t>2</a:t>
            </a:r>
          </a:p>
        </p:txBody>
      </p:sp>
      <p:sp>
        <p:nvSpPr>
          <p:cNvPr id="9" name="TextBox 8"/>
          <p:cNvSpPr txBox="1"/>
          <p:nvPr/>
        </p:nvSpPr>
        <p:spPr>
          <a:xfrm>
            <a:off x="6981444" y="1664208"/>
            <a:ext cx="3840480" cy="411480"/>
          </a:xfrm>
          <a:prstGeom prst="rect">
            <a:avLst/>
          </a:prstGeom>
          <a:noFill/>
        </p:spPr>
        <p:txBody>
          <a:bodyPr wrap="square" lIns="0" tIns="0" rIns="0" bIns="0" anchor="t">
            <a:spAutoFit/>
          </a:bodyPr>
          <a:lstStyle/>
          <a:p>
            <a:pPr algn="l"/>
            <a:r>
              <a:rPr sz="2000" b="1" i="0">
                <a:solidFill>
                  <a:srgbClr val="000000"/>
                </a:solidFill>
                <a:latin typeface="Lato"/>
              </a:rPr>
              <a:t>Know the limits</a:t>
            </a:r>
          </a:p>
        </p:txBody>
      </p:sp>
      <p:sp>
        <p:nvSpPr>
          <p:cNvPr id="10" name="TextBox 9"/>
          <p:cNvSpPr txBox="1"/>
          <p:nvPr/>
        </p:nvSpPr>
        <p:spPr>
          <a:xfrm>
            <a:off x="6432804" y="2097737"/>
            <a:ext cx="5070348" cy="1107996"/>
          </a:xfrm>
          <a:prstGeom prst="rect">
            <a:avLst/>
          </a:prstGeom>
          <a:noFill/>
        </p:spPr>
        <p:txBody>
          <a:bodyPr wrap="square" lIns="0" tIns="0" rIns="0" bIns="0" anchor="t">
            <a:spAutoFit/>
          </a:bodyPr>
          <a:lstStyle/>
          <a:p>
            <a:pPr algn="l"/>
            <a:r>
              <a:rPr b="0" i="0">
                <a:solidFill>
                  <a:srgbClr val="000000"/>
                </a:solidFill>
                <a:latin typeface="Lato"/>
              </a:rPr>
              <a:t>We need to understand what each of us can and cannot compromise during the inevitable give and take. We aspire to be world-class in everything we do at Northeastern, but we cannot do everything.</a:t>
            </a:r>
          </a:p>
        </p:txBody>
      </p:sp>
      <p:sp>
        <p:nvSpPr>
          <p:cNvPr id="11" name="Rectangle 10"/>
          <p:cNvSpPr/>
          <p:nvPr/>
        </p:nvSpPr>
        <p:spPr>
          <a:xfrm>
            <a:off x="457200" y="3785615"/>
            <a:ext cx="5527548" cy="214884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 y="3950207"/>
            <a:ext cx="548640" cy="548640"/>
          </a:xfrm>
          <a:prstGeom prst="rect">
            <a:avLst/>
          </a:prstGeom>
          <a:noFill/>
        </p:spPr>
        <p:txBody>
          <a:bodyPr wrap="square" lIns="0" tIns="0" rIns="0" bIns="0" anchor="t">
            <a:spAutoFit/>
          </a:bodyPr>
          <a:lstStyle/>
          <a:p>
            <a:pPr algn="l"/>
            <a:r>
              <a:rPr sz="3000" b="1" i="0">
                <a:solidFill>
                  <a:srgbClr val="C8102E"/>
                </a:solidFill>
                <a:latin typeface="Lato"/>
              </a:rPr>
              <a:t>3</a:t>
            </a:r>
          </a:p>
        </p:txBody>
      </p:sp>
      <p:sp>
        <p:nvSpPr>
          <p:cNvPr id="13" name="TextBox 12"/>
          <p:cNvSpPr txBox="1"/>
          <p:nvPr/>
        </p:nvSpPr>
        <p:spPr>
          <a:xfrm>
            <a:off x="1234440" y="4032504"/>
            <a:ext cx="3840480" cy="411480"/>
          </a:xfrm>
          <a:prstGeom prst="rect">
            <a:avLst/>
          </a:prstGeom>
          <a:noFill/>
        </p:spPr>
        <p:txBody>
          <a:bodyPr wrap="square" lIns="0" tIns="0" rIns="0" bIns="0" anchor="t">
            <a:spAutoFit/>
          </a:bodyPr>
          <a:lstStyle/>
          <a:p>
            <a:pPr algn="l"/>
            <a:r>
              <a:rPr sz="2000" b="1" i="0">
                <a:solidFill>
                  <a:srgbClr val="000000"/>
                </a:solidFill>
                <a:latin typeface="Lato"/>
              </a:rPr>
              <a:t>Support one another</a:t>
            </a:r>
          </a:p>
        </p:txBody>
      </p:sp>
      <p:sp>
        <p:nvSpPr>
          <p:cNvPr id="14" name="TextBox 13"/>
          <p:cNvSpPr txBox="1"/>
          <p:nvPr/>
        </p:nvSpPr>
        <p:spPr>
          <a:xfrm>
            <a:off x="685800" y="4466033"/>
            <a:ext cx="5070348" cy="1384995"/>
          </a:xfrm>
          <a:prstGeom prst="rect">
            <a:avLst/>
          </a:prstGeom>
          <a:noFill/>
        </p:spPr>
        <p:txBody>
          <a:bodyPr wrap="square" lIns="0" tIns="0" rIns="0" bIns="0" anchor="t">
            <a:spAutoFit/>
          </a:bodyPr>
          <a:lstStyle/>
          <a:p>
            <a:pPr algn="l"/>
            <a:r>
              <a:rPr b="0" i="0">
                <a:solidFill>
                  <a:srgbClr val="000000"/>
                </a:solidFill>
                <a:latin typeface="Lato"/>
              </a:rPr>
              <a:t>Your jobs take stamina; they are marathons, not sprints. They expose you to situations and behaviors that few other professionals can relate to or be a support system for, so peer support within each group is essential.</a:t>
            </a:r>
          </a:p>
        </p:txBody>
      </p:sp>
      <p:sp>
        <p:nvSpPr>
          <p:cNvPr id="15" name="Rectangle 14"/>
          <p:cNvSpPr/>
          <p:nvPr/>
        </p:nvSpPr>
        <p:spPr>
          <a:xfrm>
            <a:off x="6204204" y="3785615"/>
            <a:ext cx="5527548" cy="214884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32804" y="3950207"/>
            <a:ext cx="548640" cy="548640"/>
          </a:xfrm>
          <a:prstGeom prst="rect">
            <a:avLst/>
          </a:prstGeom>
          <a:noFill/>
        </p:spPr>
        <p:txBody>
          <a:bodyPr wrap="square" lIns="0" tIns="0" rIns="0" bIns="0" anchor="t">
            <a:spAutoFit/>
          </a:bodyPr>
          <a:lstStyle/>
          <a:p>
            <a:pPr algn="l"/>
            <a:r>
              <a:rPr sz="3000" b="1" i="0">
                <a:solidFill>
                  <a:srgbClr val="C8102E"/>
                </a:solidFill>
                <a:latin typeface="Lato"/>
              </a:rPr>
              <a:t>4</a:t>
            </a:r>
          </a:p>
        </p:txBody>
      </p:sp>
      <p:sp>
        <p:nvSpPr>
          <p:cNvPr id="17" name="TextBox 16"/>
          <p:cNvSpPr txBox="1"/>
          <p:nvPr/>
        </p:nvSpPr>
        <p:spPr>
          <a:xfrm>
            <a:off x="6981444" y="4032504"/>
            <a:ext cx="3840480" cy="411480"/>
          </a:xfrm>
          <a:prstGeom prst="rect">
            <a:avLst/>
          </a:prstGeom>
          <a:noFill/>
        </p:spPr>
        <p:txBody>
          <a:bodyPr wrap="square" lIns="0" tIns="0" rIns="0" bIns="0" anchor="t">
            <a:spAutoFit/>
          </a:bodyPr>
          <a:lstStyle/>
          <a:p>
            <a:pPr algn="l"/>
            <a:r>
              <a:rPr sz="2000" b="1" i="0">
                <a:solidFill>
                  <a:srgbClr val="000000"/>
                </a:solidFill>
                <a:latin typeface="Lato"/>
              </a:rPr>
              <a:t>Work as a team</a:t>
            </a:r>
          </a:p>
        </p:txBody>
      </p:sp>
      <p:sp>
        <p:nvSpPr>
          <p:cNvPr id="18" name="TextBox 17"/>
          <p:cNvSpPr txBox="1"/>
          <p:nvPr/>
        </p:nvSpPr>
        <p:spPr>
          <a:xfrm>
            <a:off x="6432804" y="4466033"/>
            <a:ext cx="5070348" cy="1107996"/>
          </a:xfrm>
          <a:prstGeom prst="rect">
            <a:avLst/>
          </a:prstGeom>
          <a:noFill/>
        </p:spPr>
        <p:txBody>
          <a:bodyPr wrap="square" lIns="0" tIns="0" rIns="0" bIns="0" anchor="t">
            <a:spAutoFit/>
          </a:bodyPr>
          <a:lstStyle/>
          <a:p>
            <a:pPr algn="l"/>
            <a:r>
              <a:rPr b="0" i="0">
                <a:solidFill>
                  <a:srgbClr val="000000"/>
                </a:solidFill>
                <a:latin typeface="Lato"/>
              </a:rPr>
              <a:t>To maintain our institution, we need more opportunities to work together as a team, so that the entire academic enterprise stays in balance, grows and develops.</a:t>
            </a:r>
          </a:p>
        </p:txBody>
      </p:sp>
      <p:sp>
        <p:nvSpPr>
          <p:cNvPr id="19" name="TextBox 1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leadership messaging; draft for review</a:t>
            </a:r>
          </a:p>
        </p:txBody>
      </p:sp>
      <p:sp>
        <p:nvSpPr>
          <p:cNvPr id="20"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38</a:t>
            </a:fld>
            <a:endParaRPr lang="en-US" sz="900" b="1">
              <a:solidFill>
                <a:srgbClr val="000000"/>
              </a:solidFill>
              <a:latin typeface="Lato"/>
            </a:endParaRPr>
          </a:p>
        </p:txBody>
      </p:sp>
      <p:pic>
        <p:nvPicPr>
          <p:cNvPr id="21" name="Icon handshake icon" descr="handshake icon"/>
          <p:cNvPicPr>
            <a:picLocks noChangeAspect="1"/>
          </p:cNvPicPr>
          <p:nvPr/>
        </p:nvPicPr>
        <p:blipFill>
          <a:blip r:embed="rId2"/>
          <a:stretch>
            <a:fillRect/>
          </a:stretch>
        </p:blipFill>
        <p:spPr>
          <a:xfrm>
            <a:off x="5298948" y="1572768"/>
            <a:ext cx="502920" cy="502920"/>
          </a:xfrm>
          <a:prstGeom prst="rect">
            <a:avLst/>
          </a:prstGeom>
        </p:spPr>
      </p:pic>
      <p:pic>
        <p:nvPicPr>
          <p:cNvPr id="22" name="Icon gauge icon" descr="gauge icon"/>
          <p:cNvPicPr>
            <a:picLocks noChangeAspect="1"/>
          </p:cNvPicPr>
          <p:nvPr/>
        </p:nvPicPr>
        <p:blipFill>
          <a:blip r:embed="rId3"/>
          <a:stretch>
            <a:fillRect/>
          </a:stretch>
        </p:blipFill>
        <p:spPr>
          <a:xfrm>
            <a:off x="11045952" y="1572768"/>
            <a:ext cx="502920" cy="502920"/>
          </a:xfrm>
          <a:prstGeom prst="rect">
            <a:avLst/>
          </a:prstGeom>
        </p:spPr>
      </p:pic>
      <p:pic>
        <p:nvPicPr>
          <p:cNvPr id="23" name="Icon heart-handshake icon" descr="heart-handshake icon"/>
          <p:cNvPicPr>
            <a:picLocks noChangeAspect="1"/>
          </p:cNvPicPr>
          <p:nvPr/>
        </p:nvPicPr>
        <p:blipFill>
          <a:blip r:embed="rId4"/>
          <a:stretch>
            <a:fillRect/>
          </a:stretch>
        </p:blipFill>
        <p:spPr>
          <a:xfrm>
            <a:off x="5298948" y="3941063"/>
            <a:ext cx="502920" cy="502920"/>
          </a:xfrm>
          <a:prstGeom prst="rect">
            <a:avLst/>
          </a:prstGeom>
        </p:spPr>
      </p:pic>
      <p:pic>
        <p:nvPicPr>
          <p:cNvPr id="24" name="Icon users icon" descr="users icon"/>
          <p:cNvPicPr>
            <a:picLocks noChangeAspect="1"/>
          </p:cNvPicPr>
          <p:nvPr/>
        </p:nvPicPr>
        <p:blipFill>
          <a:blip r:embed="rId5"/>
          <a:stretch>
            <a:fillRect/>
          </a:stretch>
        </p:blipFill>
        <p:spPr>
          <a:xfrm>
            <a:off x="11045952" y="3941063"/>
            <a:ext cx="502920" cy="50292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2331720"/>
            <a:ext cx="8686800" cy="822960"/>
          </a:xfrm>
          <a:prstGeom prst="rect">
            <a:avLst/>
          </a:prstGeom>
          <a:noFill/>
        </p:spPr>
        <p:txBody>
          <a:bodyPr wrap="square" lIns="0" tIns="0" rIns="0" bIns="0" anchor="t">
            <a:spAutoFit/>
          </a:bodyPr>
          <a:lstStyle/>
          <a:p>
            <a:pPr algn="l"/>
            <a:r>
              <a:rPr sz="4000" b="1" i="0">
                <a:solidFill>
                  <a:srgbClr val="000000"/>
                </a:solidFill>
                <a:latin typeface="Lato"/>
              </a:rPr>
              <a:t>Backup</a:t>
            </a:r>
          </a:p>
        </p:txBody>
      </p:sp>
      <p:sp>
        <p:nvSpPr>
          <p:cNvPr id="3" name="TextBox 2"/>
          <p:cNvSpPr txBox="1"/>
          <p:nvPr/>
        </p:nvSpPr>
        <p:spPr>
          <a:xfrm>
            <a:off x="822960" y="3291840"/>
            <a:ext cx="10058400" cy="276999"/>
          </a:xfrm>
          <a:prstGeom prst="rect">
            <a:avLst/>
          </a:prstGeom>
          <a:noFill/>
        </p:spPr>
        <p:txBody>
          <a:bodyPr wrap="square" lIns="0" tIns="0" rIns="0" bIns="0" anchor="t">
            <a:spAutoFit/>
          </a:bodyPr>
          <a:lstStyle/>
          <a:p>
            <a:pPr algn="l"/>
            <a:r>
              <a:rPr sz="1800" b="0" i="0" dirty="0">
                <a:solidFill>
                  <a:srgbClr val="595959"/>
                </a:solidFill>
                <a:latin typeface="Lato"/>
              </a:rPr>
              <a:t>Sector detail, value of a degree, economic mobility, peer responses and R&amp;D detail</a:t>
            </a:r>
          </a:p>
        </p:txBody>
      </p:sp>
      <p:sp>
        <p:nvSpPr>
          <p:cNvPr id="4"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39</a:t>
            </a:fld>
            <a:endParaRPr lang="en-US" sz="900" b="1">
              <a:solidFill>
                <a:srgbClr val="000000"/>
              </a:solidFill>
              <a:latin typeface="Lato"/>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149840" cy="868680"/>
          </a:xfrm>
          <a:prstGeom prst="rect">
            <a:avLst/>
          </a:prstGeom>
          <a:noFill/>
        </p:spPr>
        <p:txBody>
          <a:bodyPr wrap="square" lIns="0" tIns="0" rIns="0" bIns="0">
            <a:noAutofit/>
          </a:bodyPr>
          <a:lstStyle/>
          <a:p>
            <a:pPr algn="l"/>
            <a:r>
              <a:rPr sz="2500" b="1">
                <a:solidFill>
                  <a:srgbClr val="000000"/>
                </a:solidFill>
                <a:latin typeface="Lato"/>
              </a:rPr>
              <a:t>Above both Moody’s medians through FY20 — below the A-category median every year from FY21 to FY25</a:t>
            </a:r>
          </a:p>
        </p:txBody>
      </p:sp>
      <p:sp>
        <p:nvSpPr>
          <p:cNvPr id="3" name="TextBox 2"/>
          <p:cNvSpPr txBox="1"/>
          <p:nvPr/>
        </p:nvSpPr>
        <p:spPr>
          <a:xfrm>
            <a:off x="457200" y="1280160"/>
            <a:ext cx="10149840" cy="411480"/>
          </a:xfrm>
          <a:prstGeom prst="rect">
            <a:avLst/>
          </a:prstGeom>
          <a:noFill/>
        </p:spPr>
        <p:txBody>
          <a:bodyPr wrap="square" lIns="0" tIns="0" rIns="0" bIns="0">
            <a:spAutoFit/>
          </a:bodyPr>
          <a:lstStyle/>
          <a:p>
            <a:pPr algn="l"/>
            <a:r>
              <a:rPr sz="1250" b="0" dirty="0">
                <a:solidFill>
                  <a:srgbClr val="49494D"/>
                </a:solidFill>
                <a:latin typeface="Lato"/>
              </a:rPr>
              <a:t>Bars: Northeastern EBIDA margin — (operating result + depreciation + interest) ÷ total operating revenues and other support, unrestricted basis. Lines: Moody’s private-university medians.</a:t>
            </a:r>
          </a:p>
        </p:txBody>
      </p:sp>
      <p:graphicFrame>
        <p:nvGraphicFramePr>
          <p:cNvPr id="4" name="Chart 3"/>
          <p:cNvGraphicFramePr>
            <a:graphicFrameLocks noGrp="1"/>
          </p:cNvGraphicFramePr>
          <p:nvPr/>
        </p:nvGraphicFramePr>
        <p:xfrm>
          <a:off x="502920" y="1828800"/>
          <a:ext cx="8914384" cy="4191200"/>
        </p:xfrm>
        <a:graphic>
          <a:graphicData uri="http://schemas.openxmlformats.org/drawingml/2006/chart">
            <c:chart xmlns:c="http://schemas.openxmlformats.org/drawingml/2006/chart" xmlns:r="http://schemas.openxmlformats.org/officeDocument/2006/relationships" r:id="rId2"/>
          </a:graphicData>
        </a:graphic>
      </p:graphicFrame>
      <p:sp>
        <p:nvSpPr>
          <p:cNvPr id="5" name="Rectangle 4"/>
          <p:cNvSpPr/>
          <p:nvPr/>
        </p:nvSpPr>
        <p:spPr>
          <a:xfrm>
            <a:off x="9611360" y="1857248"/>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887712" y="1948688"/>
            <a:ext cx="1806448" cy="415498"/>
          </a:xfrm>
          <a:prstGeom prst="rect">
            <a:avLst/>
          </a:prstGeom>
          <a:noFill/>
        </p:spPr>
        <p:txBody>
          <a:bodyPr wrap="square" lIns="0" tIns="0" rIns="0" bIns="0">
            <a:spAutoFit/>
          </a:bodyPr>
          <a:lstStyle/>
          <a:p>
            <a:pPr algn="ctr"/>
            <a:r>
              <a:rPr sz="2700" b="1" dirty="0">
                <a:solidFill>
                  <a:srgbClr val="C8102E"/>
                </a:solidFill>
                <a:latin typeface="Lato"/>
              </a:rPr>
              <a:t>9.5%</a:t>
            </a:r>
          </a:p>
        </p:txBody>
      </p:sp>
      <p:sp>
        <p:nvSpPr>
          <p:cNvPr id="7" name="TextBox 6"/>
          <p:cNvSpPr txBox="1"/>
          <p:nvPr/>
        </p:nvSpPr>
        <p:spPr>
          <a:xfrm>
            <a:off x="9693656" y="2533904"/>
            <a:ext cx="2194560" cy="323165"/>
          </a:xfrm>
          <a:prstGeom prst="rect">
            <a:avLst/>
          </a:prstGeom>
          <a:noFill/>
        </p:spPr>
        <p:txBody>
          <a:bodyPr wrap="square" lIns="0" tIns="0" rIns="0" bIns="0">
            <a:spAutoFit/>
          </a:bodyPr>
          <a:lstStyle/>
          <a:p>
            <a:pPr algn="ctr"/>
            <a:r>
              <a:rPr sz="1050" b="0">
                <a:solidFill>
                  <a:srgbClr val="49494D"/>
                </a:solidFill>
                <a:latin typeface="Lato"/>
              </a:rPr>
              <a:t>FY25 EBIDA margin — the low of the series</a:t>
            </a:r>
          </a:p>
        </p:txBody>
      </p:sp>
      <p:sp>
        <p:nvSpPr>
          <p:cNvPr id="8" name="Rectangle 7"/>
          <p:cNvSpPr/>
          <p:nvPr/>
        </p:nvSpPr>
        <p:spPr>
          <a:xfrm>
            <a:off x="9611360" y="3192272"/>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887712" y="3283712"/>
            <a:ext cx="1806448" cy="415498"/>
          </a:xfrm>
          <a:prstGeom prst="rect">
            <a:avLst/>
          </a:prstGeom>
          <a:noFill/>
        </p:spPr>
        <p:txBody>
          <a:bodyPr wrap="square" lIns="0" tIns="0" rIns="0" bIns="0">
            <a:spAutoFit/>
          </a:bodyPr>
          <a:lstStyle/>
          <a:p>
            <a:pPr algn="ctr"/>
            <a:r>
              <a:rPr sz="2700" b="1">
                <a:solidFill>
                  <a:srgbClr val="000000"/>
                </a:solidFill>
                <a:latin typeface="Lato"/>
              </a:rPr>
              <a:t>–567 bps</a:t>
            </a:r>
          </a:p>
        </p:txBody>
      </p:sp>
      <p:sp>
        <p:nvSpPr>
          <p:cNvPr id="10" name="TextBox 9"/>
          <p:cNvSpPr txBox="1"/>
          <p:nvPr/>
        </p:nvSpPr>
        <p:spPr>
          <a:xfrm>
            <a:off x="9693656" y="3868928"/>
            <a:ext cx="2194560" cy="323165"/>
          </a:xfrm>
          <a:prstGeom prst="rect">
            <a:avLst/>
          </a:prstGeom>
          <a:noFill/>
        </p:spPr>
        <p:txBody>
          <a:bodyPr wrap="square" lIns="0" tIns="0" rIns="0" bIns="0">
            <a:spAutoFit/>
          </a:bodyPr>
          <a:lstStyle/>
          <a:p>
            <a:pPr algn="ctr"/>
            <a:r>
              <a:rPr sz="1050" b="0" dirty="0">
                <a:solidFill>
                  <a:srgbClr val="49494D"/>
                </a:solidFill>
                <a:latin typeface="Lato"/>
              </a:rPr>
              <a:t>EBIDA margin compression, FY18 to FY25</a:t>
            </a:r>
          </a:p>
        </p:txBody>
      </p:sp>
      <p:sp>
        <p:nvSpPr>
          <p:cNvPr id="11" name="Rectangle 10"/>
          <p:cNvSpPr/>
          <p:nvPr/>
        </p:nvSpPr>
        <p:spPr>
          <a:xfrm>
            <a:off x="9611360" y="4527296"/>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87712" y="4618736"/>
            <a:ext cx="1806448" cy="415498"/>
          </a:xfrm>
          <a:prstGeom prst="rect">
            <a:avLst/>
          </a:prstGeom>
          <a:noFill/>
        </p:spPr>
        <p:txBody>
          <a:bodyPr wrap="square" lIns="0" tIns="0" rIns="0" bIns="0">
            <a:spAutoFit/>
          </a:bodyPr>
          <a:lstStyle/>
          <a:p>
            <a:pPr algn="ctr"/>
            <a:r>
              <a:rPr sz="2700" b="1">
                <a:solidFill>
                  <a:srgbClr val="49494D"/>
                </a:solidFill>
                <a:latin typeface="Lato"/>
              </a:rPr>
              <a:t>204 bps</a:t>
            </a:r>
          </a:p>
        </p:txBody>
      </p:sp>
      <p:sp>
        <p:nvSpPr>
          <p:cNvPr id="13" name="TextBox 12"/>
          <p:cNvSpPr txBox="1"/>
          <p:nvPr/>
        </p:nvSpPr>
        <p:spPr>
          <a:xfrm>
            <a:off x="9693656" y="5203952"/>
            <a:ext cx="2194560" cy="484748"/>
          </a:xfrm>
          <a:prstGeom prst="rect">
            <a:avLst/>
          </a:prstGeom>
          <a:noFill/>
        </p:spPr>
        <p:txBody>
          <a:bodyPr wrap="square" lIns="0" tIns="0" rIns="0" bIns="0">
            <a:spAutoFit/>
          </a:bodyPr>
          <a:lstStyle/>
          <a:p>
            <a:pPr algn="ctr"/>
            <a:r>
              <a:rPr sz="1050" b="0">
                <a:solidFill>
                  <a:srgbClr val="49494D"/>
                </a:solidFill>
                <a:latin typeface="Lato"/>
              </a:rPr>
              <a:t>How far FY25 sits below the A-category median of 11.5% — 84 bps below the comprehensive median</a:t>
            </a:r>
          </a:p>
        </p:txBody>
      </p:sp>
      <p:sp>
        <p:nvSpPr>
          <p:cNvPr id="16"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7" name="TextBox 1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Financial Affairs; Moody’s Ratings</a:t>
            </a:r>
          </a:p>
        </p:txBody>
      </p:sp>
      <p:sp>
        <p:nvSpPr>
          <p:cNvPr id="18"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40</a:t>
            </a:fld>
            <a:endParaRPr lang="en-US" sz="900" b="1">
              <a:solidFill>
                <a:srgbClr val="000000"/>
              </a:solidFill>
              <a:latin typeface="Lat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How many colleges and universities are there in the U.S.? Not an easy question to answer</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Post-secondary institutions by level and control, 2021–22; share of each group in the bar</a:t>
            </a:r>
          </a:p>
        </p:txBody>
      </p:sp>
      <p:graphicFrame>
        <p:nvGraphicFramePr>
          <p:cNvPr id="4" name="Chart 3"/>
          <p:cNvGraphicFramePr>
            <a:graphicFrameLocks noGrp="1"/>
          </p:cNvGraphicFramePr>
          <p:nvPr/>
        </p:nvGraphicFramePr>
        <p:xfrm>
          <a:off x="457200" y="1645920"/>
          <a:ext cx="7955279" cy="4434840"/>
        </p:xfrm>
        <a:graphic>
          <a:graphicData uri="http://schemas.openxmlformats.org/drawingml/2006/chart">
            <c:chart xmlns:c="http://schemas.openxmlformats.org/drawingml/2006/chart" xmlns:r="http://schemas.openxmlformats.org/officeDocument/2006/relationships" r:id="rId2"/>
          </a:graphicData>
        </a:graphic>
      </p:graphicFrame>
      <p:cxnSp>
        <p:nvCxnSpPr>
          <p:cNvPr id="5" name="Connector 4"/>
          <p:cNvCxnSpPr/>
          <p:nvPr/>
        </p:nvCxnSpPr>
        <p:spPr>
          <a:xfrm>
            <a:off x="8686800" y="1691640"/>
            <a:ext cx="30449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686800" y="1764792"/>
            <a:ext cx="3044952" cy="640080"/>
          </a:xfrm>
          <a:prstGeom prst="rect">
            <a:avLst/>
          </a:prstGeom>
          <a:noFill/>
        </p:spPr>
        <p:txBody>
          <a:bodyPr wrap="square" lIns="0" tIns="0" rIns="0" bIns="0" anchor="t">
            <a:spAutoFit/>
          </a:bodyPr>
          <a:lstStyle/>
          <a:p>
            <a:pPr algn="l"/>
            <a:r>
              <a:rPr sz="3600" b="1" i="0">
                <a:solidFill>
                  <a:srgbClr val="C8102E"/>
                </a:solidFill>
                <a:latin typeface="Lato"/>
              </a:rPr>
              <a:t>26%</a:t>
            </a:r>
          </a:p>
        </p:txBody>
      </p:sp>
      <p:sp>
        <p:nvSpPr>
          <p:cNvPr id="7" name="TextBox 6"/>
          <p:cNvSpPr txBox="1"/>
          <p:nvPr/>
        </p:nvSpPr>
        <p:spPr>
          <a:xfrm>
            <a:off x="8686800" y="2404872"/>
            <a:ext cx="3044952" cy="731520"/>
          </a:xfrm>
          <a:prstGeom prst="rect">
            <a:avLst/>
          </a:prstGeom>
          <a:noFill/>
        </p:spPr>
        <p:txBody>
          <a:bodyPr wrap="square" lIns="0" tIns="0" rIns="0" bIns="0" anchor="t">
            <a:spAutoFit/>
          </a:bodyPr>
          <a:lstStyle/>
          <a:p>
            <a:pPr algn="l"/>
            <a:r>
              <a:rPr sz="1100" b="0" i="0">
                <a:solidFill>
                  <a:srgbClr val="000000"/>
                </a:solidFill>
                <a:latin typeface="Lato"/>
              </a:rPr>
              <a:t>of all institutions are four-year private nonprofits, the group Northeastern belongs to; 13% are four-year public.</a:t>
            </a:r>
          </a:p>
        </p:txBody>
      </p:sp>
      <p:cxnSp>
        <p:nvCxnSpPr>
          <p:cNvPr id="8" name="Connector 7"/>
          <p:cNvCxnSpPr/>
          <p:nvPr/>
        </p:nvCxnSpPr>
        <p:spPr>
          <a:xfrm>
            <a:off x="8686800" y="3154680"/>
            <a:ext cx="30449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686800" y="3227832"/>
            <a:ext cx="3044952" cy="640080"/>
          </a:xfrm>
          <a:prstGeom prst="rect">
            <a:avLst/>
          </a:prstGeom>
          <a:noFill/>
        </p:spPr>
        <p:txBody>
          <a:bodyPr wrap="square" lIns="0" tIns="0" rIns="0" bIns="0" anchor="t">
            <a:spAutoFit/>
          </a:bodyPr>
          <a:lstStyle/>
          <a:p>
            <a:pPr algn="l"/>
            <a:r>
              <a:rPr sz="3600" b="1" i="0">
                <a:solidFill>
                  <a:srgbClr val="C8102E"/>
                </a:solidFill>
                <a:latin typeface="Lato"/>
              </a:rPr>
              <a:t>79%</a:t>
            </a:r>
          </a:p>
        </p:txBody>
      </p:sp>
      <p:sp>
        <p:nvSpPr>
          <p:cNvPr id="10" name="TextBox 9"/>
          <p:cNvSpPr txBox="1"/>
          <p:nvPr/>
        </p:nvSpPr>
        <p:spPr>
          <a:xfrm>
            <a:off x="8686800" y="3867912"/>
            <a:ext cx="3044952" cy="731520"/>
          </a:xfrm>
          <a:prstGeom prst="rect">
            <a:avLst/>
          </a:prstGeom>
          <a:noFill/>
        </p:spPr>
        <p:txBody>
          <a:bodyPr wrap="square" lIns="0" tIns="0" rIns="0" bIns="0" anchor="t">
            <a:spAutoFit/>
          </a:bodyPr>
          <a:lstStyle/>
          <a:p>
            <a:pPr algn="l"/>
            <a:r>
              <a:rPr sz="1100" b="0" i="0">
                <a:solidFill>
                  <a:srgbClr val="000000"/>
                </a:solidFill>
                <a:latin typeface="Lato"/>
              </a:rPr>
              <a:t>of the 1,940 non-degree institutions are for-profit, which is why for-profits are 38% of the total but only 18% of degree-granting institutions.</a:t>
            </a:r>
          </a:p>
        </p:txBody>
      </p:sp>
      <p:cxnSp>
        <p:nvCxnSpPr>
          <p:cNvPr id="11" name="Connector 10"/>
          <p:cNvCxnSpPr/>
          <p:nvPr/>
        </p:nvCxnSpPr>
        <p:spPr>
          <a:xfrm>
            <a:off x="8686800" y="4617720"/>
            <a:ext cx="30449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686800" y="4690872"/>
            <a:ext cx="3044952" cy="640080"/>
          </a:xfrm>
          <a:prstGeom prst="rect">
            <a:avLst/>
          </a:prstGeom>
          <a:noFill/>
        </p:spPr>
        <p:txBody>
          <a:bodyPr wrap="square" lIns="0" tIns="0" rIns="0" bIns="0" anchor="t">
            <a:spAutoFit/>
          </a:bodyPr>
          <a:lstStyle/>
          <a:p>
            <a:pPr algn="l"/>
            <a:r>
              <a:rPr sz="3600" b="1" i="0">
                <a:solidFill>
                  <a:srgbClr val="C8102E"/>
                </a:solidFill>
                <a:latin typeface="Lato"/>
              </a:rPr>
              <a:t>3,896</a:t>
            </a:r>
          </a:p>
        </p:txBody>
      </p:sp>
      <p:sp>
        <p:nvSpPr>
          <p:cNvPr id="13" name="TextBox 12"/>
          <p:cNvSpPr txBox="1"/>
          <p:nvPr/>
        </p:nvSpPr>
        <p:spPr>
          <a:xfrm>
            <a:off x="8686800" y="5330952"/>
            <a:ext cx="3044952" cy="731520"/>
          </a:xfrm>
          <a:prstGeom prst="rect">
            <a:avLst/>
          </a:prstGeom>
          <a:noFill/>
        </p:spPr>
        <p:txBody>
          <a:bodyPr wrap="square" lIns="0" tIns="0" rIns="0" bIns="0" anchor="t">
            <a:spAutoFit/>
          </a:bodyPr>
          <a:lstStyle/>
          <a:p>
            <a:pPr algn="l"/>
            <a:r>
              <a:rPr sz="1100" b="0" i="0">
                <a:solidFill>
                  <a:srgbClr val="000000"/>
                </a:solidFill>
                <a:latin typeface="Lato"/>
              </a:rPr>
              <a:t>degree-granting institutions in 2022–23 (2,628 four-year, 1,268 two-year), down 18% from the 2012–13 peak. All Title IV institutions fell 2% to 5,819 in 2023–24.</a:t>
            </a:r>
          </a:p>
        </p:txBody>
      </p:sp>
      <p:sp>
        <p:nvSpPr>
          <p:cNvPr id="14" name="TextBox 13"/>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NCES Digest of Education Statistics 2023 (Tables 317.10 and 317.20) and IPEDS; 2021–22 academic year</a:t>
            </a:r>
          </a:p>
        </p:txBody>
      </p:sp>
      <p:sp>
        <p:nvSpPr>
          <p:cNvPr id="15"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41</a:t>
            </a:fld>
            <a:endParaRPr lang="en-US" sz="900" b="1">
              <a:solidFill>
                <a:srgbClr val="000000"/>
              </a:solidFill>
              <a:latin typeface="Lat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Economic mobility has fallen: 92% of the 1940 cohort out-earned their parents, versus 50% of the 1984 cohort</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Share of children earning more than their parents, by birth cohort (parent and child income measured at age 30)</a:t>
            </a:r>
          </a:p>
        </p:txBody>
      </p:sp>
      <p:graphicFrame>
        <p:nvGraphicFramePr>
          <p:cNvPr id="4" name="Chart 3"/>
          <p:cNvGraphicFramePr>
            <a:graphicFrameLocks noGrp="1"/>
          </p:cNvGraphicFramePr>
          <p:nvPr/>
        </p:nvGraphicFramePr>
        <p:xfrm>
          <a:off x="457200" y="1737360"/>
          <a:ext cx="11274552" cy="402336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457200" y="5852160"/>
            <a:ext cx="11247120" cy="365760"/>
          </a:xfrm>
          <a:prstGeom prst="rect">
            <a:avLst/>
          </a:prstGeom>
          <a:noFill/>
        </p:spPr>
        <p:txBody>
          <a:bodyPr wrap="square" lIns="0" tIns="0" rIns="0" bIns="0" anchor="t">
            <a:spAutoFit/>
          </a:bodyPr>
          <a:lstStyle/>
          <a:p>
            <a:pPr algn="l"/>
            <a:r>
              <a:rPr sz="1100" b="0" i="1">
                <a:solidFill>
                  <a:srgbClr val="595959"/>
                </a:solidFill>
                <a:latin typeface="Lato"/>
              </a:rPr>
              <a:t>The 1984 birth cohort is the latest in Opportunity Insights’ published data (Chetty et al., Science 2017); the data table has not been extended.</a:t>
            </a:r>
          </a:p>
        </p:txBody>
      </p:sp>
      <p:sp>
        <p:nvSpPr>
          <p:cNvPr id="6" name="TextBox 5"/>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Opportunity Insights (formerly The Equality of Opportunity Project), Chetty et al.</a:t>
            </a:r>
          </a:p>
        </p:txBody>
      </p:sp>
      <p:sp>
        <p:nvSpPr>
          <p:cNvPr id="7"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42</a:t>
            </a:fld>
            <a:endParaRPr lang="en-US" sz="900" b="1">
              <a:solidFill>
                <a:srgbClr val="000000"/>
              </a:solidFill>
              <a:latin typeface="La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Higher attainment still pays: a bachelor’s degree earns 63% more than a high school diploma</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Median usual weekly earnings and unemployment rate by educational attainment, full-time wage and salary workers age 25 and over, 2025</a:t>
            </a:r>
          </a:p>
        </p:txBody>
      </p:sp>
      <p:sp>
        <p:nvSpPr>
          <p:cNvPr id="4" name="TextBox 3"/>
          <p:cNvSpPr txBox="1"/>
          <p:nvPr/>
        </p:nvSpPr>
        <p:spPr>
          <a:xfrm>
            <a:off x="457200" y="1691640"/>
            <a:ext cx="6675120" cy="274320"/>
          </a:xfrm>
          <a:prstGeom prst="rect">
            <a:avLst/>
          </a:prstGeom>
          <a:noFill/>
        </p:spPr>
        <p:txBody>
          <a:bodyPr wrap="square" lIns="0" tIns="0" rIns="0" bIns="0" anchor="t">
            <a:spAutoFit/>
          </a:bodyPr>
          <a:lstStyle/>
          <a:p>
            <a:pPr algn="l"/>
            <a:r>
              <a:rPr sz="1300" b="1" i="0">
                <a:solidFill>
                  <a:srgbClr val="000000"/>
                </a:solidFill>
                <a:latin typeface="Lato"/>
              </a:rPr>
              <a:t>Median usual weekly earnings ($)</a:t>
            </a:r>
          </a:p>
        </p:txBody>
      </p:sp>
      <p:graphicFrame>
        <p:nvGraphicFramePr>
          <p:cNvPr id="5" name="Chart 4"/>
          <p:cNvGraphicFramePr>
            <a:graphicFrameLocks noGrp="1"/>
          </p:cNvGraphicFramePr>
          <p:nvPr/>
        </p:nvGraphicFramePr>
        <p:xfrm>
          <a:off x="457200" y="1965960"/>
          <a:ext cx="6949440" cy="4023360"/>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Box 5"/>
          <p:cNvSpPr txBox="1"/>
          <p:nvPr/>
        </p:nvSpPr>
        <p:spPr>
          <a:xfrm>
            <a:off x="7772400" y="1691640"/>
            <a:ext cx="3931920" cy="274320"/>
          </a:xfrm>
          <a:prstGeom prst="rect">
            <a:avLst/>
          </a:prstGeom>
          <a:noFill/>
        </p:spPr>
        <p:txBody>
          <a:bodyPr wrap="square" lIns="0" tIns="0" rIns="0" bIns="0" anchor="t">
            <a:spAutoFit/>
          </a:bodyPr>
          <a:lstStyle/>
          <a:p>
            <a:pPr algn="l"/>
            <a:r>
              <a:rPr sz="1300" b="1" i="0">
                <a:solidFill>
                  <a:srgbClr val="000000"/>
                </a:solidFill>
                <a:latin typeface="Lato"/>
              </a:rPr>
              <a:t>Unemployment rate</a:t>
            </a:r>
          </a:p>
        </p:txBody>
      </p:sp>
      <p:graphicFrame>
        <p:nvGraphicFramePr>
          <p:cNvPr id="7" name="Chart 6"/>
          <p:cNvGraphicFramePr>
            <a:graphicFrameLocks noGrp="1"/>
          </p:cNvGraphicFramePr>
          <p:nvPr/>
        </p:nvGraphicFramePr>
        <p:xfrm>
          <a:off x="7772400" y="1965960"/>
          <a:ext cx="3959352"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p:cNvSpPr txBox="1"/>
          <p:nvPr/>
        </p:nvSpPr>
        <p:spPr>
          <a:xfrm>
            <a:off x="457200" y="5989320"/>
            <a:ext cx="11247120" cy="320040"/>
          </a:xfrm>
          <a:prstGeom prst="rect">
            <a:avLst/>
          </a:prstGeom>
          <a:noFill/>
        </p:spPr>
        <p:txBody>
          <a:bodyPr wrap="square" lIns="0" tIns="0" rIns="0" bIns="0" anchor="t">
            <a:spAutoFit/>
          </a:bodyPr>
          <a:lstStyle/>
          <a:p>
            <a:pPr algn="l"/>
            <a:r>
              <a:rPr sz="1000" b="0" i="1">
                <a:solidFill>
                  <a:srgbClr val="595959"/>
                </a:solidFill>
                <a:latin typeface="Lato"/>
              </a:rPr>
              <a:t>A master’s degree earns 19% more than a bachelor’s. 2025 annual estimates are 11-month averages that exclude October (federal shutdown) and are not strictly comparable with earlier years.</a:t>
            </a:r>
          </a:p>
        </p:txBody>
      </p:sp>
      <p:sp>
        <p:nvSpPr>
          <p:cNvPr id="9" name="TextBox 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U.S. Bureau of Labor Statistics, Current Population Survey (Education Pays, 2025)</a:t>
            </a:r>
          </a:p>
        </p:txBody>
      </p:sp>
      <p:sp>
        <p:nvSpPr>
          <p:cNvPr id="10"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43</a:t>
            </a:fld>
            <a:endParaRPr lang="en-US" sz="900" b="1">
              <a:solidFill>
                <a:srgbClr val="000000"/>
              </a:solidFill>
              <a:latin typeface="Lato"/>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college earnings premium has grown from 28% in 1965 to 80% in 2014, and still holds today</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Median family income of adults ages 30–39, with and without a four-year college degree ($000)</a:t>
            </a:r>
          </a:p>
        </p:txBody>
      </p:sp>
      <p:graphicFrame>
        <p:nvGraphicFramePr>
          <p:cNvPr id="4" name="Chart 3"/>
          <p:cNvGraphicFramePr>
            <a:graphicFrameLocks noGrp="1"/>
          </p:cNvGraphicFramePr>
          <p:nvPr/>
        </p:nvGraphicFramePr>
        <p:xfrm>
          <a:off x="457200" y="2148840"/>
          <a:ext cx="7589520" cy="384048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457200" y="1938528"/>
            <a:ext cx="1280160" cy="228600"/>
          </a:xfrm>
          <a:prstGeom prst="rect">
            <a:avLst/>
          </a:prstGeom>
          <a:noFill/>
        </p:spPr>
        <p:txBody>
          <a:bodyPr wrap="square" lIns="0" tIns="0" rIns="0" bIns="0" anchor="t">
            <a:spAutoFit/>
          </a:bodyPr>
          <a:lstStyle/>
          <a:p>
            <a:pPr algn="l"/>
            <a:r>
              <a:rPr sz="900" b="1" i="0">
                <a:solidFill>
                  <a:srgbClr val="595959"/>
                </a:solidFill>
                <a:latin typeface="Lato"/>
              </a:rPr>
              <a:t>College premium above</a:t>
            </a:r>
          </a:p>
        </p:txBody>
      </p:sp>
      <p:sp>
        <p:nvSpPr>
          <p:cNvPr id="6" name="TextBox 5"/>
          <p:cNvSpPr txBox="1"/>
          <p:nvPr/>
        </p:nvSpPr>
        <p:spPr>
          <a:xfrm>
            <a:off x="1047902"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28%</a:t>
            </a:r>
          </a:p>
        </p:txBody>
      </p:sp>
      <p:sp>
        <p:nvSpPr>
          <p:cNvPr id="7" name="TextBox 6"/>
          <p:cNvSpPr txBox="1"/>
          <p:nvPr/>
        </p:nvSpPr>
        <p:spPr>
          <a:xfrm>
            <a:off x="2189073"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27%</a:t>
            </a:r>
          </a:p>
        </p:txBody>
      </p:sp>
      <p:sp>
        <p:nvSpPr>
          <p:cNvPr id="8" name="TextBox 7"/>
          <p:cNvSpPr txBox="1"/>
          <p:nvPr/>
        </p:nvSpPr>
        <p:spPr>
          <a:xfrm>
            <a:off x="3330244"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33%</a:t>
            </a:r>
          </a:p>
        </p:txBody>
      </p:sp>
      <p:sp>
        <p:nvSpPr>
          <p:cNvPr id="9" name="TextBox 8"/>
          <p:cNvSpPr txBox="1"/>
          <p:nvPr/>
        </p:nvSpPr>
        <p:spPr>
          <a:xfrm>
            <a:off x="4471416"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46%</a:t>
            </a:r>
          </a:p>
        </p:txBody>
      </p:sp>
      <p:sp>
        <p:nvSpPr>
          <p:cNvPr id="10" name="TextBox 9"/>
          <p:cNvSpPr txBox="1"/>
          <p:nvPr/>
        </p:nvSpPr>
        <p:spPr>
          <a:xfrm>
            <a:off x="5612587"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62%</a:t>
            </a:r>
          </a:p>
        </p:txBody>
      </p:sp>
      <p:sp>
        <p:nvSpPr>
          <p:cNvPr id="11" name="TextBox 10"/>
          <p:cNvSpPr txBox="1"/>
          <p:nvPr/>
        </p:nvSpPr>
        <p:spPr>
          <a:xfrm>
            <a:off x="6753758"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80%</a:t>
            </a:r>
          </a:p>
        </p:txBody>
      </p:sp>
      <p:sp>
        <p:nvSpPr>
          <p:cNvPr id="12" name="Rectangle 11"/>
          <p:cNvSpPr/>
          <p:nvPr/>
        </p:nvSpPr>
        <p:spPr>
          <a:xfrm>
            <a:off x="8412480" y="1645920"/>
            <a:ext cx="3319272" cy="4343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95360" y="1783080"/>
            <a:ext cx="2971800" cy="274320"/>
          </a:xfrm>
          <a:prstGeom prst="rect">
            <a:avLst/>
          </a:prstGeom>
          <a:noFill/>
        </p:spPr>
        <p:txBody>
          <a:bodyPr wrap="square" lIns="0" tIns="0" rIns="0" bIns="0" anchor="t">
            <a:spAutoFit/>
          </a:bodyPr>
          <a:lstStyle/>
          <a:p>
            <a:pPr algn="l"/>
            <a:r>
              <a:rPr sz="1000" b="1" i="0">
                <a:solidFill>
                  <a:srgbClr val="C8102E"/>
                </a:solidFill>
                <a:latin typeface="Lato"/>
              </a:rPr>
              <a:t>2024–2025 UPDATE</a:t>
            </a:r>
          </a:p>
        </p:txBody>
      </p:sp>
      <p:sp>
        <p:nvSpPr>
          <p:cNvPr id="14" name="TextBox 13"/>
          <p:cNvSpPr txBox="1"/>
          <p:nvPr/>
        </p:nvSpPr>
        <p:spPr>
          <a:xfrm>
            <a:off x="8595360" y="2103120"/>
            <a:ext cx="2971800" cy="731520"/>
          </a:xfrm>
          <a:prstGeom prst="rect">
            <a:avLst/>
          </a:prstGeom>
          <a:noFill/>
        </p:spPr>
        <p:txBody>
          <a:bodyPr wrap="square" lIns="0" tIns="0" rIns="0" bIns="0" anchor="t">
            <a:spAutoFit/>
          </a:bodyPr>
          <a:lstStyle/>
          <a:p>
            <a:pPr algn="l"/>
            <a:r>
              <a:rPr sz="4000" b="1" i="0">
                <a:solidFill>
                  <a:srgbClr val="000000"/>
                </a:solidFill>
                <a:latin typeface="Lato"/>
              </a:rPr>
              <a:t>2.3×</a:t>
            </a:r>
          </a:p>
        </p:txBody>
      </p:sp>
      <p:sp>
        <p:nvSpPr>
          <p:cNvPr id="15" name="TextBox 14"/>
          <p:cNvSpPr txBox="1"/>
          <p:nvPr/>
        </p:nvSpPr>
        <p:spPr>
          <a:xfrm>
            <a:off x="8595360" y="2834640"/>
            <a:ext cx="2971800" cy="1188720"/>
          </a:xfrm>
          <a:prstGeom prst="rect">
            <a:avLst/>
          </a:prstGeom>
          <a:noFill/>
        </p:spPr>
        <p:txBody>
          <a:bodyPr wrap="square" lIns="0" tIns="0" rIns="0" bIns="0" anchor="t">
            <a:spAutoFit/>
          </a:bodyPr>
          <a:lstStyle/>
          <a:p>
            <a:pPr algn="l"/>
            <a:r>
              <a:rPr sz="1100" b="0" i="0">
                <a:solidFill>
                  <a:srgbClr val="000000"/>
                </a:solidFill>
                <a:latin typeface="Lato"/>
              </a:rPr>
              <a:t>Median household income in 2024: $132,700 when the householder has a bachelor’s degree or higher, versus $58,410 with a high school degree only (Census).</a:t>
            </a:r>
          </a:p>
        </p:txBody>
      </p:sp>
      <p:cxnSp>
        <p:nvCxnSpPr>
          <p:cNvPr id="16" name="Connector 15"/>
          <p:cNvCxnSpPr/>
          <p:nvPr/>
        </p:nvCxnSpPr>
        <p:spPr>
          <a:xfrm>
            <a:off x="8595360" y="4114800"/>
            <a:ext cx="2971800"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595360" y="4206240"/>
            <a:ext cx="2971800" cy="731520"/>
          </a:xfrm>
          <a:prstGeom prst="rect">
            <a:avLst/>
          </a:prstGeom>
          <a:noFill/>
        </p:spPr>
        <p:txBody>
          <a:bodyPr wrap="square" lIns="0" tIns="0" rIns="0" bIns="0" anchor="t">
            <a:spAutoFit/>
          </a:bodyPr>
          <a:lstStyle/>
          <a:p>
            <a:pPr algn="l"/>
            <a:r>
              <a:rPr sz="4000" b="1" i="0">
                <a:solidFill>
                  <a:srgbClr val="C8102E"/>
                </a:solidFill>
                <a:latin typeface="Lato"/>
              </a:rPr>
              <a:t>+63%</a:t>
            </a:r>
          </a:p>
        </p:txBody>
      </p:sp>
      <p:sp>
        <p:nvSpPr>
          <p:cNvPr id="18" name="TextBox 17"/>
          <p:cNvSpPr txBox="1"/>
          <p:nvPr/>
        </p:nvSpPr>
        <p:spPr>
          <a:xfrm>
            <a:off x="8595360" y="4937760"/>
            <a:ext cx="2971800" cy="1005840"/>
          </a:xfrm>
          <a:prstGeom prst="rect">
            <a:avLst/>
          </a:prstGeom>
          <a:noFill/>
        </p:spPr>
        <p:txBody>
          <a:bodyPr wrap="square" lIns="0" tIns="0" rIns="0" bIns="0" anchor="t">
            <a:spAutoFit/>
          </a:bodyPr>
          <a:lstStyle/>
          <a:p>
            <a:pPr algn="l"/>
            <a:r>
              <a:rPr sz="1100" b="0" i="0">
                <a:solidFill>
                  <a:srgbClr val="000000"/>
                </a:solidFill>
                <a:latin typeface="Lato"/>
              </a:rPr>
              <a:t>Bachelor’s degree holders’ median weekly earnings versus high school graduates in 2025; the premium was 66% in 2024 (BLS).</a:t>
            </a:r>
          </a:p>
        </p:txBody>
      </p:sp>
      <p:sp>
        <p:nvSpPr>
          <p:cNvPr id="19" name="TextBox 1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Brookings tabulations of Census CPS ASEC (1965–2014); Census (Sept. 2025) and BLS Education Pays (2024, 2025) use different measures</a:t>
            </a:r>
          </a:p>
        </p:txBody>
      </p:sp>
      <p:sp>
        <p:nvSpPr>
          <p:cNvPr id="20"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44</a:t>
            </a:fld>
            <a:endParaRPr lang="en-US" sz="900" b="1">
              <a:solidFill>
                <a:srgbClr val="000000"/>
              </a:solidFill>
              <a:latin typeface="Lato"/>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What are our spending and investment priorities as a nation?</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U.S. spending ($ billion), latest available; items updated in this edition are labeled with their year; NIH and NSF highlighted</a:t>
            </a:r>
          </a:p>
        </p:txBody>
      </p:sp>
      <p:graphicFrame>
        <p:nvGraphicFramePr>
          <p:cNvPr id="4" name="Chart 3"/>
          <p:cNvGraphicFramePr>
            <a:graphicFrameLocks noGrp="1"/>
          </p:cNvGraphicFramePr>
          <p:nvPr/>
        </p:nvGraphicFramePr>
        <p:xfrm>
          <a:off x="457200" y="1417320"/>
          <a:ext cx="11274552" cy="493776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Sources: APPA, AGA, NASPL, BTS, NRF, CRS/Congress.gov (NIH, NSF FY2026); other items 2024 from sources in speaker notes</a:t>
            </a:r>
          </a:p>
        </p:txBody>
      </p:sp>
      <p:sp>
        <p:nvSpPr>
          <p:cNvPr id="6"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45</a:t>
            </a:fld>
            <a:endParaRPr lang="en-US" sz="900" b="1">
              <a:solidFill>
                <a:srgbClr val="000000"/>
              </a:solidFill>
              <a:latin typeface="Lato"/>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Since FY 2014, Northeastern has climbed from #42 to #33 among private institutions, passing 9 peers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Rank among all private institutions by total R&amp;D expenditures, FY 2014–2024</a:t>
            </a:r>
          </a:p>
        </p:txBody>
      </p:sp>
      <p:graphicFrame>
        <p:nvGraphicFramePr>
          <p:cNvPr id="9" name="Chart 8"/>
          <p:cNvGraphicFramePr>
            <a:graphicFrameLocks noGrp="1"/>
          </p:cNvGraphicFramePr>
          <p:nvPr/>
        </p:nvGraphicFramePr>
        <p:xfrm>
          <a:off x="548640" y="1325880"/>
          <a:ext cx="11064240" cy="461772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521207" y="4791586"/>
            <a:ext cx="2148840" cy="228600"/>
          </a:xfrm>
          <a:prstGeom prst="rect">
            <a:avLst/>
          </a:prstGeom>
          <a:noFill/>
        </p:spPr>
        <p:txBody>
          <a:bodyPr wrap="square" lIns="0" tIns="0" rIns="0" bIns="0" anchor="t">
            <a:spAutoFit/>
          </a:bodyPr>
          <a:lstStyle/>
          <a:p>
            <a:pPr algn="r"/>
            <a:r>
              <a:rPr sz="1100" b="1" i="0">
                <a:solidFill>
                  <a:srgbClr val="C8102E"/>
                </a:solidFill>
                <a:latin typeface="Lato"/>
              </a:rPr>
              <a:t>Northeastern U.  #42</a:t>
            </a:r>
          </a:p>
        </p:txBody>
      </p:sp>
      <p:sp>
        <p:nvSpPr>
          <p:cNvPr id="11" name="TextBox 10"/>
          <p:cNvSpPr txBox="1"/>
          <p:nvPr/>
        </p:nvSpPr>
        <p:spPr>
          <a:xfrm>
            <a:off x="9491472" y="3050046"/>
            <a:ext cx="2194560" cy="228600"/>
          </a:xfrm>
          <a:prstGeom prst="rect">
            <a:avLst/>
          </a:prstGeom>
          <a:noFill/>
        </p:spPr>
        <p:txBody>
          <a:bodyPr wrap="square" lIns="0" tIns="0" rIns="0" bIns="0" anchor="t">
            <a:spAutoFit/>
          </a:bodyPr>
          <a:lstStyle/>
          <a:p>
            <a:pPr algn="l"/>
            <a:r>
              <a:rPr sz="1100" b="1" i="0">
                <a:solidFill>
                  <a:srgbClr val="C8102E"/>
                </a:solidFill>
                <a:latin typeface="Lato"/>
              </a:rPr>
              <a:t>#33  Northeastern U.</a:t>
            </a:r>
          </a:p>
        </p:txBody>
      </p:sp>
      <p:sp>
        <p:nvSpPr>
          <p:cNvPr id="12" name="TextBox 11"/>
          <p:cNvSpPr txBox="1"/>
          <p:nvPr/>
        </p:nvSpPr>
        <p:spPr>
          <a:xfrm>
            <a:off x="521207" y="3243550"/>
            <a:ext cx="2148840" cy="228600"/>
          </a:xfrm>
          <a:prstGeom prst="rect">
            <a:avLst/>
          </a:prstGeom>
          <a:noFill/>
        </p:spPr>
        <p:txBody>
          <a:bodyPr wrap="square" lIns="0" tIns="0" rIns="0" bIns="0" anchor="t">
            <a:spAutoFit/>
          </a:bodyPr>
          <a:lstStyle/>
          <a:p>
            <a:pPr algn="r"/>
            <a:r>
              <a:rPr sz="1100" b="0" i="0">
                <a:solidFill>
                  <a:srgbClr val="2B2B2B"/>
                </a:solidFill>
                <a:latin typeface="Lato"/>
              </a:rPr>
              <a:t>U. Notre Dame  #34</a:t>
            </a:r>
          </a:p>
        </p:txBody>
      </p:sp>
      <p:sp>
        <p:nvSpPr>
          <p:cNvPr id="13" name="TextBox 12"/>
          <p:cNvSpPr txBox="1"/>
          <p:nvPr/>
        </p:nvSpPr>
        <p:spPr>
          <a:xfrm>
            <a:off x="9491472" y="3243550"/>
            <a:ext cx="2194560" cy="228600"/>
          </a:xfrm>
          <a:prstGeom prst="rect">
            <a:avLst/>
          </a:prstGeom>
          <a:noFill/>
        </p:spPr>
        <p:txBody>
          <a:bodyPr wrap="square" lIns="0" tIns="0" rIns="0" bIns="0" anchor="t">
            <a:spAutoFit/>
          </a:bodyPr>
          <a:lstStyle/>
          <a:p>
            <a:pPr algn="l"/>
            <a:r>
              <a:rPr sz="1100" b="0" i="0">
                <a:solidFill>
                  <a:srgbClr val="2B2B2B"/>
                </a:solidFill>
                <a:latin typeface="Lato"/>
              </a:rPr>
              <a:t>#34  U. Notre Dame</a:t>
            </a:r>
          </a:p>
        </p:txBody>
      </p:sp>
      <p:sp>
        <p:nvSpPr>
          <p:cNvPr id="14" name="TextBox 13"/>
          <p:cNvSpPr txBox="1"/>
          <p:nvPr/>
        </p:nvSpPr>
        <p:spPr>
          <a:xfrm>
            <a:off x="521207" y="3437055"/>
            <a:ext cx="2148840" cy="228600"/>
          </a:xfrm>
          <a:prstGeom prst="rect">
            <a:avLst/>
          </a:prstGeom>
          <a:noFill/>
        </p:spPr>
        <p:txBody>
          <a:bodyPr wrap="square" lIns="0" tIns="0" rIns="0" bIns="0" anchor="t">
            <a:spAutoFit/>
          </a:bodyPr>
          <a:lstStyle/>
          <a:p>
            <a:pPr algn="r"/>
            <a:r>
              <a:rPr sz="1100" b="0" i="0">
                <a:solidFill>
                  <a:srgbClr val="2B2B2B"/>
                </a:solidFill>
                <a:latin typeface="Lato"/>
              </a:rPr>
              <a:t>Wake Forest U.  #35</a:t>
            </a:r>
          </a:p>
        </p:txBody>
      </p:sp>
      <p:sp>
        <p:nvSpPr>
          <p:cNvPr id="15" name="TextBox 14"/>
          <p:cNvSpPr txBox="1"/>
          <p:nvPr/>
        </p:nvSpPr>
        <p:spPr>
          <a:xfrm>
            <a:off x="9491472" y="3437055"/>
            <a:ext cx="2194560" cy="228600"/>
          </a:xfrm>
          <a:prstGeom prst="rect">
            <a:avLst/>
          </a:prstGeom>
          <a:noFill/>
        </p:spPr>
        <p:txBody>
          <a:bodyPr wrap="square" lIns="0" tIns="0" rIns="0" bIns="0" anchor="t">
            <a:spAutoFit/>
          </a:bodyPr>
          <a:lstStyle/>
          <a:p>
            <a:pPr algn="l"/>
            <a:r>
              <a:rPr sz="1100" b="0" i="0">
                <a:solidFill>
                  <a:srgbClr val="2B2B2B"/>
                </a:solidFill>
                <a:latin typeface="Lato"/>
              </a:rPr>
              <a:t>#35  Wake Forest U.</a:t>
            </a:r>
          </a:p>
        </p:txBody>
      </p:sp>
      <p:sp>
        <p:nvSpPr>
          <p:cNvPr id="16" name="TextBox 15"/>
          <p:cNvSpPr txBox="1"/>
          <p:nvPr/>
        </p:nvSpPr>
        <p:spPr>
          <a:xfrm>
            <a:off x="521207" y="2663037"/>
            <a:ext cx="2148840" cy="228600"/>
          </a:xfrm>
          <a:prstGeom prst="rect">
            <a:avLst/>
          </a:prstGeom>
          <a:noFill/>
        </p:spPr>
        <p:txBody>
          <a:bodyPr wrap="square" lIns="0" tIns="0" rIns="0" bIns="0" anchor="t">
            <a:spAutoFit/>
          </a:bodyPr>
          <a:lstStyle/>
          <a:p>
            <a:pPr algn="r"/>
            <a:r>
              <a:rPr sz="1100" b="0" i="0">
                <a:solidFill>
                  <a:srgbClr val="2B2B2B"/>
                </a:solidFill>
                <a:latin typeface="Lato"/>
              </a:rPr>
              <a:t>Woods Hole  #31</a:t>
            </a:r>
          </a:p>
        </p:txBody>
      </p:sp>
      <p:sp>
        <p:nvSpPr>
          <p:cNvPr id="17" name="TextBox 16"/>
          <p:cNvSpPr txBox="1"/>
          <p:nvPr/>
        </p:nvSpPr>
        <p:spPr>
          <a:xfrm>
            <a:off x="9491472" y="3630559"/>
            <a:ext cx="2194560" cy="228600"/>
          </a:xfrm>
          <a:prstGeom prst="rect">
            <a:avLst/>
          </a:prstGeom>
          <a:noFill/>
        </p:spPr>
        <p:txBody>
          <a:bodyPr wrap="square" lIns="0" tIns="0" rIns="0" bIns="0" anchor="t">
            <a:spAutoFit/>
          </a:bodyPr>
          <a:lstStyle/>
          <a:p>
            <a:pPr algn="l"/>
            <a:r>
              <a:rPr sz="1100" b="0" i="0">
                <a:solidFill>
                  <a:srgbClr val="2B2B2B"/>
                </a:solidFill>
                <a:latin typeface="Lato"/>
              </a:rPr>
              <a:t>#36  Woods Hole</a:t>
            </a:r>
          </a:p>
        </p:txBody>
      </p:sp>
      <p:sp>
        <p:nvSpPr>
          <p:cNvPr id="18" name="TextBox 17"/>
          <p:cNvSpPr txBox="1"/>
          <p:nvPr/>
        </p:nvSpPr>
        <p:spPr>
          <a:xfrm>
            <a:off x="521207" y="1695515"/>
            <a:ext cx="2148840" cy="228600"/>
          </a:xfrm>
          <a:prstGeom prst="rect">
            <a:avLst/>
          </a:prstGeom>
          <a:noFill/>
        </p:spPr>
        <p:txBody>
          <a:bodyPr wrap="square" lIns="0" tIns="0" rIns="0" bIns="0" anchor="t">
            <a:spAutoFit/>
          </a:bodyPr>
          <a:lstStyle/>
          <a:p>
            <a:pPr algn="r"/>
            <a:r>
              <a:rPr sz="1100" b="0" i="0">
                <a:solidFill>
                  <a:srgbClr val="2B2B2B"/>
                </a:solidFill>
                <a:latin typeface="Lato"/>
              </a:rPr>
              <a:t>Rockefeller U.  #26</a:t>
            </a:r>
          </a:p>
        </p:txBody>
      </p:sp>
      <p:sp>
        <p:nvSpPr>
          <p:cNvPr id="19" name="TextBox 18"/>
          <p:cNvSpPr txBox="1"/>
          <p:nvPr/>
        </p:nvSpPr>
        <p:spPr>
          <a:xfrm>
            <a:off x="9491472" y="3824064"/>
            <a:ext cx="2194560" cy="228600"/>
          </a:xfrm>
          <a:prstGeom prst="rect">
            <a:avLst/>
          </a:prstGeom>
          <a:noFill/>
        </p:spPr>
        <p:txBody>
          <a:bodyPr wrap="square" lIns="0" tIns="0" rIns="0" bIns="0" anchor="t">
            <a:spAutoFit/>
          </a:bodyPr>
          <a:lstStyle/>
          <a:p>
            <a:pPr algn="l"/>
            <a:r>
              <a:rPr sz="1100" b="0" i="0">
                <a:solidFill>
                  <a:srgbClr val="2B2B2B"/>
                </a:solidFill>
                <a:latin typeface="Lato"/>
              </a:rPr>
              <a:t>#37  Rockefeller U.</a:t>
            </a:r>
          </a:p>
        </p:txBody>
      </p:sp>
      <p:sp>
        <p:nvSpPr>
          <p:cNvPr id="20" name="TextBox 19"/>
          <p:cNvSpPr txBox="1"/>
          <p:nvPr/>
        </p:nvSpPr>
        <p:spPr>
          <a:xfrm>
            <a:off x="521207" y="3824064"/>
            <a:ext cx="2148840" cy="228600"/>
          </a:xfrm>
          <a:prstGeom prst="rect">
            <a:avLst/>
          </a:prstGeom>
          <a:noFill/>
        </p:spPr>
        <p:txBody>
          <a:bodyPr wrap="square" lIns="0" tIns="0" rIns="0" bIns="0" anchor="t">
            <a:spAutoFit/>
          </a:bodyPr>
          <a:lstStyle/>
          <a:p>
            <a:pPr algn="r"/>
            <a:r>
              <a:rPr sz="1100" b="0" i="0">
                <a:solidFill>
                  <a:srgbClr val="2B2B2B"/>
                </a:solidFill>
                <a:latin typeface="Lato"/>
              </a:rPr>
              <a:t>Tufts U.  #37</a:t>
            </a:r>
          </a:p>
        </p:txBody>
      </p:sp>
      <p:sp>
        <p:nvSpPr>
          <p:cNvPr id="21" name="TextBox 20"/>
          <p:cNvSpPr txBox="1"/>
          <p:nvPr/>
        </p:nvSpPr>
        <p:spPr>
          <a:xfrm>
            <a:off x="9491472" y="4017568"/>
            <a:ext cx="2194560" cy="228600"/>
          </a:xfrm>
          <a:prstGeom prst="rect">
            <a:avLst/>
          </a:prstGeom>
          <a:noFill/>
        </p:spPr>
        <p:txBody>
          <a:bodyPr wrap="square" lIns="0" tIns="0" rIns="0" bIns="0" anchor="t">
            <a:spAutoFit/>
          </a:bodyPr>
          <a:lstStyle/>
          <a:p>
            <a:pPr algn="l"/>
            <a:r>
              <a:rPr sz="1100" b="0" i="0">
                <a:solidFill>
                  <a:srgbClr val="2B2B2B"/>
                </a:solidFill>
                <a:latin typeface="Lato"/>
              </a:rPr>
              <a:t>#38  Tufts U.</a:t>
            </a:r>
          </a:p>
        </p:txBody>
      </p:sp>
      <p:sp>
        <p:nvSpPr>
          <p:cNvPr id="22" name="TextBox 21"/>
          <p:cNvSpPr txBox="1"/>
          <p:nvPr/>
        </p:nvSpPr>
        <p:spPr>
          <a:xfrm>
            <a:off x="521207" y="4211073"/>
            <a:ext cx="2148840" cy="228600"/>
          </a:xfrm>
          <a:prstGeom prst="rect">
            <a:avLst/>
          </a:prstGeom>
          <a:noFill/>
        </p:spPr>
        <p:txBody>
          <a:bodyPr wrap="square" lIns="0" tIns="0" rIns="0" bIns="0" anchor="t">
            <a:spAutoFit/>
          </a:bodyPr>
          <a:lstStyle/>
          <a:p>
            <a:pPr algn="r"/>
            <a:r>
              <a:rPr sz="1100" b="0" i="0">
                <a:solidFill>
                  <a:srgbClr val="2B2B2B"/>
                </a:solidFill>
                <a:latin typeface="Lato"/>
              </a:rPr>
              <a:t>Rice U.  #39</a:t>
            </a:r>
          </a:p>
        </p:txBody>
      </p:sp>
      <p:sp>
        <p:nvSpPr>
          <p:cNvPr id="23" name="TextBox 22"/>
          <p:cNvSpPr txBox="1"/>
          <p:nvPr/>
        </p:nvSpPr>
        <p:spPr>
          <a:xfrm>
            <a:off x="9491472" y="4211073"/>
            <a:ext cx="2194560" cy="228600"/>
          </a:xfrm>
          <a:prstGeom prst="rect">
            <a:avLst/>
          </a:prstGeom>
          <a:noFill/>
        </p:spPr>
        <p:txBody>
          <a:bodyPr wrap="square" lIns="0" tIns="0" rIns="0" bIns="0" anchor="t">
            <a:spAutoFit/>
          </a:bodyPr>
          <a:lstStyle/>
          <a:p>
            <a:pPr algn="l"/>
            <a:r>
              <a:rPr sz="1100" b="0" i="0">
                <a:solidFill>
                  <a:srgbClr val="2B2B2B"/>
                </a:solidFill>
                <a:latin typeface="Lato"/>
              </a:rPr>
              <a:t>#39  Rice U.</a:t>
            </a:r>
          </a:p>
        </p:txBody>
      </p:sp>
      <p:sp>
        <p:nvSpPr>
          <p:cNvPr id="24" name="TextBox 23"/>
          <p:cNvSpPr txBox="1"/>
          <p:nvPr/>
        </p:nvSpPr>
        <p:spPr>
          <a:xfrm>
            <a:off x="521207" y="4017568"/>
            <a:ext cx="2148840" cy="228600"/>
          </a:xfrm>
          <a:prstGeom prst="rect">
            <a:avLst/>
          </a:prstGeom>
          <a:noFill/>
        </p:spPr>
        <p:txBody>
          <a:bodyPr wrap="square" lIns="0" tIns="0" rIns="0" bIns="0" anchor="t">
            <a:spAutoFit/>
          </a:bodyPr>
          <a:lstStyle/>
          <a:p>
            <a:pPr algn="r"/>
            <a:r>
              <a:rPr sz="1100" b="0" i="0">
                <a:solidFill>
                  <a:srgbClr val="2B2B2B"/>
                </a:solidFill>
                <a:latin typeface="Lato"/>
              </a:rPr>
              <a:t>Tulane U.  #38</a:t>
            </a:r>
          </a:p>
        </p:txBody>
      </p:sp>
      <p:sp>
        <p:nvSpPr>
          <p:cNvPr id="25" name="TextBox 24"/>
          <p:cNvSpPr txBox="1"/>
          <p:nvPr/>
        </p:nvSpPr>
        <p:spPr>
          <a:xfrm>
            <a:off x="9491472" y="4404577"/>
            <a:ext cx="2194560" cy="228600"/>
          </a:xfrm>
          <a:prstGeom prst="rect">
            <a:avLst/>
          </a:prstGeom>
          <a:noFill/>
        </p:spPr>
        <p:txBody>
          <a:bodyPr wrap="square" lIns="0" tIns="0" rIns="0" bIns="0" anchor="t">
            <a:spAutoFit/>
          </a:bodyPr>
          <a:lstStyle/>
          <a:p>
            <a:pPr algn="l"/>
            <a:r>
              <a:rPr sz="1100" b="0" i="0">
                <a:solidFill>
                  <a:srgbClr val="2B2B2B"/>
                </a:solidFill>
                <a:latin typeface="Lato"/>
              </a:rPr>
              <a:t>#40  Tulane U.</a:t>
            </a:r>
          </a:p>
        </p:txBody>
      </p:sp>
      <p:sp>
        <p:nvSpPr>
          <p:cNvPr id="26" name="TextBox 25"/>
          <p:cNvSpPr txBox="1"/>
          <p:nvPr/>
        </p:nvSpPr>
        <p:spPr>
          <a:xfrm>
            <a:off x="521207" y="4598082"/>
            <a:ext cx="2148840" cy="228600"/>
          </a:xfrm>
          <a:prstGeom prst="rect">
            <a:avLst/>
          </a:prstGeom>
          <a:noFill/>
        </p:spPr>
        <p:txBody>
          <a:bodyPr wrap="square" lIns="0" tIns="0" rIns="0" bIns="0" anchor="t">
            <a:spAutoFit/>
          </a:bodyPr>
          <a:lstStyle/>
          <a:p>
            <a:pPr algn="r"/>
            <a:r>
              <a:rPr sz="1100" b="0" i="0">
                <a:solidFill>
                  <a:srgbClr val="2B2B2B"/>
                </a:solidFill>
                <a:latin typeface="Lato"/>
              </a:rPr>
              <a:t>Thomas Jefferson U.  #41</a:t>
            </a:r>
          </a:p>
        </p:txBody>
      </p:sp>
      <p:sp>
        <p:nvSpPr>
          <p:cNvPr id="27" name="TextBox 26"/>
          <p:cNvSpPr txBox="1"/>
          <p:nvPr/>
        </p:nvSpPr>
        <p:spPr>
          <a:xfrm>
            <a:off x="9491472" y="4598082"/>
            <a:ext cx="2194560" cy="228600"/>
          </a:xfrm>
          <a:prstGeom prst="rect">
            <a:avLst/>
          </a:prstGeom>
          <a:noFill/>
        </p:spPr>
        <p:txBody>
          <a:bodyPr wrap="square" lIns="0" tIns="0" rIns="0" bIns="0" anchor="t">
            <a:spAutoFit/>
          </a:bodyPr>
          <a:lstStyle/>
          <a:p>
            <a:pPr algn="l"/>
            <a:r>
              <a:rPr sz="1100" b="0" i="0">
                <a:solidFill>
                  <a:srgbClr val="2B2B2B"/>
                </a:solidFill>
                <a:latin typeface="Lato"/>
              </a:rPr>
              <a:t>#41  Thomas Jefferson U.</a:t>
            </a:r>
          </a:p>
        </p:txBody>
      </p:sp>
      <p:sp>
        <p:nvSpPr>
          <p:cNvPr id="28" name="TextBox 27"/>
          <p:cNvSpPr txBox="1"/>
          <p:nvPr/>
        </p:nvSpPr>
        <p:spPr>
          <a:xfrm>
            <a:off x="521207" y="4404577"/>
            <a:ext cx="2148840" cy="228600"/>
          </a:xfrm>
          <a:prstGeom prst="rect">
            <a:avLst/>
          </a:prstGeom>
          <a:noFill/>
        </p:spPr>
        <p:txBody>
          <a:bodyPr wrap="square" lIns="0" tIns="0" rIns="0" bIns="0" anchor="t">
            <a:spAutoFit/>
          </a:bodyPr>
          <a:lstStyle/>
          <a:p>
            <a:pPr algn="r"/>
            <a:r>
              <a:rPr sz="1100" b="0" i="0">
                <a:solidFill>
                  <a:srgbClr val="2B2B2B"/>
                </a:solidFill>
                <a:latin typeface="Lato"/>
              </a:rPr>
              <a:t>Drexel U.  #40</a:t>
            </a:r>
          </a:p>
        </p:txBody>
      </p:sp>
      <p:sp>
        <p:nvSpPr>
          <p:cNvPr id="29" name="TextBox 28"/>
          <p:cNvSpPr txBox="1"/>
          <p:nvPr/>
        </p:nvSpPr>
        <p:spPr>
          <a:xfrm>
            <a:off x="9491472" y="5178595"/>
            <a:ext cx="2194560" cy="228600"/>
          </a:xfrm>
          <a:prstGeom prst="rect">
            <a:avLst/>
          </a:prstGeom>
          <a:noFill/>
        </p:spPr>
        <p:txBody>
          <a:bodyPr wrap="square" lIns="0" tIns="0" rIns="0" bIns="0" anchor="t">
            <a:spAutoFit/>
          </a:bodyPr>
          <a:lstStyle/>
          <a:p>
            <a:pPr algn="l"/>
            <a:r>
              <a:rPr sz="1100" b="0" i="0">
                <a:solidFill>
                  <a:srgbClr val="2B2B2B"/>
                </a:solidFill>
                <a:latin typeface="Lato"/>
              </a:rPr>
              <a:t>#44  Drexel U.</a:t>
            </a:r>
          </a:p>
        </p:txBody>
      </p:sp>
      <p:sp>
        <p:nvSpPr>
          <p:cNvPr id="30" name="TextBox 29"/>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31" name="TextBox 30"/>
          <p:cNvSpPr txBox="1"/>
          <p:nvPr/>
        </p:nvSpPr>
        <p:spPr>
          <a:xfrm>
            <a:off x="457200" y="6281928"/>
            <a:ext cx="11274552" cy="118872"/>
          </a:xfrm>
          <a:prstGeom prst="rect">
            <a:avLst/>
          </a:prstGeom>
          <a:noFill/>
        </p:spPr>
        <p:txBody>
          <a:bodyPr wrap="square" lIns="0" tIns="0" rIns="0" bIns="0" anchor="b">
            <a:spAutoFit/>
          </a:bodyPr>
          <a:lstStyle/>
          <a:p>
            <a:pPr algn="l"/>
            <a:r>
              <a:rPr sz="700" b="0" i="0">
                <a:solidFill>
                  <a:srgbClr val="595959"/>
                </a:solidFill>
                <a:latin typeface="Lato"/>
              </a:rPr>
              <a:t>Note: Excludes Yeshiva U., whose medical school (Albert Einstein C. of Medicine, now #31) began reporting separately in FY 2019.</a:t>
            </a:r>
          </a:p>
        </p:txBody>
      </p:sp>
      <p:sp>
        <p:nvSpPr>
          <p:cNvPr id="32" name="Slide number"/>
          <p:cNvSpPr txBox="1"/>
          <p:nvPr/>
        </p:nvSpPr>
        <p:spPr>
          <a:xfrm>
            <a:off x="10881360" y="6510528"/>
            <a:ext cx="365760" cy="256032"/>
          </a:xfrm>
          <a:prstGeom prst="rect">
            <a:avLst/>
          </a:prstGeom>
          <a:noFill/>
        </p:spPr>
        <p:txBody>
          <a:bodyPr wrap="none" lIns="0" tIns="0" rIns="0" bIns="0" anchor="ctr">
            <a:spAutoFit/>
          </a:bodyPr>
          <a:lstStyle/>
          <a:p>
            <a:pPr algn="r"/>
            <a:fld id="{B6F15528-21DE-4FAA-801E-634DDDAF4B2B}" type="slidenum">
              <a:rPr lang="en-US" sz="900" b="1">
                <a:solidFill>
                  <a:srgbClr val="000000"/>
                </a:solidFill>
                <a:latin typeface="Lato"/>
              </a:rPr>
              <a:t>46</a:t>
            </a:fld>
            <a:endParaRPr lang="en-US" sz="900" b="1">
              <a:solidFill>
                <a:srgbClr val="000000"/>
              </a:solidFill>
              <a:latin typeface="Lato"/>
            </a:endParaRPr>
          </a:p>
        </p:txBody>
      </p:sp>
    </p:spTree>
  </p:cSld>
  <p:clrMapOvr>
    <a:masterClrMapping/>
  </p:clrMapOvr>
</p:sld>
</file>

<file path=ppt/theme/theme1.xml><?xml version="1.0" encoding="utf-8"?>
<a:theme xmlns:a="http://schemas.openxmlformats.org/drawingml/2006/main" name="Light Theme">
  <a:themeElements>
    <a:clrScheme name="Update VC Template with Secondary">
      <a:dk1>
        <a:srgbClr val="000000"/>
      </a:dk1>
      <a:lt1>
        <a:srgbClr val="FFFFFF"/>
      </a:lt1>
      <a:dk2>
        <a:srgbClr val="FFFFFF"/>
      </a:dk2>
      <a:lt2>
        <a:srgbClr val="303332"/>
      </a:lt2>
      <a:accent1>
        <a:srgbClr val="000000"/>
      </a:accent1>
      <a:accent2>
        <a:srgbClr val="C8102E"/>
      </a:accent2>
      <a:accent3>
        <a:srgbClr val="595959"/>
      </a:accent3>
      <a:accent4>
        <a:srgbClr val="8C8C8C"/>
      </a:accent4>
      <a:accent5>
        <a:srgbClr val="A4804A"/>
      </a:accent5>
      <a:accent6>
        <a:srgbClr val="BFBFBF"/>
      </a:accent6>
      <a:hlink>
        <a:srgbClr val="7FB2BE"/>
      </a:hlink>
      <a:folHlink>
        <a:srgbClr val="C7E0E6"/>
      </a:folHlink>
    </a:clrScheme>
    <a:fontScheme name="Office">
      <a:majorFont>
        <a:latin typeface="Lato"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Lato"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lgn="l">
          <a:defRPr dirty="0" smtClean="0">
            <a:solidFill>
              <a:schemeClr val="bg1">
                <a:lumMod val="50000"/>
              </a:schemeClr>
            </a:solidFill>
            <a:latin typeface="Aptos" panose="020B0004020202020204" pitchFamily="34" charset="0"/>
            <a:ea typeface="Verdana" panose="020B0604030504040204" pitchFamily="34" charset="0"/>
            <a:cs typeface="Verdana" panose="020B0604030504040204" pitchFamily="34" charset="0"/>
          </a:defRPr>
        </a:defPPr>
      </a:lstStyle>
    </a:txDef>
  </a:objectDefaults>
  <a:extraClrSchemeLst/>
  <a:extLst>
    <a:ext uri="{05A4C25C-085E-4340-85A3-A5531E510DB2}">
      <thm15:themeFamily xmlns:thm15="http://schemas.microsoft.com/office/thememl/2012/main" name="MAIN VC Template_2022 update[2][13]  -  Read-Only" id="{90079FD2-B8EB-FA4C-B4DB-83476A5A78B4}" vid="{A4276F16-AFB2-4C47-992F-67554F50E76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000000"/>
      </a:accent1>
      <a:accent2>
        <a:srgbClr val="C8102E"/>
      </a:accent2>
      <a:accent3>
        <a:srgbClr val="595959"/>
      </a:accent3>
      <a:accent4>
        <a:srgbClr val="8C8C8C"/>
      </a:accent4>
      <a:accent5>
        <a:srgbClr val="A4804A"/>
      </a:accent5>
      <a:accent6>
        <a:srgbClr val="BFBFBF"/>
      </a:accent6>
      <a:hlink>
        <a:srgbClr val="0000FF"/>
      </a:hlink>
      <a:folHlink>
        <a:srgbClr val="800080"/>
      </a:folHlink>
    </a:clrScheme>
    <a:fontScheme name="Office">
      <a:majorFont>
        <a:latin typeface="Lato"/>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Lato"/>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bfe8979a-919f-4627-833f-767a5ccaf2f6">
      <Terms xmlns="http://schemas.microsoft.com/office/infopath/2007/PartnerControls"/>
    </lcf76f155ced4ddcb4097134ff3c332f>
    <PhotoCredits xmlns="bfe8979a-919f-4627-833f-767a5ccaf2f6" xsi:nil="true"/>
    <Photoselects xmlns="bfe8979a-919f-4627-833f-767a5ccaf2f6" xsi:nil="true"/>
    <TaxCatchAll xmlns="2f3d42f6-f131-4737-b6a0-f1caefe87a11" xsi:nil="true"/>
    <Test xmlns="bfe8979a-919f-4627-833f-767a5ccaf2f6"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15B7CEDED188F459C3FE60B08594551" ma:contentTypeVersion="20" ma:contentTypeDescription="Create a new document." ma:contentTypeScope="" ma:versionID="27176ff47ce82f31c492b18e6ff297bc">
  <xsd:schema xmlns:xsd="http://www.w3.org/2001/XMLSchema" xmlns:xs="http://www.w3.org/2001/XMLSchema" xmlns:p="http://schemas.microsoft.com/office/2006/metadata/properties" xmlns:ns2="bfe8979a-919f-4627-833f-767a5ccaf2f6" xmlns:ns3="2f3d42f6-f131-4737-b6a0-f1caefe87a11" targetNamespace="http://schemas.microsoft.com/office/2006/metadata/properties" ma:root="true" ma:fieldsID="801b1a3878cdb03b55cbed267e221ed6" ns2:_="" ns3:_="">
    <xsd:import namespace="bfe8979a-919f-4627-833f-767a5ccaf2f6"/>
    <xsd:import namespace="2f3d42f6-f131-4737-b6a0-f1caefe87a11"/>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GenerationTime" minOccurs="0"/>
                <xsd:element ref="ns2:MediaServiceEventHashCode" minOccurs="0"/>
                <xsd:element ref="ns2:MediaServiceOCR" minOccurs="0"/>
                <xsd:element ref="ns2:MediaServiceLocation" minOccurs="0"/>
                <xsd:element ref="ns2:MediaServiceObjectDetectorVersions" minOccurs="0"/>
                <xsd:element ref="ns3:SharedWithUsers" minOccurs="0"/>
                <xsd:element ref="ns3:SharedWithDetails" minOccurs="0"/>
                <xsd:element ref="ns2:MediaServiceSearchProperties" minOccurs="0"/>
                <xsd:element ref="ns2:Photoselects" minOccurs="0"/>
                <xsd:element ref="ns2:Test" minOccurs="0"/>
                <xsd:element ref="ns2:MediaServiceBillingMetadata" minOccurs="0"/>
                <xsd:element ref="ns2:PhotoCredi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fe8979a-919f-4627-833f-767a5ccaf2f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dc383c50-2e5a-4ee2-a287-62075b1c8a1e"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Location" ma:index="18" nillable="true" ma:displayName="Location" ma:internalName="MediaServiceLocation" ma:readOnly="true">
      <xsd:simpleType>
        <xsd:restriction base="dms:Text"/>
      </xsd:simpleType>
    </xsd:element>
    <xsd:element name="MediaServiceObjectDetectorVersions" ma:index="19"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Photoselects" ma:index="23" nillable="true" ma:displayName="Photo selects" ma:format="Dropdown" ma:internalName="Photoselects">
      <xsd:simpleType>
        <xsd:restriction base="dms:Choice">
          <xsd:enumeration value="Favorite"/>
          <xsd:enumeration value="Additional"/>
        </xsd:restriction>
      </xsd:simpleType>
    </xsd:element>
    <xsd:element name="Test" ma:index="24" nillable="true" ma:displayName="Test" ma:format="Dropdown" ma:internalName="Test">
      <xsd:simpleType>
        <xsd:restriction base="dms:Choice">
          <xsd:enumeration value="Choice 1"/>
          <xsd:enumeration value="Choice 2"/>
          <xsd:enumeration value="Choice 3"/>
        </xsd:restriction>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PhotoCredits" ma:index="26" nillable="true" ma:displayName="Photo Credits" ma:format="Dropdown" ma:internalName="PhotoCredits">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f3d42f6-f131-4737-b6a0-f1caefe87a11"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fd5ea68c-4cda-47b0-a9a6-241b07d8584b}" ma:internalName="TaxCatchAll" ma:showField="CatchAllData" ma:web="2f3d42f6-f131-4737-b6a0-f1caefe87a11">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D13CA25-4FE8-451E-A366-15221497592B}">
  <ds:schemaRefs>
    <ds:schemaRef ds:uri="http://purl.org/dc/elements/1.1/"/>
    <ds:schemaRef ds:uri="http://schemas.microsoft.com/office/2006/metadata/properties"/>
    <ds:schemaRef ds:uri="http://schemas.openxmlformats.org/package/2006/metadata/core-properties"/>
    <ds:schemaRef ds:uri="http://schemas.microsoft.com/office/infopath/2007/PartnerControls"/>
    <ds:schemaRef ds:uri="http://schemas.microsoft.com/office/2006/documentManagement/types"/>
    <ds:schemaRef ds:uri="http://www.w3.org/XML/1998/namespace"/>
    <ds:schemaRef ds:uri="http://purl.org/dc/dcmitype/"/>
    <ds:schemaRef ds:uri="2f3d42f6-f131-4737-b6a0-f1caefe87a11"/>
    <ds:schemaRef ds:uri="bfe8979a-919f-4627-833f-767a5ccaf2f6"/>
    <ds:schemaRef ds:uri="http://purl.org/dc/terms/"/>
  </ds:schemaRefs>
</ds:datastoreItem>
</file>

<file path=customXml/itemProps2.xml><?xml version="1.0" encoding="utf-8"?>
<ds:datastoreItem xmlns:ds="http://schemas.openxmlformats.org/officeDocument/2006/customXml" ds:itemID="{7B52D33A-CE67-4424-A675-BB0F48981098}">
  <ds:schemaRefs>
    <ds:schemaRef ds:uri="http://schemas.microsoft.com/sharepoint/v3/contenttype/forms"/>
  </ds:schemaRefs>
</ds:datastoreItem>
</file>

<file path=customXml/itemProps3.xml><?xml version="1.0" encoding="utf-8"?>
<ds:datastoreItem xmlns:ds="http://schemas.openxmlformats.org/officeDocument/2006/customXml" ds:itemID="{CFF3F429-57B2-4470-9910-ED1220486640}">
  <ds:schemaRefs>
    <ds:schemaRef ds:uri="2f3d42f6-f131-4737-b6a0-f1caefe87a11"/>
    <ds:schemaRef ds:uri="bfe8979a-919f-4627-833f-767a5ccaf2f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7893ce20-a697-4fd6-a4da-14011f6a471d}" enabled="1" method="Standard" siteId="{a8eec281-aaa3-4dae-ac9b-9a398b9215e7}" contentBits="0" removed="0"/>
  <clbl:label id="{ba5a7f39-e3be-4ab3-b450-67fa80faecad}" enabled="0" method="" siteId="{ba5a7f39-e3be-4ab3-b450-67fa80faecad}" removed="1"/>
</clbl:labelList>
</file>

<file path=docProps/app.xml><?xml version="1.0" encoding="utf-8"?>
<Properties xmlns="http://schemas.openxmlformats.org/officeDocument/2006/extended-properties" xmlns:vt="http://schemas.openxmlformats.org/officeDocument/2006/docPropsVTypes">
  <Template/>
  <TotalTime>17294</TotalTime>
  <Words>10439</Words>
  <Application>Microsoft Office PowerPoint</Application>
  <PresentationFormat>Widescreen</PresentationFormat>
  <Paragraphs>1067</Paragraphs>
  <Slides>46</Slides>
  <Notes>16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46</vt:i4>
      </vt:variant>
    </vt:vector>
  </HeadingPairs>
  <TitlesOfParts>
    <vt:vector size="54" baseType="lpstr">
      <vt:lpstr>Aptos</vt:lpstr>
      <vt:lpstr>Aptos ExtraBold</vt:lpstr>
      <vt:lpstr>Arial</vt:lpstr>
      <vt:lpstr>Calibri</vt:lpstr>
      <vt:lpstr>Georgia</vt:lpstr>
      <vt:lpstr>Lato</vt:lpstr>
      <vt:lpstr>Montserrat Light</vt:lpstr>
      <vt:lpstr>Light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BOARD OF TRUST</dc:title>
  <dc:subject/>
  <dc:creator>McMillen, Michelle C</dc:creator>
  <cp:keywords/>
  <dc:description/>
  <cp:lastModifiedBy>Sweet, Brett</cp:lastModifiedBy>
  <cp:revision>73</cp:revision>
  <cp:lastPrinted>2025-09-25T21:12:48Z</cp:lastPrinted>
  <dcterms:created xsi:type="dcterms:W3CDTF">2020-09-24T23:08:57Z</dcterms:created>
  <dcterms:modified xsi:type="dcterms:W3CDTF">2026-09-30T15:23:45Z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0x010100415B7CEDED188F459C3FE60B08594551</vt:lpwstr>
  </property>
</Properties>
</file>