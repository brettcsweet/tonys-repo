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24,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(Infrastructure does not support 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140 TF research as is)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78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83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TI allowance ($350/SF)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$51M – $55M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$151M – $159M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$156M – $165M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2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$3.9M/yr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$36/SF/yr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$132-142/SF/yr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$15M – $16M/yr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$135-144/SF/yr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607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Additional costs to relocate non lab uses. Location TBD.  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140TF capital includes $26M DM projection + $21M lab renewal.  In addition, $22M DM spent on 140TF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(red): Total RSF basis; Rent/Tax &amp; Annual Cost=$/SF/yr, TCOL=cumulative. 3a/3b Capital @ $300-350/SF ($350/SF benchmark); Reno @ 20,000 SF, $300-500/SF. 3a/3b Assignable SF @ 65%. Annual Cost=Rent+Tax $/SF/yr + 3a/3b landlord-financed capital @ 8% cap rate; 3a/3b TCOL uses that capital’s 10-yr synthetic rent (×8%×10yrs), not the outlay. Option 1 adds 5% capital cost on $47M (leased, no opportunity cost). Option 2 adds 30-yr P&amp;I on $45M @ 5% (~$2.9M/yr) + ~$1M/yr (5% opportunity cost of $20M, NU-owned).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TFW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