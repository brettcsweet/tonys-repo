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Lato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(4a: 2 floors; 4b: 3 floors)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04a/b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030000"/>
                <a:gridCol w="1560000"/>
                <a:gridCol w="1483162"/>
                <a:gridCol w="1483162"/>
                <a:gridCol w="1483162"/>
                <a:gridCol w="1483162"/>
                <a:gridCol w="1483162"/>
                <a:gridCol w="1483162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74,000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65,000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(~39,000 SF lab)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81,000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(~32,000 SF lab)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37,100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51,800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77,700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3a/3b/4a/4b)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$65M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$459-596/SF (109,000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$22M – $26M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(74,000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 shuttle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$0.7M/yr ($6/SF/yr)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(74,000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(74,000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$73M – $92M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– $108M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$5M – 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$49-60/SF/yr (109,000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L="27432" marR="2743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 – 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$126-133/SF/yr (74,000 RSF)</a:t>
                      </a:r>
                    </a:p>
                  </a:txBody>
                  <a:tcPr marL="27432" marR="2743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2/3a/3b/4a/4b: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3a/3b/4a/4b: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 Option 3a: 37,100 ASF assumes ~7% efficiency gain vs. 140TF’s 39,700 ASF (p.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3a/3b/4a/4b: capital @ $300-350/SF; Assignable SF @ 70%; Annual Cost = Rent + Tax + capital @ 8% cap rate (landlord-financed); TCOL uses 10-yr synthetic rent on that capital, not the outlay. Options 1/2 add 30-yr P&amp;I @ 5% ($47M; $56M – $75M incl. reno); Option 2 adds ~$1M/yr opportunity cost (5% on $20M NU-owned value; ~$10M in TCOL) and a ~$0.7M/yr shuttle (2 buses, 12 hrs × 5 days/wk; 4.6 FTE drivers @ $30/hr + 40% benefits; lease, fuel, maint., insurance, mgmt).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F4F4F5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F4F4F5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F4F4F5"/>
          </a:solidFill>
          <a:ln w="9525">
            <a:noFill/>
            <a:prstDash val="solid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rgbClr val="3A3A3F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$65M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3A3A3F"/>
      </a:dk2>
      <a:lt2>
        <a:srgbClr val="F4F4F5"/>
      </a:lt2>
      <a:accent1>
        <a:srgbClr val="C8102E"/>
      </a:accent1>
      <a:accent2>
        <a:srgbClr val="3A3A3F"/>
      </a:accent2>
      <a:accent3>
        <a:srgbClr val="8A8D8F"/>
      </a:accent3>
      <a:accent4>
        <a:srgbClr val="A4804A"/>
      </a:accent4>
      <a:accent5>
        <a:srgbClr val="A50D24"/>
      </a:accent5>
      <a:accent6>
        <a:srgbClr val="6B6B70"/>
      </a:accent6>
      <a:hlink>
        <a:srgbClr val="467886"/>
      </a:hlink>
      <a:folHlink>
        <a:srgbClr val="96607D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