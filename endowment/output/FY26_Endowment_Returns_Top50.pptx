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C9A227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C9A227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5"/>
            <c:spPr>
              <a:solidFill>
                <a:srgbClr val="C8102E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37.8%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$17.0B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37.3%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NA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31.7%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$61.5B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27.4%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$31.1B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27.0%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$18.8B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C8102E"/>
                        </a:solidFill>
                        <a:latin typeface="Lato"/>
                      </a:rPr>
                      <a:t>16.0%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NA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UNC
(#27)</c:v>
                </c:pt>
                <c:pt idx="1">
                  <c:v>WashU
(#16)</c:v>
                </c:pt>
                <c:pt idx="2">
                  <c:v>Stanford
(#5)</c:v>
                </c:pt>
                <c:pt idx="3">
                  <c:v>Penn
(#7)</c:v>
                </c:pt>
                <c:pt idx="4">
                  <c:v>UVA
(#26)</c:v>
                </c:pt>
                <c:pt idx="5">
                  <c:v>Northeastern
(#42)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37.8</c:v>
                </c:pt>
                <c:pt idx="1">
                  <c:v>37.3</c:v>
                </c:pt>
                <c:pt idx="2">
                  <c:v>31.7</c:v>
                </c:pt>
                <c:pt idx="3">
                  <c:v>27.4</c:v>
                </c:pt>
                <c:pt idx="4">
                  <c:v>27</c:v>
                </c:pt>
                <c:pt idx="5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5"/>
            <c:spPr>
              <a:solidFill>
                <a:srgbClr val="C8102E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UNC
(#27)</c:v>
                </c:pt>
                <c:pt idx="1">
                  <c:v>WashU
(#16)</c:v>
                </c:pt>
                <c:pt idx="2">
                  <c:v>Stanford
(#5)</c:v>
                </c:pt>
                <c:pt idx="3">
                  <c:v>Penn
(#7)</c:v>
                </c:pt>
                <c:pt idx="4">
                  <c:v>UVA
(#26)</c:v>
                </c:pt>
                <c:pt idx="5">
                  <c:v>Northeastern
(#42)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18.9</c:v>
                </c:pt>
                <c:pt idx="1">
                  <c:v>18.65</c:v>
                </c:pt>
                <c:pt idx="2">
                  <c:v>31.7</c:v>
                </c:pt>
                <c:pt idx="3">
                  <c:v>27.4</c:v>
                </c:pt>
                <c:pt idx="4">
                  <c:v>27</c:v>
                </c:pt>
                <c:pt idx="5">
                  <c:v>16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45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10.3%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UNC
(#27)</c:v>
                </c:pt>
                <c:pt idx="1">
                  <c:v>Stanford
(#5)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UNC
(#27)</c:v>
                </c:pt>
                <c:pt idx="1">
                  <c:v>Stanford
(#5)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12.5</c:v>
                </c:pt>
                <c:pt idx="1">
                  <c:v>10.3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13.5%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UNC
(#27)</c:v>
                </c:pt>
                <c:pt idx="1">
                  <c:v>Stanford
(#5)</c:v>
                </c:pt>
                <c:pt idx="2">
                  <c:v>UVA
(#26)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13.5</c:v>
                </c:pt>
                <c:pt idx="1">
                  <c:v>12.5</c:v>
                </c:pt>
                <c:pt idx="2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UNC
(#27)</c:v>
                </c:pt>
                <c:pt idx="1">
                  <c:v>Stanford
(#5)</c:v>
                </c:pt>
                <c:pt idx="2">
                  <c:v>UVA
(#26)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13.5</c:v>
                </c:pt>
                <c:pt idx="1">
                  <c:v>12.5</c:v>
                </c:pt>
                <c:pt idx="2">
                  <c:v>12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1-Year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2026-09-28) — 6 of 51 institutions had released this figure. Gold portion of a bar is the estimated share of the return attributable to legacy SpaceX venture stakes crystallized by SpaceX's 2026 IPO.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9A227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Est. SpaceX-attributable gain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Dollar figure under each return is the reported FY26 endowment value; NA = not yet published. Northeastern's return is a management estimate pending audited figures. SpaceX-attributable shares reflect each institution's own disclosure; not an audited breakdown. Remaining 45 of 51 institutions had not yet released this figure as of 2026-09-28.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5-Year Annualized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2026-09-28) — 2 of 51 institutions had released this metric.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Remaining 49 of 51 institutions had not yet released this figure as of 2026-09-28.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10-Year Annualized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2026-09-28) — 3 of 51 institutions had released this metric.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Remaining 48 of 51 institutions had not yet released this figure as of 2026-09-28.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E6F73"/>
                </a:solidFill>
                <a:latin typeface="Lato"/>
              </a:rPr>
              <a:t>BACKUP (for reference) — FY25 peer-cohort view, 1-Year Performance, n=123 (Charles Skorina &amp; Co.)</a:t>
            </a:r>
          </a:p>
        </p:txBody>
      </p:sp>
      <p:pic>
        <p:nvPicPr>
          <p:cNvPr id="3" name="Picture 2" descr="slid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" y="502920"/>
            <a:ext cx="10970056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E6F73"/>
                </a:solidFill>
                <a:latin typeface="Lato"/>
              </a:rPr>
              <a:t>BACKUP (for reference) — FY25 peer-cohort view, 10-Year Annualized Performance, n=123 (Charles Skorina &amp; Co.)</a:t>
            </a:r>
          </a:p>
        </p:txBody>
      </p:sp>
      <p:pic>
        <p:nvPicPr>
          <p:cNvPr id="3" name="Picture 2" descr="slide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" y="502920"/>
            <a:ext cx="10970056" cy="6172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