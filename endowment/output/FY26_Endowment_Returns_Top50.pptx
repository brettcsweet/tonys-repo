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Total</c:v>
                </c:pt>
              </c:strCache>
            </c:strRef>
          </c:tx>
          <c:dPt>
            <c:idx val="0"/>
            <c:spPr>
              <a:solidFill>
                <a:srgbClr val="C9A227"/>
              </a:solidFill>
              <a:ln w="6350">
                <a:solidFill>
                  <a:srgbClr val="8A8B8E"/>
                </a:solidFill>
              </a:ln>
            </c:spPr>
          </c:dPt>
          <c:dPt>
            <c:idx val="1"/>
            <c:spPr>
              <a:solidFill>
                <a:srgbClr val="C9A227"/>
              </a:solidFill>
              <a:ln w="6350">
                <a:solidFill>
                  <a:srgbClr val="8A8B8E"/>
                </a:solidFill>
              </a:ln>
            </c:spPr>
          </c:dPt>
          <c:dPt>
            <c:idx val="2"/>
            <c:spPr>
              <a:solidFill>
                <a:srgbClr val="D6D7D9"/>
              </a:solidFill>
              <a:ln w="6350">
                <a:solidFill>
                  <a:srgbClr val="8A8B8E"/>
                </a:solidFill>
              </a:ln>
            </c:spPr>
          </c:dPt>
          <c:dPt>
            <c:idx val="3"/>
            <c:spPr>
              <a:solidFill>
                <a:srgbClr val="D6D7D9"/>
              </a:solidFill>
              <a:ln w="6350">
                <a:solidFill>
                  <a:srgbClr val="8A8B8E"/>
                </a:solidFill>
              </a:ln>
            </c:spPr>
          </c:dPt>
          <c:dPt>
            <c:idx val="4"/>
            <c:spPr>
              <a:solidFill>
                <a:srgbClr val="D6D7D9"/>
              </a:solidFill>
              <a:ln w="6350">
                <a:solidFill>
                  <a:srgbClr val="8A8B8E"/>
                </a:solidFill>
              </a:ln>
            </c:spPr>
          </c:dPt>
          <c:dPt>
            <c:idx val="5"/>
            <c:spPr>
              <a:solidFill>
                <a:srgbClr val="C8102E"/>
              </a:solidFill>
              <a:ln w="6350">
                <a:solidFill>
                  <a:srgbClr val="8A8B8E"/>
                </a:solidFill>
              </a:ln>
            </c:spPr>
          </c:dPt>
          <c:dLbls>
            <c:dLbl>
              <c:idx val="0"/>
              <c:tx>
                <c:rich>
                  <a:bodyPr/>
                  <a:lstStyle/>
                  <a:p>
                    <a:r>
                      <a:rPr sz="1400" b="1">
                        <a:solidFill>
                          <a:srgbClr val="1E2028"/>
                        </a:solidFill>
                        <a:latin typeface="Lato"/>
                      </a:rPr>
                      <a:t>37.8%</a:t>
                    </a:r>
                  </a:p>
                  <a:p>
                    <a:r>
                      <a:rPr sz="1100">
                        <a:solidFill>
                          <a:srgbClr val="6E6F73"/>
                        </a:solidFill>
                        <a:latin typeface="Lato"/>
                      </a:rPr>
                      <a:t>$17.0B</a:t>
                    </a:r>
                  </a:p>
                </c:rich>
              </c:tx>
              <c:dLblPos val="outEnd"/>
              <c:showLegendKey val="0"/>
              <c:showVal val="1"/>
              <c:showCatName val="0"/>
              <c:showSerName val="0"/>
              <c:showPercent val="0"/>
              <c:showBubbleSize val="0"/>
            </c:dLbl>
            <c:dLbl>
              <c:idx val="1"/>
              <c:tx>
                <c:rich>
                  <a:bodyPr/>
                  <a:lstStyle/>
                  <a:p>
                    <a:r>
                      <a:rPr sz="1400" b="1">
                        <a:solidFill>
                          <a:srgbClr val="1E2028"/>
                        </a:solidFill>
                        <a:latin typeface="Lato"/>
                      </a:rPr>
                      <a:t>37.3%</a:t>
                    </a:r>
                  </a:p>
                  <a:p>
                    <a:r>
                      <a:rPr sz="1100">
                        <a:solidFill>
                          <a:srgbClr val="6E6F73"/>
                        </a:solidFill>
                        <a:latin typeface="Lato"/>
                      </a:rPr>
                      <a:t>NA</a:t>
                    </a:r>
                  </a:p>
                </c:rich>
              </c:tx>
              <c:dLblPos val="outEnd"/>
              <c:showLegendKey val="0"/>
              <c:showVal val="1"/>
              <c:showCatName val="0"/>
              <c:showSerName val="0"/>
              <c:showPercent val="0"/>
              <c:showBubbleSize val="0"/>
            </c:dLbl>
            <c:dLbl>
              <c:idx val="2"/>
              <c:tx>
                <c:rich>
                  <a:bodyPr/>
                  <a:lstStyle/>
                  <a:p>
                    <a:r>
                      <a:rPr sz="1400" b="1">
                        <a:solidFill>
                          <a:srgbClr val="1E2028"/>
                        </a:solidFill>
                        <a:latin typeface="Lato"/>
                      </a:rPr>
                      <a:t>31.7%</a:t>
                    </a:r>
                  </a:p>
                  <a:p>
                    <a:r>
                      <a:rPr sz="1100">
                        <a:solidFill>
                          <a:srgbClr val="6E6F73"/>
                        </a:solidFill>
                        <a:latin typeface="Lato"/>
                      </a:rPr>
                      <a:t>$61.5B</a:t>
                    </a:r>
                  </a:p>
                </c:rich>
              </c:tx>
              <c:dLblPos val="outEnd"/>
              <c:showLegendKey val="0"/>
              <c:showVal val="1"/>
              <c:showCatName val="0"/>
              <c:showSerName val="0"/>
              <c:showPercent val="0"/>
              <c:showBubbleSize val="0"/>
            </c:dLbl>
            <c:dLbl>
              <c:idx val="3"/>
              <c:tx>
                <c:rich>
                  <a:bodyPr/>
                  <a:lstStyle/>
                  <a:p>
                    <a:r>
                      <a:rPr sz="1400" b="1">
                        <a:solidFill>
                          <a:srgbClr val="1E2028"/>
                        </a:solidFill>
                        <a:latin typeface="Lato"/>
                      </a:rPr>
                      <a:t>27.4%</a:t>
                    </a:r>
                  </a:p>
                  <a:p>
                    <a:r>
                      <a:rPr sz="1100">
                        <a:solidFill>
                          <a:srgbClr val="6E6F73"/>
                        </a:solidFill>
                        <a:latin typeface="Lato"/>
                      </a:rPr>
                      <a:t>$31.1B</a:t>
                    </a:r>
                  </a:p>
                </c:rich>
              </c:tx>
              <c:dLblPos val="outEnd"/>
              <c:showLegendKey val="0"/>
              <c:showVal val="1"/>
              <c:showCatName val="0"/>
              <c:showSerName val="0"/>
              <c:showPercent val="0"/>
              <c:showBubbleSize val="0"/>
            </c:dLbl>
            <c:dLbl>
              <c:idx val="4"/>
              <c:tx>
                <c:rich>
                  <a:bodyPr/>
                  <a:lstStyle/>
                  <a:p>
                    <a:r>
                      <a:rPr sz="1400" b="1">
                        <a:solidFill>
                          <a:srgbClr val="1E2028"/>
                        </a:solidFill>
                        <a:latin typeface="Lato"/>
                      </a:rPr>
                      <a:t>27.0%</a:t>
                    </a:r>
                  </a:p>
                  <a:p>
                    <a:r>
                      <a:rPr sz="1100">
                        <a:solidFill>
                          <a:srgbClr val="6E6F73"/>
                        </a:solidFill>
                        <a:latin typeface="Lato"/>
                      </a:rPr>
                      <a:t>$18.8B</a:t>
                    </a:r>
                  </a:p>
                </c:rich>
              </c:tx>
              <c:dLblPos val="outEnd"/>
              <c:showLegendKey val="0"/>
              <c:showVal val="1"/>
              <c:showCatName val="0"/>
              <c:showSerName val="0"/>
              <c:showPercent val="0"/>
              <c:showBubbleSize val="0"/>
            </c:dLbl>
            <c:dLbl>
              <c:idx val="5"/>
              <c:tx>
                <c:rich>
                  <a:bodyPr/>
                  <a:lstStyle/>
                  <a:p>
                    <a:r>
                      <a:rPr sz="1400" b="1">
                        <a:solidFill>
                          <a:srgbClr val="C8102E"/>
                        </a:solidFill>
                        <a:latin typeface="Lato"/>
                      </a:rPr>
                      <a:t>16.0%</a:t>
                    </a:r>
                  </a:p>
                  <a:p>
                    <a:r>
                      <a:rPr sz="1100">
                        <a:solidFill>
                          <a:srgbClr val="6E6F73"/>
                        </a:solidFill>
                        <a:latin typeface="Lato"/>
                      </a:rPr>
                      <a:t>NA</a:t>
                    </a:r>
                  </a:p>
                </c:rich>
              </c:tx>
              <c:dLblPos val="out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Sheet1!$A$2:$A$7</c:f>
              <c:strCache>
                <c:ptCount val="6"/>
                <c:pt idx="0">
                  <c:v>UNC
(#27)</c:v>
                </c:pt>
                <c:pt idx="1">
                  <c:v>WashU
(#16)</c:v>
                </c:pt>
                <c:pt idx="2">
                  <c:v>Stanford
(#5)</c:v>
                </c:pt>
                <c:pt idx="3">
                  <c:v>Penn
(#7)</c:v>
                </c:pt>
                <c:pt idx="4">
                  <c:v>UVA
(#26)</c:v>
                </c:pt>
                <c:pt idx="5">
                  <c:v>Northeastern
(#42)</c:v>
                </c:pt>
              </c:strCache>
            </c:strRef>
          </c:cat>
          <c:val>
            <c:numRef>
              <c:f>Sheet1!$B$2:$B$7</c:f>
              <c:numCache>
                <c:formatCode>General</c:formatCode>
                <c:ptCount val="6"/>
                <c:pt idx="0">
                  <c:v>37.8</c:v>
                </c:pt>
                <c:pt idx="1">
                  <c:v>37.3</c:v>
                </c:pt>
                <c:pt idx="2">
                  <c:v>31.7</c:v>
                </c:pt>
                <c:pt idx="3">
                  <c:v>27.4</c:v>
                </c:pt>
                <c:pt idx="4">
                  <c:v>27</c:v>
                </c:pt>
                <c:pt idx="5">
                  <c:v>16</c:v>
                </c:pt>
              </c:numCache>
            </c:numRef>
          </c:val>
        </c:ser>
        <c:ser>
          <c:idx val="1"/>
          <c:order val="1"/>
          <c:tx>
            <c:strRef>
              <c:f>Sheet1!$C$1</c:f>
              <c:strCache>
                <c:ptCount val="1"/>
                <c:pt idx="0">
                  <c:v>Base return</c:v>
                </c:pt>
              </c:strCache>
            </c:strRef>
          </c:tx>
          <c:dPt>
            <c:idx val="0"/>
            <c:spPr>
              <a:solidFill>
                <a:srgbClr val="D6D7D9"/>
              </a:solidFill>
              <a:ln w="6350">
                <a:solidFill>
                  <a:srgbClr val="8A8B8E"/>
                </a:solidFill>
              </a:ln>
            </c:spPr>
          </c:dPt>
          <c:dPt>
            <c:idx val="1"/>
            <c:spPr>
              <a:solidFill>
                <a:srgbClr val="D6D7D9"/>
              </a:solidFill>
              <a:ln w="6350">
                <a:solidFill>
                  <a:srgbClr val="8A8B8E"/>
                </a:solidFill>
              </a:ln>
            </c:spPr>
          </c:dPt>
          <c:dPt>
            <c:idx val="2"/>
            <c:spPr>
              <a:solidFill>
                <a:srgbClr val="D6D7D9"/>
              </a:solidFill>
              <a:ln w="6350">
                <a:solidFill>
                  <a:srgbClr val="8A8B8E"/>
                </a:solidFill>
              </a:ln>
            </c:spPr>
          </c:dPt>
          <c:dPt>
            <c:idx val="3"/>
            <c:spPr>
              <a:solidFill>
                <a:srgbClr val="D6D7D9"/>
              </a:solidFill>
              <a:ln w="6350">
                <a:solidFill>
                  <a:srgbClr val="8A8B8E"/>
                </a:solidFill>
              </a:ln>
            </c:spPr>
          </c:dPt>
          <c:dPt>
            <c:idx val="4"/>
            <c:spPr>
              <a:solidFill>
                <a:srgbClr val="D6D7D9"/>
              </a:solidFill>
              <a:ln w="6350">
                <a:solidFill>
                  <a:srgbClr val="8A8B8E"/>
                </a:solidFill>
              </a:ln>
            </c:spPr>
          </c:dPt>
          <c:dPt>
            <c:idx val="5"/>
            <c:spPr>
              <a:solidFill>
                <a:srgbClr val="C8102E"/>
              </a:solidFill>
              <a:ln w="6350">
                <a:solidFill>
                  <a:srgbClr val="8A8B8E"/>
                </a:solidFill>
              </a:ln>
            </c:spPr>
          </c:dPt>
          <c:cat>
            <c:strRef>
              <c:f>Sheet1!$A$2:$A$7</c:f>
              <c:strCache>
                <c:ptCount val="6"/>
                <c:pt idx="0">
                  <c:v>UNC
(#27)</c:v>
                </c:pt>
                <c:pt idx="1">
                  <c:v>WashU
(#16)</c:v>
                </c:pt>
                <c:pt idx="2">
                  <c:v>Stanford
(#5)</c:v>
                </c:pt>
                <c:pt idx="3">
                  <c:v>Penn
(#7)</c:v>
                </c:pt>
                <c:pt idx="4">
                  <c:v>UVA
(#26)</c:v>
                </c:pt>
                <c:pt idx="5">
                  <c:v>Northeastern
(#42)</c:v>
                </c:pt>
              </c:strCache>
            </c:strRef>
          </c:cat>
          <c:val>
            <c:numRef>
              <c:f>Sheet1!$C$2:$C$7</c:f>
              <c:numCache>
                <c:formatCode>General</c:formatCode>
                <c:ptCount val="6"/>
                <c:pt idx="0">
                  <c:v>18.9</c:v>
                </c:pt>
                <c:pt idx="1">
                  <c:v>18.65</c:v>
                </c:pt>
                <c:pt idx="2">
                  <c:v>31.7</c:v>
                </c:pt>
                <c:pt idx="3">
                  <c:v>27.4</c:v>
                </c:pt>
                <c:pt idx="4">
                  <c:v>27</c:v>
                </c:pt>
                <c:pt idx="5">
                  <c:v>16</c:v>
                </c:pt>
              </c:numCache>
            </c:numRef>
          </c:val>
        </c:ser>
        <c:gapWidth val="45"/>
        <c:overlap val="100"/>
        <c:axId val="-2068027336"/>
        <c:axId val="-2113994440"/>
      </c:barChart>
      <c:catAx>
        <c:axId val="-2068027336"/>
        <c:scaling>
          <c:orientation val="minMax"/>
        </c:scaling>
        <c:delete val="0"/>
        <c:axPos val="b"/>
        <c:majorTickMark val="out"/>
        <c:minorTickMark val="none"/>
        <c:tickLblPos val="low"/>
        <c:spPr>
          <a:ln>
            <a:solidFill>
              <a:srgbClr val="000000"/>
            </a:solidFill>
          </a:ln>
        </c:spPr>
        <c:txPr>
          <a:bodyPr/>
          <a:lstStyle/>
          <a:p>
            <a:pPr>
              <a:defRPr sz="1200"/>
            </a:pPr>
          </a:p>
        </c:txPr>
        <c:crossAx val="-2113994440"/>
        <c:crosses val="autoZero"/>
        <c:auto val="1"/>
        <c:lblAlgn val="ctr"/>
        <c:lblOffset val="100"/>
        <c:tickLblSkip val="1"/>
        <c:tickMarkSkip val="1"/>
        <c:noMultiLvlLbl val="0"/>
      </c:catAx>
      <c:valAx>
        <c:axId val="-2113994440"/>
        <c:scaling>
          <c:max val="45.0"/>
          <c:min val="0.0"/>
        </c:scaling>
        <c:delete val="0"/>
        <c:axPos val="l"/>
        <c:majorGridlines>
          <c:spPr>
            <a:ln>
              <a:solidFill>
                <a:srgbClr val="E5E5EA"/>
              </a:solidFill>
            </a:ln>
          </c:spPr>
        </c:majorGridlines>
        <c:numFmt formatCode="0&quot;%&quot;" sourceLinked="0"/>
        <c:majorTickMark val="out"/>
        <c:minorTickMark val="none"/>
        <c:tickLblPos val="nextTo"/>
        <c:spPr>
          <a:ln>
            <a:noFill/>
          </a:ln>
        </c:spPr>
        <c:txPr>
          <a:bodyPr/>
          <a:lstStyle/>
          <a:p>
            <a:pPr>
              <a:defRPr sz="1100"/>
            </a:pPr>
          </a:p>
        </c:txPr>
        <c:crossAx val="-2068027336"/>
        <c:crosses val="autoZero"/>
        <c:majorUnit val="5.0"/>
      </c:valAx>
    </c:plotArea>
    <c:dispBlanksAs val="gap"/>
  </c:chart>
  <c:txPr>
    <a:bodyPr/>
    <a:lstStyle/>
    <a:p>
      <a:pPr>
        <a:defRPr sz="1200">
          <a:solidFill>
            <a:srgbClr val="1E2028"/>
          </a:solidFill>
          <a:latin typeface="Lato"/>
        </a:defRPr>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56032"/>
            <a:ext cx="11457432" cy="365760"/>
          </a:xfrm>
          <a:prstGeom prst="rect">
            <a:avLst/>
          </a:prstGeom>
          <a:noFill/>
        </p:spPr>
        <p:txBody>
          <a:bodyPr wrap="square" lIns="0" rIns="0" tIns="0" bIns="0">
            <a:spAutoFit/>
          </a:bodyPr>
          <a:lstStyle/>
          <a:p>
            <a:pPr algn="l"/>
            <a:r>
              <a:rPr sz="2200" b="1" i="0">
                <a:solidFill>
                  <a:srgbClr val="1E2028"/>
                </a:solidFill>
                <a:latin typeface="Lato"/>
              </a:rPr>
              <a:t>FY26 Endowment Returns — Top 50 National Universities</a:t>
            </a:r>
          </a:p>
        </p:txBody>
      </p:sp>
      <p:sp>
        <p:nvSpPr>
          <p:cNvPr id="3" name="TextBox 2"/>
          <p:cNvSpPr txBox="1"/>
          <p:nvPr/>
        </p:nvSpPr>
        <p:spPr>
          <a:xfrm>
            <a:off x="365760" y="621792"/>
            <a:ext cx="11457432" cy="274320"/>
          </a:xfrm>
          <a:prstGeom prst="rect">
            <a:avLst/>
          </a:prstGeom>
          <a:noFill/>
        </p:spPr>
        <p:txBody>
          <a:bodyPr wrap="square" lIns="0" rIns="0" tIns="0" bIns="0">
            <a:spAutoFit/>
          </a:bodyPr>
          <a:lstStyle/>
          <a:p>
            <a:pPr algn="l"/>
            <a:r>
              <a:rPr sz="1500" b="1" i="0">
                <a:solidFill>
                  <a:srgbClr val="1E2028"/>
                </a:solidFill>
                <a:latin typeface="Lato"/>
              </a:rPr>
              <a:t>1-Year Return</a:t>
            </a:r>
          </a:p>
        </p:txBody>
      </p:sp>
      <p:sp>
        <p:nvSpPr>
          <p:cNvPr id="4" name="TextBox 3"/>
          <p:cNvSpPr txBox="1"/>
          <p:nvPr/>
        </p:nvSpPr>
        <p:spPr>
          <a:xfrm>
            <a:off x="365760" y="932688"/>
            <a:ext cx="11457432" cy="457200"/>
          </a:xfrm>
          <a:prstGeom prst="rect">
            <a:avLst/>
          </a:prstGeom>
          <a:noFill/>
        </p:spPr>
        <p:txBody>
          <a:bodyPr wrap="square" lIns="0" rIns="0" tIns="0" bIns="0">
            <a:spAutoFit/>
          </a:bodyPr>
          <a:lstStyle/>
          <a:p>
            <a:pPr algn="l"/>
            <a:r>
              <a:rPr sz="1300" b="0" i="0">
                <a:solidFill>
                  <a:srgbClr val="6E6F73"/>
                </a:solidFill>
                <a:latin typeface="Lato"/>
              </a:rPr>
              <a:t>As officially reported (updated 2026-09-28) — 6 of 51 institutions had released this figure. Gold portion of a bar is the estimated share of the return attributable to legacy SpaceX venture stakes crystallized by SpaceX's 2026 IPO.</a:t>
            </a:r>
          </a:p>
        </p:txBody>
      </p:sp>
      <p:graphicFrame>
        <p:nvGraphicFramePr>
          <p:cNvPr id="5" name="Chart 4"/>
          <p:cNvGraphicFramePr>
            <a:graphicFrameLocks noGrp="1"/>
          </p:cNvGraphicFramePr>
          <p:nvPr/>
        </p:nvGraphicFramePr>
        <p:xfrm>
          <a:off x="365760" y="1463040"/>
          <a:ext cx="11457432" cy="4572000"/>
        </p:xfrm>
        <a:graphic>
          <a:graphicData uri="http://schemas.openxmlformats.org/drawingml/2006/chart">
            <c:chart xmlns:c="http://schemas.openxmlformats.org/drawingml/2006/chart" r:id="rId2"/>
          </a:graphicData>
        </a:graphic>
      </p:graphicFrame>
      <p:sp>
        <p:nvSpPr>
          <p:cNvPr id="6" name="Rectangle 5"/>
          <p:cNvSpPr/>
          <p:nvPr/>
        </p:nvSpPr>
        <p:spPr>
          <a:xfrm>
            <a:off x="365760" y="6089904"/>
            <a:ext cx="182880" cy="182880"/>
          </a:xfrm>
          <a:prstGeom prst="rect">
            <a:avLst/>
          </a:prstGeom>
          <a:solidFill>
            <a:srgbClr val="D6D7D9"/>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21792" y="6071616"/>
            <a:ext cx="1280160" cy="228600"/>
          </a:xfrm>
          <a:prstGeom prst="rect">
            <a:avLst/>
          </a:prstGeom>
          <a:noFill/>
        </p:spPr>
        <p:txBody>
          <a:bodyPr wrap="square" lIns="0" rIns="0" tIns="0" bIns="0">
            <a:spAutoFit/>
          </a:bodyPr>
          <a:lstStyle/>
          <a:p>
            <a:pPr algn="l"/>
            <a:r>
              <a:rPr sz="1100" b="0" i="0">
                <a:solidFill>
                  <a:srgbClr val="1E2028"/>
                </a:solidFill>
                <a:latin typeface="Lato"/>
              </a:rPr>
              <a:t>Base return</a:t>
            </a:r>
          </a:p>
        </p:txBody>
      </p:sp>
      <p:sp>
        <p:nvSpPr>
          <p:cNvPr id="8" name="Rectangle 7"/>
          <p:cNvSpPr/>
          <p:nvPr/>
        </p:nvSpPr>
        <p:spPr>
          <a:xfrm>
            <a:off x="1828800" y="6089904"/>
            <a:ext cx="182880" cy="182880"/>
          </a:xfrm>
          <a:prstGeom prst="rect">
            <a:avLst/>
          </a:prstGeom>
          <a:solidFill>
            <a:srgbClr val="C9A227"/>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084832" y="6071616"/>
            <a:ext cx="2377440" cy="228600"/>
          </a:xfrm>
          <a:prstGeom prst="rect">
            <a:avLst/>
          </a:prstGeom>
          <a:noFill/>
        </p:spPr>
        <p:txBody>
          <a:bodyPr wrap="square" lIns="0" rIns="0" tIns="0" bIns="0">
            <a:spAutoFit/>
          </a:bodyPr>
          <a:lstStyle/>
          <a:p>
            <a:pPr algn="l"/>
            <a:r>
              <a:rPr sz="1100" b="0" i="0">
                <a:solidFill>
                  <a:srgbClr val="1E2028"/>
                </a:solidFill>
                <a:latin typeface="Lato"/>
              </a:rPr>
              <a:t>Est. SpaceX-attributable gain</a:t>
            </a:r>
          </a:p>
        </p:txBody>
      </p:sp>
      <p:sp>
        <p:nvSpPr>
          <p:cNvPr id="10" name="Rectangle 9"/>
          <p:cNvSpPr/>
          <p:nvPr/>
        </p:nvSpPr>
        <p:spPr>
          <a:xfrm>
            <a:off x="4480560" y="6089904"/>
            <a:ext cx="182880" cy="182880"/>
          </a:xfrm>
          <a:prstGeom prst="rect">
            <a:avLst/>
          </a:prstGeom>
          <a:solidFill>
            <a:srgbClr val="C8102E"/>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736592" y="6071616"/>
            <a:ext cx="1463040" cy="228600"/>
          </a:xfrm>
          <a:prstGeom prst="rect">
            <a:avLst/>
          </a:prstGeom>
          <a:noFill/>
        </p:spPr>
        <p:txBody>
          <a:bodyPr wrap="square" lIns="0" rIns="0" tIns="0" bIns="0">
            <a:spAutoFit/>
          </a:bodyPr>
          <a:lstStyle/>
          <a:p>
            <a:pPr algn="l"/>
            <a:r>
              <a:rPr sz="1100" b="0" i="0">
                <a:solidFill>
                  <a:srgbClr val="1E2028"/>
                </a:solidFill>
                <a:latin typeface="Lato"/>
              </a:rPr>
              <a:t>Northeastern</a:t>
            </a:r>
          </a:p>
        </p:txBody>
      </p:sp>
      <p:sp>
        <p:nvSpPr>
          <p:cNvPr id="12" name="TextBox 11"/>
          <p:cNvSpPr txBox="1"/>
          <p:nvPr/>
        </p:nvSpPr>
        <p:spPr>
          <a:xfrm>
            <a:off x="365760" y="6291072"/>
            <a:ext cx="9692640" cy="502920"/>
          </a:xfrm>
          <a:prstGeom prst="rect">
            <a:avLst/>
          </a:prstGeom>
          <a:noFill/>
        </p:spPr>
        <p:txBody>
          <a:bodyPr wrap="square" lIns="0" rIns="0" tIns="0" bIns="0">
            <a:spAutoFit/>
          </a:bodyPr>
          <a:lstStyle/>
          <a:p>
            <a:pPr algn="l"/>
            <a:r>
              <a:rPr sz="850" b="0" i="0">
                <a:solidFill>
                  <a:srgbClr val="6E6F73"/>
                </a:solidFill>
                <a:latin typeface="Lato"/>
              </a:rPr>
              <a:t>Source: institution financial reports, board/trustee disclosures, and financial press coverage. US News rank in parentheses (2027 Best National Universities (released Sept 22, 2026); ties included). Dollar figure under each return is the reported FY26 endowment value; NA = not yet published. Northeastern's return is a management estimate pending audited figures. SpaceX-attributable shares reflect each institution's own disclosure; not an audited breakdown. Remaining 45 of 51 institutions had not yet released this figure as of 2026-09-28.</a:t>
            </a:r>
          </a:p>
        </p:txBody>
      </p:sp>
      <p:sp>
        <p:nvSpPr>
          <p:cNvPr id="13" name="TextBox 12"/>
          <p:cNvSpPr txBox="1"/>
          <p:nvPr/>
        </p:nvSpPr>
        <p:spPr>
          <a:xfrm>
            <a:off x="10149840" y="6291072"/>
            <a:ext cx="1673352" cy="228600"/>
          </a:xfrm>
          <a:prstGeom prst="rect">
            <a:avLst/>
          </a:prstGeom>
          <a:noFill/>
        </p:spPr>
        <p:txBody>
          <a:bodyPr wrap="square" lIns="0" rIns="0" tIns="0" bIns="0">
            <a:spAutoFit/>
          </a:bodyPr>
          <a:lstStyle/>
          <a:p>
            <a:pPr algn="r"/>
            <a:r>
              <a:rPr sz="900" b="1" i="0">
                <a:solidFill>
                  <a:srgbClr val="1E2028"/>
                </a:solidFill>
                <a:latin typeface="Lato"/>
              </a:rPr>
              <a:t>Northeastern University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56032"/>
            <a:ext cx="11457432" cy="365760"/>
          </a:xfrm>
          <a:prstGeom prst="rect">
            <a:avLst/>
          </a:prstGeom>
          <a:noFill/>
        </p:spPr>
        <p:txBody>
          <a:bodyPr wrap="square" lIns="0" rIns="0" tIns="0" bIns="0">
            <a:spAutoFit/>
          </a:bodyPr>
          <a:lstStyle/>
          <a:p>
            <a:pPr algn="l"/>
            <a:r>
              <a:rPr sz="2200" b="1" i="0">
                <a:solidFill>
                  <a:srgbClr val="1E2028"/>
                </a:solidFill>
                <a:latin typeface="Lato"/>
              </a:rPr>
              <a:t>FY26 Endowment Returns — Top 50 National Universities</a:t>
            </a:r>
          </a:p>
        </p:txBody>
      </p:sp>
      <p:sp>
        <p:nvSpPr>
          <p:cNvPr id="3" name="TextBox 2"/>
          <p:cNvSpPr txBox="1"/>
          <p:nvPr/>
        </p:nvSpPr>
        <p:spPr>
          <a:xfrm>
            <a:off x="365760" y="621792"/>
            <a:ext cx="11457432" cy="274320"/>
          </a:xfrm>
          <a:prstGeom prst="rect">
            <a:avLst/>
          </a:prstGeom>
          <a:noFill/>
        </p:spPr>
        <p:txBody>
          <a:bodyPr wrap="square" lIns="0" rIns="0" tIns="0" bIns="0">
            <a:spAutoFit/>
          </a:bodyPr>
          <a:lstStyle/>
          <a:p>
            <a:pPr algn="l"/>
            <a:r>
              <a:rPr sz="1500" b="1" i="0">
                <a:solidFill>
                  <a:srgbClr val="1E2028"/>
                </a:solidFill>
                <a:latin typeface="Lato"/>
              </a:rPr>
              <a:t>5-Year Annualized Return</a:t>
            </a:r>
          </a:p>
        </p:txBody>
      </p:sp>
      <p:sp>
        <p:nvSpPr>
          <p:cNvPr id="4" name="TextBox 3"/>
          <p:cNvSpPr txBox="1"/>
          <p:nvPr/>
        </p:nvSpPr>
        <p:spPr>
          <a:xfrm>
            <a:off x="365760" y="1005840"/>
            <a:ext cx="11457432" cy="914400"/>
          </a:xfrm>
          <a:prstGeom prst="rect">
            <a:avLst/>
          </a:prstGeom>
          <a:noFill/>
        </p:spPr>
        <p:txBody>
          <a:bodyPr wrap="square" lIns="0" rIns="0" tIns="0" bIns="0">
            <a:spAutoFit/>
          </a:bodyPr>
          <a:lstStyle/>
          <a:p>
            <a:pPr algn="l"/>
            <a:r>
              <a:rPr sz="1500" b="0" i="0">
                <a:solidFill>
                  <a:srgbClr val="6E6F73"/>
                </a:solidFill>
                <a:latin typeface="Lato"/>
              </a:rPr>
              <a:t>As of 2026-09-28, no institution in the 2027 Best National Universities (released Sept 22, 2026) top 50 has publicly reported this metric for FY26 yet. This slide will populate automatically as schools release FY26 investment results.</a:t>
            </a:r>
          </a:p>
        </p:txBody>
      </p:sp>
      <p:sp>
        <p:nvSpPr>
          <p:cNvPr id="5" name="TextBox 4"/>
          <p:cNvSpPr txBox="1"/>
          <p:nvPr/>
        </p:nvSpPr>
        <p:spPr>
          <a:xfrm>
            <a:off x="365760" y="6291072"/>
            <a:ext cx="9692640" cy="502920"/>
          </a:xfrm>
          <a:prstGeom prst="rect">
            <a:avLst/>
          </a:prstGeom>
          <a:noFill/>
        </p:spPr>
        <p:txBody>
          <a:bodyPr wrap="square" lIns="0" rIns="0" tIns="0" bIns="0">
            <a:spAutoFit/>
          </a:bodyPr>
          <a:lstStyle/>
          <a:p>
            <a:pPr algn="l"/>
            <a:r>
              <a:rPr sz="850" b="0" i="0">
                <a:solidFill>
                  <a:srgbClr val="6E6F73"/>
                </a:solidFill>
                <a:latin typeface="Lato"/>
              </a:rPr>
              <a:t>Source: institution financial reports, board/trustee disclosures, and financial press coverage.</a:t>
            </a:r>
          </a:p>
        </p:txBody>
      </p:sp>
      <p:sp>
        <p:nvSpPr>
          <p:cNvPr id="6" name="TextBox 5"/>
          <p:cNvSpPr txBox="1"/>
          <p:nvPr/>
        </p:nvSpPr>
        <p:spPr>
          <a:xfrm>
            <a:off x="10149840" y="6291072"/>
            <a:ext cx="1673352" cy="228600"/>
          </a:xfrm>
          <a:prstGeom prst="rect">
            <a:avLst/>
          </a:prstGeom>
          <a:noFill/>
        </p:spPr>
        <p:txBody>
          <a:bodyPr wrap="square" lIns="0" rIns="0" tIns="0" bIns="0">
            <a:spAutoFit/>
          </a:bodyPr>
          <a:lstStyle/>
          <a:p>
            <a:pPr algn="r"/>
            <a:r>
              <a:rPr sz="900" b="1" i="0">
                <a:solidFill>
                  <a:srgbClr val="1E2028"/>
                </a:solidFill>
                <a:latin typeface="Lato"/>
              </a:rPr>
              <a:t>Northeastern University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56032"/>
            <a:ext cx="11457432" cy="365760"/>
          </a:xfrm>
          <a:prstGeom prst="rect">
            <a:avLst/>
          </a:prstGeom>
          <a:noFill/>
        </p:spPr>
        <p:txBody>
          <a:bodyPr wrap="square" lIns="0" rIns="0" tIns="0" bIns="0">
            <a:spAutoFit/>
          </a:bodyPr>
          <a:lstStyle/>
          <a:p>
            <a:pPr algn="l"/>
            <a:r>
              <a:rPr sz="2200" b="1" i="0">
                <a:solidFill>
                  <a:srgbClr val="1E2028"/>
                </a:solidFill>
                <a:latin typeface="Lato"/>
              </a:rPr>
              <a:t>FY26 Endowment Returns — Top 50 National Universities</a:t>
            </a:r>
          </a:p>
        </p:txBody>
      </p:sp>
      <p:sp>
        <p:nvSpPr>
          <p:cNvPr id="3" name="TextBox 2"/>
          <p:cNvSpPr txBox="1"/>
          <p:nvPr/>
        </p:nvSpPr>
        <p:spPr>
          <a:xfrm>
            <a:off x="365760" y="621792"/>
            <a:ext cx="11457432" cy="274320"/>
          </a:xfrm>
          <a:prstGeom prst="rect">
            <a:avLst/>
          </a:prstGeom>
          <a:noFill/>
        </p:spPr>
        <p:txBody>
          <a:bodyPr wrap="square" lIns="0" rIns="0" tIns="0" bIns="0">
            <a:spAutoFit/>
          </a:bodyPr>
          <a:lstStyle/>
          <a:p>
            <a:pPr algn="l"/>
            <a:r>
              <a:rPr sz="1500" b="1" i="0">
                <a:solidFill>
                  <a:srgbClr val="1E2028"/>
                </a:solidFill>
                <a:latin typeface="Lato"/>
              </a:rPr>
              <a:t>10-Year Annualized Return</a:t>
            </a:r>
          </a:p>
        </p:txBody>
      </p:sp>
      <p:sp>
        <p:nvSpPr>
          <p:cNvPr id="4" name="TextBox 3"/>
          <p:cNvSpPr txBox="1"/>
          <p:nvPr/>
        </p:nvSpPr>
        <p:spPr>
          <a:xfrm>
            <a:off x="365760" y="1005840"/>
            <a:ext cx="11457432" cy="914400"/>
          </a:xfrm>
          <a:prstGeom prst="rect">
            <a:avLst/>
          </a:prstGeom>
          <a:noFill/>
        </p:spPr>
        <p:txBody>
          <a:bodyPr wrap="square" lIns="0" rIns="0" tIns="0" bIns="0">
            <a:spAutoFit/>
          </a:bodyPr>
          <a:lstStyle/>
          <a:p>
            <a:pPr algn="l"/>
            <a:r>
              <a:rPr sz="1500" b="0" i="0">
                <a:solidFill>
                  <a:srgbClr val="6E6F73"/>
                </a:solidFill>
                <a:latin typeface="Lato"/>
              </a:rPr>
              <a:t>As of 2026-09-28, no institution in the 2027 Best National Universities (released Sept 22, 2026) top 50 has publicly reported this metric for FY26 yet. This slide will populate automatically as schools release FY26 investment results.</a:t>
            </a:r>
          </a:p>
        </p:txBody>
      </p:sp>
      <p:sp>
        <p:nvSpPr>
          <p:cNvPr id="5" name="TextBox 4"/>
          <p:cNvSpPr txBox="1"/>
          <p:nvPr/>
        </p:nvSpPr>
        <p:spPr>
          <a:xfrm>
            <a:off x="365760" y="6291072"/>
            <a:ext cx="9692640" cy="502920"/>
          </a:xfrm>
          <a:prstGeom prst="rect">
            <a:avLst/>
          </a:prstGeom>
          <a:noFill/>
        </p:spPr>
        <p:txBody>
          <a:bodyPr wrap="square" lIns="0" rIns="0" tIns="0" bIns="0">
            <a:spAutoFit/>
          </a:bodyPr>
          <a:lstStyle/>
          <a:p>
            <a:pPr algn="l"/>
            <a:r>
              <a:rPr sz="850" b="0" i="0">
                <a:solidFill>
                  <a:srgbClr val="6E6F73"/>
                </a:solidFill>
                <a:latin typeface="Lato"/>
              </a:rPr>
              <a:t>Source: institution financial reports, board/trustee disclosures, and financial press coverage.</a:t>
            </a:r>
          </a:p>
        </p:txBody>
      </p:sp>
      <p:sp>
        <p:nvSpPr>
          <p:cNvPr id="6" name="TextBox 5"/>
          <p:cNvSpPr txBox="1"/>
          <p:nvPr/>
        </p:nvSpPr>
        <p:spPr>
          <a:xfrm>
            <a:off x="10149840" y="6291072"/>
            <a:ext cx="1673352" cy="228600"/>
          </a:xfrm>
          <a:prstGeom prst="rect">
            <a:avLst/>
          </a:prstGeom>
          <a:noFill/>
        </p:spPr>
        <p:txBody>
          <a:bodyPr wrap="square" lIns="0" rIns="0" tIns="0" bIns="0">
            <a:spAutoFit/>
          </a:bodyPr>
          <a:lstStyle/>
          <a:p>
            <a:pPr algn="r"/>
            <a:r>
              <a:rPr sz="900" b="1" i="0">
                <a:solidFill>
                  <a:srgbClr val="1E2028"/>
                </a:solidFill>
                <a:latin typeface="Lato"/>
              </a:rPr>
              <a:t>Northeastern University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109728"/>
            <a:ext cx="11457432" cy="365760"/>
          </a:xfrm>
          <a:prstGeom prst="rect">
            <a:avLst/>
          </a:prstGeom>
          <a:noFill/>
        </p:spPr>
        <p:txBody>
          <a:bodyPr wrap="square" lIns="0" rIns="0" tIns="0" bIns="0">
            <a:spAutoFit/>
          </a:bodyPr>
          <a:lstStyle/>
          <a:p>
            <a:pPr algn="l"/>
            <a:r>
              <a:rPr sz="1400" b="1" i="0">
                <a:solidFill>
                  <a:srgbClr val="6E6F73"/>
                </a:solidFill>
                <a:latin typeface="Lato"/>
              </a:rPr>
              <a:t>BACKUP (for reference) — FY25 peer-cohort view, 1-Year Performance, n=123 (Charles Skorina &amp; Co.)</a:t>
            </a:r>
          </a:p>
        </p:txBody>
      </p:sp>
      <p:pic>
        <p:nvPicPr>
          <p:cNvPr id="3" name="Picture 2" descr="slide-1.jpg"/>
          <p:cNvPicPr>
            <a:picLocks noChangeAspect="1"/>
          </p:cNvPicPr>
          <p:nvPr/>
        </p:nvPicPr>
        <p:blipFill>
          <a:blip r:embed="rId2"/>
          <a:stretch>
            <a:fillRect/>
          </a:stretch>
        </p:blipFill>
        <p:spPr>
          <a:xfrm>
            <a:off x="610819" y="502920"/>
            <a:ext cx="10970056" cy="61722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109728"/>
            <a:ext cx="11457432" cy="365760"/>
          </a:xfrm>
          <a:prstGeom prst="rect">
            <a:avLst/>
          </a:prstGeom>
          <a:noFill/>
        </p:spPr>
        <p:txBody>
          <a:bodyPr wrap="square" lIns="0" rIns="0" tIns="0" bIns="0">
            <a:spAutoFit/>
          </a:bodyPr>
          <a:lstStyle/>
          <a:p>
            <a:pPr algn="l"/>
            <a:r>
              <a:rPr sz="1400" b="1" i="0">
                <a:solidFill>
                  <a:srgbClr val="6E6F73"/>
                </a:solidFill>
                <a:latin typeface="Lato"/>
              </a:rPr>
              <a:t>BACKUP (for reference) — FY25 peer-cohort view, 10-Year Annualized Performance, n=123 (Charles Skorina &amp; Co.)</a:t>
            </a:r>
          </a:p>
        </p:txBody>
      </p:sp>
      <p:pic>
        <p:nvPicPr>
          <p:cNvPr id="3" name="Picture 2" descr="slide-2.jpg"/>
          <p:cNvPicPr>
            <a:picLocks noChangeAspect="1"/>
          </p:cNvPicPr>
          <p:nvPr/>
        </p:nvPicPr>
        <p:blipFill>
          <a:blip r:embed="rId2"/>
          <a:stretch>
            <a:fillRect/>
          </a:stretch>
        </p:blipFill>
        <p:spPr>
          <a:xfrm>
            <a:off x="610819" y="502920"/>
            <a:ext cx="10970056" cy="61722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