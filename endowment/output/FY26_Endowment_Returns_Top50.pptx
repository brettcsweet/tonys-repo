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spPr>
              <a:solidFill>
                <a:srgbClr val="C9A227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C9A227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4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5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6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7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8"/>
            <c:spPr>
              <a:solidFill>
                <a:srgbClr val="C8102E"/>
              </a:solidFill>
              <a:ln w="6350">
                <a:solidFill>
                  <a:srgbClr val="8A8B8E"/>
                </a:solidFill>
              </a:ln>
            </c:spPr>
          </c:dPt>
          <c:dPt>
            <c:idx val="9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37.8%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$17.0B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37.3%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NA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31.7%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$61.5B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27.4%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$31.1B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27.1%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$68.0B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27.0%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$18.8B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19.6%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$9.5B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16.0%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$9.7B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C8102E"/>
                        </a:solidFill>
                        <a:latin typeface="Lato"/>
                      </a:rPr>
                      <a:t>16.0%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NA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10.3%</a:t>
                    </a:r>
                  </a:p>
                  <a:p>
                    <a:r>
                      <a:rPr sz="1100">
                        <a:solidFill>
                          <a:srgbClr val="6E6F73"/>
                        </a:solidFill>
                        <a:latin typeface="Lato"/>
                      </a:rPr>
                      <a:t>$29.2B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UNC
(#27)</c:v>
                </c:pt>
                <c:pt idx="1">
                  <c:v>WashU
(#16)</c:v>
                </c:pt>
                <c:pt idx="2">
                  <c:v>Stanford
(#5)</c:v>
                </c:pt>
                <c:pt idx="3">
                  <c:v>Penn
(#7)</c:v>
                </c:pt>
                <c:pt idx="4">
                  <c:v>Harvard
(#3)</c:v>
                </c:pt>
                <c:pt idx="5">
                  <c:v>UVA
(#26)</c:v>
                </c:pt>
                <c:pt idx="6">
                  <c:v>Brown
(#16)</c:v>
                </c:pt>
                <c:pt idx="7">
                  <c:v>Ohio State
(#44)</c:v>
                </c:pt>
                <c:pt idx="8">
                  <c:v>Northeastern
(#42)</c:v>
                </c:pt>
                <c:pt idx="9">
                  <c:v>MIT
(#1)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37.8</c:v>
                </c:pt>
                <c:pt idx="1">
                  <c:v>37.3</c:v>
                </c:pt>
                <c:pt idx="2">
                  <c:v>31.7</c:v>
                </c:pt>
                <c:pt idx="3">
                  <c:v>27.4</c:v>
                </c:pt>
                <c:pt idx="4">
                  <c:v>27.1</c:v>
                </c:pt>
                <c:pt idx="5">
                  <c:v>27</c:v>
                </c:pt>
                <c:pt idx="6">
                  <c:v>19.6</c:v>
                </c:pt>
                <c:pt idx="7">
                  <c:v>16.03</c:v>
                </c:pt>
                <c:pt idx="8">
                  <c:v>16</c:v>
                </c:pt>
                <c:pt idx="9">
                  <c:v>10.3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return</c:v>
                </c:pt>
              </c:strCache>
            </c:strRef>
          </c:tx>
          <c:dPt>
            <c:idx val="0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4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5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6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7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8"/>
            <c:spPr>
              <a:solidFill>
                <a:srgbClr val="C8102E"/>
              </a:solidFill>
              <a:ln w="6350">
                <a:solidFill>
                  <a:srgbClr val="8A8B8E"/>
                </a:solidFill>
              </a:ln>
            </c:spPr>
          </c:dPt>
          <c:dPt>
            <c:idx val="9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UNC
(#27)</c:v>
                </c:pt>
                <c:pt idx="1">
                  <c:v>WashU
(#16)</c:v>
                </c:pt>
                <c:pt idx="2">
                  <c:v>Stanford
(#5)</c:v>
                </c:pt>
                <c:pt idx="3">
                  <c:v>Penn
(#7)</c:v>
                </c:pt>
                <c:pt idx="4">
                  <c:v>Harvard
(#3)</c:v>
                </c:pt>
                <c:pt idx="5">
                  <c:v>UVA
(#26)</c:v>
                </c:pt>
                <c:pt idx="6">
                  <c:v>Brown
(#16)</c:v>
                </c:pt>
                <c:pt idx="7">
                  <c:v>Ohio State
(#44)</c:v>
                </c:pt>
                <c:pt idx="8">
                  <c:v>Northeastern
(#42)</c:v>
                </c:pt>
                <c:pt idx="9">
                  <c:v>MIT
(#1)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18.9</c:v>
                </c:pt>
                <c:pt idx="1">
                  <c:v>18.65</c:v>
                </c:pt>
                <c:pt idx="2">
                  <c:v>31.7</c:v>
                </c:pt>
                <c:pt idx="3">
                  <c:v>27.4</c:v>
                </c:pt>
                <c:pt idx="4">
                  <c:v>27.1</c:v>
                </c:pt>
                <c:pt idx="5">
                  <c:v>27</c:v>
                </c:pt>
                <c:pt idx="6">
                  <c:v>19.6</c:v>
                </c:pt>
                <c:pt idx="7">
                  <c:v>16.03</c:v>
                </c:pt>
                <c:pt idx="8">
                  <c:v>16</c:v>
                </c:pt>
                <c:pt idx="9">
                  <c:v>10.3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>
              <a:solidFill>
                <a:srgbClr val="E5E5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1E2028"/>
          </a:solidFill>
          <a:latin typeface="La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12.5%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9.2%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7.8%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UNC
(#27)</c:v>
                </c:pt>
                <c:pt idx="1">
                  <c:v>Stanford
(#5)</c:v>
                </c:pt>
                <c:pt idx="2">
                  <c:v>Ohio State
(#44)</c:v>
                </c:pt>
                <c:pt idx="3">
                  <c:v>Brown
(#16)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10.3</c:v>
                </c:pt>
                <c:pt idx="2">
                  <c:v>9.17</c:v>
                </c:pt>
                <c:pt idx="3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return</c:v>
                </c:pt>
              </c:strCache>
            </c:strRef>
          </c:tx>
          <c:dPt>
            <c:idx val="0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UNC
(#27)</c:v>
                </c:pt>
                <c:pt idx="1">
                  <c:v>Stanford
(#5)</c:v>
                </c:pt>
                <c:pt idx="2">
                  <c:v>Ohio State
(#44)</c:v>
                </c:pt>
                <c:pt idx="3">
                  <c:v>Brown
(#16)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12.5</c:v>
                </c:pt>
                <c:pt idx="1">
                  <c:v>10.3</c:v>
                </c:pt>
                <c:pt idx="2">
                  <c:v>9.17</c:v>
                </c:pt>
                <c:pt idx="3">
                  <c:v>7.8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5E5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1E2028"/>
          </a:solidFill>
          <a:latin typeface="La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4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13.5%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12.5%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12.0%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1E2028"/>
                        </a:solidFill>
                        <a:latin typeface="Lato"/>
                      </a:rPr>
                      <a:t>11.7%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Brown
(#16)</c:v>
                </c:pt>
                <c:pt idx="1">
                  <c:v>UNC
(#27)</c:v>
                </c:pt>
                <c:pt idx="2">
                  <c:v>Stanford
(#5)</c:v>
                </c:pt>
                <c:pt idx="3">
                  <c:v>UVA
(#26)</c:v>
                </c:pt>
                <c:pt idx="4">
                  <c:v>MIT
(#1)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13.6</c:v>
                </c:pt>
                <c:pt idx="1">
                  <c:v>13.5</c:v>
                </c:pt>
                <c:pt idx="2">
                  <c:v>12.5</c:v>
                </c:pt>
                <c:pt idx="3">
                  <c:v>12</c:v>
                </c:pt>
                <c:pt idx="4">
                  <c:v>11.7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return</c:v>
                </c:pt>
              </c:strCache>
            </c:strRef>
          </c:tx>
          <c:dPt>
            <c:idx val="0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1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2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3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dPt>
            <c:idx val="4"/>
            <c:spPr>
              <a:solidFill>
                <a:srgbClr val="D6D7D9"/>
              </a:solidFill>
              <a:ln w="6350">
                <a:solidFill>
                  <a:srgbClr val="8A8B8E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Brown
(#16)</c:v>
                </c:pt>
                <c:pt idx="1">
                  <c:v>UNC
(#27)</c:v>
                </c:pt>
                <c:pt idx="2">
                  <c:v>Stanford
(#5)</c:v>
                </c:pt>
                <c:pt idx="3">
                  <c:v>UVA
(#26)</c:v>
                </c:pt>
                <c:pt idx="4">
                  <c:v>MIT
(#1)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13.5</c:v>
                </c:pt>
                <c:pt idx="2">
                  <c:v>12.5</c:v>
                </c:pt>
                <c:pt idx="3">
                  <c:v>12</c:v>
                </c:pt>
                <c:pt idx="4">
                  <c:v>11.7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5E5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1E2028"/>
          </a:solidFill>
          <a:latin typeface="Lat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028"/>
                </a:solidFill>
                <a:latin typeface="Lato"/>
              </a:rPr>
              <a:t>FY26 Endowment Returns — Top 50 National Universities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028"/>
                </a:solidFill>
                <a:latin typeface="Lato"/>
              </a:rPr>
              <a:t>1-Year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11457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F73"/>
                </a:solidFill>
                <a:latin typeface="Lato"/>
              </a:rPr>
              <a:t>As officially reported (updated 2026-10-16) — 10 of 51 institutions had released this figure. Gold portion of a bar is the estimated share of the return attributable to legacy SpaceX venture stakes crystallized by SpaceX's 2026 IPO.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463040"/>
          <a:ext cx="11457432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6089904"/>
            <a:ext cx="182880" cy="182880"/>
          </a:xfrm>
          <a:prstGeom prst="rect">
            <a:avLst/>
          </a:prstGeom>
          <a:solidFill>
            <a:srgbClr val="D6D7D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0716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Base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89904"/>
            <a:ext cx="182880" cy="182880"/>
          </a:xfrm>
          <a:prstGeom prst="rect">
            <a:avLst/>
          </a:prstGeom>
          <a:solidFill>
            <a:srgbClr val="C9A22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607161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Est. SpaceX-attributable 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6089904"/>
            <a:ext cx="182880" cy="182880"/>
          </a:xfrm>
          <a:prstGeom prst="rect">
            <a:avLst/>
          </a:prstGeom>
          <a:solidFill>
            <a:srgbClr val="C8102E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607161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Northeastern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9107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E6F73"/>
                </a:solidFill>
                <a:latin typeface="Lato"/>
              </a:rPr>
              <a:t>Source: institution financial reports, board/trustee disclosures, and financial press coverage. US News rank in parentheses (2027 Best National Universities (released Sept 22, 2026); ties included). Dollar figure under each return is the reported FY26 endowment value; NA = not yet published. Northeastern's return is a management estimate pending audited figures. SpaceX-attributable shares reflect each institution's own disclosure; not an audited breakdown. Remaining 41 of 51 institutions had not yet released this figure as of 2026-10-16.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6291072"/>
            <a:ext cx="16733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028"/>
                </a:solidFill>
                <a:latin typeface="Lato"/>
              </a:rPr>
              <a:t>Northeastern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028"/>
                </a:solidFill>
                <a:latin typeface="Lato"/>
              </a:rPr>
              <a:t>FY26 Endowment Returns — Top 50 National Universities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028"/>
                </a:solidFill>
                <a:latin typeface="Lato"/>
              </a:rPr>
              <a:t>5-Year Annualized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11457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F73"/>
                </a:solidFill>
                <a:latin typeface="Lato"/>
              </a:rPr>
              <a:t>As officially reported (updated 2026-10-16) — 4 of 51 institutions had released this metric.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463040"/>
          <a:ext cx="11457432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6089904"/>
            <a:ext cx="182880" cy="182880"/>
          </a:xfrm>
          <a:prstGeom prst="rect">
            <a:avLst/>
          </a:prstGeom>
          <a:solidFill>
            <a:srgbClr val="D6D7D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0716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Base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89904"/>
            <a:ext cx="182880" cy="182880"/>
          </a:xfrm>
          <a:prstGeom prst="rect">
            <a:avLst/>
          </a:prstGeom>
          <a:solidFill>
            <a:srgbClr val="C8102E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607161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Northeastern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E6F73"/>
                </a:solidFill>
                <a:latin typeface="Lato"/>
              </a:rPr>
              <a:t>Source: institution financial reports, board/trustee disclosures, and financial press coverage. US News rank in parentheses (2027 Best National Universities (released Sept 22, 2026); ties included). Remaining 47 of 51 institutions had not yet released this figure as of 2026-10-16.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291072"/>
            <a:ext cx="16733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028"/>
                </a:solidFill>
                <a:latin typeface="Lato"/>
              </a:rPr>
              <a:t>Northeastern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028"/>
                </a:solidFill>
                <a:latin typeface="Lato"/>
              </a:rPr>
              <a:t>FY26 Endowment Returns — Top 50 National Universities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028"/>
                </a:solidFill>
                <a:latin typeface="Lato"/>
              </a:rPr>
              <a:t>10-Year Annualized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11457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F73"/>
                </a:solidFill>
                <a:latin typeface="Lato"/>
              </a:rPr>
              <a:t>As officially reported (updated 2026-10-16) — 5 of 51 institutions had released this metric.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463040"/>
          <a:ext cx="11457432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6089904"/>
            <a:ext cx="182880" cy="182880"/>
          </a:xfrm>
          <a:prstGeom prst="rect">
            <a:avLst/>
          </a:prstGeom>
          <a:solidFill>
            <a:srgbClr val="D6D7D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0716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Base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89904"/>
            <a:ext cx="182880" cy="182880"/>
          </a:xfrm>
          <a:prstGeom prst="rect">
            <a:avLst/>
          </a:prstGeom>
          <a:solidFill>
            <a:srgbClr val="C8102E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607161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028"/>
                </a:solidFill>
                <a:latin typeface="Lato"/>
              </a:rPr>
              <a:t>Northeastern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E6F73"/>
                </a:solidFill>
                <a:latin typeface="Lato"/>
              </a:rPr>
              <a:t>Source: institution financial reports, board/trustee disclosures, and financial press coverage. US News rank in parentheses (2027 Best National Universities (released Sept 22, 2026); ties included). Remaining 46 of 51 institutions had not yet released this figure as of 2026-10-16.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291072"/>
            <a:ext cx="16733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028"/>
                </a:solidFill>
                <a:latin typeface="Lato"/>
              </a:rPr>
              <a:t>Northeastern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F73"/>
                </a:solidFill>
                <a:latin typeface="Lato"/>
              </a:rPr>
              <a:t>BACKUP (for reference) — FY25 peer-cohort view, 1-Year Performance, n=123 (Charles Skorina &amp; Co.)</a:t>
            </a:r>
          </a:p>
        </p:txBody>
      </p:sp>
      <p:pic>
        <p:nvPicPr>
          <p:cNvPr id="3" name="Picture 2" descr="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502920"/>
            <a:ext cx="10970056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F73"/>
                </a:solidFill>
                <a:latin typeface="Lato"/>
              </a:rPr>
              <a:t>BACKUP (for reference) — FY25 peer-cohort view, 10-Year Annualized Performance, n=123 (Charles Skorina &amp; Co.)</a:t>
            </a:r>
          </a:p>
        </p:txBody>
      </p:sp>
      <p:pic>
        <p:nvPicPr>
          <p:cNvPr id="3" name="Picture 2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502920"/>
            <a:ext cx="10970056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