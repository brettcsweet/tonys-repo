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04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351254"/>
                <a:gridCol w="1500000"/>
                <a:gridCol w="1727543"/>
                <a:gridCol w="1727543"/>
                <a:gridCol w="1727543"/>
                <a:gridCol w="1727543"/>
                <a:gridCol w="1727546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81,000 </a:t>
                      </a:r>
                      <a:r>
                        <a:rPr lang="en-US" sz="8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(~32,000 SF lab)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34,450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$60M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$459-550/SF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$66M – $80M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$5M – $6M/yr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$42-51/SF/yr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 Option 3a: 34,450 ASF assumes ~13% efficiency gain vs. 140TF’s 39,700 ASF (p.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3a/3b/4: capital @ $300-350/SF; Assignable SF @ 65%; Annual Cost = Rent + Tax + capital @ 8% cap rate (landlord-financed); TCOL uses 10-yr synthetic rent on that capital, not the outlay. Options 1/2 add 30-yr P&amp;I @ 5% ($47M; $56M – $70M incl. reno); Option 2 adds ~$1M/yr opportunity cost (5% on $20M NU-owned value; ~$10M in TCOL).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$60M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