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ags/tag1.xml" ContentType="application/vnd.openxmlformats-officedocument.presentationml.tags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tags/tag3.xml" ContentType="application/vnd.openxmlformats-officedocument.presentationml.tags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theme/theme4.xml" ContentType="application/vnd.openxmlformats-officedocument.theme+xml"/>
  <Override PartName="/ppt/tags/tag4.xml" ContentType="application/vnd.openxmlformats-officedocument.presentationml.tags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theme/theme5.xml" ContentType="application/vnd.openxmlformats-officedocument.theme+xml"/>
  <Override PartName="/ppt/tags/tag5.xml" ContentType="application/vnd.openxmlformats-officedocument.presentationml.tags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7" r:id="rId4"/>
    <p:sldMasterId id="2147483687" r:id="rId5"/>
    <p:sldMasterId id="2147483705" r:id="rId6"/>
    <p:sldMasterId id="2147483713" r:id="rId7"/>
    <p:sldMasterId id="2147483728" r:id="rId8"/>
  </p:sldMasterIdLst>
  <p:notesMasterIdLst>
    <p:notesMasterId r:id="rId15"/>
  </p:notesMasterIdLst>
  <p:sldIdLst>
    <p:sldId id="256" r:id="rId9"/>
    <p:sldId id="1213" r:id="rId10"/>
    <p:sldId id="1214" r:id="rId11"/>
    <p:sldId id="1216" r:id="rId12"/>
    <p:sldId id="1217" r:id="rId13"/>
    <p:sldId id="121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resentation" id="{D9B2E29F-440B-4534-A201-80A739C3457A}">
          <p14:sldIdLst>
            <p14:sldId id="256"/>
            <p14:sldId id="1213"/>
            <p14:sldId id="1214"/>
            <p14:sldId id="1216"/>
            <p14:sldId id="1217"/>
            <p14:sldId id="121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63F16D0C-73E2-9503-6B82-5237E9C383AF}" name="Valencia, Jacqueline" initials="" userId="S::j.valencia@northeastern.edu::f0306524-8834-4b05-a255-acce50a7d738" providerId="AD"/>
  <p188:author id="{A1709311-0112-EA70-D0CC-62E1C112B60A}" name="Melkonian, Christina" initials="CM" userId="S::c.melkonian@northeastern.edu::0c9029e7-c81a-4074-b324-ecf1f523d31e" providerId="AD"/>
  <p188:author id="{DD4A715F-6AB8-B1E9-8715-E97C556CA8AC}" name="Spiegelman, Kathy" initials="SK" userId="S::kathys@northeastern.edu::ac793b45-90bf-45e3-898c-c4dce99f7b4d" providerId="AD"/>
  <p188:author id="{DBC30E66-7D97-DA63-E3B3-D8BF08360DF2}" name="Abolina, Viktorija" initials="AV" userId="S::v.abolina@northeastern.edu::8b9a026a-158c-4f56-bf31-5a84067c4e29" providerId="AD"/>
  <p188:author id="{4D47597D-61EC-EC43-41D3-EB658E568899}" name="Hickey, Maureen" initials="" userId="S::ma.hickey@northeastern.edu::c6952db5-766f-439d-b602-48984f3ffc42" providerId="AD"/>
  <p188:author id="{1F4C7192-AB4B-6D9E-905A-6EC6BE34DB15}" name="Brand, Jim" initials="JB" userId="S::j.brand@northeastern.edu::3b0ae77a-f76e-4383-97b8-b8490371efb9" providerId="AD"/>
  <p188:author id="{0643989E-FBF2-55A3-701D-84E8B6302D00}" name="Healey, Meaghan" initials="" userId="S::m.healey@northeastern.edu::6ea7a1ca-3291-48e4-bb52-8012d6ceee05" providerId="AD"/>
  <p188:author id="{849A7EC8-0A09-6664-7F77-D1B26ACDA118}" name="Leonard, Troy" initials="TL" userId="S::t.leonard@northeastern.edu::6009b0e2-01a7-498a-a001-3d3a227ae7cc" providerId="AD"/>
  <p188:author id="{66FB92F2-27FC-A8AB-9DF9-D05B9D9F3BC4}" name="McKenzie, Cassandra" initials="" userId="S::c.mckenzie@northeastern.edu::7d38c398-84b9-4c3c-a907-41a78ae8b8e3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ED7E1"/>
    <a:srgbClr val="DDE7F2"/>
    <a:srgbClr val="DFDDD7"/>
    <a:srgbClr val="EFECE1"/>
    <a:srgbClr val="DCE6F1"/>
    <a:srgbClr val="EEECE1"/>
    <a:srgbClr val="C0E0FF"/>
    <a:srgbClr val="FCB9B9"/>
    <a:srgbClr val="A0FFA0"/>
    <a:srgbClr val="62906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0" d="100"/>
          <a:sy n="60" d="100"/>
        </p:scale>
        <p:origin x="884" y="4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5.xml"/><Relationship Id="rId13" Type="http://schemas.openxmlformats.org/officeDocument/2006/relationships/slide" Target="slides/slide5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4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3.xml"/><Relationship Id="rId5" Type="http://schemas.openxmlformats.org/officeDocument/2006/relationships/slideMaster" Target="slideMasters/slideMaster2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2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1.xml"/><Relationship Id="rId14" Type="http://schemas.openxmlformats.org/officeDocument/2006/relationships/slide" Target="slides/slide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2892A9-2B7C-4BE6-B364-3DD098FBA882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5789961-BF3B-4149-9B0E-E6C4134EB7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45714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789961-BF3B-4149-9B0E-E6C4134EB7B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577156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789961-BF3B-4149-9B0E-E6C4134EB7B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749784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789961-BF3B-4149-9B0E-E6C4134EB7BA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57907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.xml"/><Relationship Id="rId5" Type="http://schemas.openxmlformats.org/officeDocument/2006/relationships/image" Target="../media/image2.png"/><Relationship Id="rId4" Type="http://schemas.microsoft.com/office/2007/relationships/hdphoto" Target="../media/hdphoto1.wdp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png"/><Relationship Id="rId18" Type="http://schemas.openxmlformats.org/officeDocument/2006/relationships/image" Target="../media/image2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17" Type="http://schemas.openxmlformats.org/officeDocument/2006/relationships/image" Target="../media/image19.png"/><Relationship Id="rId2" Type="http://schemas.openxmlformats.org/officeDocument/2006/relationships/image" Target="../media/image2.png"/><Relationship Id="rId16" Type="http://schemas.openxmlformats.org/officeDocument/2006/relationships/image" Target="../media/image1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5" Type="http://schemas.openxmlformats.org/officeDocument/2006/relationships/image" Target="../media/image1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Relationship Id="rId14" Type="http://schemas.openxmlformats.org/officeDocument/2006/relationships/image" Target="../media/image16.png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emf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png"/><Relationship Id="rId18" Type="http://schemas.openxmlformats.org/officeDocument/2006/relationships/image" Target="../media/image2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17" Type="http://schemas.openxmlformats.org/officeDocument/2006/relationships/image" Target="../media/image19.png"/><Relationship Id="rId2" Type="http://schemas.openxmlformats.org/officeDocument/2006/relationships/image" Target="../media/image2.png"/><Relationship Id="rId16" Type="http://schemas.openxmlformats.org/officeDocument/2006/relationships/image" Target="../media/image18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5" Type="http://schemas.openxmlformats.org/officeDocument/2006/relationships/image" Target="../media/image1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Relationship Id="rId14" Type="http://schemas.openxmlformats.org/officeDocument/2006/relationships/image" Target="../media/image16.png"/></Relationships>
</file>

<file path=ppt/slideLayouts/_rels/slideLayout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png"/><Relationship Id="rId18" Type="http://schemas.openxmlformats.org/officeDocument/2006/relationships/image" Target="../media/image2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17" Type="http://schemas.openxmlformats.org/officeDocument/2006/relationships/image" Target="../media/image19.png"/><Relationship Id="rId2" Type="http://schemas.openxmlformats.org/officeDocument/2006/relationships/image" Target="../media/image2.png"/><Relationship Id="rId16" Type="http://schemas.openxmlformats.org/officeDocument/2006/relationships/image" Target="../media/image18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5" Type="http://schemas.openxmlformats.org/officeDocument/2006/relationships/image" Target="../media/image1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Relationship Id="rId14" Type="http://schemas.openxmlformats.org/officeDocument/2006/relationships/image" Target="../media/image16.png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png"/><Relationship Id="rId18" Type="http://schemas.openxmlformats.org/officeDocument/2006/relationships/image" Target="../media/image2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17" Type="http://schemas.openxmlformats.org/officeDocument/2006/relationships/image" Target="../media/image19.png"/><Relationship Id="rId2" Type="http://schemas.openxmlformats.org/officeDocument/2006/relationships/image" Target="../media/image2.png"/><Relationship Id="rId16" Type="http://schemas.openxmlformats.org/officeDocument/2006/relationships/image" Target="../media/image18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5" Type="http://schemas.openxmlformats.org/officeDocument/2006/relationships/image" Target="../media/image1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Relationship Id="rId14" Type="http://schemas.openxmlformats.org/officeDocument/2006/relationships/image" Target="../media/image16.png"/></Relationships>
</file>

<file path=ppt/slideLayouts/_rels/slideLayout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png"/><Relationship Id="rId18" Type="http://schemas.openxmlformats.org/officeDocument/2006/relationships/image" Target="../media/image2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17" Type="http://schemas.openxmlformats.org/officeDocument/2006/relationships/image" Target="../media/image19.png"/><Relationship Id="rId2" Type="http://schemas.openxmlformats.org/officeDocument/2006/relationships/image" Target="../media/image2.png"/><Relationship Id="rId16" Type="http://schemas.openxmlformats.org/officeDocument/2006/relationships/image" Target="../media/image18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5" Type="http://schemas.openxmlformats.org/officeDocument/2006/relationships/image" Target="../media/image1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Relationship Id="rId14" Type="http://schemas.openxmlformats.org/officeDocument/2006/relationships/image" Target="../media/image16.png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png"/><Relationship Id="rId18" Type="http://schemas.openxmlformats.org/officeDocument/2006/relationships/image" Target="../media/image2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17" Type="http://schemas.openxmlformats.org/officeDocument/2006/relationships/image" Target="../media/image19.png"/><Relationship Id="rId2" Type="http://schemas.openxmlformats.org/officeDocument/2006/relationships/image" Target="../media/image2.png"/><Relationship Id="rId16" Type="http://schemas.openxmlformats.org/officeDocument/2006/relationships/image" Target="../media/image18.png"/><Relationship Id="rId1" Type="http://schemas.openxmlformats.org/officeDocument/2006/relationships/slideMaster" Target="../slideMasters/slideMaster4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5" Type="http://schemas.openxmlformats.org/officeDocument/2006/relationships/image" Target="../media/image1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Relationship Id="rId14" Type="http://schemas.openxmlformats.org/officeDocument/2006/relationships/image" Target="../media/image16.png"/></Relationships>
</file>

<file path=ppt/slideLayouts/_rels/slideLayout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png"/><Relationship Id="rId18" Type="http://schemas.openxmlformats.org/officeDocument/2006/relationships/image" Target="../media/image2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17" Type="http://schemas.openxmlformats.org/officeDocument/2006/relationships/image" Target="../media/image19.png"/><Relationship Id="rId2" Type="http://schemas.openxmlformats.org/officeDocument/2006/relationships/image" Target="../media/image2.png"/><Relationship Id="rId16" Type="http://schemas.openxmlformats.org/officeDocument/2006/relationships/image" Target="../media/image18.png"/><Relationship Id="rId1" Type="http://schemas.openxmlformats.org/officeDocument/2006/relationships/slideMaster" Target="../slideMasters/slideMaster4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5" Type="http://schemas.openxmlformats.org/officeDocument/2006/relationships/image" Target="../media/image1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Relationship Id="rId14" Type="http://schemas.openxmlformats.org/officeDocument/2006/relationships/image" Target="../media/image16.png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5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5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png"/><Relationship Id="rId18" Type="http://schemas.openxmlformats.org/officeDocument/2006/relationships/image" Target="../media/image2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17" Type="http://schemas.openxmlformats.org/officeDocument/2006/relationships/image" Target="../media/image19.png"/><Relationship Id="rId2" Type="http://schemas.openxmlformats.org/officeDocument/2006/relationships/image" Target="../media/image2.png"/><Relationship Id="rId16" Type="http://schemas.openxmlformats.org/officeDocument/2006/relationships/image" Target="../media/image18.png"/><Relationship Id="rId1" Type="http://schemas.openxmlformats.org/officeDocument/2006/relationships/slideMaster" Target="../slideMasters/slideMaster5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5" Type="http://schemas.openxmlformats.org/officeDocument/2006/relationships/image" Target="../media/image1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Relationship Id="rId14" Type="http://schemas.openxmlformats.org/officeDocument/2006/relationships/image" Target="../media/image16.png"/></Relationships>
</file>

<file path=ppt/slideLayouts/_rels/slideLayout5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png"/><Relationship Id="rId18" Type="http://schemas.openxmlformats.org/officeDocument/2006/relationships/image" Target="../media/image2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17" Type="http://schemas.openxmlformats.org/officeDocument/2006/relationships/image" Target="../media/image19.png"/><Relationship Id="rId2" Type="http://schemas.openxmlformats.org/officeDocument/2006/relationships/image" Target="../media/image2.png"/><Relationship Id="rId16" Type="http://schemas.openxmlformats.org/officeDocument/2006/relationships/image" Target="../media/image18.png"/><Relationship Id="rId1" Type="http://schemas.openxmlformats.org/officeDocument/2006/relationships/slideMaster" Target="../slideMasters/slideMaster5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5" Type="http://schemas.openxmlformats.org/officeDocument/2006/relationships/image" Target="../media/image1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Relationship Id="rId14" Type="http://schemas.openxmlformats.org/officeDocument/2006/relationships/image" Target="../media/image16.png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936928-3BCC-C3CF-8F35-A10B6F56B0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A6746D-E561-5CDE-FC36-953907C6D2F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E182BF-4A92-E604-A950-11446D76EB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B94E4D-8330-98E7-1EF3-F09AD190A4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FE8F2E-417D-8C78-B91B-21F1C3CF72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E9A795-8AA6-4189-9C5B-591D910047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96271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wing Space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Original Image path: \\S00769FR01\users$\ckim\Desktop\Northeastern-5.jpg&#10;Original Size: 2.2MB W:5,970px H:2,680px&#10;Compressed Size: 0.8MB W:1,920px H:861px (65.3% using JPEG compression of 95)&#10;Cropping: Left:0% Right:0% Top:0% Bottom:0%&#10;Last Updated: 7/26/2022 2:11:14 AM by ckim via Sasaki PPT Image Manager">
            <a:extLst>
              <a:ext uri="{FF2B5EF4-FFF2-40B4-BE49-F238E27FC236}">
                <a16:creationId xmlns:a16="http://schemas.microsoft.com/office/drawing/2014/main" id="{58DDE836-DAF9-4F76-297D-9CC16A8B684E}"/>
              </a:ext>
            </a:extLst>
          </p:cNvPr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 rotWithShape="1">
          <a:blip r:embed="rId3">
            <a:alphaModFix amt="35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8800"/>
                    </a14:imgEffect>
                    <a14:imgEffect>
                      <a14:brightnessContrast bright="2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r="20278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effectLst/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4F0AEDC-D36A-D873-1EFC-CCA7F2726B9B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80" y="5760720"/>
            <a:ext cx="1099645" cy="850392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B9B478EF-0065-B0E8-0BD9-3143801E9D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82563" y="166688"/>
            <a:ext cx="8450262" cy="11112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sz="3600">
                <a:solidFill>
                  <a:srgbClr val="000000"/>
                </a:solidFill>
                <a:latin typeface="Lato Black" panose="020F0A02020204030203" pitchFamily="34" charset="0"/>
              </a:rPr>
              <a:t>Swing Space Template</a:t>
            </a:r>
          </a:p>
          <a:p>
            <a:r>
              <a:rPr lang="en-US" sz="2800">
                <a:solidFill>
                  <a:srgbClr val="000000"/>
                </a:solidFill>
                <a:latin typeface="Lato" panose="020F0502020204030203" pitchFamily="34" charset="0"/>
              </a:rPr>
              <a:t>Northeastern University Boston Campus</a:t>
            </a:r>
          </a:p>
          <a:p>
            <a:pPr lvl="0"/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80532012-9830-B7E5-97E9-8B026155AC3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85750" y="4797426"/>
            <a:ext cx="1818353" cy="41367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[Date]</a:t>
            </a:r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2B713DAF-31DF-8190-4608-2343510C8F9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85749" y="4129293"/>
            <a:ext cx="4886325" cy="5984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>
                <a:latin typeface="Lato Bold" panose="020F0502020204030203" pitchFamily="34" charset="0"/>
                <a:ea typeface="Lato Bold" panose="020F0502020204030203" pitchFamily="34" charset="0"/>
                <a:cs typeface="Lato Bold" panose="020F0502020204030203" pitchFamily="34" charset="0"/>
              </a:defRPr>
            </a:lvl1pPr>
          </a:lstStyle>
          <a:p>
            <a:pPr lvl="0"/>
            <a:r>
              <a:rPr lang="en-US" sz="3200">
                <a:latin typeface="Lato Bold" panose="020F0502020204030203" pitchFamily="34" charset="0"/>
                <a:ea typeface="Lato Bold" panose="020F0502020204030203" pitchFamily="34" charset="0"/>
                <a:cs typeface="Lato Bold" panose="020F0502020204030203" pitchFamily="34" charset="0"/>
              </a:rPr>
              <a:t>[Presentation Title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12540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wing Space Requirem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pic>
        <p:nvPicPr>
          <p:cNvPr id="3" name="Picture 2" descr="A map of a city&#10;&#10;Description automatically generated">
            <a:extLst>
              <a:ext uri="{FF2B5EF4-FFF2-40B4-BE49-F238E27FC236}">
                <a16:creationId xmlns:a16="http://schemas.microsoft.com/office/drawing/2014/main" id="{EAD7314C-5B88-2676-AD42-2FF9FAEED83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917" b="12828"/>
          <a:stretch/>
        </p:blipFill>
        <p:spPr>
          <a:xfrm>
            <a:off x="6830835" y="851804"/>
            <a:ext cx="5047488" cy="4146323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66AB267E-BBF1-8CFE-C914-A9A042E9F9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245" y="136251"/>
            <a:ext cx="11822596" cy="64008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sz="3200"/>
              <a:t>Requirements for Swing Space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D5E4566-32A2-E35A-8CB4-6188B1464EB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84246" y="851805"/>
            <a:ext cx="6358598" cy="574430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>
              <a:buNone/>
              <a:defRPr sz="14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 sz="14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Area</a:t>
            </a:r>
            <a:endParaRPr kumimoji="0" lang="en-US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Lato"/>
              <a:cs typeface="Lato"/>
            </a:endParaRP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1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2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3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Rooms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1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2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3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Offices and storage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Lato"/>
                <a:cs typeface="Lato"/>
              </a:rPr>
              <a:t>Users/Client</a:t>
            </a:r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1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2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3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Multi-user restrooms in close proximity 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Accessible space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Location: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1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Time Needed</a:t>
            </a:r>
          </a:p>
          <a:p>
            <a:endParaRPr lang="en-US" sz="1400" b="1">
              <a:latin typeface="+mn-lt"/>
            </a:endParaRPr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7DCD6B99-F81A-3E4B-75E8-A4E3915F57FA}"/>
              </a:ext>
            </a:extLst>
          </p:cNvPr>
          <p:cNvSpPr/>
          <p:nvPr userDrawn="1"/>
        </p:nvSpPr>
        <p:spPr>
          <a:xfrm>
            <a:off x="7282927" y="2581836"/>
            <a:ext cx="3173506" cy="1828800"/>
          </a:xfrm>
          <a:custGeom>
            <a:avLst/>
            <a:gdLst>
              <a:gd name="connsiteX0" fmla="*/ 3205779 w 3205779"/>
              <a:gd name="connsiteY0" fmla="*/ 0 h 1882588"/>
              <a:gd name="connsiteX1" fmla="*/ 2893807 w 3205779"/>
              <a:gd name="connsiteY1" fmla="*/ 64546 h 1882588"/>
              <a:gd name="connsiteX2" fmla="*/ 839097 w 3205779"/>
              <a:gd name="connsiteY2" fmla="*/ 53788 h 1882588"/>
              <a:gd name="connsiteX3" fmla="*/ 398033 w 3205779"/>
              <a:gd name="connsiteY3" fmla="*/ 333487 h 1882588"/>
              <a:gd name="connsiteX4" fmla="*/ 0 w 3205779"/>
              <a:gd name="connsiteY4" fmla="*/ 656217 h 1882588"/>
              <a:gd name="connsiteX5" fmla="*/ 1118795 w 3205779"/>
              <a:gd name="connsiteY5" fmla="*/ 1484555 h 1882588"/>
              <a:gd name="connsiteX6" fmla="*/ 1656678 w 3205779"/>
              <a:gd name="connsiteY6" fmla="*/ 1376979 h 1882588"/>
              <a:gd name="connsiteX7" fmla="*/ 1688951 w 3205779"/>
              <a:gd name="connsiteY7" fmla="*/ 1882588 h 1882588"/>
              <a:gd name="connsiteX8" fmla="*/ 2431228 w 3205779"/>
              <a:gd name="connsiteY8" fmla="*/ 1753497 h 1882588"/>
              <a:gd name="connsiteX9" fmla="*/ 2248348 w 3205779"/>
              <a:gd name="connsiteY9" fmla="*/ 1194099 h 1882588"/>
              <a:gd name="connsiteX10" fmla="*/ 3173506 w 3205779"/>
              <a:gd name="connsiteY10" fmla="*/ 914400 h 1882588"/>
              <a:gd name="connsiteX11" fmla="*/ 3001384 w 3205779"/>
              <a:gd name="connsiteY11" fmla="*/ 21515 h 1882588"/>
              <a:gd name="connsiteX12" fmla="*/ 3001384 w 3205779"/>
              <a:gd name="connsiteY12" fmla="*/ 96819 h 1882588"/>
              <a:gd name="connsiteX0" fmla="*/ 3205779 w 3205779"/>
              <a:gd name="connsiteY0" fmla="*/ 0 h 1882588"/>
              <a:gd name="connsiteX1" fmla="*/ 2893807 w 3205779"/>
              <a:gd name="connsiteY1" fmla="*/ 64546 h 1882588"/>
              <a:gd name="connsiteX2" fmla="*/ 839097 w 3205779"/>
              <a:gd name="connsiteY2" fmla="*/ 53788 h 1882588"/>
              <a:gd name="connsiteX3" fmla="*/ 398033 w 3205779"/>
              <a:gd name="connsiteY3" fmla="*/ 333487 h 1882588"/>
              <a:gd name="connsiteX4" fmla="*/ 0 w 3205779"/>
              <a:gd name="connsiteY4" fmla="*/ 656217 h 1882588"/>
              <a:gd name="connsiteX5" fmla="*/ 1118795 w 3205779"/>
              <a:gd name="connsiteY5" fmla="*/ 1484555 h 1882588"/>
              <a:gd name="connsiteX6" fmla="*/ 1656678 w 3205779"/>
              <a:gd name="connsiteY6" fmla="*/ 1376979 h 1882588"/>
              <a:gd name="connsiteX7" fmla="*/ 1688951 w 3205779"/>
              <a:gd name="connsiteY7" fmla="*/ 1882588 h 1882588"/>
              <a:gd name="connsiteX8" fmla="*/ 2431228 w 3205779"/>
              <a:gd name="connsiteY8" fmla="*/ 1753497 h 1882588"/>
              <a:gd name="connsiteX9" fmla="*/ 2248348 w 3205779"/>
              <a:gd name="connsiteY9" fmla="*/ 1194099 h 1882588"/>
              <a:gd name="connsiteX10" fmla="*/ 3173506 w 3205779"/>
              <a:gd name="connsiteY10" fmla="*/ 914400 h 1882588"/>
              <a:gd name="connsiteX11" fmla="*/ 3001384 w 3205779"/>
              <a:gd name="connsiteY11" fmla="*/ 21515 h 1882588"/>
              <a:gd name="connsiteX12" fmla="*/ 3029093 w 3205779"/>
              <a:gd name="connsiteY12" fmla="*/ 637146 h 1882588"/>
              <a:gd name="connsiteX0" fmla="*/ 2741652 w 3173506"/>
              <a:gd name="connsiteY0" fmla="*/ 117030 h 1861073"/>
              <a:gd name="connsiteX1" fmla="*/ 2893807 w 3173506"/>
              <a:gd name="connsiteY1" fmla="*/ 43031 h 1861073"/>
              <a:gd name="connsiteX2" fmla="*/ 839097 w 3173506"/>
              <a:gd name="connsiteY2" fmla="*/ 32273 h 1861073"/>
              <a:gd name="connsiteX3" fmla="*/ 398033 w 3173506"/>
              <a:gd name="connsiteY3" fmla="*/ 311972 h 1861073"/>
              <a:gd name="connsiteX4" fmla="*/ 0 w 3173506"/>
              <a:gd name="connsiteY4" fmla="*/ 634702 h 1861073"/>
              <a:gd name="connsiteX5" fmla="*/ 1118795 w 3173506"/>
              <a:gd name="connsiteY5" fmla="*/ 1463040 h 1861073"/>
              <a:gd name="connsiteX6" fmla="*/ 1656678 w 3173506"/>
              <a:gd name="connsiteY6" fmla="*/ 1355464 h 1861073"/>
              <a:gd name="connsiteX7" fmla="*/ 1688951 w 3173506"/>
              <a:gd name="connsiteY7" fmla="*/ 1861073 h 1861073"/>
              <a:gd name="connsiteX8" fmla="*/ 2431228 w 3173506"/>
              <a:gd name="connsiteY8" fmla="*/ 1731982 h 1861073"/>
              <a:gd name="connsiteX9" fmla="*/ 2248348 w 3173506"/>
              <a:gd name="connsiteY9" fmla="*/ 1172584 h 1861073"/>
              <a:gd name="connsiteX10" fmla="*/ 3173506 w 3173506"/>
              <a:gd name="connsiteY10" fmla="*/ 892885 h 1861073"/>
              <a:gd name="connsiteX11" fmla="*/ 3001384 w 3173506"/>
              <a:gd name="connsiteY11" fmla="*/ 0 h 1861073"/>
              <a:gd name="connsiteX12" fmla="*/ 3029093 w 3173506"/>
              <a:gd name="connsiteY12" fmla="*/ 615631 h 1861073"/>
              <a:gd name="connsiteX0" fmla="*/ 2741652 w 3173506"/>
              <a:gd name="connsiteY0" fmla="*/ 84757 h 1828800"/>
              <a:gd name="connsiteX1" fmla="*/ 2893807 w 3173506"/>
              <a:gd name="connsiteY1" fmla="*/ 10758 h 1828800"/>
              <a:gd name="connsiteX2" fmla="*/ 839097 w 3173506"/>
              <a:gd name="connsiteY2" fmla="*/ 0 h 1828800"/>
              <a:gd name="connsiteX3" fmla="*/ 398033 w 3173506"/>
              <a:gd name="connsiteY3" fmla="*/ 279699 h 1828800"/>
              <a:gd name="connsiteX4" fmla="*/ 0 w 3173506"/>
              <a:gd name="connsiteY4" fmla="*/ 602429 h 1828800"/>
              <a:gd name="connsiteX5" fmla="*/ 1118795 w 3173506"/>
              <a:gd name="connsiteY5" fmla="*/ 1430767 h 1828800"/>
              <a:gd name="connsiteX6" fmla="*/ 1656678 w 3173506"/>
              <a:gd name="connsiteY6" fmla="*/ 1323191 h 1828800"/>
              <a:gd name="connsiteX7" fmla="*/ 1688951 w 3173506"/>
              <a:gd name="connsiteY7" fmla="*/ 1828800 h 1828800"/>
              <a:gd name="connsiteX8" fmla="*/ 2431228 w 3173506"/>
              <a:gd name="connsiteY8" fmla="*/ 1699709 h 1828800"/>
              <a:gd name="connsiteX9" fmla="*/ 2248348 w 3173506"/>
              <a:gd name="connsiteY9" fmla="*/ 1140311 h 1828800"/>
              <a:gd name="connsiteX10" fmla="*/ 3173506 w 3173506"/>
              <a:gd name="connsiteY10" fmla="*/ 860612 h 1828800"/>
              <a:gd name="connsiteX11" fmla="*/ 3126074 w 3173506"/>
              <a:gd name="connsiteY11" fmla="*/ 695091 h 1828800"/>
              <a:gd name="connsiteX12" fmla="*/ 3029093 w 3173506"/>
              <a:gd name="connsiteY12" fmla="*/ 583358 h 1828800"/>
              <a:gd name="connsiteX0" fmla="*/ 3046452 w 3173506"/>
              <a:gd name="connsiteY0" fmla="*/ 278721 h 1828800"/>
              <a:gd name="connsiteX1" fmla="*/ 2893807 w 3173506"/>
              <a:gd name="connsiteY1" fmla="*/ 10758 h 1828800"/>
              <a:gd name="connsiteX2" fmla="*/ 839097 w 3173506"/>
              <a:gd name="connsiteY2" fmla="*/ 0 h 1828800"/>
              <a:gd name="connsiteX3" fmla="*/ 398033 w 3173506"/>
              <a:gd name="connsiteY3" fmla="*/ 279699 h 1828800"/>
              <a:gd name="connsiteX4" fmla="*/ 0 w 3173506"/>
              <a:gd name="connsiteY4" fmla="*/ 602429 h 1828800"/>
              <a:gd name="connsiteX5" fmla="*/ 1118795 w 3173506"/>
              <a:gd name="connsiteY5" fmla="*/ 1430767 h 1828800"/>
              <a:gd name="connsiteX6" fmla="*/ 1656678 w 3173506"/>
              <a:gd name="connsiteY6" fmla="*/ 1323191 h 1828800"/>
              <a:gd name="connsiteX7" fmla="*/ 1688951 w 3173506"/>
              <a:gd name="connsiteY7" fmla="*/ 1828800 h 1828800"/>
              <a:gd name="connsiteX8" fmla="*/ 2431228 w 3173506"/>
              <a:gd name="connsiteY8" fmla="*/ 1699709 h 1828800"/>
              <a:gd name="connsiteX9" fmla="*/ 2248348 w 3173506"/>
              <a:gd name="connsiteY9" fmla="*/ 1140311 h 1828800"/>
              <a:gd name="connsiteX10" fmla="*/ 3173506 w 3173506"/>
              <a:gd name="connsiteY10" fmla="*/ 860612 h 1828800"/>
              <a:gd name="connsiteX11" fmla="*/ 3126074 w 3173506"/>
              <a:gd name="connsiteY11" fmla="*/ 695091 h 1828800"/>
              <a:gd name="connsiteX12" fmla="*/ 3029093 w 3173506"/>
              <a:gd name="connsiteY12" fmla="*/ 583358 h 1828800"/>
              <a:gd name="connsiteX0" fmla="*/ 3046452 w 3173506"/>
              <a:gd name="connsiteY0" fmla="*/ 278721 h 1828800"/>
              <a:gd name="connsiteX1" fmla="*/ 2893807 w 3173506"/>
              <a:gd name="connsiteY1" fmla="*/ 10758 h 1828800"/>
              <a:gd name="connsiteX2" fmla="*/ 839097 w 3173506"/>
              <a:gd name="connsiteY2" fmla="*/ 0 h 1828800"/>
              <a:gd name="connsiteX3" fmla="*/ 398033 w 3173506"/>
              <a:gd name="connsiteY3" fmla="*/ 279699 h 1828800"/>
              <a:gd name="connsiteX4" fmla="*/ 0 w 3173506"/>
              <a:gd name="connsiteY4" fmla="*/ 602429 h 1828800"/>
              <a:gd name="connsiteX5" fmla="*/ 1118795 w 3173506"/>
              <a:gd name="connsiteY5" fmla="*/ 1430767 h 1828800"/>
              <a:gd name="connsiteX6" fmla="*/ 1656678 w 3173506"/>
              <a:gd name="connsiteY6" fmla="*/ 1323191 h 1828800"/>
              <a:gd name="connsiteX7" fmla="*/ 1688951 w 3173506"/>
              <a:gd name="connsiteY7" fmla="*/ 1828800 h 1828800"/>
              <a:gd name="connsiteX8" fmla="*/ 2431228 w 3173506"/>
              <a:gd name="connsiteY8" fmla="*/ 1699709 h 1828800"/>
              <a:gd name="connsiteX9" fmla="*/ 2248348 w 3173506"/>
              <a:gd name="connsiteY9" fmla="*/ 1140311 h 1828800"/>
              <a:gd name="connsiteX10" fmla="*/ 3173506 w 3173506"/>
              <a:gd name="connsiteY10" fmla="*/ 860612 h 1828800"/>
              <a:gd name="connsiteX11" fmla="*/ 3126074 w 3173506"/>
              <a:gd name="connsiteY11" fmla="*/ 695091 h 1828800"/>
              <a:gd name="connsiteX12" fmla="*/ 2994456 w 3173506"/>
              <a:gd name="connsiteY12" fmla="*/ 458667 h 1828800"/>
              <a:gd name="connsiteX0" fmla="*/ 3046452 w 3173506"/>
              <a:gd name="connsiteY0" fmla="*/ 278721 h 1828800"/>
              <a:gd name="connsiteX1" fmla="*/ 2893807 w 3173506"/>
              <a:gd name="connsiteY1" fmla="*/ 10758 h 1828800"/>
              <a:gd name="connsiteX2" fmla="*/ 839097 w 3173506"/>
              <a:gd name="connsiteY2" fmla="*/ 0 h 1828800"/>
              <a:gd name="connsiteX3" fmla="*/ 398033 w 3173506"/>
              <a:gd name="connsiteY3" fmla="*/ 279699 h 1828800"/>
              <a:gd name="connsiteX4" fmla="*/ 0 w 3173506"/>
              <a:gd name="connsiteY4" fmla="*/ 602429 h 1828800"/>
              <a:gd name="connsiteX5" fmla="*/ 1118795 w 3173506"/>
              <a:gd name="connsiteY5" fmla="*/ 1430767 h 1828800"/>
              <a:gd name="connsiteX6" fmla="*/ 1656678 w 3173506"/>
              <a:gd name="connsiteY6" fmla="*/ 1323191 h 1828800"/>
              <a:gd name="connsiteX7" fmla="*/ 1688951 w 3173506"/>
              <a:gd name="connsiteY7" fmla="*/ 1828800 h 1828800"/>
              <a:gd name="connsiteX8" fmla="*/ 2431228 w 3173506"/>
              <a:gd name="connsiteY8" fmla="*/ 1699709 h 1828800"/>
              <a:gd name="connsiteX9" fmla="*/ 2248348 w 3173506"/>
              <a:gd name="connsiteY9" fmla="*/ 1140311 h 1828800"/>
              <a:gd name="connsiteX10" fmla="*/ 3173506 w 3173506"/>
              <a:gd name="connsiteY10" fmla="*/ 860612 h 1828800"/>
              <a:gd name="connsiteX11" fmla="*/ 3015237 w 3173506"/>
              <a:gd name="connsiteY11" fmla="*/ 577328 h 1828800"/>
              <a:gd name="connsiteX12" fmla="*/ 2994456 w 3173506"/>
              <a:gd name="connsiteY12" fmla="*/ 458667 h 1828800"/>
              <a:gd name="connsiteX0" fmla="*/ 3046452 w 3173506"/>
              <a:gd name="connsiteY0" fmla="*/ 278721 h 1828800"/>
              <a:gd name="connsiteX1" fmla="*/ 2893807 w 3173506"/>
              <a:gd name="connsiteY1" fmla="*/ 10758 h 1828800"/>
              <a:gd name="connsiteX2" fmla="*/ 839097 w 3173506"/>
              <a:gd name="connsiteY2" fmla="*/ 0 h 1828800"/>
              <a:gd name="connsiteX3" fmla="*/ 398033 w 3173506"/>
              <a:gd name="connsiteY3" fmla="*/ 279699 h 1828800"/>
              <a:gd name="connsiteX4" fmla="*/ 0 w 3173506"/>
              <a:gd name="connsiteY4" fmla="*/ 602429 h 1828800"/>
              <a:gd name="connsiteX5" fmla="*/ 1118795 w 3173506"/>
              <a:gd name="connsiteY5" fmla="*/ 1430767 h 1828800"/>
              <a:gd name="connsiteX6" fmla="*/ 1795223 w 3173506"/>
              <a:gd name="connsiteY6" fmla="*/ 1156936 h 1828800"/>
              <a:gd name="connsiteX7" fmla="*/ 1688951 w 3173506"/>
              <a:gd name="connsiteY7" fmla="*/ 1828800 h 1828800"/>
              <a:gd name="connsiteX8" fmla="*/ 2431228 w 3173506"/>
              <a:gd name="connsiteY8" fmla="*/ 1699709 h 1828800"/>
              <a:gd name="connsiteX9" fmla="*/ 2248348 w 3173506"/>
              <a:gd name="connsiteY9" fmla="*/ 1140311 h 1828800"/>
              <a:gd name="connsiteX10" fmla="*/ 3173506 w 3173506"/>
              <a:gd name="connsiteY10" fmla="*/ 860612 h 1828800"/>
              <a:gd name="connsiteX11" fmla="*/ 3015237 w 3173506"/>
              <a:gd name="connsiteY11" fmla="*/ 577328 h 1828800"/>
              <a:gd name="connsiteX12" fmla="*/ 2994456 w 3173506"/>
              <a:gd name="connsiteY12" fmla="*/ 458667 h 1828800"/>
              <a:gd name="connsiteX0" fmla="*/ 3046452 w 3173506"/>
              <a:gd name="connsiteY0" fmla="*/ 278721 h 1828800"/>
              <a:gd name="connsiteX1" fmla="*/ 2893807 w 3173506"/>
              <a:gd name="connsiteY1" fmla="*/ 10758 h 1828800"/>
              <a:gd name="connsiteX2" fmla="*/ 839097 w 3173506"/>
              <a:gd name="connsiteY2" fmla="*/ 0 h 1828800"/>
              <a:gd name="connsiteX3" fmla="*/ 398033 w 3173506"/>
              <a:gd name="connsiteY3" fmla="*/ 279699 h 1828800"/>
              <a:gd name="connsiteX4" fmla="*/ 0 w 3173506"/>
              <a:gd name="connsiteY4" fmla="*/ 602429 h 1828800"/>
              <a:gd name="connsiteX5" fmla="*/ 1139576 w 3173506"/>
              <a:gd name="connsiteY5" fmla="*/ 1347640 h 1828800"/>
              <a:gd name="connsiteX6" fmla="*/ 1795223 w 3173506"/>
              <a:gd name="connsiteY6" fmla="*/ 1156936 h 1828800"/>
              <a:gd name="connsiteX7" fmla="*/ 1688951 w 3173506"/>
              <a:gd name="connsiteY7" fmla="*/ 1828800 h 1828800"/>
              <a:gd name="connsiteX8" fmla="*/ 2431228 w 3173506"/>
              <a:gd name="connsiteY8" fmla="*/ 1699709 h 1828800"/>
              <a:gd name="connsiteX9" fmla="*/ 2248348 w 3173506"/>
              <a:gd name="connsiteY9" fmla="*/ 1140311 h 1828800"/>
              <a:gd name="connsiteX10" fmla="*/ 3173506 w 3173506"/>
              <a:gd name="connsiteY10" fmla="*/ 860612 h 1828800"/>
              <a:gd name="connsiteX11" fmla="*/ 3015237 w 3173506"/>
              <a:gd name="connsiteY11" fmla="*/ 577328 h 1828800"/>
              <a:gd name="connsiteX12" fmla="*/ 2994456 w 3173506"/>
              <a:gd name="connsiteY12" fmla="*/ 458667 h 1828800"/>
              <a:gd name="connsiteX0" fmla="*/ 3046452 w 3173506"/>
              <a:gd name="connsiteY0" fmla="*/ 278721 h 1828800"/>
              <a:gd name="connsiteX1" fmla="*/ 2893807 w 3173506"/>
              <a:gd name="connsiteY1" fmla="*/ 10758 h 1828800"/>
              <a:gd name="connsiteX2" fmla="*/ 839097 w 3173506"/>
              <a:gd name="connsiteY2" fmla="*/ 0 h 1828800"/>
              <a:gd name="connsiteX3" fmla="*/ 398033 w 3173506"/>
              <a:gd name="connsiteY3" fmla="*/ 279699 h 1828800"/>
              <a:gd name="connsiteX4" fmla="*/ 0 w 3173506"/>
              <a:gd name="connsiteY4" fmla="*/ 602429 h 1828800"/>
              <a:gd name="connsiteX5" fmla="*/ 676509 w 3173506"/>
              <a:gd name="connsiteY5" fmla="*/ 1526037 h 1828800"/>
              <a:gd name="connsiteX6" fmla="*/ 1139576 w 3173506"/>
              <a:gd name="connsiteY6" fmla="*/ 1347640 h 1828800"/>
              <a:gd name="connsiteX7" fmla="*/ 1795223 w 3173506"/>
              <a:gd name="connsiteY7" fmla="*/ 1156936 h 1828800"/>
              <a:gd name="connsiteX8" fmla="*/ 1688951 w 3173506"/>
              <a:gd name="connsiteY8" fmla="*/ 1828800 h 1828800"/>
              <a:gd name="connsiteX9" fmla="*/ 2431228 w 3173506"/>
              <a:gd name="connsiteY9" fmla="*/ 1699709 h 1828800"/>
              <a:gd name="connsiteX10" fmla="*/ 2248348 w 3173506"/>
              <a:gd name="connsiteY10" fmla="*/ 1140311 h 1828800"/>
              <a:gd name="connsiteX11" fmla="*/ 3173506 w 3173506"/>
              <a:gd name="connsiteY11" fmla="*/ 860612 h 1828800"/>
              <a:gd name="connsiteX12" fmla="*/ 3015237 w 3173506"/>
              <a:gd name="connsiteY12" fmla="*/ 577328 h 1828800"/>
              <a:gd name="connsiteX13" fmla="*/ 2994456 w 3173506"/>
              <a:gd name="connsiteY13" fmla="*/ 458667 h 1828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3173506" h="1828800">
                <a:moveTo>
                  <a:pt x="3046452" y="278721"/>
                </a:moveTo>
                <a:lnTo>
                  <a:pt x="2893807" y="10758"/>
                </a:lnTo>
                <a:lnTo>
                  <a:pt x="839097" y="0"/>
                </a:lnTo>
                <a:lnTo>
                  <a:pt x="398033" y="279699"/>
                </a:lnTo>
                <a:lnTo>
                  <a:pt x="0" y="602429"/>
                </a:lnTo>
                <a:cubicBezTo>
                  <a:pt x="331721" y="815626"/>
                  <a:pt x="344788" y="1312840"/>
                  <a:pt x="676509" y="1526037"/>
                </a:cubicBezTo>
                <a:lnTo>
                  <a:pt x="1139576" y="1347640"/>
                </a:lnTo>
                <a:lnTo>
                  <a:pt x="1795223" y="1156936"/>
                </a:lnTo>
                <a:lnTo>
                  <a:pt x="1688951" y="1828800"/>
                </a:lnTo>
                <a:lnTo>
                  <a:pt x="2431228" y="1699709"/>
                </a:lnTo>
                <a:lnTo>
                  <a:pt x="2248348" y="1140311"/>
                </a:lnTo>
                <a:lnTo>
                  <a:pt x="3173506" y="860612"/>
                </a:lnTo>
                <a:lnTo>
                  <a:pt x="3015237" y="577328"/>
                </a:lnTo>
                <a:cubicBezTo>
                  <a:pt x="3015237" y="602429"/>
                  <a:pt x="2994456" y="433566"/>
                  <a:pt x="2994456" y="458667"/>
                </a:cubicBezTo>
              </a:path>
            </a:pathLst>
          </a:custGeom>
          <a:solidFill>
            <a:srgbClr val="FF9933">
              <a:alpha val="20000"/>
            </a:srgbClr>
          </a:solidFill>
          <a:ln>
            <a:solidFill>
              <a:srgbClr val="FF99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solidFill>
                <a:srgbClr val="FF9933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DA6B1F9-4E9B-44B5-D10E-B8B38306191F}"/>
              </a:ext>
            </a:extLst>
          </p:cNvPr>
          <p:cNvSpPr txBox="1"/>
          <p:nvPr userDrawn="1"/>
        </p:nvSpPr>
        <p:spPr>
          <a:xfrm>
            <a:off x="8453601" y="5048558"/>
            <a:ext cx="3435454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400">
                <a:solidFill>
                  <a:srgbClr val="FF9933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Preferred location for temp./swing space</a:t>
            </a:r>
          </a:p>
        </p:txBody>
      </p:sp>
    </p:spTree>
    <p:extLst>
      <p:ext uri="{BB962C8B-B14F-4D97-AF65-F5344CB8AC3E}">
        <p14:creationId xmlns:p14="http://schemas.microsoft.com/office/powerpoint/2010/main" val="26827973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wing Space Options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12CBBB9-5496-B88B-4C47-4C1E5AC25B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245" y="136251"/>
            <a:ext cx="11822596" cy="640080"/>
          </a:xfrm>
          <a:prstGeom prst="rect">
            <a:avLst/>
          </a:prstGeom>
        </p:spPr>
        <p:txBody>
          <a:bodyPr/>
          <a:lstStyle>
            <a:lvl1pPr>
              <a:defRPr sz="3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Swing Space Options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59259817-5086-45FA-A79F-69320F057E52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4253108378"/>
              </p:ext>
            </p:extLst>
          </p:nvPr>
        </p:nvGraphicFramePr>
        <p:xfrm>
          <a:off x="197313" y="1057656"/>
          <a:ext cx="11809528" cy="5240401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145867">
                  <a:extLst>
                    <a:ext uri="{9D8B030D-6E8A-4147-A177-3AD203B41FA5}">
                      <a16:colId xmlns:a16="http://schemas.microsoft.com/office/drawing/2014/main" val="1127336309"/>
                    </a:ext>
                  </a:extLst>
                </a:gridCol>
                <a:gridCol w="3382080">
                  <a:extLst>
                    <a:ext uri="{9D8B030D-6E8A-4147-A177-3AD203B41FA5}">
                      <a16:colId xmlns:a16="http://schemas.microsoft.com/office/drawing/2014/main" val="2130190107"/>
                    </a:ext>
                  </a:extLst>
                </a:gridCol>
                <a:gridCol w="1803876">
                  <a:extLst>
                    <a:ext uri="{9D8B030D-6E8A-4147-A177-3AD203B41FA5}">
                      <a16:colId xmlns:a16="http://schemas.microsoft.com/office/drawing/2014/main" val="1574853048"/>
                    </a:ext>
                  </a:extLst>
                </a:gridCol>
                <a:gridCol w="1941095">
                  <a:extLst>
                    <a:ext uri="{9D8B030D-6E8A-4147-A177-3AD203B41FA5}">
                      <a16:colId xmlns:a16="http://schemas.microsoft.com/office/drawing/2014/main" val="3982976788"/>
                    </a:ext>
                  </a:extLst>
                </a:gridCol>
                <a:gridCol w="1892968">
                  <a:extLst>
                    <a:ext uri="{9D8B030D-6E8A-4147-A177-3AD203B41FA5}">
                      <a16:colId xmlns:a16="http://schemas.microsoft.com/office/drawing/2014/main" val="2785697858"/>
                    </a:ext>
                  </a:extLst>
                </a:gridCol>
                <a:gridCol w="1026695">
                  <a:extLst>
                    <a:ext uri="{9D8B030D-6E8A-4147-A177-3AD203B41FA5}">
                      <a16:colId xmlns:a16="http://schemas.microsoft.com/office/drawing/2014/main" val="3254847244"/>
                    </a:ext>
                  </a:extLst>
                </a:gridCol>
                <a:gridCol w="616947">
                  <a:extLst>
                    <a:ext uri="{9D8B030D-6E8A-4147-A177-3AD203B41FA5}">
                      <a16:colId xmlns:a16="http://schemas.microsoft.com/office/drawing/2014/main" val="3444016622"/>
                    </a:ext>
                  </a:extLst>
                </a:gridCol>
              </a:tblGrid>
              <a:tr h="360909">
                <a:tc>
                  <a:txBody>
                    <a:bodyPr/>
                    <a:lstStyle/>
                    <a:p>
                      <a:r>
                        <a:rPr lang="en-US" sz="14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Space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Current Use/Occupant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Notes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Pros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Cons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Timing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Cost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4989254"/>
                  </a:ext>
                </a:extLst>
              </a:tr>
              <a:tr h="1219873"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$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75998798"/>
                  </a:ext>
                </a:extLst>
              </a:tr>
              <a:tr h="1219873"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$$$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8364650"/>
                  </a:ext>
                </a:extLst>
              </a:tr>
              <a:tr h="1219873"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$$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99690823"/>
                  </a:ext>
                </a:extLst>
              </a:tr>
              <a:tr h="1219873"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$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4329364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855264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wing Space Option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50C4F9-CB04-BC67-3737-F1C258A873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4244" y="746692"/>
            <a:ext cx="6370667" cy="5662257"/>
          </a:xfrm>
          <a:prstGeom prst="rect">
            <a:avLst/>
          </a:prstGeom>
        </p:spPr>
        <p:txBody>
          <a:bodyPr/>
          <a:lstStyle>
            <a:lvl1pPr>
              <a:defRPr sz="14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Add plans.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366F858-E4E4-ABA6-62C2-E6E9FD341783}"/>
              </a:ext>
            </a:extLst>
          </p:cNvPr>
          <p:cNvSpPr txBox="1"/>
          <p:nvPr userDrawn="1"/>
        </p:nvSpPr>
        <p:spPr>
          <a:xfrm>
            <a:off x="1062715" y="6448230"/>
            <a:ext cx="168019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i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Note: Plans not to scale.</a:t>
            </a:r>
          </a:p>
        </p:txBody>
      </p: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3CDA71AB-DA90-0570-1644-34C819841516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309109273"/>
              </p:ext>
            </p:extLst>
          </p:nvPr>
        </p:nvGraphicFramePr>
        <p:xfrm>
          <a:off x="6975554" y="859334"/>
          <a:ext cx="4490404" cy="2577917"/>
        </p:xfrm>
        <a:graphic>
          <a:graphicData uri="http://schemas.openxmlformats.org/drawingml/2006/table">
            <a:tbl>
              <a:tblPr firstRow="1" bandRow="1">
                <a:tableStyleId>{8A107856-5554-42FB-B03E-39F5DBC370BA}</a:tableStyleId>
              </a:tblPr>
              <a:tblGrid>
                <a:gridCol w="1281886">
                  <a:extLst>
                    <a:ext uri="{9D8B030D-6E8A-4147-A177-3AD203B41FA5}">
                      <a16:colId xmlns:a16="http://schemas.microsoft.com/office/drawing/2014/main" val="2093600359"/>
                    </a:ext>
                  </a:extLst>
                </a:gridCol>
                <a:gridCol w="3208518">
                  <a:extLst>
                    <a:ext uri="{9D8B030D-6E8A-4147-A177-3AD203B41FA5}">
                      <a16:colId xmlns:a16="http://schemas.microsoft.com/office/drawing/2014/main" val="4093901901"/>
                    </a:ext>
                  </a:extLst>
                </a:gridCol>
              </a:tblGrid>
              <a:tr h="471649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u="sng"/>
                        <a:t>Option 1</a:t>
                      </a:r>
                      <a:endParaRPr lang="en-US" sz="1400" b="1" u="sng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84126" marR="84126" marT="42063" marB="42063"/>
                </a:tc>
                <a:tc hMerge="1">
                  <a:txBody>
                    <a:bodyPr/>
                    <a:lstStyle/>
                    <a:p>
                      <a:endParaRPr lang="en-US" sz="1200" b="1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7529340"/>
                  </a:ext>
                </a:extLst>
              </a:tr>
              <a:tr h="581485">
                <a:tc>
                  <a:txBody>
                    <a:bodyPr/>
                    <a:lstStyle/>
                    <a:p>
                      <a:r>
                        <a:rPr lang="en-US" sz="1400" b="0"/>
                        <a:t>Displaced Programs</a:t>
                      </a:r>
                      <a:endParaRPr lang="en-US" sz="1400" b="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116297" marR="116297" marT="58148" marB="58148"/>
                </a:tc>
                <a:tc>
                  <a:txBody>
                    <a:bodyPr/>
                    <a:lstStyle/>
                    <a:p>
                      <a:endParaRPr lang="en-US" sz="1400" b="1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116297" marR="116297" marT="58148" marB="58148"/>
                </a:tc>
                <a:extLst>
                  <a:ext uri="{0D108BD9-81ED-4DB2-BD59-A6C34878D82A}">
                    <a16:rowId xmlns:a16="http://schemas.microsoft.com/office/drawing/2014/main" val="4211176980"/>
                  </a:ext>
                </a:extLst>
              </a:tr>
              <a:tr h="471649">
                <a:tc>
                  <a:txBody>
                    <a:bodyPr/>
                    <a:lstStyle/>
                    <a:p>
                      <a:r>
                        <a:rPr lang="en-US" sz="1400" b="0"/>
                        <a:t>Temp VC</a:t>
                      </a:r>
                      <a:endParaRPr lang="en-US" sz="1400" b="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116297" marR="116297" marT="58148" marB="58148"/>
                </a:tc>
                <a:tc>
                  <a:txBody>
                    <a:bodyPr/>
                    <a:lstStyle/>
                    <a:p>
                      <a:endParaRPr lang="en-US" sz="1400" b="1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116297" marR="116297" marT="58148" marB="58148"/>
                </a:tc>
                <a:extLst>
                  <a:ext uri="{0D108BD9-81ED-4DB2-BD59-A6C34878D82A}">
                    <a16:rowId xmlns:a16="http://schemas.microsoft.com/office/drawing/2014/main" val="2766328968"/>
                  </a:ext>
                </a:extLst>
              </a:tr>
              <a:tr h="581485">
                <a:tc>
                  <a:txBody>
                    <a:bodyPr/>
                    <a:lstStyle/>
                    <a:p>
                      <a:r>
                        <a:rPr lang="en-US" sz="1400" b="0"/>
                        <a:t>Enabling Moves</a:t>
                      </a:r>
                      <a:endParaRPr lang="en-US" sz="1400" b="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116297" marR="116297" marT="58148" marB="58148"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US" sz="1400" b="1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116297" marR="116297" marT="58148" marB="58148"/>
                </a:tc>
                <a:extLst>
                  <a:ext uri="{0D108BD9-81ED-4DB2-BD59-A6C34878D82A}">
                    <a16:rowId xmlns:a16="http://schemas.microsoft.com/office/drawing/2014/main" val="2481111490"/>
                  </a:ext>
                </a:extLst>
              </a:tr>
              <a:tr h="471649">
                <a:tc>
                  <a:txBody>
                    <a:bodyPr/>
                    <a:lstStyle/>
                    <a:p>
                      <a:r>
                        <a:rPr lang="en-US" sz="1400" b="0"/>
                        <a:t>Occupancy</a:t>
                      </a:r>
                      <a:endParaRPr lang="en-US" sz="1400" b="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116297" marR="116297" marT="58148" marB="58148"/>
                </a:tc>
                <a:tc>
                  <a:txBody>
                    <a:bodyPr/>
                    <a:lstStyle/>
                    <a:p>
                      <a:endParaRPr lang="en-US" sz="1400" b="1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116297" marR="116297" marT="58148" marB="58148"/>
                </a:tc>
                <a:extLst>
                  <a:ext uri="{0D108BD9-81ED-4DB2-BD59-A6C34878D82A}">
                    <a16:rowId xmlns:a16="http://schemas.microsoft.com/office/drawing/2014/main" val="3751787006"/>
                  </a:ext>
                </a:extLst>
              </a:tr>
            </a:tbl>
          </a:graphicData>
        </a:graphic>
      </p:graphicFrame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E4FC3D69-3EFC-034A-54B7-E634C42FAFB0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939464642"/>
              </p:ext>
            </p:extLst>
          </p:nvPr>
        </p:nvGraphicFramePr>
        <p:xfrm>
          <a:off x="6975554" y="3644888"/>
          <a:ext cx="4490404" cy="2577917"/>
        </p:xfrm>
        <a:graphic>
          <a:graphicData uri="http://schemas.openxmlformats.org/drawingml/2006/table">
            <a:tbl>
              <a:tblPr firstRow="1" bandRow="1">
                <a:tableStyleId>{8A107856-5554-42FB-B03E-39F5DBC370BA}</a:tableStyleId>
              </a:tblPr>
              <a:tblGrid>
                <a:gridCol w="1281886">
                  <a:extLst>
                    <a:ext uri="{9D8B030D-6E8A-4147-A177-3AD203B41FA5}">
                      <a16:colId xmlns:a16="http://schemas.microsoft.com/office/drawing/2014/main" val="2093600359"/>
                    </a:ext>
                  </a:extLst>
                </a:gridCol>
                <a:gridCol w="3208518">
                  <a:extLst>
                    <a:ext uri="{9D8B030D-6E8A-4147-A177-3AD203B41FA5}">
                      <a16:colId xmlns:a16="http://schemas.microsoft.com/office/drawing/2014/main" val="4093901901"/>
                    </a:ext>
                  </a:extLst>
                </a:gridCol>
              </a:tblGrid>
              <a:tr h="471649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u="sng"/>
                        <a:t>Option 2</a:t>
                      </a:r>
                      <a:endParaRPr lang="en-US" sz="1400" b="1" u="sng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84126" marR="84126" marT="42063" marB="42063"/>
                </a:tc>
                <a:tc hMerge="1">
                  <a:txBody>
                    <a:bodyPr/>
                    <a:lstStyle/>
                    <a:p>
                      <a:endParaRPr lang="en-US" sz="1200" b="1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7529340"/>
                  </a:ext>
                </a:extLst>
              </a:tr>
              <a:tr h="581485">
                <a:tc>
                  <a:txBody>
                    <a:bodyPr/>
                    <a:lstStyle/>
                    <a:p>
                      <a:r>
                        <a:rPr lang="en-US" sz="1400" b="0"/>
                        <a:t>Displaced Programs</a:t>
                      </a:r>
                      <a:endParaRPr lang="en-US" sz="1400" b="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116297" marR="116297" marT="58148" marB="58148"/>
                </a:tc>
                <a:tc>
                  <a:txBody>
                    <a:bodyPr/>
                    <a:lstStyle/>
                    <a:p>
                      <a:endParaRPr lang="en-US" sz="1400" b="1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116297" marR="116297" marT="58148" marB="58148"/>
                </a:tc>
                <a:extLst>
                  <a:ext uri="{0D108BD9-81ED-4DB2-BD59-A6C34878D82A}">
                    <a16:rowId xmlns:a16="http://schemas.microsoft.com/office/drawing/2014/main" val="4211176980"/>
                  </a:ext>
                </a:extLst>
              </a:tr>
              <a:tr h="471649">
                <a:tc>
                  <a:txBody>
                    <a:bodyPr/>
                    <a:lstStyle/>
                    <a:p>
                      <a:r>
                        <a:rPr lang="en-US" sz="1400" b="0"/>
                        <a:t>Temp VC</a:t>
                      </a:r>
                      <a:endParaRPr lang="en-US" sz="1400" b="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116297" marR="116297" marT="58148" marB="58148"/>
                </a:tc>
                <a:tc>
                  <a:txBody>
                    <a:bodyPr/>
                    <a:lstStyle/>
                    <a:p>
                      <a:endParaRPr lang="en-US" sz="1400" b="1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116297" marR="116297" marT="58148" marB="58148"/>
                </a:tc>
                <a:extLst>
                  <a:ext uri="{0D108BD9-81ED-4DB2-BD59-A6C34878D82A}">
                    <a16:rowId xmlns:a16="http://schemas.microsoft.com/office/drawing/2014/main" val="2766328968"/>
                  </a:ext>
                </a:extLst>
              </a:tr>
              <a:tr h="581485">
                <a:tc>
                  <a:txBody>
                    <a:bodyPr/>
                    <a:lstStyle/>
                    <a:p>
                      <a:r>
                        <a:rPr lang="en-US" sz="1400" b="0"/>
                        <a:t>Enabling Moves</a:t>
                      </a:r>
                      <a:endParaRPr lang="en-US" sz="1400" b="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116297" marR="116297" marT="58148" marB="58148"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US" sz="1400" b="1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116297" marR="116297" marT="58148" marB="58148"/>
                </a:tc>
                <a:extLst>
                  <a:ext uri="{0D108BD9-81ED-4DB2-BD59-A6C34878D82A}">
                    <a16:rowId xmlns:a16="http://schemas.microsoft.com/office/drawing/2014/main" val="2481111490"/>
                  </a:ext>
                </a:extLst>
              </a:tr>
              <a:tr h="471649">
                <a:tc>
                  <a:txBody>
                    <a:bodyPr/>
                    <a:lstStyle/>
                    <a:p>
                      <a:r>
                        <a:rPr lang="en-US" sz="1400" b="0"/>
                        <a:t>Occupancy</a:t>
                      </a:r>
                      <a:endParaRPr lang="en-US" sz="1400" b="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116297" marR="116297" marT="58148" marB="58148"/>
                </a:tc>
                <a:tc>
                  <a:txBody>
                    <a:bodyPr/>
                    <a:lstStyle/>
                    <a:p>
                      <a:endParaRPr lang="en-US" sz="1400" b="1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116297" marR="116297" marT="58148" marB="58148"/>
                </a:tc>
                <a:extLst>
                  <a:ext uri="{0D108BD9-81ED-4DB2-BD59-A6C34878D82A}">
                    <a16:rowId xmlns:a16="http://schemas.microsoft.com/office/drawing/2014/main" val="3751787006"/>
                  </a:ext>
                </a:extLst>
              </a:tr>
            </a:tbl>
          </a:graphicData>
        </a:graphic>
      </p:graphicFrame>
      <p:sp>
        <p:nvSpPr>
          <p:cNvPr id="18" name="Title 1">
            <a:extLst>
              <a:ext uri="{FF2B5EF4-FFF2-40B4-BE49-F238E27FC236}">
                <a16:creationId xmlns:a16="http://schemas.microsoft.com/office/drawing/2014/main" id="{467301E3-7C41-6244-A1D6-D60A29F4A4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245" y="136251"/>
            <a:ext cx="11822596" cy="640080"/>
          </a:xfrm>
          <a:prstGeom prst="rect">
            <a:avLst/>
          </a:prstGeom>
        </p:spPr>
        <p:txBody>
          <a:bodyPr/>
          <a:lstStyle>
            <a:lvl1pPr>
              <a:defRPr sz="3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Swing Space Options</a:t>
            </a:r>
          </a:p>
        </p:txBody>
      </p:sp>
    </p:spTree>
    <p:extLst>
      <p:ext uri="{BB962C8B-B14F-4D97-AF65-F5344CB8AC3E}">
        <p14:creationId xmlns:p14="http://schemas.microsoft.com/office/powerpoint/2010/main" val="23541117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wing Space Options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D1134FB-D539-3F26-99C9-8C65882426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245" y="136251"/>
            <a:ext cx="11822596" cy="640080"/>
          </a:xfrm>
          <a:prstGeom prst="rect">
            <a:avLst/>
          </a:prstGeom>
        </p:spPr>
        <p:txBody>
          <a:bodyPr/>
          <a:lstStyle>
            <a:lvl1pPr>
              <a:defRPr sz="3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Alternatives for Swing Space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F5FC200-23CC-1C2B-5ED1-05DD023622C4}"/>
              </a:ext>
            </a:extLst>
          </p:cNvPr>
          <p:cNvSpPr/>
          <p:nvPr userDrawn="1"/>
        </p:nvSpPr>
        <p:spPr>
          <a:xfrm>
            <a:off x="4269288" y="1875994"/>
            <a:ext cx="3863693" cy="314855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C4874A5-D447-258E-6D30-518816A93D30}"/>
              </a:ext>
            </a:extLst>
          </p:cNvPr>
          <p:cNvSpPr/>
          <p:nvPr userDrawn="1"/>
        </p:nvSpPr>
        <p:spPr>
          <a:xfrm>
            <a:off x="305452" y="1875994"/>
            <a:ext cx="3863693" cy="314855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889A128-B11A-2C97-F1AA-D6F96BBC0587}"/>
              </a:ext>
            </a:extLst>
          </p:cNvPr>
          <p:cNvSpPr/>
          <p:nvPr userDrawn="1"/>
        </p:nvSpPr>
        <p:spPr>
          <a:xfrm>
            <a:off x="8233124" y="1875994"/>
            <a:ext cx="3863693" cy="314855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D632195-1DC6-581A-BC5E-3EAE369B0E52}"/>
              </a:ext>
            </a:extLst>
          </p:cNvPr>
          <p:cNvSpPr txBox="1"/>
          <p:nvPr userDrawn="1"/>
        </p:nvSpPr>
        <p:spPr>
          <a:xfrm>
            <a:off x="305452" y="4617970"/>
            <a:ext cx="344915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Plan + Building Name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93873EF-BB8E-43B3-DEAC-1DC21EFB1B36}"/>
              </a:ext>
            </a:extLst>
          </p:cNvPr>
          <p:cNvSpPr txBox="1"/>
          <p:nvPr userDrawn="1"/>
        </p:nvSpPr>
        <p:spPr>
          <a:xfrm>
            <a:off x="4269288" y="4617970"/>
            <a:ext cx="344915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Plan + Building Name</a:t>
            </a:r>
          </a:p>
          <a:p>
            <a:endParaRPr lang="en-US" sz="160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946BE7D-2585-EB20-772A-5B2E9E3482F1}"/>
              </a:ext>
            </a:extLst>
          </p:cNvPr>
          <p:cNvSpPr txBox="1"/>
          <p:nvPr userDrawn="1"/>
        </p:nvSpPr>
        <p:spPr>
          <a:xfrm>
            <a:off x="8283479" y="4639074"/>
            <a:ext cx="34491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Plan + Building Name</a:t>
            </a:r>
          </a:p>
          <a:p>
            <a:endParaRPr lang="en-US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1E7DBDB2-A4B8-1073-6944-6BBBE72B2E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4244" y="851805"/>
            <a:ext cx="11822596" cy="948715"/>
          </a:xfrm>
          <a:prstGeom prst="rect">
            <a:avLst/>
          </a:prstGeom>
        </p:spPr>
        <p:txBody>
          <a:bodyPr/>
          <a:lstStyle>
            <a:lvl1pPr>
              <a:defRPr sz="20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>
                <a:sym typeface="Wingdings" panose="05000000000000000000" pitchFamily="2" charset="2"/>
              </a:rPr>
              <a:t>alternatives considered for swing space – limited by program requirements, location and proximity to parking, fixture counts, accessibility, and general building aesthetic</a:t>
            </a:r>
          </a:p>
        </p:txBody>
      </p:sp>
    </p:spTree>
    <p:extLst>
      <p:ext uri="{BB962C8B-B14F-4D97-AF65-F5344CB8AC3E}">
        <p14:creationId xmlns:p14="http://schemas.microsoft.com/office/powerpoint/2010/main" val="27556876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wing Space Options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A85A96E2-A504-4CCC-EF06-43988DF9D0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245" y="182880"/>
            <a:ext cx="11822596" cy="498122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3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Building Option 1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8F7FCE-93E5-5484-B90A-2B6CDAEF941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84244" y="731520"/>
            <a:ext cx="11822596" cy="391397"/>
          </a:xfrm>
          <a:prstGeom prst="rect">
            <a:avLst/>
          </a:prstGeom>
        </p:spPr>
        <p:txBody>
          <a:bodyPr/>
          <a:lstStyle>
            <a:lvl1pPr>
              <a:defRPr sz="20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Room Name</a:t>
            </a:r>
          </a:p>
        </p:txBody>
      </p:sp>
      <p:sp>
        <p:nvSpPr>
          <p:cNvPr id="14" name="Content Placeholder 1">
            <a:extLst>
              <a:ext uri="{FF2B5EF4-FFF2-40B4-BE49-F238E27FC236}">
                <a16:creationId xmlns:a16="http://schemas.microsoft.com/office/drawing/2014/main" id="{F4F244A4-284F-04BC-F413-A3A6C44F5E34}"/>
              </a:ext>
            </a:extLst>
          </p:cNvPr>
          <p:cNvSpPr txBox="1">
            <a:spLocks/>
          </p:cNvSpPr>
          <p:nvPr userDrawn="1"/>
        </p:nvSpPr>
        <p:spPr>
          <a:xfrm>
            <a:off x="184245" y="1188720"/>
            <a:ext cx="5722780" cy="522022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Lato" panose="020F0502020204030203" pitchFamily="34" charset="0"/>
              <a:buChar char="»"/>
              <a:defRPr sz="20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Lato" panose="020F0502020204030203" pitchFamily="34" charset="0"/>
              <a:buChar char="»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Lato" panose="020F0502020204030203" pitchFamily="34" charset="0"/>
              <a:buChar char="»"/>
              <a:defRPr sz="16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Summary of room type</a:t>
            </a:r>
          </a:p>
          <a:p>
            <a:r>
              <a:rPr lang="en-US" sz="1600" b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Pros:</a:t>
            </a:r>
          </a:p>
          <a:p>
            <a:pPr lvl="1">
              <a:buFont typeface="Courier New" panose="02070309020205020404" pitchFamily="49" charset="0"/>
              <a:buChar char="o"/>
            </a:pPr>
            <a:endParaRPr lang="en-US" sz="160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r>
              <a:rPr lang="en-US" sz="1600" b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Cons:</a:t>
            </a:r>
          </a:p>
          <a:p>
            <a:pPr lvl="1"/>
            <a:endParaRPr lang="en-US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D2958FB9-3F6C-399B-9CEB-F7D116243A31}"/>
              </a:ext>
            </a:extLst>
          </p:cNvPr>
          <p:cNvSpPr/>
          <p:nvPr userDrawn="1"/>
        </p:nvSpPr>
        <p:spPr>
          <a:xfrm>
            <a:off x="9574056" y="5491216"/>
            <a:ext cx="1999042" cy="925157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Total Square Footage: </a:t>
            </a:r>
            <a:r>
              <a:rPr lang="en-US" sz="1400" b="1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SF</a:t>
            </a:r>
            <a:endParaRPr lang="en-US" sz="1400" b="1">
              <a:solidFill>
                <a:schemeClr val="accent3">
                  <a:lumMod val="75000"/>
                </a:schemeClr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0287F05-5293-A70D-331A-62734F26A950}"/>
              </a:ext>
            </a:extLst>
          </p:cNvPr>
          <p:cNvSpPr txBox="1"/>
          <p:nvPr userDrawn="1"/>
        </p:nvSpPr>
        <p:spPr>
          <a:xfrm>
            <a:off x="6332180" y="3833503"/>
            <a:ext cx="118702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>
                <a:solidFill>
                  <a:srgbClr val="7897C3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Plan Callout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76077F1-DDC1-D821-FD24-1E993920C494}"/>
              </a:ext>
            </a:extLst>
          </p:cNvPr>
          <p:cNvSpPr txBox="1"/>
          <p:nvPr userDrawn="1"/>
        </p:nvSpPr>
        <p:spPr>
          <a:xfrm>
            <a:off x="6088670" y="4051584"/>
            <a:ext cx="1346885" cy="2616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1100">
                <a:solidFill>
                  <a:srgbClr val="FF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Notes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FA6AAB52-84D9-F79A-76AB-6DCB37B23CED}"/>
              </a:ext>
            </a:extLst>
          </p:cNvPr>
          <p:cNvCxnSpPr>
            <a:cxnSpLocks/>
          </p:cNvCxnSpPr>
          <p:nvPr userDrawn="1"/>
        </p:nvCxnSpPr>
        <p:spPr>
          <a:xfrm flipH="1">
            <a:off x="6336321" y="3818695"/>
            <a:ext cx="1077975" cy="0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D1CCA9AE-7AF1-A2E4-674D-DBEC3E7B36D2}"/>
              </a:ext>
            </a:extLst>
          </p:cNvPr>
          <p:cNvSpPr txBox="1"/>
          <p:nvPr userDrawn="1"/>
        </p:nvSpPr>
        <p:spPr>
          <a:xfrm>
            <a:off x="7284378" y="795235"/>
            <a:ext cx="4288720" cy="423649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l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46492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meline Year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2" name="Group 81">
            <a:extLst>
              <a:ext uri="{FF2B5EF4-FFF2-40B4-BE49-F238E27FC236}">
                <a16:creationId xmlns:a16="http://schemas.microsoft.com/office/drawing/2014/main" id="{B4505026-60E6-EF76-0645-8064DD9932F2}"/>
              </a:ext>
            </a:extLst>
          </p:cNvPr>
          <p:cNvGrpSpPr/>
          <p:nvPr userDrawn="1"/>
        </p:nvGrpSpPr>
        <p:grpSpPr>
          <a:xfrm>
            <a:off x="387302" y="1098572"/>
            <a:ext cx="3896420" cy="5280111"/>
            <a:chOff x="0" y="938639"/>
            <a:chExt cx="12186428" cy="5919361"/>
          </a:xfrm>
        </p:grpSpPr>
        <p:sp>
          <p:nvSpPr>
            <p:cNvPr id="83" name="Rectangle 82">
              <a:extLst>
                <a:ext uri="{FF2B5EF4-FFF2-40B4-BE49-F238E27FC236}">
                  <a16:creationId xmlns:a16="http://schemas.microsoft.com/office/drawing/2014/main" id="{BBA00E45-2DA0-289A-133F-F0301468E718}"/>
                </a:ext>
              </a:extLst>
            </p:cNvPr>
            <p:cNvSpPr/>
            <p:nvPr/>
          </p:nvSpPr>
          <p:spPr>
            <a:xfrm>
              <a:off x="0" y="938639"/>
              <a:ext cx="956323" cy="5919356"/>
            </a:xfrm>
            <a:prstGeom prst="rect">
              <a:avLst/>
            </a:prstGeom>
            <a:solidFill>
              <a:srgbClr val="E6E6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  <p:sp>
          <p:nvSpPr>
            <p:cNvPr id="84" name="Rectangle 83">
              <a:extLst>
                <a:ext uri="{FF2B5EF4-FFF2-40B4-BE49-F238E27FC236}">
                  <a16:creationId xmlns:a16="http://schemas.microsoft.com/office/drawing/2014/main" id="{5EEA6988-ECD7-2DD3-2737-D2D9896943ED}"/>
                </a:ext>
              </a:extLst>
            </p:cNvPr>
            <p:cNvSpPr/>
            <p:nvPr/>
          </p:nvSpPr>
          <p:spPr>
            <a:xfrm>
              <a:off x="960843" y="938642"/>
              <a:ext cx="1018926" cy="591935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  <p:sp>
          <p:nvSpPr>
            <p:cNvPr id="85" name="Rectangle 84">
              <a:extLst>
                <a:ext uri="{FF2B5EF4-FFF2-40B4-BE49-F238E27FC236}">
                  <a16:creationId xmlns:a16="http://schemas.microsoft.com/office/drawing/2014/main" id="{9F54A44D-69ED-668D-F9D9-2838C518E108}"/>
                </a:ext>
              </a:extLst>
            </p:cNvPr>
            <p:cNvSpPr/>
            <p:nvPr/>
          </p:nvSpPr>
          <p:spPr>
            <a:xfrm>
              <a:off x="1992656" y="938642"/>
              <a:ext cx="1018926" cy="5919356"/>
            </a:xfrm>
            <a:prstGeom prst="rect">
              <a:avLst/>
            </a:prstGeom>
            <a:solidFill>
              <a:srgbClr val="E6E6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  <p:sp>
          <p:nvSpPr>
            <p:cNvPr id="86" name="Rectangle 85">
              <a:extLst>
                <a:ext uri="{FF2B5EF4-FFF2-40B4-BE49-F238E27FC236}">
                  <a16:creationId xmlns:a16="http://schemas.microsoft.com/office/drawing/2014/main" id="{6B6F582F-BEA1-C372-496E-8B146E84FB0B}"/>
                </a:ext>
              </a:extLst>
            </p:cNvPr>
            <p:cNvSpPr/>
            <p:nvPr/>
          </p:nvSpPr>
          <p:spPr>
            <a:xfrm>
              <a:off x="3011582" y="938641"/>
              <a:ext cx="1018926" cy="591935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  <p:sp>
          <p:nvSpPr>
            <p:cNvPr id="87" name="Rectangle 86">
              <a:extLst>
                <a:ext uri="{FF2B5EF4-FFF2-40B4-BE49-F238E27FC236}">
                  <a16:creationId xmlns:a16="http://schemas.microsoft.com/office/drawing/2014/main" id="{CCE5CD95-AE87-BC54-143C-C6EBF7793087}"/>
                </a:ext>
              </a:extLst>
            </p:cNvPr>
            <p:cNvSpPr/>
            <p:nvPr/>
          </p:nvSpPr>
          <p:spPr>
            <a:xfrm>
              <a:off x="4030508" y="938644"/>
              <a:ext cx="1018926" cy="5919356"/>
            </a:xfrm>
            <a:prstGeom prst="rect">
              <a:avLst/>
            </a:prstGeom>
            <a:solidFill>
              <a:srgbClr val="E6E6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CD51EAB0-3E81-9227-9B2B-325BB24F4A56}"/>
                </a:ext>
              </a:extLst>
            </p:cNvPr>
            <p:cNvSpPr/>
            <p:nvPr/>
          </p:nvSpPr>
          <p:spPr>
            <a:xfrm>
              <a:off x="5049434" y="938643"/>
              <a:ext cx="1018926" cy="591935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  <p:sp>
          <p:nvSpPr>
            <p:cNvPr id="89" name="Rectangle 88">
              <a:extLst>
                <a:ext uri="{FF2B5EF4-FFF2-40B4-BE49-F238E27FC236}">
                  <a16:creationId xmlns:a16="http://schemas.microsoft.com/office/drawing/2014/main" id="{98A3796B-7DF9-DA0C-95CF-8ECC2DF6790E}"/>
                </a:ext>
              </a:extLst>
            </p:cNvPr>
            <p:cNvSpPr/>
            <p:nvPr/>
          </p:nvSpPr>
          <p:spPr>
            <a:xfrm>
              <a:off x="6068359" y="938642"/>
              <a:ext cx="1018926" cy="5919356"/>
            </a:xfrm>
            <a:prstGeom prst="rect">
              <a:avLst/>
            </a:prstGeom>
            <a:solidFill>
              <a:srgbClr val="E6E6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  <p:sp>
          <p:nvSpPr>
            <p:cNvPr id="90" name="Rectangle 89">
              <a:extLst>
                <a:ext uri="{FF2B5EF4-FFF2-40B4-BE49-F238E27FC236}">
                  <a16:creationId xmlns:a16="http://schemas.microsoft.com/office/drawing/2014/main" id="{81010DFA-D9D3-03A6-44C0-CDBAC833496E}"/>
                </a:ext>
              </a:extLst>
            </p:cNvPr>
            <p:cNvSpPr/>
            <p:nvPr/>
          </p:nvSpPr>
          <p:spPr>
            <a:xfrm>
              <a:off x="7087286" y="938641"/>
              <a:ext cx="1018926" cy="591935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  <p:sp>
          <p:nvSpPr>
            <p:cNvPr id="91" name="Rectangle 90">
              <a:extLst>
                <a:ext uri="{FF2B5EF4-FFF2-40B4-BE49-F238E27FC236}">
                  <a16:creationId xmlns:a16="http://schemas.microsoft.com/office/drawing/2014/main" id="{D18F08B6-1B11-31E7-2A9D-6F66460F64B5}"/>
                </a:ext>
              </a:extLst>
            </p:cNvPr>
            <p:cNvSpPr/>
            <p:nvPr/>
          </p:nvSpPr>
          <p:spPr>
            <a:xfrm>
              <a:off x="8106211" y="938641"/>
              <a:ext cx="1018926" cy="5919356"/>
            </a:xfrm>
            <a:prstGeom prst="rect">
              <a:avLst/>
            </a:prstGeom>
            <a:solidFill>
              <a:srgbClr val="E6E6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  <p:sp>
          <p:nvSpPr>
            <p:cNvPr id="92" name="Rectangle 91">
              <a:extLst>
                <a:ext uri="{FF2B5EF4-FFF2-40B4-BE49-F238E27FC236}">
                  <a16:creationId xmlns:a16="http://schemas.microsoft.com/office/drawing/2014/main" id="{AE5CCF37-E188-BE55-AFB6-DB1EAC174F8F}"/>
                </a:ext>
              </a:extLst>
            </p:cNvPr>
            <p:cNvSpPr/>
            <p:nvPr/>
          </p:nvSpPr>
          <p:spPr>
            <a:xfrm>
              <a:off x="9125138" y="938640"/>
              <a:ext cx="1018926" cy="591935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  <p:sp>
          <p:nvSpPr>
            <p:cNvPr id="93" name="Rectangle 92">
              <a:extLst>
                <a:ext uri="{FF2B5EF4-FFF2-40B4-BE49-F238E27FC236}">
                  <a16:creationId xmlns:a16="http://schemas.microsoft.com/office/drawing/2014/main" id="{12455811-2166-9C99-9597-9541D871B2B9}"/>
                </a:ext>
              </a:extLst>
            </p:cNvPr>
            <p:cNvSpPr/>
            <p:nvPr/>
          </p:nvSpPr>
          <p:spPr>
            <a:xfrm>
              <a:off x="10148574" y="938641"/>
              <a:ext cx="1018925" cy="5919356"/>
            </a:xfrm>
            <a:prstGeom prst="rect">
              <a:avLst/>
            </a:prstGeom>
            <a:solidFill>
              <a:srgbClr val="E6E6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  <p:sp>
          <p:nvSpPr>
            <p:cNvPr id="94" name="Rectangle 93">
              <a:extLst>
                <a:ext uri="{FF2B5EF4-FFF2-40B4-BE49-F238E27FC236}">
                  <a16:creationId xmlns:a16="http://schemas.microsoft.com/office/drawing/2014/main" id="{05D12E5F-D71B-BD22-67AC-B26E965FD3A5}"/>
                </a:ext>
              </a:extLst>
            </p:cNvPr>
            <p:cNvSpPr/>
            <p:nvPr/>
          </p:nvSpPr>
          <p:spPr>
            <a:xfrm>
              <a:off x="11167503" y="938640"/>
              <a:ext cx="1018925" cy="591935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</p:grpSp>
      <p:grpSp>
        <p:nvGrpSpPr>
          <p:cNvPr id="95" name="Group 94">
            <a:extLst>
              <a:ext uri="{FF2B5EF4-FFF2-40B4-BE49-F238E27FC236}">
                <a16:creationId xmlns:a16="http://schemas.microsoft.com/office/drawing/2014/main" id="{7517F557-3651-8F43-D99C-EB41FB69B4AC}"/>
              </a:ext>
            </a:extLst>
          </p:cNvPr>
          <p:cNvGrpSpPr/>
          <p:nvPr userDrawn="1"/>
        </p:nvGrpSpPr>
        <p:grpSpPr>
          <a:xfrm>
            <a:off x="4266278" y="1098572"/>
            <a:ext cx="3871020" cy="5280111"/>
            <a:chOff x="0" y="938639"/>
            <a:chExt cx="12106988" cy="5919361"/>
          </a:xfrm>
        </p:grpSpPr>
        <p:sp>
          <p:nvSpPr>
            <p:cNvPr id="96" name="Rectangle 95">
              <a:extLst>
                <a:ext uri="{FF2B5EF4-FFF2-40B4-BE49-F238E27FC236}">
                  <a16:creationId xmlns:a16="http://schemas.microsoft.com/office/drawing/2014/main" id="{C368F6D9-467C-5969-B000-E2E882702729}"/>
                </a:ext>
              </a:extLst>
            </p:cNvPr>
            <p:cNvSpPr/>
            <p:nvPr/>
          </p:nvSpPr>
          <p:spPr>
            <a:xfrm>
              <a:off x="0" y="938639"/>
              <a:ext cx="956323" cy="5919356"/>
            </a:xfrm>
            <a:prstGeom prst="rect">
              <a:avLst/>
            </a:prstGeom>
            <a:solidFill>
              <a:srgbClr val="E6E6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  <p:sp>
          <p:nvSpPr>
            <p:cNvPr id="97" name="Rectangle 96">
              <a:extLst>
                <a:ext uri="{FF2B5EF4-FFF2-40B4-BE49-F238E27FC236}">
                  <a16:creationId xmlns:a16="http://schemas.microsoft.com/office/drawing/2014/main" id="{7C1170DD-E2A7-B5EA-F80A-488F4717C7A5}"/>
                </a:ext>
              </a:extLst>
            </p:cNvPr>
            <p:cNvSpPr/>
            <p:nvPr/>
          </p:nvSpPr>
          <p:spPr>
            <a:xfrm>
              <a:off x="921124" y="938642"/>
              <a:ext cx="1018927" cy="591935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  <p:sp>
          <p:nvSpPr>
            <p:cNvPr id="98" name="Rectangle 97">
              <a:extLst>
                <a:ext uri="{FF2B5EF4-FFF2-40B4-BE49-F238E27FC236}">
                  <a16:creationId xmlns:a16="http://schemas.microsoft.com/office/drawing/2014/main" id="{8CCE93C2-2817-63A7-AE67-041C4EE30D8E}"/>
                </a:ext>
              </a:extLst>
            </p:cNvPr>
            <p:cNvSpPr/>
            <p:nvPr/>
          </p:nvSpPr>
          <p:spPr>
            <a:xfrm>
              <a:off x="1913216" y="938642"/>
              <a:ext cx="1018927" cy="5919356"/>
            </a:xfrm>
            <a:prstGeom prst="rect">
              <a:avLst/>
            </a:prstGeom>
            <a:solidFill>
              <a:srgbClr val="E6E6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  <p:sp>
          <p:nvSpPr>
            <p:cNvPr id="99" name="Rectangle 98">
              <a:extLst>
                <a:ext uri="{FF2B5EF4-FFF2-40B4-BE49-F238E27FC236}">
                  <a16:creationId xmlns:a16="http://schemas.microsoft.com/office/drawing/2014/main" id="{99F0467A-7EC9-DAEE-23E7-8078393A929A}"/>
                </a:ext>
              </a:extLst>
            </p:cNvPr>
            <p:cNvSpPr/>
            <p:nvPr/>
          </p:nvSpPr>
          <p:spPr>
            <a:xfrm>
              <a:off x="2932140" y="938641"/>
              <a:ext cx="1018927" cy="591935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  <p:sp>
          <p:nvSpPr>
            <p:cNvPr id="100" name="Rectangle 99">
              <a:extLst>
                <a:ext uri="{FF2B5EF4-FFF2-40B4-BE49-F238E27FC236}">
                  <a16:creationId xmlns:a16="http://schemas.microsoft.com/office/drawing/2014/main" id="{997E2A05-6636-23DE-5E18-9AB3FF5AA02E}"/>
                </a:ext>
              </a:extLst>
            </p:cNvPr>
            <p:cNvSpPr/>
            <p:nvPr/>
          </p:nvSpPr>
          <p:spPr>
            <a:xfrm>
              <a:off x="3951067" y="938644"/>
              <a:ext cx="1018927" cy="5919356"/>
            </a:xfrm>
            <a:prstGeom prst="rect">
              <a:avLst/>
            </a:prstGeom>
            <a:solidFill>
              <a:srgbClr val="E6E6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  <p:sp>
          <p:nvSpPr>
            <p:cNvPr id="101" name="Rectangle 100">
              <a:extLst>
                <a:ext uri="{FF2B5EF4-FFF2-40B4-BE49-F238E27FC236}">
                  <a16:creationId xmlns:a16="http://schemas.microsoft.com/office/drawing/2014/main" id="{621882E2-34A2-E934-1B0E-7DF1D6A947E5}"/>
                </a:ext>
              </a:extLst>
            </p:cNvPr>
            <p:cNvSpPr/>
            <p:nvPr/>
          </p:nvSpPr>
          <p:spPr>
            <a:xfrm>
              <a:off x="4969994" y="938643"/>
              <a:ext cx="1018927" cy="591935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  <p:sp>
          <p:nvSpPr>
            <p:cNvPr id="102" name="Rectangle 101">
              <a:extLst>
                <a:ext uri="{FF2B5EF4-FFF2-40B4-BE49-F238E27FC236}">
                  <a16:creationId xmlns:a16="http://schemas.microsoft.com/office/drawing/2014/main" id="{33DA5F31-3532-AA4D-BB94-B30234C430C8}"/>
                </a:ext>
              </a:extLst>
            </p:cNvPr>
            <p:cNvSpPr/>
            <p:nvPr/>
          </p:nvSpPr>
          <p:spPr>
            <a:xfrm>
              <a:off x="5988918" y="938642"/>
              <a:ext cx="1018927" cy="5919356"/>
            </a:xfrm>
            <a:prstGeom prst="rect">
              <a:avLst/>
            </a:prstGeom>
            <a:solidFill>
              <a:srgbClr val="E6E6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  <p:sp>
          <p:nvSpPr>
            <p:cNvPr id="103" name="Rectangle 102">
              <a:extLst>
                <a:ext uri="{FF2B5EF4-FFF2-40B4-BE49-F238E27FC236}">
                  <a16:creationId xmlns:a16="http://schemas.microsoft.com/office/drawing/2014/main" id="{230545F5-4C55-5E55-A191-04232F441DDB}"/>
                </a:ext>
              </a:extLst>
            </p:cNvPr>
            <p:cNvSpPr/>
            <p:nvPr/>
          </p:nvSpPr>
          <p:spPr>
            <a:xfrm>
              <a:off x="7007845" y="938641"/>
              <a:ext cx="1018927" cy="591935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  <p:sp>
          <p:nvSpPr>
            <p:cNvPr id="104" name="Rectangle 103">
              <a:extLst>
                <a:ext uri="{FF2B5EF4-FFF2-40B4-BE49-F238E27FC236}">
                  <a16:creationId xmlns:a16="http://schemas.microsoft.com/office/drawing/2014/main" id="{CD5C22BD-8D03-E684-F300-A21C1C3BD87A}"/>
                </a:ext>
              </a:extLst>
            </p:cNvPr>
            <p:cNvSpPr/>
            <p:nvPr/>
          </p:nvSpPr>
          <p:spPr>
            <a:xfrm>
              <a:off x="8026769" y="938641"/>
              <a:ext cx="1018927" cy="5919356"/>
            </a:xfrm>
            <a:prstGeom prst="rect">
              <a:avLst/>
            </a:prstGeom>
            <a:solidFill>
              <a:srgbClr val="E6E6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  <p:sp>
          <p:nvSpPr>
            <p:cNvPr id="105" name="Rectangle 104">
              <a:extLst>
                <a:ext uri="{FF2B5EF4-FFF2-40B4-BE49-F238E27FC236}">
                  <a16:creationId xmlns:a16="http://schemas.microsoft.com/office/drawing/2014/main" id="{E69A502F-DF19-A78D-4383-954696ECB244}"/>
                </a:ext>
              </a:extLst>
            </p:cNvPr>
            <p:cNvSpPr/>
            <p:nvPr/>
          </p:nvSpPr>
          <p:spPr>
            <a:xfrm>
              <a:off x="9045696" y="938640"/>
              <a:ext cx="1018927" cy="591935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  <p:sp>
          <p:nvSpPr>
            <p:cNvPr id="106" name="Rectangle 105">
              <a:extLst>
                <a:ext uri="{FF2B5EF4-FFF2-40B4-BE49-F238E27FC236}">
                  <a16:creationId xmlns:a16="http://schemas.microsoft.com/office/drawing/2014/main" id="{44157D8E-EDED-74C7-AE01-9F2EE3F1F5FA}"/>
                </a:ext>
              </a:extLst>
            </p:cNvPr>
            <p:cNvSpPr/>
            <p:nvPr/>
          </p:nvSpPr>
          <p:spPr>
            <a:xfrm>
              <a:off x="10069133" y="938641"/>
              <a:ext cx="1018924" cy="5919356"/>
            </a:xfrm>
            <a:prstGeom prst="rect">
              <a:avLst/>
            </a:prstGeom>
            <a:solidFill>
              <a:srgbClr val="E6E6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  <p:sp>
          <p:nvSpPr>
            <p:cNvPr id="107" name="Rectangle 106">
              <a:extLst>
                <a:ext uri="{FF2B5EF4-FFF2-40B4-BE49-F238E27FC236}">
                  <a16:creationId xmlns:a16="http://schemas.microsoft.com/office/drawing/2014/main" id="{247A2464-74B0-AFB9-916C-834D45395DF8}"/>
                </a:ext>
              </a:extLst>
            </p:cNvPr>
            <p:cNvSpPr/>
            <p:nvPr/>
          </p:nvSpPr>
          <p:spPr>
            <a:xfrm>
              <a:off x="11088064" y="938640"/>
              <a:ext cx="1018924" cy="591935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</p:grpSp>
      <p:grpSp>
        <p:nvGrpSpPr>
          <p:cNvPr id="108" name="Group 107">
            <a:extLst>
              <a:ext uri="{FF2B5EF4-FFF2-40B4-BE49-F238E27FC236}">
                <a16:creationId xmlns:a16="http://schemas.microsoft.com/office/drawing/2014/main" id="{2960F28E-84A0-5147-FBAE-3E1BC60F7697}"/>
              </a:ext>
            </a:extLst>
          </p:cNvPr>
          <p:cNvGrpSpPr/>
          <p:nvPr userDrawn="1"/>
        </p:nvGrpSpPr>
        <p:grpSpPr>
          <a:xfrm>
            <a:off x="8135854" y="1098572"/>
            <a:ext cx="3871020" cy="5280111"/>
            <a:chOff x="0" y="938639"/>
            <a:chExt cx="12106988" cy="5919361"/>
          </a:xfrm>
        </p:grpSpPr>
        <p:sp>
          <p:nvSpPr>
            <p:cNvPr id="109" name="Rectangle 108">
              <a:extLst>
                <a:ext uri="{FF2B5EF4-FFF2-40B4-BE49-F238E27FC236}">
                  <a16:creationId xmlns:a16="http://schemas.microsoft.com/office/drawing/2014/main" id="{14BCCACA-1FB4-2403-6144-E3EC423668C5}"/>
                </a:ext>
              </a:extLst>
            </p:cNvPr>
            <p:cNvSpPr/>
            <p:nvPr/>
          </p:nvSpPr>
          <p:spPr>
            <a:xfrm>
              <a:off x="0" y="938639"/>
              <a:ext cx="956323" cy="5919356"/>
            </a:xfrm>
            <a:prstGeom prst="rect">
              <a:avLst/>
            </a:prstGeom>
            <a:solidFill>
              <a:srgbClr val="E6E6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  <p:sp>
          <p:nvSpPr>
            <p:cNvPr id="110" name="Rectangle 109">
              <a:extLst>
                <a:ext uri="{FF2B5EF4-FFF2-40B4-BE49-F238E27FC236}">
                  <a16:creationId xmlns:a16="http://schemas.microsoft.com/office/drawing/2014/main" id="{4AA627AE-70BD-1E8F-7D89-986023BA3965}"/>
                </a:ext>
              </a:extLst>
            </p:cNvPr>
            <p:cNvSpPr/>
            <p:nvPr/>
          </p:nvSpPr>
          <p:spPr>
            <a:xfrm>
              <a:off x="921124" y="938642"/>
              <a:ext cx="1018927" cy="591935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  <p:sp>
          <p:nvSpPr>
            <p:cNvPr id="111" name="Rectangle 110">
              <a:extLst>
                <a:ext uri="{FF2B5EF4-FFF2-40B4-BE49-F238E27FC236}">
                  <a16:creationId xmlns:a16="http://schemas.microsoft.com/office/drawing/2014/main" id="{79DB50C0-63E2-E9B0-F340-0AD1A0E16A81}"/>
                </a:ext>
              </a:extLst>
            </p:cNvPr>
            <p:cNvSpPr/>
            <p:nvPr/>
          </p:nvSpPr>
          <p:spPr>
            <a:xfrm>
              <a:off x="1913216" y="938642"/>
              <a:ext cx="1018927" cy="5919356"/>
            </a:xfrm>
            <a:prstGeom prst="rect">
              <a:avLst/>
            </a:prstGeom>
            <a:solidFill>
              <a:srgbClr val="E6E6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  <p:sp>
          <p:nvSpPr>
            <p:cNvPr id="112" name="Rectangle 111">
              <a:extLst>
                <a:ext uri="{FF2B5EF4-FFF2-40B4-BE49-F238E27FC236}">
                  <a16:creationId xmlns:a16="http://schemas.microsoft.com/office/drawing/2014/main" id="{94F40122-2AF9-250C-94DB-3BBD7346F823}"/>
                </a:ext>
              </a:extLst>
            </p:cNvPr>
            <p:cNvSpPr/>
            <p:nvPr/>
          </p:nvSpPr>
          <p:spPr>
            <a:xfrm>
              <a:off x="2932140" y="938641"/>
              <a:ext cx="1018927" cy="591935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  <p:sp>
          <p:nvSpPr>
            <p:cNvPr id="113" name="Rectangle 112">
              <a:extLst>
                <a:ext uri="{FF2B5EF4-FFF2-40B4-BE49-F238E27FC236}">
                  <a16:creationId xmlns:a16="http://schemas.microsoft.com/office/drawing/2014/main" id="{8E5DFC60-1743-AA3B-D366-29E6D997DFEB}"/>
                </a:ext>
              </a:extLst>
            </p:cNvPr>
            <p:cNvSpPr/>
            <p:nvPr/>
          </p:nvSpPr>
          <p:spPr>
            <a:xfrm>
              <a:off x="3951067" y="938644"/>
              <a:ext cx="1018927" cy="5919356"/>
            </a:xfrm>
            <a:prstGeom prst="rect">
              <a:avLst/>
            </a:prstGeom>
            <a:solidFill>
              <a:srgbClr val="E6E6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  <p:sp>
          <p:nvSpPr>
            <p:cNvPr id="114" name="Rectangle 113">
              <a:extLst>
                <a:ext uri="{FF2B5EF4-FFF2-40B4-BE49-F238E27FC236}">
                  <a16:creationId xmlns:a16="http://schemas.microsoft.com/office/drawing/2014/main" id="{5D9347CE-8925-795C-4AA3-F89A52E78C93}"/>
                </a:ext>
              </a:extLst>
            </p:cNvPr>
            <p:cNvSpPr/>
            <p:nvPr/>
          </p:nvSpPr>
          <p:spPr>
            <a:xfrm>
              <a:off x="4969994" y="938643"/>
              <a:ext cx="1018927" cy="591935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  <p:sp>
          <p:nvSpPr>
            <p:cNvPr id="115" name="Rectangle 114">
              <a:extLst>
                <a:ext uri="{FF2B5EF4-FFF2-40B4-BE49-F238E27FC236}">
                  <a16:creationId xmlns:a16="http://schemas.microsoft.com/office/drawing/2014/main" id="{C8A92224-B414-FA85-DA1E-438AC34AFA38}"/>
                </a:ext>
              </a:extLst>
            </p:cNvPr>
            <p:cNvSpPr/>
            <p:nvPr/>
          </p:nvSpPr>
          <p:spPr>
            <a:xfrm>
              <a:off x="5988918" y="938642"/>
              <a:ext cx="1018927" cy="5919356"/>
            </a:xfrm>
            <a:prstGeom prst="rect">
              <a:avLst/>
            </a:prstGeom>
            <a:solidFill>
              <a:srgbClr val="E6E6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  <p:sp>
          <p:nvSpPr>
            <p:cNvPr id="116" name="Rectangle 115">
              <a:extLst>
                <a:ext uri="{FF2B5EF4-FFF2-40B4-BE49-F238E27FC236}">
                  <a16:creationId xmlns:a16="http://schemas.microsoft.com/office/drawing/2014/main" id="{6598E2F0-9675-BA0C-4523-7C4E6116818B}"/>
                </a:ext>
              </a:extLst>
            </p:cNvPr>
            <p:cNvSpPr/>
            <p:nvPr/>
          </p:nvSpPr>
          <p:spPr>
            <a:xfrm>
              <a:off x="7007845" y="938641"/>
              <a:ext cx="1018927" cy="591935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  <p:sp>
          <p:nvSpPr>
            <p:cNvPr id="117" name="Rectangle 116">
              <a:extLst>
                <a:ext uri="{FF2B5EF4-FFF2-40B4-BE49-F238E27FC236}">
                  <a16:creationId xmlns:a16="http://schemas.microsoft.com/office/drawing/2014/main" id="{5749AF1B-24C7-A334-2609-1387A4FC7E21}"/>
                </a:ext>
              </a:extLst>
            </p:cNvPr>
            <p:cNvSpPr/>
            <p:nvPr/>
          </p:nvSpPr>
          <p:spPr>
            <a:xfrm>
              <a:off x="8026769" y="938641"/>
              <a:ext cx="1018927" cy="5919356"/>
            </a:xfrm>
            <a:prstGeom prst="rect">
              <a:avLst/>
            </a:prstGeom>
            <a:solidFill>
              <a:srgbClr val="E6E6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  <p:sp>
          <p:nvSpPr>
            <p:cNvPr id="118" name="Rectangle 117">
              <a:extLst>
                <a:ext uri="{FF2B5EF4-FFF2-40B4-BE49-F238E27FC236}">
                  <a16:creationId xmlns:a16="http://schemas.microsoft.com/office/drawing/2014/main" id="{83CBF3D7-D1E4-C033-235A-80F19551C358}"/>
                </a:ext>
              </a:extLst>
            </p:cNvPr>
            <p:cNvSpPr/>
            <p:nvPr/>
          </p:nvSpPr>
          <p:spPr>
            <a:xfrm>
              <a:off x="9045696" y="938640"/>
              <a:ext cx="1018927" cy="591935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  <p:sp>
          <p:nvSpPr>
            <p:cNvPr id="119" name="Rectangle 118">
              <a:extLst>
                <a:ext uri="{FF2B5EF4-FFF2-40B4-BE49-F238E27FC236}">
                  <a16:creationId xmlns:a16="http://schemas.microsoft.com/office/drawing/2014/main" id="{4F30D8D4-80B6-2036-3AD0-29E3248F86CB}"/>
                </a:ext>
              </a:extLst>
            </p:cNvPr>
            <p:cNvSpPr/>
            <p:nvPr/>
          </p:nvSpPr>
          <p:spPr>
            <a:xfrm>
              <a:off x="10069133" y="938641"/>
              <a:ext cx="1018924" cy="5919356"/>
            </a:xfrm>
            <a:prstGeom prst="rect">
              <a:avLst/>
            </a:prstGeom>
            <a:solidFill>
              <a:srgbClr val="E6E6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  <p:sp>
          <p:nvSpPr>
            <p:cNvPr id="120" name="Rectangle 119">
              <a:extLst>
                <a:ext uri="{FF2B5EF4-FFF2-40B4-BE49-F238E27FC236}">
                  <a16:creationId xmlns:a16="http://schemas.microsoft.com/office/drawing/2014/main" id="{37675137-B66D-B19C-AF77-48ED89F24004}"/>
                </a:ext>
              </a:extLst>
            </p:cNvPr>
            <p:cNvSpPr/>
            <p:nvPr/>
          </p:nvSpPr>
          <p:spPr>
            <a:xfrm>
              <a:off x="11088064" y="938640"/>
              <a:ext cx="1018924" cy="591935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</p:grp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3EFE338-0F15-8B40-4300-C04EABBB412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4245" y="136251"/>
            <a:ext cx="11822596" cy="640080"/>
          </a:xfrm>
          <a:prstGeom prst="rect">
            <a:avLst/>
          </a:prstGeom>
        </p:spPr>
        <p:txBody>
          <a:bodyPr/>
          <a:lstStyle>
            <a:lvl1pPr>
              <a:defRPr sz="3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Timeline Title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21D15A8-6135-89B6-BBD1-18FFDE6B89AF}"/>
              </a:ext>
            </a:extLst>
          </p:cNvPr>
          <p:cNvSpPr txBox="1"/>
          <p:nvPr userDrawn="1"/>
        </p:nvSpPr>
        <p:spPr>
          <a:xfrm>
            <a:off x="184245" y="694691"/>
            <a:ext cx="1016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2024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6137F2E-0FD0-FC60-23B1-5C1CB6CC9C28}"/>
              </a:ext>
            </a:extLst>
          </p:cNvPr>
          <p:cNvSpPr txBox="1"/>
          <p:nvPr userDrawn="1"/>
        </p:nvSpPr>
        <p:spPr>
          <a:xfrm>
            <a:off x="2451526" y="684234"/>
            <a:ext cx="1016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2025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ABE071B-9C9E-FD03-283E-051C7728EE38}"/>
              </a:ext>
            </a:extLst>
          </p:cNvPr>
          <p:cNvSpPr txBox="1"/>
          <p:nvPr userDrawn="1"/>
        </p:nvSpPr>
        <p:spPr>
          <a:xfrm>
            <a:off x="4602414" y="1839829"/>
            <a:ext cx="72296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SUMMER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3597F51-864E-2D76-2041-CFE59BC15582}"/>
              </a:ext>
            </a:extLst>
          </p:cNvPr>
          <p:cNvSpPr txBox="1"/>
          <p:nvPr userDrawn="1"/>
        </p:nvSpPr>
        <p:spPr>
          <a:xfrm>
            <a:off x="5605190" y="1839829"/>
            <a:ext cx="72296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FALL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511F5BF-2D32-5BA8-1674-6E9EB5C70C32}"/>
              </a:ext>
            </a:extLst>
          </p:cNvPr>
          <p:cNvSpPr txBox="1"/>
          <p:nvPr userDrawn="1"/>
        </p:nvSpPr>
        <p:spPr>
          <a:xfrm>
            <a:off x="6637003" y="1839829"/>
            <a:ext cx="72296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WINTER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D13ED1F-0923-C8E8-DBEE-DFAC08A76FB2}"/>
              </a:ext>
            </a:extLst>
          </p:cNvPr>
          <p:cNvSpPr txBox="1"/>
          <p:nvPr userDrawn="1"/>
        </p:nvSpPr>
        <p:spPr>
          <a:xfrm>
            <a:off x="7678657" y="1839829"/>
            <a:ext cx="72296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SPRING</a:t>
            </a: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99120D00-8EDC-EBD6-F0E9-21CD7438642C}"/>
              </a:ext>
            </a:extLst>
          </p:cNvPr>
          <p:cNvGrpSpPr/>
          <p:nvPr userDrawn="1"/>
        </p:nvGrpSpPr>
        <p:grpSpPr>
          <a:xfrm>
            <a:off x="262644" y="1103319"/>
            <a:ext cx="11851445" cy="215444"/>
            <a:chOff x="262644" y="1103319"/>
            <a:chExt cx="11851445" cy="215444"/>
          </a:xfrm>
        </p:grpSpPr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50B5748D-BE6A-523C-FB62-DE1DC7FE6FEE}"/>
                </a:ext>
              </a:extLst>
            </p:cNvPr>
            <p:cNvGrpSpPr/>
            <p:nvPr userDrawn="1"/>
          </p:nvGrpSpPr>
          <p:grpSpPr>
            <a:xfrm>
              <a:off x="262644" y="1103319"/>
              <a:ext cx="859773" cy="215444"/>
              <a:chOff x="262644" y="1103319"/>
              <a:chExt cx="859773" cy="215444"/>
            </a:xfrm>
          </p:grpSpPr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0CF78961-77C8-F4D7-9265-9A6676C99940}"/>
                  </a:ext>
                </a:extLst>
              </p:cNvPr>
              <p:cNvSpPr txBox="1">
                <a:spLocks/>
              </p:cNvSpPr>
              <p:nvPr userDrawn="1"/>
            </p:nvSpPr>
            <p:spPr>
              <a:xfrm>
                <a:off x="262644" y="1103319"/>
                <a:ext cx="478453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800" b="1" i="0" u="none" strike="noStrike" kern="1200" cap="none" spc="0" normalizeH="0" baseline="0" noProof="0">
                    <a:ln>
                      <a:noFill/>
                    </a:ln>
                    <a:solidFill>
                      <a:srgbClr val="3B3B3B"/>
                    </a:solidFill>
                    <a:effectLst/>
                    <a:uLnTx/>
                    <a:uFillTx/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J</a:t>
                </a:r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9E8144A2-596F-0932-6A93-C2A5E7362792}"/>
                  </a:ext>
                </a:extLst>
              </p:cNvPr>
              <p:cNvSpPr txBox="1">
                <a:spLocks/>
              </p:cNvSpPr>
              <p:nvPr userDrawn="1"/>
            </p:nvSpPr>
            <p:spPr>
              <a:xfrm>
                <a:off x="643964" y="1103319"/>
                <a:ext cx="478453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800" b="1" i="0" u="none" strike="noStrike" kern="1200" cap="none" spc="0" normalizeH="0" baseline="0" noProof="0">
                    <a:ln>
                      <a:noFill/>
                    </a:ln>
                    <a:solidFill>
                      <a:srgbClr val="3B3B3B"/>
                    </a:solidFill>
                    <a:effectLst/>
                    <a:uLnTx/>
                    <a:uFillTx/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J</a:t>
                </a:r>
              </a:p>
            </p:txBody>
          </p:sp>
        </p:grp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F48337B4-6389-D731-CFB2-E5EFD9713752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972203" y="110331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A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2E0E7228-85CA-2A33-FF1E-EE15842FCAE1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1282855" y="110331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S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6C92892F-5073-A24E-0B08-62ACD0B5CA3F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1602243" y="110331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O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E81FC993-1C86-9276-1AAE-A52D51E8DCDC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1957926" y="110331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N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49E3C690-B746-993A-D331-66A787F0A2BA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2241314" y="110331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D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554D073D-7AC6-D08E-E697-DD8EE0EF7A61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2580942" y="110331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J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76E6A839-1AE9-75B2-E3FC-A0C5853D7717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2918355" y="110331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F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EF9DD275-BA93-9427-2A1A-7A9F8C72BACB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3236742" y="110331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M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18507899-6341-5AA6-737B-0E200CD7256F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3583436" y="110331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A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47A66B94-A586-3FE8-7116-E783F2FDA235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3875650" y="110331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M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FFAD42CF-7958-D5D8-35E2-B134D5565421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4124160" y="110331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J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B3AA9A09-9355-A8A7-2DBF-B65C1C0BCF18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4505480" y="110331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J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6BAB88D9-0C60-A4B2-38A1-8509489B4F5D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4833719" y="110331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A</a:t>
              </a: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ACF14DE6-AD83-843D-9888-B2C7644CD9DE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5144371" y="110331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S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6E7E18FA-408D-1FD5-4A16-88592252798A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5463759" y="110331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O</a:t>
              </a: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D5BF7AB3-E030-F806-48CE-455B9A2E9287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5819442" y="110331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N</a:t>
              </a: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4818D7AA-36DF-FD66-6D67-576ECA7A220E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6102830" y="110331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D</a:t>
              </a: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D5BF77A7-778F-326A-0DED-50C30DF3088E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6457809" y="110331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J</a:t>
              </a: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5D98CC5F-FCBA-C7DD-7E6D-9DDA14E72FEC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6795222" y="110331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F</a:t>
              </a: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AC03274D-FBCA-1F9D-3CB7-D6FC62582FAA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7113609" y="110331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M</a:t>
              </a: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5FD73806-F408-1D11-9ED7-90823FA731AE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7460303" y="110331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A</a:t>
              </a: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0B77BBE9-05E7-BFE3-381A-34D321FD0EEE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8001027" y="110331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J</a:t>
              </a: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BDF60483-1D28-4DF3-EAD0-66AB634CD658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8382347" y="110331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J</a:t>
              </a: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D6200DB4-965C-86DC-E144-4538EB6770F7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8710586" y="110331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A</a:t>
              </a: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FD54DC0E-C3CA-4FAD-8D61-FF08FA282C4C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9021238" y="110331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S</a:t>
              </a: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6C2B64A6-E1EB-BE59-92A8-3ED6A0CAAD3B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9340626" y="110331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O</a:t>
              </a: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45B8C604-108E-DAC4-FD15-D969839E2D04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9696309" y="110331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N</a:t>
              </a: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F5A63303-D463-2787-C231-17F9FCCC1B64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9979697" y="110331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D</a:t>
              </a: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6C84BA91-8702-17D2-B2E3-1F6BAD151C87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7764103" y="110331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M</a:t>
              </a: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035F35AF-414D-E16C-EC40-B77850A0BC0A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10280371" y="110331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J</a:t>
              </a: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3492B19A-D1D1-7293-497B-79BBE1CBB792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10617784" y="110331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F</a:t>
              </a: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1B8EDED0-7F0A-5F99-848C-C9E06EC139C3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10936171" y="110331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M</a:t>
              </a: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6A8DC90C-5038-43B5-D772-4F7FCBA55136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11282865" y="110331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A</a:t>
              </a: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01CC904A-9A73-87E3-BFC4-9A2005F1E706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11635636" y="110331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M</a:t>
              </a:r>
            </a:p>
          </p:txBody>
        </p:sp>
      </p:grpSp>
      <p:sp>
        <p:nvSpPr>
          <p:cNvPr id="61" name="TextBox 60">
            <a:extLst>
              <a:ext uri="{FF2B5EF4-FFF2-40B4-BE49-F238E27FC236}">
                <a16:creationId xmlns:a16="http://schemas.microsoft.com/office/drawing/2014/main" id="{D5892557-A121-BD57-FCC1-5574DAB62E5D}"/>
              </a:ext>
            </a:extLst>
          </p:cNvPr>
          <p:cNvSpPr txBox="1"/>
          <p:nvPr userDrawn="1"/>
        </p:nvSpPr>
        <p:spPr>
          <a:xfrm>
            <a:off x="6323338" y="684234"/>
            <a:ext cx="1016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2026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1ECA2873-0C9C-3827-DAD7-CC1D6874AD00}"/>
              </a:ext>
            </a:extLst>
          </p:cNvPr>
          <p:cNvSpPr txBox="1"/>
          <p:nvPr userDrawn="1"/>
        </p:nvSpPr>
        <p:spPr>
          <a:xfrm>
            <a:off x="10199846" y="684234"/>
            <a:ext cx="1016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2027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08E6AB24-6529-EA8B-6A6D-CEE60926F608}"/>
              </a:ext>
            </a:extLst>
          </p:cNvPr>
          <p:cNvSpPr/>
          <p:nvPr userDrawn="1"/>
        </p:nvSpPr>
        <p:spPr>
          <a:xfrm>
            <a:off x="387302" y="2173203"/>
            <a:ext cx="2228192" cy="322241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94F192FD-B2DB-BFFA-08FB-24E8D740D1A1}"/>
              </a:ext>
            </a:extLst>
          </p:cNvPr>
          <p:cNvSpPr/>
          <p:nvPr userDrawn="1"/>
        </p:nvSpPr>
        <p:spPr>
          <a:xfrm>
            <a:off x="2616837" y="2173203"/>
            <a:ext cx="1943954" cy="322241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A4F393BC-15B3-BC0E-0CEA-A1D9700D32D0}"/>
              </a:ext>
            </a:extLst>
          </p:cNvPr>
          <p:cNvSpPr/>
          <p:nvPr userDrawn="1"/>
        </p:nvSpPr>
        <p:spPr>
          <a:xfrm>
            <a:off x="4570604" y="2173203"/>
            <a:ext cx="1930134" cy="322241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0FD91CEB-C6EB-A746-FA55-62699C1D848A}"/>
              </a:ext>
            </a:extLst>
          </p:cNvPr>
          <p:cNvSpPr/>
          <p:nvPr userDrawn="1"/>
        </p:nvSpPr>
        <p:spPr>
          <a:xfrm>
            <a:off x="6866237" y="4043007"/>
            <a:ext cx="2224956" cy="338978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6AB3264B-3E7E-300B-EFCB-8DF50F6D0478}"/>
              </a:ext>
            </a:extLst>
          </p:cNvPr>
          <p:cNvSpPr/>
          <p:nvPr userDrawn="1"/>
        </p:nvSpPr>
        <p:spPr>
          <a:xfrm>
            <a:off x="387301" y="2024470"/>
            <a:ext cx="6121067" cy="152077"/>
          </a:xfrm>
          <a:prstGeom prst="rect">
            <a:avLst/>
          </a:prstGeom>
          <a:solidFill>
            <a:srgbClr val="999E72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Title</a:t>
            </a: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DAAE200D-584E-0548-EDAA-D8F134012F2F}"/>
              </a:ext>
            </a:extLst>
          </p:cNvPr>
          <p:cNvSpPr/>
          <p:nvPr userDrawn="1"/>
        </p:nvSpPr>
        <p:spPr>
          <a:xfrm>
            <a:off x="387301" y="3898115"/>
            <a:ext cx="8684616" cy="144889"/>
          </a:xfrm>
          <a:prstGeom prst="rect">
            <a:avLst/>
          </a:prstGeom>
          <a:solidFill>
            <a:srgbClr val="7FAD96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Title</a:t>
            </a:r>
          </a:p>
        </p:txBody>
      </p:sp>
      <p:sp>
        <p:nvSpPr>
          <p:cNvPr id="69" name="Star: 5 Points 68">
            <a:extLst>
              <a:ext uri="{FF2B5EF4-FFF2-40B4-BE49-F238E27FC236}">
                <a16:creationId xmlns:a16="http://schemas.microsoft.com/office/drawing/2014/main" id="{0F4F83C4-E96A-EE5E-3A7A-E93E5A157017}"/>
              </a:ext>
            </a:extLst>
          </p:cNvPr>
          <p:cNvSpPr/>
          <p:nvPr userDrawn="1"/>
        </p:nvSpPr>
        <p:spPr>
          <a:xfrm>
            <a:off x="8877758" y="3957566"/>
            <a:ext cx="359203" cy="359203"/>
          </a:xfrm>
          <a:prstGeom prst="star5">
            <a:avLst/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A9A8D646-98FE-9156-D532-A880373BE161}"/>
              </a:ext>
            </a:extLst>
          </p:cNvPr>
          <p:cNvSpPr txBox="1"/>
          <p:nvPr userDrawn="1"/>
        </p:nvSpPr>
        <p:spPr>
          <a:xfrm>
            <a:off x="8544105" y="4485076"/>
            <a:ext cx="110647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b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Notes</a:t>
            </a: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E021252D-84B3-202D-F442-E1188D786DF1}"/>
              </a:ext>
            </a:extLst>
          </p:cNvPr>
          <p:cNvSpPr/>
          <p:nvPr userDrawn="1"/>
        </p:nvSpPr>
        <p:spPr>
          <a:xfrm>
            <a:off x="6515505" y="2675311"/>
            <a:ext cx="315517" cy="330151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00"/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557C6049-64D1-644A-A3C2-A65066D88FA9}"/>
              </a:ext>
            </a:extLst>
          </p:cNvPr>
          <p:cNvSpPr/>
          <p:nvPr userDrawn="1"/>
        </p:nvSpPr>
        <p:spPr>
          <a:xfrm>
            <a:off x="6821460" y="2669189"/>
            <a:ext cx="2262684" cy="3366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EC18AE3B-8AB8-7B19-F405-C821DC95C1B9}"/>
              </a:ext>
            </a:extLst>
          </p:cNvPr>
          <p:cNvSpPr/>
          <p:nvPr userDrawn="1"/>
        </p:nvSpPr>
        <p:spPr>
          <a:xfrm>
            <a:off x="6508011" y="2507557"/>
            <a:ext cx="2583181" cy="161629"/>
          </a:xfrm>
          <a:prstGeom prst="rect">
            <a:avLst/>
          </a:prstGeom>
          <a:solidFill>
            <a:srgbClr val="999E72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Title</a:t>
            </a:r>
          </a:p>
        </p:txBody>
      </p:sp>
      <p:sp>
        <p:nvSpPr>
          <p:cNvPr id="76" name="Star: 5 Points 75">
            <a:extLst>
              <a:ext uri="{FF2B5EF4-FFF2-40B4-BE49-F238E27FC236}">
                <a16:creationId xmlns:a16="http://schemas.microsoft.com/office/drawing/2014/main" id="{4FB42D90-E6BE-3D13-8D04-DB76C6290BAB}"/>
              </a:ext>
            </a:extLst>
          </p:cNvPr>
          <p:cNvSpPr/>
          <p:nvPr userDrawn="1"/>
        </p:nvSpPr>
        <p:spPr>
          <a:xfrm>
            <a:off x="6758356" y="2635157"/>
            <a:ext cx="359203" cy="336620"/>
          </a:xfrm>
          <a:prstGeom prst="star5">
            <a:avLst>
              <a:gd name="adj" fmla="val 20164"/>
              <a:gd name="hf" fmla="val 105146"/>
              <a:gd name="vf" fmla="val 110557"/>
            </a:avLst>
          </a:prstGeom>
          <a:solidFill>
            <a:srgbClr val="FFC000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46CF5AE4-B0F1-D80A-62D8-4E18E994F4A8}"/>
              </a:ext>
            </a:extLst>
          </p:cNvPr>
          <p:cNvSpPr txBox="1"/>
          <p:nvPr userDrawn="1"/>
        </p:nvSpPr>
        <p:spPr>
          <a:xfrm>
            <a:off x="6365608" y="3022398"/>
            <a:ext cx="121856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b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Important date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F0E8410B-9DA7-8923-15E7-8E872709F24B}"/>
              </a:ext>
            </a:extLst>
          </p:cNvPr>
          <p:cNvSpPr txBox="1"/>
          <p:nvPr userDrawn="1"/>
        </p:nvSpPr>
        <p:spPr>
          <a:xfrm>
            <a:off x="6640878" y="2293599"/>
            <a:ext cx="234126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Notes</a:t>
            </a: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E6C02303-8585-9D95-8B2F-4542E05A6F96}"/>
              </a:ext>
            </a:extLst>
          </p:cNvPr>
          <p:cNvSpPr/>
          <p:nvPr userDrawn="1"/>
        </p:nvSpPr>
        <p:spPr>
          <a:xfrm>
            <a:off x="387302" y="4053864"/>
            <a:ext cx="2914321" cy="328124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276A2D22-A364-F31D-6058-FE2E7CDBA37F}"/>
              </a:ext>
            </a:extLst>
          </p:cNvPr>
          <p:cNvSpPr/>
          <p:nvPr userDrawn="1"/>
        </p:nvSpPr>
        <p:spPr>
          <a:xfrm>
            <a:off x="3309658" y="4053864"/>
            <a:ext cx="1242555" cy="328124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FD2DB46A-1BF2-1772-136D-765D4ED2BAEC}"/>
              </a:ext>
            </a:extLst>
          </p:cNvPr>
          <p:cNvSpPr/>
          <p:nvPr userDrawn="1"/>
        </p:nvSpPr>
        <p:spPr>
          <a:xfrm>
            <a:off x="4562664" y="4053864"/>
            <a:ext cx="2286048" cy="328124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7BFCCF6-3802-6805-555D-513CD2445937}"/>
              </a:ext>
            </a:extLst>
          </p:cNvPr>
          <p:cNvSpPr txBox="1"/>
          <p:nvPr userDrawn="1"/>
        </p:nvSpPr>
        <p:spPr>
          <a:xfrm>
            <a:off x="8237163" y="6467394"/>
            <a:ext cx="112053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ESSENTIAL TASK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9F908F63-3DD6-8362-580D-718F1235782A}"/>
              </a:ext>
            </a:extLst>
          </p:cNvPr>
          <p:cNvSpPr/>
          <p:nvPr userDrawn="1"/>
        </p:nvSpPr>
        <p:spPr>
          <a:xfrm>
            <a:off x="8112829" y="6530272"/>
            <a:ext cx="127832" cy="12783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09742E3-7307-8294-EE90-86582E1AB1AF}"/>
              </a:ext>
            </a:extLst>
          </p:cNvPr>
          <p:cNvSpPr txBox="1"/>
          <p:nvPr userDrawn="1"/>
        </p:nvSpPr>
        <p:spPr>
          <a:xfrm>
            <a:off x="7054632" y="6388974"/>
            <a:ext cx="837626" cy="3092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MILESTONE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29" name="Star: 5 Points 28">
            <a:extLst>
              <a:ext uri="{FF2B5EF4-FFF2-40B4-BE49-F238E27FC236}">
                <a16:creationId xmlns:a16="http://schemas.microsoft.com/office/drawing/2014/main" id="{BD6EA68F-D83C-9539-E827-2375661589A7}"/>
              </a:ext>
            </a:extLst>
          </p:cNvPr>
          <p:cNvSpPr/>
          <p:nvPr userDrawn="1"/>
        </p:nvSpPr>
        <p:spPr>
          <a:xfrm>
            <a:off x="6818641" y="6450773"/>
            <a:ext cx="232492" cy="232492"/>
          </a:xfrm>
          <a:prstGeom prst="star5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4129FE58-BC61-C55B-9B4D-A33726A23F8F}"/>
              </a:ext>
            </a:extLst>
          </p:cNvPr>
          <p:cNvSpPr/>
          <p:nvPr userDrawn="1"/>
        </p:nvSpPr>
        <p:spPr>
          <a:xfrm>
            <a:off x="9548636" y="6504710"/>
            <a:ext cx="127832" cy="127832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640246E-FDD0-526D-B08F-465C1B172485}"/>
              </a:ext>
            </a:extLst>
          </p:cNvPr>
          <p:cNvSpPr txBox="1"/>
          <p:nvPr userDrawn="1"/>
        </p:nvSpPr>
        <p:spPr>
          <a:xfrm>
            <a:off x="9674046" y="6459249"/>
            <a:ext cx="176636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MEETING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32" name="Title 1">
            <a:extLst>
              <a:ext uri="{FF2B5EF4-FFF2-40B4-BE49-F238E27FC236}">
                <a16:creationId xmlns:a16="http://schemas.microsoft.com/office/drawing/2014/main" id="{81FBF6AC-E48B-40A9-1CEE-9BB5B1FEC5AD}"/>
              </a:ext>
            </a:extLst>
          </p:cNvPr>
          <p:cNvSpPr txBox="1">
            <a:spLocks/>
          </p:cNvSpPr>
          <p:nvPr userDrawn="1"/>
        </p:nvSpPr>
        <p:spPr>
          <a:xfrm>
            <a:off x="8498076" y="239785"/>
            <a:ext cx="3765948" cy="640080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Lato Bold" panose="020F0802020204030203" pitchFamily="34" charset="0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DRAFT: For Discussion Purposes Only  </a:t>
            </a:r>
          </a:p>
        </p:txBody>
      </p:sp>
    </p:spTree>
    <p:extLst>
      <p:ext uri="{BB962C8B-B14F-4D97-AF65-F5344CB8AC3E}">
        <p14:creationId xmlns:p14="http://schemas.microsoft.com/office/powerpoint/2010/main" val="41006507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meline Month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B03FDBEB-E895-B8B3-E897-5DF2BB516C40}"/>
              </a:ext>
            </a:extLst>
          </p:cNvPr>
          <p:cNvCxnSpPr>
            <a:cxnSpLocks/>
          </p:cNvCxnSpPr>
          <p:nvPr userDrawn="1"/>
        </p:nvCxnSpPr>
        <p:spPr>
          <a:xfrm flipH="1">
            <a:off x="2228326" y="743743"/>
            <a:ext cx="3887" cy="5698885"/>
          </a:xfrm>
          <a:prstGeom prst="line">
            <a:avLst/>
          </a:prstGeom>
          <a:ln w="28575">
            <a:solidFill>
              <a:srgbClr val="000000"/>
            </a:solidFill>
            <a:prstDash val="sysDot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2" name="Title 2">
            <a:extLst>
              <a:ext uri="{FF2B5EF4-FFF2-40B4-BE49-F238E27FC236}">
                <a16:creationId xmlns:a16="http://schemas.microsoft.com/office/drawing/2014/main" id="{7066752C-F283-8EC3-B3F2-D46AD51FB2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181" y="113099"/>
            <a:ext cx="7924453" cy="498122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3600" b="0" i="0" baseline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b="0">
                <a:latin typeface="Lato"/>
                <a:ea typeface="Lato"/>
                <a:cs typeface="Lato"/>
              </a:rPr>
              <a:t>Timeline</a:t>
            </a:r>
            <a:endParaRPr lang="en-US" b="1">
              <a:latin typeface="Lato"/>
              <a:ea typeface="Lato"/>
              <a:cs typeface="Lato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CA9925E-4FC5-B299-BDFC-4ED9FD137B77}"/>
              </a:ext>
            </a:extLst>
          </p:cNvPr>
          <p:cNvSpPr txBox="1"/>
          <p:nvPr userDrawn="1"/>
        </p:nvSpPr>
        <p:spPr>
          <a:xfrm flipH="1">
            <a:off x="-167250" y="689211"/>
            <a:ext cx="9018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2023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C367F82-68A6-6A68-4CF3-8D75C412372E}"/>
              </a:ext>
            </a:extLst>
          </p:cNvPr>
          <p:cNvSpPr txBox="1"/>
          <p:nvPr userDrawn="1"/>
        </p:nvSpPr>
        <p:spPr>
          <a:xfrm>
            <a:off x="8237163" y="6467394"/>
            <a:ext cx="112053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ESSENTIAL TASK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03902483-95C2-BEA5-ED0B-0BD7BDE6D66C}"/>
              </a:ext>
            </a:extLst>
          </p:cNvPr>
          <p:cNvSpPr/>
          <p:nvPr userDrawn="1"/>
        </p:nvSpPr>
        <p:spPr>
          <a:xfrm>
            <a:off x="8112829" y="6530272"/>
            <a:ext cx="127832" cy="12783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790C242-7948-A61F-7D44-7C9E95F5E0BE}"/>
              </a:ext>
            </a:extLst>
          </p:cNvPr>
          <p:cNvSpPr txBox="1"/>
          <p:nvPr userDrawn="1"/>
        </p:nvSpPr>
        <p:spPr>
          <a:xfrm>
            <a:off x="7054632" y="6388974"/>
            <a:ext cx="837626" cy="3092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MILESTONE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39" name="Star: 5 Points 38">
            <a:extLst>
              <a:ext uri="{FF2B5EF4-FFF2-40B4-BE49-F238E27FC236}">
                <a16:creationId xmlns:a16="http://schemas.microsoft.com/office/drawing/2014/main" id="{6A02750E-4B57-2699-450A-A8F75CD856EA}"/>
              </a:ext>
            </a:extLst>
          </p:cNvPr>
          <p:cNvSpPr/>
          <p:nvPr userDrawn="1"/>
        </p:nvSpPr>
        <p:spPr>
          <a:xfrm>
            <a:off x="6818641" y="6450773"/>
            <a:ext cx="232492" cy="232492"/>
          </a:xfrm>
          <a:prstGeom prst="star5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9D6367CD-E801-D4AE-F771-513582A322F6}"/>
              </a:ext>
            </a:extLst>
          </p:cNvPr>
          <p:cNvSpPr/>
          <p:nvPr userDrawn="1"/>
        </p:nvSpPr>
        <p:spPr>
          <a:xfrm>
            <a:off x="9548636" y="6504710"/>
            <a:ext cx="127832" cy="127832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AFFE90F0-B9E5-DA32-4CB9-8F6231C57C42}"/>
              </a:ext>
            </a:extLst>
          </p:cNvPr>
          <p:cNvSpPr txBox="1"/>
          <p:nvPr userDrawn="1"/>
        </p:nvSpPr>
        <p:spPr>
          <a:xfrm>
            <a:off x="9674046" y="6459249"/>
            <a:ext cx="176636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MEETING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46" name="Title 1">
            <a:extLst>
              <a:ext uri="{FF2B5EF4-FFF2-40B4-BE49-F238E27FC236}">
                <a16:creationId xmlns:a16="http://schemas.microsoft.com/office/drawing/2014/main" id="{9D896588-347F-E29D-2FB9-EE48E0FABAA3}"/>
              </a:ext>
            </a:extLst>
          </p:cNvPr>
          <p:cNvSpPr txBox="1">
            <a:spLocks/>
          </p:cNvSpPr>
          <p:nvPr userDrawn="1"/>
        </p:nvSpPr>
        <p:spPr>
          <a:xfrm>
            <a:off x="8498076" y="239785"/>
            <a:ext cx="3765948" cy="640080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Lato Bold" panose="020F0802020204030203" pitchFamily="34" charset="0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DRAFT: For Discussion Purposes Only  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3A392951-B5B5-4E1F-A9DA-03BD00569431}"/>
              </a:ext>
            </a:extLst>
          </p:cNvPr>
          <p:cNvSpPr txBox="1"/>
          <p:nvPr userDrawn="1"/>
        </p:nvSpPr>
        <p:spPr>
          <a:xfrm flipH="1">
            <a:off x="2069480" y="690904"/>
            <a:ext cx="9018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2024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C1CBE1C9-0FD7-38AB-572E-C59D14020717}"/>
              </a:ext>
            </a:extLst>
          </p:cNvPr>
          <p:cNvSpPr txBox="1"/>
          <p:nvPr userDrawn="1"/>
        </p:nvSpPr>
        <p:spPr>
          <a:xfrm flipH="1">
            <a:off x="8681183" y="687990"/>
            <a:ext cx="9018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2025</a:t>
            </a:r>
          </a:p>
        </p:txBody>
      </p: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3E5E14A5-6BA9-C448-5AC1-F36BDD49DD1D}"/>
              </a:ext>
            </a:extLst>
          </p:cNvPr>
          <p:cNvCxnSpPr>
            <a:cxnSpLocks/>
          </p:cNvCxnSpPr>
          <p:nvPr userDrawn="1"/>
        </p:nvCxnSpPr>
        <p:spPr>
          <a:xfrm>
            <a:off x="8845197" y="743743"/>
            <a:ext cx="10271" cy="5726821"/>
          </a:xfrm>
          <a:prstGeom prst="line">
            <a:avLst/>
          </a:prstGeom>
          <a:ln w="28575">
            <a:solidFill>
              <a:srgbClr val="000000"/>
            </a:solidFill>
            <a:prstDash val="sysDot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grpSp>
        <p:nvGrpSpPr>
          <p:cNvPr id="2" name="Group 1">
            <a:extLst>
              <a:ext uri="{FF2B5EF4-FFF2-40B4-BE49-F238E27FC236}">
                <a16:creationId xmlns:a16="http://schemas.microsoft.com/office/drawing/2014/main" id="{6D27CE45-22DB-4ED2-EF61-8591965B7339}"/>
              </a:ext>
            </a:extLst>
          </p:cNvPr>
          <p:cNvGrpSpPr/>
          <p:nvPr userDrawn="1"/>
        </p:nvGrpSpPr>
        <p:grpSpPr>
          <a:xfrm>
            <a:off x="-102143" y="1080525"/>
            <a:ext cx="12253582" cy="4983725"/>
            <a:chOff x="-102143" y="1080525"/>
            <a:chExt cx="12253582" cy="4983725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49FAA78E-2263-A75C-1A38-7FD4EE380B1D}"/>
                </a:ext>
              </a:extLst>
            </p:cNvPr>
            <p:cNvSpPr>
              <a:spLocks/>
            </p:cNvSpPr>
            <p:nvPr userDrawn="1"/>
          </p:nvSpPr>
          <p:spPr>
            <a:xfrm flipH="1">
              <a:off x="49161" y="1112896"/>
              <a:ext cx="502785" cy="495135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EEECB004-09CE-0A22-A884-6A88A2D69962}"/>
                </a:ext>
              </a:extLst>
            </p:cNvPr>
            <p:cNvSpPr>
              <a:spLocks/>
            </p:cNvSpPr>
            <p:nvPr userDrawn="1"/>
          </p:nvSpPr>
          <p:spPr>
            <a:xfrm flipH="1">
              <a:off x="601108" y="1112896"/>
              <a:ext cx="502785" cy="495135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FCD40748-A509-38D6-15F5-A0A5EE32AEDD}"/>
                </a:ext>
              </a:extLst>
            </p:cNvPr>
            <p:cNvSpPr>
              <a:spLocks/>
            </p:cNvSpPr>
            <p:nvPr userDrawn="1"/>
          </p:nvSpPr>
          <p:spPr>
            <a:xfrm flipH="1">
              <a:off x="1153055" y="1112896"/>
              <a:ext cx="502785" cy="495135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6DA10FBC-B194-E356-F4E1-07E288694881}"/>
                </a:ext>
              </a:extLst>
            </p:cNvPr>
            <p:cNvSpPr>
              <a:spLocks/>
            </p:cNvSpPr>
            <p:nvPr userDrawn="1"/>
          </p:nvSpPr>
          <p:spPr>
            <a:xfrm flipH="1">
              <a:off x="1705002" y="1112896"/>
              <a:ext cx="502785" cy="495135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47926E39-BCE0-DE36-B1DA-5486CF7C3580}"/>
                </a:ext>
              </a:extLst>
            </p:cNvPr>
            <p:cNvSpPr>
              <a:spLocks/>
            </p:cNvSpPr>
            <p:nvPr userDrawn="1"/>
          </p:nvSpPr>
          <p:spPr>
            <a:xfrm flipH="1">
              <a:off x="2256949" y="1112896"/>
              <a:ext cx="502785" cy="495135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B34F5E4D-0846-D28F-A41E-18D1B00DDF43}"/>
                </a:ext>
              </a:extLst>
            </p:cNvPr>
            <p:cNvSpPr>
              <a:spLocks/>
            </p:cNvSpPr>
            <p:nvPr userDrawn="1"/>
          </p:nvSpPr>
          <p:spPr>
            <a:xfrm flipH="1">
              <a:off x="2808896" y="1112896"/>
              <a:ext cx="502785" cy="495135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A29945B0-DA3E-57F9-8B76-571F5E3F384F}"/>
                </a:ext>
              </a:extLst>
            </p:cNvPr>
            <p:cNvSpPr>
              <a:spLocks/>
            </p:cNvSpPr>
            <p:nvPr userDrawn="1"/>
          </p:nvSpPr>
          <p:spPr>
            <a:xfrm flipH="1">
              <a:off x="3360843" y="1112896"/>
              <a:ext cx="502785" cy="495135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E130F1FB-5673-3D09-2CD8-FC3EF8B0ED80}"/>
                </a:ext>
              </a:extLst>
            </p:cNvPr>
            <p:cNvSpPr>
              <a:spLocks/>
            </p:cNvSpPr>
            <p:nvPr userDrawn="1"/>
          </p:nvSpPr>
          <p:spPr>
            <a:xfrm flipH="1">
              <a:off x="3912790" y="1112896"/>
              <a:ext cx="502785" cy="495135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08761FA8-E17F-D83C-C19D-D606C4CB3059}"/>
                </a:ext>
              </a:extLst>
            </p:cNvPr>
            <p:cNvSpPr>
              <a:spLocks/>
            </p:cNvSpPr>
            <p:nvPr userDrawn="1"/>
          </p:nvSpPr>
          <p:spPr>
            <a:xfrm flipH="1">
              <a:off x="4464737" y="1112896"/>
              <a:ext cx="502785" cy="495135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A3ED0CE1-86CB-8C83-0C81-353A378214C8}"/>
                </a:ext>
              </a:extLst>
            </p:cNvPr>
            <p:cNvSpPr>
              <a:spLocks/>
            </p:cNvSpPr>
            <p:nvPr userDrawn="1"/>
          </p:nvSpPr>
          <p:spPr>
            <a:xfrm flipH="1">
              <a:off x="5016684" y="1112896"/>
              <a:ext cx="502785" cy="495135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D724B92A-3C4E-AB31-04C8-D2F32A89DDE3}"/>
                </a:ext>
              </a:extLst>
            </p:cNvPr>
            <p:cNvSpPr>
              <a:spLocks/>
            </p:cNvSpPr>
            <p:nvPr userDrawn="1"/>
          </p:nvSpPr>
          <p:spPr>
            <a:xfrm flipH="1">
              <a:off x="5568631" y="1112896"/>
              <a:ext cx="502785" cy="495135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8E8E44CF-D93C-C3BE-BC0B-AFC72A38D66E}"/>
                </a:ext>
              </a:extLst>
            </p:cNvPr>
            <p:cNvSpPr>
              <a:spLocks/>
            </p:cNvSpPr>
            <p:nvPr userDrawn="1"/>
          </p:nvSpPr>
          <p:spPr>
            <a:xfrm flipH="1">
              <a:off x="6120578" y="1112896"/>
              <a:ext cx="502785" cy="495135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80D2FD84-1AFD-4C4D-4D30-CAFA70E502A8}"/>
                </a:ext>
              </a:extLst>
            </p:cNvPr>
            <p:cNvSpPr>
              <a:spLocks/>
            </p:cNvSpPr>
            <p:nvPr userDrawn="1"/>
          </p:nvSpPr>
          <p:spPr>
            <a:xfrm flipH="1">
              <a:off x="6672525" y="1112896"/>
              <a:ext cx="502785" cy="495135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40CD8336-5340-5265-D93B-C5677DD2F06F}"/>
                </a:ext>
              </a:extLst>
            </p:cNvPr>
            <p:cNvSpPr>
              <a:spLocks/>
            </p:cNvSpPr>
            <p:nvPr userDrawn="1"/>
          </p:nvSpPr>
          <p:spPr>
            <a:xfrm flipH="1">
              <a:off x="7224472" y="1112896"/>
              <a:ext cx="502785" cy="495135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E4023FA0-BC87-D62C-A489-A1422624C79C}"/>
                </a:ext>
              </a:extLst>
            </p:cNvPr>
            <p:cNvSpPr>
              <a:spLocks/>
            </p:cNvSpPr>
            <p:nvPr userDrawn="1"/>
          </p:nvSpPr>
          <p:spPr>
            <a:xfrm flipH="1">
              <a:off x="7776419" y="1112896"/>
              <a:ext cx="502785" cy="495135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0F6EDAEA-31C3-9DE2-0EFC-41EFCCD455EA}"/>
                </a:ext>
              </a:extLst>
            </p:cNvPr>
            <p:cNvSpPr>
              <a:spLocks/>
            </p:cNvSpPr>
            <p:nvPr userDrawn="1"/>
          </p:nvSpPr>
          <p:spPr>
            <a:xfrm flipH="1">
              <a:off x="8328366" y="1112896"/>
              <a:ext cx="502785" cy="495135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A1F3E2A3-F0D5-4CC2-DA35-F36FDFCBD7A4}"/>
                </a:ext>
              </a:extLst>
            </p:cNvPr>
            <p:cNvSpPr>
              <a:spLocks/>
            </p:cNvSpPr>
            <p:nvPr userDrawn="1"/>
          </p:nvSpPr>
          <p:spPr>
            <a:xfrm flipH="1">
              <a:off x="8880313" y="1112896"/>
              <a:ext cx="502785" cy="495135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066DA295-FB81-4CF4-AFB3-D1F31C2A97FA}"/>
                </a:ext>
              </a:extLst>
            </p:cNvPr>
            <p:cNvSpPr>
              <a:spLocks/>
            </p:cNvSpPr>
            <p:nvPr userDrawn="1"/>
          </p:nvSpPr>
          <p:spPr>
            <a:xfrm flipH="1">
              <a:off x="9432260" y="1112896"/>
              <a:ext cx="502785" cy="495135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3CDED4BB-6A29-D0E0-F3DD-DAE4F14F76E5}"/>
                </a:ext>
              </a:extLst>
            </p:cNvPr>
            <p:cNvSpPr>
              <a:spLocks/>
            </p:cNvSpPr>
            <p:nvPr userDrawn="1"/>
          </p:nvSpPr>
          <p:spPr>
            <a:xfrm flipH="1">
              <a:off x="9984207" y="1112896"/>
              <a:ext cx="502785" cy="495135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96E11B5A-EFDB-4AF6-E2AE-239889458CC6}"/>
                </a:ext>
              </a:extLst>
            </p:cNvPr>
            <p:cNvSpPr>
              <a:spLocks/>
            </p:cNvSpPr>
            <p:nvPr userDrawn="1"/>
          </p:nvSpPr>
          <p:spPr>
            <a:xfrm flipH="1">
              <a:off x="10536154" y="1112896"/>
              <a:ext cx="502785" cy="495135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6567DE0A-D283-3592-9245-5424F005A786}"/>
                </a:ext>
              </a:extLst>
            </p:cNvPr>
            <p:cNvSpPr>
              <a:spLocks/>
            </p:cNvSpPr>
            <p:nvPr userDrawn="1"/>
          </p:nvSpPr>
          <p:spPr>
            <a:xfrm flipH="1">
              <a:off x="11088101" y="1112896"/>
              <a:ext cx="502785" cy="495135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B4F22AB1-9D50-4BEA-8CD5-A8F41AC621EB}"/>
                </a:ext>
              </a:extLst>
            </p:cNvPr>
            <p:cNvSpPr>
              <a:spLocks/>
            </p:cNvSpPr>
            <p:nvPr userDrawn="1"/>
          </p:nvSpPr>
          <p:spPr>
            <a:xfrm flipH="1">
              <a:off x="11640048" y="1112896"/>
              <a:ext cx="502785" cy="495135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97512B84-2E08-AFD5-1C57-908097848E30}"/>
                </a:ext>
              </a:extLst>
            </p:cNvPr>
            <p:cNvSpPr txBox="1"/>
            <p:nvPr userDrawn="1"/>
          </p:nvSpPr>
          <p:spPr>
            <a:xfrm flipH="1">
              <a:off x="2185224" y="1227782"/>
              <a:ext cx="672950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JANUARY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BF3495B0-4FE4-8AD4-ED13-95E4C54F3AE5}"/>
                </a:ext>
              </a:extLst>
            </p:cNvPr>
            <p:cNvSpPr txBox="1"/>
            <p:nvPr userDrawn="1"/>
          </p:nvSpPr>
          <p:spPr>
            <a:xfrm flipH="1">
              <a:off x="2681834" y="1095656"/>
              <a:ext cx="777685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FEBRUARY</a:t>
              </a: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49E2D55F-23B0-E342-6A5B-8E8B4DE80E2D}"/>
                </a:ext>
              </a:extLst>
            </p:cNvPr>
            <p:cNvSpPr txBox="1"/>
            <p:nvPr userDrawn="1"/>
          </p:nvSpPr>
          <p:spPr>
            <a:xfrm flipH="1">
              <a:off x="-102143" y="1209732"/>
              <a:ext cx="797098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SEPTEMBER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42F3CE37-E158-202C-4AC8-06273CDD508C}"/>
                </a:ext>
              </a:extLst>
            </p:cNvPr>
            <p:cNvSpPr txBox="1"/>
            <p:nvPr userDrawn="1"/>
          </p:nvSpPr>
          <p:spPr>
            <a:xfrm flipH="1">
              <a:off x="477078" y="1103419"/>
              <a:ext cx="742070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OCTOBER</a:t>
              </a: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35F924B0-88C7-E950-CDC7-2307BC774645}"/>
                </a:ext>
              </a:extLst>
            </p:cNvPr>
            <p:cNvSpPr txBox="1"/>
            <p:nvPr userDrawn="1"/>
          </p:nvSpPr>
          <p:spPr>
            <a:xfrm flipH="1">
              <a:off x="935659" y="1230243"/>
              <a:ext cx="922407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NOVEMBER</a:t>
              </a: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D170ACAC-0D01-35C4-03CA-0D329C3F4AB0}"/>
                </a:ext>
              </a:extLst>
            </p:cNvPr>
            <p:cNvSpPr txBox="1"/>
            <p:nvPr userDrawn="1"/>
          </p:nvSpPr>
          <p:spPr>
            <a:xfrm flipH="1">
              <a:off x="1540131" y="1099137"/>
              <a:ext cx="844247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DECEMBER</a:t>
              </a: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26F524B6-D642-474A-7E79-EFD9D03ACF4A}"/>
                </a:ext>
              </a:extLst>
            </p:cNvPr>
            <p:cNvSpPr txBox="1"/>
            <p:nvPr userDrawn="1"/>
          </p:nvSpPr>
          <p:spPr>
            <a:xfrm flipH="1">
              <a:off x="3272684" y="1216190"/>
              <a:ext cx="67295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MARCH</a:t>
              </a: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78EFB0EA-B799-BFDA-340D-0E64F1C47DD2}"/>
                </a:ext>
              </a:extLst>
            </p:cNvPr>
            <p:cNvSpPr txBox="1"/>
            <p:nvPr userDrawn="1"/>
          </p:nvSpPr>
          <p:spPr>
            <a:xfrm flipH="1">
              <a:off x="3821872" y="1098852"/>
              <a:ext cx="641721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APRIL</a:t>
              </a: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16D535E8-B934-0009-495B-E0D621858392}"/>
                </a:ext>
              </a:extLst>
            </p:cNvPr>
            <p:cNvSpPr txBox="1"/>
            <p:nvPr userDrawn="1"/>
          </p:nvSpPr>
          <p:spPr>
            <a:xfrm flipH="1">
              <a:off x="4399543" y="1212116"/>
              <a:ext cx="641721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MAY</a:t>
              </a: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C1D5423E-7453-8C68-3A2E-4FFDF7C62B67}"/>
                </a:ext>
              </a:extLst>
            </p:cNvPr>
            <p:cNvSpPr txBox="1"/>
            <p:nvPr userDrawn="1"/>
          </p:nvSpPr>
          <p:spPr>
            <a:xfrm flipH="1">
              <a:off x="5003268" y="1084726"/>
              <a:ext cx="519997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JUNE</a:t>
              </a: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1464C969-9F35-DA53-CCFC-2F36B115BECE}"/>
                </a:ext>
              </a:extLst>
            </p:cNvPr>
            <p:cNvSpPr txBox="1"/>
            <p:nvPr userDrawn="1"/>
          </p:nvSpPr>
          <p:spPr>
            <a:xfrm flipH="1">
              <a:off x="5519470" y="1212116"/>
              <a:ext cx="581898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JULY</a:t>
              </a: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2889324D-058D-F177-BA74-26428DE8050E}"/>
                </a:ext>
              </a:extLst>
            </p:cNvPr>
            <p:cNvSpPr txBox="1"/>
            <p:nvPr userDrawn="1"/>
          </p:nvSpPr>
          <p:spPr>
            <a:xfrm flipH="1">
              <a:off x="6049398" y="1095656"/>
              <a:ext cx="641721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AUGUST</a:t>
              </a: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AC10A5A4-7EB8-AF64-E9FC-380CBC6A99C2}"/>
                </a:ext>
              </a:extLst>
            </p:cNvPr>
            <p:cNvSpPr txBox="1"/>
            <p:nvPr userDrawn="1"/>
          </p:nvSpPr>
          <p:spPr>
            <a:xfrm flipH="1">
              <a:off x="8808073" y="1227781"/>
              <a:ext cx="672950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JANUARY</a:t>
              </a: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06297CB0-8DE6-EC91-18BE-B840B8D6BAA3}"/>
                </a:ext>
              </a:extLst>
            </p:cNvPr>
            <p:cNvSpPr txBox="1"/>
            <p:nvPr userDrawn="1"/>
          </p:nvSpPr>
          <p:spPr>
            <a:xfrm flipH="1">
              <a:off x="9288834" y="1103419"/>
              <a:ext cx="777685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FEBRUARY</a:t>
              </a: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05772A12-9E0B-8594-6F72-6B5174EC9B00}"/>
                </a:ext>
              </a:extLst>
            </p:cNvPr>
            <p:cNvSpPr txBox="1"/>
            <p:nvPr userDrawn="1"/>
          </p:nvSpPr>
          <p:spPr>
            <a:xfrm flipH="1">
              <a:off x="6533948" y="1225323"/>
              <a:ext cx="797098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SEPTEMBER</a:t>
              </a: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1B545ADE-9FF5-F74D-3C3D-B85B3FA0F2D6}"/>
                </a:ext>
              </a:extLst>
            </p:cNvPr>
            <p:cNvSpPr txBox="1"/>
            <p:nvPr userDrawn="1"/>
          </p:nvSpPr>
          <p:spPr>
            <a:xfrm flipH="1">
              <a:off x="7104830" y="1080525"/>
              <a:ext cx="742070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OCTOBER</a:t>
              </a: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341A01B3-DFAE-1EB1-C0A0-49DDDC66340E}"/>
                </a:ext>
              </a:extLst>
            </p:cNvPr>
            <p:cNvSpPr txBox="1"/>
            <p:nvPr userDrawn="1"/>
          </p:nvSpPr>
          <p:spPr>
            <a:xfrm flipH="1">
              <a:off x="7568428" y="1229200"/>
              <a:ext cx="922407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NOVEMBER</a:t>
              </a:r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0DB3A381-8BD2-0BC3-EBFA-63BD747AB76E}"/>
                </a:ext>
              </a:extLst>
            </p:cNvPr>
            <p:cNvSpPr txBox="1"/>
            <p:nvPr userDrawn="1"/>
          </p:nvSpPr>
          <p:spPr>
            <a:xfrm flipH="1">
              <a:off x="8157815" y="1104149"/>
              <a:ext cx="844247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DECEMBER</a:t>
              </a: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E93C15A4-8D0A-91AD-57C9-A9514DD0D301}"/>
                </a:ext>
              </a:extLst>
            </p:cNvPr>
            <p:cNvSpPr txBox="1"/>
            <p:nvPr userDrawn="1"/>
          </p:nvSpPr>
          <p:spPr>
            <a:xfrm flipH="1">
              <a:off x="9906773" y="1214122"/>
              <a:ext cx="67295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MARCH</a:t>
              </a:r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A6FCC464-859E-9266-CE7E-9CF378EB453C}"/>
                </a:ext>
              </a:extLst>
            </p:cNvPr>
            <p:cNvSpPr txBox="1"/>
            <p:nvPr userDrawn="1"/>
          </p:nvSpPr>
          <p:spPr>
            <a:xfrm flipH="1">
              <a:off x="10471857" y="1099951"/>
              <a:ext cx="641721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APRIL</a:t>
              </a:r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93B90822-B208-3EDB-DBED-68B5D22D5F74}"/>
                </a:ext>
              </a:extLst>
            </p:cNvPr>
            <p:cNvSpPr txBox="1"/>
            <p:nvPr userDrawn="1"/>
          </p:nvSpPr>
          <p:spPr>
            <a:xfrm flipH="1">
              <a:off x="11018633" y="1216189"/>
              <a:ext cx="641721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MAY</a:t>
              </a:r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8CC472EE-4A1C-652C-573D-D002E568E9A6}"/>
                </a:ext>
              </a:extLst>
            </p:cNvPr>
            <p:cNvSpPr txBox="1"/>
            <p:nvPr userDrawn="1"/>
          </p:nvSpPr>
          <p:spPr>
            <a:xfrm flipH="1">
              <a:off x="11631442" y="1112088"/>
              <a:ext cx="519997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JUNE</a:t>
              </a:r>
            </a:p>
          </p:txBody>
        </p:sp>
      </p:grpSp>
      <p:sp>
        <p:nvSpPr>
          <p:cNvPr id="66" name="Rectangle 65">
            <a:extLst>
              <a:ext uri="{FF2B5EF4-FFF2-40B4-BE49-F238E27FC236}">
                <a16:creationId xmlns:a16="http://schemas.microsoft.com/office/drawing/2014/main" id="{FB6D1C89-AA26-BDE2-A4BC-4A187CDDFEEC}"/>
              </a:ext>
            </a:extLst>
          </p:cNvPr>
          <p:cNvSpPr/>
          <p:nvPr userDrawn="1"/>
        </p:nvSpPr>
        <p:spPr>
          <a:xfrm>
            <a:off x="3784338" y="2581443"/>
            <a:ext cx="794805" cy="42122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Important Date</a:t>
            </a: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3D35B51E-E6C0-3BCB-205C-A7EE3171F72D}"/>
              </a:ext>
            </a:extLst>
          </p:cNvPr>
          <p:cNvSpPr/>
          <p:nvPr userDrawn="1"/>
        </p:nvSpPr>
        <p:spPr>
          <a:xfrm>
            <a:off x="10940878" y="5356263"/>
            <a:ext cx="794805" cy="42122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Important Date</a:t>
            </a:r>
          </a:p>
        </p:txBody>
      </p:sp>
      <p:sp>
        <p:nvSpPr>
          <p:cNvPr id="68" name="Star: 5 Points 104">
            <a:extLst>
              <a:ext uri="{FF2B5EF4-FFF2-40B4-BE49-F238E27FC236}">
                <a16:creationId xmlns:a16="http://schemas.microsoft.com/office/drawing/2014/main" id="{C57DAB4F-6BDF-DB8E-C84B-CB3B7A88A237}"/>
              </a:ext>
            </a:extLst>
          </p:cNvPr>
          <p:cNvSpPr/>
          <p:nvPr userDrawn="1"/>
        </p:nvSpPr>
        <p:spPr>
          <a:xfrm>
            <a:off x="11217946" y="5010155"/>
            <a:ext cx="232492" cy="232492"/>
          </a:xfrm>
          <a:prstGeom prst="star5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D8E62A90-A33B-BBF6-9B25-973AF9E14761}"/>
              </a:ext>
            </a:extLst>
          </p:cNvPr>
          <p:cNvSpPr/>
          <p:nvPr userDrawn="1"/>
        </p:nvSpPr>
        <p:spPr>
          <a:xfrm>
            <a:off x="11538926" y="5359839"/>
            <a:ext cx="794805" cy="42122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Important Date</a:t>
            </a:r>
          </a:p>
        </p:txBody>
      </p:sp>
      <p:sp>
        <p:nvSpPr>
          <p:cNvPr id="70" name="Star: 5 Points 104">
            <a:extLst>
              <a:ext uri="{FF2B5EF4-FFF2-40B4-BE49-F238E27FC236}">
                <a16:creationId xmlns:a16="http://schemas.microsoft.com/office/drawing/2014/main" id="{8AA15147-6C31-8054-71FD-BCE5B3125D09}"/>
              </a:ext>
            </a:extLst>
          </p:cNvPr>
          <p:cNvSpPr/>
          <p:nvPr userDrawn="1"/>
        </p:nvSpPr>
        <p:spPr>
          <a:xfrm>
            <a:off x="11815994" y="5013731"/>
            <a:ext cx="232492" cy="232492"/>
          </a:xfrm>
          <a:prstGeom prst="star5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A5477282-1D9D-7E2F-0203-C21F4785FE6E}"/>
              </a:ext>
            </a:extLst>
          </p:cNvPr>
          <p:cNvSpPr/>
          <p:nvPr userDrawn="1"/>
        </p:nvSpPr>
        <p:spPr>
          <a:xfrm>
            <a:off x="4653405" y="5092188"/>
            <a:ext cx="127832" cy="12783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72" name="Oval 71">
            <a:extLst>
              <a:ext uri="{FF2B5EF4-FFF2-40B4-BE49-F238E27FC236}">
                <a16:creationId xmlns:a16="http://schemas.microsoft.com/office/drawing/2014/main" id="{B6EFC914-A072-DB5D-6A0C-5D14C8376114}"/>
              </a:ext>
            </a:extLst>
          </p:cNvPr>
          <p:cNvSpPr/>
          <p:nvPr userDrawn="1"/>
        </p:nvSpPr>
        <p:spPr>
          <a:xfrm>
            <a:off x="6842425" y="5092188"/>
            <a:ext cx="127832" cy="12783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73" name="Oval 72">
            <a:extLst>
              <a:ext uri="{FF2B5EF4-FFF2-40B4-BE49-F238E27FC236}">
                <a16:creationId xmlns:a16="http://schemas.microsoft.com/office/drawing/2014/main" id="{3F475F62-CF6E-D547-2AF0-DD0EF98A0588}"/>
              </a:ext>
            </a:extLst>
          </p:cNvPr>
          <p:cNvSpPr/>
          <p:nvPr userDrawn="1"/>
        </p:nvSpPr>
        <p:spPr>
          <a:xfrm>
            <a:off x="7961181" y="5092188"/>
            <a:ext cx="127832" cy="12783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74" name="Oval 73">
            <a:extLst>
              <a:ext uri="{FF2B5EF4-FFF2-40B4-BE49-F238E27FC236}">
                <a16:creationId xmlns:a16="http://schemas.microsoft.com/office/drawing/2014/main" id="{8A369386-3F64-CEA3-CEE0-54DAD94BC553}"/>
              </a:ext>
            </a:extLst>
          </p:cNvPr>
          <p:cNvSpPr/>
          <p:nvPr userDrawn="1"/>
        </p:nvSpPr>
        <p:spPr>
          <a:xfrm>
            <a:off x="10254108" y="5092188"/>
            <a:ext cx="127832" cy="12783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681D462F-7110-3931-A35A-3665004F939B}"/>
              </a:ext>
            </a:extLst>
          </p:cNvPr>
          <p:cNvSpPr/>
          <p:nvPr userDrawn="1"/>
        </p:nvSpPr>
        <p:spPr>
          <a:xfrm>
            <a:off x="560553" y="2234968"/>
            <a:ext cx="2228192" cy="322241"/>
          </a:xfrm>
          <a:prstGeom prst="rect">
            <a:avLst/>
          </a:prstGeom>
          <a:ln>
            <a:solidFill>
              <a:srgbClr val="3B3B3B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557F5DED-1314-79B5-6A39-2344AE900295}"/>
              </a:ext>
            </a:extLst>
          </p:cNvPr>
          <p:cNvSpPr/>
          <p:nvPr userDrawn="1"/>
        </p:nvSpPr>
        <p:spPr>
          <a:xfrm>
            <a:off x="2790088" y="2234968"/>
            <a:ext cx="1943954" cy="322241"/>
          </a:xfrm>
          <a:prstGeom prst="rect">
            <a:avLst/>
          </a:prstGeom>
          <a:ln>
            <a:solidFill>
              <a:srgbClr val="3B3B3B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3E535A82-9CA1-FC19-7126-1CFDC03585B6}"/>
              </a:ext>
            </a:extLst>
          </p:cNvPr>
          <p:cNvSpPr/>
          <p:nvPr userDrawn="1"/>
        </p:nvSpPr>
        <p:spPr>
          <a:xfrm>
            <a:off x="4741547" y="2234968"/>
            <a:ext cx="1930134" cy="322241"/>
          </a:xfrm>
          <a:prstGeom prst="rect">
            <a:avLst/>
          </a:prstGeom>
          <a:ln>
            <a:solidFill>
              <a:srgbClr val="3B3B3B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48EF29EF-F855-CDC4-93B3-5F9FB691D3E2}"/>
              </a:ext>
            </a:extLst>
          </p:cNvPr>
          <p:cNvSpPr/>
          <p:nvPr userDrawn="1"/>
        </p:nvSpPr>
        <p:spPr>
          <a:xfrm>
            <a:off x="7021963" y="4104775"/>
            <a:ext cx="2219399" cy="338978"/>
          </a:xfrm>
          <a:prstGeom prst="rect">
            <a:avLst/>
          </a:prstGeom>
          <a:ln>
            <a:solidFill>
              <a:srgbClr val="3B3B3B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4BD3BAA2-F9A6-173C-DA35-907BA033822C}"/>
              </a:ext>
            </a:extLst>
          </p:cNvPr>
          <p:cNvSpPr/>
          <p:nvPr userDrawn="1"/>
        </p:nvSpPr>
        <p:spPr>
          <a:xfrm>
            <a:off x="560552" y="2086235"/>
            <a:ext cx="6121067" cy="152077"/>
          </a:xfrm>
          <a:prstGeom prst="rect">
            <a:avLst/>
          </a:prstGeom>
          <a:solidFill>
            <a:srgbClr val="999E72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Title</a:t>
            </a: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56801CEA-8689-CC41-AB51-D2329AEE4C6C}"/>
              </a:ext>
            </a:extLst>
          </p:cNvPr>
          <p:cNvSpPr/>
          <p:nvPr userDrawn="1"/>
        </p:nvSpPr>
        <p:spPr>
          <a:xfrm>
            <a:off x="560552" y="3964656"/>
            <a:ext cx="8680810" cy="144889"/>
          </a:xfrm>
          <a:prstGeom prst="rect">
            <a:avLst/>
          </a:prstGeom>
          <a:solidFill>
            <a:srgbClr val="7FAD96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Title</a:t>
            </a: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EB2FC7BD-D099-188C-6D17-A2ADAA79A049}"/>
              </a:ext>
            </a:extLst>
          </p:cNvPr>
          <p:cNvSpPr/>
          <p:nvPr userDrawn="1"/>
        </p:nvSpPr>
        <p:spPr>
          <a:xfrm>
            <a:off x="6691119" y="2730952"/>
            <a:ext cx="315517" cy="333910"/>
          </a:xfrm>
          <a:prstGeom prst="rect">
            <a:avLst/>
          </a:prstGeom>
          <a:ln>
            <a:solidFill>
              <a:srgbClr val="3B3B3B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0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13057B80-C87D-44E2-4C9C-670714F47BF6}"/>
              </a:ext>
            </a:extLst>
          </p:cNvPr>
          <p:cNvSpPr/>
          <p:nvPr userDrawn="1"/>
        </p:nvSpPr>
        <p:spPr>
          <a:xfrm>
            <a:off x="7003099" y="2728957"/>
            <a:ext cx="2262684" cy="336620"/>
          </a:xfrm>
          <a:prstGeom prst="rect">
            <a:avLst/>
          </a:prstGeom>
          <a:ln>
            <a:solidFill>
              <a:srgbClr val="3B3B3B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4B7B31B0-B009-BC55-D0EC-E608C5CEB0FE}"/>
              </a:ext>
            </a:extLst>
          </p:cNvPr>
          <p:cNvSpPr/>
          <p:nvPr userDrawn="1"/>
        </p:nvSpPr>
        <p:spPr>
          <a:xfrm>
            <a:off x="6681262" y="2569322"/>
            <a:ext cx="2583181" cy="161629"/>
          </a:xfrm>
          <a:prstGeom prst="rect">
            <a:avLst/>
          </a:prstGeom>
          <a:solidFill>
            <a:srgbClr val="999E72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Title</a:t>
            </a: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3E0A6C4B-53D0-B3DC-A739-D2F14D2618FA}"/>
              </a:ext>
            </a:extLst>
          </p:cNvPr>
          <p:cNvSpPr/>
          <p:nvPr userDrawn="1"/>
        </p:nvSpPr>
        <p:spPr>
          <a:xfrm>
            <a:off x="560553" y="4115629"/>
            <a:ext cx="2914321" cy="328124"/>
          </a:xfrm>
          <a:prstGeom prst="rect">
            <a:avLst/>
          </a:prstGeom>
          <a:ln>
            <a:solidFill>
              <a:srgbClr val="3B3B3B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2EAE139D-EB47-6B59-AB0D-2A9E04D18F16}"/>
              </a:ext>
            </a:extLst>
          </p:cNvPr>
          <p:cNvSpPr/>
          <p:nvPr userDrawn="1"/>
        </p:nvSpPr>
        <p:spPr>
          <a:xfrm>
            <a:off x="3482909" y="4115629"/>
            <a:ext cx="1242555" cy="328124"/>
          </a:xfrm>
          <a:prstGeom prst="rect">
            <a:avLst/>
          </a:prstGeom>
          <a:ln>
            <a:solidFill>
              <a:srgbClr val="3B3B3B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EFA5878C-5CDE-6327-DBCF-F06A714695D0}"/>
              </a:ext>
            </a:extLst>
          </p:cNvPr>
          <p:cNvSpPr/>
          <p:nvPr userDrawn="1"/>
        </p:nvSpPr>
        <p:spPr>
          <a:xfrm>
            <a:off x="4735915" y="4115629"/>
            <a:ext cx="2286048" cy="328124"/>
          </a:xfrm>
          <a:prstGeom prst="rect">
            <a:avLst/>
          </a:prstGeom>
          <a:ln>
            <a:solidFill>
              <a:srgbClr val="3B3B3B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484715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meline Dai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FD3BE7C9-AD9A-658A-A1DD-9075D287BB21}"/>
              </a:ext>
            </a:extLst>
          </p:cNvPr>
          <p:cNvGrpSpPr/>
          <p:nvPr userDrawn="1"/>
        </p:nvGrpSpPr>
        <p:grpSpPr>
          <a:xfrm>
            <a:off x="387302" y="1086476"/>
            <a:ext cx="11281826" cy="5292207"/>
            <a:chOff x="387302" y="1086476"/>
            <a:chExt cx="11281826" cy="5292207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578798E6-6A4E-2465-DCEA-72BA69AB7E76}"/>
                </a:ext>
              </a:extLst>
            </p:cNvPr>
            <p:cNvGrpSpPr/>
            <p:nvPr/>
          </p:nvGrpSpPr>
          <p:grpSpPr>
            <a:xfrm>
              <a:off x="387302" y="1098572"/>
              <a:ext cx="3896420" cy="5280111"/>
              <a:chOff x="0" y="938639"/>
              <a:chExt cx="12186428" cy="5919361"/>
            </a:xfrm>
          </p:grpSpPr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DC4C9041-3820-F52F-D2EC-973F63F3B93B}"/>
                  </a:ext>
                </a:extLst>
              </p:cNvPr>
              <p:cNvSpPr/>
              <p:nvPr/>
            </p:nvSpPr>
            <p:spPr>
              <a:xfrm>
                <a:off x="0" y="938639"/>
                <a:ext cx="956323" cy="5919356"/>
              </a:xfrm>
              <a:prstGeom prst="rect">
                <a:avLst/>
              </a:prstGeom>
              <a:solidFill>
                <a:srgbClr val="E6E6E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9ECE82C6-A1DF-AD90-987F-5D86F76C32D7}"/>
                  </a:ext>
                </a:extLst>
              </p:cNvPr>
              <p:cNvSpPr/>
              <p:nvPr/>
            </p:nvSpPr>
            <p:spPr>
              <a:xfrm>
                <a:off x="960843" y="938642"/>
                <a:ext cx="1018926" cy="5919356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4A20252A-D34F-8341-DA21-B732E454A363}"/>
                  </a:ext>
                </a:extLst>
              </p:cNvPr>
              <p:cNvSpPr/>
              <p:nvPr/>
            </p:nvSpPr>
            <p:spPr>
              <a:xfrm>
                <a:off x="1992656" y="938642"/>
                <a:ext cx="1018926" cy="5919356"/>
              </a:xfrm>
              <a:prstGeom prst="rect">
                <a:avLst/>
              </a:prstGeom>
              <a:solidFill>
                <a:srgbClr val="E6E6E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797468A9-09F6-081F-1172-7258CE52B091}"/>
                  </a:ext>
                </a:extLst>
              </p:cNvPr>
              <p:cNvSpPr/>
              <p:nvPr/>
            </p:nvSpPr>
            <p:spPr>
              <a:xfrm>
                <a:off x="3011582" y="938641"/>
                <a:ext cx="1018926" cy="5919356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D23EB557-16F5-E93C-CE3D-6CF8E80A2493}"/>
                  </a:ext>
                </a:extLst>
              </p:cNvPr>
              <p:cNvSpPr/>
              <p:nvPr/>
            </p:nvSpPr>
            <p:spPr>
              <a:xfrm>
                <a:off x="4030508" y="938644"/>
                <a:ext cx="1018926" cy="5919356"/>
              </a:xfrm>
              <a:prstGeom prst="rect">
                <a:avLst/>
              </a:prstGeom>
              <a:solidFill>
                <a:srgbClr val="E6E6E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921660EF-10DA-4671-5FE2-C73275E1C268}"/>
                  </a:ext>
                </a:extLst>
              </p:cNvPr>
              <p:cNvSpPr/>
              <p:nvPr/>
            </p:nvSpPr>
            <p:spPr>
              <a:xfrm>
                <a:off x="5049434" y="938643"/>
                <a:ext cx="1018926" cy="5919356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8D945FCB-78E7-055B-49B6-8B750433E5C8}"/>
                  </a:ext>
                </a:extLst>
              </p:cNvPr>
              <p:cNvSpPr/>
              <p:nvPr/>
            </p:nvSpPr>
            <p:spPr>
              <a:xfrm>
                <a:off x="6068359" y="938642"/>
                <a:ext cx="1018926" cy="5919356"/>
              </a:xfrm>
              <a:prstGeom prst="rect">
                <a:avLst/>
              </a:prstGeom>
              <a:solidFill>
                <a:srgbClr val="E6E6E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38" name="Rectangle 37">
                <a:extLst>
                  <a:ext uri="{FF2B5EF4-FFF2-40B4-BE49-F238E27FC236}">
                    <a16:creationId xmlns:a16="http://schemas.microsoft.com/office/drawing/2014/main" id="{93EDCE5B-6318-5601-1CCD-786C712F4370}"/>
                  </a:ext>
                </a:extLst>
              </p:cNvPr>
              <p:cNvSpPr/>
              <p:nvPr/>
            </p:nvSpPr>
            <p:spPr>
              <a:xfrm>
                <a:off x="7087286" y="938641"/>
                <a:ext cx="1018926" cy="5919356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39" name="Rectangle 38">
                <a:extLst>
                  <a:ext uri="{FF2B5EF4-FFF2-40B4-BE49-F238E27FC236}">
                    <a16:creationId xmlns:a16="http://schemas.microsoft.com/office/drawing/2014/main" id="{A920B62B-CE71-C981-E35F-1BB7C9202D6B}"/>
                  </a:ext>
                </a:extLst>
              </p:cNvPr>
              <p:cNvSpPr/>
              <p:nvPr/>
            </p:nvSpPr>
            <p:spPr>
              <a:xfrm>
                <a:off x="8106211" y="938641"/>
                <a:ext cx="1018926" cy="5919356"/>
              </a:xfrm>
              <a:prstGeom prst="rect">
                <a:avLst/>
              </a:prstGeom>
              <a:solidFill>
                <a:srgbClr val="E6E6E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D5FC9D16-6E4A-76C3-1E06-0045857C382E}"/>
                  </a:ext>
                </a:extLst>
              </p:cNvPr>
              <p:cNvSpPr/>
              <p:nvPr/>
            </p:nvSpPr>
            <p:spPr>
              <a:xfrm>
                <a:off x="9125138" y="938640"/>
                <a:ext cx="1018926" cy="5919356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41" name="Rectangle 40">
                <a:extLst>
                  <a:ext uri="{FF2B5EF4-FFF2-40B4-BE49-F238E27FC236}">
                    <a16:creationId xmlns:a16="http://schemas.microsoft.com/office/drawing/2014/main" id="{3E44918B-6620-842F-51D4-F694782C35EE}"/>
                  </a:ext>
                </a:extLst>
              </p:cNvPr>
              <p:cNvSpPr/>
              <p:nvPr/>
            </p:nvSpPr>
            <p:spPr>
              <a:xfrm>
                <a:off x="10148574" y="938641"/>
                <a:ext cx="1018925" cy="5919356"/>
              </a:xfrm>
              <a:prstGeom prst="rect">
                <a:avLst/>
              </a:prstGeom>
              <a:solidFill>
                <a:srgbClr val="E6E6E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42" name="Rectangle 41">
                <a:extLst>
                  <a:ext uri="{FF2B5EF4-FFF2-40B4-BE49-F238E27FC236}">
                    <a16:creationId xmlns:a16="http://schemas.microsoft.com/office/drawing/2014/main" id="{D1DCC6F3-2937-67AF-8EBF-7638425D58E1}"/>
                  </a:ext>
                </a:extLst>
              </p:cNvPr>
              <p:cNvSpPr/>
              <p:nvPr/>
            </p:nvSpPr>
            <p:spPr>
              <a:xfrm>
                <a:off x="11167503" y="938640"/>
                <a:ext cx="1018925" cy="5919356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</p:grp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62A4EB5E-F7B2-7D59-1D8E-45CF69113E8D}"/>
                </a:ext>
              </a:extLst>
            </p:cNvPr>
            <p:cNvGrpSpPr/>
            <p:nvPr/>
          </p:nvGrpSpPr>
          <p:grpSpPr>
            <a:xfrm>
              <a:off x="4266278" y="1098572"/>
              <a:ext cx="3871020" cy="5280111"/>
              <a:chOff x="0" y="938639"/>
              <a:chExt cx="12106988" cy="5919361"/>
            </a:xfrm>
          </p:grpSpPr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B73E5326-4604-6C6C-A418-BB084AB922A4}"/>
                  </a:ext>
                </a:extLst>
              </p:cNvPr>
              <p:cNvSpPr/>
              <p:nvPr/>
            </p:nvSpPr>
            <p:spPr>
              <a:xfrm>
                <a:off x="0" y="938639"/>
                <a:ext cx="956323" cy="5919356"/>
              </a:xfrm>
              <a:prstGeom prst="rect">
                <a:avLst/>
              </a:prstGeom>
              <a:solidFill>
                <a:srgbClr val="E6E6E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BA354F92-9D0E-F2FC-B479-08981B5F62C0}"/>
                  </a:ext>
                </a:extLst>
              </p:cNvPr>
              <p:cNvSpPr/>
              <p:nvPr/>
            </p:nvSpPr>
            <p:spPr>
              <a:xfrm>
                <a:off x="921124" y="938642"/>
                <a:ext cx="1018927" cy="5919356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58C84D3A-355B-CE7F-D734-282BE6B767A1}"/>
                  </a:ext>
                </a:extLst>
              </p:cNvPr>
              <p:cNvSpPr/>
              <p:nvPr/>
            </p:nvSpPr>
            <p:spPr>
              <a:xfrm>
                <a:off x="1913216" y="938642"/>
                <a:ext cx="1018927" cy="5919356"/>
              </a:xfrm>
              <a:prstGeom prst="rect">
                <a:avLst/>
              </a:prstGeom>
              <a:solidFill>
                <a:srgbClr val="E6E6E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7BF4596F-1956-010A-4E7C-8212F23465C8}"/>
                  </a:ext>
                </a:extLst>
              </p:cNvPr>
              <p:cNvSpPr/>
              <p:nvPr/>
            </p:nvSpPr>
            <p:spPr>
              <a:xfrm>
                <a:off x="2932140" y="938641"/>
                <a:ext cx="1018927" cy="5919356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380B3BF1-6E0F-7E66-BC2F-CE842C75D413}"/>
                  </a:ext>
                </a:extLst>
              </p:cNvPr>
              <p:cNvSpPr/>
              <p:nvPr/>
            </p:nvSpPr>
            <p:spPr>
              <a:xfrm>
                <a:off x="3951067" y="938644"/>
                <a:ext cx="1018927" cy="5919356"/>
              </a:xfrm>
              <a:prstGeom prst="rect">
                <a:avLst/>
              </a:prstGeom>
              <a:solidFill>
                <a:srgbClr val="E6E6E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E6A92E34-B367-0D43-B660-1F73F4B14A5E}"/>
                  </a:ext>
                </a:extLst>
              </p:cNvPr>
              <p:cNvSpPr/>
              <p:nvPr/>
            </p:nvSpPr>
            <p:spPr>
              <a:xfrm>
                <a:off x="4969994" y="938643"/>
                <a:ext cx="1018927" cy="5919356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7F22FC78-6EEF-B1C0-7755-CFE10072287D}"/>
                  </a:ext>
                </a:extLst>
              </p:cNvPr>
              <p:cNvSpPr/>
              <p:nvPr/>
            </p:nvSpPr>
            <p:spPr>
              <a:xfrm>
                <a:off x="5988918" y="938642"/>
                <a:ext cx="1018927" cy="5919356"/>
              </a:xfrm>
              <a:prstGeom prst="rect">
                <a:avLst/>
              </a:prstGeom>
              <a:solidFill>
                <a:srgbClr val="E6E6E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7329D7EB-F84B-23A5-91EB-BA01A8732109}"/>
                  </a:ext>
                </a:extLst>
              </p:cNvPr>
              <p:cNvSpPr/>
              <p:nvPr/>
            </p:nvSpPr>
            <p:spPr>
              <a:xfrm>
                <a:off x="7007845" y="938641"/>
                <a:ext cx="1018927" cy="5919356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3C2DE840-5C18-662D-722B-0C4F0B9F9D6D}"/>
                  </a:ext>
                </a:extLst>
              </p:cNvPr>
              <p:cNvSpPr/>
              <p:nvPr/>
            </p:nvSpPr>
            <p:spPr>
              <a:xfrm>
                <a:off x="8026769" y="938641"/>
                <a:ext cx="1018927" cy="5919356"/>
              </a:xfrm>
              <a:prstGeom prst="rect">
                <a:avLst/>
              </a:prstGeom>
              <a:solidFill>
                <a:srgbClr val="E6E6E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03ECF87E-EB71-2872-1750-14F42D18C7A8}"/>
                  </a:ext>
                </a:extLst>
              </p:cNvPr>
              <p:cNvSpPr/>
              <p:nvPr/>
            </p:nvSpPr>
            <p:spPr>
              <a:xfrm>
                <a:off x="9045696" y="938640"/>
                <a:ext cx="1018927" cy="5919356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3BA4291C-FC85-BA03-D894-908883E3B351}"/>
                  </a:ext>
                </a:extLst>
              </p:cNvPr>
              <p:cNvSpPr/>
              <p:nvPr/>
            </p:nvSpPr>
            <p:spPr>
              <a:xfrm>
                <a:off x="10069133" y="938641"/>
                <a:ext cx="1018924" cy="5919356"/>
              </a:xfrm>
              <a:prstGeom prst="rect">
                <a:avLst/>
              </a:prstGeom>
              <a:solidFill>
                <a:srgbClr val="E6E6E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14FDAEFB-DEDF-1072-4A7B-9A29D8A7A1F2}"/>
                  </a:ext>
                </a:extLst>
              </p:cNvPr>
              <p:cNvSpPr/>
              <p:nvPr/>
            </p:nvSpPr>
            <p:spPr>
              <a:xfrm>
                <a:off x="11088064" y="938640"/>
                <a:ext cx="1018924" cy="5919356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</p:grp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A4B9530C-D835-B8B5-7F51-87267C7F6044}"/>
                </a:ext>
              </a:extLst>
            </p:cNvPr>
            <p:cNvGrpSpPr/>
            <p:nvPr/>
          </p:nvGrpSpPr>
          <p:grpSpPr>
            <a:xfrm>
              <a:off x="8123895" y="1086476"/>
              <a:ext cx="3545233" cy="5280111"/>
              <a:chOff x="0" y="938639"/>
              <a:chExt cx="11088057" cy="5919361"/>
            </a:xfrm>
          </p:grpSpPr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DA984895-C592-CABA-5B49-8BEBB058323B}"/>
                  </a:ext>
                </a:extLst>
              </p:cNvPr>
              <p:cNvSpPr/>
              <p:nvPr/>
            </p:nvSpPr>
            <p:spPr>
              <a:xfrm>
                <a:off x="0" y="938639"/>
                <a:ext cx="956323" cy="5919356"/>
              </a:xfrm>
              <a:prstGeom prst="rect">
                <a:avLst/>
              </a:prstGeom>
              <a:solidFill>
                <a:srgbClr val="E6E6E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9A3BC686-5187-5390-A3B4-728850BB2843}"/>
                  </a:ext>
                </a:extLst>
              </p:cNvPr>
              <p:cNvSpPr/>
              <p:nvPr/>
            </p:nvSpPr>
            <p:spPr>
              <a:xfrm>
                <a:off x="921124" y="938642"/>
                <a:ext cx="1018927" cy="5919356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5E2F3184-D388-E31D-C34E-BF7F2247DD25}"/>
                  </a:ext>
                </a:extLst>
              </p:cNvPr>
              <p:cNvSpPr/>
              <p:nvPr/>
            </p:nvSpPr>
            <p:spPr>
              <a:xfrm>
                <a:off x="1913216" y="938642"/>
                <a:ext cx="1018927" cy="5919356"/>
              </a:xfrm>
              <a:prstGeom prst="rect">
                <a:avLst/>
              </a:prstGeom>
              <a:solidFill>
                <a:srgbClr val="E6E6E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477371E1-4EED-5A08-C370-85444808DB27}"/>
                  </a:ext>
                </a:extLst>
              </p:cNvPr>
              <p:cNvSpPr/>
              <p:nvPr/>
            </p:nvSpPr>
            <p:spPr>
              <a:xfrm>
                <a:off x="2932140" y="938641"/>
                <a:ext cx="1018927" cy="5919356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6C0435F4-F34C-40A5-EDE7-A15F7EBC23A7}"/>
                  </a:ext>
                </a:extLst>
              </p:cNvPr>
              <p:cNvSpPr/>
              <p:nvPr/>
            </p:nvSpPr>
            <p:spPr>
              <a:xfrm>
                <a:off x="3951067" y="938644"/>
                <a:ext cx="1018927" cy="5919356"/>
              </a:xfrm>
              <a:prstGeom prst="rect">
                <a:avLst/>
              </a:prstGeom>
              <a:solidFill>
                <a:srgbClr val="E6E6E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A5331A68-E541-86F1-88EB-03E15634AA39}"/>
                  </a:ext>
                </a:extLst>
              </p:cNvPr>
              <p:cNvSpPr/>
              <p:nvPr/>
            </p:nvSpPr>
            <p:spPr>
              <a:xfrm>
                <a:off x="4969994" y="938643"/>
                <a:ext cx="1018927" cy="5919356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77884DF4-2A9E-9A3E-16E6-1401965BFAE8}"/>
                  </a:ext>
                </a:extLst>
              </p:cNvPr>
              <p:cNvSpPr/>
              <p:nvPr/>
            </p:nvSpPr>
            <p:spPr>
              <a:xfrm>
                <a:off x="5988918" y="938642"/>
                <a:ext cx="1018927" cy="5919356"/>
              </a:xfrm>
              <a:prstGeom prst="rect">
                <a:avLst/>
              </a:prstGeom>
              <a:solidFill>
                <a:srgbClr val="E6E6E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58E5D540-813A-A709-FA75-5C079229ACFF}"/>
                  </a:ext>
                </a:extLst>
              </p:cNvPr>
              <p:cNvSpPr/>
              <p:nvPr/>
            </p:nvSpPr>
            <p:spPr>
              <a:xfrm>
                <a:off x="7007845" y="938641"/>
                <a:ext cx="1018927" cy="5919356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015C4F7C-D90D-712F-6996-FD7B8F2ED1DA}"/>
                  </a:ext>
                </a:extLst>
              </p:cNvPr>
              <p:cNvSpPr/>
              <p:nvPr/>
            </p:nvSpPr>
            <p:spPr>
              <a:xfrm>
                <a:off x="8026769" y="938641"/>
                <a:ext cx="1018927" cy="5919356"/>
              </a:xfrm>
              <a:prstGeom prst="rect">
                <a:avLst/>
              </a:prstGeom>
              <a:solidFill>
                <a:srgbClr val="E6E6E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D96CBF1D-C7EE-AA08-2A14-9C836EDAE699}"/>
                  </a:ext>
                </a:extLst>
              </p:cNvPr>
              <p:cNvSpPr/>
              <p:nvPr/>
            </p:nvSpPr>
            <p:spPr>
              <a:xfrm>
                <a:off x="9045696" y="938640"/>
                <a:ext cx="1018927" cy="5919356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564129E2-055F-4315-7671-E9391377C055}"/>
                  </a:ext>
                </a:extLst>
              </p:cNvPr>
              <p:cNvSpPr/>
              <p:nvPr/>
            </p:nvSpPr>
            <p:spPr>
              <a:xfrm>
                <a:off x="10069133" y="938641"/>
                <a:ext cx="1018924" cy="5919356"/>
              </a:xfrm>
              <a:prstGeom prst="rect">
                <a:avLst/>
              </a:prstGeom>
              <a:solidFill>
                <a:srgbClr val="E6E6E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</p:grpSp>
      </p:grpSp>
      <p:sp>
        <p:nvSpPr>
          <p:cNvPr id="43" name="Rectangle 42">
            <a:extLst>
              <a:ext uri="{FF2B5EF4-FFF2-40B4-BE49-F238E27FC236}">
                <a16:creationId xmlns:a16="http://schemas.microsoft.com/office/drawing/2014/main" id="{1620DEB8-5294-F946-D8F4-70AA2B14F8DF}"/>
              </a:ext>
            </a:extLst>
          </p:cNvPr>
          <p:cNvSpPr/>
          <p:nvPr userDrawn="1"/>
        </p:nvSpPr>
        <p:spPr>
          <a:xfrm>
            <a:off x="387302" y="2173203"/>
            <a:ext cx="2228192" cy="322241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5378669F-F6FF-141F-1194-23046CFF6EB5}"/>
              </a:ext>
            </a:extLst>
          </p:cNvPr>
          <p:cNvSpPr/>
          <p:nvPr userDrawn="1"/>
        </p:nvSpPr>
        <p:spPr>
          <a:xfrm>
            <a:off x="2616837" y="2173203"/>
            <a:ext cx="1943954" cy="322241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AC4C236B-E5BE-0A2D-28C6-FCCAFD6F0708}"/>
              </a:ext>
            </a:extLst>
          </p:cNvPr>
          <p:cNvSpPr/>
          <p:nvPr userDrawn="1"/>
        </p:nvSpPr>
        <p:spPr>
          <a:xfrm>
            <a:off x="4570604" y="2173203"/>
            <a:ext cx="1930134" cy="322241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9CA6E194-C7BD-A4B9-5FD0-F31A548D54AA}"/>
              </a:ext>
            </a:extLst>
          </p:cNvPr>
          <p:cNvSpPr/>
          <p:nvPr userDrawn="1"/>
        </p:nvSpPr>
        <p:spPr>
          <a:xfrm>
            <a:off x="6866237" y="4043007"/>
            <a:ext cx="2224956" cy="338978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F5502C9B-A484-F339-9BCB-B157519D3A92}"/>
              </a:ext>
            </a:extLst>
          </p:cNvPr>
          <p:cNvSpPr/>
          <p:nvPr userDrawn="1"/>
        </p:nvSpPr>
        <p:spPr>
          <a:xfrm>
            <a:off x="387301" y="2024470"/>
            <a:ext cx="6121067" cy="152077"/>
          </a:xfrm>
          <a:prstGeom prst="rect">
            <a:avLst/>
          </a:prstGeom>
          <a:solidFill>
            <a:srgbClr val="999E72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Title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5C4866CC-8660-5DA5-10D2-6C9DD16C532C}"/>
              </a:ext>
            </a:extLst>
          </p:cNvPr>
          <p:cNvSpPr/>
          <p:nvPr userDrawn="1"/>
        </p:nvSpPr>
        <p:spPr>
          <a:xfrm>
            <a:off x="382677" y="3904244"/>
            <a:ext cx="8684616" cy="144889"/>
          </a:xfrm>
          <a:prstGeom prst="rect">
            <a:avLst/>
          </a:prstGeom>
          <a:solidFill>
            <a:srgbClr val="7FAD96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Title</a:t>
            </a:r>
          </a:p>
        </p:txBody>
      </p:sp>
      <p:sp>
        <p:nvSpPr>
          <p:cNvPr id="49" name="Star: 5 Points 48">
            <a:extLst>
              <a:ext uri="{FF2B5EF4-FFF2-40B4-BE49-F238E27FC236}">
                <a16:creationId xmlns:a16="http://schemas.microsoft.com/office/drawing/2014/main" id="{B953CABC-A828-B19E-CE49-5BBBAB677607}"/>
              </a:ext>
            </a:extLst>
          </p:cNvPr>
          <p:cNvSpPr/>
          <p:nvPr userDrawn="1"/>
        </p:nvSpPr>
        <p:spPr>
          <a:xfrm>
            <a:off x="8877758" y="3957566"/>
            <a:ext cx="359203" cy="359203"/>
          </a:xfrm>
          <a:prstGeom prst="star5">
            <a:avLst/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838BC786-9BFE-09F0-AD89-3DE5A16D92B7}"/>
              </a:ext>
            </a:extLst>
          </p:cNvPr>
          <p:cNvSpPr txBox="1"/>
          <p:nvPr userDrawn="1"/>
        </p:nvSpPr>
        <p:spPr>
          <a:xfrm>
            <a:off x="8544105" y="4485076"/>
            <a:ext cx="110647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b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Notes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DAD4CA8A-93A6-3FA5-5640-ECF813C5D6C2}"/>
              </a:ext>
            </a:extLst>
          </p:cNvPr>
          <p:cNvSpPr/>
          <p:nvPr userDrawn="1"/>
        </p:nvSpPr>
        <p:spPr>
          <a:xfrm>
            <a:off x="6515505" y="2675311"/>
            <a:ext cx="315517" cy="330151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00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390B389E-3E1A-30B8-EA79-DB1983B8F801}"/>
              </a:ext>
            </a:extLst>
          </p:cNvPr>
          <p:cNvSpPr/>
          <p:nvPr userDrawn="1"/>
        </p:nvSpPr>
        <p:spPr>
          <a:xfrm>
            <a:off x="6821460" y="2669189"/>
            <a:ext cx="2262684" cy="3366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8D1E7824-C1C5-0CF7-47FE-A13D37A38CF9}"/>
              </a:ext>
            </a:extLst>
          </p:cNvPr>
          <p:cNvSpPr/>
          <p:nvPr userDrawn="1"/>
        </p:nvSpPr>
        <p:spPr>
          <a:xfrm>
            <a:off x="6508011" y="2507557"/>
            <a:ext cx="2583181" cy="161629"/>
          </a:xfrm>
          <a:prstGeom prst="rect">
            <a:avLst/>
          </a:prstGeom>
          <a:solidFill>
            <a:srgbClr val="999E72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Title</a:t>
            </a:r>
          </a:p>
        </p:txBody>
      </p:sp>
      <p:sp>
        <p:nvSpPr>
          <p:cNvPr id="54" name="Star: 5 Points 53">
            <a:extLst>
              <a:ext uri="{FF2B5EF4-FFF2-40B4-BE49-F238E27FC236}">
                <a16:creationId xmlns:a16="http://schemas.microsoft.com/office/drawing/2014/main" id="{F75A8572-BB12-FF7D-F15D-94838903820A}"/>
              </a:ext>
            </a:extLst>
          </p:cNvPr>
          <p:cNvSpPr/>
          <p:nvPr userDrawn="1"/>
        </p:nvSpPr>
        <p:spPr>
          <a:xfrm>
            <a:off x="6758356" y="2635157"/>
            <a:ext cx="359203" cy="336620"/>
          </a:xfrm>
          <a:prstGeom prst="star5">
            <a:avLst>
              <a:gd name="adj" fmla="val 20164"/>
              <a:gd name="hf" fmla="val 105146"/>
              <a:gd name="vf" fmla="val 110557"/>
            </a:avLst>
          </a:prstGeom>
          <a:solidFill>
            <a:srgbClr val="FFC000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6FC931E8-C3DF-8600-9513-5E821959488D}"/>
              </a:ext>
            </a:extLst>
          </p:cNvPr>
          <p:cNvSpPr txBox="1"/>
          <p:nvPr userDrawn="1"/>
        </p:nvSpPr>
        <p:spPr>
          <a:xfrm>
            <a:off x="6365608" y="3022398"/>
            <a:ext cx="121856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b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Important date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A05E3C85-039E-1A45-ED00-B640916CF5E8}"/>
              </a:ext>
            </a:extLst>
          </p:cNvPr>
          <p:cNvSpPr txBox="1"/>
          <p:nvPr userDrawn="1"/>
        </p:nvSpPr>
        <p:spPr>
          <a:xfrm>
            <a:off x="6640878" y="2293599"/>
            <a:ext cx="234126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Notes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E0A89CCB-83C4-2DBD-3FB3-4193EDBFC749}"/>
              </a:ext>
            </a:extLst>
          </p:cNvPr>
          <p:cNvSpPr/>
          <p:nvPr userDrawn="1"/>
        </p:nvSpPr>
        <p:spPr>
          <a:xfrm>
            <a:off x="387302" y="4053864"/>
            <a:ext cx="2914321" cy="328124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423A9521-FCD1-9615-F1EB-35845B10D70C}"/>
              </a:ext>
            </a:extLst>
          </p:cNvPr>
          <p:cNvSpPr/>
          <p:nvPr userDrawn="1"/>
        </p:nvSpPr>
        <p:spPr>
          <a:xfrm>
            <a:off x="3309658" y="4053864"/>
            <a:ext cx="1242555" cy="328124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CB5D032D-0F08-08B3-E0D8-BB88A2EAD8F9}"/>
              </a:ext>
            </a:extLst>
          </p:cNvPr>
          <p:cNvSpPr/>
          <p:nvPr userDrawn="1"/>
        </p:nvSpPr>
        <p:spPr>
          <a:xfrm>
            <a:off x="4562664" y="4053864"/>
            <a:ext cx="2286048" cy="328124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grpSp>
        <p:nvGrpSpPr>
          <p:cNvPr id="60" name="Group 59">
            <a:extLst>
              <a:ext uri="{FF2B5EF4-FFF2-40B4-BE49-F238E27FC236}">
                <a16:creationId xmlns:a16="http://schemas.microsoft.com/office/drawing/2014/main" id="{32B0D4F8-2CE7-3140-1E5D-E24740E41466}"/>
              </a:ext>
            </a:extLst>
          </p:cNvPr>
          <p:cNvGrpSpPr/>
          <p:nvPr userDrawn="1"/>
        </p:nvGrpSpPr>
        <p:grpSpPr>
          <a:xfrm>
            <a:off x="298633" y="1066745"/>
            <a:ext cx="11441050" cy="247268"/>
            <a:chOff x="298633" y="1066745"/>
            <a:chExt cx="11441050" cy="247268"/>
          </a:xfrm>
        </p:grpSpPr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7A4984A4-A08C-81D6-6BF0-7F906B75E77B}"/>
                </a:ext>
              </a:extLst>
            </p:cNvPr>
            <p:cNvSpPr txBox="1"/>
            <p:nvPr/>
          </p:nvSpPr>
          <p:spPr>
            <a:xfrm>
              <a:off x="298633" y="109856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800" b="1">
                  <a:solidFill>
                    <a:srgbClr val="3B3B3B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U</a:t>
              </a:r>
              <a:endPara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A0AE6CF8-84A3-0610-82EE-08768D5C79B0}"/>
                </a:ext>
              </a:extLst>
            </p:cNvPr>
            <p:cNvSpPr txBox="1"/>
            <p:nvPr/>
          </p:nvSpPr>
          <p:spPr>
            <a:xfrm>
              <a:off x="614501" y="109856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800" b="1">
                  <a:solidFill>
                    <a:srgbClr val="3B3B3B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M</a:t>
              </a:r>
              <a:endPara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EFF3F31A-4F0C-6AF1-1EEA-C3B8C67898B4}"/>
                </a:ext>
              </a:extLst>
            </p:cNvPr>
            <p:cNvSpPr txBox="1"/>
            <p:nvPr/>
          </p:nvSpPr>
          <p:spPr>
            <a:xfrm>
              <a:off x="943099" y="1096751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800" b="1">
                  <a:solidFill>
                    <a:srgbClr val="3B3B3B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T</a:t>
              </a:r>
              <a:endPara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F23D76D6-7C89-1D2A-CA83-1A13C1E2477D}"/>
                </a:ext>
              </a:extLst>
            </p:cNvPr>
            <p:cNvSpPr txBox="1"/>
            <p:nvPr/>
          </p:nvSpPr>
          <p:spPr>
            <a:xfrm>
              <a:off x="1272972" y="1093617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W</a:t>
              </a:r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CE3E168A-EC54-5A22-1841-9A00F2AD3D5C}"/>
                </a:ext>
              </a:extLst>
            </p:cNvPr>
            <p:cNvSpPr txBox="1"/>
            <p:nvPr/>
          </p:nvSpPr>
          <p:spPr>
            <a:xfrm>
              <a:off x="1593664" y="1088294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800" b="1">
                  <a:solidFill>
                    <a:srgbClr val="3B3B3B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Th</a:t>
              </a:r>
              <a:endPara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3E765ED8-D162-FD8E-A24B-92067AAA2510}"/>
                </a:ext>
              </a:extLst>
            </p:cNvPr>
            <p:cNvSpPr txBox="1"/>
            <p:nvPr/>
          </p:nvSpPr>
          <p:spPr>
            <a:xfrm>
              <a:off x="1927378" y="1086813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F</a:t>
              </a:r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C9A746E8-F5FE-B85E-CDE3-E5929A88E155}"/>
                </a:ext>
              </a:extLst>
            </p:cNvPr>
            <p:cNvSpPr txBox="1"/>
            <p:nvPr/>
          </p:nvSpPr>
          <p:spPr>
            <a:xfrm>
              <a:off x="2238130" y="1086476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S</a:t>
              </a:r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C85D5B32-F1A8-5138-7BB6-C898CCA30CF3}"/>
                </a:ext>
              </a:extLst>
            </p:cNvPr>
            <p:cNvSpPr txBox="1"/>
            <p:nvPr/>
          </p:nvSpPr>
          <p:spPr>
            <a:xfrm>
              <a:off x="2573079" y="1089113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800" b="1">
                  <a:solidFill>
                    <a:srgbClr val="3B3B3B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U</a:t>
              </a:r>
              <a:endPara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490E2BD8-E264-2F43-CCF1-5138E0653992}"/>
                </a:ext>
              </a:extLst>
            </p:cNvPr>
            <p:cNvSpPr txBox="1"/>
            <p:nvPr/>
          </p:nvSpPr>
          <p:spPr>
            <a:xfrm>
              <a:off x="2888947" y="1089113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800" b="1">
                  <a:solidFill>
                    <a:srgbClr val="3B3B3B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M</a:t>
              </a:r>
              <a:endPara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B85B04AF-E667-9B19-A549-5235C83DF4CD}"/>
                </a:ext>
              </a:extLst>
            </p:cNvPr>
            <p:cNvSpPr txBox="1"/>
            <p:nvPr/>
          </p:nvSpPr>
          <p:spPr>
            <a:xfrm>
              <a:off x="3217545" y="1087295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800" b="1">
                  <a:solidFill>
                    <a:srgbClr val="3B3B3B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T</a:t>
              </a:r>
              <a:endPara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2543DE0E-8017-69E8-5B0F-F7E4D298F913}"/>
                </a:ext>
              </a:extLst>
            </p:cNvPr>
            <p:cNvSpPr txBox="1"/>
            <p:nvPr/>
          </p:nvSpPr>
          <p:spPr>
            <a:xfrm>
              <a:off x="3547418" y="1084161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W</a:t>
              </a:r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CC65526D-E4D4-927E-170A-0C703870B561}"/>
                </a:ext>
              </a:extLst>
            </p:cNvPr>
            <p:cNvSpPr txBox="1"/>
            <p:nvPr/>
          </p:nvSpPr>
          <p:spPr>
            <a:xfrm>
              <a:off x="3868110" y="1078838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800" b="1">
                  <a:solidFill>
                    <a:srgbClr val="3B3B3B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Th</a:t>
              </a:r>
              <a:endPara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828FA31C-C7B3-2CAA-80FC-A7C20833D904}"/>
                </a:ext>
              </a:extLst>
            </p:cNvPr>
            <p:cNvSpPr txBox="1"/>
            <p:nvPr/>
          </p:nvSpPr>
          <p:spPr>
            <a:xfrm>
              <a:off x="4177538" y="1078838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F</a:t>
              </a:r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F470E564-0E2F-2640-5107-27EDFD46CAAF}"/>
                </a:ext>
              </a:extLst>
            </p:cNvPr>
            <p:cNvSpPr txBox="1"/>
            <p:nvPr/>
          </p:nvSpPr>
          <p:spPr>
            <a:xfrm>
              <a:off x="4481803" y="1076838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S</a:t>
              </a:r>
            </a:p>
          </p:txBody>
        </p: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1A394FF5-1178-AE47-77E6-61C513CE4C67}"/>
                </a:ext>
              </a:extLst>
            </p:cNvPr>
            <p:cNvSpPr txBox="1"/>
            <p:nvPr/>
          </p:nvSpPr>
          <p:spPr>
            <a:xfrm>
              <a:off x="4803289" y="1076838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800" b="1">
                  <a:solidFill>
                    <a:srgbClr val="3B3B3B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U</a:t>
              </a:r>
              <a:endPara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B7C4FA7B-7C61-00E2-F5C8-7A2F6CC93CD4}"/>
                </a:ext>
              </a:extLst>
            </p:cNvPr>
            <p:cNvSpPr txBox="1"/>
            <p:nvPr/>
          </p:nvSpPr>
          <p:spPr>
            <a:xfrm>
              <a:off x="5119157" y="1076838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800" b="1">
                  <a:solidFill>
                    <a:srgbClr val="3B3B3B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M</a:t>
              </a:r>
              <a:endPara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71ECC5FA-F3E3-AED4-4DBE-0C0514B9A860}"/>
                </a:ext>
              </a:extLst>
            </p:cNvPr>
            <p:cNvSpPr txBox="1"/>
            <p:nvPr/>
          </p:nvSpPr>
          <p:spPr>
            <a:xfrm>
              <a:off x="5451396" y="107996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800" b="1">
                  <a:solidFill>
                    <a:srgbClr val="3B3B3B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T</a:t>
              </a:r>
              <a:endPara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764F0378-E04C-E3A5-273B-D4297825C436}"/>
                </a:ext>
              </a:extLst>
            </p:cNvPr>
            <p:cNvSpPr txBox="1"/>
            <p:nvPr/>
          </p:nvSpPr>
          <p:spPr>
            <a:xfrm>
              <a:off x="5781269" y="1076835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W</a:t>
              </a:r>
            </a:p>
          </p:txBody>
        </p: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1E74C1E6-7625-E3AD-EB5E-339FEAA35980}"/>
                </a:ext>
              </a:extLst>
            </p:cNvPr>
            <p:cNvSpPr txBox="1"/>
            <p:nvPr/>
          </p:nvSpPr>
          <p:spPr>
            <a:xfrm>
              <a:off x="6100788" y="1079272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800" b="1">
                  <a:solidFill>
                    <a:srgbClr val="3B3B3B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Th</a:t>
              </a:r>
              <a:endPara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03C8E4EC-8135-CA41-FE82-623B04945FAB}"/>
                </a:ext>
              </a:extLst>
            </p:cNvPr>
            <p:cNvSpPr txBox="1"/>
            <p:nvPr/>
          </p:nvSpPr>
          <p:spPr>
            <a:xfrm>
              <a:off x="6434502" y="1077791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F</a:t>
              </a:r>
            </a:p>
          </p:txBody>
        </p:sp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405DA032-7F0E-58C4-C5A0-12FA6C285F9F}"/>
                </a:ext>
              </a:extLst>
            </p:cNvPr>
            <p:cNvSpPr txBox="1"/>
            <p:nvPr/>
          </p:nvSpPr>
          <p:spPr>
            <a:xfrm>
              <a:off x="6745254" y="1077454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S</a:t>
              </a:r>
            </a:p>
          </p:txBody>
        </p:sp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C0411B70-9502-7860-BDFA-B96BD1FFC0FC}"/>
                </a:ext>
              </a:extLst>
            </p:cNvPr>
            <p:cNvSpPr txBox="1"/>
            <p:nvPr/>
          </p:nvSpPr>
          <p:spPr>
            <a:xfrm>
              <a:off x="7084411" y="1076835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800" b="1">
                  <a:solidFill>
                    <a:srgbClr val="3B3B3B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U</a:t>
              </a:r>
              <a:endPara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53957F41-7160-BDDB-0D98-A32B90DD4296}"/>
                </a:ext>
              </a:extLst>
            </p:cNvPr>
            <p:cNvSpPr txBox="1"/>
            <p:nvPr/>
          </p:nvSpPr>
          <p:spPr>
            <a:xfrm>
              <a:off x="7400279" y="1076835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800" b="1">
                  <a:solidFill>
                    <a:srgbClr val="3B3B3B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M</a:t>
              </a:r>
              <a:endPara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05DB2594-B7E1-D95B-A7C2-8893074CED41}"/>
                </a:ext>
              </a:extLst>
            </p:cNvPr>
            <p:cNvSpPr txBox="1"/>
            <p:nvPr/>
          </p:nvSpPr>
          <p:spPr>
            <a:xfrm>
              <a:off x="7728877" y="1075017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800" b="1">
                  <a:solidFill>
                    <a:srgbClr val="3B3B3B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T</a:t>
              </a:r>
              <a:endPara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AFB7007C-6A0F-FD05-3E49-0779F1B32454}"/>
                </a:ext>
              </a:extLst>
            </p:cNvPr>
            <p:cNvSpPr txBox="1"/>
            <p:nvPr/>
          </p:nvSpPr>
          <p:spPr>
            <a:xfrm>
              <a:off x="8051244" y="1072126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W</a:t>
              </a:r>
            </a:p>
          </p:txBody>
        </p: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C11EF5EA-B62B-3E21-4FFB-D1C21C6D29A1}"/>
                </a:ext>
              </a:extLst>
            </p:cNvPr>
            <p:cNvSpPr txBox="1"/>
            <p:nvPr/>
          </p:nvSpPr>
          <p:spPr>
            <a:xfrm>
              <a:off x="8349112" y="1072671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800" b="1">
                  <a:solidFill>
                    <a:srgbClr val="3B3B3B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Th</a:t>
              </a:r>
              <a:endPara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FE602392-F2B3-FC86-EDEB-ABF083844978}"/>
                </a:ext>
              </a:extLst>
            </p:cNvPr>
            <p:cNvSpPr txBox="1"/>
            <p:nvPr/>
          </p:nvSpPr>
          <p:spPr>
            <a:xfrm>
              <a:off x="8673957" y="1074584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F</a:t>
              </a:r>
            </a:p>
          </p:txBody>
        </p:sp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420F54DF-0E33-5D70-B076-C23676691E4A}"/>
                </a:ext>
              </a:extLst>
            </p:cNvPr>
            <p:cNvSpPr txBox="1"/>
            <p:nvPr/>
          </p:nvSpPr>
          <p:spPr>
            <a:xfrm>
              <a:off x="8997935" y="1072126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S</a:t>
              </a:r>
            </a:p>
          </p:txBody>
        </p:sp>
        <p:sp>
          <p:nvSpPr>
            <p:cNvPr id="89" name="TextBox 88">
              <a:extLst>
                <a:ext uri="{FF2B5EF4-FFF2-40B4-BE49-F238E27FC236}">
                  <a16:creationId xmlns:a16="http://schemas.microsoft.com/office/drawing/2014/main" id="{E1D3889E-923E-F988-6651-AE6211785C3F}"/>
                </a:ext>
              </a:extLst>
            </p:cNvPr>
            <p:cNvSpPr txBox="1"/>
            <p:nvPr/>
          </p:nvSpPr>
          <p:spPr>
            <a:xfrm>
              <a:off x="9321733" y="1078838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800" b="1">
                  <a:solidFill>
                    <a:srgbClr val="3B3B3B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U</a:t>
              </a:r>
              <a:endPara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572E7BA0-CEA2-2891-E425-E1863C141DD0}"/>
                </a:ext>
              </a:extLst>
            </p:cNvPr>
            <p:cNvSpPr txBox="1"/>
            <p:nvPr/>
          </p:nvSpPr>
          <p:spPr>
            <a:xfrm>
              <a:off x="9637601" y="1078838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800" b="1">
                  <a:solidFill>
                    <a:srgbClr val="3B3B3B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M</a:t>
              </a:r>
              <a:endPara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D93B4F19-ED72-1181-8932-BE49774977B6}"/>
                </a:ext>
              </a:extLst>
            </p:cNvPr>
            <p:cNvSpPr txBox="1"/>
            <p:nvPr/>
          </p:nvSpPr>
          <p:spPr>
            <a:xfrm>
              <a:off x="9966199" y="1077020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800" b="1">
                  <a:solidFill>
                    <a:srgbClr val="3B3B3B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T</a:t>
              </a:r>
              <a:endPara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A1D1E0D0-DAEA-5510-EDAE-9754B1C9B0BD}"/>
                </a:ext>
              </a:extLst>
            </p:cNvPr>
            <p:cNvSpPr txBox="1"/>
            <p:nvPr/>
          </p:nvSpPr>
          <p:spPr>
            <a:xfrm>
              <a:off x="10296072" y="1073886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W</a:t>
              </a:r>
            </a:p>
          </p:txBody>
        </p:sp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79C90142-92EE-FC7C-74A4-72B83D6EF8D2}"/>
                </a:ext>
              </a:extLst>
            </p:cNvPr>
            <p:cNvSpPr txBox="1"/>
            <p:nvPr/>
          </p:nvSpPr>
          <p:spPr>
            <a:xfrm>
              <a:off x="10616764" y="1068563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800" b="1">
                  <a:solidFill>
                    <a:srgbClr val="3B3B3B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Th</a:t>
              </a:r>
              <a:endPara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216D59AC-B31B-F24C-2556-6ED08B2F5091}"/>
                </a:ext>
              </a:extLst>
            </p:cNvPr>
            <p:cNvSpPr txBox="1"/>
            <p:nvPr/>
          </p:nvSpPr>
          <p:spPr>
            <a:xfrm>
              <a:off x="10950478" y="1067082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F</a:t>
              </a:r>
            </a:p>
          </p:txBody>
        </p:sp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F0AD6789-926C-3777-FB66-AA3992C51B02}"/>
                </a:ext>
              </a:extLst>
            </p:cNvPr>
            <p:cNvSpPr txBox="1"/>
            <p:nvPr/>
          </p:nvSpPr>
          <p:spPr>
            <a:xfrm>
              <a:off x="11261230" y="1066745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S</a:t>
              </a:r>
            </a:p>
          </p:txBody>
        </p:sp>
      </p:grpSp>
      <p:sp>
        <p:nvSpPr>
          <p:cNvPr id="96" name="Title 2">
            <a:extLst>
              <a:ext uri="{FF2B5EF4-FFF2-40B4-BE49-F238E27FC236}">
                <a16:creationId xmlns:a16="http://schemas.microsoft.com/office/drawing/2014/main" id="{7D64AF28-1120-5DE6-01B8-12886AFEE5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181" y="113099"/>
            <a:ext cx="7924453" cy="498122"/>
          </a:xfrm>
          <a:prstGeom prst="rect">
            <a:avLst/>
          </a:prstGeom>
        </p:spPr>
        <p:txBody>
          <a:bodyPr>
            <a:noAutofit/>
          </a:bodyPr>
          <a:lstStyle/>
          <a:p>
            <a:r>
              <a:rPr lang="en-US" sz="3600">
                <a:latin typeface="Lato"/>
                <a:ea typeface="Lato"/>
                <a:cs typeface="Lato"/>
              </a:rPr>
              <a:t>Timeline Title</a:t>
            </a:r>
          </a:p>
        </p:txBody>
      </p:sp>
      <p:sp>
        <p:nvSpPr>
          <p:cNvPr id="97" name="Title 1">
            <a:extLst>
              <a:ext uri="{FF2B5EF4-FFF2-40B4-BE49-F238E27FC236}">
                <a16:creationId xmlns:a16="http://schemas.microsoft.com/office/drawing/2014/main" id="{272A824F-21FE-F635-C283-495DCA49E59E}"/>
              </a:ext>
            </a:extLst>
          </p:cNvPr>
          <p:cNvSpPr txBox="1">
            <a:spLocks/>
          </p:cNvSpPr>
          <p:nvPr userDrawn="1"/>
        </p:nvSpPr>
        <p:spPr>
          <a:xfrm>
            <a:off x="8498076" y="239785"/>
            <a:ext cx="3765948" cy="640080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Lato Bold" panose="020F0802020204030203" pitchFamily="34" charset="0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Lato Bold" panose="020F0802020204030203" pitchFamily="34" charset="0"/>
                <a:ea typeface="+mj-ea"/>
                <a:cs typeface="+mj-cs"/>
              </a:rPr>
              <a:t>DRAFT: For Discussion Purposes Only  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63C50482-9E74-15DD-BC96-E7AEF60D197F}"/>
              </a:ext>
            </a:extLst>
          </p:cNvPr>
          <p:cNvSpPr txBox="1"/>
          <p:nvPr userDrawn="1"/>
        </p:nvSpPr>
        <p:spPr>
          <a:xfrm flipH="1">
            <a:off x="144810" y="617305"/>
            <a:ext cx="9018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January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D7430935-062B-85E4-EBB6-FB0CF39B2C04}"/>
              </a:ext>
            </a:extLst>
          </p:cNvPr>
          <p:cNvSpPr txBox="1"/>
          <p:nvPr userDrawn="1"/>
        </p:nvSpPr>
        <p:spPr>
          <a:xfrm>
            <a:off x="8237163" y="6467394"/>
            <a:ext cx="112053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ESSENTIAL TASK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00" name="Oval 99">
            <a:extLst>
              <a:ext uri="{FF2B5EF4-FFF2-40B4-BE49-F238E27FC236}">
                <a16:creationId xmlns:a16="http://schemas.microsoft.com/office/drawing/2014/main" id="{FD57EFA5-6CEF-BC34-5436-A30A5C35958C}"/>
              </a:ext>
            </a:extLst>
          </p:cNvPr>
          <p:cNvSpPr/>
          <p:nvPr userDrawn="1"/>
        </p:nvSpPr>
        <p:spPr>
          <a:xfrm>
            <a:off x="8112829" y="6530272"/>
            <a:ext cx="127832" cy="12783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68578C04-2C89-2A45-006D-C11042AAB88C}"/>
              </a:ext>
            </a:extLst>
          </p:cNvPr>
          <p:cNvSpPr txBox="1"/>
          <p:nvPr userDrawn="1"/>
        </p:nvSpPr>
        <p:spPr>
          <a:xfrm>
            <a:off x="7054632" y="6388974"/>
            <a:ext cx="837626" cy="3092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MILESTONE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02" name="Star: 5 Points 101">
            <a:extLst>
              <a:ext uri="{FF2B5EF4-FFF2-40B4-BE49-F238E27FC236}">
                <a16:creationId xmlns:a16="http://schemas.microsoft.com/office/drawing/2014/main" id="{F485DC5A-9E2A-7E3A-0D01-BD19920F04EE}"/>
              </a:ext>
            </a:extLst>
          </p:cNvPr>
          <p:cNvSpPr/>
          <p:nvPr userDrawn="1"/>
        </p:nvSpPr>
        <p:spPr>
          <a:xfrm>
            <a:off x="6818641" y="6450773"/>
            <a:ext cx="232492" cy="232492"/>
          </a:xfrm>
          <a:prstGeom prst="star5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03" name="Oval 102">
            <a:extLst>
              <a:ext uri="{FF2B5EF4-FFF2-40B4-BE49-F238E27FC236}">
                <a16:creationId xmlns:a16="http://schemas.microsoft.com/office/drawing/2014/main" id="{EC205BEB-FAE1-16A2-60FC-53CC1175453D}"/>
              </a:ext>
            </a:extLst>
          </p:cNvPr>
          <p:cNvSpPr/>
          <p:nvPr userDrawn="1"/>
        </p:nvSpPr>
        <p:spPr>
          <a:xfrm>
            <a:off x="9548636" y="6504710"/>
            <a:ext cx="127832" cy="127832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99DE1C2C-874C-02DD-6012-AE6CD491E5CA}"/>
              </a:ext>
            </a:extLst>
          </p:cNvPr>
          <p:cNvSpPr txBox="1"/>
          <p:nvPr userDrawn="1"/>
        </p:nvSpPr>
        <p:spPr>
          <a:xfrm>
            <a:off x="9674046" y="6459249"/>
            <a:ext cx="176636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MEETING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111017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meline Monthly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76368AE-ACD2-2719-60AD-2495BDEF0742}"/>
              </a:ext>
            </a:extLst>
          </p:cNvPr>
          <p:cNvSpPr txBox="1"/>
          <p:nvPr userDrawn="1"/>
        </p:nvSpPr>
        <p:spPr>
          <a:xfrm>
            <a:off x="8237163" y="6467394"/>
            <a:ext cx="112053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ESSENTIAL TASK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548E2C21-D187-77E6-BB41-0524A8F8BAED}"/>
              </a:ext>
            </a:extLst>
          </p:cNvPr>
          <p:cNvSpPr/>
          <p:nvPr userDrawn="1"/>
        </p:nvSpPr>
        <p:spPr>
          <a:xfrm>
            <a:off x="8112829" y="6530272"/>
            <a:ext cx="127832" cy="12783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5AEFD65-BFA3-20FB-9931-21EA6B1DFAD4}"/>
              </a:ext>
            </a:extLst>
          </p:cNvPr>
          <p:cNvSpPr txBox="1"/>
          <p:nvPr userDrawn="1"/>
        </p:nvSpPr>
        <p:spPr>
          <a:xfrm>
            <a:off x="7054632" y="6388974"/>
            <a:ext cx="837626" cy="3092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MILESTONE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5" name="Star: 5 Points 4">
            <a:extLst>
              <a:ext uri="{FF2B5EF4-FFF2-40B4-BE49-F238E27FC236}">
                <a16:creationId xmlns:a16="http://schemas.microsoft.com/office/drawing/2014/main" id="{38A4D4D9-8C47-A934-9A90-3CCCF9E1CED1}"/>
              </a:ext>
            </a:extLst>
          </p:cNvPr>
          <p:cNvSpPr/>
          <p:nvPr userDrawn="1"/>
        </p:nvSpPr>
        <p:spPr>
          <a:xfrm>
            <a:off x="6818641" y="6450773"/>
            <a:ext cx="232492" cy="232492"/>
          </a:xfrm>
          <a:prstGeom prst="star5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CFD49AA2-BB06-E3BD-F73B-EF912DA5A7CD}"/>
              </a:ext>
            </a:extLst>
          </p:cNvPr>
          <p:cNvSpPr/>
          <p:nvPr userDrawn="1"/>
        </p:nvSpPr>
        <p:spPr>
          <a:xfrm>
            <a:off x="9548636" y="6504710"/>
            <a:ext cx="127832" cy="127832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C609E33-7EDF-2CC9-6B77-40F4368E3D54}"/>
              </a:ext>
            </a:extLst>
          </p:cNvPr>
          <p:cNvSpPr txBox="1"/>
          <p:nvPr userDrawn="1"/>
        </p:nvSpPr>
        <p:spPr>
          <a:xfrm>
            <a:off x="9674046" y="6459249"/>
            <a:ext cx="176636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MEETING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23" name="Title 2">
            <a:extLst>
              <a:ext uri="{FF2B5EF4-FFF2-40B4-BE49-F238E27FC236}">
                <a16:creationId xmlns:a16="http://schemas.microsoft.com/office/drawing/2014/main" id="{DF7251FF-B795-5D39-8ED5-362B23B24D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181" y="113099"/>
            <a:ext cx="7924453" cy="498122"/>
          </a:xfrm>
          <a:prstGeom prst="rect">
            <a:avLst/>
          </a:prstGeom>
        </p:spPr>
        <p:txBody>
          <a:bodyPr>
            <a:noAutofit/>
          </a:bodyPr>
          <a:lstStyle/>
          <a:p>
            <a:r>
              <a:rPr lang="en-US" sz="3600">
                <a:latin typeface="Lato"/>
                <a:ea typeface="Lato"/>
                <a:cs typeface="Lato"/>
              </a:rPr>
              <a:t>Timeline Title</a:t>
            </a:r>
          </a:p>
        </p:txBody>
      </p:sp>
      <p:sp>
        <p:nvSpPr>
          <p:cNvPr id="26" name="Title 1">
            <a:extLst>
              <a:ext uri="{FF2B5EF4-FFF2-40B4-BE49-F238E27FC236}">
                <a16:creationId xmlns:a16="http://schemas.microsoft.com/office/drawing/2014/main" id="{83A50384-27A0-E589-D9D9-E6144D0B4AAC}"/>
              </a:ext>
            </a:extLst>
          </p:cNvPr>
          <p:cNvSpPr txBox="1">
            <a:spLocks/>
          </p:cNvSpPr>
          <p:nvPr userDrawn="1"/>
        </p:nvSpPr>
        <p:spPr>
          <a:xfrm>
            <a:off x="8498076" y="239785"/>
            <a:ext cx="3765948" cy="640080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Lato Bold" panose="020F0802020204030203" pitchFamily="34" charset="0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Lato Bold" panose="020F0802020204030203" pitchFamily="34" charset="0"/>
                <a:ea typeface="+mj-ea"/>
                <a:cs typeface="+mj-cs"/>
              </a:rPr>
              <a:t>DRAFT: For Discussion Purposes Only  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873BC35-BB00-7F20-0E09-6369EB6FA684}"/>
              </a:ext>
            </a:extLst>
          </p:cNvPr>
          <p:cNvSpPr txBox="1"/>
          <p:nvPr userDrawn="1"/>
        </p:nvSpPr>
        <p:spPr>
          <a:xfrm flipH="1">
            <a:off x="144810" y="617305"/>
            <a:ext cx="9018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2024</a:t>
            </a: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526D65F7-5F67-0849-0517-71F9F6D234D2}"/>
              </a:ext>
            </a:extLst>
          </p:cNvPr>
          <p:cNvSpPr/>
          <p:nvPr userDrawn="1"/>
        </p:nvSpPr>
        <p:spPr>
          <a:xfrm flipH="1">
            <a:off x="2137738" y="4917784"/>
            <a:ext cx="113467" cy="11346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ato"/>
              <a:ea typeface="+mn-ea"/>
              <a:cs typeface="+mn-cs"/>
            </a:endParaRPr>
          </a:p>
        </p:txBody>
      </p:sp>
      <p:grpSp>
        <p:nvGrpSpPr>
          <p:cNvPr id="55" name="Group 54">
            <a:extLst>
              <a:ext uri="{FF2B5EF4-FFF2-40B4-BE49-F238E27FC236}">
                <a16:creationId xmlns:a16="http://schemas.microsoft.com/office/drawing/2014/main" id="{B1DB94F3-7668-9270-75CD-29CC98D05B6F}"/>
              </a:ext>
            </a:extLst>
          </p:cNvPr>
          <p:cNvGrpSpPr/>
          <p:nvPr userDrawn="1"/>
        </p:nvGrpSpPr>
        <p:grpSpPr>
          <a:xfrm>
            <a:off x="435781" y="932163"/>
            <a:ext cx="11562304" cy="4961934"/>
            <a:chOff x="435781" y="932163"/>
            <a:chExt cx="11562304" cy="4961934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570D6BAC-7CEE-72E2-8920-58814FBB71AC}"/>
                </a:ext>
              </a:extLst>
            </p:cNvPr>
            <p:cNvGrpSpPr>
              <a:grpSpLocks/>
            </p:cNvGrpSpPr>
            <p:nvPr userDrawn="1"/>
          </p:nvGrpSpPr>
          <p:grpSpPr>
            <a:xfrm>
              <a:off x="582089" y="932163"/>
              <a:ext cx="11112182" cy="4961934"/>
              <a:chOff x="582089" y="932163"/>
              <a:chExt cx="11112182" cy="4961934"/>
            </a:xfrm>
          </p:grpSpPr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A380C920-D23A-23E7-721E-B4D83421042D}"/>
                  </a:ext>
                </a:extLst>
              </p:cNvPr>
              <p:cNvSpPr>
                <a:spLocks/>
              </p:cNvSpPr>
              <p:nvPr/>
            </p:nvSpPr>
            <p:spPr>
              <a:xfrm flipH="1">
                <a:off x="8006408" y="932163"/>
                <a:ext cx="901828" cy="4951354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2988C05E-BFE2-2161-3E80-FA12DAAE0F98}"/>
                  </a:ext>
                </a:extLst>
              </p:cNvPr>
              <p:cNvSpPr>
                <a:spLocks/>
              </p:cNvSpPr>
              <p:nvPr/>
            </p:nvSpPr>
            <p:spPr>
              <a:xfrm flipH="1">
                <a:off x="8937255" y="942743"/>
                <a:ext cx="901828" cy="4951354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3400AB61-D2AC-FF19-319F-A6882BEA48BC}"/>
                  </a:ext>
                </a:extLst>
              </p:cNvPr>
              <p:cNvSpPr>
                <a:spLocks/>
              </p:cNvSpPr>
              <p:nvPr/>
            </p:nvSpPr>
            <p:spPr>
              <a:xfrm flipH="1">
                <a:off x="9863348" y="942743"/>
                <a:ext cx="901828" cy="4951354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F04B7251-73BE-FA04-0A56-51ADC40AB1FF}"/>
                  </a:ext>
                </a:extLst>
              </p:cNvPr>
              <p:cNvSpPr>
                <a:spLocks/>
              </p:cNvSpPr>
              <p:nvPr/>
            </p:nvSpPr>
            <p:spPr>
              <a:xfrm flipH="1">
                <a:off x="10792443" y="942743"/>
                <a:ext cx="901828" cy="4951354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EA415F35-9641-E947-2505-986B0FB5EBB9}"/>
                  </a:ext>
                </a:extLst>
              </p:cNvPr>
              <p:cNvSpPr>
                <a:spLocks/>
              </p:cNvSpPr>
              <p:nvPr/>
            </p:nvSpPr>
            <p:spPr>
              <a:xfrm flipH="1">
                <a:off x="4285987" y="932163"/>
                <a:ext cx="901828" cy="4951354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7ED47F4D-9989-7C38-5704-574CBE60C1CB}"/>
                  </a:ext>
                </a:extLst>
              </p:cNvPr>
              <p:cNvSpPr>
                <a:spLocks/>
              </p:cNvSpPr>
              <p:nvPr/>
            </p:nvSpPr>
            <p:spPr>
              <a:xfrm flipH="1">
                <a:off x="5215745" y="932163"/>
                <a:ext cx="901828" cy="4951354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518ADD54-8EC8-B8F0-1DC5-962212F437DB}"/>
                  </a:ext>
                </a:extLst>
              </p:cNvPr>
              <p:cNvSpPr>
                <a:spLocks/>
              </p:cNvSpPr>
              <p:nvPr/>
            </p:nvSpPr>
            <p:spPr>
              <a:xfrm flipH="1">
                <a:off x="6145347" y="932163"/>
                <a:ext cx="901828" cy="4951354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3AC9F4EB-57B2-60CC-E31D-0DF433C9825F}"/>
                  </a:ext>
                </a:extLst>
              </p:cNvPr>
              <p:cNvSpPr>
                <a:spLocks/>
              </p:cNvSpPr>
              <p:nvPr/>
            </p:nvSpPr>
            <p:spPr>
              <a:xfrm flipH="1">
                <a:off x="7074442" y="932163"/>
                <a:ext cx="901828" cy="4951354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1BC69398-AB34-CCF7-EEBD-D5440BE333B6}"/>
                  </a:ext>
                </a:extLst>
              </p:cNvPr>
              <p:cNvSpPr>
                <a:spLocks/>
              </p:cNvSpPr>
              <p:nvPr/>
            </p:nvSpPr>
            <p:spPr>
              <a:xfrm flipH="1">
                <a:off x="582089" y="942743"/>
                <a:ext cx="901828" cy="4951354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B91B3F75-5507-83D7-2BB7-2A8D500CA2CA}"/>
                  </a:ext>
                </a:extLst>
              </p:cNvPr>
              <p:cNvSpPr>
                <a:spLocks/>
              </p:cNvSpPr>
              <p:nvPr/>
            </p:nvSpPr>
            <p:spPr>
              <a:xfrm flipH="1">
                <a:off x="1505164" y="935387"/>
                <a:ext cx="901828" cy="4951354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3DE54ECB-8DDE-62C3-B812-ADA2216A05E1}"/>
                  </a:ext>
                </a:extLst>
              </p:cNvPr>
              <p:cNvSpPr>
                <a:spLocks/>
              </p:cNvSpPr>
              <p:nvPr/>
            </p:nvSpPr>
            <p:spPr>
              <a:xfrm flipH="1">
                <a:off x="2431257" y="935387"/>
                <a:ext cx="901828" cy="4951354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D036941A-E1F4-A539-4F1A-1EB80E460A97}"/>
                  </a:ext>
                </a:extLst>
              </p:cNvPr>
              <p:cNvSpPr>
                <a:spLocks/>
              </p:cNvSpPr>
              <p:nvPr/>
            </p:nvSpPr>
            <p:spPr>
              <a:xfrm flipH="1">
                <a:off x="3360352" y="935387"/>
                <a:ext cx="901828" cy="4951354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</p:grp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6978E441-CCCD-A9CA-B603-16BF3A1B1E7A}"/>
                </a:ext>
              </a:extLst>
            </p:cNvPr>
            <p:cNvSpPr txBox="1">
              <a:spLocks/>
            </p:cNvSpPr>
            <p:nvPr userDrawn="1"/>
          </p:nvSpPr>
          <p:spPr>
            <a:xfrm flipH="1">
              <a:off x="435781" y="993479"/>
              <a:ext cx="1207047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JANUARY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0975DC98-97F6-FA56-3590-0779F56DF23E}"/>
                </a:ext>
              </a:extLst>
            </p:cNvPr>
            <p:cNvSpPr txBox="1">
              <a:spLocks/>
            </p:cNvSpPr>
            <p:nvPr userDrawn="1"/>
          </p:nvSpPr>
          <p:spPr>
            <a:xfrm flipH="1">
              <a:off x="1254358" y="986586"/>
              <a:ext cx="1394907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FEBRUARY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DF8A4034-E7BE-5A15-F435-8A85A18AA0AA}"/>
                </a:ext>
              </a:extLst>
            </p:cNvPr>
            <p:cNvSpPr txBox="1"/>
            <p:nvPr userDrawn="1"/>
          </p:nvSpPr>
          <p:spPr>
            <a:xfrm flipH="1">
              <a:off x="2299450" y="984090"/>
              <a:ext cx="120705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MARCH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C05E1E2C-E6AD-8232-8E2A-115826B1B15D}"/>
                </a:ext>
              </a:extLst>
            </p:cNvPr>
            <p:cNvSpPr txBox="1"/>
            <p:nvPr userDrawn="1"/>
          </p:nvSpPr>
          <p:spPr>
            <a:xfrm flipH="1">
              <a:off x="3192586" y="984962"/>
              <a:ext cx="115103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APRIL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E59164AF-704E-28DB-0073-503D0C67C7F9}"/>
                </a:ext>
              </a:extLst>
            </p:cNvPr>
            <p:cNvSpPr txBox="1"/>
            <p:nvPr userDrawn="1"/>
          </p:nvSpPr>
          <p:spPr>
            <a:xfrm flipH="1">
              <a:off x="4149947" y="988738"/>
              <a:ext cx="115103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MAY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A7EA18E7-CFBB-C33B-4277-0AAD12ABBFB6}"/>
                </a:ext>
              </a:extLst>
            </p:cNvPr>
            <p:cNvSpPr txBox="1"/>
            <p:nvPr userDrawn="1"/>
          </p:nvSpPr>
          <p:spPr>
            <a:xfrm flipH="1">
              <a:off x="5198214" y="984091"/>
              <a:ext cx="932701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JUNE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DE5377CB-AC11-3A15-CF2D-CD81526799FF}"/>
                </a:ext>
              </a:extLst>
            </p:cNvPr>
            <p:cNvSpPr txBox="1"/>
            <p:nvPr userDrawn="1"/>
          </p:nvSpPr>
          <p:spPr>
            <a:xfrm flipH="1">
              <a:off x="6077945" y="993480"/>
              <a:ext cx="1043730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JULY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9EA23E3B-F6F5-B71E-59D2-D1D946D5C2F7}"/>
                </a:ext>
              </a:extLst>
            </p:cNvPr>
            <p:cNvSpPr txBox="1"/>
            <p:nvPr userDrawn="1"/>
          </p:nvSpPr>
          <p:spPr>
            <a:xfrm flipH="1">
              <a:off x="6949839" y="988206"/>
              <a:ext cx="115103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AUGUST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4719A9A0-DDDC-B794-243C-BD78B17ABA20}"/>
                </a:ext>
              </a:extLst>
            </p:cNvPr>
            <p:cNvSpPr txBox="1"/>
            <p:nvPr userDrawn="1"/>
          </p:nvSpPr>
          <p:spPr>
            <a:xfrm flipH="1">
              <a:off x="7741900" y="996881"/>
              <a:ext cx="1429726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SEPTEMBER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B0211B03-65CD-AB95-85D9-AE82117CF3A8}"/>
                </a:ext>
              </a:extLst>
            </p:cNvPr>
            <p:cNvSpPr txBox="1"/>
            <p:nvPr userDrawn="1"/>
          </p:nvSpPr>
          <p:spPr>
            <a:xfrm flipH="1">
              <a:off x="8722656" y="993480"/>
              <a:ext cx="1331025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OCTOBER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6297EE02-C369-F1E0-0C6C-48ADB9AFFBD1}"/>
                </a:ext>
              </a:extLst>
            </p:cNvPr>
            <p:cNvSpPr txBox="1"/>
            <p:nvPr userDrawn="1"/>
          </p:nvSpPr>
          <p:spPr>
            <a:xfrm flipH="1">
              <a:off x="9483468" y="993481"/>
              <a:ext cx="1654490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NOVEMBER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ADB7DD92-4416-0D4B-606F-7BB50D7E50FC}"/>
                </a:ext>
              </a:extLst>
            </p:cNvPr>
            <p:cNvSpPr txBox="1"/>
            <p:nvPr userDrawn="1"/>
          </p:nvSpPr>
          <p:spPr>
            <a:xfrm flipH="1">
              <a:off x="10483788" y="989403"/>
              <a:ext cx="1514297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DECEMBER</a:t>
              </a:r>
            </a:p>
          </p:txBody>
        </p:sp>
      </p:grpSp>
      <p:sp>
        <p:nvSpPr>
          <p:cNvPr id="39" name="Star: 5 Points 104">
            <a:extLst>
              <a:ext uri="{FF2B5EF4-FFF2-40B4-BE49-F238E27FC236}">
                <a16:creationId xmlns:a16="http://schemas.microsoft.com/office/drawing/2014/main" id="{705581AE-B0F7-87F7-1950-F3CC9170E252}"/>
              </a:ext>
            </a:extLst>
          </p:cNvPr>
          <p:cNvSpPr/>
          <p:nvPr userDrawn="1"/>
        </p:nvSpPr>
        <p:spPr>
          <a:xfrm>
            <a:off x="4071107" y="3054465"/>
            <a:ext cx="232492" cy="232492"/>
          </a:xfrm>
          <a:prstGeom prst="star5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ato"/>
              <a:ea typeface="+mn-ea"/>
              <a:cs typeface="+mn-cs"/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B893E8CD-AD59-3F87-6226-66E441EC2451}"/>
              </a:ext>
            </a:extLst>
          </p:cNvPr>
          <p:cNvSpPr/>
          <p:nvPr userDrawn="1"/>
        </p:nvSpPr>
        <p:spPr>
          <a:xfrm>
            <a:off x="3784338" y="2581443"/>
            <a:ext cx="794805" cy="42122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Lato"/>
                <a:ea typeface="+mn-ea"/>
                <a:cs typeface="+mn-cs"/>
              </a:rPr>
              <a:t>Important Date</a:t>
            </a: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D9D86636-D771-B9B7-2609-43861665B224}"/>
              </a:ext>
            </a:extLst>
          </p:cNvPr>
          <p:cNvSpPr/>
          <p:nvPr userDrawn="1"/>
        </p:nvSpPr>
        <p:spPr>
          <a:xfrm>
            <a:off x="4659351" y="4943698"/>
            <a:ext cx="127832" cy="12783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ato"/>
              <a:ea typeface="+mn-ea"/>
              <a:cs typeface="+mn-cs"/>
            </a:endParaRP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D950B1C7-C783-F76C-353D-E5F77E3AEE14}"/>
              </a:ext>
            </a:extLst>
          </p:cNvPr>
          <p:cNvSpPr/>
          <p:nvPr userDrawn="1"/>
        </p:nvSpPr>
        <p:spPr>
          <a:xfrm>
            <a:off x="10254108" y="5092188"/>
            <a:ext cx="127832" cy="12783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ato"/>
              <a:ea typeface="+mn-ea"/>
              <a:cs typeface="+mn-cs"/>
            </a:endParaRP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7269BD10-9930-8C16-5B4E-91D7627603C6}"/>
              </a:ext>
            </a:extLst>
          </p:cNvPr>
          <p:cNvSpPr/>
          <p:nvPr userDrawn="1"/>
        </p:nvSpPr>
        <p:spPr>
          <a:xfrm>
            <a:off x="577019" y="2234968"/>
            <a:ext cx="2211726" cy="322241"/>
          </a:xfrm>
          <a:prstGeom prst="rect">
            <a:avLst/>
          </a:prstGeom>
          <a:ln>
            <a:solidFill>
              <a:srgbClr val="3B3B3B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D7CD166D-F2A2-3894-D30B-4AC5A2BB05EC}"/>
              </a:ext>
            </a:extLst>
          </p:cNvPr>
          <p:cNvSpPr/>
          <p:nvPr userDrawn="1"/>
        </p:nvSpPr>
        <p:spPr>
          <a:xfrm>
            <a:off x="2790088" y="2234968"/>
            <a:ext cx="1943954" cy="322241"/>
          </a:xfrm>
          <a:prstGeom prst="rect">
            <a:avLst/>
          </a:prstGeom>
          <a:ln>
            <a:solidFill>
              <a:srgbClr val="3B3B3B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CECA501B-28AF-1A6A-382E-62F3619E72B8}"/>
              </a:ext>
            </a:extLst>
          </p:cNvPr>
          <p:cNvSpPr/>
          <p:nvPr userDrawn="1"/>
        </p:nvSpPr>
        <p:spPr>
          <a:xfrm>
            <a:off x="4741547" y="2234968"/>
            <a:ext cx="1930134" cy="322241"/>
          </a:xfrm>
          <a:prstGeom prst="rect">
            <a:avLst/>
          </a:prstGeom>
          <a:ln>
            <a:solidFill>
              <a:srgbClr val="3B3B3B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80BF421B-B007-0247-E1F3-AC3FA310528A}"/>
              </a:ext>
            </a:extLst>
          </p:cNvPr>
          <p:cNvSpPr/>
          <p:nvPr userDrawn="1"/>
        </p:nvSpPr>
        <p:spPr>
          <a:xfrm>
            <a:off x="7021963" y="4104775"/>
            <a:ext cx="2219399" cy="338978"/>
          </a:xfrm>
          <a:prstGeom prst="rect">
            <a:avLst/>
          </a:prstGeom>
          <a:ln>
            <a:solidFill>
              <a:srgbClr val="3B3B3B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DB7540E4-0DA7-4F49-E6D4-E9922C98026F}"/>
              </a:ext>
            </a:extLst>
          </p:cNvPr>
          <p:cNvSpPr/>
          <p:nvPr userDrawn="1"/>
        </p:nvSpPr>
        <p:spPr>
          <a:xfrm>
            <a:off x="574054" y="2086235"/>
            <a:ext cx="6107565" cy="152077"/>
          </a:xfrm>
          <a:prstGeom prst="rect">
            <a:avLst/>
          </a:prstGeom>
          <a:solidFill>
            <a:srgbClr val="999E72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Title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7854B72C-21C5-BA1F-CF34-7AB0B624D35E}"/>
              </a:ext>
            </a:extLst>
          </p:cNvPr>
          <p:cNvSpPr/>
          <p:nvPr userDrawn="1"/>
        </p:nvSpPr>
        <p:spPr>
          <a:xfrm>
            <a:off x="574054" y="3964656"/>
            <a:ext cx="8667307" cy="144889"/>
          </a:xfrm>
          <a:prstGeom prst="rect">
            <a:avLst/>
          </a:prstGeom>
          <a:solidFill>
            <a:srgbClr val="7FAD96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Title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1F183775-6E97-0724-A54E-34EC44635985}"/>
              </a:ext>
            </a:extLst>
          </p:cNvPr>
          <p:cNvSpPr/>
          <p:nvPr userDrawn="1"/>
        </p:nvSpPr>
        <p:spPr>
          <a:xfrm>
            <a:off x="6691119" y="2730952"/>
            <a:ext cx="315517" cy="333910"/>
          </a:xfrm>
          <a:prstGeom prst="rect">
            <a:avLst/>
          </a:prstGeom>
          <a:ln>
            <a:solidFill>
              <a:srgbClr val="3B3B3B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00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CF5D74C6-C4F8-239B-B682-BCD51F58C834}"/>
              </a:ext>
            </a:extLst>
          </p:cNvPr>
          <p:cNvSpPr/>
          <p:nvPr userDrawn="1"/>
        </p:nvSpPr>
        <p:spPr>
          <a:xfrm>
            <a:off x="7003099" y="2728957"/>
            <a:ext cx="2262684" cy="336620"/>
          </a:xfrm>
          <a:prstGeom prst="rect">
            <a:avLst/>
          </a:prstGeom>
          <a:ln>
            <a:solidFill>
              <a:srgbClr val="3B3B3B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07726BEC-28CC-C97D-50D4-3341FA84028B}"/>
              </a:ext>
            </a:extLst>
          </p:cNvPr>
          <p:cNvSpPr/>
          <p:nvPr userDrawn="1"/>
        </p:nvSpPr>
        <p:spPr>
          <a:xfrm>
            <a:off x="6681262" y="2569322"/>
            <a:ext cx="2583181" cy="161629"/>
          </a:xfrm>
          <a:prstGeom prst="rect">
            <a:avLst/>
          </a:prstGeom>
          <a:solidFill>
            <a:srgbClr val="999E72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Title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6E10D308-1F0A-5035-3E82-4C76EC08B338}"/>
              </a:ext>
            </a:extLst>
          </p:cNvPr>
          <p:cNvSpPr/>
          <p:nvPr userDrawn="1"/>
        </p:nvSpPr>
        <p:spPr>
          <a:xfrm>
            <a:off x="582089" y="4115629"/>
            <a:ext cx="2892785" cy="328124"/>
          </a:xfrm>
          <a:prstGeom prst="rect">
            <a:avLst/>
          </a:prstGeom>
          <a:ln>
            <a:solidFill>
              <a:srgbClr val="3B3B3B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199583BB-55A4-BD78-7694-122D1903A11C}"/>
              </a:ext>
            </a:extLst>
          </p:cNvPr>
          <p:cNvSpPr/>
          <p:nvPr userDrawn="1"/>
        </p:nvSpPr>
        <p:spPr>
          <a:xfrm>
            <a:off x="3482909" y="4115629"/>
            <a:ext cx="1242555" cy="328124"/>
          </a:xfrm>
          <a:prstGeom prst="rect">
            <a:avLst/>
          </a:prstGeom>
          <a:ln>
            <a:solidFill>
              <a:srgbClr val="3B3B3B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903A73D1-42BE-992B-6C80-D80C609023A5}"/>
              </a:ext>
            </a:extLst>
          </p:cNvPr>
          <p:cNvSpPr/>
          <p:nvPr userDrawn="1"/>
        </p:nvSpPr>
        <p:spPr>
          <a:xfrm>
            <a:off x="4735915" y="4115629"/>
            <a:ext cx="2286048" cy="328124"/>
          </a:xfrm>
          <a:prstGeom prst="rect">
            <a:avLst/>
          </a:prstGeom>
          <a:ln>
            <a:solidFill>
              <a:srgbClr val="3B3B3B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</p:spTree>
    <p:extLst>
      <p:ext uri="{BB962C8B-B14F-4D97-AF65-F5344CB8AC3E}">
        <p14:creationId xmlns:p14="http://schemas.microsoft.com/office/powerpoint/2010/main" val="324285431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st Estima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sp>
        <p:nvSpPr>
          <p:cNvPr id="2" name="Picture Placeholder 8">
            <a:extLst>
              <a:ext uri="{FF2B5EF4-FFF2-40B4-BE49-F238E27FC236}">
                <a16:creationId xmlns:a16="http://schemas.microsoft.com/office/drawing/2014/main" id="{26D9DFBA-6956-D413-D11F-2907C813B22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605658" y="177044"/>
            <a:ext cx="4072192" cy="3021304"/>
          </a:xfrm>
          <a:prstGeom prst="rect">
            <a:avLst/>
          </a:prstGeom>
        </p:spPr>
        <p:txBody>
          <a:bodyPr/>
          <a:lstStyle>
            <a:lvl1pPr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3" name="Picture Placeholder 9">
            <a:extLst>
              <a:ext uri="{FF2B5EF4-FFF2-40B4-BE49-F238E27FC236}">
                <a16:creationId xmlns:a16="http://schemas.microsoft.com/office/drawing/2014/main" id="{3612E4AD-E7F0-046E-F744-C2EA29B4FB38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605658" y="3509302"/>
            <a:ext cx="4072192" cy="3021304"/>
          </a:xfrm>
          <a:prstGeom prst="rect">
            <a:avLst/>
          </a:prstGeom>
        </p:spPr>
        <p:txBody>
          <a:bodyPr/>
          <a:lstStyle>
            <a:lvl1pPr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4" name="Picture Placeholder 11">
            <a:extLst>
              <a:ext uri="{FF2B5EF4-FFF2-40B4-BE49-F238E27FC236}">
                <a16:creationId xmlns:a16="http://schemas.microsoft.com/office/drawing/2014/main" id="{7E878CB2-0C13-7C9A-526B-72C3BDEB9F6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024625" y="177044"/>
            <a:ext cx="4072192" cy="3021304"/>
          </a:xfrm>
          <a:prstGeom prst="rect">
            <a:avLst/>
          </a:prstGeom>
        </p:spPr>
        <p:txBody>
          <a:bodyPr/>
          <a:lstStyle>
            <a:lvl1pPr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5" name="Picture Placeholder 13">
            <a:extLst>
              <a:ext uri="{FF2B5EF4-FFF2-40B4-BE49-F238E27FC236}">
                <a16:creationId xmlns:a16="http://schemas.microsoft.com/office/drawing/2014/main" id="{47A70794-B396-5620-9F8C-171CAF84DB2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024625" y="3509302"/>
            <a:ext cx="4072192" cy="3021304"/>
          </a:xfrm>
          <a:prstGeom prst="rect">
            <a:avLst/>
          </a:prstGeom>
        </p:spPr>
        <p:txBody>
          <a:bodyPr/>
          <a:lstStyle>
            <a:lvl1pPr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0B9F91C1-A1B9-BFCB-6B12-1BFAC60309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244" y="182880"/>
            <a:ext cx="3242619" cy="498122"/>
          </a:xfrm>
          <a:prstGeom prst="rect">
            <a:avLst/>
          </a:prstGeom>
        </p:spPr>
        <p:txBody>
          <a:bodyPr/>
          <a:lstStyle>
            <a:lvl1pPr>
              <a:defRPr sz="3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Cost Estimate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CD756A5D-4AA5-CB93-5309-7FD1BC3A44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4244" y="1137842"/>
            <a:ext cx="3242619" cy="539276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BC77AE3F-2A2B-E6C6-5C8B-351CAE1CCE0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84244" y="690409"/>
            <a:ext cx="3242619" cy="391397"/>
          </a:xfrm>
          <a:prstGeom prst="rect">
            <a:avLst/>
          </a:prstGeom>
        </p:spPr>
        <p:txBody>
          <a:bodyPr/>
          <a:lstStyle>
            <a:lvl1pPr>
              <a:defRPr sz="20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88141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xisting Conditions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C7877DB-7052-FA8A-5E40-C621F3478D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245" y="182880"/>
            <a:ext cx="11822596" cy="498122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3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Option 1: Room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4DA1D4B6-F617-B364-E6B0-57AB468E3A5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84244" y="731520"/>
            <a:ext cx="11822596" cy="39139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>
              <a:defRPr sz="20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>
                <a:ea typeface="Lato Bold"/>
                <a:cs typeface="Lato Bold"/>
              </a:rPr>
              <a:t>Classroom # : #seats</a:t>
            </a:r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8BE5881-BDD3-A2CA-A0E6-591BA52FD275}"/>
              </a:ext>
            </a:extLst>
          </p:cNvPr>
          <p:cNvSpPr txBox="1"/>
          <p:nvPr userDrawn="1"/>
        </p:nvSpPr>
        <p:spPr>
          <a:xfrm>
            <a:off x="184244" y="1209782"/>
            <a:ext cx="3750067" cy="443843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E2AA2C9-18D3-3364-5CB3-140A91E0102A}"/>
              </a:ext>
            </a:extLst>
          </p:cNvPr>
          <p:cNvSpPr txBox="1"/>
          <p:nvPr userDrawn="1"/>
        </p:nvSpPr>
        <p:spPr>
          <a:xfrm>
            <a:off x="4220508" y="1209782"/>
            <a:ext cx="3750067" cy="443843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l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44F8405-86E5-BF82-B14E-A0AA92D5540B}"/>
              </a:ext>
            </a:extLst>
          </p:cNvPr>
          <p:cNvSpPr txBox="1"/>
          <p:nvPr userDrawn="1"/>
        </p:nvSpPr>
        <p:spPr>
          <a:xfrm>
            <a:off x="8256773" y="1209782"/>
            <a:ext cx="3750067" cy="443843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l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88601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lors, Keys and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07A9851A-4FE5-EDBF-3CA2-29A696F72D4D}"/>
              </a:ext>
            </a:extLst>
          </p:cNvPr>
          <p:cNvSpPr/>
          <p:nvPr userDrawn="1"/>
        </p:nvSpPr>
        <p:spPr>
          <a:xfrm>
            <a:off x="1034903" y="1010093"/>
            <a:ext cx="616688" cy="340242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A9E439E-84BC-E69A-1FD0-5E30085FDF54}"/>
              </a:ext>
            </a:extLst>
          </p:cNvPr>
          <p:cNvSpPr/>
          <p:nvPr userDrawn="1"/>
        </p:nvSpPr>
        <p:spPr>
          <a:xfrm>
            <a:off x="1034903" y="1545266"/>
            <a:ext cx="616688" cy="340242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EA66C9F-FBCA-9C90-9C5E-A2308C03BA8A}"/>
              </a:ext>
            </a:extLst>
          </p:cNvPr>
          <p:cNvSpPr/>
          <p:nvPr userDrawn="1"/>
        </p:nvSpPr>
        <p:spPr>
          <a:xfrm>
            <a:off x="1034903" y="2078671"/>
            <a:ext cx="616688" cy="34024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F98EB00-EEC6-D7F0-7D52-F91900E8534F}"/>
              </a:ext>
            </a:extLst>
          </p:cNvPr>
          <p:cNvSpPr/>
          <p:nvPr userDrawn="1"/>
        </p:nvSpPr>
        <p:spPr>
          <a:xfrm>
            <a:off x="1045535" y="2626245"/>
            <a:ext cx="616688" cy="34024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1885113-CD2D-D591-57AE-24E371259BB8}"/>
              </a:ext>
            </a:extLst>
          </p:cNvPr>
          <p:cNvSpPr/>
          <p:nvPr userDrawn="1"/>
        </p:nvSpPr>
        <p:spPr>
          <a:xfrm>
            <a:off x="1034903" y="3173819"/>
            <a:ext cx="616688" cy="340242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5CF125E-F82D-A2E5-1A61-9D6F304619DA}"/>
              </a:ext>
            </a:extLst>
          </p:cNvPr>
          <p:cNvSpPr/>
          <p:nvPr userDrawn="1"/>
        </p:nvSpPr>
        <p:spPr>
          <a:xfrm>
            <a:off x="1045535" y="3721393"/>
            <a:ext cx="616688" cy="34024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943F6B5-028F-950E-5F0E-D961CE9F448D}"/>
              </a:ext>
            </a:extLst>
          </p:cNvPr>
          <p:cNvSpPr/>
          <p:nvPr userDrawn="1"/>
        </p:nvSpPr>
        <p:spPr>
          <a:xfrm>
            <a:off x="1045535" y="4267199"/>
            <a:ext cx="616688" cy="34024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BFD751D-1C09-5DD3-7F5F-DCF32522CF5B}"/>
              </a:ext>
            </a:extLst>
          </p:cNvPr>
          <p:cNvSpPr/>
          <p:nvPr userDrawn="1"/>
        </p:nvSpPr>
        <p:spPr>
          <a:xfrm>
            <a:off x="1034903" y="4813005"/>
            <a:ext cx="616688" cy="34024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935DBA7-8CDC-B3A8-3AC9-E8F254177575}"/>
              </a:ext>
            </a:extLst>
          </p:cNvPr>
          <p:cNvSpPr/>
          <p:nvPr userDrawn="1"/>
        </p:nvSpPr>
        <p:spPr>
          <a:xfrm>
            <a:off x="1045535" y="5358811"/>
            <a:ext cx="616688" cy="340242"/>
          </a:xfrm>
          <a:prstGeom prst="rect">
            <a:avLst/>
          </a:prstGeom>
          <a:solidFill>
            <a:srgbClr val="B8C6F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0129EBC1-3317-1D5A-3AA3-C59822ABD13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797050" y="1009650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76FEA8BC-2352-36C2-8036-6B2254456DE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797050" y="1544195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0" name="Text Placeholder 27">
            <a:extLst>
              <a:ext uri="{FF2B5EF4-FFF2-40B4-BE49-F238E27FC236}">
                <a16:creationId xmlns:a16="http://schemas.microsoft.com/office/drawing/2014/main" id="{2CD0B3BE-3033-A7EB-E3C2-C7AB34B94A1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797050" y="2078671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1" name="Text Placeholder 27">
            <a:extLst>
              <a:ext uri="{FF2B5EF4-FFF2-40B4-BE49-F238E27FC236}">
                <a16:creationId xmlns:a16="http://schemas.microsoft.com/office/drawing/2014/main" id="{C94D331B-C564-3032-74B9-BE391757ACC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797050" y="2613147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2" name="Text Placeholder 27">
            <a:extLst>
              <a:ext uri="{FF2B5EF4-FFF2-40B4-BE49-F238E27FC236}">
                <a16:creationId xmlns:a16="http://schemas.microsoft.com/office/drawing/2014/main" id="{89FCD616-482F-BB5B-7721-8B8B14F4C12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797050" y="3147623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3" name="Text Placeholder 27">
            <a:extLst>
              <a:ext uri="{FF2B5EF4-FFF2-40B4-BE49-F238E27FC236}">
                <a16:creationId xmlns:a16="http://schemas.microsoft.com/office/drawing/2014/main" id="{F73D9AE2-C9F1-ADB0-23F7-6930B916503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797050" y="3682099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4" name="Text Placeholder 27">
            <a:extLst>
              <a:ext uri="{FF2B5EF4-FFF2-40B4-BE49-F238E27FC236}">
                <a16:creationId xmlns:a16="http://schemas.microsoft.com/office/drawing/2014/main" id="{0721E596-E7DE-856A-5926-6F68B1BCC64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97050" y="4216575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5" name="Text Placeholder 27">
            <a:extLst>
              <a:ext uri="{FF2B5EF4-FFF2-40B4-BE49-F238E27FC236}">
                <a16:creationId xmlns:a16="http://schemas.microsoft.com/office/drawing/2014/main" id="{C394E1A2-6C40-CB70-28C9-3082A9D1367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797050" y="4751051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6" name="Text Placeholder 27">
            <a:extLst>
              <a:ext uri="{FF2B5EF4-FFF2-40B4-BE49-F238E27FC236}">
                <a16:creationId xmlns:a16="http://schemas.microsoft.com/office/drawing/2014/main" id="{036EFE3B-DC86-8C5A-8B60-D27F1640499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797050" y="5285527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7" name="Title 1">
            <a:extLst>
              <a:ext uri="{FF2B5EF4-FFF2-40B4-BE49-F238E27FC236}">
                <a16:creationId xmlns:a16="http://schemas.microsoft.com/office/drawing/2014/main" id="{434CCA1C-B3AE-9793-77BC-77D80901918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4245" y="182880"/>
            <a:ext cx="11822596" cy="498122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3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Building Purpose &amp; Presentation Colors</a:t>
            </a:r>
          </a:p>
        </p:txBody>
      </p:sp>
      <p:sp>
        <p:nvSpPr>
          <p:cNvPr id="51" name="AutoShape 34">
            <a:extLst>
              <a:ext uri="{FF2B5EF4-FFF2-40B4-BE49-F238E27FC236}">
                <a16:creationId xmlns:a16="http://schemas.microsoft.com/office/drawing/2014/main" id="{F2025C07-CD51-CD0C-4AF4-0DE437866965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16046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2" name="AutoShape 35">
            <a:extLst>
              <a:ext uri="{FF2B5EF4-FFF2-40B4-BE49-F238E27FC236}">
                <a16:creationId xmlns:a16="http://schemas.microsoft.com/office/drawing/2014/main" id="{68FCAC10-887A-F302-5A48-937E9B8AD25D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6208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3" name="AutoShape 36">
            <a:extLst>
              <a:ext uri="{FF2B5EF4-FFF2-40B4-BE49-F238E27FC236}">
                <a16:creationId xmlns:a16="http://schemas.microsoft.com/office/drawing/2014/main" id="{2E423CA6-668B-ED41-0826-20E23C321C3C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20812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4" name="AutoShape 38">
            <a:extLst>
              <a:ext uri="{FF2B5EF4-FFF2-40B4-BE49-F238E27FC236}">
                <a16:creationId xmlns:a16="http://schemas.microsoft.com/office/drawing/2014/main" id="{A8FC92ED-9B59-BFCC-6125-544D6EFAE7D7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33480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5" name="AutoShape 43">
            <a:extLst>
              <a:ext uri="{FF2B5EF4-FFF2-40B4-BE49-F238E27FC236}">
                <a16:creationId xmlns:a16="http://schemas.microsoft.com/office/drawing/2014/main" id="{92EF72A4-9658-6124-D46F-A125AFB36D93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73739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6" name="AutoShape 45">
            <a:extLst>
              <a:ext uri="{FF2B5EF4-FFF2-40B4-BE49-F238E27FC236}">
                <a16:creationId xmlns:a16="http://schemas.microsoft.com/office/drawing/2014/main" id="{9073D79C-79AD-A133-ED4E-A1803B76566D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8810625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7" name="AutoShape 47">
            <a:extLst>
              <a:ext uri="{FF2B5EF4-FFF2-40B4-BE49-F238E27FC236}">
                <a16:creationId xmlns:a16="http://schemas.microsoft.com/office/drawing/2014/main" id="{8E03D1EB-4887-DDD7-0B59-7D04FBBC8EDF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02473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8" name="AutoShape 48">
            <a:extLst>
              <a:ext uri="{FF2B5EF4-FFF2-40B4-BE49-F238E27FC236}">
                <a16:creationId xmlns:a16="http://schemas.microsoft.com/office/drawing/2014/main" id="{8D47C7B4-7C64-32B0-B7D6-40B75100F5E4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070768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9" name="AutoShape 49">
            <a:extLst>
              <a:ext uri="{FF2B5EF4-FFF2-40B4-BE49-F238E27FC236}">
                <a16:creationId xmlns:a16="http://schemas.microsoft.com/office/drawing/2014/main" id="{E0D67EBA-1C5F-CE0A-C402-69FCA9028DD0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116806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0" name="AutoShape 50">
            <a:extLst>
              <a:ext uri="{FF2B5EF4-FFF2-40B4-BE49-F238E27FC236}">
                <a16:creationId xmlns:a16="http://schemas.microsoft.com/office/drawing/2014/main" id="{E84FC73E-BB32-B34B-BED8-33FDE098CD00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16284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1" name="AutoShape 51">
            <a:extLst>
              <a:ext uri="{FF2B5EF4-FFF2-40B4-BE49-F238E27FC236}">
                <a16:creationId xmlns:a16="http://schemas.microsoft.com/office/drawing/2014/main" id="{28337FC9-F4DB-E0D4-5C71-A1DADE4DC10A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20888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2" name="AutoShape 53">
            <a:extLst>
              <a:ext uri="{FF2B5EF4-FFF2-40B4-BE49-F238E27FC236}">
                <a16:creationId xmlns:a16="http://schemas.microsoft.com/office/drawing/2014/main" id="{B44929FB-DA62-0DCC-9024-021DD9B8531B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34858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3" name="AutoShape 56">
            <a:extLst>
              <a:ext uri="{FF2B5EF4-FFF2-40B4-BE49-F238E27FC236}">
                <a16:creationId xmlns:a16="http://schemas.microsoft.com/office/drawing/2014/main" id="{75602302-E87B-8298-73E0-D6E2A0CEB94D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58988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5A91FDDC-0293-9530-5806-5A2241B40916}"/>
              </a:ext>
            </a:extLst>
          </p:cNvPr>
          <p:cNvGrpSpPr/>
          <p:nvPr userDrawn="1"/>
        </p:nvGrpSpPr>
        <p:grpSpPr>
          <a:xfrm>
            <a:off x="5136663" y="980430"/>
            <a:ext cx="723368" cy="2533631"/>
            <a:chOff x="4735952" y="5605158"/>
            <a:chExt cx="286119" cy="1002145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50D3B9D3-0759-E220-B870-0677753148BA}"/>
                </a:ext>
              </a:extLst>
            </p:cNvPr>
            <p:cNvSpPr/>
            <p:nvPr/>
          </p:nvSpPr>
          <p:spPr>
            <a:xfrm>
              <a:off x="4735952" y="6494711"/>
              <a:ext cx="286119" cy="112592"/>
            </a:xfrm>
            <a:prstGeom prst="rect">
              <a:avLst/>
            </a:prstGeom>
            <a:solidFill>
              <a:srgbClr val="FECC4B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Lato" panose="020F0502020204030203" pitchFamily="34" charset="0"/>
              </a:endParaRPr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F2B7D3DC-0382-4000-91C8-54B02549CC5C}"/>
                </a:ext>
              </a:extLst>
            </p:cNvPr>
            <p:cNvSpPr/>
            <p:nvPr/>
          </p:nvSpPr>
          <p:spPr>
            <a:xfrm>
              <a:off x="4735952" y="5826437"/>
              <a:ext cx="286119" cy="112592"/>
            </a:xfrm>
            <a:prstGeom prst="rect">
              <a:avLst/>
            </a:prstGeom>
            <a:solidFill>
              <a:srgbClr val="EB4D4D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Lato" panose="020F0502020204030203" pitchFamily="34" charset="0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6324D266-FC10-6D01-1608-F21024CD30B7}"/>
                </a:ext>
              </a:extLst>
            </p:cNvPr>
            <p:cNvSpPr/>
            <p:nvPr/>
          </p:nvSpPr>
          <p:spPr>
            <a:xfrm>
              <a:off x="4735952" y="6047355"/>
              <a:ext cx="286119" cy="112592"/>
            </a:xfrm>
            <a:prstGeom prst="rect">
              <a:avLst/>
            </a:prstGeom>
            <a:solidFill>
              <a:srgbClr val="1D65D6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Lato" panose="020F0502020204030203" pitchFamily="34" charset="0"/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7B0AB7F1-3724-CC32-0A4C-37F92B002B62}"/>
                </a:ext>
              </a:extLst>
            </p:cNvPr>
            <p:cNvSpPr/>
            <p:nvPr/>
          </p:nvSpPr>
          <p:spPr>
            <a:xfrm>
              <a:off x="4735952" y="6266109"/>
              <a:ext cx="286119" cy="112592"/>
            </a:xfrm>
            <a:prstGeom prst="rect">
              <a:avLst/>
            </a:prstGeom>
            <a:solidFill>
              <a:srgbClr val="00BCFF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Lato" panose="020F0502020204030203" pitchFamily="34" charset="0"/>
              </a:endParaRP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06F82220-635F-3256-DB55-25CCD595407A}"/>
                </a:ext>
              </a:extLst>
            </p:cNvPr>
            <p:cNvSpPr/>
            <p:nvPr/>
          </p:nvSpPr>
          <p:spPr>
            <a:xfrm>
              <a:off x="4735952" y="5605158"/>
              <a:ext cx="286119" cy="112592"/>
            </a:xfrm>
            <a:prstGeom prst="rect">
              <a:avLst/>
            </a:prstGeom>
            <a:blipFill dpi="0"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 w="6350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Lato" panose="020F0502020204030203" pitchFamily="34" charset="0"/>
              </a:endParaRP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AE3EEB14-CB34-B167-3E12-E1A476B6E3BE}"/>
              </a:ext>
            </a:extLst>
          </p:cNvPr>
          <p:cNvGrpSpPr/>
          <p:nvPr userDrawn="1"/>
        </p:nvGrpSpPr>
        <p:grpSpPr>
          <a:xfrm>
            <a:off x="6096000" y="1034775"/>
            <a:ext cx="3565905" cy="2479286"/>
            <a:chOff x="2345689" y="2340844"/>
            <a:chExt cx="3565905" cy="2479286"/>
          </a:xfrm>
        </p:grpSpPr>
        <p:sp>
          <p:nvSpPr>
            <p:cNvPr id="9" name="Text Placeholder 27">
              <a:extLst>
                <a:ext uri="{FF2B5EF4-FFF2-40B4-BE49-F238E27FC236}">
                  <a16:creationId xmlns:a16="http://schemas.microsoft.com/office/drawing/2014/main" id="{F017AEBB-82F8-7495-2C72-068132EDCF94}"/>
                </a:ext>
              </a:extLst>
            </p:cNvPr>
            <p:cNvSpPr txBox="1">
              <a:spLocks/>
            </p:cNvSpPr>
            <p:nvPr/>
          </p:nvSpPr>
          <p:spPr>
            <a:xfrm>
              <a:off x="2345690" y="2340844"/>
              <a:ext cx="3059430" cy="341313"/>
            </a:xfrm>
            <a:prstGeom prst="rect">
              <a:avLst/>
            </a:prstGeom>
          </p:spPr>
          <p:txBody>
            <a:bodyPr/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/>
                <a:t>Renovations</a:t>
              </a:r>
            </a:p>
          </p:txBody>
        </p:sp>
        <p:sp>
          <p:nvSpPr>
            <p:cNvPr id="12" name="Text Placeholder 27">
              <a:extLst>
                <a:ext uri="{FF2B5EF4-FFF2-40B4-BE49-F238E27FC236}">
                  <a16:creationId xmlns:a16="http://schemas.microsoft.com/office/drawing/2014/main" id="{8EDAF55C-582F-FF58-68CD-5B470DA428D8}"/>
                </a:ext>
              </a:extLst>
            </p:cNvPr>
            <p:cNvSpPr txBox="1">
              <a:spLocks/>
            </p:cNvSpPr>
            <p:nvPr/>
          </p:nvSpPr>
          <p:spPr>
            <a:xfrm>
              <a:off x="2345689" y="2875389"/>
              <a:ext cx="3565905" cy="341313"/>
            </a:xfrm>
            <a:prstGeom prst="rect">
              <a:avLst/>
            </a:prstGeom>
          </p:spPr>
          <p:txBody>
            <a:bodyPr/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/>
                <a:t>Campus Life</a:t>
              </a:r>
            </a:p>
          </p:txBody>
        </p:sp>
        <p:sp>
          <p:nvSpPr>
            <p:cNvPr id="13" name="Text Placeholder 27">
              <a:extLst>
                <a:ext uri="{FF2B5EF4-FFF2-40B4-BE49-F238E27FC236}">
                  <a16:creationId xmlns:a16="http://schemas.microsoft.com/office/drawing/2014/main" id="{EA634C20-4E3F-7D79-A399-425901F06491}"/>
                </a:ext>
              </a:extLst>
            </p:cNvPr>
            <p:cNvSpPr txBox="1">
              <a:spLocks/>
            </p:cNvSpPr>
            <p:nvPr/>
          </p:nvSpPr>
          <p:spPr>
            <a:xfrm>
              <a:off x="2345690" y="3409865"/>
              <a:ext cx="2711450" cy="341313"/>
            </a:xfrm>
            <a:prstGeom prst="rect">
              <a:avLst/>
            </a:prstGeom>
          </p:spPr>
          <p:txBody>
            <a:bodyPr/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/>
                <a:t>Academics</a:t>
              </a:r>
            </a:p>
          </p:txBody>
        </p:sp>
        <p:sp>
          <p:nvSpPr>
            <p:cNvPr id="14" name="Text Placeholder 27">
              <a:extLst>
                <a:ext uri="{FF2B5EF4-FFF2-40B4-BE49-F238E27FC236}">
                  <a16:creationId xmlns:a16="http://schemas.microsoft.com/office/drawing/2014/main" id="{B5D4A8A4-BEC4-DD21-2410-593E828F0E14}"/>
                </a:ext>
              </a:extLst>
            </p:cNvPr>
            <p:cNvSpPr txBox="1">
              <a:spLocks/>
            </p:cNvSpPr>
            <p:nvPr/>
          </p:nvSpPr>
          <p:spPr>
            <a:xfrm>
              <a:off x="2345689" y="3944341"/>
              <a:ext cx="3273425" cy="341313"/>
            </a:xfrm>
            <a:prstGeom prst="rect">
              <a:avLst/>
            </a:prstGeom>
          </p:spPr>
          <p:txBody>
            <a:bodyPr/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/>
                <a:t>Research</a:t>
              </a:r>
            </a:p>
          </p:txBody>
        </p:sp>
        <p:sp>
          <p:nvSpPr>
            <p:cNvPr id="15" name="Text Placeholder 27">
              <a:extLst>
                <a:ext uri="{FF2B5EF4-FFF2-40B4-BE49-F238E27FC236}">
                  <a16:creationId xmlns:a16="http://schemas.microsoft.com/office/drawing/2014/main" id="{82D9378D-5789-9B7E-5B3E-C6580E519738}"/>
                </a:ext>
              </a:extLst>
            </p:cNvPr>
            <p:cNvSpPr txBox="1">
              <a:spLocks/>
            </p:cNvSpPr>
            <p:nvPr/>
          </p:nvSpPr>
          <p:spPr>
            <a:xfrm>
              <a:off x="2345689" y="4478817"/>
              <a:ext cx="3023870" cy="341313"/>
            </a:xfrm>
            <a:prstGeom prst="rect">
              <a:avLst/>
            </a:prstGeom>
          </p:spPr>
          <p:txBody>
            <a:bodyPr/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/>
                <a:t>Residential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72104862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llege, Colors, Keys and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0129EBC1-3317-1D5A-3AA3-C59822ABD13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797050" y="1009650"/>
            <a:ext cx="305943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College of Arts, Media &amp; Design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76FEA8BC-2352-36C2-8036-6B2254456DE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797049" y="1544195"/>
            <a:ext cx="3565905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Khoury College of Computer Science</a:t>
            </a:r>
          </a:p>
        </p:txBody>
      </p:sp>
      <p:sp>
        <p:nvSpPr>
          <p:cNvPr id="30" name="Text Placeholder 27">
            <a:extLst>
              <a:ext uri="{FF2B5EF4-FFF2-40B4-BE49-F238E27FC236}">
                <a16:creationId xmlns:a16="http://schemas.microsoft.com/office/drawing/2014/main" id="{2CD0B3BE-3033-A7EB-E3C2-C7AB34B94A1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797050" y="2078671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College of Engineering</a:t>
            </a:r>
          </a:p>
        </p:txBody>
      </p:sp>
      <p:sp>
        <p:nvSpPr>
          <p:cNvPr id="31" name="Text Placeholder 27">
            <a:extLst>
              <a:ext uri="{FF2B5EF4-FFF2-40B4-BE49-F238E27FC236}">
                <a16:creationId xmlns:a16="http://schemas.microsoft.com/office/drawing/2014/main" id="{C94D331B-C564-3032-74B9-BE391757ACC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797049" y="2613147"/>
            <a:ext cx="3273425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 err="1"/>
              <a:t>Bouvé</a:t>
            </a:r>
            <a:r>
              <a:rPr lang="en-US"/>
              <a:t> College of Health Sciences</a:t>
            </a:r>
          </a:p>
        </p:txBody>
      </p:sp>
      <p:sp>
        <p:nvSpPr>
          <p:cNvPr id="32" name="Text Placeholder 27">
            <a:extLst>
              <a:ext uri="{FF2B5EF4-FFF2-40B4-BE49-F238E27FC236}">
                <a16:creationId xmlns:a16="http://schemas.microsoft.com/office/drawing/2014/main" id="{89FCD616-482F-BB5B-7721-8B8B14F4C12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797050" y="3147623"/>
            <a:ext cx="302387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College of Professional Studies</a:t>
            </a:r>
          </a:p>
        </p:txBody>
      </p:sp>
      <p:sp>
        <p:nvSpPr>
          <p:cNvPr id="33" name="Text Placeholder 27">
            <a:extLst>
              <a:ext uri="{FF2B5EF4-FFF2-40B4-BE49-F238E27FC236}">
                <a16:creationId xmlns:a16="http://schemas.microsoft.com/office/drawing/2014/main" id="{F73D9AE2-C9F1-ADB0-23F7-6930B916503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797050" y="3682099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College of Science</a:t>
            </a:r>
          </a:p>
        </p:txBody>
      </p:sp>
      <p:sp>
        <p:nvSpPr>
          <p:cNvPr id="34" name="Text Placeholder 27">
            <a:extLst>
              <a:ext uri="{FF2B5EF4-FFF2-40B4-BE49-F238E27FC236}">
                <a16:creationId xmlns:a16="http://schemas.microsoft.com/office/drawing/2014/main" id="{0721E596-E7DE-856A-5926-6F68B1BCC64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797050" y="4216575"/>
            <a:ext cx="395467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College of Social Sciences and Humanities</a:t>
            </a:r>
          </a:p>
        </p:txBody>
      </p:sp>
      <p:sp>
        <p:nvSpPr>
          <p:cNvPr id="35" name="Text Placeholder 27">
            <a:extLst>
              <a:ext uri="{FF2B5EF4-FFF2-40B4-BE49-F238E27FC236}">
                <a16:creationId xmlns:a16="http://schemas.microsoft.com/office/drawing/2014/main" id="{C394E1A2-6C40-CB70-28C9-3082A9D1367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797050" y="4751051"/>
            <a:ext cx="341503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Mills College</a:t>
            </a:r>
          </a:p>
        </p:txBody>
      </p:sp>
      <p:sp>
        <p:nvSpPr>
          <p:cNvPr id="36" name="Text Placeholder 27">
            <a:extLst>
              <a:ext uri="{FF2B5EF4-FFF2-40B4-BE49-F238E27FC236}">
                <a16:creationId xmlns:a16="http://schemas.microsoft.com/office/drawing/2014/main" id="{036EFE3B-DC86-8C5A-8B60-D27F1640499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797050" y="5285527"/>
            <a:ext cx="362331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err="1"/>
              <a:t>D’Amore</a:t>
            </a:r>
            <a:r>
              <a:rPr lang="en-US"/>
              <a:t>-McKim School of Business</a:t>
            </a:r>
          </a:p>
          <a:p>
            <a:pPr lvl="0"/>
            <a:endParaRPr lang="en-US"/>
          </a:p>
        </p:txBody>
      </p:sp>
      <p:sp>
        <p:nvSpPr>
          <p:cNvPr id="37" name="Title 1">
            <a:extLst>
              <a:ext uri="{FF2B5EF4-FFF2-40B4-BE49-F238E27FC236}">
                <a16:creationId xmlns:a16="http://schemas.microsoft.com/office/drawing/2014/main" id="{434CCA1C-B3AE-9793-77BC-77D80901918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4245" y="182880"/>
            <a:ext cx="11822596" cy="498122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3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Colors, Key and Icons</a:t>
            </a:r>
          </a:p>
        </p:txBody>
      </p:sp>
      <p:pic>
        <p:nvPicPr>
          <p:cNvPr id="1057" name="Picture 33">
            <a:extLst>
              <a:ext uri="{FF2B5EF4-FFF2-40B4-BE49-F238E27FC236}">
                <a16:creationId xmlns:a16="http://schemas.microsoft.com/office/drawing/2014/main" id="{781055BC-FDE2-8BBB-1E46-08F1756DD7A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66177" y="1454481"/>
            <a:ext cx="762000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1" name="AutoShape 34">
            <a:extLst>
              <a:ext uri="{FF2B5EF4-FFF2-40B4-BE49-F238E27FC236}">
                <a16:creationId xmlns:a16="http://schemas.microsoft.com/office/drawing/2014/main" id="{F2025C07-CD51-CD0C-4AF4-0DE437866965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16046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2" name="AutoShape 35">
            <a:extLst>
              <a:ext uri="{FF2B5EF4-FFF2-40B4-BE49-F238E27FC236}">
                <a16:creationId xmlns:a16="http://schemas.microsoft.com/office/drawing/2014/main" id="{68FCAC10-887A-F302-5A48-937E9B8AD25D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6208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3" name="AutoShape 36">
            <a:extLst>
              <a:ext uri="{FF2B5EF4-FFF2-40B4-BE49-F238E27FC236}">
                <a16:creationId xmlns:a16="http://schemas.microsoft.com/office/drawing/2014/main" id="{2E423CA6-668B-ED41-0826-20E23C321C3C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20812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61" name="Picture 37">
            <a:extLst>
              <a:ext uri="{FF2B5EF4-FFF2-40B4-BE49-F238E27FC236}">
                <a16:creationId xmlns:a16="http://schemas.microsoft.com/office/drawing/2014/main" id="{2A78F1E1-42AE-F3D9-6F6C-D892FC68C2D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42377" y="2523502"/>
            <a:ext cx="609600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4" name="AutoShape 38">
            <a:extLst>
              <a:ext uri="{FF2B5EF4-FFF2-40B4-BE49-F238E27FC236}">
                <a16:creationId xmlns:a16="http://schemas.microsoft.com/office/drawing/2014/main" id="{A8FC92ED-9B59-BFCC-6125-544D6EFAE7D7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33480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63" name="Picture 39">
            <a:extLst>
              <a:ext uri="{FF2B5EF4-FFF2-40B4-BE49-F238E27FC236}">
                <a16:creationId xmlns:a16="http://schemas.microsoft.com/office/drawing/2014/main" id="{D8EC587C-B10E-B81F-59EC-E40C1F9AD9A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23327" y="3696718"/>
            <a:ext cx="628650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4" name="Picture 40">
            <a:extLst>
              <a:ext uri="{FF2B5EF4-FFF2-40B4-BE49-F238E27FC236}">
                <a16:creationId xmlns:a16="http://schemas.microsoft.com/office/drawing/2014/main" id="{E38C9A6E-DF1B-14D0-C704-2DD6B3F7DB0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94902" y="1488741"/>
            <a:ext cx="742950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5" name="Picture 41">
            <a:extLst>
              <a:ext uri="{FF2B5EF4-FFF2-40B4-BE49-F238E27FC236}">
                <a16:creationId xmlns:a16="http://schemas.microsoft.com/office/drawing/2014/main" id="{25AB3C69-7F60-7647-BD45-8A4B8998D37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7764" y="2530756"/>
            <a:ext cx="6191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6" name="Picture 42">
            <a:extLst>
              <a:ext uri="{FF2B5EF4-FFF2-40B4-BE49-F238E27FC236}">
                <a16:creationId xmlns:a16="http://schemas.microsoft.com/office/drawing/2014/main" id="{8B362C67-ABA7-1EE8-B685-A81B257C478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3802" y="4769182"/>
            <a:ext cx="71437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5" name="AutoShape 43">
            <a:extLst>
              <a:ext uri="{FF2B5EF4-FFF2-40B4-BE49-F238E27FC236}">
                <a16:creationId xmlns:a16="http://schemas.microsoft.com/office/drawing/2014/main" id="{92EF72A4-9658-6124-D46F-A125AFB36D93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73739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68" name="Picture 44">
            <a:extLst>
              <a:ext uri="{FF2B5EF4-FFF2-40B4-BE49-F238E27FC236}">
                <a16:creationId xmlns:a16="http://schemas.microsoft.com/office/drawing/2014/main" id="{6D101FA9-081E-CFB1-603E-835FFE03DA9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97387" y="4737584"/>
            <a:ext cx="7715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6" name="AutoShape 45">
            <a:extLst>
              <a:ext uri="{FF2B5EF4-FFF2-40B4-BE49-F238E27FC236}">
                <a16:creationId xmlns:a16="http://schemas.microsoft.com/office/drawing/2014/main" id="{9073D79C-79AD-A133-ED4E-A1803B76566D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8810625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70" name="Picture 46">
            <a:extLst>
              <a:ext uri="{FF2B5EF4-FFF2-40B4-BE49-F238E27FC236}">
                <a16:creationId xmlns:a16="http://schemas.microsoft.com/office/drawing/2014/main" id="{3D79AC8F-02F8-84C2-3D33-E7464D4FA60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42677" y="1600716"/>
            <a:ext cx="733425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7" name="AutoShape 47">
            <a:extLst>
              <a:ext uri="{FF2B5EF4-FFF2-40B4-BE49-F238E27FC236}">
                <a16:creationId xmlns:a16="http://schemas.microsoft.com/office/drawing/2014/main" id="{8E03D1EB-4887-DDD7-0B59-7D04FBBC8EDF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02473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8" name="AutoShape 48">
            <a:extLst>
              <a:ext uri="{FF2B5EF4-FFF2-40B4-BE49-F238E27FC236}">
                <a16:creationId xmlns:a16="http://schemas.microsoft.com/office/drawing/2014/main" id="{8D47C7B4-7C64-32B0-B7D6-40B75100F5E4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070768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9" name="AutoShape 49">
            <a:extLst>
              <a:ext uri="{FF2B5EF4-FFF2-40B4-BE49-F238E27FC236}">
                <a16:creationId xmlns:a16="http://schemas.microsoft.com/office/drawing/2014/main" id="{E0D67EBA-1C5F-CE0A-C402-69FCA9028DD0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116806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0" name="AutoShape 50">
            <a:extLst>
              <a:ext uri="{FF2B5EF4-FFF2-40B4-BE49-F238E27FC236}">
                <a16:creationId xmlns:a16="http://schemas.microsoft.com/office/drawing/2014/main" id="{E84FC73E-BB32-B34B-BED8-33FDE098CD00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16284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1" name="AutoShape 51">
            <a:extLst>
              <a:ext uri="{FF2B5EF4-FFF2-40B4-BE49-F238E27FC236}">
                <a16:creationId xmlns:a16="http://schemas.microsoft.com/office/drawing/2014/main" id="{28337FC9-F4DB-E0D4-5C71-A1DADE4DC10A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20888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76" name="Picture 52">
            <a:extLst>
              <a:ext uri="{FF2B5EF4-FFF2-40B4-BE49-F238E27FC236}">
                <a16:creationId xmlns:a16="http://schemas.microsoft.com/office/drawing/2014/main" id="{6F3EE9BF-0269-25A7-DEBE-6E53ED34852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75852" y="3603151"/>
            <a:ext cx="781050" cy="733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2" name="AutoShape 53">
            <a:extLst>
              <a:ext uri="{FF2B5EF4-FFF2-40B4-BE49-F238E27FC236}">
                <a16:creationId xmlns:a16="http://schemas.microsoft.com/office/drawing/2014/main" id="{B44929FB-DA62-0DCC-9024-021DD9B8531B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34858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78" name="Picture 54">
            <a:extLst>
              <a:ext uri="{FF2B5EF4-FFF2-40B4-BE49-F238E27FC236}">
                <a16:creationId xmlns:a16="http://schemas.microsoft.com/office/drawing/2014/main" id="{1CA5F0C8-F245-B867-E569-E6F8423F35F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42677" y="2537931"/>
            <a:ext cx="7334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79" name="Picture 55">
            <a:extLst>
              <a:ext uri="{FF2B5EF4-FFF2-40B4-BE49-F238E27FC236}">
                <a16:creationId xmlns:a16="http://schemas.microsoft.com/office/drawing/2014/main" id="{9AEFC9D2-20A8-E13A-F2EE-F23D6EA093D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1526" y="3648236"/>
            <a:ext cx="819150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3" name="AutoShape 56">
            <a:extLst>
              <a:ext uri="{FF2B5EF4-FFF2-40B4-BE49-F238E27FC236}">
                <a16:creationId xmlns:a16="http://schemas.microsoft.com/office/drawing/2014/main" id="{75602302-E87B-8298-73E0-D6E2A0CEB94D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58988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81" name="Picture 57">
            <a:extLst>
              <a:ext uri="{FF2B5EF4-FFF2-40B4-BE49-F238E27FC236}">
                <a16:creationId xmlns:a16="http://schemas.microsoft.com/office/drawing/2014/main" id="{7F4B9074-F9D3-3E70-6B54-33CB95EF4CD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42677" y="4775195"/>
            <a:ext cx="8096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2" name="Picture 58">
            <a:extLst>
              <a:ext uri="{FF2B5EF4-FFF2-40B4-BE49-F238E27FC236}">
                <a16:creationId xmlns:a16="http://schemas.microsoft.com/office/drawing/2014/main" id="{32524291-4A8A-5746-AAFB-23459BCD904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79486" y="4628194"/>
            <a:ext cx="1103991" cy="11021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3" name="Picture 59">
            <a:extLst>
              <a:ext uri="{FF2B5EF4-FFF2-40B4-BE49-F238E27FC236}">
                <a16:creationId xmlns:a16="http://schemas.microsoft.com/office/drawing/2014/main" id="{31BEE8A5-0F98-3C5A-881F-29E74CBFE51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83306" y="3575848"/>
            <a:ext cx="1102164" cy="11021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5" name="Picture 61">
            <a:extLst>
              <a:ext uri="{FF2B5EF4-FFF2-40B4-BE49-F238E27FC236}">
                <a16:creationId xmlns:a16="http://schemas.microsoft.com/office/drawing/2014/main" id="{AD7E84AD-6063-3D46-8352-481AAF132EF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00599" y="2530756"/>
            <a:ext cx="2288214" cy="847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6" name="Picture 62">
            <a:extLst>
              <a:ext uri="{FF2B5EF4-FFF2-40B4-BE49-F238E27FC236}">
                <a16:creationId xmlns:a16="http://schemas.microsoft.com/office/drawing/2014/main" id="{B076602F-983D-C726-514B-27500C2E5CC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79486" y="1454481"/>
            <a:ext cx="2288214" cy="847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8B66CA9F-1FB9-6137-7B04-6088D0498FCD}"/>
              </a:ext>
            </a:extLst>
          </p:cNvPr>
          <p:cNvGrpSpPr/>
          <p:nvPr userDrawn="1"/>
        </p:nvGrpSpPr>
        <p:grpSpPr>
          <a:xfrm>
            <a:off x="1034903" y="1010093"/>
            <a:ext cx="627320" cy="5234766"/>
            <a:chOff x="1034903" y="1010093"/>
            <a:chExt cx="627320" cy="5234766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07A9851A-4FE5-EDBF-3CA2-29A696F72D4D}"/>
                </a:ext>
              </a:extLst>
            </p:cNvPr>
            <p:cNvSpPr/>
            <p:nvPr userDrawn="1"/>
          </p:nvSpPr>
          <p:spPr>
            <a:xfrm>
              <a:off x="1034903" y="1010093"/>
              <a:ext cx="616688" cy="340242"/>
            </a:xfrm>
            <a:prstGeom prst="rect">
              <a:avLst/>
            </a:prstGeom>
            <a:solidFill>
              <a:srgbClr val="463C57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BA9E439E-84BC-E69A-1FD0-5E30085FDF54}"/>
                </a:ext>
              </a:extLst>
            </p:cNvPr>
            <p:cNvSpPr/>
            <p:nvPr userDrawn="1"/>
          </p:nvSpPr>
          <p:spPr>
            <a:xfrm>
              <a:off x="1034903" y="1545266"/>
              <a:ext cx="616688" cy="340242"/>
            </a:xfrm>
            <a:prstGeom prst="rect">
              <a:avLst/>
            </a:prstGeom>
            <a:solidFill>
              <a:srgbClr val="545D6B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5EA66C9F-FBCA-9C90-9C5E-A2308C03BA8A}"/>
                </a:ext>
              </a:extLst>
            </p:cNvPr>
            <p:cNvSpPr/>
            <p:nvPr userDrawn="1"/>
          </p:nvSpPr>
          <p:spPr>
            <a:xfrm>
              <a:off x="1034903" y="2078671"/>
              <a:ext cx="616688" cy="340242"/>
            </a:xfrm>
            <a:prstGeom prst="rect">
              <a:avLst/>
            </a:prstGeom>
            <a:solidFill>
              <a:srgbClr val="4D715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0F98EB00-EEC6-D7F0-7D52-F91900E8534F}"/>
                </a:ext>
              </a:extLst>
            </p:cNvPr>
            <p:cNvSpPr/>
            <p:nvPr userDrawn="1"/>
          </p:nvSpPr>
          <p:spPr>
            <a:xfrm>
              <a:off x="1045535" y="2626245"/>
              <a:ext cx="616688" cy="340242"/>
            </a:xfrm>
            <a:prstGeom prst="rect">
              <a:avLst/>
            </a:prstGeom>
            <a:solidFill>
              <a:srgbClr val="748B5D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31885113-CD2D-D591-57AE-24E371259BB8}"/>
                </a:ext>
              </a:extLst>
            </p:cNvPr>
            <p:cNvSpPr/>
            <p:nvPr userDrawn="1"/>
          </p:nvSpPr>
          <p:spPr>
            <a:xfrm>
              <a:off x="1034903" y="3173819"/>
              <a:ext cx="616688" cy="340242"/>
            </a:xfrm>
            <a:prstGeom prst="rect">
              <a:avLst/>
            </a:prstGeom>
            <a:solidFill>
              <a:srgbClr val="95A26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25CF125E-F82D-A2E5-1A61-9D6F304619DA}"/>
                </a:ext>
              </a:extLst>
            </p:cNvPr>
            <p:cNvSpPr/>
            <p:nvPr userDrawn="1"/>
          </p:nvSpPr>
          <p:spPr>
            <a:xfrm>
              <a:off x="1045535" y="3721393"/>
              <a:ext cx="616688" cy="340242"/>
            </a:xfrm>
            <a:prstGeom prst="rect">
              <a:avLst/>
            </a:prstGeom>
            <a:solidFill>
              <a:srgbClr val="B6AE7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7943F6B5-028F-950E-5F0E-D961CE9F448D}"/>
                </a:ext>
              </a:extLst>
            </p:cNvPr>
            <p:cNvSpPr/>
            <p:nvPr userDrawn="1"/>
          </p:nvSpPr>
          <p:spPr>
            <a:xfrm>
              <a:off x="1045535" y="4267199"/>
              <a:ext cx="616688" cy="340242"/>
            </a:xfrm>
            <a:prstGeom prst="rect">
              <a:avLst/>
            </a:prstGeom>
            <a:solidFill>
              <a:srgbClr val="B68663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7BFD751D-1C09-5DD3-7F5F-DCF32522CF5B}"/>
                </a:ext>
              </a:extLst>
            </p:cNvPr>
            <p:cNvSpPr/>
            <p:nvPr userDrawn="1"/>
          </p:nvSpPr>
          <p:spPr>
            <a:xfrm>
              <a:off x="1034903" y="4813005"/>
              <a:ext cx="616688" cy="340242"/>
            </a:xfrm>
            <a:prstGeom prst="rect">
              <a:avLst/>
            </a:prstGeom>
            <a:solidFill>
              <a:srgbClr val="B63B4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0935DBA7-8CDC-B3A8-3AC9-E8F254177575}"/>
                </a:ext>
              </a:extLst>
            </p:cNvPr>
            <p:cNvSpPr/>
            <p:nvPr userDrawn="1"/>
          </p:nvSpPr>
          <p:spPr>
            <a:xfrm>
              <a:off x="1045535" y="5358811"/>
              <a:ext cx="616688" cy="340242"/>
            </a:xfrm>
            <a:prstGeom prst="rect">
              <a:avLst/>
            </a:prstGeom>
            <a:solidFill>
              <a:srgbClr val="98062D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AC0BA7A3-0F44-E98C-CEE5-98F1F0B839AF}"/>
                </a:ext>
              </a:extLst>
            </p:cNvPr>
            <p:cNvSpPr/>
            <p:nvPr userDrawn="1"/>
          </p:nvSpPr>
          <p:spPr>
            <a:xfrm>
              <a:off x="1034903" y="5904617"/>
              <a:ext cx="616688" cy="340242"/>
            </a:xfrm>
            <a:prstGeom prst="rect">
              <a:avLst/>
            </a:prstGeom>
            <a:solidFill>
              <a:srgbClr val="80002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" name="Text Placeholder 27">
            <a:extLst>
              <a:ext uri="{FF2B5EF4-FFF2-40B4-BE49-F238E27FC236}">
                <a16:creationId xmlns:a16="http://schemas.microsoft.com/office/drawing/2014/main" id="{A96719F2-AD8E-37FC-6963-70F3D0966A1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797050" y="5903546"/>
            <a:ext cx="367919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Northeastern University School of Law</a:t>
            </a:r>
          </a:p>
        </p:txBody>
      </p:sp>
    </p:spTree>
    <p:extLst>
      <p:ext uri="{BB962C8B-B14F-4D97-AF65-F5344CB8AC3E}">
        <p14:creationId xmlns:p14="http://schemas.microsoft.com/office/powerpoint/2010/main" val="128133060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7682670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ctrTitle"/>
          </p:nvPr>
        </p:nvSpPr>
        <p:spPr>
          <a:xfrm>
            <a:off x="631371" y="1122363"/>
            <a:ext cx="6096807" cy="2038526"/>
          </a:xfrm>
        </p:spPr>
        <p:txBody>
          <a:bodyPr anchor="b"/>
          <a:lstStyle>
            <a:lvl1pPr algn="l">
              <a:defRPr sz="6000">
                <a:latin typeface="Real Head Pro" charset="0"/>
                <a:ea typeface="Real Head Pro" charset="0"/>
                <a:cs typeface="Real Head Pro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Subtitle 2"/>
          <p:cNvSpPr>
            <a:spLocks noGrp="1"/>
          </p:cNvSpPr>
          <p:nvPr>
            <p:ph type="subTitle" idx="1"/>
          </p:nvPr>
        </p:nvSpPr>
        <p:spPr>
          <a:xfrm>
            <a:off x="631371" y="3376260"/>
            <a:ext cx="6096807" cy="1655762"/>
          </a:xfrm>
        </p:spPr>
        <p:txBody>
          <a:bodyPr/>
          <a:lstStyle>
            <a:lvl1pPr marL="0" indent="0" algn="l">
              <a:buNone/>
              <a:defRPr sz="2400">
                <a:latin typeface="Real Text Pro" charset="0"/>
                <a:ea typeface="Real Text Pro" charset="0"/>
                <a:cs typeface="Real Text Pro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728178" y="2667000"/>
            <a:ext cx="5460073" cy="42303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865472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B7417F3-7C4D-1CE1-DF75-CE054B3B32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75BE81-A817-4E52-B61A-444505009E12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A731413-D872-878F-39F0-243B3A1110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560AE0-BD74-5A3B-9253-959FE584AA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AA32B-84C0-4950-A92C-E7054E87F4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742145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cedent Study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4687887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roject Brie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246E8A6-CD76-E095-EFC3-AA3AC0A59B18}"/>
              </a:ext>
            </a:extLst>
          </p:cNvPr>
          <p:cNvSpPr txBox="1"/>
          <p:nvPr userDrawn="1"/>
        </p:nvSpPr>
        <p:spPr>
          <a:xfrm>
            <a:off x="762001" y="729305"/>
            <a:ext cx="618756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algn="l"/>
            <a:r>
              <a:rPr lang="en-US" sz="3600" b="1">
                <a:latin typeface="Lato" panose="020F0502020204030203" pitchFamily="34" charset="0"/>
              </a:rPr>
              <a:t>Project Brief</a:t>
            </a:r>
            <a:endParaRPr lang="en-US" sz="240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5FF58FE8-575D-ABD5-42C1-249CCC628C8C}"/>
              </a:ext>
            </a:extLst>
          </p:cNvPr>
          <p:cNvCxnSpPr>
            <a:cxnSpLocks/>
          </p:cNvCxnSpPr>
          <p:nvPr userDrawn="1"/>
        </p:nvCxnSpPr>
        <p:spPr>
          <a:xfrm>
            <a:off x="565687" y="1375636"/>
            <a:ext cx="10895310" cy="0"/>
          </a:xfrm>
          <a:prstGeom prst="line">
            <a:avLst/>
          </a:prstGeom>
          <a:ln w="28575">
            <a:solidFill>
              <a:srgbClr val="C810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208EC1C1-BB2B-763E-E050-2E335CACA4F1}"/>
              </a:ext>
            </a:extLst>
          </p:cNvPr>
          <p:cNvSpPr txBox="1"/>
          <p:nvPr userDrawn="1"/>
        </p:nvSpPr>
        <p:spPr>
          <a:xfrm>
            <a:off x="565686" y="1737625"/>
            <a:ext cx="10895309" cy="35466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lvl="1" indent="-457200">
              <a:lnSpc>
                <a:spcPct val="150000"/>
              </a:lnSpc>
              <a:spcBef>
                <a:spcPts val="600"/>
              </a:spcBef>
              <a:buSzPct val="80000"/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n-US" sz="2800">
                <a:latin typeface="Lato" panose="020F0502020204030203" pitchFamily="34" charset="0"/>
              </a:rPr>
              <a:t>Design Intentions</a:t>
            </a:r>
          </a:p>
          <a:p>
            <a:pPr marL="914400" lvl="1" indent="-457200">
              <a:lnSpc>
                <a:spcPct val="150000"/>
              </a:lnSpc>
              <a:spcBef>
                <a:spcPts val="600"/>
              </a:spcBef>
              <a:buSzPct val="80000"/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n-US" sz="2800">
                <a:latin typeface="Lato" panose="020F0502020204030203" pitchFamily="34" charset="0"/>
              </a:rPr>
              <a:t>Location</a:t>
            </a:r>
          </a:p>
          <a:p>
            <a:pPr marL="914400" lvl="1" indent="-457200">
              <a:lnSpc>
                <a:spcPct val="150000"/>
              </a:lnSpc>
              <a:spcBef>
                <a:spcPts val="600"/>
              </a:spcBef>
              <a:buSzPct val="80000"/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n-US" sz="2800">
                <a:latin typeface="Lato" panose="020F0502020204030203" pitchFamily="34" charset="0"/>
              </a:rPr>
              <a:t>Budget?</a:t>
            </a:r>
          </a:p>
          <a:p>
            <a:pPr marL="914400" lvl="1" indent="-457200">
              <a:lnSpc>
                <a:spcPct val="150000"/>
              </a:lnSpc>
              <a:spcBef>
                <a:spcPts val="600"/>
              </a:spcBef>
              <a:buSzPct val="80000"/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n-US" sz="2800">
                <a:latin typeface="Lato" panose="020F0502020204030203" pitchFamily="34" charset="0"/>
              </a:rPr>
              <a:t>Features</a:t>
            </a:r>
          </a:p>
          <a:p>
            <a:pPr marL="914400" lvl="1" indent="-457200">
              <a:lnSpc>
                <a:spcPct val="150000"/>
              </a:lnSpc>
              <a:spcBef>
                <a:spcPts val="600"/>
              </a:spcBef>
              <a:buSzPct val="80000"/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n-US" sz="2800">
                <a:latin typeface="Lato" panose="020F0502020204030203" pitchFamily="34" charset="0"/>
              </a:rPr>
              <a:t>Needs</a:t>
            </a:r>
          </a:p>
        </p:txBody>
      </p:sp>
    </p:spTree>
    <p:extLst>
      <p:ext uri="{BB962C8B-B14F-4D97-AF65-F5344CB8AC3E}">
        <p14:creationId xmlns:p14="http://schemas.microsoft.com/office/powerpoint/2010/main" val="175041699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rojec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0113F22-CA28-A2D1-9CCC-59163E609BD0}"/>
              </a:ext>
            </a:extLst>
          </p:cNvPr>
          <p:cNvSpPr txBox="1"/>
          <p:nvPr userDrawn="1"/>
        </p:nvSpPr>
        <p:spPr>
          <a:xfrm>
            <a:off x="565687" y="695255"/>
            <a:ext cx="111326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algn="l"/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Lato" panose="020F0502020204030203" pitchFamily="34" charset="0"/>
                <a:ea typeface="+mn-ea"/>
                <a:cs typeface="+mn-cs"/>
              </a:rPr>
              <a:t>Project 1∙ Location</a:t>
            </a:r>
            <a:endParaRPr lang="en-US" sz="240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CB9BF15-FA7E-1C04-FF04-0E8BAA3FD723}"/>
              </a:ext>
            </a:extLst>
          </p:cNvPr>
          <p:cNvCxnSpPr>
            <a:cxnSpLocks/>
          </p:cNvCxnSpPr>
          <p:nvPr userDrawn="1"/>
        </p:nvCxnSpPr>
        <p:spPr>
          <a:xfrm>
            <a:off x="565687" y="1375636"/>
            <a:ext cx="10895310" cy="0"/>
          </a:xfrm>
          <a:prstGeom prst="line">
            <a:avLst/>
          </a:prstGeom>
          <a:ln w="28575">
            <a:solidFill>
              <a:srgbClr val="C810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52701FED-C91C-2777-DD32-315DD1409C1F}"/>
              </a:ext>
            </a:extLst>
          </p:cNvPr>
          <p:cNvSpPr txBox="1"/>
          <p:nvPr userDrawn="1"/>
        </p:nvSpPr>
        <p:spPr>
          <a:xfrm>
            <a:off x="533222" y="6512718"/>
            <a:ext cx="6096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>
                <a:latin typeface="Lato" panose="020F0502020204030203" pitchFamily="34" charset="0"/>
              </a:rPr>
              <a:t>Source: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E4EA1B0-6C02-B7B8-38A1-D52F41C0599C}"/>
              </a:ext>
            </a:extLst>
          </p:cNvPr>
          <p:cNvSpPr txBox="1">
            <a:spLocks/>
          </p:cNvSpPr>
          <p:nvPr userDrawn="1"/>
        </p:nvSpPr>
        <p:spPr>
          <a:xfrm>
            <a:off x="533222" y="1471376"/>
            <a:ext cx="4984665" cy="506764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Real Text Pro" charset="0"/>
                <a:ea typeface="Real Text Pro" charset="0"/>
                <a:cs typeface="Real Text Pro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600" b="1">
                <a:latin typeface="Lato"/>
                <a:ea typeface="Lato"/>
                <a:cs typeface="Lato"/>
              </a:rPr>
              <a:t>Project Details:</a:t>
            </a:r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endParaRPr lang="en-US" sz="1400">
              <a:latin typeface="Lato"/>
              <a:ea typeface="Lato"/>
              <a:cs typeface="Lato"/>
            </a:endParaRPr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400">
                <a:latin typeface="Lato"/>
                <a:ea typeface="Lato"/>
                <a:cs typeface="Lato"/>
              </a:rPr>
              <a:t>Designers:</a:t>
            </a:r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400">
                <a:latin typeface="Lato"/>
                <a:ea typeface="Lato"/>
                <a:cs typeface="Lato"/>
              </a:rPr>
              <a:t>Finished:	</a:t>
            </a:r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400">
                <a:latin typeface="Lato"/>
                <a:ea typeface="Lato"/>
                <a:cs typeface="Lato"/>
              </a:rPr>
              <a:t>Area:	</a:t>
            </a:r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400">
                <a:latin typeface="Lato"/>
                <a:ea typeface="Lato"/>
                <a:cs typeface="Lato"/>
              </a:rPr>
              <a:t>Total Cost:	</a:t>
            </a:r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400">
                <a:latin typeface="Lato"/>
                <a:ea typeface="Lato"/>
                <a:cs typeface="Lato"/>
              </a:rPr>
              <a:t>Cost/SF:</a:t>
            </a:r>
          </a:p>
          <a:p>
            <a:pPr>
              <a:lnSpc>
                <a:spcPct val="100000"/>
              </a:lnSpc>
            </a:pPr>
            <a:r>
              <a:rPr lang="en-US" sz="1600" b="1">
                <a:latin typeface="Lato"/>
                <a:ea typeface="Lato"/>
                <a:cs typeface="Lato"/>
              </a:rPr>
              <a:t>Program:</a:t>
            </a:r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endParaRPr lang="en-US" sz="1400">
              <a:latin typeface="Lato"/>
              <a:ea typeface="Lato"/>
              <a:cs typeface="Lato"/>
            </a:endParaRPr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400">
                <a:latin typeface="Lato"/>
                <a:ea typeface="Lato"/>
                <a:cs typeface="Lato"/>
              </a:rPr>
              <a:t>Space Usage</a:t>
            </a:r>
          </a:p>
          <a:p>
            <a:pPr>
              <a:lnSpc>
                <a:spcPct val="100000"/>
              </a:lnSpc>
            </a:pPr>
            <a:r>
              <a:rPr lang="en-US" sz="1600" b="1">
                <a:latin typeface="Lato"/>
                <a:ea typeface="Lato"/>
                <a:cs typeface="Lato"/>
              </a:rPr>
              <a:t>Features: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400">
                <a:latin typeface="Lato"/>
                <a:ea typeface="Lato"/>
                <a:cs typeface="Lato"/>
              </a:rPr>
              <a:t>Amenities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400">
                <a:latin typeface="Lato"/>
                <a:ea typeface="Lato"/>
                <a:cs typeface="Lato"/>
              </a:rPr>
              <a:t>Design Details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87FD402-AF3C-C8BD-49FD-F08E3A669228}"/>
              </a:ext>
            </a:extLst>
          </p:cNvPr>
          <p:cNvSpPr/>
          <p:nvPr userDrawn="1"/>
        </p:nvSpPr>
        <p:spPr>
          <a:xfrm>
            <a:off x="6674115" y="68283"/>
            <a:ext cx="5370569" cy="3270339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6F9CEFC-4076-3D85-6966-E2A5D9C8E9E5}"/>
              </a:ext>
            </a:extLst>
          </p:cNvPr>
          <p:cNvSpPr/>
          <p:nvPr userDrawn="1"/>
        </p:nvSpPr>
        <p:spPr>
          <a:xfrm>
            <a:off x="6674115" y="3428999"/>
            <a:ext cx="5370569" cy="3360716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B8CA138-F39C-3FF1-8A54-077E0BA44913}"/>
              </a:ext>
            </a:extLst>
          </p:cNvPr>
          <p:cNvSpPr txBox="1"/>
          <p:nvPr userDrawn="1"/>
        </p:nvSpPr>
        <p:spPr>
          <a:xfrm>
            <a:off x="11143475" y="3000068"/>
            <a:ext cx="901209" cy="338554"/>
          </a:xfrm>
          <a:prstGeom prst="rect">
            <a:avLst/>
          </a:prstGeom>
          <a:solidFill>
            <a:schemeClr val="tx1">
              <a:lumMod val="85000"/>
              <a:lumOff val="15000"/>
              <a:alpha val="58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1600">
                <a:solidFill>
                  <a:schemeClr val="bg1"/>
                </a:solidFill>
                <a:latin typeface="Lato" panose="020F0502020204030203" pitchFamily="34" charset="0"/>
              </a:rPr>
              <a:t>Image 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5CCFCFD-2F76-031E-E04A-3C5F0556F1B8}"/>
              </a:ext>
            </a:extLst>
          </p:cNvPr>
          <p:cNvSpPr txBox="1"/>
          <p:nvPr userDrawn="1"/>
        </p:nvSpPr>
        <p:spPr>
          <a:xfrm>
            <a:off x="11143475" y="6453123"/>
            <a:ext cx="901209" cy="338554"/>
          </a:xfrm>
          <a:prstGeom prst="rect">
            <a:avLst/>
          </a:prstGeom>
          <a:solidFill>
            <a:schemeClr val="tx1">
              <a:lumMod val="85000"/>
              <a:lumOff val="15000"/>
              <a:alpha val="58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1600">
                <a:solidFill>
                  <a:schemeClr val="bg1"/>
                </a:solidFill>
                <a:latin typeface="Lato" panose="020F0502020204030203" pitchFamily="34" charset="0"/>
              </a:rPr>
              <a:t>Image 2</a:t>
            </a:r>
          </a:p>
        </p:txBody>
      </p:sp>
    </p:spTree>
    <p:extLst>
      <p:ext uri="{BB962C8B-B14F-4D97-AF65-F5344CB8AC3E}">
        <p14:creationId xmlns:p14="http://schemas.microsoft.com/office/powerpoint/2010/main" val="363019012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rojec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A6F7755-372E-A7BB-E0B4-EE09D6636973}"/>
              </a:ext>
            </a:extLst>
          </p:cNvPr>
          <p:cNvSpPr txBox="1"/>
          <p:nvPr userDrawn="1"/>
        </p:nvSpPr>
        <p:spPr>
          <a:xfrm>
            <a:off x="565687" y="695255"/>
            <a:ext cx="111326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algn="l"/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Lato" panose="020F0502020204030203" pitchFamily="34" charset="0"/>
                <a:ea typeface="+mn-ea"/>
                <a:cs typeface="+mn-cs"/>
              </a:rPr>
              <a:t>Project 2∙ Location</a:t>
            </a:r>
            <a:endParaRPr lang="en-US" sz="240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8C11EFF4-C2D1-65BB-B339-F9321C9C97C6}"/>
              </a:ext>
            </a:extLst>
          </p:cNvPr>
          <p:cNvCxnSpPr>
            <a:cxnSpLocks/>
          </p:cNvCxnSpPr>
          <p:nvPr userDrawn="1"/>
        </p:nvCxnSpPr>
        <p:spPr>
          <a:xfrm>
            <a:off x="565687" y="1375636"/>
            <a:ext cx="10895310" cy="0"/>
          </a:xfrm>
          <a:prstGeom prst="line">
            <a:avLst/>
          </a:prstGeom>
          <a:ln w="28575">
            <a:solidFill>
              <a:srgbClr val="C810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E82591EC-DBD5-227C-AAED-4C25BFA9A92A}"/>
              </a:ext>
            </a:extLst>
          </p:cNvPr>
          <p:cNvSpPr txBox="1"/>
          <p:nvPr userDrawn="1"/>
        </p:nvSpPr>
        <p:spPr>
          <a:xfrm>
            <a:off x="533222" y="6512718"/>
            <a:ext cx="6096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>
                <a:latin typeface="Lato" panose="020F0502020204030203" pitchFamily="34" charset="0"/>
              </a:rPr>
              <a:t>Source: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1C9A5A01-CFCB-EAD0-4A3E-26C83099B9F2}"/>
              </a:ext>
            </a:extLst>
          </p:cNvPr>
          <p:cNvSpPr txBox="1">
            <a:spLocks/>
          </p:cNvSpPr>
          <p:nvPr userDrawn="1"/>
        </p:nvSpPr>
        <p:spPr>
          <a:xfrm>
            <a:off x="533222" y="1471376"/>
            <a:ext cx="4984665" cy="506764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Real Text Pro" charset="0"/>
                <a:ea typeface="Real Text Pro" charset="0"/>
                <a:cs typeface="Real Text Pro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600" b="1">
                <a:latin typeface="Lato"/>
                <a:ea typeface="Lato"/>
                <a:cs typeface="Lato"/>
              </a:rPr>
              <a:t>Project Details:</a:t>
            </a:r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endParaRPr lang="en-US" sz="1400">
              <a:latin typeface="Lato"/>
              <a:ea typeface="Lato"/>
              <a:cs typeface="Lato"/>
            </a:endParaRPr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400">
                <a:latin typeface="Lato"/>
                <a:ea typeface="Lato"/>
                <a:cs typeface="Lato"/>
              </a:rPr>
              <a:t>Designers:</a:t>
            </a:r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400">
                <a:latin typeface="Lato"/>
                <a:ea typeface="Lato"/>
                <a:cs typeface="Lato"/>
              </a:rPr>
              <a:t>Finished:	</a:t>
            </a:r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400">
                <a:latin typeface="Lato"/>
                <a:ea typeface="Lato"/>
                <a:cs typeface="Lato"/>
              </a:rPr>
              <a:t>Area:	</a:t>
            </a:r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400">
                <a:latin typeface="Lato"/>
                <a:ea typeface="Lato"/>
                <a:cs typeface="Lato"/>
              </a:rPr>
              <a:t>Total Cost:	</a:t>
            </a:r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400">
                <a:latin typeface="Lato"/>
                <a:ea typeface="Lato"/>
                <a:cs typeface="Lato"/>
              </a:rPr>
              <a:t>Cost/SF:</a:t>
            </a:r>
          </a:p>
          <a:p>
            <a:pPr>
              <a:lnSpc>
                <a:spcPct val="100000"/>
              </a:lnSpc>
            </a:pPr>
            <a:r>
              <a:rPr lang="en-US" sz="1600" b="1">
                <a:latin typeface="Lato"/>
                <a:ea typeface="Lato"/>
                <a:cs typeface="Lato"/>
              </a:rPr>
              <a:t>Program:</a:t>
            </a:r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endParaRPr lang="en-US" sz="1400">
              <a:latin typeface="Lato"/>
              <a:ea typeface="Lato"/>
              <a:cs typeface="Lato"/>
            </a:endParaRPr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400">
                <a:latin typeface="Lato"/>
                <a:ea typeface="Lato"/>
                <a:cs typeface="Lato"/>
              </a:rPr>
              <a:t>Space Usage</a:t>
            </a:r>
          </a:p>
          <a:p>
            <a:pPr>
              <a:lnSpc>
                <a:spcPct val="100000"/>
              </a:lnSpc>
            </a:pPr>
            <a:r>
              <a:rPr lang="en-US" sz="1600" b="1">
                <a:latin typeface="Lato"/>
                <a:ea typeface="Lato"/>
                <a:cs typeface="Lato"/>
              </a:rPr>
              <a:t>Features: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400">
                <a:latin typeface="Lato"/>
                <a:ea typeface="Lato"/>
                <a:cs typeface="Lato"/>
              </a:rPr>
              <a:t>Amenities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400">
                <a:latin typeface="Lato"/>
                <a:ea typeface="Lato"/>
                <a:cs typeface="Lato"/>
              </a:rPr>
              <a:t>Design Details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C753577-6A82-0C19-7D92-05EBEB590BBE}"/>
              </a:ext>
            </a:extLst>
          </p:cNvPr>
          <p:cNvSpPr/>
          <p:nvPr userDrawn="1"/>
        </p:nvSpPr>
        <p:spPr>
          <a:xfrm>
            <a:off x="6674115" y="68283"/>
            <a:ext cx="5370569" cy="3270339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ACBD308-9877-6168-81A5-52DC22CEA491}"/>
              </a:ext>
            </a:extLst>
          </p:cNvPr>
          <p:cNvSpPr/>
          <p:nvPr userDrawn="1"/>
        </p:nvSpPr>
        <p:spPr>
          <a:xfrm>
            <a:off x="6674115" y="3428999"/>
            <a:ext cx="5370569" cy="3360716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FA15A65-02D1-103E-83C6-6D5928941015}"/>
              </a:ext>
            </a:extLst>
          </p:cNvPr>
          <p:cNvSpPr txBox="1"/>
          <p:nvPr userDrawn="1"/>
        </p:nvSpPr>
        <p:spPr>
          <a:xfrm>
            <a:off x="11143475" y="3000068"/>
            <a:ext cx="901209" cy="338554"/>
          </a:xfrm>
          <a:prstGeom prst="rect">
            <a:avLst/>
          </a:prstGeom>
          <a:solidFill>
            <a:schemeClr val="tx1">
              <a:lumMod val="85000"/>
              <a:lumOff val="15000"/>
              <a:alpha val="58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1600">
                <a:solidFill>
                  <a:schemeClr val="bg1"/>
                </a:solidFill>
                <a:latin typeface="Lato" panose="020F0502020204030203" pitchFamily="34" charset="0"/>
              </a:rPr>
              <a:t>Image 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8E17466-F73E-AA63-6A3E-DFFBEA13B86A}"/>
              </a:ext>
            </a:extLst>
          </p:cNvPr>
          <p:cNvSpPr txBox="1"/>
          <p:nvPr userDrawn="1"/>
        </p:nvSpPr>
        <p:spPr>
          <a:xfrm>
            <a:off x="11143475" y="6453123"/>
            <a:ext cx="901209" cy="338554"/>
          </a:xfrm>
          <a:prstGeom prst="rect">
            <a:avLst/>
          </a:prstGeom>
          <a:solidFill>
            <a:schemeClr val="tx1">
              <a:lumMod val="85000"/>
              <a:lumOff val="15000"/>
              <a:alpha val="58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1600">
                <a:solidFill>
                  <a:schemeClr val="bg1"/>
                </a:solidFill>
                <a:latin typeface="Lato" panose="020F0502020204030203" pitchFamily="34" charset="0"/>
              </a:rPr>
              <a:t>Image 2</a:t>
            </a:r>
          </a:p>
        </p:txBody>
      </p:sp>
    </p:spTree>
    <p:extLst>
      <p:ext uri="{BB962C8B-B14F-4D97-AF65-F5344CB8AC3E}">
        <p14:creationId xmlns:p14="http://schemas.microsoft.com/office/powerpoint/2010/main" val="19348202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lors, Keys and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07A9851A-4FE5-EDBF-3CA2-29A696F72D4D}"/>
              </a:ext>
            </a:extLst>
          </p:cNvPr>
          <p:cNvSpPr/>
          <p:nvPr userDrawn="1"/>
        </p:nvSpPr>
        <p:spPr>
          <a:xfrm>
            <a:off x="1034903" y="1010093"/>
            <a:ext cx="616688" cy="340242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A9E439E-84BC-E69A-1FD0-5E30085FDF54}"/>
              </a:ext>
            </a:extLst>
          </p:cNvPr>
          <p:cNvSpPr/>
          <p:nvPr userDrawn="1"/>
        </p:nvSpPr>
        <p:spPr>
          <a:xfrm>
            <a:off x="1034903" y="1545266"/>
            <a:ext cx="616688" cy="340242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EA66C9F-FBCA-9C90-9C5E-A2308C03BA8A}"/>
              </a:ext>
            </a:extLst>
          </p:cNvPr>
          <p:cNvSpPr/>
          <p:nvPr userDrawn="1"/>
        </p:nvSpPr>
        <p:spPr>
          <a:xfrm>
            <a:off x="1034903" y="2078671"/>
            <a:ext cx="616688" cy="34024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F98EB00-EEC6-D7F0-7D52-F91900E8534F}"/>
              </a:ext>
            </a:extLst>
          </p:cNvPr>
          <p:cNvSpPr/>
          <p:nvPr userDrawn="1"/>
        </p:nvSpPr>
        <p:spPr>
          <a:xfrm>
            <a:off x="1045535" y="2626245"/>
            <a:ext cx="616688" cy="34024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1885113-CD2D-D591-57AE-24E371259BB8}"/>
              </a:ext>
            </a:extLst>
          </p:cNvPr>
          <p:cNvSpPr/>
          <p:nvPr userDrawn="1"/>
        </p:nvSpPr>
        <p:spPr>
          <a:xfrm>
            <a:off x="1034903" y="3173819"/>
            <a:ext cx="616688" cy="340242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5CF125E-F82D-A2E5-1A61-9D6F304619DA}"/>
              </a:ext>
            </a:extLst>
          </p:cNvPr>
          <p:cNvSpPr/>
          <p:nvPr userDrawn="1"/>
        </p:nvSpPr>
        <p:spPr>
          <a:xfrm>
            <a:off x="1045535" y="3721393"/>
            <a:ext cx="616688" cy="34024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943F6B5-028F-950E-5F0E-D961CE9F448D}"/>
              </a:ext>
            </a:extLst>
          </p:cNvPr>
          <p:cNvSpPr/>
          <p:nvPr userDrawn="1"/>
        </p:nvSpPr>
        <p:spPr>
          <a:xfrm>
            <a:off x="1045535" y="4267199"/>
            <a:ext cx="616688" cy="34024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BFD751D-1C09-5DD3-7F5F-DCF32522CF5B}"/>
              </a:ext>
            </a:extLst>
          </p:cNvPr>
          <p:cNvSpPr/>
          <p:nvPr userDrawn="1"/>
        </p:nvSpPr>
        <p:spPr>
          <a:xfrm>
            <a:off x="1034903" y="4813005"/>
            <a:ext cx="616688" cy="34024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935DBA7-8CDC-B3A8-3AC9-E8F254177575}"/>
              </a:ext>
            </a:extLst>
          </p:cNvPr>
          <p:cNvSpPr/>
          <p:nvPr userDrawn="1"/>
        </p:nvSpPr>
        <p:spPr>
          <a:xfrm>
            <a:off x="1045535" y="5358811"/>
            <a:ext cx="616688" cy="340242"/>
          </a:xfrm>
          <a:prstGeom prst="rect">
            <a:avLst/>
          </a:prstGeom>
          <a:solidFill>
            <a:srgbClr val="B8C6F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0129EBC1-3317-1D5A-3AA3-C59822ABD13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797050" y="1009650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76FEA8BC-2352-36C2-8036-6B2254456DE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797050" y="1544195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0" name="Text Placeholder 27">
            <a:extLst>
              <a:ext uri="{FF2B5EF4-FFF2-40B4-BE49-F238E27FC236}">
                <a16:creationId xmlns:a16="http://schemas.microsoft.com/office/drawing/2014/main" id="{2CD0B3BE-3033-A7EB-E3C2-C7AB34B94A1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797050" y="2078671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1" name="Text Placeholder 27">
            <a:extLst>
              <a:ext uri="{FF2B5EF4-FFF2-40B4-BE49-F238E27FC236}">
                <a16:creationId xmlns:a16="http://schemas.microsoft.com/office/drawing/2014/main" id="{C94D331B-C564-3032-74B9-BE391757ACC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797050" y="2613147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2" name="Text Placeholder 27">
            <a:extLst>
              <a:ext uri="{FF2B5EF4-FFF2-40B4-BE49-F238E27FC236}">
                <a16:creationId xmlns:a16="http://schemas.microsoft.com/office/drawing/2014/main" id="{89FCD616-482F-BB5B-7721-8B8B14F4C12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797050" y="3147623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3" name="Text Placeholder 27">
            <a:extLst>
              <a:ext uri="{FF2B5EF4-FFF2-40B4-BE49-F238E27FC236}">
                <a16:creationId xmlns:a16="http://schemas.microsoft.com/office/drawing/2014/main" id="{F73D9AE2-C9F1-ADB0-23F7-6930B916503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797050" y="3682099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4" name="Text Placeholder 27">
            <a:extLst>
              <a:ext uri="{FF2B5EF4-FFF2-40B4-BE49-F238E27FC236}">
                <a16:creationId xmlns:a16="http://schemas.microsoft.com/office/drawing/2014/main" id="{0721E596-E7DE-856A-5926-6F68B1BCC64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97050" y="4216575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5" name="Text Placeholder 27">
            <a:extLst>
              <a:ext uri="{FF2B5EF4-FFF2-40B4-BE49-F238E27FC236}">
                <a16:creationId xmlns:a16="http://schemas.microsoft.com/office/drawing/2014/main" id="{C394E1A2-6C40-CB70-28C9-3082A9D1367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797050" y="4751051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6" name="Text Placeholder 27">
            <a:extLst>
              <a:ext uri="{FF2B5EF4-FFF2-40B4-BE49-F238E27FC236}">
                <a16:creationId xmlns:a16="http://schemas.microsoft.com/office/drawing/2014/main" id="{036EFE3B-DC86-8C5A-8B60-D27F1640499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797050" y="5285527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7" name="Title 1">
            <a:extLst>
              <a:ext uri="{FF2B5EF4-FFF2-40B4-BE49-F238E27FC236}">
                <a16:creationId xmlns:a16="http://schemas.microsoft.com/office/drawing/2014/main" id="{434CCA1C-B3AE-9793-77BC-77D80901918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4245" y="182880"/>
            <a:ext cx="11822596" cy="498122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3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Colors, Key and Icons</a:t>
            </a:r>
          </a:p>
        </p:txBody>
      </p:sp>
      <p:pic>
        <p:nvPicPr>
          <p:cNvPr id="1057" name="Picture 33">
            <a:extLst>
              <a:ext uri="{FF2B5EF4-FFF2-40B4-BE49-F238E27FC236}">
                <a16:creationId xmlns:a16="http://schemas.microsoft.com/office/drawing/2014/main" id="{781055BC-FDE2-8BBB-1E46-08F1756DD7A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94275" y="1009650"/>
            <a:ext cx="762000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1" name="AutoShape 34">
            <a:extLst>
              <a:ext uri="{FF2B5EF4-FFF2-40B4-BE49-F238E27FC236}">
                <a16:creationId xmlns:a16="http://schemas.microsoft.com/office/drawing/2014/main" id="{F2025C07-CD51-CD0C-4AF4-0DE437866965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16046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2" name="AutoShape 35">
            <a:extLst>
              <a:ext uri="{FF2B5EF4-FFF2-40B4-BE49-F238E27FC236}">
                <a16:creationId xmlns:a16="http://schemas.microsoft.com/office/drawing/2014/main" id="{68FCAC10-887A-F302-5A48-937E9B8AD25D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6208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3" name="AutoShape 36">
            <a:extLst>
              <a:ext uri="{FF2B5EF4-FFF2-40B4-BE49-F238E27FC236}">
                <a16:creationId xmlns:a16="http://schemas.microsoft.com/office/drawing/2014/main" id="{2E423CA6-668B-ED41-0826-20E23C321C3C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20812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61" name="Picture 37">
            <a:extLst>
              <a:ext uri="{FF2B5EF4-FFF2-40B4-BE49-F238E27FC236}">
                <a16:creationId xmlns:a16="http://schemas.microsoft.com/office/drawing/2014/main" id="{2A78F1E1-42AE-F3D9-6F6C-D892FC68C2D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70475" y="2078671"/>
            <a:ext cx="609600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4" name="AutoShape 38">
            <a:extLst>
              <a:ext uri="{FF2B5EF4-FFF2-40B4-BE49-F238E27FC236}">
                <a16:creationId xmlns:a16="http://schemas.microsoft.com/office/drawing/2014/main" id="{A8FC92ED-9B59-BFCC-6125-544D6EFAE7D7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33480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63" name="Picture 39">
            <a:extLst>
              <a:ext uri="{FF2B5EF4-FFF2-40B4-BE49-F238E27FC236}">
                <a16:creationId xmlns:a16="http://schemas.microsoft.com/office/drawing/2014/main" id="{D8EC587C-B10E-B81F-59EC-E40C1F9AD9A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51425" y="3251887"/>
            <a:ext cx="628650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4" name="Picture 40">
            <a:extLst>
              <a:ext uri="{FF2B5EF4-FFF2-40B4-BE49-F238E27FC236}">
                <a16:creationId xmlns:a16="http://schemas.microsoft.com/office/drawing/2014/main" id="{E38C9A6E-DF1B-14D0-C704-2DD6B3F7DB0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3000" y="1043910"/>
            <a:ext cx="742950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5" name="Picture 41">
            <a:extLst>
              <a:ext uri="{FF2B5EF4-FFF2-40B4-BE49-F238E27FC236}">
                <a16:creationId xmlns:a16="http://schemas.microsoft.com/office/drawing/2014/main" id="{25AB3C69-7F60-7647-BD45-8A4B8998D37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65862" y="2085925"/>
            <a:ext cx="6191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6" name="Picture 42">
            <a:extLst>
              <a:ext uri="{FF2B5EF4-FFF2-40B4-BE49-F238E27FC236}">
                <a16:creationId xmlns:a16="http://schemas.microsoft.com/office/drawing/2014/main" id="{8B362C67-ABA7-1EE8-B685-A81B257C478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41900" y="4324351"/>
            <a:ext cx="71437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5" name="AutoShape 43">
            <a:extLst>
              <a:ext uri="{FF2B5EF4-FFF2-40B4-BE49-F238E27FC236}">
                <a16:creationId xmlns:a16="http://schemas.microsoft.com/office/drawing/2014/main" id="{92EF72A4-9658-6124-D46F-A125AFB36D93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73739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68" name="Picture 44">
            <a:extLst>
              <a:ext uri="{FF2B5EF4-FFF2-40B4-BE49-F238E27FC236}">
                <a16:creationId xmlns:a16="http://schemas.microsoft.com/office/drawing/2014/main" id="{6D101FA9-081E-CFB1-603E-835FFE03DA9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5485" y="4292753"/>
            <a:ext cx="7715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6" name="AutoShape 45">
            <a:extLst>
              <a:ext uri="{FF2B5EF4-FFF2-40B4-BE49-F238E27FC236}">
                <a16:creationId xmlns:a16="http://schemas.microsoft.com/office/drawing/2014/main" id="{9073D79C-79AD-A133-ED4E-A1803B76566D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8810625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70" name="Picture 46">
            <a:extLst>
              <a:ext uri="{FF2B5EF4-FFF2-40B4-BE49-F238E27FC236}">
                <a16:creationId xmlns:a16="http://schemas.microsoft.com/office/drawing/2014/main" id="{3D79AC8F-02F8-84C2-3D33-E7464D4FA60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70775" y="1155885"/>
            <a:ext cx="733425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7" name="AutoShape 47">
            <a:extLst>
              <a:ext uri="{FF2B5EF4-FFF2-40B4-BE49-F238E27FC236}">
                <a16:creationId xmlns:a16="http://schemas.microsoft.com/office/drawing/2014/main" id="{8E03D1EB-4887-DDD7-0B59-7D04FBBC8EDF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02473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8" name="AutoShape 48">
            <a:extLst>
              <a:ext uri="{FF2B5EF4-FFF2-40B4-BE49-F238E27FC236}">
                <a16:creationId xmlns:a16="http://schemas.microsoft.com/office/drawing/2014/main" id="{8D47C7B4-7C64-32B0-B7D6-40B75100F5E4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070768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9" name="AutoShape 49">
            <a:extLst>
              <a:ext uri="{FF2B5EF4-FFF2-40B4-BE49-F238E27FC236}">
                <a16:creationId xmlns:a16="http://schemas.microsoft.com/office/drawing/2014/main" id="{E0D67EBA-1C5F-CE0A-C402-69FCA9028DD0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116806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0" name="AutoShape 50">
            <a:extLst>
              <a:ext uri="{FF2B5EF4-FFF2-40B4-BE49-F238E27FC236}">
                <a16:creationId xmlns:a16="http://schemas.microsoft.com/office/drawing/2014/main" id="{E84FC73E-BB32-B34B-BED8-33FDE098CD00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16284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1" name="AutoShape 51">
            <a:extLst>
              <a:ext uri="{FF2B5EF4-FFF2-40B4-BE49-F238E27FC236}">
                <a16:creationId xmlns:a16="http://schemas.microsoft.com/office/drawing/2014/main" id="{28337FC9-F4DB-E0D4-5C71-A1DADE4DC10A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20888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76" name="Picture 52">
            <a:extLst>
              <a:ext uri="{FF2B5EF4-FFF2-40B4-BE49-F238E27FC236}">
                <a16:creationId xmlns:a16="http://schemas.microsoft.com/office/drawing/2014/main" id="{6F3EE9BF-0269-25A7-DEBE-6E53ED34852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03950" y="3158320"/>
            <a:ext cx="781050" cy="733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2" name="AutoShape 53">
            <a:extLst>
              <a:ext uri="{FF2B5EF4-FFF2-40B4-BE49-F238E27FC236}">
                <a16:creationId xmlns:a16="http://schemas.microsoft.com/office/drawing/2014/main" id="{B44929FB-DA62-0DCC-9024-021DD9B8531B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34858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78" name="Picture 54">
            <a:extLst>
              <a:ext uri="{FF2B5EF4-FFF2-40B4-BE49-F238E27FC236}">
                <a16:creationId xmlns:a16="http://schemas.microsoft.com/office/drawing/2014/main" id="{1CA5F0C8-F245-B867-E569-E6F8423F35F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70775" y="2093100"/>
            <a:ext cx="7334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79" name="Picture 55">
            <a:extLst>
              <a:ext uri="{FF2B5EF4-FFF2-40B4-BE49-F238E27FC236}">
                <a16:creationId xmlns:a16="http://schemas.microsoft.com/office/drawing/2014/main" id="{9AEFC9D2-20A8-E13A-F2EE-F23D6EA093D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09624" y="3203405"/>
            <a:ext cx="819150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3" name="AutoShape 56">
            <a:extLst>
              <a:ext uri="{FF2B5EF4-FFF2-40B4-BE49-F238E27FC236}">
                <a16:creationId xmlns:a16="http://schemas.microsoft.com/office/drawing/2014/main" id="{75602302-E87B-8298-73E0-D6E2A0CEB94D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58988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81" name="Picture 57">
            <a:extLst>
              <a:ext uri="{FF2B5EF4-FFF2-40B4-BE49-F238E27FC236}">
                <a16:creationId xmlns:a16="http://schemas.microsoft.com/office/drawing/2014/main" id="{7F4B9074-F9D3-3E70-6B54-33CB95EF4CD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70775" y="4330364"/>
            <a:ext cx="8096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2" name="Picture 58">
            <a:extLst>
              <a:ext uri="{FF2B5EF4-FFF2-40B4-BE49-F238E27FC236}">
                <a16:creationId xmlns:a16="http://schemas.microsoft.com/office/drawing/2014/main" id="{32524291-4A8A-5746-AAFB-23459BCD904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07584" y="4183363"/>
            <a:ext cx="1103991" cy="11021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3" name="Picture 59">
            <a:extLst>
              <a:ext uri="{FF2B5EF4-FFF2-40B4-BE49-F238E27FC236}">
                <a16:creationId xmlns:a16="http://schemas.microsoft.com/office/drawing/2014/main" id="{31BEE8A5-0F98-3C5A-881F-29E74CBFE51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11404" y="3131017"/>
            <a:ext cx="1102164" cy="11021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5" name="Picture 61">
            <a:extLst>
              <a:ext uri="{FF2B5EF4-FFF2-40B4-BE49-F238E27FC236}">
                <a16:creationId xmlns:a16="http://schemas.microsoft.com/office/drawing/2014/main" id="{AD7E84AD-6063-3D46-8352-481AAF132EF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28697" y="2085925"/>
            <a:ext cx="2288214" cy="847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6" name="Picture 62">
            <a:extLst>
              <a:ext uri="{FF2B5EF4-FFF2-40B4-BE49-F238E27FC236}">
                <a16:creationId xmlns:a16="http://schemas.microsoft.com/office/drawing/2014/main" id="{B076602F-983D-C726-514B-27500C2E5CC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07584" y="1009650"/>
            <a:ext cx="2288214" cy="847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0229343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llege, Colors, Keys and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0129EBC1-3317-1D5A-3AA3-C59822ABD13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797050" y="1009650"/>
            <a:ext cx="305943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College of Arts, Media &amp; Design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76FEA8BC-2352-36C2-8036-6B2254456DE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797049" y="1544195"/>
            <a:ext cx="3565905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Khoury College of Computer Science</a:t>
            </a:r>
          </a:p>
        </p:txBody>
      </p:sp>
      <p:sp>
        <p:nvSpPr>
          <p:cNvPr id="30" name="Text Placeholder 27">
            <a:extLst>
              <a:ext uri="{FF2B5EF4-FFF2-40B4-BE49-F238E27FC236}">
                <a16:creationId xmlns:a16="http://schemas.microsoft.com/office/drawing/2014/main" id="{2CD0B3BE-3033-A7EB-E3C2-C7AB34B94A1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797050" y="2078671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College of Engineering</a:t>
            </a:r>
          </a:p>
        </p:txBody>
      </p:sp>
      <p:sp>
        <p:nvSpPr>
          <p:cNvPr id="31" name="Text Placeholder 27">
            <a:extLst>
              <a:ext uri="{FF2B5EF4-FFF2-40B4-BE49-F238E27FC236}">
                <a16:creationId xmlns:a16="http://schemas.microsoft.com/office/drawing/2014/main" id="{C94D331B-C564-3032-74B9-BE391757ACC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797049" y="2613147"/>
            <a:ext cx="3273425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 err="1"/>
              <a:t>Bouvé</a:t>
            </a:r>
            <a:r>
              <a:rPr lang="en-US"/>
              <a:t> College of Health Sciences</a:t>
            </a:r>
          </a:p>
        </p:txBody>
      </p:sp>
      <p:sp>
        <p:nvSpPr>
          <p:cNvPr id="32" name="Text Placeholder 27">
            <a:extLst>
              <a:ext uri="{FF2B5EF4-FFF2-40B4-BE49-F238E27FC236}">
                <a16:creationId xmlns:a16="http://schemas.microsoft.com/office/drawing/2014/main" id="{89FCD616-482F-BB5B-7721-8B8B14F4C12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797050" y="3147623"/>
            <a:ext cx="302387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College of Professional Studies</a:t>
            </a:r>
          </a:p>
        </p:txBody>
      </p:sp>
      <p:sp>
        <p:nvSpPr>
          <p:cNvPr id="33" name="Text Placeholder 27">
            <a:extLst>
              <a:ext uri="{FF2B5EF4-FFF2-40B4-BE49-F238E27FC236}">
                <a16:creationId xmlns:a16="http://schemas.microsoft.com/office/drawing/2014/main" id="{F73D9AE2-C9F1-ADB0-23F7-6930B916503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797050" y="3682099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College of Science</a:t>
            </a:r>
          </a:p>
        </p:txBody>
      </p:sp>
      <p:sp>
        <p:nvSpPr>
          <p:cNvPr id="34" name="Text Placeholder 27">
            <a:extLst>
              <a:ext uri="{FF2B5EF4-FFF2-40B4-BE49-F238E27FC236}">
                <a16:creationId xmlns:a16="http://schemas.microsoft.com/office/drawing/2014/main" id="{0721E596-E7DE-856A-5926-6F68B1BCC64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797050" y="4216575"/>
            <a:ext cx="395467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College of Social Sciences and Humanities</a:t>
            </a:r>
          </a:p>
        </p:txBody>
      </p:sp>
      <p:sp>
        <p:nvSpPr>
          <p:cNvPr id="35" name="Text Placeholder 27">
            <a:extLst>
              <a:ext uri="{FF2B5EF4-FFF2-40B4-BE49-F238E27FC236}">
                <a16:creationId xmlns:a16="http://schemas.microsoft.com/office/drawing/2014/main" id="{C394E1A2-6C40-CB70-28C9-3082A9D1367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797050" y="4751051"/>
            <a:ext cx="341503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Mills College</a:t>
            </a:r>
          </a:p>
        </p:txBody>
      </p:sp>
      <p:sp>
        <p:nvSpPr>
          <p:cNvPr id="36" name="Text Placeholder 27">
            <a:extLst>
              <a:ext uri="{FF2B5EF4-FFF2-40B4-BE49-F238E27FC236}">
                <a16:creationId xmlns:a16="http://schemas.microsoft.com/office/drawing/2014/main" id="{036EFE3B-DC86-8C5A-8B60-D27F1640499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797050" y="5285527"/>
            <a:ext cx="362331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err="1"/>
              <a:t>D’Amore</a:t>
            </a:r>
            <a:r>
              <a:rPr lang="en-US"/>
              <a:t>-McKim School of Business</a:t>
            </a:r>
          </a:p>
          <a:p>
            <a:pPr lvl="0"/>
            <a:endParaRPr lang="en-US"/>
          </a:p>
        </p:txBody>
      </p:sp>
      <p:sp>
        <p:nvSpPr>
          <p:cNvPr id="37" name="Title 1">
            <a:extLst>
              <a:ext uri="{FF2B5EF4-FFF2-40B4-BE49-F238E27FC236}">
                <a16:creationId xmlns:a16="http://schemas.microsoft.com/office/drawing/2014/main" id="{434CCA1C-B3AE-9793-77BC-77D80901918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4245" y="182880"/>
            <a:ext cx="11822596" cy="498122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3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Colors, Key and Icons</a:t>
            </a:r>
          </a:p>
        </p:txBody>
      </p:sp>
      <p:pic>
        <p:nvPicPr>
          <p:cNvPr id="1057" name="Picture 33">
            <a:extLst>
              <a:ext uri="{FF2B5EF4-FFF2-40B4-BE49-F238E27FC236}">
                <a16:creationId xmlns:a16="http://schemas.microsoft.com/office/drawing/2014/main" id="{781055BC-FDE2-8BBB-1E46-08F1756DD7A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66177" y="1454481"/>
            <a:ext cx="762000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1" name="AutoShape 34">
            <a:extLst>
              <a:ext uri="{FF2B5EF4-FFF2-40B4-BE49-F238E27FC236}">
                <a16:creationId xmlns:a16="http://schemas.microsoft.com/office/drawing/2014/main" id="{F2025C07-CD51-CD0C-4AF4-0DE437866965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16046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2" name="AutoShape 35">
            <a:extLst>
              <a:ext uri="{FF2B5EF4-FFF2-40B4-BE49-F238E27FC236}">
                <a16:creationId xmlns:a16="http://schemas.microsoft.com/office/drawing/2014/main" id="{68FCAC10-887A-F302-5A48-937E9B8AD25D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6208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3" name="AutoShape 36">
            <a:extLst>
              <a:ext uri="{FF2B5EF4-FFF2-40B4-BE49-F238E27FC236}">
                <a16:creationId xmlns:a16="http://schemas.microsoft.com/office/drawing/2014/main" id="{2E423CA6-668B-ED41-0826-20E23C321C3C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20812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61" name="Picture 37">
            <a:extLst>
              <a:ext uri="{FF2B5EF4-FFF2-40B4-BE49-F238E27FC236}">
                <a16:creationId xmlns:a16="http://schemas.microsoft.com/office/drawing/2014/main" id="{2A78F1E1-42AE-F3D9-6F6C-D892FC68C2D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42377" y="2523502"/>
            <a:ext cx="609600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4" name="AutoShape 38">
            <a:extLst>
              <a:ext uri="{FF2B5EF4-FFF2-40B4-BE49-F238E27FC236}">
                <a16:creationId xmlns:a16="http://schemas.microsoft.com/office/drawing/2014/main" id="{A8FC92ED-9B59-BFCC-6125-544D6EFAE7D7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33480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63" name="Picture 39">
            <a:extLst>
              <a:ext uri="{FF2B5EF4-FFF2-40B4-BE49-F238E27FC236}">
                <a16:creationId xmlns:a16="http://schemas.microsoft.com/office/drawing/2014/main" id="{D8EC587C-B10E-B81F-59EC-E40C1F9AD9A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23327" y="3696718"/>
            <a:ext cx="628650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4" name="Picture 40">
            <a:extLst>
              <a:ext uri="{FF2B5EF4-FFF2-40B4-BE49-F238E27FC236}">
                <a16:creationId xmlns:a16="http://schemas.microsoft.com/office/drawing/2014/main" id="{E38C9A6E-DF1B-14D0-C704-2DD6B3F7DB0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94902" y="1488741"/>
            <a:ext cx="742950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5" name="Picture 41">
            <a:extLst>
              <a:ext uri="{FF2B5EF4-FFF2-40B4-BE49-F238E27FC236}">
                <a16:creationId xmlns:a16="http://schemas.microsoft.com/office/drawing/2014/main" id="{25AB3C69-7F60-7647-BD45-8A4B8998D37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7764" y="2530756"/>
            <a:ext cx="6191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6" name="Picture 42">
            <a:extLst>
              <a:ext uri="{FF2B5EF4-FFF2-40B4-BE49-F238E27FC236}">
                <a16:creationId xmlns:a16="http://schemas.microsoft.com/office/drawing/2014/main" id="{8B362C67-ABA7-1EE8-B685-A81B257C478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3802" y="4769182"/>
            <a:ext cx="71437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5" name="AutoShape 43">
            <a:extLst>
              <a:ext uri="{FF2B5EF4-FFF2-40B4-BE49-F238E27FC236}">
                <a16:creationId xmlns:a16="http://schemas.microsoft.com/office/drawing/2014/main" id="{92EF72A4-9658-6124-D46F-A125AFB36D93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73739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68" name="Picture 44">
            <a:extLst>
              <a:ext uri="{FF2B5EF4-FFF2-40B4-BE49-F238E27FC236}">
                <a16:creationId xmlns:a16="http://schemas.microsoft.com/office/drawing/2014/main" id="{6D101FA9-081E-CFB1-603E-835FFE03DA9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97387" y="4737584"/>
            <a:ext cx="7715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6" name="AutoShape 45">
            <a:extLst>
              <a:ext uri="{FF2B5EF4-FFF2-40B4-BE49-F238E27FC236}">
                <a16:creationId xmlns:a16="http://schemas.microsoft.com/office/drawing/2014/main" id="{9073D79C-79AD-A133-ED4E-A1803B76566D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8810625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70" name="Picture 46">
            <a:extLst>
              <a:ext uri="{FF2B5EF4-FFF2-40B4-BE49-F238E27FC236}">
                <a16:creationId xmlns:a16="http://schemas.microsoft.com/office/drawing/2014/main" id="{3D79AC8F-02F8-84C2-3D33-E7464D4FA60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42677" y="1600716"/>
            <a:ext cx="733425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7" name="AutoShape 47">
            <a:extLst>
              <a:ext uri="{FF2B5EF4-FFF2-40B4-BE49-F238E27FC236}">
                <a16:creationId xmlns:a16="http://schemas.microsoft.com/office/drawing/2014/main" id="{8E03D1EB-4887-DDD7-0B59-7D04FBBC8EDF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02473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8" name="AutoShape 48">
            <a:extLst>
              <a:ext uri="{FF2B5EF4-FFF2-40B4-BE49-F238E27FC236}">
                <a16:creationId xmlns:a16="http://schemas.microsoft.com/office/drawing/2014/main" id="{8D47C7B4-7C64-32B0-B7D6-40B75100F5E4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070768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9" name="AutoShape 49">
            <a:extLst>
              <a:ext uri="{FF2B5EF4-FFF2-40B4-BE49-F238E27FC236}">
                <a16:creationId xmlns:a16="http://schemas.microsoft.com/office/drawing/2014/main" id="{E0D67EBA-1C5F-CE0A-C402-69FCA9028DD0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116806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0" name="AutoShape 50">
            <a:extLst>
              <a:ext uri="{FF2B5EF4-FFF2-40B4-BE49-F238E27FC236}">
                <a16:creationId xmlns:a16="http://schemas.microsoft.com/office/drawing/2014/main" id="{E84FC73E-BB32-B34B-BED8-33FDE098CD00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16284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1" name="AutoShape 51">
            <a:extLst>
              <a:ext uri="{FF2B5EF4-FFF2-40B4-BE49-F238E27FC236}">
                <a16:creationId xmlns:a16="http://schemas.microsoft.com/office/drawing/2014/main" id="{28337FC9-F4DB-E0D4-5C71-A1DADE4DC10A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20888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76" name="Picture 52">
            <a:extLst>
              <a:ext uri="{FF2B5EF4-FFF2-40B4-BE49-F238E27FC236}">
                <a16:creationId xmlns:a16="http://schemas.microsoft.com/office/drawing/2014/main" id="{6F3EE9BF-0269-25A7-DEBE-6E53ED34852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75852" y="3603151"/>
            <a:ext cx="781050" cy="733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2" name="AutoShape 53">
            <a:extLst>
              <a:ext uri="{FF2B5EF4-FFF2-40B4-BE49-F238E27FC236}">
                <a16:creationId xmlns:a16="http://schemas.microsoft.com/office/drawing/2014/main" id="{B44929FB-DA62-0DCC-9024-021DD9B8531B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34858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78" name="Picture 54">
            <a:extLst>
              <a:ext uri="{FF2B5EF4-FFF2-40B4-BE49-F238E27FC236}">
                <a16:creationId xmlns:a16="http://schemas.microsoft.com/office/drawing/2014/main" id="{1CA5F0C8-F245-B867-E569-E6F8423F35F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42677" y="2537931"/>
            <a:ext cx="7334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79" name="Picture 55">
            <a:extLst>
              <a:ext uri="{FF2B5EF4-FFF2-40B4-BE49-F238E27FC236}">
                <a16:creationId xmlns:a16="http://schemas.microsoft.com/office/drawing/2014/main" id="{9AEFC9D2-20A8-E13A-F2EE-F23D6EA093D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1526" y="3648236"/>
            <a:ext cx="819150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3" name="AutoShape 56">
            <a:extLst>
              <a:ext uri="{FF2B5EF4-FFF2-40B4-BE49-F238E27FC236}">
                <a16:creationId xmlns:a16="http://schemas.microsoft.com/office/drawing/2014/main" id="{75602302-E87B-8298-73E0-D6E2A0CEB94D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58988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81" name="Picture 57">
            <a:extLst>
              <a:ext uri="{FF2B5EF4-FFF2-40B4-BE49-F238E27FC236}">
                <a16:creationId xmlns:a16="http://schemas.microsoft.com/office/drawing/2014/main" id="{7F4B9074-F9D3-3E70-6B54-33CB95EF4CD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42677" y="4775195"/>
            <a:ext cx="8096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2" name="Picture 58">
            <a:extLst>
              <a:ext uri="{FF2B5EF4-FFF2-40B4-BE49-F238E27FC236}">
                <a16:creationId xmlns:a16="http://schemas.microsoft.com/office/drawing/2014/main" id="{32524291-4A8A-5746-AAFB-23459BCD904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79486" y="4628194"/>
            <a:ext cx="1103991" cy="11021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3" name="Picture 59">
            <a:extLst>
              <a:ext uri="{FF2B5EF4-FFF2-40B4-BE49-F238E27FC236}">
                <a16:creationId xmlns:a16="http://schemas.microsoft.com/office/drawing/2014/main" id="{31BEE8A5-0F98-3C5A-881F-29E74CBFE51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83306" y="3575848"/>
            <a:ext cx="1102164" cy="11021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5" name="Picture 61">
            <a:extLst>
              <a:ext uri="{FF2B5EF4-FFF2-40B4-BE49-F238E27FC236}">
                <a16:creationId xmlns:a16="http://schemas.microsoft.com/office/drawing/2014/main" id="{AD7E84AD-6063-3D46-8352-481AAF132EF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00599" y="2530756"/>
            <a:ext cx="2288214" cy="847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6" name="Picture 62">
            <a:extLst>
              <a:ext uri="{FF2B5EF4-FFF2-40B4-BE49-F238E27FC236}">
                <a16:creationId xmlns:a16="http://schemas.microsoft.com/office/drawing/2014/main" id="{B076602F-983D-C726-514B-27500C2E5CC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79486" y="1454481"/>
            <a:ext cx="2288214" cy="847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8B66CA9F-1FB9-6137-7B04-6088D0498FCD}"/>
              </a:ext>
            </a:extLst>
          </p:cNvPr>
          <p:cNvGrpSpPr/>
          <p:nvPr userDrawn="1"/>
        </p:nvGrpSpPr>
        <p:grpSpPr>
          <a:xfrm>
            <a:off x="1034903" y="1010093"/>
            <a:ext cx="627320" cy="5234766"/>
            <a:chOff x="1034903" y="1010093"/>
            <a:chExt cx="627320" cy="5234766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07A9851A-4FE5-EDBF-3CA2-29A696F72D4D}"/>
                </a:ext>
              </a:extLst>
            </p:cNvPr>
            <p:cNvSpPr/>
            <p:nvPr userDrawn="1"/>
          </p:nvSpPr>
          <p:spPr>
            <a:xfrm>
              <a:off x="1034903" y="1010093"/>
              <a:ext cx="616688" cy="340242"/>
            </a:xfrm>
            <a:prstGeom prst="rect">
              <a:avLst/>
            </a:prstGeom>
            <a:solidFill>
              <a:srgbClr val="463C57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BA9E439E-84BC-E69A-1FD0-5E30085FDF54}"/>
                </a:ext>
              </a:extLst>
            </p:cNvPr>
            <p:cNvSpPr/>
            <p:nvPr userDrawn="1"/>
          </p:nvSpPr>
          <p:spPr>
            <a:xfrm>
              <a:off x="1034903" y="1545266"/>
              <a:ext cx="616688" cy="340242"/>
            </a:xfrm>
            <a:prstGeom prst="rect">
              <a:avLst/>
            </a:prstGeom>
            <a:solidFill>
              <a:srgbClr val="545D6B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5EA66C9F-FBCA-9C90-9C5E-A2308C03BA8A}"/>
                </a:ext>
              </a:extLst>
            </p:cNvPr>
            <p:cNvSpPr/>
            <p:nvPr userDrawn="1"/>
          </p:nvSpPr>
          <p:spPr>
            <a:xfrm>
              <a:off x="1034903" y="2078671"/>
              <a:ext cx="616688" cy="340242"/>
            </a:xfrm>
            <a:prstGeom prst="rect">
              <a:avLst/>
            </a:prstGeom>
            <a:solidFill>
              <a:srgbClr val="4D715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0F98EB00-EEC6-D7F0-7D52-F91900E8534F}"/>
                </a:ext>
              </a:extLst>
            </p:cNvPr>
            <p:cNvSpPr/>
            <p:nvPr userDrawn="1"/>
          </p:nvSpPr>
          <p:spPr>
            <a:xfrm>
              <a:off x="1045535" y="2626245"/>
              <a:ext cx="616688" cy="340242"/>
            </a:xfrm>
            <a:prstGeom prst="rect">
              <a:avLst/>
            </a:prstGeom>
            <a:solidFill>
              <a:srgbClr val="748B5D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31885113-CD2D-D591-57AE-24E371259BB8}"/>
                </a:ext>
              </a:extLst>
            </p:cNvPr>
            <p:cNvSpPr/>
            <p:nvPr userDrawn="1"/>
          </p:nvSpPr>
          <p:spPr>
            <a:xfrm>
              <a:off x="1034903" y="3173819"/>
              <a:ext cx="616688" cy="340242"/>
            </a:xfrm>
            <a:prstGeom prst="rect">
              <a:avLst/>
            </a:prstGeom>
            <a:solidFill>
              <a:srgbClr val="95A26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25CF125E-F82D-A2E5-1A61-9D6F304619DA}"/>
                </a:ext>
              </a:extLst>
            </p:cNvPr>
            <p:cNvSpPr/>
            <p:nvPr userDrawn="1"/>
          </p:nvSpPr>
          <p:spPr>
            <a:xfrm>
              <a:off x="1045535" y="3721393"/>
              <a:ext cx="616688" cy="340242"/>
            </a:xfrm>
            <a:prstGeom prst="rect">
              <a:avLst/>
            </a:prstGeom>
            <a:solidFill>
              <a:srgbClr val="B6AE7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7943F6B5-028F-950E-5F0E-D961CE9F448D}"/>
                </a:ext>
              </a:extLst>
            </p:cNvPr>
            <p:cNvSpPr/>
            <p:nvPr userDrawn="1"/>
          </p:nvSpPr>
          <p:spPr>
            <a:xfrm>
              <a:off x="1045535" y="4267199"/>
              <a:ext cx="616688" cy="340242"/>
            </a:xfrm>
            <a:prstGeom prst="rect">
              <a:avLst/>
            </a:prstGeom>
            <a:solidFill>
              <a:srgbClr val="B68663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7BFD751D-1C09-5DD3-7F5F-DCF32522CF5B}"/>
                </a:ext>
              </a:extLst>
            </p:cNvPr>
            <p:cNvSpPr/>
            <p:nvPr userDrawn="1"/>
          </p:nvSpPr>
          <p:spPr>
            <a:xfrm>
              <a:off x="1034903" y="4813005"/>
              <a:ext cx="616688" cy="340242"/>
            </a:xfrm>
            <a:prstGeom prst="rect">
              <a:avLst/>
            </a:prstGeom>
            <a:solidFill>
              <a:srgbClr val="B63B4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0935DBA7-8CDC-B3A8-3AC9-E8F254177575}"/>
                </a:ext>
              </a:extLst>
            </p:cNvPr>
            <p:cNvSpPr/>
            <p:nvPr userDrawn="1"/>
          </p:nvSpPr>
          <p:spPr>
            <a:xfrm>
              <a:off x="1045535" y="5358811"/>
              <a:ext cx="616688" cy="340242"/>
            </a:xfrm>
            <a:prstGeom prst="rect">
              <a:avLst/>
            </a:prstGeom>
            <a:solidFill>
              <a:srgbClr val="98062D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AC0BA7A3-0F44-E98C-CEE5-98F1F0B839AF}"/>
                </a:ext>
              </a:extLst>
            </p:cNvPr>
            <p:cNvSpPr/>
            <p:nvPr userDrawn="1"/>
          </p:nvSpPr>
          <p:spPr>
            <a:xfrm>
              <a:off x="1034903" y="5904617"/>
              <a:ext cx="616688" cy="340242"/>
            </a:xfrm>
            <a:prstGeom prst="rect">
              <a:avLst/>
            </a:prstGeom>
            <a:solidFill>
              <a:srgbClr val="80002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" name="Text Placeholder 27">
            <a:extLst>
              <a:ext uri="{FF2B5EF4-FFF2-40B4-BE49-F238E27FC236}">
                <a16:creationId xmlns:a16="http://schemas.microsoft.com/office/drawing/2014/main" id="{A96719F2-AD8E-37FC-6963-70F3D0966A1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797050" y="5903546"/>
            <a:ext cx="367919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Northeastern University School of Law</a:t>
            </a:r>
          </a:p>
        </p:txBody>
      </p:sp>
    </p:spTree>
    <p:extLst>
      <p:ext uri="{BB962C8B-B14F-4D97-AF65-F5344CB8AC3E}">
        <p14:creationId xmlns:p14="http://schemas.microsoft.com/office/powerpoint/2010/main" val="130775428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rm Precedent Study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7126120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roject Brie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246E8A6-CD76-E095-EFC3-AA3AC0A59B18}"/>
              </a:ext>
            </a:extLst>
          </p:cNvPr>
          <p:cNvSpPr txBox="1"/>
          <p:nvPr userDrawn="1"/>
        </p:nvSpPr>
        <p:spPr>
          <a:xfrm>
            <a:off x="762001" y="729305"/>
            <a:ext cx="618756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algn="l"/>
            <a:r>
              <a:rPr lang="en-US" sz="3600" b="1">
                <a:latin typeface="Lato" panose="020F0502020204030203" pitchFamily="34" charset="0"/>
              </a:rPr>
              <a:t>Project Brief</a:t>
            </a:r>
            <a:endParaRPr lang="en-US" sz="240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5FF58FE8-575D-ABD5-42C1-249CCC628C8C}"/>
              </a:ext>
            </a:extLst>
          </p:cNvPr>
          <p:cNvCxnSpPr>
            <a:cxnSpLocks/>
          </p:cNvCxnSpPr>
          <p:nvPr userDrawn="1"/>
        </p:nvCxnSpPr>
        <p:spPr>
          <a:xfrm>
            <a:off x="565687" y="1375636"/>
            <a:ext cx="10895310" cy="0"/>
          </a:xfrm>
          <a:prstGeom prst="line">
            <a:avLst/>
          </a:prstGeom>
          <a:ln w="28575">
            <a:solidFill>
              <a:srgbClr val="C810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4026F817-B331-E5F3-CFF4-83EBCCE7D846}"/>
              </a:ext>
            </a:extLst>
          </p:cNvPr>
          <p:cNvSpPr txBox="1"/>
          <p:nvPr userDrawn="1"/>
        </p:nvSpPr>
        <p:spPr>
          <a:xfrm>
            <a:off x="5953125" y="2258621"/>
            <a:ext cx="5507872" cy="9548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  <a:spcBef>
                <a:spcPts val="600"/>
              </a:spcBef>
              <a:buSzPct val="80000"/>
            </a:pPr>
            <a:r>
              <a:rPr lang="en-US" sz="2000" b="0" i="0">
                <a:solidFill>
                  <a:srgbClr val="000000"/>
                </a:solidFill>
                <a:effectLst/>
                <a:latin typeface="Lato" panose="020F0502020204030203" pitchFamily="34" charset="0"/>
              </a:rPr>
              <a:t>The qualifying firm should bring….. (goals for project)</a:t>
            </a:r>
            <a:endParaRPr lang="en-US" sz="10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9D92913-9E25-3B14-E852-FDFF0DB74918}"/>
              </a:ext>
            </a:extLst>
          </p:cNvPr>
          <p:cNvSpPr txBox="1"/>
          <p:nvPr userDrawn="1"/>
        </p:nvSpPr>
        <p:spPr>
          <a:xfrm>
            <a:off x="565687" y="2258621"/>
            <a:ext cx="4910774" cy="21001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lvl="1" indent="-457200">
              <a:lnSpc>
                <a:spcPct val="150000"/>
              </a:lnSpc>
              <a:spcBef>
                <a:spcPts val="600"/>
              </a:spcBef>
              <a:buSzPct val="80000"/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n-US" sz="2800">
                <a:latin typeface="Lato" panose="020F0502020204030203" pitchFamily="34" charset="0"/>
              </a:rPr>
              <a:t>Design Intentions</a:t>
            </a:r>
          </a:p>
          <a:p>
            <a:pPr marL="914400" lvl="1" indent="-457200">
              <a:lnSpc>
                <a:spcPct val="150000"/>
              </a:lnSpc>
              <a:spcBef>
                <a:spcPts val="600"/>
              </a:spcBef>
              <a:buSzPct val="80000"/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n-US" sz="2800">
                <a:latin typeface="Lato" panose="020F0502020204030203" pitchFamily="34" charset="0"/>
              </a:rPr>
              <a:t>Location</a:t>
            </a:r>
          </a:p>
          <a:p>
            <a:pPr marL="914400" lvl="1" indent="-457200">
              <a:lnSpc>
                <a:spcPct val="150000"/>
              </a:lnSpc>
              <a:spcBef>
                <a:spcPts val="600"/>
              </a:spcBef>
              <a:buSzPct val="80000"/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n-US" sz="2800">
                <a:latin typeface="Lato" panose="020F0502020204030203" pitchFamily="34" charset="0"/>
              </a:rPr>
              <a:t>Budget?</a:t>
            </a:r>
          </a:p>
        </p:txBody>
      </p:sp>
    </p:spTree>
    <p:extLst>
      <p:ext uri="{BB962C8B-B14F-4D97-AF65-F5344CB8AC3E}">
        <p14:creationId xmlns:p14="http://schemas.microsoft.com/office/powerpoint/2010/main" val="145138044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otential Firm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CB9BF15-FA7E-1C04-FF04-0E8BAA3FD723}"/>
              </a:ext>
            </a:extLst>
          </p:cNvPr>
          <p:cNvCxnSpPr>
            <a:cxnSpLocks/>
          </p:cNvCxnSpPr>
          <p:nvPr userDrawn="1"/>
        </p:nvCxnSpPr>
        <p:spPr>
          <a:xfrm>
            <a:off x="565687" y="1375636"/>
            <a:ext cx="10895310" cy="0"/>
          </a:xfrm>
          <a:prstGeom prst="line">
            <a:avLst/>
          </a:prstGeom>
          <a:ln w="28575">
            <a:solidFill>
              <a:srgbClr val="C810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C420F617-437A-6F87-BA7B-4F4C053B50A7}"/>
              </a:ext>
            </a:extLst>
          </p:cNvPr>
          <p:cNvSpPr txBox="1"/>
          <p:nvPr userDrawn="1"/>
        </p:nvSpPr>
        <p:spPr>
          <a:xfrm>
            <a:off x="762001" y="729305"/>
            <a:ext cx="618756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algn="l"/>
            <a:r>
              <a:rPr lang="en-US" sz="3600" b="1">
                <a:latin typeface="Lato" panose="020F0502020204030203" pitchFamily="34" charset="0"/>
              </a:rPr>
              <a:t>Potential Firms</a:t>
            </a:r>
            <a:endParaRPr lang="en-US" sz="240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E535F34-8D13-BCDE-1AD7-5E53A8B07926}"/>
              </a:ext>
            </a:extLst>
          </p:cNvPr>
          <p:cNvSpPr txBox="1"/>
          <p:nvPr userDrawn="1"/>
        </p:nvSpPr>
        <p:spPr>
          <a:xfrm>
            <a:off x="5953125" y="2258621"/>
            <a:ext cx="5507872" cy="9548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  <a:spcBef>
                <a:spcPts val="600"/>
              </a:spcBef>
              <a:buSzPct val="80000"/>
            </a:pPr>
            <a:r>
              <a:rPr lang="en-US" sz="2000" b="0" i="0">
                <a:solidFill>
                  <a:srgbClr val="000000"/>
                </a:solidFill>
                <a:effectLst/>
                <a:latin typeface="Lato" panose="020F0502020204030203" pitchFamily="34" charset="0"/>
              </a:rPr>
              <a:t>The qualifying firm should bring….. (goals for project)</a:t>
            </a:r>
            <a:endParaRPr lang="en-US" sz="10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19A550A-97E7-1C83-57C0-E2470ED6E318}"/>
              </a:ext>
            </a:extLst>
          </p:cNvPr>
          <p:cNvSpPr txBox="1"/>
          <p:nvPr userDrawn="1"/>
        </p:nvSpPr>
        <p:spPr>
          <a:xfrm>
            <a:off x="565687" y="2258621"/>
            <a:ext cx="4910774" cy="21001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lvl="1" indent="-457200">
              <a:lnSpc>
                <a:spcPct val="150000"/>
              </a:lnSpc>
              <a:spcBef>
                <a:spcPts val="600"/>
              </a:spcBef>
              <a:buSzPct val="80000"/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n-US" sz="2800">
                <a:latin typeface="Lato" panose="020F0502020204030203" pitchFamily="34" charset="0"/>
              </a:rPr>
              <a:t>Firm 1</a:t>
            </a:r>
          </a:p>
          <a:p>
            <a:pPr marL="914400" lvl="1" indent="-457200">
              <a:lnSpc>
                <a:spcPct val="150000"/>
              </a:lnSpc>
              <a:spcBef>
                <a:spcPts val="600"/>
              </a:spcBef>
              <a:buSzPct val="80000"/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n-US" sz="2800">
                <a:latin typeface="Lato" panose="020F0502020204030203" pitchFamily="34" charset="0"/>
              </a:rPr>
              <a:t>Firm 2</a:t>
            </a:r>
          </a:p>
          <a:p>
            <a:pPr marL="914400" lvl="1" indent="-457200">
              <a:lnSpc>
                <a:spcPct val="150000"/>
              </a:lnSpc>
              <a:spcBef>
                <a:spcPts val="600"/>
              </a:spcBef>
              <a:buSzPct val="80000"/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n-US" sz="2800">
                <a:latin typeface="Lato" panose="020F0502020204030203" pitchFamily="34" charset="0"/>
              </a:rPr>
              <a:t>Firm 3</a:t>
            </a:r>
          </a:p>
        </p:txBody>
      </p:sp>
    </p:spTree>
    <p:extLst>
      <p:ext uri="{BB962C8B-B14F-4D97-AF65-F5344CB8AC3E}">
        <p14:creationId xmlns:p14="http://schemas.microsoft.com/office/powerpoint/2010/main" val="81987061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irm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7B29EC2C-261A-FAAA-DA61-789239773919}"/>
              </a:ext>
            </a:extLst>
          </p:cNvPr>
          <p:cNvSpPr/>
          <p:nvPr userDrawn="1"/>
        </p:nvSpPr>
        <p:spPr>
          <a:xfrm>
            <a:off x="5390707" y="1499194"/>
            <a:ext cx="6564019" cy="4709012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7B75033-87D1-F60F-9920-8827F9B35070}"/>
              </a:ext>
            </a:extLst>
          </p:cNvPr>
          <p:cNvSpPr txBox="1"/>
          <p:nvPr userDrawn="1"/>
        </p:nvSpPr>
        <p:spPr>
          <a:xfrm>
            <a:off x="565687" y="695255"/>
            <a:ext cx="111326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algn="l"/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Lato" panose="020F0502020204030203" pitchFamily="34" charset="0"/>
                <a:ea typeface="+mn-ea"/>
                <a:cs typeface="+mn-cs"/>
              </a:rPr>
              <a:t>Firm 1∙ Location</a:t>
            </a:r>
            <a:endParaRPr lang="en-US" sz="24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F0ACFF2-88FE-9892-A454-31D00F91362F}"/>
              </a:ext>
            </a:extLst>
          </p:cNvPr>
          <p:cNvSpPr txBox="1"/>
          <p:nvPr userDrawn="1"/>
        </p:nvSpPr>
        <p:spPr>
          <a:xfrm>
            <a:off x="163444" y="1806275"/>
            <a:ext cx="4136708" cy="4531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lvl="1" indent="-457200">
              <a:lnSpc>
                <a:spcPct val="150000"/>
              </a:lnSpc>
              <a:spcBef>
                <a:spcPts val="600"/>
              </a:spcBef>
              <a:buSzPct val="80000"/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n-US" b="1">
                <a:latin typeface="Lato" panose="020F0502020204030203" pitchFamily="34" charset="0"/>
              </a:rPr>
              <a:t>Mission Statement:</a:t>
            </a:r>
            <a:endParaRPr lang="en-US">
              <a:latin typeface="Lato" panose="020F0502020204030203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E495E11-41AF-EDB5-5BF7-C0B247CF3277}"/>
              </a:ext>
            </a:extLst>
          </p:cNvPr>
          <p:cNvSpPr txBox="1"/>
          <p:nvPr userDrawn="1"/>
        </p:nvSpPr>
        <p:spPr>
          <a:xfrm>
            <a:off x="89614" y="3573126"/>
            <a:ext cx="4284367" cy="8653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14400" lvl="1" indent="-457200">
              <a:lnSpc>
                <a:spcPct val="150000"/>
              </a:lnSpc>
              <a:spcBef>
                <a:spcPts val="600"/>
              </a:spcBef>
              <a:buSzPct val="80000"/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n-US" b="1">
                <a:latin typeface="Lato" panose="020F0502020204030203" pitchFamily="34" charset="0"/>
              </a:rPr>
              <a:t>Recent Projects:</a:t>
            </a:r>
          </a:p>
          <a:p>
            <a:pPr marL="1371600" lvl="2" indent="-457200">
              <a:lnSpc>
                <a:spcPct val="150000"/>
              </a:lnSpc>
              <a:spcBef>
                <a:spcPts val="600"/>
              </a:spcBef>
              <a:buSzPct val="80000"/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endParaRPr lang="en-US" sz="1400">
              <a:latin typeface="Lato" panose="020F050202020403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A6F1F03-2DA8-83CF-F044-EAE088E1BFC9}"/>
              </a:ext>
            </a:extLst>
          </p:cNvPr>
          <p:cNvSpPr txBox="1"/>
          <p:nvPr userDrawn="1"/>
        </p:nvSpPr>
        <p:spPr>
          <a:xfrm>
            <a:off x="533222" y="6512718"/>
            <a:ext cx="6096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>
                <a:latin typeface="Lato" panose="020F0502020204030203" pitchFamily="34" charset="0"/>
              </a:rPr>
              <a:t>Source: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23FE3D6-2CBD-2852-F972-EB2097B3C569}"/>
              </a:ext>
            </a:extLst>
          </p:cNvPr>
          <p:cNvSpPr txBox="1"/>
          <p:nvPr userDrawn="1"/>
        </p:nvSpPr>
        <p:spPr>
          <a:xfrm>
            <a:off x="10383462" y="5838874"/>
            <a:ext cx="1571264" cy="369332"/>
          </a:xfrm>
          <a:prstGeom prst="rect">
            <a:avLst/>
          </a:prstGeom>
          <a:solidFill>
            <a:schemeClr val="tx1">
              <a:lumMod val="85000"/>
              <a:lumOff val="15000"/>
              <a:alpha val="58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>
                <a:solidFill>
                  <a:schemeClr val="bg1"/>
                </a:solidFill>
                <a:latin typeface="Lato" panose="020F0502020204030203" pitchFamily="34" charset="0"/>
              </a:rPr>
              <a:t>Project Name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FDB750C-ADE1-6117-43DB-EDBCC054CEE0}"/>
              </a:ext>
            </a:extLst>
          </p:cNvPr>
          <p:cNvCxnSpPr>
            <a:cxnSpLocks/>
          </p:cNvCxnSpPr>
          <p:nvPr userDrawn="1"/>
        </p:nvCxnSpPr>
        <p:spPr>
          <a:xfrm>
            <a:off x="565687" y="1375636"/>
            <a:ext cx="10895310" cy="0"/>
          </a:xfrm>
          <a:prstGeom prst="line">
            <a:avLst/>
          </a:prstGeom>
          <a:ln w="28575">
            <a:solidFill>
              <a:srgbClr val="C810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7956817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irm 1's Proje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922E260-1FEC-5D55-0D82-E2289F2EE165}"/>
              </a:ext>
            </a:extLst>
          </p:cNvPr>
          <p:cNvSpPr txBox="1"/>
          <p:nvPr userDrawn="1"/>
        </p:nvSpPr>
        <p:spPr>
          <a:xfrm>
            <a:off x="0" y="1289676"/>
            <a:ext cx="5949119" cy="9455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lvl="1" indent="-457200">
              <a:lnSpc>
                <a:spcPct val="150000"/>
              </a:lnSpc>
              <a:spcBef>
                <a:spcPts val="600"/>
              </a:spcBef>
              <a:buSzPct val="80000"/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n-US" b="0" i="0">
                <a:solidFill>
                  <a:srgbClr val="303030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Features:</a:t>
            </a:r>
          </a:p>
          <a:p>
            <a:pPr marL="914400" lvl="1" indent="-457200">
              <a:lnSpc>
                <a:spcPct val="150000"/>
              </a:lnSpc>
              <a:spcBef>
                <a:spcPts val="600"/>
              </a:spcBef>
              <a:buSzPct val="80000"/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n-US">
                <a:solidFill>
                  <a:srgbClr val="30303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Details:</a:t>
            </a:r>
            <a:endParaRPr lang="en-US" b="0" i="0">
              <a:solidFill>
                <a:srgbClr val="303030"/>
              </a:solidFill>
              <a:effectLst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796B0FBE-CC49-8562-C7EE-4D8F0966986F}"/>
              </a:ext>
            </a:extLst>
          </p:cNvPr>
          <p:cNvCxnSpPr>
            <a:cxnSpLocks/>
          </p:cNvCxnSpPr>
          <p:nvPr userDrawn="1"/>
        </p:nvCxnSpPr>
        <p:spPr>
          <a:xfrm>
            <a:off x="714374" y="912634"/>
            <a:ext cx="4781551" cy="0"/>
          </a:xfrm>
          <a:prstGeom prst="line">
            <a:avLst/>
          </a:prstGeom>
          <a:ln w="28575">
            <a:solidFill>
              <a:srgbClr val="C810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DC94ADA-83D1-761E-520B-FE141D3EFB38}"/>
              </a:ext>
            </a:extLst>
          </p:cNvPr>
          <p:cNvCxnSpPr>
            <a:cxnSpLocks/>
          </p:cNvCxnSpPr>
          <p:nvPr userDrawn="1"/>
        </p:nvCxnSpPr>
        <p:spPr>
          <a:xfrm>
            <a:off x="6096000" y="-6753"/>
            <a:ext cx="0" cy="6864753"/>
          </a:xfrm>
          <a:prstGeom prst="line">
            <a:avLst/>
          </a:prstGeom>
          <a:ln w="28575">
            <a:solidFill>
              <a:srgbClr val="C810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8994E497-9D27-9BD2-D4A0-772C40D04100}"/>
              </a:ext>
            </a:extLst>
          </p:cNvPr>
          <p:cNvSpPr txBox="1"/>
          <p:nvPr userDrawn="1"/>
        </p:nvSpPr>
        <p:spPr>
          <a:xfrm>
            <a:off x="6096001" y="5998257"/>
            <a:ext cx="6095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>
                <a:latin typeface="Lato" panose="020F0502020204030203" pitchFamily="34" charset="0"/>
              </a:rPr>
              <a:t>Project 2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C14483E-1C47-E093-7E2B-A6137A291905}"/>
              </a:ext>
            </a:extLst>
          </p:cNvPr>
          <p:cNvSpPr txBox="1"/>
          <p:nvPr userDrawn="1"/>
        </p:nvSpPr>
        <p:spPr>
          <a:xfrm>
            <a:off x="0" y="251930"/>
            <a:ext cx="609599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>
                <a:latin typeface="Lato" panose="020F0502020204030203" pitchFamily="34" charset="0"/>
              </a:rPr>
              <a:t>Project 1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79E1A83-43A8-063E-7F4B-8312776A8324}"/>
              </a:ext>
            </a:extLst>
          </p:cNvPr>
          <p:cNvCxnSpPr>
            <a:cxnSpLocks/>
          </p:cNvCxnSpPr>
          <p:nvPr userDrawn="1"/>
        </p:nvCxnSpPr>
        <p:spPr>
          <a:xfrm>
            <a:off x="6498792" y="5998257"/>
            <a:ext cx="5216959" cy="0"/>
          </a:xfrm>
          <a:prstGeom prst="line">
            <a:avLst/>
          </a:prstGeom>
          <a:ln w="28575">
            <a:solidFill>
              <a:srgbClr val="C810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2BA2159A-4CA9-4AE2-62B1-3ABA53AE6E32}"/>
              </a:ext>
            </a:extLst>
          </p:cNvPr>
          <p:cNvSpPr txBox="1"/>
          <p:nvPr userDrawn="1"/>
        </p:nvSpPr>
        <p:spPr>
          <a:xfrm>
            <a:off x="6132711" y="2935146"/>
            <a:ext cx="5949119" cy="9455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lvl="1" indent="-457200">
              <a:lnSpc>
                <a:spcPct val="150000"/>
              </a:lnSpc>
              <a:spcBef>
                <a:spcPts val="600"/>
              </a:spcBef>
              <a:buSzPct val="80000"/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n-US" b="0" i="0">
                <a:solidFill>
                  <a:srgbClr val="303030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Features:</a:t>
            </a:r>
          </a:p>
          <a:p>
            <a:pPr marL="914400" lvl="1" indent="-457200">
              <a:lnSpc>
                <a:spcPct val="150000"/>
              </a:lnSpc>
              <a:spcBef>
                <a:spcPts val="600"/>
              </a:spcBef>
              <a:buSzPct val="80000"/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n-US">
                <a:solidFill>
                  <a:srgbClr val="30303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Details:</a:t>
            </a:r>
            <a:r>
              <a:rPr lang="en-US" b="0" i="0">
                <a:solidFill>
                  <a:srgbClr val="303030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.</a:t>
            </a:r>
            <a:endParaRPr lang="en-US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3C787E1-EDEE-9EF7-4E8E-6559D2555AA2}"/>
              </a:ext>
            </a:extLst>
          </p:cNvPr>
          <p:cNvSpPr txBox="1"/>
          <p:nvPr userDrawn="1"/>
        </p:nvSpPr>
        <p:spPr>
          <a:xfrm>
            <a:off x="57149" y="101016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0" i="0">
                <a:solidFill>
                  <a:schemeClr val="bg1">
                    <a:lumMod val="50000"/>
                  </a:schemeClr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For</a:t>
            </a:r>
            <a:r>
              <a:rPr lang="en-US">
                <a:solidFill>
                  <a:schemeClr val="bg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(Client Name)</a:t>
            </a:r>
            <a:endParaRPr lang="en-US">
              <a:solidFill>
                <a:schemeClr val="bg2">
                  <a:lumMod val="50000"/>
                </a:schemeClr>
              </a:solidFill>
              <a:latin typeface="Lato" panose="020F0502020204030203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83F38D5-04B6-52F7-6367-633D3F8079D8}"/>
              </a:ext>
            </a:extLst>
          </p:cNvPr>
          <p:cNvSpPr txBox="1"/>
          <p:nvPr userDrawn="1"/>
        </p:nvSpPr>
        <p:spPr>
          <a:xfrm>
            <a:off x="6059270" y="560017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>
                <a:solidFill>
                  <a:schemeClr val="bg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For (Client Name)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F410086-EBF7-DD6D-342C-46EF94D6879F}"/>
              </a:ext>
            </a:extLst>
          </p:cNvPr>
          <p:cNvSpPr/>
          <p:nvPr userDrawn="1"/>
        </p:nvSpPr>
        <p:spPr>
          <a:xfrm>
            <a:off x="0" y="4380614"/>
            <a:ext cx="6095003" cy="2477386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6B3473A-598F-862F-7ECF-58B00277122B}"/>
              </a:ext>
            </a:extLst>
          </p:cNvPr>
          <p:cNvSpPr/>
          <p:nvPr userDrawn="1"/>
        </p:nvSpPr>
        <p:spPr>
          <a:xfrm>
            <a:off x="6096997" y="3740"/>
            <a:ext cx="6095003" cy="2477386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375648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lors, Keys and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07A9851A-4FE5-EDBF-3CA2-29A696F72D4D}"/>
              </a:ext>
            </a:extLst>
          </p:cNvPr>
          <p:cNvSpPr/>
          <p:nvPr userDrawn="1"/>
        </p:nvSpPr>
        <p:spPr>
          <a:xfrm>
            <a:off x="1034903" y="1010093"/>
            <a:ext cx="616688" cy="340242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A9E439E-84BC-E69A-1FD0-5E30085FDF54}"/>
              </a:ext>
            </a:extLst>
          </p:cNvPr>
          <p:cNvSpPr/>
          <p:nvPr userDrawn="1"/>
        </p:nvSpPr>
        <p:spPr>
          <a:xfrm>
            <a:off x="1034903" y="1545266"/>
            <a:ext cx="616688" cy="340242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EA66C9F-FBCA-9C90-9C5E-A2308C03BA8A}"/>
              </a:ext>
            </a:extLst>
          </p:cNvPr>
          <p:cNvSpPr/>
          <p:nvPr userDrawn="1"/>
        </p:nvSpPr>
        <p:spPr>
          <a:xfrm>
            <a:off x="1034903" y="2078671"/>
            <a:ext cx="616688" cy="34024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F98EB00-EEC6-D7F0-7D52-F91900E8534F}"/>
              </a:ext>
            </a:extLst>
          </p:cNvPr>
          <p:cNvSpPr/>
          <p:nvPr userDrawn="1"/>
        </p:nvSpPr>
        <p:spPr>
          <a:xfrm>
            <a:off x="1045535" y="2626245"/>
            <a:ext cx="616688" cy="34024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1885113-CD2D-D591-57AE-24E371259BB8}"/>
              </a:ext>
            </a:extLst>
          </p:cNvPr>
          <p:cNvSpPr/>
          <p:nvPr userDrawn="1"/>
        </p:nvSpPr>
        <p:spPr>
          <a:xfrm>
            <a:off x="1034903" y="3173819"/>
            <a:ext cx="616688" cy="340242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5CF125E-F82D-A2E5-1A61-9D6F304619DA}"/>
              </a:ext>
            </a:extLst>
          </p:cNvPr>
          <p:cNvSpPr/>
          <p:nvPr userDrawn="1"/>
        </p:nvSpPr>
        <p:spPr>
          <a:xfrm>
            <a:off x="1045535" y="3721393"/>
            <a:ext cx="616688" cy="34024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943F6B5-028F-950E-5F0E-D961CE9F448D}"/>
              </a:ext>
            </a:extLst>
          </p:cNvPr>
          <p:cNvSpPr/>
          <p:nvPr userDrawn="1"/>
        </p:nvSpPr>
        <p:spPr>
          <a:xfrm>
            <a:off x="1045535" y="4267199"/>
            <a:ext cx="616688" cy="34024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BFD751D-1C09-5DD3-7F5F-DCF32522CF5B}"/>
              </a:ext>
            </a:extLst>
          </p:cNvPr>
          <p:cNvSpPr/>
          <p:nvPr userDrawn="1"/>
        </p:nvSpPr>
        <p:spPr>
          <a:xfrm>
            <a:off x="1034903" y="4813005"/>
            <a:ext cx="616688" cy="34024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935DBA7-8CDC-B3A8-3AC9-E8F254177575}"/>
              </a:ext>
            </a:extLst>
          </p:cNvPr>
          <p:cNvSpPr/>
          <p:nvPr userDrawn="1"/>
        </p:nvSpPr>
        <p:spPr>
          <a:xfrm>
            <a:off x="1045535" y="5358811"/>
            <a:ext cx="616688" cy="340242"/>
          </a:xfrm>
          <a:prstGeom prst="rect">
            <a:avLst/>
          </a:prstGeom>
          <a:solidFill>
            <a:srgbClr val="B8C6F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0129EBC1-3317-1D5A-3AA3-C59822ABD13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797050" y="1009650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76FEA8BC-2352-36C2-8036-6B2254456DE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797050" y="1544195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0" name="Text Placeholder 27">
            <a:extLst>
              <a:ext uri="{FF2B5EF4-FFF2-40B4-BE49-F238E27FC236}">
                <a16:creationId xmlns:a16="http://schemas.microsoft.com/office/drawing/2014/main" id="{2CD0B3BE-3033-A7EB-E3C2-C7AB34B94A1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797050" y="2078671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1" name="Text Placeholder 27">
            <a:extLst>
              <a:ext uri="{FF2B5EF4-FFF2-40B4-BE49-F238E27FC236}">
                <a16:creationId xmlns:a16="http://schemas.microsoft.com/office/drawing/2014/main" id="{C94D331B-C564-3032-74B9-BE391757ACC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797050" y="2613147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2" name="Text Placeholder 27">
            <a:extLst>
              <a:ext uri="{FF2B5EF4-FFF2-40B4-BE49-F238E27FC236}">
                <a16:creationId xmlns:a16="http://schemas.microsoft.com/office/drawing/2014/main" id="{89FCD616-482F-BB5B-7721-8B8B14F4C12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797050" y="3147623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3" name="Text Placeholder 27">
            <a:extLst>
              <a:ext uri="{FF2B5EF4-FFF2-40B4-BE49-F238E27FC236}">
                <a16:creationId xmlns:a16="http://schemas.microsoft.com/office/drawing/2014/main" id="{F73D9AE2-C9F1-ADB0-23F7-6930B916503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797050" y="3682099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4" name="Text Placeholder 27">
            <a:extLst>
              <a:ext uri="{FF2B5EF4-FFF2-40B4-BE49-F238E27FC236}">
                <a16:creationId xmlns:a16="http://schemas.microsoft.com/office/drawing/2014/main" id="{0721E596-E7DE-856A-5926-6F68B1BCC64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97050" y="4216575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5" name="Text Placeholder 27">
            <a:extLst>
              <a:ext uri="{FF2B5EF4-FFF2-40B4-BE49-F238E27FC236}">
                <a16:creationId xmlns:a16="http://schemas.microsoft.com/office/drawing/2014/main" id="{C394E1A2-6C40-CB70-28C9-3082A9D1367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797050" y="4751051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6" name="Text Placeholder 27">
            <a:extLst>
              <a:ext uri="{FF2B5EF4-FFF2-40B4-BE49-F238E27FC236}">
                <a16:creationId xmlns:a16="http://schemas.microsoft.com/office/drawing/2014/main" id="{036EFE3B-DC86-8C5A-8B60-D27F1640499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797050" y="5285527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7" name="Title 1">
            <a:extLst>
              <a:ext uri="{FF2B5EF4-FFF2-40B4-BE49-F238E27FC236}">
                <a16:creationId xmlns:a16="http://schemas.microsoft.com/office/drawing/2014/main" id="{434CCA1C-B3AE-9793-77BC-77D80901918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4245" y="182880"/>
            <a:ext cx="11822596" cy="498122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3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Colors, Key and Icons</a:t>
            </a:r>
          </a:p>
        </p:txBody>
      </p:sp>
      <p:pic>
        <p:nvPicPr>
          <p:cNvPr id="1057" name="Picture 33">
            <a:extLst>
              <a:ext uri="{FF2B5EF4-FFF2-40B4-BE49-F238E27FC236}">
                <a16:creationId xmlns:a16="http://schemas.microsoft.com/office/drawing/2014/main" id="{781055BC-FDE2-8BBB-1E46-08F1756DD7A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94275" y="1009650"/>
            <a:ext cx="762000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1" name="AutoShape 34">
            <a:extLst>
              <a:ext uri="{FF2B5EF4-FFF2-40B4-BE49-F238E27FC236}">
                <a16:creationId xmlns:a16="http://schemas.microsoft.com/office/drawing/2014/main" id="{F2025C07-CD51-CD0C-4AF4-0DE437866965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16046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2" name="AutoShape 35">
            <a:extLst>
              <a:ext uri="{FF2B5EF4-FFF2-40B4-BE49-F238E27FC236}">
                <a16:creationId xmlns:a16="http://schemas.microsoft.com/office/drawing/2014/main" id="{68FCAC10-887A-F302-5A48-937E9B8AD25D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6208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3" name="AutoShape 36">
            <a:extLst>
              <a:ext uri="{FF2B5EF4-FFF2-40B4-BE49-F238E27FC236}">
                <a16:creationId xmlns:a16="http://schemas.microsoft.com/office/drawing/2014/main" id="{2E423CA6-668B-ED41-0826-20E23C321C3C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20812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61" name="Picture 37">
            <a:extLst>
              <a:ext uri="{FF2B5EF4-FFF2-40B4-BE49-F238E27FC236}">
                <a16:creationId xmlns:a16="http://schemas.microsoft.com/office/drawing/2014/main" id="{2A78F1E1-42AE-F3D9-6F6C-D892FC68C2D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70475" y="2078671"/>
            <a:ext cx="609600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4" name="AutoShape 38">
            <a:extLst>
              <a:ext uri="{FF2B5EF4-FFF2-40B4-BE49-F238E27FC236}">
                <a16:creationId xmlns:a16="http://schemas.microsoft.com/office/drawing/2014/main" id="{A8FC92ED-9B59-BFCC-6125-544D6EFAE7D7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33480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63" name="Picture 39">
            <a:extLst>
              <a:ext uri="{FF2B5EF4-FFF2-40B4-BE49-F238E27FC236}">
                <a16:creationId xmlns:a16="http://schemas.microsoft.com/office/drawing/2014/main" id="{D8EC587C-B10E-B81F-59EC-E40C1F9AD9A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51425" y="3251887"/>
            <a:ext cx="628650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4" name="Picture 40">
            <a:extLst>
              <a:ext uri="{FF2B5EF4-FFF2-40B4-BE49-F238E27FC236}">
                <a16:creationId xmlns:a16="http://schemas.microsoft.com/office/drawing/2014/main" id="{E38C9A6E-DF1B-14D0-C704-2DD6B3F7DB0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3000" y="1043910"/>
            <a:ext cx="742950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5" name="Picture 41">
            <a:extLst>
              <a:ext uri="{FF2B5EF4-FFF2-40B4-BE49-F238E27FC236}">
                <a16:creationId xmlns:a16="http://schemas.microsoft.com/office/drawing/2014/main" id="{25AB3C69-7F60-7647-BD45-8A4B8998D37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65862" y="2085925"/>
            <a:ext cx="6191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6" name="Picture 42">
            <a:extLst>
              <a:ext uri="{FF2B5EF4-FFF2-40B4-BE49-F238E27FC236}">
                <a16:creationId xmlns:a16="http://schemas.microsoft.com/office/drawing/2014/main" id="{8B362C67-ABA7-1EE8-B685-A81B257C478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41900" y="4324351"/>
            <a:ext cx="71437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5" name="AutoShape 43">
            <a:extLst>
              <a:ext uri="{FF2B5EF4-FFF2-40B4-BE49-F238E27FC236}">
                <a16:creationId xmlns:a16="http://schemas.microsoft.com/office/drawing/2014/main" id="{92EF72A4-9658-6124-D46F-A125AFB36D93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73739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68" name="Picture 44">
            <a:extLst>
              <a:ext uri="{FF2B5EF4-FFF2-40B4-BE49-F238E27FC236}">
                <a16:creationId xmlns:a16="http://schemas.microsoft.com/office/drawing/2014/main" id="{6D101FA9-081E-CFB1-603E-835FFE03DA9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5485" y="4292753"/>
            <a:ext cx="7715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6" name="AutoShape 45">
            <a:extLst>
              <a:ext uri="{FF2B5EF4-FFF2-40B4-BE49-F238E27FC236}">
                <a16:creationId xmlns:a16="http://schemas.microsoft.com/office/drawing/2014/main" id="{9073D79C-79AD-A133-ED4E-A1803B76566D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8810625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70" name="Picture 46">
            <a:extLst>
              <a:ext uri="{FF2B5EF4-FFF2-40B4-BE49-F238E27FC236}">
                <a16:creationId xmlns:a16="http://schemas.microsoft.com/office/drawing/2014/main" id="{3D79AC8F-02F8-84C2-3D33-E7464D4FA60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70775" y="1155885"/>
            <a:ext cx="733425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7" name="AutoShape 47">
            <a:extLst>
              <a:ext uri="{FF2B5EF4-FFF2-40B4-BE49-F238E27FC236}">
                <a16:creationId xmlns:a16="http://schemas.microsoft.com/office/drawing/2014/main" id="{8E03D1EB-4887-DDD7-0B59-7D04FBBC8EDF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02473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8" name="AutoShape 48">
            <a:extLst>
              <a:ext uri="{FF2B5EF4-FFF2-40B4-BE49-F238E27FC236}">
                <a16:creationId xmlns:a16="http://schemas.microsoft.com/office/drawing/2014/main" id="{8D47C7B4-7C64-32B0-B7D6-40B75100F5E4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070768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9" name="AutoShape 49">
            <a:extLst>
              <a:ext uri="{FF2B5EF4-FFF2-40B4-BE49-F238E27FC236}">
                <a16:creationId xmlns:a16="http://schemas.microsoft.com/office/drawing/2014/main" id="{E0D67EBA-1C5F-CE0A-C402-69FCA9028DD0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116806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0" name="AutoShape 50">
            <a:extLst>
              <a:ext uri="{FF2B5EF4-FFF2-40B4-BE49-F238E27FC236}">
                <a16:creationId xmlns:a16="http://schemas.microsoft.com/office/drawing/2014/main" id="{E84FC73E-BB32-B34B-BED8-33FDE098CD00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16284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1" name="AutoShape 51">
            <a:extLst>
              <a:ext uri="{FF2B5EF4-FFF2-40B4-BE49-F238E27FC236}">
                <a16:creationId xmlns:a16="http://schemas.microsoft.com/office/drawing/2014/main" id="{28337FC9-F4DB-E0D4-5C71-A1DADE4DC10A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20888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76" name="Picture 52">
            <a:extLst>
              <a:ext uri="{FF2B5EF4-FFF2-40B4-BE49-F238E27FC236}">
                <a16:creationId xmlns:a16="http://schemas.microsoft.com/office/drawing/2014/main" id="{6F3EE9BF-0269-25A7-DEBE-6E53ED34852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03950" y="3158320"/>
            <a:ext cx="781050" cy="733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2" name="AutoShape 53">
            <a:extLst>
              <a:ext uri="{FF2B5EF4-FFF2-40B4-BE49-F238E27FC236}">
                <a16:creationId xmlns:a16="http://schemas.microsoft.com/office/drawing/2014/main" id="{B44929FB-DA62-0DCC-9024-021DD9B8531B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34858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78" name="Picture 54">
            <a:extLst>
              <a:ext uri="{FF2B5EF4-FFF2-40B4-BE49-F238E27FC236}">
                <a16:creationId xmlns:a16="http://schemas.microsoft.com/office/drawing/2014/main" id="{1CA5F0C8-F245-B867-E569-E6F8423F35F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70775" y="2093100"/>
            <a:ext cx="7334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79" name="Picture 55">
            <a:extLst>
              <a:ext uri="{FF2B5EF4-FFF2-40B4-BE49-F238E27FC236}">
                <a16:creationId xmlns:a16="http://schemas.microsoft.com/office/drawing/2014/main" id="{9AEFC9D2-20A8-E13A-F2EE-F23D6EA093D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09624" y="3203405"/>
            <a:ext cx="819150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3" name="AutoShape 56">
            <a:extLst>
              <a:ext uri="{FF2B5EF4-FFF2-40B4-BE49-F238E27FC236}">
                <a16:creationId xmlns:a16="http://schemas.microsoft.com/office/drawing/2014/main" id="{75602302-E87B-8298-73E0-D6E2A0CEB94D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58988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81" name="Picture 57">
            <a:extLst>
              <a:ext uri="{FF2B5EF4-FFF2-40B4-BE49-F238E27FC236}">
                <a16:creationId xmlns:a16="http://schemas.microsoft.com/office/drawing/2014/main" id="{7F4B9074-F9D3-3E70-6B54-33CB95EF4CD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70775" y="4330364"/>
            <a:ext cx="8096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2" name="Picture 58">
            <a:extLst>
              <a:ext uri="{FF2B5EF4-FFF2-40B4-BE49-F238E27FC236}">
                <a16:creationId xmlns:a16="http://schemas.microsoft.com/office/drawing/2014/main" id="{32524291-4A8A-5746-AAFB-23459BCD904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07584" y="4183363"/>
            <a:ext cx="1103991" cy="11021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3" name="Picture 59">
            <a:extLst>
              <a:ext uri="{FF2B5EF4-FFF2-40B4-BE49-F238E27FC236}">
                <a16:creationId xmlns:a16="http://schemas.microsoft.com/office/drawing/2014/main" id="{31BEE8A5-0F98-3C5A-881F-29E74CBFE51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11404" y="3131017"/>
            <a:ext cx="1102164" cy="11021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5" name="Picture 61">
            <a:extLst>
              <a:ext uri="{FF2B5EF4-FFF2-40B4-BE49-F238E27FC236}">
                <a16:creationId xmlns:a16="http://schemas.microsoft.com/office/drawing/2014/main" id="{AD7E84AD-6063-3D46-8352-481AAF132EF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28697" y="2085925"/>
            <a:ext cx="2288214" cy="847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6" name="Picture 62">
            <a:extLst>
              <a:ext uri="{FF2B5EF4-FFF2-40B4-BE49-F238E27FC236}">
                <a16:creationId xmlns:a16="http://schemas.microsoft.com/office/drawing/2014/main" id="{B076602F-983D-C726-514B-27500C2E5CC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07584" y="1009650"/>
            <a:ext cx="2288214" cy="847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7715249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llege Colors, Keys and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0129EBC1-3317-1D5A-3AA3-C59822ABD13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797050" y="1009650"/>
            <a:ext cx="305943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College of Arts, Media &amp; Design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76FEA8BC-2352-36C2-8036-6B2254456DE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797049" y="1544195"/>
            <a:ext cx="3565905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Khoury College of Computer Science</a:t>
            </a:r>
          </a:p>
        </p:txBody>
      </p:sp>
      <p:sp>
        <p:nvSpPr>
          <p:cNvPr id="30" name="Text Placeholder 27">
            <a:extLst>
              <a:ext uri="{FF2B5EF4-FFF2-40B4-BE49-F238E27FC236}">
                <a16:creationId xmlns:a16="http://schemas.microsoft.com/office/drawing/2014/main" id="{2CD0B3BE-3033-A7EB-E3C2-C7AB34B94A1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797050" y="2078671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College of Engineering</a:t>
            </a:r>
          </a:p>
        </p:txBody>
      </p:sp>
      <p:sp>
        <p:nvSpPr>
          <p:cNvPr id="31" name="Text Placeholder 27">
            <a:extLst>
              <a:ext uri="{FF2B5EF4-FFF2-40B4-BE49-F238E27FC236}">
                <a16:creationId xmlns:a16="http://schemas.microsoft.com/office/drawing/2014/main" id="{C94D331B-C564-3032-74B9-BE391757ACC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797049" y="2613147"/>
            <a:ext cx="3273425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 err="1"/>
              <a:t>Bouvé</a:t>
            </a:r>
            <a:r>
              <a:rPr lang="en-US"/>
              <a:t> College of Health Sciences</a:t>
            </a:r>
          </a:p>
        </p:txBody>
      </p:sp>
      <p:sp>
        <p:nvSpPr>
          <p:cNvPr id="32" name="Text Placeholder 27">
            <a:extLst>
              <a:ext uri="{FF2B5EF4-FFF2-40B4-BE49-F238E27FC236}">
                <a16:creationId xmlns:a16="http://schemas.microsoft.com/office/drawing/2014/main" id="{89FCD616-482F-BB5B-7721-8B8B14F4C12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797050" y="3147623"/>
            <a:ext cx="302387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College of Professional Studies</a:t>
            </a:r>
          </a:p>
        </p:txBody>
      </p:sp>
      <p:sp>
        <p:nvSpPr>
          <p:cNvPr id="33" name="Text Placeholder 27">
            <a:extLst>
              <a:ext uri="{FF2B5EF4-FFF2-40B4-BE49-F238E27FC236}">
                <a16:creationId xmlns:a16="http://schemas.microsoft.com/office/drawing/2014/main" id="{F73D9AE2-C9F1-ADB0-23F7-6930B916503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797050" y="3682099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College of Science</a:t>
            </a:r>
          </a:p>
        </p:txBody>
      </p:sp>
      <p:sp>
        <p:nvSpPr>
          <p:cNvPr id="34" name="Text Placeholder 27">
            <a:extLst>
              <a:ext uri="{FF2B5EF4-FFF2-40B4-BE49-F238E27FC236}">
                <a16:creationId xmlns:a16="http://schemas.microsoft.com/office/drawing/2014/main" id="{0721E596-E7DE-856A-5926-6F68B1BCC64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797050" y="4216575"/>
            <a:ext cx="395467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College of Social Sciences and Humanities</a:t>
            </a:r>
          </a:p>
        </p:txBody>
      </p:sp>
      <p:sp>
        <p:nvSpPr>
          <p:cNvPr id="35" name="Text Placeholder 27">
            <a:extLst>
              <a:ext uri="{FF2B5EF4-FFF2-40B4-BE49-F238E27FC236}">
                <a16:creationId xmlns:a16="http://schemas.microsoft.com/office/drawing/2014/main" id="{C394E1A2-6C40-CB70-28C9-3082A9D1367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797050" y="4751051"/>
            <a:ext cx="341503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Mills College</a:t>
            </a:r>
          </a:p>
        </p:txBody>
      </p:sp>
      <p:sp>
        <p:nvSpPr>
          <p:cNvPr id="36" name="Text Placeholder 27">
            <a:extLst>
              <a:ext uri="{FF2B5EF4-FFF2-40B4-BE49-F238E27FC236}">
                <a16:creationId xmlns:a16="http://schemas.microsoft.com/office/drawing/2014/main" id="{036EFE3B-DC86-8C5A-8B60-D27F1640499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797050" y="5285527"/>
            <a:ext cx="362331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err="1"/>
              <a:t>D’Amore</a:t>
            </a:r>
            <a:r>
              <a:rPr lang="en-US"/>
              <a:t>-McKim School of Business</a:t>
            </a:r>
          </a:p>
          <a:p>
            <a:pPr lvl="0"/>
            <a:endParaRPr lang="en-US"/>
          </a:p>
        </p:txBody>
      </p:sp>
      <p:sp>
        <p:nvSpPr>
          <p:cNvPr id="37" name="Title 1">
            <a:extLst>
              <a:ext uri="{FF2B5EF4-FFF2-40B4-BE49-F238E27FC236}">
                <a16:creationId xmlns:a16="http://schemas.microsoft.com/office/drawing/2014/main" id="{434CCA1C-B3AE-9793-77BC-77D80901918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4245" y="182880"/>
            <a:ext cx="11822596" cy="498122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3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Colors, Key and Icons</a:t>
            </a:r>
          </a:p>
        </p:txBody>
      </p:sp>
      <p:pic>
        <p:nvPicPr>
          <p:cNvPr id="1057" name="Picture 33">
            <a:extLst>
              <a:ext uri="{FF2B5EF4-FFF2-40B4-BE49-F238E27FC236}">
                <a16:creationId xmlns:a16="http://schemas.microsoft.com/office/drawing/2014/main" id="{781055BC-FDE2-8BBB-1E46-08F1756DD7A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66177" y="1454481"/>
            <a:ext cx="762000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1" name="AutoShape 34">
            <a:extLst>
              <a:ext uri="{FF2B5EF4-FFF2-40B4-BE49-F238E27FC236}">
                <a16:creationId xmlns:a16="http://schemas.microsoft.com/office/drawing/2014/main" id="{F2025C07-CD51-CD0C-4AF4-0DE437866965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16046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2" name="AutoShape 35">
            <a:extLst>
              <a:ext uri="{FF2B5EF4-FFF2-40B4-BE49-F238E27FC236}">
                <a16:creationId xmlns:a16="http://schemas.microsoft.com/office/drawing/2014/main" id="{68FCAC10-887A-F302-5A48-937E9B8AD25D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6208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3" name="AutoShape 36">
            <a:extLst>
              <a:ext uri="{FF2B5EF4-FFF2-40B4-BE49-F238E27FC236}">
                <a16:creationId xmlns:a16="http://schemas.microsoft.com/office/drawing/2014/main" id="{2E423CA6-668B-ED41-0826-20E23C321C3C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20812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61" name="Picture 37">
            <a:extLst>
              <a:ext uri="{FF2B5EF4-FFF2-40B4-BE49-F238E27FC236}">
                <a16:creationId xmlns:a16="http://schemas.microsoft.com/office/drawing/2014/main" id="{2A78F1E1-42AE-F3D9-6F6C-D892FC68C2D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42377" y="2523502"/>
            <a:ext cx="609600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4" name="AutoShape 38">
            <a:extLst>
              <a:ext uri="{FF2B5EF4-FFF2-40B4-BE49-F238E27FC236}">
                <a16:creationId xmlns:a16="http://schemas.microsoft.com/office/drawing/2014/main" id="{A8FC92ED-9B59-BFCC-6125-544D6EFAE7D7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33480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63" name="Picture 39">
            <a:extLst>
              <a:ext uri="{FF2B5EF4-FFF2-40B4-BE49-F238E27FC236}">
                <a16:creationId xmlns:a16="http://schemas.microsoft.com/office/drawing/2014/main" id="{D8EC587C-B10E-B81F-59EC-E40C1F9AD9A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23327" y="3696718"/>
            <a:ext cx="628650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4" name="Picture 40">
            <a:extLst>
              <a:ext uri="{FF2B5EF4-FFF2-40B4-BE49-F238E27FC236}">
                <a16:creationId xmlns:a16="http://schemas.microsoft.com/office/drawing/2014/main" id="{E38C9A6E-DF1B-14D0-C704-2DD6B3F7DB0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94902" y="1488741"/>
            <a:ext cx="742950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5" name="Picture 41">
            <a:extLst>
              <a:ext uri="{FF2B5EF4-FFF2-40B4-BE49-F238E27FC236}">
                <a16:creationId xmlns:a16="http://schemas.microsoft.com/office/drawing/2014/main" id="{25AB3C69-7F60-7647-BD45-8A4B8998D37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7764" y="2530756"/>
            <a:ext cx="6191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6" name="Picture 42">
            <a:extLst>
              <a:ext uri="{FF2B5EF4-FFF2-40B4-BE49-F238E27FC236}">
                <a16:creationId xmlns:a16="http://schemas.microsoft.com/office/drawing/2014/main" id="{8B362C67-ABA7-1EE8-B685-A81B257C478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3802" y="4769182"/>
            <a:ext cx="71437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5" name="AutoShape 43">
            <a:extLst>
              <a:ext uri="{FF2B5EF4-FFF2-40B4-BE49-F238E27FC236}">
                <a16:creationId xmlns:a16="http://schemas.microsoft.com/office/drawing/2014/main" id="{92EF72A4-9658-6124-D46F-A125AFB36D93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73739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68" name="Picture 44">
            <a:extLst>
              <a:ext uri="{FF2B5EF4-FFF2-40B4-BE49-F238E27FC236}">
                <a16:creationId xmlns:a16="http://schemas.microsoft.com/office/drawing/2014/main" id="{6D101FA9-081E-CFB1-603E-835FFE03DA9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97387" y="4737584"/>
            <a:ext cx="7715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6" name="AutoShape 45">
            <a:extLst>
              <a:ext uri="{FF2B5EF4-FFF2-40B4-BE49-F238E27FC236}">
                <a16:creationId xmlns:a16="http://schemas.microsoft.com/office/drawing/2014/main" id="{9073D79C-79AD-A133-ED4E-A1803B76566D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8810625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70" name="Picture 46">
            <a:extLst>
              <a:ext uri="{FF2B5EF4-FFF2-40B4-BE49-F238E27FC236}">
                <a16:creationId xmlns:a16="http://schemas.microsoft.com/office/drawing/2014/main" id="{3D79AC8F-02F8-84C2-3D33-E7464D4FA60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42677" y="1600716"/>
            <a:ext cx="733425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7" name="AutoShape 47">
            <a:extLst>
              <a:ext uri="{FF2B5EF4-FFF2-40B4-BE49-F238E27FC236}">
                <a16:creationId xmlns:a16="http://schemas.microsoft.com/office/drawing/2014/main" id="{8E03D1EB-4887-DDD7-0B59-7D04FBBC8EDF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02473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8" name="AutoShape 48">
            <a:extLst>
              <a:ext uri="{FF2B5EF4-FFF2-40B4-BE49-F238E27FC236}">
                <a16:creationId xmlns:a16="http://schemas.microsoft.com/office/drawing/2014/main" id="{8D47C7B4-7C64-32B0-B7D6-40B75100F5E4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070768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9" name="AutoShape 49">
            <a:extLst>
              <a:ext uri="{FF2B5EF4-FFF2-40B4-BE49-F238E27FC236}">
                <a16:creationId xmlns:a16="http://schemas.microsoft.com/office/drawing/2014/main" id="{E0D67EBA-1C5F-CE0A-C402-69FCA9028DD0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116806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0" name="AutoShape 50">
            <a:extLst>
              <a:ext uri="{FF2B5EF4-FFF2-40B4-BE49-F238E27FC236}">
                <a16:creationId xmlns:a16="http://schemas.microsoft.com/office/drawing/2014/main" id="{E84FC73E-BB32-B34B-BED8-33FDE098CD00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16284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1" name="AutoShape 51">
            <a:extLst>
              <a:ext uri="{FF2B5EF4-FFF2-40B4-BE49-F238E27FC236}">
                <a16:creationId xmlns:a16="http://schemas.microsoft.com/office/drawing/2014/main" id="{28337FC9-F4DB-E0D4-5C71-A1DADE4DC10A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20888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76" name="Picture 52">
            <a:extLst>
              <a:ext uri="{FF2B5EF4-FFF2-40B4-BE49-F238E27FC236}">
                <a16:creationId xmlns:a16="http://schemas.microsoft.com/office/drawing/2014/main" id="{6F3EE9BF-0269-25A7-DEBE-6E53ED34852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75852" y="3603151"/>
            <a:ext cx="781050" cy="733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2" name="AutoShape 53">
            <a:extLst>
              <a:ext uri="{FF2B5EF4-FFF2-40B4-BE49-F238E27FC236}">
                <a16:creationId xmlns:a16="http://schemas.microsoft.com/office/drawing/2014/main" id="{B44929FB-DA62-0DCC-9024-021DD9B8531B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34858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78" name="Picture 54">
            <a:extLst>
              <a:ext uri="{FF2B5EF4-FFF2-40B4-BE49-F238E27FC236}">
                <a16:creationId xmlns:a16="http://schemas.microsoft.com/office/drawing/2014/main" id="{1CA5F0C8-F245-B867-E569-E6F8423F35F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42677" y="2537931"/>
            <a:ext cx="7334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79" name="Picture 55">
            <a:extLst>
              <a:ext uri="{FF2B5EF4-FFF2-40B4-BE49-F238E27FC236}">
                <a16:creationId xmlns:a16="http://schemas.microsoft.com/office/drawing/2014/main" id="{9AEFC9D2-20A8-E13A-F2EE-F23D6EA093D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1526" y="3648236"/>
            <a:ext cx="819150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3" name="AutoShape 56">
            <a:extLst>
              <a:ext uri="{FF2B5EF4-FFF2-40B4-BE49-F238E27FC236}">
                <a16:creationId xmlns:a16="http://schemas.microsoft.com/office/drawing/2014/main" id="{75602302-E87B-8298-73E0-D6E2A0CEB94D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58988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81" name="Picture 57">
            <a:extLst>
              <a:ext uri="{FF2B5EF4-FFF2-40B4-BE49-F238E27FC236}">
                <a16:creationId xmlns:a16="http://schemas.microsoft.com/office/drawing/2014/main" id="{7F4B9074-F9D3-3E70-6B54-33CB95EF4CD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42677" y="4775195"/>
            <a:ext cx="8096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2" name="Picture 58">
            <a:extLst>
              <a:ext uri="{FF2B5EF4-FFF2-40B4-BE49-F238E27FC236}">
                <a16:creationId xmlns:a16="http://schemas.microsoft.com/office/drawing/2014/main" id="{32524291-4A8A-5746-AAFB-23459BCD904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79486" y="4628194"/>
            <a:ext cx="1103991" cy="11021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3" name="Picture 59">
            <a:extLst>
              <a:ext uri="{FF2B5EF4-FFF2-40B4-BE49-F238E27FC236}">
                <a16:creationId xmlns:a16="http://schemas.microsoft.com/office/drawing/2014/main" id="{31BEE8A5-0F98-3C5A-881F-29E74CBFE51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83306" y="3575848"/>
            <a:ext cx="1102164" cy="11021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5" name="Picture 61">
            <a:extLst>
              <a:ext uri="{FF2B5EF4-FFF2-40B4-BE49-F238E27FC236}">
                <a16:creationId xmlns:a16="http://schemas.microsoft.com/office/drawing/2014/main" id="{AD7E84AD-6063-3D46-8352-481AAF132EF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00599" y="2530756"/>
            <a:ext cx="2288214" cy="847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6" name="Picture 62">
            <a:extLst>
              <a:ext uri="{FF2B5EF4-FFF2-40B4-BE49-F238E27FC236}">
                <a16:creationId xmlns:a16="http://schemas.microsoft.com/office/drawing/2014/main" id="{B076602F-983D-C726-514B-27500C2E5CC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79486" y="1454481"/>
            <a:ext cx="2288214" cy="847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8B66CA9F-1FB9-6137-7B04-6088D0498FCD}"/>
              </a:ext>
            </a:extLst>
          </p:cNvPr>
          <p:cNvGrpSpPr/>
          <p:nvPr userDrawn="1"/>
        </p:nvGrpSpPr>
        <p:grpSpPr>
          <a:xfrm>
            <a:off x="1034903" y="1010093"/>
            <a:ext cx="627320" cy="5234766"/>
            <a:chOff x="1034903" y="1010093"/>
            <a:chExt cx="627320" cy="5234766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07A9851A-4FE5-EDBF-3CA2-29A696F72D4D}"/>
                </a:ext>
              </a:extLst>
            </p:cNvPr>
            <p:cNvSpPr/>
            <p:nvPr userDrawn="1"/>
          </p:nvSpPr>
          <p:spPr>
            <a:xfrm>
              <a:off x="1034903" y="1010093"/>
              <a:ext cx="616688" cy="340242"/>
            </a:xfrm>
            <a:prstGeom prst="rect">
              <a:avLst/>
            </a:prstGeom>
            <a:solidFill>
              <a:srgbClr val="463C57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BA9E439E-84BC-E69A-1FD0-5E30085FDF54}"/>
                </a:ext>
              </a:extLst>
            </p:cNvPr>
            <p:cNvSpPr/>
            <p:nvPr userDrawn="1"/>
          </p:nvSpPr>
          <p:spPr>
            <a:xfrm>
              <a:off x="1034903" y="1545266"/>
              <a:ext cx="616688" cy="340242"/>
            </a:xfrm>
            <a:prstGeom prst="rect">
              <a:avLst/>
            </a:prstGeom>
            <a:solidFill>
              <a:srgbClr val="545D6B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5EA66C9F-FBCA-9C90-9C5E-A2308C03BA8A}"/>
                </a:ext>
              </a:extLst>
            </p:cNvPr>
            <p:cNvSpPr/>
            <p:nvPr userDrawn="1"/>
          </p:nvSpPr>
          <p:spPr>
            <a:xfrm>
              <a:off x="1034903" y="2078671"/>
              <a:ext cx="616688" cy="340242"/>
            </a:xfrm>
            <a:prstGeom prst="rect">
              <a:avLst/>
            </a:prstGeom>
            <a:solidFill>
              <a:srgbClr val="4D715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0F98EB00-EEC6-D7F0-7D52-F91900E8534F}"/>
                </a:ext>
              </a:extLst>
            </p:cNvPr>
            <p:cNvSpPr/>
            <p:nvPr userDrawn="1"/>
          </p:nvSpPr>
          <p:spPr>
            <a:xfrm>
              <a:off x="1045535" y="2626245"/>
              <a:ext cx="616688" cy="340242"/>
            </a:xfrm>
            <a:prstGeom prst="rect">
              <a:avLst/>
            </a:prstGeom>
            <a:solidFill>
              <a:srgbClr val="748B5D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31885113-CD2D-D591-57AE-24E371259BB8}"/>
                </a:ext>
              </a:extLst>
            </p:cNvPr>
            <p:cNvSpPr/>
            <p:nvPr userDrawn="1"/>
          </p:nvSpPr>
          <p:spPr>
            <a:xfrm>
              <a:off x="1034903" y="3173819"/>
              <a:ext cx="616688" cy="340242"/>
            </a:xfrm>
            <a:prstGeom prst="rect">
              <a:avLst/>
            </a:prstGeom>
            <a:solidFill>
              <a:srgbClr val="95A26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25CF125E-F82D-A2E5-1A61-9D6F304619DA}"/>
                </a:ext>
              </a:extLst>
            </p:cNvPr>
            <p:cNvSpPr/>
            <p:nvPr userDrawn="1"/>
          </p:nvSpPr>
          <p:spPr>
            <a:xfrm>
              <a:off x="1045535" y="3721393"/>
              <a:ext cx="616688" cy="340242"/>
            </a:xfrm>
            <a:prstGeom prst="rect">
              <a:avLst/>
            </a:prstGeom>
            <a:solidFill>
              <a:srgbClr val="B6AE7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7943F6B5-028F-950E-5F0E-D961CE9F448D}"/>
                </a:ext>
              </a:extLst>
            </p:cNvPr>
            <p:cNvSpPr/>
            <p:nvPr userDrawn="1"/>
          </p:nvSpPr>
          <p:spPr>
            <a:xfrm>
              <a:off x="1045535" y="4267199"/>
              <a:ext cx="616688" cy="340242"/>
            </a:xfrm>
            <a:prstGeom prst="rect">
              <a:avLst/>
            </a:prstGeom>
            <a:solidFill>
              <a:srgbClr val="B68663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7BFD751D-1C09-5DD3-7F5F-DCF32522CF5B}"/>
                </a:ext>
              </a:extLst>
            </p:cNvPr>
            <p:cNvSpPr/>
            <p:nvPr userDrawn="1"/>
          </p:nvSpPr>
          <p:spPr>
            <a:xfrm>
              <a:off x="1034903" y="4813005"/>
              <a:ext cx="616688" cy="340242"/>
            </a:xfrm>
            <a:prstGeom prst="rect">
              <a:avLst/>
            </a:prstGeom>
            <a:solidFill>
              <a:srgbClr val="B63B4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0935DBA7-8CDC-B3A8-3AC9-E8F254177575}"/>
                </a:ext>
              </a:extLst>
            </p:cNvPr>
            <p:cNvSpPr/>
            <p:nvPr userDrawn="1"/>
          </p:nvSpPr>
          <p:spPr>
            <a:xfrm>
              <a:off x="1045535" y="5358811"/>
              <a:ext cx="616688" cy="340242"/>
            </a:xfrm>
            <a:prstGeom prst="rect">
              <a:avLst/>
            </a:prstGeom>
            <a:solidFill>
              <a:srgbClr val="98062D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AC0BA7A3-0F44-E98C-CEE5-98F1F0B839AF}"/>
                </a:ext>
              </a:extLst>
            </p:cNvPr>
            <p:cNvSpPr/>
            <p:nvPr userDrawn="1"/>
          </p:nvSpPr>
          <p:spPr>
            <a:xfrm>
              <a:off x="1034903" y="5904617"/>
              <a:ext cx="616688" cy="340242"/>
            </a:xfrm>
            <a:prstGeom prst="rect">
              <a:avLst/>
            </a:prstGeom>
            <a:solidFill>
              <a:srgbClr val="80002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" name="Text Placeholder 27">
            <a:extLst>
              <a:ext uri="{FF2B5EF4-FFF2-40B4-BE49-F238E27FC236}">
                <a16:creationId xmlns:a16="http://schemas.microsoft.com/office/drawing/2014/main" id="{A96719F2-AD8E-37FC-6963-70F3D0966A1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797050" y="5903546"/>
            <a:ext cx="367919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Northeastern University School of Law</a:t>
            </a:r>
          </a:p>
        </p:txBody>
      </p:sp>
    </p:spTree>
    <p:extLst>
      <p:ext uri="{BB962C8B-B14F-4D97-AF65-F5344CB8AC3E}">
        <p14:creationId xmlns:p14="http://schemas.microsoft.com/office/powerpoint/2010/main" val="2366029354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936928-3BCC-C3CF-8F35-A10B6F56B0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A6746D-E561-5CDE-FC36-953907C6D2F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E182BF-4A92-E604-A950-11446D76EB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B94E4D-8330-98E7-1EF3-F09AD190A4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FE8F2E-417D-8C78-B91B-21F1C3CF72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E9A795-8AA6-4189-9C5B-591D910047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703705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Blank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281238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blem Solving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34028052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roblem Brie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246E8A6-CD76-E095-EFC3-AA3AC0A59B18}"/>
              </a:ext>
            </a:extLst>
          </p:cNvPr>
          <p:cNvSpPr txBox="1"/>
          <p:nvPr userDrawn="1"/>
        </p:nvSpPr>
        <p:spPr>
          <a:xfrm>
            <a:off x="762001" y="729305"/>
            <a:ext cx="618756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algn="l"/>
            <a:r>
              <a:rPr lang="en-US" sz="3600" b="1">
                <a:latin typeface="Lato" panose="020F0502020204030203" pitchFamily="34" charset="0"/>
              </a:rPr>
              <a:t>Problem Brief</a:t>
            </a:r>
            <a:endParaRPr lang="en-US" sz="240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5FF58FE8-575D-ABD5-42C1-249CCC628C8C}"/>
              </a:ext>
            </a:extLst>
          </p:cNvPr>
          <p:cNvCxnSpPr>
            <a:cxnSpLocks/>
          </p:cNvCxnSpPr>
          <p:nvPr userDrawn="1"/>
        </p:nvCxnSpPr>
        <p:spPr>
          <a:xfrm>
            <a:off x="565687" y="1375636"/>
            <a:ext cx="10895310" cy="0"/>
          </a:xfrm>
          <a:prstGeom prst="line">
            <a:avLst/>
          </a:prstGeom>
          <a:ln w="28575">
            <a:solidFill>
              <a:srgbClr val="C810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69D92913-9E25-3B14-E852-FDFF0DB74918}"/>
              </a:ext>
            </a:extLst>
          </p:cNvPr>
          <p:cNvSpPr txBox="1"/>
          <p:nvPr userDrawn="1"/>
        </p:nvSpPr>
        <p:spPr>
          <a:xfrm>
            <a:off x="291649" y="1661721"/>
            <a:ext cx="4910774" cy="21001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lvl="1" indent="-457200">
              <a:lnSpc>
                <a:spcPct val="150000"/>
              </a:lnSpc>
              <a:spcBef>
                <a:spcPts val="600"/>
              </a:spcBef>
              <a:buSzPct val="80000"/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n-US" sz="2800">
                <a:latin typeface="Lato" panose="020F0502020204030203" pitchFamily="34" charset="0"/>
              </a:rPr>
              <a:t>Design Intentions</a:t>
            </a:r>
          </a:p>
          <a:p>
            <a:pPr marL="914400" lvl="1" indent="-457200">
              <a:lnSpc>
                <a:spcPct val="150000"/>
              </a:lnSpc>
              <a:spcBef>
                <a:spcPts val="600"/>
              </a:spcBef>
              <a:buSzPct val="80000"/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n-US" sz="2800">
                <a:latin typeface="Lato" panose="020F0502020204030203" pitchFamily="34" charset="0"/>
              </a:rPr>
              <a:t>Location</a:t>
            </a:r>
          </a:p>
          <a:p>
            <a:pPr marL="914400" lvl="1" indent="-457200">
              <a:lnSpc>
                <a:spcPct val="150000"/>
              </a:lnSpc>
              <a:spcBef>
                <a:spcPts val="600"/>
              </a:spcBef>
              <a:buSzPct val="80000"/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n-US" sz="2800">
                <a:latin typeface="Lato" panose="020F0502020204030203" pitchFamily="34" charset="0"/>
              </a:rPr>
              <a:t>Budget?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F3915432-D882-C9D8-0F83-D08126A82C00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384800" y="1662113"/>
            <a:ext cx="5965825" cy="444658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8987797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dition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5CA784-ABA3-F0B2-605C-6A2FBC102E2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71500" y="1173434"/>
            <a:ext cx="5270500" cy="5319071"/>
          </a:xfrm>
          <a:prstGeom prst="rect">
            <a:avLst/>
          </a:prstGeom>
        </p:spPr>
        <p:txBody>
          <a:bodyPr/>
          <a:lstStyle>
            <a:lvl1pPr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55F9462-EA3B-9E29-95E4-B6F650F71712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6350000" y="1173434"/>
            <a:ext cx="5270500" cy="5319072"/>
          </a:xfrm>
          <a:prstGeom prst="rect">
            <a:avLst/>
          </a:prstGeom>
        </p:spPr>
        <p:txBody>
          <a:bodyPr/>
          <a:lstStyle>
            <a:lvl1pPr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BF5E13D-25D4-4B65-2C3A-BB3F8C78BC9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4245" y="182880"/>
            <a:ext cx="11822596" cy="498122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3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Option 1: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6DDB9C1-E7D8-401E-451C-B09E8C5F51B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84244" y="731520"/>
            <a:ext cx="11822596" cy="39139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>
              <a:defRPr sz="20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Location/ Features</a:t>
            </a:r>
          </a:p>
        </p:txBody>
      </p:sp>
    </p:spTree>
    <p:extLst>
      <p:ext uri="{BB962C8B-B14F-4D97-AF65-F5344CB8AC3E}">
        <p14:creationId xmlns:p14="http://schemas.microsoft.com/office/powerpoint/2010/main" val="903638355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ros &amp; Cons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947F42E7-6518-ABD6-D184-FD4570971A03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92760691"/>
              </p:ext>
            </p:extLst>
          </p:nvPr>
        </p:nvGraphicFramePr>
        <p:xfrm>
          <a:off x="2031543" y="974151"/>
          <a:ext cx="8128000" cy="5249335"/>
        </p:xfrm>
        <a:graphic>
          <a:graphicData uri="http://schemas.openxmlformats.org/drawingml/2006/table">
            <a:tbl>
              <a:tblPr firstRow="1" bandRow="1">
                <a:tableStyleId>{8A107856-5554-42FB-B03E-39F5DBC370BA}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1053616333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892658654"/>
                    </a:ext>
                  </a:extLst>
                </a:gridCol>
              </a:tblGrid>
              <a:tr h="749905">
                <a:tc>
                  <a:txBody>
                    <a:bodyPr/>
                    <a:lstStyle/>
                    <a:p>
                      <a:pPr algn="ctr"/>
                      <a:r>
                        <a:rPr lang="en-US" sz="2400"/>
                        <a:t>Pros</a:t>
                      </a:r>
                      <a:endParaRPr lang="en-US" sz="240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/>
                        <a:t>Cons</a:t>
                      </a:r>
                      <a:endParaRPr lang="en-US" sz="240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5197926"/>
                  </a:ext>
                </a:extLst>
              </a:tr>
              <a:tr h="749905">
                <a:tc>
                  <a:txBody>
                    <a:bodyPr/>
                    <a:lstStyle/>
                    <a:p>
                      <a:endParaRPr lang="en-US" sz="160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28908489"/>
                  </a:ext>
                </a:extLst>
              </a:tr>
              <a:tr h="749905">
                <a:tc>
                  <a:txBody>
                    <a:bodyPr/>
                    <a:lstStyle/>
                    <a:p>
                      <a:endParaRPr lang="en-US" sz="160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4587448"/>
                  </a:ext>
                </a:extLst>
              </a:tr>
              <a:tr h="749905">
                <a:tc>
                  <a:txBody>
                    <a:bodyPr/>
                    <a:lstStyle/>
                    <a:p>
                      <a:endParaRPr lang="en-US" sz="160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6470907"/>
                  </a:ext>
                </a:extLst>
              </a:tr>
              <a:tr h="749905">
                <a:tc>
                  <a:txBody>
                    <a:bodyPr/>
                    <a:lstStyle/>
                    <a:p>
                      <a:endParaRPr lang="en-US" sz="160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8782159"/>
                  </a:ext>
                </a:extLst>
              </a:tr>
              <a:tr h="749905">
                <a:tc>
                  <a:txBody>
                    <a:bodyPr/>
                    <a:lstStyle/>
                    <a:p>
                      <a:endParaRPr lang="en-US" sz="160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1384300"/>
                  </a:ext>
                </a:extLst>
              </a:tr>
              <a:tr h="749905">
                <a:tc>
                  <a:txBody>
                    <a:bodyPr/>
                    <a:lstStyle/>
                    <a:p>
                      <a:endParaRPr lang="en-US" sz="160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44176550"/>
                  </a:ext>
                </a:extLst>
              </a:tr>
            </a:tbl>
          </a:graphicData>
        </a:graphic>
      </p:graphicFrame>
      <p:sp>
        <p:nvSpPr>
          <p:cNvPr id="3" name="Title 1">
            <a:extLst>
              <a:ext uri="{FF2B5EF4-FFF2-40B4-BE49-F238E27FC236}">
                <a16:creationId xmlns:a16="http://schemas.microsoft.com/office/drawing/2014/main" id="{59147D30-612D-1783-785A-0FF695A1FCD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4245" y="182880"/>
            <a:ext cx="11822596" cy="498122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3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Option 1: </a:t>
            </a:r>
          </a:p>
        </p:txBody>
      </p:sp>
    </p:spTree>
    <p:extLst>
      <p:ext uri="{BB962C8B-B14F-4D97-AF65-F5344CB8AC3E}">
        <p14:creationId xmlns:p14="http://schemas.microsoft.com/office/powerpoint/2010/main" val="2382614947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ros &amp; Cons Tab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59147D30-612D-1783-785A-0FF695A1FCD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4245" y="182880"/>
            <a:ext cx="11822596" cy="498122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3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Problem Brief: 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42F874D-F4DC-0BEA-5C94-AA618316CA7A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260347950"/>
              </p:ext>
            </p:extLst>
          </p:nvPr>
        </p:nvGraphicFramePr>
        <p:xfrm>
          <a:off x="568632" y="1452716"/>
          <a:ext cx="11054736" cy="3952568"/>
        </p:xfrm>
        <a:graphic>
          <a:graphicData uri="http://schemas.openxmlformats.org/drawingml/2006/table">
            <a:tbl>
              <a:tblPr firstRow="1" bandRow="1">
                <a:tableStyleId>{8A107856-5554-42FB-B03E-39F5DBC370BA}</a:tableStyleId>
              </a:tblPr>
              <a:tblGrid>
                <a:gridCol w="1842456">
                  <a:extLst>
                    <a:ext uri="{9D8B030D-6E8A-4147-A177-3AD203B41FA5}">
                      <a16:colId xmlns:a16="http://schemas.microsoft.com/office/drawing/2014/main" val="521741688"/>
                    </a:ext>
                  </a:extLst>
                </a:gridCol>
                <a:gridCol w="1842456">
                  <a:extLst>
                    <a:ext uri="{9D8B030D-6E8A-4147-A177-3AD203B41FA5}">
                      <a16:colId xmlns:a16="http://schemas.microsoft.com/office/drawing/2014/main" val="1142612625"/>
                    </a:ext>
                  </a:extLst>
                </a:gridCol>
                <a:gridCol w="1842456">
                  <a:extLst>
                    <a:ext uri="{9D8B030D-6E8A-4147-A177-3AD203B41FA5}">
                      <a16:colId xmlns:a16="http://schemas.microsoft.com/office/drawing/2014/main" val="1048618712"/>
                    </a:ext>
                  </a:extLst>
                </a:gridCol>
                <a:gridCol w="1842456">
                  <a:extLst>
                    <a:ext uri="{9D8B030D-6E8A-4147-A177-3AD203B41FA5}">
                      <a16:colId xmlns:a16="http://schemas.microsoft.com/office/drawing/2014/main" val="2339973446"/>
                    </a:ext>
                  </a:extLst>
                </a:gridCol>
                <a:gridCol w="1842456">
                  <a:extLst>
                    <a:ext uri="{9D8B030D-6E8A-4147-A177-3AD203B41FA5}">
                      <a16:colId xmlns:a16="http://schemas.microsoft.com/office/drawing/2014/main" val="3491487081"/>
                    </a:ext>
                  </a:extLst>
                </a:gridCol>
                <a:gridCol w="1842456">
                  <a:extLst>
                    <a:ext uri="{9D8B030D-6E8A-4147-A177-3AD203B41FA5}">
                      <a16:colId xmlns:a16="http://schemas.microsoft.com/office/drawing/2014/main" val="1868579363"/>
                    </a:ext>
                  </a:extLst>
                </a:gridCol>
              </a:tblGrid>
              <a:tr h="642124">
                <a:tc>
                  <a:txBody>
                    <a:bodyPr/>
                    <a:lstStyle/>
                    <a:p>
                      <a:endParaRPr lang="en-US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Option 1: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Option 2: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Option 3: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Option 4: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Option 5: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2900299"/>
                  </a:ext>
                </a:extLst>
              </a:tr>
              <a:tr h="1697954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Pros: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5471365"/>
                  </a:ext>
                </a:extLst>
              </a:tr>
              <a:tr h="1612490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Cons: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81233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63340554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lors, Keys and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07A9851A-4FE5-EDBF-3CA2-29A696F72D4D}"/>
              </a:ext>
            </a:extLst>
          </p:cNvPr>
          <p:cNvSpPr/>
          <p:nvPr userDrawn="1"/>
        </p:nvSpPr>
        <p:spPr>
          <a:xfrm>
            <a:off x="1034903" y="1010093"/>
            <a:ext cx="616688" cy="340242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A9E439E-84BC-E69A-1FD0-5E30085FDF54}"/>
              </a:ext>
            </a:extLst>
          </p:cNvPr>
          <p:cNvSpPr/>
          <p:nvPr userDrawn="1"/>
        </p:nvSpPr>
        <p:spPr>
          <a:xfrm>
            <a:off x="1034903" y="1545266"/>
            <a:ext cx="616688" cy="340242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EA66C9F-FBCA-9C90-9C5E-A2308C03BA8A}"/>
              </a:ext>
            </a:extLst>
          </p:cNvPr>
          <p:cNvSpPr/>
          <p:nvPr userDrawn="1"/>
        </p:nvSpPr>
        <p:spPr>
          <a:xfrm>
            <a:off x="1034903" y="2078671"/>
            <a:ext cx="616688" cy="34024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F98EB00-EEC6-D7F0-7D52-F91900E8534F}"/>
              </a:ext>
            </a:extLst>
          </p:cNvPr>
          <p:cNvSpPr/>
          <p:nvPr userDrawn="1"/>
        </p:nvSpPr>
        <p:spPr>
          <a:xfrm>
            <a:off x="1045535" y="2626245"/>
            <a:ext cx="616688" cy="34024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1885113-CD2D-D591-57AE-24E371259BB8}"/>
              </a:ext>
            </a:extLst>
          </p:cNvPr>
          <p:cNvSpPr/>
          <p:nvPr userDrawn="1"/>
        </p:nvSpPr>
        <p:spPr>
          <a:xfrm>
            <a:off x="1034903" y="3173819"/>
            <a:ext cx="616688" cy="340242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5CF125E-F82D-A2E5-1A61-9D6F304619DA}"/>
              </a:ext>
            </a:extLst>
          </p:cNvPr>
          <p:cNvSpPr/>
          <p:nvPr userDrawn="1"/>
        </p:nvSpPr>
        <p:spPr>
          <a:xfrm>
            <a:off x="1045535" y="3721393"/>
            <a:ext cx="616688" cy="34024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943F6B5-028F-950E-5F0E-D961CE9F448D}"/>
              </a:ext>
            </a:extLst>
          </p:cNvPr>
          <p:cNvSpPr/>
          <p:nvPr userDrawn="1"/>
        </p:nvSpPr>
        <p:spPr>
          <a:xfrm>
            <a:off x="1045535" y="4267199"/>
            <a:ext cx="616688" cy="34024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BFD751D-1C09-5DD3-7F5F-DCF32522CF5B}"/>
              </a:ext>
            </a:extLst>
          </p:cNvPr>
          <p:cNvSpPr/>
          <p:nvPr userDrawn="1"/>
        </p:nvSpPr>
        <p:spPr>
          <a:xfrm>
            <a:off x="1034903" y="4813005"/>
            <a:ext cx="616688" cy="34024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935DBA7-8CDC-B3A8-3AC9-E8F254177575}"/>
              </a:ext>
            </a:extLst>
          </p:cNvPr>
          <p:cNvSpPr/>
          <p:nvPr userDrawn="1"/>
        </p:nvSpPr>
        <p:spPr>
          <a:xfrm>
            <a:off x="1045535" y="5358811"/>
            <a:ext cx="616688" cy="340242"/>
          </a:xfrm>
          <a:prstGeom prst="rect">
            <a:avLst/>
          </a:prstGeom>
          <a:solidFill>
            <a:srgbClr val="B8C6F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0129EBC1-3317-1D5A-3AA3-C59822ABD13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797050" y="1009650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76FEA8BC-2352-36C2-8036-6B2254456DE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797050" y="1544195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0" name="Text Placeholder 27">
            <a:extLst>
              <a:ext uri="{FF2B5EF4-FFF2-40B4-BE49-F238E27FC236}">
                <a16:creationId xmlns:a16="http://schemas.microsoft.com/office/drawing/2014/main" id="{2CD0B3BE-3033-A7EB-E3C2-C7AB34B94A1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797050" y="2078671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1" name="Text Placeholder 27">
            <a:extLst>
              <a:ext uri="{FF2B5EF4-FFF2-40B4-BE49-F238E27FC236}">
                <a16:creationId xmlns:a16="http://schemas.microsoft.com/office/drawing/2014/main" id="{C94D331B-C564-3032-74B9-BE391757ACC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797050" y="2613147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2" name="Text Placeholder 27">
            <a:extLst>
              <a:ext uri="{FF2B5EF4-FFF2-40B4-BE49-F238E27FC236}">
                <a16:creationId xmlns:a16="http://schemas.microsoft.com/office/drawing/2014/main" id="{89FCD616-482F-BB5B-7721-8B8B14F4C12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797050" y="3147623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3" name="Text Placeholder 27">
            <a:extLst>
              <a:ext uri="{FF2B5EF4-FFF2-40B4-BE49-F238E27FC236}">
                <a16:creationId xmlns:a16="http://schemas.microsoft.com/office/drawing/2014/main" id="{F73D9AE2-C9F1-ADB0-23F7-6930B916503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797050" y="3682099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4" name="Text Placeholder 27">
            <a:extLst>
              <a:ext uri="{FF2B5EF4-FFF2-40B4-BE49-F238E27FC236}">
                <a16:creationId xmlns:a16="http://schemas.microsoft.com/office/drawing/2014/main" id="{0721E596-E7DE-856A-5926-6F68B1BCC64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97050" y="4216575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5" name="Text Placeholder 27">
            <a:extLst>
              <a:ext uri="{FF2B5EF4-FFF2-40B4-BE49-F238E27FC236}">
                <a16:creationId xmlns:a16="http://schemas.microsoft.com/office/drawing/2014/main" id="{C394E1A2-6C40-CB70-28C9-3082A9D1367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797050" y="4751051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6" name="Text Placeholder 27">
            <a:extLst>
              <a:ext uri="{FF2B5EF4-FFF2-40B4-BE49-F238E27FC236}">
                <a16:creationId xmlns:a16="http://schemas.microsoft.com/office/drawing/2014/main" id="{036EFE3B-DC86-8C5A-8B60-D27F1640499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797050" y="5285527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7" name="Title 1">
            <a:extLst>
              <a:ext uri="{FF2B5EF4-FFF2-40B4-BE49-F238E27FC236}">
                <a16:creationId xmlns:a16="http://schemas.microsoft.com/office/drawing/2014/main" id="{434CCA1C-B3AE-9793-77BC-77D80901918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4245" y="182880"/>
            <a:ext cx="11822596" cy="498122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3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Colors, Key and Icons</a:t>
            </a:r>
          </a:p>
        </p:txBody>
      </p:sp>
      <p:pic>
        <p:nvPicPr>
          <p:cNvPr id="1057" name="Picture 33">
            <a:extLst>
              <a:ext uri="{FF2B5EF4-FFF2-40B4-BE49-F238E27FC236}">
                <a16:creationId xmlns:a16="http://schemas.microsoft.com/office/drawing/2014/main" id="{781055BC-FDE2-8BBB-1E46-08F1756DD7A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94275" y="1009650"/>
            <a:ext cx="762000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1" name="AutoShape 34">
            <a:extLst>
              <a:ext uri="{FF2B5EF4-FFF2-40B4-BE49-F238E27FC236}">
                <a16:creationId xmlns:a16="http://schemas.microsoft.com/office/drawing/2014/main" id="{F2025C07-CD51-CD0C-4AF4-0DE437866965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16046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2" name="AutoShape 35">
            <a:extLst>
              <a:ext uri="{FF2B5EF4-FFF2-40B4-BE49-F238E27FC236}">
                <a16:creationId xmlns:a16="http://schemas.microsoft.com/office/drawing/2014/main" id="{68FCAC10-887A-F302-5A48-937E9B8AD25D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6208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3" name="AutoShape 36">
            <a:extLst>
              <a:ext uri="{FF2B5EF4-FFF2-40B4-BE49-F238E27FC236}">
                <a16:creationId xmlns:a16="http://schemas.microsoft.com/office/drawing/2014/main" id="{2E423CA6-668B-ED41-0826-20E23C321C3C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20812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61" name="Picture 37">
            <a:extLst>
              <a:ext uri="{FF2B5EF4-FFF2-40B4-BE49-F238E27FC236}">
                <a16:creationId xmlns:a16="http://schemas.microsoft.com/office/drawing/2014/main" id="{2A78F1E1-42AE-F3D9-6F6C-D892FC68C2D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70475" y="2078671"/>
            <a:ext cx="609600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4" name="AutoShape 38">
            <a:extLst>
              <a:ext uri="{FF2B5EF4-FFF2-40B4-BE49-F238E27FC236}">
                <a16:creationId xmlns:a16="http://schemas.microsoft.com/office/drawing/2014/main" id="{A8FC92ED-9B59-BFCC-6125-544D6EFAE7D7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33480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63" name="Picture 39">
            <a:extLst>
              <a:ext uri="{FF2B5EF4-FFF2-40B4-BE49-F238E27FC236}">
                <a16:creationId xmlns:a16="http://schemas.microsoft.com/office/drawing/2014/main" id="{D8EC587C-B10E-B81F-59EC-E40C1F9AD9A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51425" y="3251887"/>
            <a:ext cx="628650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4" name="Picture 40">
            <a:extLst>
              <a:ext uri="{FF2B5EF4-FFF2-40B4-BE49-F238E27FC236}">
                <a16:creationId xmlns:a16="http://schemas.microsoft.com/office/drawing/2014/main" id="{E38C9A6E-DF1B-14D0-C704-2DD6B3F7DB0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3000" y="1043910"/>
            <a:ext cx="742950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5" name="Picture 41">
            <a:extLst>
              <a:ext uri="{FF2B5EF4-FFF2-40B4-BE49-F238E27FC236}">
                <a16:creationId xmlns:a16="http://schemas.microsoft.com/office/drawing/2014/main" id="{25AB3C69-7F60-7647-BD45-8A4B8998D37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65862" y="2085925"/>
            <a:ext cx="6191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6" name="Picture 42">
            <a:extLst>
              <a:ext uri="{FF2B5EF4-FFF2-40B4-BE49-F238E27FC236}">
                <a16:creationId xmlns:a16="http://schemas.microsoft.com/office/drawing/2014/main" id="{8B362C67-ABA7-1EE8-B685-A81B257C478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41900" y="4324351"/>
            <a:ext cx="71437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5" name="AutoShape 43">
            <a:extLst>
              <a:ext uri="{FF2B5EF4-FFF2-40B4-BE49-F238E27FC236}">
                <a16:creationId xmlns:a16="http://schemas.microsoft.com/office/drawing/2014/main" id="{92EF72A4-9658-6124-D46F-A125AFB36D93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73739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68" name="Picture 44">
            <a:extLst>
              <a:ext uri="{FF2B5EF4-FFF2-40B4-BE49-F238E27FC236}">
                <a16:creationId xmlns:a16="http://schemas.microsoft.com/office/drawing/2014/main" id="{6D101FA9-081E-CFB1-603E-835FFE03DA9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5485" y="4292753"/>
            <a:ext cx="7715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6" name="AutoShape 45">
            <a:extLst>
              <a:ext uri="{FF2B5EF4-FFF2-40B4-BE49-F238E27FC236}">
                <a16:creationId xmlns:a16="http://schemas.microsoft.com/office/drawing/2014/main" id="{9073D79C-79AD-A133-ED4E-A1803B76566D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8810625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70" name="Picture 46">
            <a:extLst>
              <a:ext uri="{FF2B5EF4-FFF2-40B4-BE49-F238E27FC236}">
                <a16:creationId xmlns:a16="http://schemas.microsoft.com/office/drawing/2014/main" id="{3D79AC8F-02F8-84C2-3D33-E7464D4FA60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70775" y="1155885"/>
            <a:ext cx="733425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7" name="AutoShape 47">
            <a:extLst>
              <a:ext uri="{FF2B5EF4-FFF2-40B4-BE49-F238E27FC236}">
                <a16:creationId xmlns:a16="http://schemas.microsoft.com/office/drawing/2014/main" id="{8E03D1EB-4887-DDD7-0B59-7D04FBBC8EDF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02473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8" name="AutoShape 48">
            <a:extLst>
              <a:ext uri="{FF2B5EF4-FFF2-40B4-BE49-F238E27FC236}">
                <a16:creationId xmlns:a16="http://schemas.microsoft.com/office/drawing/2014/main" id="{8D47C7B4-7C64-32B0-B7D6-40B75100F5E4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070768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9" name="AutoShape 49">
            <a:extLst>
              <a:ext uri="{FF2B5EF4-FFF2-40B4-BE49-F238E27FC236}">
                <a16:creationId xmlns:a16="http://schemas.microsoft.com/office/drawing/2014/main" id="{E0D67EBA-1C5F-CE0A-C402-69FCA9028DD0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116806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0" name="AutoShape 50">
            <a:extLst>
              <a:ext uri="{FF2B5EF4-FFF2-40B4-BE49-F238E27FC236}">
                <a16:creationId xmlns:a16="http://schemas.microsoft.com/office/drawing/2014/main" id="{E84FC73E-BB32-B34B-BED8-33FDE098CD00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16284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1" name="AutoShape 51">
            <a:extLst>
              <a:ext uri="{FF2B5EF4-FFF2-40B4-BE49-F238E27FC236}">
                <a16:creationId xmlns:a16="http://schemas.microsoft.com/office/drawing/2014/main" id="{28337FC9-F4DB-E0D4-5C71-A1DADE4DC10A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20888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76" name="Picture 52">
            <a:extLst>
              <a:ext uri="{FF2B5EF4-FFF2-40B4-BE49-F238E27FC236}">
                <a16:creationId xmlns:a16="http://schemas.microsoft.com/office/drawing/2014/main" id="{6F3EE9BF-0269-25A7-DEBE-6E53ED34852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03950" y="3158320"/>
            <a:ext cx="781050" cy="733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2" name="AutoShape 53">
            <a:extLst>
              <a:ext uri="{FF2B5EF4-FFF2-40B4-BE49-F238E27FC236}">
                <a16:creationId xmlns:a16="http://schemas.microsoft.com/office/drawing/2014/main" id="{B44929FB-DA62-0DCC-9024-021DD9B8531B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34858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78" name="Picture 54">
            <a:extLst>
              <a:ext uri="{FF2B5EF4-FFF2-40B4-BE49-F238E27FC236}">
                <a16:creationId xmlns:a16="http://schemas.microsoft.com/office/drawing/2014/main" id="{1CA5F0C8-F245-B867-E569-E6F8423F35F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70775" y="2093100"/>
            <a:ext cx="7334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79" name="Picture 55">
            <a:extLst>
              <a:ext uri="{FF2B5EF4-FFF2-40B4-BE49-F238E27FC236}">
                <a16:creationId xmlns:a16="http://schemas.microsoft.com/office/drawing/2014/main" id="{9AEFC9D2-20A8-E13A-F2EE-F23D6EA093D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09624" y="3203405"/>
            <a:ext cx="819150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3" name="AutoShape 56">
            <a:extLst>
              <a:ext uri="{FF2B5EF4-FFF2-40B4-BE49-F238E27FC236}">
                <a16:creationId xmlns:a16="http://schemas.microsoft.com/office/drawing/2014/main" id="{75602302-E87B-8298-73E0-D6E2A0CEB94D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58988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81" name="Picture 57">
            <a:extLst>
              <a:ext uri="{FF2B5EF4-FFF2-40B4-BE49-F238E27FC236}">
                <a16:creationId xmlns:a16="http://schemas.microsoft.com/office/drawing/2014/main" id="{7F4B9074-F9D3-3E70-6B54-33CB95EF4CD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70775" y="4330364"/>
            <a:ext cx="8096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2" name="Picture 58">
            <a:extLst>
              <a:ext uri="{FF2B5EF4-FFF2-40B4-BE49-F238E27FC236}">
                <a16:creationId xmlns:a16="http://schemas.microsoft.com/office/drawing/2014/main" id="{32524291-4A8A-5746-AAFB-23459BCD904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07584" y="4183363"/>
            <a:ext cx="1103991" cy="11021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3" name="Picture 59">
            <a:extLst>
              <a:ext uri="{FF2B5EF4-FFF2-40B4-BE49-F238E27FC236}">
                <a16:creationId xmlns:a16="http://schemas.microsoft.com/office/drawing/2014/main" id="{31BEE8A5-0F98-3C5A-881F-29E74CBFE51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11404" y="3131017"/>
            <a:ext cx="1102164" cy="11021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5" name="Picture 61">
            <a:extLst>
              <a:ext uri="{FF2B5EF4-FFF2-40B4-BE49-F238E27FC236}">
                <a16:creationId xmlns:a16="http://schemas.microsoft.com/office/drawing/2014/main" id="{AD7E84AD-6063-3D46-8352-481AAF132EF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28697" y="2085925"/>
            <a:ext cx="2288214" cy="847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6" name="Picture 62">
            <a:extLst>
              <a:ext uri="{FF2B5EF4-FFF2-40B4-BE49-F238E27FC236}">
                <a16:creationId xmlns:a16="http://schemas.microsoft.com/office/drawing/2014/main" id="{B076602F-983D-C726-514B-27500C2E5CC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07584" y="1009650"/>
            <a:ext cx="2288214" cy="847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65692891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llege Colors, Keys and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0129EBC1-3317-1D5A-3AA3-C59822ABD13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797050" y="1009650"/>
            <a:ext cx="305943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College of Arts, Media &amp; Design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76FEA8BC-2352-36C2-8036-6B2254456DE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797049" y="1544195"/>
            <a:ext cx="3565905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Khoury College of Computer Science</a:t>
            </a:r>
          </a:p>
        </p:txBody>
      </p:sp>
      <p:sp>
        <p:nvSpPr>
          <p:cNvPr id="30" name="Text Placeholder 27">
            <a:extLst>
              <a:ext uri="{FF2B5EF4-FFF2-40B4-BE49-F238E27FC236}">
                <a16:creationId xmlns:a16="http://schemas.microsoft.com/office/drawing/2014/main" id="{2CD0B3BE-3033-A7EB-E3C2-C7AB34B94A1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797050" y="2078671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College of Engineering</a:t>
            </a:r>
          </a:p>
        </p:txBody>
      </p:sp>
      <p:sp>
        <p:nvSpPr>
          <p:cNvPr id="31" name="Text Placeholder 27">
            <a:extLst>
              <a:ext uri="{FF2B5EF4-FFF2-40B4-BE49-F238E27FC236}">
                <a16:creationId xmlns:a16="http://schemas.microsoft.com/office/drawing/2014/main" id="{C94D331B-C564-3032-74B9-BE391757ACC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797049" y="2613147"/>
            <a:ext cx="3273425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 err="1"/>
              <a:t>Bouvé</a:t>
            </a:r>
            <a:r>
              <a:rPr lang="en-US"/>
              <a:t> College of Health Sciences</a:t>
            </a:r>
          </a:p>
        </p:txBody>
      </p:sp>
      <p:sp>
        <p:nvSpPr>
          <p:cNvPr id="32" name="Text Placeholder 27">
            <a:extLst>
              <a:ext uri="{FF2B5EF4-FFF2-40B4-BE49-F238E27FC236}">
                <a16:creationId xmlns:a16="http://schemas.microsoft.com/office/drawing/2014/main" id="{89FCD616-482F-BB5B-7721-8B8B14F4C12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797050" y="3147623"/>
            <a:ext cx="302387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College of Professional Studies</a:t>
            </a:r>
          </a:p>
        </p:txBody>
      </p:sp>
      <p:sp>
        <p:nvSpPr>
          <p:cNvPr id="33" name="Text Placeholder 27">
            <a:extLst>
              <a:ext uri="{FF2B5EF4-FFF2-40B4-BE49-F238E27FC236}">
                <a16:creationId xmlns:a16="http://schemas.microsoft.com/office/drawing/2014/main" id="{F73D9AE2-C9F1-ADB0-23F7-6930B916503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797050" y="3682099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College of Science</a:t>
            </a:r>
          </a:p>
        </p:txBody>
      </p:sp>
      <p:sp>
        <p:nvSpPr>
          <p:cNvPr id="34" name="Text Placeholder 27">
            <a:extLst>
              <a:ext uri="{FF2B5EF4-FFF2-40B4-BE49-F238E27FC236}">
                <a16:creationId xmlns:a16="http://schemas.microsoft.com/office/drawing/2014/main" id="{0721E596-E7DE-856A-5926-6F68B1BCC64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797050" y="4216575"/>
            <a:ext cx="395467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College of Social Sciences and Humanities</a:t>
            </a:r>
          </a:p>
        </p:txBody>
      </p:sp>
      <p:sp>
        <p:nvSpPr>
          <p:cNvPr id="35" name="Text Placeholder 27">
            <a:extLst>
              <a:ext uri="{FF2B5EF4-FFF2-40B4-BE49-F238E27FC236}">
                <a16:creationId xmlns:a16="http://schemas.microsoft.com/office/drawing/2014/main" id="{C394E1A2-6C40-CB70-28C9-3082A9D1367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797050" y="4751051"/>
            <a:ext cx="341503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Mills College</a:t>
            </a:r>
          </a:p>
        </p:txBody>
      </p:sp>
      <p:sp>
        <p:nvSpPr>
          <p:cNvPr id="36" name="Text Placeholder 27">
            <a:extLst>
              <a:ext uri="{FF2B5EF4-FFF2-40B4-BE49-F238E27FC236}">
                <a16:creationId xmlns:a16="http://schemas.microsoft.com/office/drawing/2014/main" id="{036EFE3B-DC86-8C5A-8B60-D27F1640499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797050" y="5285527"/>
            <a:ext cx="362331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err="1"/>
              <a:t>D’Amore</a:t>
            </a:r>
            <a:r>
              <a:rPr lang="en-US"/>
              <a:t>-McKim School of Business</a:t>
            </a:r>
          </a:p>
          <a:p>
            <a:pPr lvl="0"/>
            <a:endParaRPr lang="en-US"/>
          </a:p>
        </p:txBody>
      </p:sp>
      <p:sp>
        <p:nvSpPr>
          <p:cNvPr id="37" name="Title 1">
            <a:extLst>
              <a:ext uri="{FF2B5EF4-FFF2-40B4-BE49-F238E27FC236}">
                <a16:creationId xmlns:a16="http://schemas.microsoft.com/office/drawing/2014/main" id="{434CCA1C-B3AE-9793-77BC-77D80901918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4245" y="182880"/>
            <a:ext cx="11822596" cy="498122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3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Colors, Key and Icons</a:t>
            </a:r>
          </a:p>
        </p:txBody>
      </p:sp>
      <p:pic>
        <p:nvPicPr>
          <p:cNvPr id="1057" name="Picture 33">
            <a:extLst>
              <a:ext uri="{FF2B5EF4-FFF2-40B4-BE49-F238E27FC236}">
                <a16:creationId xmlns:a16="http://schemas.microsoft.com/office/drawing/2014/main" id="{781055BC-FDE2-8BBB-1E46-08F1756DD7A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66177" y="1454481"/>
            <a:ext cx="762000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1" name="AutoShape 34">
            <a:extLst>
              <a:ext uri="{FF2B5EF4-FFF2-40B4-BE49-F238E27FC236}">
                <a16:creationId xmlns:a16="http://schemas.microsoft.com/office/drawing/2014/main" id="{F2025C07-CD51-CD0C-4AF4-0DE437866965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16046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2" name="AutoShape 35">
            <a:extLst>
              <a:ext uri="{FF2B5EF4-FFF2-40B4-BE49-F238E27FC236}">
                <a16:creationId xmlns:a16="http://schemas.microsoft.com/office/drawing/2014/main" id="{68FCAC10-887A-F302-5A48-937E9B8AD25D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6208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3" name="AutoShape 36">
            <a:extLst>
              <a:ext uri="{FF2B5EF4-FFF2-40B4-BE49-F238E27FC236}">
                <a16:creationId xmlns:a16="http://schemas.microsoft.com/office/drawing/2014/main" id="{2E423CA6-668B-ED41-0826-20E23C321C3C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20812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61" name="Picture 37">
            <a:extLst>
              <a:ext uri="{FF2B5EF4-FFF2-40B4-BE49-F238E27FC236}">
                <a16:creationId xmlns:a16="http://schemas.microsoft.com/office/drawing/2014/main" id="{2A78F1E1-42AE-F3D9-6F6C-D892FC68C2D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42377" y="2523502"/>
            <a:ext cx="609600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4" name="AutoShape 38">
            <a:extLst>
              <a:ext uri="{FF2B5EF4-FFF2-40B4-BE49-F238E27FC236}">
                <a16:creationId xmlns:a16="http://schemas.microsoft.com/office/drawing/2014/main" id="{A8FC92ED-9B59-BFCC-6125-544D6EFAE7D7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33480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63" name="Picture 39">
            <a:extLst>
              <a:ext uri="{FF2B5EF4-FFF2-40B4-BE49-F238E27FC236}">
                <a16:creationId xmlns:a16="http://schemas.microsoft.com/office/drawing/2014/main" id="{D8EC587C-B10E-B81F-59EC-E40C1F9AD9A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23327" y="3696718"/>
            <a:ext cx="628650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4" name="Picture 40">
            <a:extLst>
              <a:ext uri="{FF2B5EF4-FFF2-40B4-BE49-F238E27FC236}">
                <a16:creationId xmlns:a16="http://schemas.microsoft.com/office/drawing/2014/main" id="{E38C9A6E-DF1B-14D0-C704-2DD6B3F7DB0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94902" y="1488741"/>
            <a:ext cx="742950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5" name="Picture 41">
            <a:extLst>
              <a:ext uri="{FF2B5EF4-FFF2-40B4-BE49-F238E27FC236}">
                <a16:creationId xmlns:a16="http://schemas.microsoft.com/office/drawing/2014/main" id="{25AB3C69-7F60-7647-BD45-8A4B8998D37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7764" y="2530756"/>
            <a:ext cx="6191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6" name="Picture 42">
            <a:extLst>
              <a:ext uri="{FF2B5EF4-FFF2-40B4-BE49-F238E27FC236}">
                <a16:creationId xmlns:a16="http://schemas.microsoft.com/office/drawing/2014/main" id="{8B362C67-ABA7-1EE8-B685-A81B257C478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3802" y="4769182"/>
            <a:ext cx="71437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5" name="AutoShape 43">
            <a:extLst>
              <a:ext uri="{FF2B5EF4-FFF2-40B4-BE49-F238E27FC236}">
                <a16:creationId xmlns:a16="http://schemas.microsoft.com/office/drawing/2014/main" id="{92EF72A4-9658-6124-D46F-A125AFB36D93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73739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68" name="Picture 44">
            <a:extLst>
              <a:ext uri="{FF2B5EF4-FFF2-40B4-BE49-F238E27FC236}">
                <a16:creationId xmlns:a16="http://schemas.microsoft.com/office/drawing/2014/main" id="{6D101FA9-081E-CFB1-603E-835FFE03DA9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97387" y="4737584"/>
            <a:ext cx="7715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6" name="AutoShape 45">
            <a:extLst>
              <a:ext uri="{FF2B5EF4-FFF2-40B4-BE49-F238E27FC236}">
                <a16:creationId xmlns:a16="http://schemas.microsoft.com/office/drawing/2014/main" id="{9073D79C-79AD-A133-ED4E-A1803B76566D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8810625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70" name="Picture 46">
            <a:extLst>
              <a:ext uri="{FF2B5EF4-FFF2-40B4-BE49-F238E27FC236}">
                <a16:creationId xmlns:a16="http://schemas.microsoft.com/office/drawing/2014/main" id="{3D79AC8F-02F8-84C2-3D33-E7464D4FA60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42677" y="1600716"/>
            <a:ext cx="733425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7" name="AutoShape 47">
            <a:extLst>
              <a:ext uri="{FF2B5EF4-FFF2-40B4-BE49-F238E27FC236}">
                <a16:creationId xmlns:a16="http://schemas.microsoft.com/office/drawing/2014/main" id="{8E03D1EB-4887-DDD7-0B59-7D04FBBC8EDF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02473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8" name="AutoShape 48">
            <a:extLst>
              <a:ext uri="{FF2B5EF4-FFF2-40B4-BE49-F238E27FC236}">
                <a16:creationId xmlns:a16="http://schemas.microsoft.com/office/drawing/2014/main" id="{8D47C7B4-7C64-32B0-B7D6-40B75100F5E4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070768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9" name="AutoShape 49">
            <a:extLst>
              <a:ext uri="{FF2B5EF4-FFF2-40B4-BE49-F238E27FC236}">
                <a16:creationId xmlns:a16="http://schemas.microsoft.com/office/drawing/2014/main" id="{E0D67EBA-1C5F-CE0A-C402-69FCA9028DD0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116806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0" name="AutoShape 50">
            <a:extLst>
              <a:ext uri="{FF2B5EF4-FFF2-40B4-BE49-F238E27FC236}">
                <a16:creationId xmlns:a16="http://schemas.microsoft.com/office/drawing/2014/main" id="{E84FC73E-BB32-B34B-BED8-33FDE098CD00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16284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1" name="AutoShape 51">
            <a:extLst>
              <a:ext uri="{FF2B5EF4-FFF2-40B4-BE49-F238E27FC236}">
                <a16:creationId xmlns:a16="http://schemas.microsoft.com/office/drawing/2014/main" id="{28337FC9-F4DB-E0D4-5C71-A1DADE4DC10A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20888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76" name="Picture 52">
            <a:extLst>
              <a:ext uri="{FF2B5EF4-FFF2-40B4-BE49-F238E27FC236}">
                <a16:creationId xmlns:a16="http://schemas.microsoft.com/office/drawing/2014/main" id="{6F3EE9BF-0269-25A7-DEBE-6E53ED34852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75852" y="3603151"/>
            <a:ext cx="781050" cy="733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2" name="AutoShape 53">
            <a:extLst>
              <a:ext uri="{FF2B5EF4-FFF2-40B4-BE49-F238E27FC236}">
                <a16:creationId xmlns:a16="http://schemas.microsoft.com/office/drawing/2014/main" id="{B44929FB-DA62-0DCC-9024-021DD9B8531B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34858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78" name="Picture 54">
            <a:extLst>
              <a:ext uri="{FF2B5EF4-FFF2-40B4-BE49-F238E27FC236}">
                <a16:creationId xmlns:a16="http://schemas.microsoft.com/office/drawing/2014/main" id="{1CA5F0C8-F245-B867-E569-E6F8423F35F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42677" y="2537931"/>
            <a:ext cx="7334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79" name="Picture 55">
            <a:extLst>
              <a:ext uri="{FF2B5EF4-FFF2-40B4-BE49-F238E27FC236}">
                <a16:creationId xmlns:a16="http://schemas.microsoft.com/office/drawing/2014/main" id="{9AEFC9D2-20A8-E13A-F2EE-F23D6EA093D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1526" y="3648236"/>
            <a:ext cx="819150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3" name="AutoShape 56">
            <a:extLst>
              <a:ext uri="{FF2B5EF4-FFF2-40B4-BE49-F238E27FC236}">
                <a16:creationId xmlns:a16="http://schemas.microsoft.com/office/drawing/2014/main" id="{75602302-E87B-8298-73E0-D6E2A0CEB94D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58988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81" name="Picture 57">
            <a:extLst>
              <a:ext uri="{FF2B5EF4-FFF2-40B4-BE49-F238E27FC236}">
                <a16:creationId xmlns:a16="http://schemas.microsoft.com/office/drawing/2014/main" id="{7F4B9074-F9D3-3E70-6B54-33CB95EF4CD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42677" y="4775195"/>
            <a:ext cx="8096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2" name="Picture 58">
            <a:extLst>
              <a:ext uri="{FF2B5EF4-FFF2-40B4-BE49-F238E27FC236}">
                <a16:creationId xmlns:a16="http://schemas.microsoft.com/office/drawing/2014/main" id="{32524291-4A8A-5746-AAFB-23459BCD904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79486" y="4628194"/>
            <a:ext cx="1103991" cy="11021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3" name="Picture 59">
            <a:extLst>
              <a:ext uri="{FF2B5EF4-FFF2-40B4-BE49-F238E27FC236}">
                <a16:creationId xmlns:a16="http://schemas.microsoft.com/office/drawing/2014/main" id="{31BEE8A5-0F98-3C5A-881F-29E74CBFE51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83306" y="3575848"/>
            <a:ext cx="1102164" cy="11021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5" name="Picture 61">
            <a:extLst>
              <a:ext uri="{FF2B5EF4-FFF2-40B4-BE49-F238E27FC236}">
                <a16:creationId xmlns:a16="http://schemas.microsoft.com/office/drawing/2014/main" id="{AD7E84AD-6063-3D46-8352-481AAF132EF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00599" y="2530756"/>
            <a:ext cx="2288214" cy="847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6" name="Picture 62">
            <a:extLst>
              <a:ext uri="{FF2B5EF4-FFF2-40B4-BE49-F238E27FC236}">
                <a16:creationId xmlns:a16="http://schemas.microsoft.com/office/drawing/2014/main" id="{B076602F-983D-C726-514B-27500C2E5CC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79486" y="1454481"/>
            <a:ext cx="2288214" cy="847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8B66CA9F-1FB9-6137-7B04-6088D0498FCD}"/>
              </a:ext>
            </a:extLst>
          </p:cNvPr>
          <p:cNvGrpSpPr/>
          <p:nvPr userDrawn="1"/>
        </p:nvGrpSpPr>
        <p:grpSpPr>
          <a:xfrm>
            <a:off x="1034903" y="1010093"/>
            <a:ext cx="627320" cy="5234766"/>
            <a:chOff x="1034903" y="1010093"/>
            <a:chExt cx="627320" cy="5234766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07A9851A-4FE5-EDBF-3CA2-29A696F72D4D}"/>
                </a:ext>
              </a:extLst>
            </p:cNvPr>
            <p:cNvSpPr/>
            <p:nvPr userDrawn="1"/>
          </p:nvSpPr>
          <p:spPr>
            <a:xfrm>
              <a:off x="1034903" y="1010093"/>
              <a:ext cx="616688" cy="340242"/>
            </a:xfrm>
            <a:prstGeom prst="rect">
              <a:avLst/>
            </a:prstGeom>
            <a:solidFill>
              <a:srgbClr val="463C57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BA9E439E-84BC-E69A-1FD0-5E30085FDF54}"/>
                </a:ext>
              </a:extLst>
            </p:cNvPr>
            <p:cNvSpPr/>
            <p:nvPr userDrawn="1"/>
          </p:nvSpPr>
          <p:spPr>
            <a:xfrm>
              <a:off x="1034903" y="1545266"/>
              <a:ext cx="616688" cy="340242"/>
            </a:xfrm>
            <a:prstGeom prst="rect">
              <a:avLst/>
            </a:prstGeom>
            <a:solidFill>
              <a:srgbClr val="545D6B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5EA66C9F-FBCA-9C90-9C5E-A2308C03BA8A}"/>
                </a:ext>
              </a:extLst>
            </p:cNvPr>
            <p:cNvSpPr/>
            <p:nvPr userDrawn="1"/>
          </p:nvSpPr>
          <p:spPr>
            <a:xfrm>
              <a:off x="1034903" y="2078671"/>
              <a:ext cx="616688" cy="340242"/>
            </a:xfrm>
            <a:prstGeom prst="rect">
              <a:avLst/>
            </a:prstGeom>
            <a:solidFill>
              <a:srgbClr val="4D715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0F98EB00-EEC6-D7F0-7D52-F91900E8534F}"/>
                </a:ext>
              </a:extLst>
            </p:cNvPr>
            <p:cNvSpPr/>
            <p:nvPr userDrawn="1"/>
          </p:nvSpPr>
          <p:spPr>
            <a:xfrm>
              <a:off x="1045535" y="2626245"/>
              <a:ext cx="616688" cy="340242"/>
            </a:xfrm>
            <a:prstGeom prst="rect">
              <a:avLst/>
            </a:prstGeom>
            <a:solidFill>
              <a:srgbClr val="748B5D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31885113-CD2D-D591-57AE-24E371259BB8}"/>
                </a:ext>
              </a:extLst>
            </p:cNvPr>
            <p:cNvSpPr/>
            <p:nvPr userDrawn="1"/>
          </p:nvSpPr>
          <p:spPr>
            <a:xfrm>
              <a:off x="1034903" y="3173819"/>
              <a:ext cx="616688" cy="340242"/>
            </a:xfrm>
            <a:prstGeom prst="rect">
              <a:avLst/>
            </a:prstGeom>
            <a:solidFill>
              <a:srgbClr val="95A26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25CF125E-F82D-A2E5-1A61-9D6F304619DA}"/>
                </a:ext>
              </a:extLst>
            </p:cNvPr>
            <p:cNvSpPr/>
            <p:nvPr userDrawn="1"/>
          </p:nvSpPr>
          <p:spPr>
            <a:xfrm>
              <a:off x="1045535" y="3721393"/>
              <a:ext cx="616688" cy="340242"/>
            </a:xfrm>
            <a:prstGeom prst="rect">
              <a:avLst/>
            </a:prstGeom>
            <a:solidFill>
              <a:srgbClr val="B6AE7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7943F6B5-028F-950E-5F0E-D961CE9F448D}"/>
                </a:ext>
              </a:extLst>
            </p:cNvPr>
            <p:cNvSpPr/>
            <p:nvPr userDrawn="1"/>
          </p:nvSpPr>
          <p:spPr>
            <a:xfrm>
              <a:off x="1045535" y="4267199"/>
              <a:ext cx="616688" cy="340242"/>
            </a:xfrm>
            <a:prstGeom prst="rect">
              <a:avLst/>
            </a:prstGeom>
            <a:solidFill>
              <a:srgbClr val="B68663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7BFD751D-1C09-5DD3-7F5F-DCF32522CF5B}"/>
                </a:ext>
              </a:extLst>
            </p:cNvPr>
            <p:cNvSpPr/>
            <p:nvPr userDrawn="1"/>
          </p:nvSpPr>
          <p:spPr>
            <a:xfrm>
              <a:off x="1034903" y="4813005"/>
              <a:ext cx="616688" cy="340242"/>
            </a:xfrm>
            <a:prstGeom prst="rect">
              <a:avLst/>
            </a:prstGeom>
            <a:solidFill>
              <a:srgbClr val="B63B4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0935DBA7-8CDC-B3A8-3AC9-E8F254177575}"/>
                </a:ext>
              </a:extLst>
            </p:cNvPr>
            <p:cNvSpPr/>
            <p:nvPr userDrawn="1"/>
          </p:nvSpPr>
          <p:spPr>
            <a:xfrm>
              <a:off x="1045535" y="5358811"/>
              <a:ext cx="616688" cy="340242"/>
            </a:xfrm>
            <a:prstGeom prst="rect">
              <a:avLst/>
            </a:prstGeom>
            <a:solidFill>
              <a:srgbClr val="98062D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AC0BA7A3-0F44-E98C-CEE5-98F1F0B839AF}"/>
                </a:ext>
              </a:extLst>
            </p:cNvPr>
            <p:cNvSpPr/>
            <p:nvPr userDrawn="1"/>
          </p:nvSpPr>
          <p:spPr>
            <a:xfrm>
              <a:off x="1034903" y="5904617"/>
              <a:ext cx="616688" cy="340242"/>
            </a:xfrm>
            <a:prstGeom prst="rect">
              <a:avLst/>
            </a:prstGeom>
            <a:solidFill>
              <a:srgbClr val="80002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" name="Text Placeholder 27">
            <a:extLst>
              <a:ext uri="{FF2B5EF4-FFF2-40B4-BE49-F238E27FC236}">
                <a16:creationId xmlns:a16="http://schemas.microsoft.com/office/drawing/2014/main" id="{A96719F2-AD8E-37FC-6963-70F3D0966A1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797050" y="5903546"/>
            <a:ext cx="367919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Northeastern University School of Law</a:t>
            </a:r>
          </a:p>
        </p:txBody>
      </p:sp>
    </p:spTree>
    <p:extLst>
      <p:ext uri="{BB962C8B-B14F-4D97-AF65-F5344CB8AC3E}">
        <p14:creationId xmlns:p14="http://schemas.microsoft.com/office/powerpoint/2010/main" val="915310346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Blank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094083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sultant RFP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5585721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roblem Brie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246E8A6-CD76-E095-EFC3-AA3AC0A59B18}"/>
              </a:ext>
            </a:extLst>
          </p:cNvPr>
          <p:cNvSpPr txBox="1"/>
          <p:nvPr userDrawn="1"/>
        </p:nvSpPr>
        <p:spPr>
          <a:xfrm>
            <a:off x="762001" y="729305"/>
            <a:ext cx="618756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algn="l"/>
            <a:r>
              <a:rPr lang="en-US" sz="3600" b="1">
                <a:latin typeface="Lato" panose="020F0502020204030203" pitchFamily="34" charset="0"/>
              </a:rPr>
              <a:t>Problem Brief</a:t>
            </a:r>
            <a:endParaRPr lang="en-US" sz="240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5FF58FE8-575D-ABD5-42C1-249CCC628C8C}"/>
              </a:ext>
            </a:extLst>
          </p:cNvPr>
          <p:cNvCxnSpPr>
            <a:cxnSpLocks/>
          </p:cNvCxnSpPr>
          <p:nvPr userDrawn="1"/>
        </p:nvCxnSpPr>
        <p:spPr>
          <a:xfrm>
            <a:off x="565687" y="1375636"/>
            <a:ext cx="10895310" cy="0"/>
          </a:xfrm>
          <a:prstGeom prst="line">
            <a:avLst/>
          </a:prstGeom>
          <a:ln w="28575">
            <a:solidFill>
              <a:srgbClr val="C810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69D92913-9E25-3B14-E852-FDFF0DB74918}"/>
              </a:ext>
            </a:extLst>
          </p:cNvPr>
          <p:cNvSpPr txBox="1"/>
          <p:nvPr userDrawn="1"/>
        </p:nvSpPr>
        <p:spPr>
          <a:xfrm>
            <a:off x="291649" y="1661721"/>
            <a:ext cx="4910774" cy="21001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lvl="1" indent="-457200">
              <a:lnSpc>
                <a:spcPct val="150000"/>
              </a:lnSpc>
              <a:spcBef>
                <a:spcPts val="600"/>
              </a:spcBef>
              <a:buSzPct val="80000"/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n-US" sz="2800">
                <a:latin typeface="Lato" panose="020F0502020204030203" pitchFamily="34" charset="0"/>
              </a:rPr>
              <a:t>Design Intentions</a:t>
            </a:r>
          </a:p>
          <a:p>
            <a:pPr marL="914400" lvl="1" indent="-457200">
              <a:lnSpc>
                <a:spcPct val="150000"/>
              </a:lnSpc>
              <a:spcBef>
                <a:spcPts val="600"/>
              </a:spcBef>
              <a:buSzPct val="80000"/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n-US" sz="2800">
                <a:latin typeface="Lato" panose="020F0502020204030203" pitchFamily="34" charset="0"/>
              </a:rPr>
              <a:t>Location</a:t>
            </a:r>
          </a:p>
          <a:p>
            <a:pPr marL="914400" lvl="1" indent="-457200">
              <a:lnSpc>
                <a:spcPct val="150000"/>
              </a:lnSpc>
              <a:spcBef>
                <a:spcPts val="600"/>
              </a:spcBef>
              <a:buSzPct val="80000"/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n-US" sz="2800">
                <a:latin typeface="Lato" panose="020F0502020204030203" pitchFamily="34" charset="0"/>
              </a:rPr>
              <a:t>Budget?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F3915432-D882-C9D8-0F83-D08126A82C00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384800" y="1662113"/>
            <a:ext cx="5965825" cy="444658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38439536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Request for Propo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5FF58FE8-575D-ABD5-42C1-249CCC628C8C}"/>
              </a:ext>
            </a:extLst>
          </p:cNvPr>
          <p:cNvCxnSpPr>
            <a:cxnSpLocks/>
          </p:cNvCxnSpPr>
          <p:nvPr userDrawn="1"/>
        </p:nvCxnSpPr>
        <p:spPr>
          <a:xfrm>
            <a:off x="565687" y="1375636"/>
            <a:ext cx="10895310" cy="0"/>
          </a:xfrm>
          <a:prstGeom prst="line">
            <a:avLst/>
          </a:prstGeom>
          <a:ln w="28575">
            <a:solidFill>
              <a:srgbClr val="C810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ontent Placeholder 1">
            <a:extLst>
              <a:ext uri="{FF2B5EF4-FFF2-40B4-BE49-F238E27FC236}">
                <a16:creationId xmlns:a16="http://schemas.microsoft.com/office/drawing/2014/main" id="{C2652CEC-9DDD-181F-A2C2-36575FCC1A39}"/>
              </a:ext>
            </a:extLst>
          </p:cNvPr>
          <p:cNvSpPr txBox="1">
            <a:spLocks/>
          </p:cNvSpPr>
          <p:nvPr userDrawn="1"/>
        </p:nvSpPr>
        <p:spPr>
          <a:xfrm>
            <a:off x="6096000" y="1692001"/>
            <a:ext cx="52578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Real Text Pro" charset="0"/>
                <a:ea typeface="Real Text Pro" charset="0"/>
                <a:cs typeface="Real Text Pro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Real Text Pro" charset="0"/>
                <a:ea typeface="Real Text Pro" charset="0"/>
                <a:cs typeface="Real Text Pro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Real Text Pro" charset="0"/>
                <a:ea typeface="Real Text Pro" charset="0"/>
                <a:cs typeface="Real Text Pro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Real Text Pro" charset="0"/>
                <a:ea typeface="Real Text Pro" charset="0"/>
                <a:cs typeface="Real Text Pro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Real Text Pro" charset="0"/>
                <a:ea typeface="Real Text Pro" charset="0"/>
                <a:cs typeface="Real Text Pro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Project Scope</a:t>
            </a:r>
          </a:p>
          <a:p>
            <a:pPr lvl="1"/>
            <a:r>
              <a:rPr lang="en-US" sz="24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Analyze existing conditions</a:t>
            </a:r>
          </a:p>
          <a:p>
            <a:pPr lvl="1"/>
            <a:r>
              <a:rPr lang="en-US" sz="24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Establish design principles</a:t>
            </a:r>
          </a:p>
          <a:p>
            <a:pPr lvl="1"/>
            <a:r>
              <a:rPr lang="en-US" sz="24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Create standards and propose</a:t>
            </a:r>
          </a:p>
          <a:p>
            <a:endParaRPr lang="en-US" sz="240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lvl="1"/>
            <a:endParaRPr lang="en-US">
              <a:latin typeface="+mj-lt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9E2E762-B088-68CF-FE27-368D9FB7C524}"/>
              </a:ext>
            </a:extLst>
          </p:cNvPr>
          <p:cNvSpPr txBox="1"/>
          <p:nvPr userDrawn="1"/>
        </p:nvSpPr>
        <p:spPr>
          <a:xfrm>
            <a:off x="762001" y="729305"/>
            <a:ext cx="618756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algn="l"/>
            <a:r>
              <a:rPr lang="en-US" sz="3600" b="1">
                <a:latin typeface="Lato" panose="020F0502020204030203" pitchFamily="34" charset="0"/>
              </a:rPr>
              <a:t>Request for Proposal</a:t>
            </a:r>
            <a:endParaRPr lang="en-US" sz="240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D0D42B8-DB6D-0F74-0A61-6F6A021405D5}"/>
              </a:ext>
            </a:extLst>
          </p:cNvPr>
          <p:cNvSpPr txBox="1"/>
          <p:nvPr userDrawn="1"/>
        </p:nvSpPr>
        <p:spPr>
          <a:xfrm>
            <a:off x="565687" y="1692000"/>
            <a:ext cx="5530313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Start Date: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Interview Process: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[date]</a:t>
            </a:r>
          </a:p>
          <a:p>
            <a:r>
              <a:rPr lang="en-US" sz="24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Target Process End Date: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[date]</a:t>
            </a:r>
          </a:p>
        </p:txBody>
      </p:sp>
    </p:spTree>
    <p:extLst>
      <p:ext uri="{BB962C8B-B14F-4D97-AF65-F5344CB8AC3E}">
        <p14:creationId xmlns:p14="http://schemas.microsoft.com/office/powerpoint/2010/main" val="1909874728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irm Op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5CA784-ABA3-F0B2-605C-6A2FBC102E2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71500" y="1549400"/>
            <a:ext cx="5270500" cy="4943105"/>
          </a:xfrm>
          <a:prstGeom prst="rect">
            <a:avLst/>
          </a:prstGeom>
        </p:spPr>
        <p:txBody>
          <a:bodyPr/>
          <a:lstStyle>
            <a:lvl1pPr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55F9462-EA3B-9E29-95E4-B6F650F71712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6350000" y="1638302"/>
            <a:ext cx="5270500" cy="4854204"/>
          </a:xfrm>
          <a:prstGeom prst="rect">
            <a:avLst/>
          </a:prstGeom>
        </p:spPr>
        <p:txBody>
          <a:bodyPr/>
          <a:lstStyle>
            <a:lvl1pPr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8B34ADE-355D-FBD8-5DCB-01B54C812D90}"/>
              </a:ext>
            </a:extLst>
          </p:cNvPr>
          <p:cNvCxnSpPr>
            <a:cxnSpLocks/>
          </p:cNvCxnSpPr>
          <p:nvPr userDrawn="1"/>
        </p:nvCxnSpPr>
        <p:spPr>
          <a:xfrm>
            <a:off x="565687" y="1375636"/>
            <a:ext cx="10895310" cy="0"/>
          </a:xfrm>
          <a:prstGeom prst="line">
            <a:avLst/>
          </a:prstGeom>
          <a:ln w="28575">
            <a:solidFill>
              <a:srgbClr val="C810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7858C21A-5F82-36F6-CD86-98745B1CB0A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65687" y="721586"/>
            <a:ext cx="10896600" cy="6540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600" baseline="0">
                <a:latin typeface="Lato Bold" panose="020F0502020204030203" pitchFamily="34" charset="0"/>
                <a:ea typeface="Lato Bold" panose="020F0502020204030203" pitchFamily="34" charset="0"/>
                <a:cs typeface="Lato Bold" panose="020F0502020204030203" pitchFamily="34" charset="0"/>
              </a:defRPr>
            </a:lvl1pPr>
          </a:lstStyle>
          <a:p>
            <a:pPr lvl="0"/>
            <a:r>
              <a:rPr lang="en-US"/>
              <a:t>Firm 1 </a:t>
            </a:r>
          </a:p>
        </p:txBody>
      </p:sp>
    </p:spTree>
    <p:extLst>
      <p:ext uri="{BB962C8B-B14F-4D97-AF65-F5344CB8AC3E}">
        <p14:creationId xmlns:p14="http://schemas.microsoft.com/office/powerpoint/2010/main" val="3620089216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irm Option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7B29EC2C-261A-FAAA-DA61-789239773919}"/>
              </a:ext>
            </a:extLst>
          </p:cNvPr>
          <p:cNvSpPr/>
          <p:nvPr userDrawn="1"/>
        </p:nvSpPr>
        <p:spPr>
          <a:xfrm>
            <a:off x="5390707" y="1499194"/>
            <a:ext cx="6564019" cy="4709012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7B75033-87D1-F60F-9920-8827F9B35070}"/>
              </a:ext>
            </a:extLst>
          </p:cNvPr>
          <p:cNvSpPr txBox="1"/>
          <p:nvPr userDrawn="1"/>
        </p:nvSpPr>
        <p:spPr>
          <a:xfrm>
            <a:off x="565687" y="695255"/>
            <a:ext cx="1113267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algn="l"/>
            <a:r>
              <a:rPr kumimoji="0" lang="en-US" sz="36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Lato" panose="020F0502020204030203" pitchFamily="34" charset="0"/>
                <a:ea typeface="+mn-ea"/>
                <a:cs typeface="+mn-cs"/>
              </a:rPr>
              <a:t>Firm 1 </a:t>
            </a: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Lato" panose="020F0502020204030203" pitchFamily="34" charset="0"/>
                <a:ea typeface="+mn-ea"/>
                <a:cs typeface="+mn-cs"/>
              </a:rPr>
              <a:t>∙ Location</a:t>
            </a:r>
            <a:endParaRPr lang="en-US" sz="24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F0ACFF2-88FE-9892-A454-31D00F91362F}"/>
              </a:ext>
            </a:extLst>
          </p:cNvPr>
          <p:cNvSpPr txBox="1"/>
          <p:nvPr userDrawn="1"/>
        </p:nvSpPr>
        <p:spPr>
          <a:xfrm>
            <a:off x="163444" y="1806275"/>
            <a:ext cx="4136708" cy="4531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lvl="1" indent="-457200">
              <a:lnSpc>
                <a:spcPct val="150000"/>
              </a:lnSpc>
              <a:spcBef>
                <a:spcPts val="600"/>
              </a:spcBef>
              <a:buSzPct val="80000"/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n-US" b="1">
                <a:latin typeface="Lato" panose="020F0502020204030203" pitchFamily="34" charset="0"/>
              </a:rPr>
              <a:t>Mission Statement:</a:t>
            </a:r>
            <a:endParaRPr lang="en-US">
              <a:latin typeface="Lato" panose="020F0502020204030203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E495E11-41AF-EDB5-5BF7-C0B247CF3277}"/>
              </a:ext>
            </a:extLst>
          </p:cNvPr>
          <p:cNvSpPr txBox="1"/>
          <p:nvPr userDrawn="1"/>
        </p:nvSpPr>
        <p:spPr>
          <a:xfrm>
            <a:off x="89614" y="3573126"/>
            <a:ext cx="4284367" cy="8653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14400" lvl="1" indent="-457200">
              <a:lnSpc>
                <a:spcPct val="150000"/>
              </a:lnSpc>
              <a:spcBef>
                <a:spcPts val="600"/>
              </a:spcBef>
              <a:buSzPct val="80000"/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n-US" b="1">
                <a:latin typeface="Lato" panose="020F0502020204030203" pitchFamily="34" charset="0"/>
              </a:rPr>
              <a:t>Recent Projects:</a:t>
            </a:r>
          </a:p>
          <a:p>
            <a:pPr marL="1371600" lvl="2" indent="-457200">
              <a:lnSpc>
                <a:spcPct val="150000"/>
              </a:lnSpc>
              <a:spcBef>
                <a:spcPts val="600"/>
              </a:spcBef>
              <a:buSzPct val="80000"/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endParaRPr lang="en-US" sz="1400">
              <a:latin typeface="Lato" panose="020F050202020403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A6F1F03-2DA8-83CF-F044-EAE088E1BFC9}"/>
              </a:ext>
            </a:extLst>
          </p:cNvPr>
          <p:cNvSpPr txBox="1"/>
          <p:nvPr userDrawn="1"/>
        </p:nvSpPr>
        <p:spPr>
          <a:xfrm>
            <a:off x="533222" y="6512718"/>
            <a:ext cx="6096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>
                <a:latin typeface="Lato" panose="020F0502020204030203" pitchFamily="34" charset="0"/>
              </a:rPr>
              <a:t>Source: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23FE3D6-2CBD-2852-F972-EB2097B3C569}"/>
              </a:ext>
            </a:extLst>
          </p:cNvPr>
          <p:cNvSpPr txBox="1"/>
          <p:nvPr userDrawn="1"/>
        </p:nvSpPr>
        <p:spPr>
          <a:xfrm>
            <a:off x="10383462" y="5838874"/>
            <a:ext cx="1571264" cy="369332"/>
          </a:xfrm>
          <a:prstGeom prst="rect">
            <a:avLst/>
          </a:prstGeom>
          <a:solidFill>
            <a:schemeClr val="tx1">
              <a:lumMod val="85000"/>
              <a:lumOff val="15000"/>
              <a:alpha val="58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>
                <a:solidFill>
                  <a:schemeClr val="bg1"/>
                </a:solidFill>
                <a:latin typeface="Lato" panose="020F0502020204030203" pitchFamily="34" charset="0"/>
              </a:rPr>
              <a:t>Project Name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FDB750C-ADE1-6117-43DB-EDBCC054CEE0}"/>
              </a:ext>
            </a:extLst>
          </p:cNvPr>
          <p:cNvCxnSpPr>
            <a:cxnSpLocks/>
          </p:cNvCxnSpPr>
          <p:nvPr userDrawn="1"/>
        </p:nvCxnSpPr>
        <p:spPr>
          <a:xfrm>
            <a:off x="565687" y="1375636"/>
            <a:ext cx="10895310" cy="0"/>
          </a:xfrm>
          <a:prstGeom prst="line">
            <a:avLst/>
          </a:prstGeom>
          <a:ln w="28575">
            <a:solidFill>
              <a:srgbClr val="C810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40854089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valuation: Gra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B5B6EF8-C70B-3E64-B527-C96A17693A54}"/>
              </a:ext>
            </a:extLst>
          </p:cNvPr>
          <p:cNvSpPr txBox="1"/>
          <p:nvPr userDrawn="1"/>
        </p:nvSpPr>
        <p:spPr>
          <a:xfrm>
            <a:off x="565687" y="695255"/>
            <a:ext cx="1113267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algn="l"/>
            <a:r>
              <a:rPr kumimoji="0" lang="en-US" sz="36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Lato" panose="020F0502020204030203" pitchFamily="34" charset="0"/>
                <a:ea typeface="+mn-ea"/>
                <a:cs typeface="+mn-cs"/>
              </a:rPr>
              <a:t>Evaluation: Grading</a:t>
            </a:r>
            <a:endParaRPr lang="en-US" sz="240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7C07ECB-4888-B241-491C-37B7B8C0F2C6}"/>
              </a:ext>
            </a:extLst>
          </p:cNvPr>
          <p:cNvCxnSpPr>
            <a:cxnSpLocks/>
          </p:cNvCxnSpPr>
          <p:nvPr userDrawn="1"/>
        </p:nvCxnSpPr>
        <p:spPr>
          <a:xfrm>
            <a:off x="565687" y="1375636"/>
            <a:ext cx="10895310" cy="0"/>
          </a:xfrm>
          <a:prstGeom prst="line">
            <a:avLst/>
          </a:prstGeom>
          <a:ln w="28575">
            <a:solidFill>
              <a:srgbClr val="C810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Content Placeholder 4">
            <a:extLst>
              <a:ext uri="{FF2B5EF4-FFF2-40B4-BE49-F238E27FC236}">
                <a16:creationId xmlns:a16="http://schemas.microsoft.com/office/drawing/2014/main" id="{4DADBFF6-387B-CEE8-866A-09DCE67032BE}"/>
              </a:ext>
            </a:extLst>
          </p:cNvPr>
          <p:cNvGraphicFramePr>
            <a:graphicFrameLocks/>
          </p:cNvGraphicFramePr>
          <p:nvPr userDrawn="1">
            <p:extLst>
              <p:ext uri="{D42A27DB-BD31-4B8C-83A1-F6EECF244321}">
                <p14:modId xmlns:p14="http://schemas.microsoft.com/office/powerpoint/2010/main" val="3017605815"/>
              </p:ext>
            </p:extLst>
          </p:nvPr>
        </p:nvGraphicFramePr>
        <p:xfrm>
          <a:off x="1264576" y="1907828"/>
          <a:ext cx="9497532" cy="4022484"/>
        </p:xfrm>
        <a:graphic>
          <a:graphicData uri="http://schemas.openxmlformats.org/drawingml/2006/table">
            <a:tbl>
              <a:tblPr firstRow="1" firstCol="1" bandRow="1">
                <a:tableStyleId>{8A107856-5554-42FB-B03E-39F5DBC370BA}</a:tableStyleId>
              </a:tblPr>
              <a:tblGrid>
                <a:gridCol w="2653722">
                  <a:extLst>
                    <a:ext uri="{9D8B030D-6E8A-4147-A177-3AD203B41FA5}">
                      <a16:colId xmlns:a16="http://schemas.microsoft.com/office/drawing/2014/main" val="3351774647"/>
                    </a:ext>
                  </a:extLst>
                </a:gridCol>
                <a:gridCol w="6843810">
                  <a:extLst>
                    <a:ext uri="{9D8B030D-6E8A-4147-A177-3AD203B41FA5}">
                      <a16:colId xmlns:a16="http://schemas.microsoft.com/office/drawing/2014/main" val="656797734"/>
                    </a:ext>
                  </a:extLst>
                </a:gridCol>
              </a:tblGrid>
              <a:tr h="670414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900">
                          <a:effectLst/>
                        </a:rPr>
                        <a:t>Points / Value</a:t>
                      </a:r>
                      <a:endParaRPr lang="en-US" sz="2900"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167604" marR="167604" marT="0" marB="0" anchor="ctr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900">
                          <a:effectLst/>
                        </a:rPr>
                        <a:t>Description</a:t>
                      </a:r>
                      <a:endParaRPr lang="en-US" sz="2900"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167604" marR="167604" marT="0" marB="0" anchor="ctr"/>
                </a:tc>
                <a:extLst>
                  <a:ext uri="{0D108BD9-81ED-4DB2-BD59-A6C34878D82A}">
                    <a16:rowId xmlns:a16="http://schemas.microsoft.com/office/drawing/2014/main" val="728319741"/>
                  </a:ext>
                </a:extLst>
              </a:tr>
              <a:tr h="670414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900">
                          <a:effectLst/>
                        </a:rPr>
                        <a:t>5</a:t>
                      </a:r>
                      <a:endParaRPr lang="en-US" sz="2900"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167604" marR="167604" marT="0" marB="0" anchor="ctr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900">
                          <a:effectLst/>
                        </a:rPr>
                        <a:t>Fully meets or exceeds criteria</a:t>
                      </a:r>
                      <a:endParaRPr lang="en-US" sz="2900"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167604" marR="167604" marT="0" marB="0" anchor="ctr"/>
                </a:tc>
                <a:extLst>
                  <a:ext uri="{0D108BD9-81ED-4DB2-BD59-A6C34878D82A}">
                    <a16:rowId xmlns:a16="http://schemas.microsoft.com/office/drawing/2014/main" val="1894978531"/>
                  </a:ext>
                </a:extLst>
              </a:tr>
              <a:tr h="670414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900">
                          <a:effectLst/>
                        </a:rPr>
                        <a:t>4</a:t>
                      </a:r>
                      <a:endParaRPr lang="en-US" sz="2900"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167604" marR="167604" marT="0" marB="0" anchor="ctr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900">
                          <a:effectLst/>
                        </a:rPr>
                        <a:t>Meets criteria, with minor gaps</a:t>
                      </a:r>
                      <a:endParaRPr lang="en-US" sz="2900"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167604" marR="167604" marT="0" marB="0" anchor="ctr"/>
                </a:tc>
                <a:extLst>
                  <a:ext uri="{0D108BD9-81ED-4DB2-BD59-A6C34878D82A}">
                    <a16:rowId xmlns:a16="http://schemas.microsoft.com/office/drawing/2014/main" val="4242064956"/>
                  </a:ext>
                </a:extLst>
              </a:tr>
              <a:tr h="670414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900">
                          <a:effectLst/>
                        </a:rPr>
                        <a:t>3</a:t>
                      </a:r>
                      <a:endParaRPr lang="en-US" sz="2900"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167604" marR="167604" marT="0" marB="0" anchor="ctr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900">
                          <a:effectLst/>
                        </a:rPr>
                        <a:t>Meets criteria, with moderate gaps</a:t>
                      </a:r>
                      <a:endParaRPr lang="en-US" sz="2900"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167604" marR="167604" marT="0" marB="0" anchor="ctr"/>
                </a:tc>
                <a:extLst>
                  <a:ext uri="{0D108BD9-81ED-4DB2-BD59-A6C34878D82A}">
                    <a16:rowId xmlns:a16="http://schemas.microsoft.com/office/drawing/2014/main" val="1963585443"/>
                  </a:ext>
                </a:extLst>
              </a:tr>
              <a:tr h="670414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900">
                          <a:effectLst/>
                        </a:rPr>
                        <a:t>2</a:t>
                      </a:r>
                      <a:endParaRPr lang="en-US" sz="2900"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167604" marR="167604" marT="0" marB="0" anchor="ctr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900">
                          <a:effectLst/>
                        </a:rPr>
                        <a:t>Partially meets criteria</a:t>
                      </a:r>
                      <a:endParaRPr lang="en-US" sz="2900"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167604" marR="167604" marT="0" marB="0" anchor="ctr"/>
                </a:tc>
                <a:extLst>
                  <a:ext uri="{0D108BD9-81ED-4DB2-BD59-A6C34878D82A}">
                    <a16:rowId xmlns:a16="http://schemas.microsoft.com/office/drawing/2014/main" val="2993791594"/>
                  </a:ext>
                </a:extLst>
              </a:tr>
              <a:tr h="670414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900">
                          <a:effectLst/>
                        </a:rPr>
                        <a:t>1</a:t>
                      </a:r>
                      <a:endParaRPr lang="en-US" sz="2900"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167604" marR="167604" marT="0" marB="0" anchor="ctr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900">
                          <a:effectLst/>
                        </a:rPr>
                        <a:t>Does not meet criteria</a:t>
                      </a:r>
                      <a:endParaRPr lang="en-US" sz="2900"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167604" marR="167604" marT="0" marB="0" anchor="ctr"/>
                </a:tc>
                <a:extLst>
                  <a:ext uri="{0D108BD9-81ED-4DB2-BD59-A6C34878D82A}">
                    <a16:rowId xmlns:a16="http://schemas.microsoft.com/office/drawing/2014/main" val="26468243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90097955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valu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B5B6EF8-C70B-3E64-B527-C96A17693A54}"/>
              </a:ext>
            </a:extLst>
          </p:cNvPr>
          <p:cNvSpPr txBox="1"/>
          <p:nvPr userDrawn="1"/>
        </p:nvSpPr>
        <p:spPr>
          <a:xfrm>
            <a:off x="565687" y="695255"/>
            <a:ext cx="87180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algn="l"/>
            <a:r>
              <a:rPr kumimoji="0" lang="en-US" sz="36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Lato" panose="020F0502020204030203" pitchFamily="34" charset="0"/>
                <a:ea typeface="+mn-ea"/>
                <a:cs typeface="+mn-cs"/>
              </a:rPr>
              <a:t>Evaluation</a:t>
            </a:r>
            <a:endParaRPr lang="en-US" sz="240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7C07ECB-4888-B241-491C-37B7B8C0F2C6}"/>
              </a:ext>
            </a:extLst>
          </p:cNvPr>
          <p:cNvCxnSpPr>
            <a:cxnSpLocks/>
          </p:cNvCxnSpPr>
          <p:nvPr userDrawn="1"/>
        </p:nvCxnSpPr>
        <p:spPr>
          <a:xfrm>
            <a:off x="565687" y="1375636"/>
            <a:ext cx="10895310" cy="0"/>
          </a:xfrm>
          <a:prstGeom prst="line">
            <a:avLst/>
          </a:prstGeom>
          <a:ln w="28575">
            <a:solidFill>
              <a:srgbClr val="C810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" name="Table 4">
            <a:extLst>
              <a:ext uri="{FF2B5EF4-FFF2-40B4-BE49-F238E27FC236}">
                <a16:creationId xmlns:a16="http://schemas.microsoft.com/office/drawing/2014/main" id="{EB1BEF15-15DC-386C-FC4B-C3F079907751}"/>
              </a:ext>
            </a:extLst>
          </p:cNvPr>
          <p:cNvGraphicFramePr>
            <a:graphicFrameLocks/>
          </p:cNvGraphicFramePr>
          <p:nvPr userDrawn="1">
            <p:extLst>
              <p:ext uri="{D42A27DB-BD31-4B8C-83A1-F6EECF244321}">
                <p14:modId xmlns:p14="http://schemas.microsoft.com/office/powerpoint/2010/main" val="2839107216"/>
              </p:ext>
            </p:extLst>
          </p:nvPr>
        </p:nvGraphicFramePr>
        <p:xfrm>
          <a:off x="838200" y="1570869"/>
          <a:ext cx="10515600" cy="4333240"/>
        </p:xfrm>
        <a:graphic>
          <a:graphicData uri="http://schemas.openxmlformats.org/drawingml/2006/table">
            <a:tbl>
              <a:tblPr firstRow="1" bandRow="1">
                <a:tableStyleId>{8A107856-5554-42FB-B03E-39F5DBC370BA}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3581416193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289355443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755640587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30837143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372866402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Criteria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Firm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Firm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Firm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Firm 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87477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1600" b="1"/>
                        <a:t>Base Bid</a:t>
                      </a:r>
                    </a:p>
                  </a:txBody>
                  <a:tcPr marT="91440" marB="9144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/>
                        <a:t>$</a:t>
                      </a:r>
                    </a:p>
                  </a:txBody>
                  <a:tcPr marT="91440" marB="9144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/>
                        <a:t>$</a:t>
                      </a:r>
                    </a:p>
                  </a:txBody>
                  <a:tcPr marT="91440" marB="9144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/>
                        <a:t>$</a:t>
                      </a:r>
                    </a:p>
                  </a:txBody>
                  <a:tcPr marT="91440" marB="9144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/>
                        <a:t>$</a:t>
                      </a:r>
                    </a:p>
                  </a:txBody>
                  <a:tcPr marT="91440" marB="91440"/>
                </a:tc>
                <a:extLst>
                  <a:ext uri="{0D108BD9-81ED-4DB2-BD59-A6C34878D82A}">
                    <a16:rowId xmlns:a16="http://schemas.microsoft.com/office/drawing/2014/main" val="38022857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1600" b="1"/>
                        <a:t>Relevant Planning/Design Experience</a:t>
                      </a:r>
                    </a:p>
                  </a:txBody>
                  <a:tcPr marT="91440" marB="9144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chemeClr val="tx1"/>
                          </a:solidFill>
                        </a:rPr>
                        <a:t>#/5</a:t>
                      </a:r>
                    </a:p>
                    <a:p>
                      <a:pPr algn="ctr"/>
                      <a:endParaRPr lang="en-US">
                        <a:solidFill>
                          <a:srgbClr val="FF0000"/>
                        </a:solidFill>
                      </a:endParaRPr>
                    </a:p>
                    <a:p>
                      <a:pPr algn="ctr"/>
                      <a:r>
                        <a:rPr lang="en-US" sz="1600">
                          <a:solidFill>
                            <a:schemeClr val="tx1"/>
                          </a:solidFill>
                        </a:rPr>
                        <a:t>Description</a:t>
                      </a:r>
                    </a:p>
                  </a:txBody>
                  <a:tcPr marT="91440" marB="9144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>
                          <a:solidFill>
                            <a:schemeClr val="tx1"/>
                          </a:solidFill>
                        </a:rPr>
                        <a:t>#/5</a:t>
                      </a:r>
                    </a:p>
                    <a:p>
                      <a:pPr algn="ctr"/>
                      <a:endParaRPr lang="en-US">
                        <a:solidFill>
                          <a:srgbClr val="FF0000"/>
                        </a:solidFill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>
                          <a:solidFill>
                            <a:schemeClr val="tx1"/>
                          </a:solidFill>
                        </a:rPr>
                        <a:t>Description</a:t>
                      </a:r>
                    </a:p>
                  </a:txBody>
                  <a:tcPr marT="91440" marB="9144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>
                          <a:solidFill>
                            <a:schemeClr val="tx1"/>
                          </a:solidFill>
                        </a:rPr>
                        <a:t>#/5</a:t>
                      </a:r>
                    </a:p>
                    <a:p>
                      <a:pPr algn="ctr"/>
                      <a:endParaRPr lang="en-US">
                        <a:solidFill>
                          <a:srgbClr val="FF0000"/>
                        </a:solidFill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>
                          <a:solidFill>
                            <a:schemeClr val="tx1"/>
                          </a:solidFill>
                        </a:rPr>
                        <a:t>Description</a:t>
                      </a:r>
                    </a:p>
                  </a:txBody>
                  <a:tcPr marT="91440" marB="9144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>
                          <a:solidFill>
                            <a:schemeClr val="tx1"/>
                          </a:solidFill>
                        </a:rPr>
                        <a:t>#/5</a:t>
                      </a:r>
                    </a:p>
                    <a:p>
                      <a:pPr algn="ctr"/>
                      <a:endParaRPr lang="en-US" sz="160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>
                          <a:solidFill>
                            <a:schemeClr val="tx1"/>
                          </a:solidFill>
                        </a:rPr>
                        <a:t>Description</a:t>
                      </a:r>
                    </a:p>
                  </a:txBody>
                  <a:tcPr marT="91440" marB="91440" anchor="ctr"/>
                </a:tc>
                <a:extLst>
                  <a:ext uri="{0D108BD9-81ED-4DB2-BD59-A6C34878D82A}">
                    <a16:rowId xmlns:a16="http://schemas.microsoft.com/office/drawing/2014/main" val="11174659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1600" b="1"/>
                        <a:t>Project Team Members’ Qualifications</a:t>
                      </a:r>
                    </a:p>
                  </a:txBody>
                  <a:tcPr marT="91440" marB="9144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>
                          <a:solidFill>
                            <a:schemeClr val="tx1"/>
                          </a:solidFill>
                        </a:rPr>
                        <a:t>#/5</a:t>
                      </a:r>
                    </a:p>
                  </a:txBody>
                  <a:tcPr marT="91440" marB="9144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>
                          <a:solidFill>
                            <a:schemeClr val="tx1"/>
                          </a:solidFill>
                        </a:rPr>
                        <a:t>#/5</a:t>
                      </a:r>
                    </a:p>
                  </a:txBody>
                  <a:tcPr marT="91440" marB="9144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>
                          <a:solidFill>
                            <a:schemeClr val="tx1"/>
                          </a:solidFill>
                        </a:rPr>
                        <a:t>#/5</a:t>
                      </a:r>
                    </a:p>
                  </a:txBody>
                  <a:tcPr marT="91440" marB="9144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>
                          <a:solidFill>
                            <a:schemeClr val="tx1"/>
                          </a:solidFill>
                        </a:rPr>
                        <a:t>#/5</a:t>
                      </a:r>
                    </a:p>
                  </a:txBody>
                  <a:tcPr marT="91440" marB="91440" anchor="ctr"/>
                </a:tc>
                <a:extLst>
                  <a:ext uri="{0D108BD9-81ED-4DB2-BD59-A6C34878D82A}">
                    <a16:rowId xmlns:a16="http://schemas.microsoft.com/office/drawing/2014/main" val="21620655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1600" b="1"/>
                        <a:t>Approach &amp; Methodology</a:t>
                      </a:r>
                    </a:p>
                  </a:txBody>
                  <a:tcPr marT="91440" marB="9144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>
                          <a:solidFill>
                            <a:schemeClr val="tx1"/>
                          </a:solidFill>
                        </a:rPr>
                        <a:t>#/5</a:t>
                      </a:r>
                      <a:endParaRPr lang="en-US" sz="160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endParaRPr lang="en-US" sz="160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>
                          <a:solidFill>
                            <a:schemeClr val="tx1"/>
                          </a:solidFill>
                        </a:rPr>
                        <a:t>Description</a:t>
                      </a:r>
                    </a:p>
                  </a:txBody>
                  <a:tcPr marT="91440" marB="9144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>
                          <a:solidFill>
                            <a:schemeClr val="tx1"/>
                          </a:solidFill>
                        </a:rPr>
                        <a:t>#/5</a:t>
                      </a:r>
                    </a:p>
                    <a:p>
                      <a:pPr algn="ctr"/>
                      <a:endParaRPr lang="en-US" sz="160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>
                          <a:solidFill>
                            <a:schemeClr val="tx1"/>
                          </a:solidFill>
                        </a:rPr>
                        <a:t>Description</a:t>
                      </a:r>
                    </a:p>
                  </a:txBody>
                  <a:tcPr marT="91440" marB="9144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>
                          <a:solidFill>
                            <a:schemeClr val="tx1"/>
                          </a:solidFill>
                        </a:rPr>
                        <a:t>#/5</a:t>
                      </a:r>
                    </a:p>
                    <a:p>
                      <a:pPr algn="ctr"/>
                      <a:endParaRPr lang="en-US" sz="160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>
                          <a:solidFill>
                            <a:schemeClr val="tx1"/>
                          </a:solidFill>
                        </a:rPr>
                        <a:t>Description</a:t>
                      </a:r>
                    </a:p>
                  </a:txBody>
                  <a:tcPr marT="91440" marB="9144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>
                          <a:solidFill>
                            <a:schemeClr val="tx1"/>
                          </a:solidFill>
                        </a:rPr>
                        <a:t>#/5</a:t>
                      </a:r>
                    </a:p>
                    <a:p>
                      <a:pPr algn="ctr"/>
                      <a:endParaRPr lang="en-US" sz="160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>
                          <a:solidFill>
                            <a:schemeClr val="tx1"/>
                          </a:solidFill>
                        </a:rPr>
                        <a:t>Description</a:t>
                      </a:r>
                    </a:p>
                  </a:txBody>
                  <a:tcPr marT="91440" marB="91440" anchor="ctr"/>
                </a:tc>
                <a:extLst>
                  <a:ext uri="{0D108BD9-81ED-4DB2-BD59-A6C34878D82A}">
                    <a16:rowId xmlns:a16="http://schemas.microsoft.com/office/drawing/2014/main" val="42789788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1600" b="1"/>
                        <a:t>Local, Small, WMBE, etc.</a:t>
                      </a:r>
                    </a:p>
                  </a:txBody>
                  <a:tcPr marT="91440" marB="91440" anchor="ctr"/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 marT="91440" marB="91440" anchor="ctr"/>
                </a:tc>
                <a:tc>
                  <a:txBody>
                    <a:bodyPr/>
                    <a:lstStyle/>
                    <a:p>
                      <a:pPr algn="ctr"/>
                      <a:endParaRPr lang="en-US" b="0">
                        <a:solidFill>
                          <a:schemeClr val="tx1"/>
                        </a:solidFill>
                      </a:endParaRPr>
                    </a:p>
                  </a:txBody>
                  <a:tcPr marT="91440" marB="91440" anchor="ctr"/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 marT="91440" marB="91440" anchor="ctr"/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 marT="91440" marB="91440" anchor="ctr"/>
                </a:tc>
                <a:extLst>
                  <a:ext uri="{0D108BD9-81ED-4DB2-BD59-A6C34878D82A}">
                    <a16:rowId xmlns:a16="http://schemas.microsoft.com/office/drawing/2014/main" val="42450339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71509221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ros and Cons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42F874D-F4DC-0BEA-5C94-AA618316CA7A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260347950"/>
              </p:ext>
            </p:extLst>
          </p:nvPr>
        </p:nvGraphicFramePr>
        <p:xfrm>
          <a:off x="568632" y="1452716"/>
          <a:ext cx="11054736" cy="3952568"/>
        </p:xfrm>
        <a:graphic>
          <a:graphicData uri="http://schemas.openxmlformats.org/drawingml/2006/table">
            <a:tbl>
              <a:tblPr firstRow="1" bandRow="1">
                <a:tableStyleId>{8A107856-5554-42FB-B03E-39F5DBC370BA}</a:tableStyleId>
              </a:tblPr>
              <a:tblGrid>
                <a:gridCol w="1842456">
                  <a:extLst>
                    <a:ext uri="{9D8B030D-6E8A-4147-A177-3AD203B41FA5}">
                      <a16:colId xmlns:a16="http://schemas.microsoft.com/office/drawing/2014/main" val="521741688"/>
                    </a:ext>
                  </a:extLst>
                </a:gridCol>
                <a:gridCol w="1842456">
                  <a:extLst>
                    <a:ext uri="{9D8B030D-6E8A-4147-A177-3AD203B41FA5}">
                      <a16:colId xmlns:a16="http://schemas.microsoft.com/office/drawing/2014/main" val="1142612625"/>
                    </a:ext>
                  </a:extLst>
                </a:gridCol>
                <a:gridCol w="1842456">
                  <a:extLst>
                    <a:ext uri="{9D8B030D-6E8A-4147-A177-3AD203B41FA5}">
                      <a16:colId xmlns:a16="http://schemas.microsoft.com/office/drawing/2014/main" val="1048618712"/>
                    </a:ext>
                  </a:extLst>
                </a:gridCol>
                <a:gridCol w="1842456">
                  <a:extLst>
                    <a:ext uri="{9D8B030D-6E8A-4147-A177-3AD203B41FA5}">
                      <a16:colId xmlns:a16="http://schemas.microsoft.com/office/drawing/2014/main" val="2339973446"/>
                    </a:ext>
                  </a:extLst>
                </a:gridCol>
                <a:gridCol w="1842456">
                  <a:extLst>
                    <a:ext uri="{9D8B030D-6E8A-4147-A177-3AD203B41FA5}">
                      <a16:colId xmlns:a16="http://schemas.microsoft.com/office/drawing/2014/main" val="3491487081"/>
                    </a:ext>
                  </a:extLst>
                </a:gridCol>
                <a:gridCol w="1842456">
                  <a:extLst>
                    <a:ext uri="{9D8B030D-6E8A-4147-A177-3AD203B41FA5}">
                      <a16:colId xmlns:a16="http://schemas.microsoft.com/office/drawing/2014/main" val="1868579363"/>
                    </a:ext>
                  </a:extLst>
                </a:gridCol>
              </a:tblGrid>
              <a:tr h="642124">
                <a:tc>
                  <a:txBody>
                    <a:bodyPr/>
                    <a:lstStyle/>
                    <a:p>
                      <a:endParaRPr lang="en-US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Option 1: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Option 2: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Option 3: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Option 4: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Option 5: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2900299"/>
                  </a:ext>
                </a:extLst>
              </a:tr>
              <a:tr h="1697954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Pros: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5471365"/>
                  </a:ext>
                </a:extLst>
              </a:tr>
              <a:tr h="1612490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Cons: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8123335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B2F47474-AAE3-E922-3AF1-CEDF518F6F6E}"/>
              </a:ext>
            </a:extLst>
          </p:cNvPr>
          <p:cNvSpPr txBox="1"/>
          <p:nvPr userDrawn="1"/>
        </p:nvSpPr>
        <p:spPr>
          <a:xfrm>
            <a:off x="565687" y="695255"/>
            <a:ext cx="87180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algn="l"/>
            <a:r>
              <a:rPr kumimoji="0" lang="en-US" sz="36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Lato" panose="020F0502020204030203" pitchFamily="34" charset="0"/>
                <a:ea typeface="+mn-ea"/>
                <a:cs typeface="+mn-cs"/>
              </a:rPr>
              <a:t>Problem Brief</a:t>
            </a:r>
            <a:endParaRPr lang="en-US" sz="240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EEC6AB57-C161-689F-DD50-A448AD947C8D}"/>
              </a:ext>
            </a:extLst>
          </p:cNvPr>
          <p:cNvCxnSpPr>
            <a:cxnSpLocks/>
          </p:cNvCxnSpPr>
          <p:nvPr userDrawn="1"/>
        </p:nvCxnSpPr>
        <p:spPr>
          <a:xfrm>
            <a:off x="565687" y="1375636"/>
            <a:ext cx="10895310" cy="0"/>
          </a:xfrm>
          <a:prstGeom prst="line">
            <a:avLst/>
          </a:prstGeom>
          <a:ln w="28575">
            <a:solidFill>
              <a:srgbClr val="C810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57764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lors, Keys and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07A9851A-4FE5-EDBF-3CA2-29A696F72D4D}"/>
              </a:ext>
            </a:extLst>
          </p:cNvPr>
          <p:cNvSpPr/>
          <p:nvPr userDrawn="1"/>
        </p:nvSpPr>
        <p:spPr>
          <a:xfrm>
            <a:off x="1034903" y="1010093"/>
            <a:ext cx="616688" cy="340242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A9E439E-84BC-E69A-1FD0-5E30085FDF54}"/>
              </a:ext>
            </a:extLst>
          </p:cNvPr>
          <p:cNvSpPr/>
          <p:nvPr userDrawn="1"/>
        </p:nvSpPr>
        <p:spPr>
          <a:xfrm>
            <a:off x="1034903" y="1545266"/>
            <a:ext cx="616688" cy="340242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EA66C9F-FBCA-9C90-9C5E-A2308C03BA8A}"/>
              </a:ext>
            </a:extLst>
          </p:cNvPr>
          <p:cNvSpPr/>
          <p:nvPr userDrawn="1"/>
        </p:nvSpPr>
        <p:spPr>
          <a:xfrm>
            <a:off x="1034903" y="2078671"/>
            <a:ext cx="616688" cy="34024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F98EB00-EEC6-D7F0-7D52-F91900E8534F}"/>
              </a:ext>
            </a:extLst>
          </p:cNvPr>
          <p:cNvSpPr/>
          <p:nvPr userDrawn="1"/>
        </p:nvSpPr>
        <p:spPr>
          <a:xfrm>
            <a:off x="1045535" y="2626245"/>
            <a:ext cx="616688" cy="34024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1885113-CD2D-D591-57AE-24E371259BB8}"/>
              </a:ext>
            </a:extLst>
          </p:cNvPr>
          <p:cNvSpPr/>
          <p:nvPr userDrawn="1"/>
        </p:nvSpPr>
        <p:spPr>
          <a:xfrm>
            <a:off x="1034903" y="3173819"/>
            <a:ext cx="616688" cy="340242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5CF125E-F82D-A2E5-1A61-9D6F304619DA}"/>
              </a:ext>
            </a:extLst>
          </p:cNvPr>
          <p:cNvSpPr/>
          <p:nvPr userDrawn="1"/>
        </p:nvSpPr>
        <p:spPr>
          <a:xfrm>
            <a:off x="1045535" y="3721393"/>
            <a:ext cx="616688" cy="34024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943F6B5-028F-950E-5F0E-D961CE9F448D}"/>
              </a:ext>
            </a:extLst>
          </p:cNvPr>
          <p:cNvSpPr/>
          <p:nvPr userDrawn="1"/>
        </p:nvSpPr>
        <p:spPr>
          <a:xfrm>
            <a:off x="1045535" y="4267199"/>
            <a:ext cx="616688" cy="34024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BFD751D-1C09-5DD3-7F5F-DCF32522CF5B}"/>
              </a:ext>
            </a:extLst>
          </p:cNvPr>
          <p:cNvSpPr/>
          <p:nvPr userDrawn="1"/>
        </p:nvSpPr>
        <p:spPr>
          <a:xfrm>
            <a:off x="1034903" y="4813005"/>
            <a:ext cx="616688" cy="34024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935DBA7-8CDC-B3A8-3AC9-E8F254177575}"/>
              </a:ext>
            </a:extLst>
          </p:cNvPr>
          <p:cNvSpPr/>
          <p:nvPr userDrawn="1"/>
        </p:nvSpPr>
        <p:spPr>
          <a:xfrm>
            <a:off x="1045535" y="5358811"/>
            <a:ext cx="616688" cy="340242"/>
          </a:xfrm>
          <a:prstGeom prst="rect">
            <a:avLst/>
          </a:prstGeom>
          <a:solidFill>
            <a:srgbClr val="B8C6F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0129EBC1-3317-1D5A-3AA3-C59822ABD13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797050" y="1009650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76FEA8BC-2352-36C2-8036-6B2254456DE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797050" y="1544195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0" name="Text Placeholder 27">
            <a:extLst>
              <a:ext uri="{FF2B5EF4-FFF2-40B4-BE49-F238E27FC236}">
                <a16:creationId xmlns:a16="http://schemas.microsoft.com/office/drawing/2014/main" id="{2CD0B3BE-3033-A7EB-E3C2-C7AB34B94A1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797050" y="2078671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1" name="Text Placeholder 27">
            <a:extLst>
              <a:ext uri="{FF2B5EF4-FFF2-40B4-BE49-F238E27FC236}">
                <a16:creationId xmlns:a16="http://schemas.microsoft.com/office/drawing/2014/main" id="{C94D331B-C564-3032-74B9-BE391757ACC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797050" y="2613147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2" name="Text Placeholder 27">
            <a:extLst>
              <a:ext uri="{FF2B5EF4-FFF2-40B4-BE49-F238E27FC236}">
                <a16:creationId xmlns:a16="http://schemas.microsoft.com/office/drawing/2014/main" id="{89FCD616-482F-BB5B-7721-8B8B14F4C12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797050" y="3147623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3" name="Text Placeholder 27">
            <a:extLst>
              <a:ext uri="{FF2B5EF4-FFF2-40B4-BE49-F238E27FC236}">
                <a16:creationId xmlns:a16="http://schemas.microsoft.com/office/drawing/2014/main" id="{F73D9AE2-C9F1-ADB0-23F7-6930B916503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797050" y="3682099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4" name="Text Placeholder 27">
            <a:extLst>
              <a:ext uri="{FF2B5EF4-FFF2-40B4-BE49-F238E27FC236}">
                <a16:creationId xmlns:a16="http://schemas.microsoft.com/office/drawing/2014/main" id="{0721E596-E7DE-856A-5926-6F68B1BCC64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97050" y="4216575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5" name="Text Placeholder 27">
            <a:extLst>
              <a:ext uri="{FF2B5EF4-FFF2-40B4-BE49-F238E27FC236}">
                <a16:creationId xmlns:a16="http://schemas.microsoft.com/office/drawing/2014/main" id="{C394E1A2-6C40-CB70-28C9-3082A9D1367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797050" y="4751051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6" name="Text Placeholder 27">
            <a:extLst>
              <a:ext uri="{FF2B5EF4-FFF2-40B4-BE49-F238E27FC236}">
                <a16:creationId xmlns:a16="http://schemas.microsoft.com/office/drawing/2014/main" id="{036EFE3B-DC86-8C5A-8B60-D27F1640499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797050" y="5285527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7" name="Title 1">
            <a:extLst>
              <a:ext uri="{FF2B5EF4-FFF2-40B4-BE49-F238E27FC236}">
                <a16:creationId xmlns:a16="http://schemas.microsoft.com/office/drawing/2014/main" id="{434CCA1C-B3AE-9793-77BC-77D80901918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4245" y="182880"/>
            <a:ext cx="11822596" cy="498122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3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Colors, Key and Icons</a:t>
            </a:r>
          </a:p>
        </p:txBody>
      </p:sp>
      <p:pic>
        <p:nvPicPr>
          <p:cNvPr id="1057" name="Picture 33">
            <a:extLst>
              <a:ext uri="{FF2B5EF4-FFF2-40B4-BE49-F238E27FC236}">
                <a16:creationId xmlns:a16="http://schemas.microsoft.com/office/drawing/2014/main" id="{781055BC-FDE2-8BBB-1E46-08F1756DD7A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94275" y="1009650"/>
            <a:ext cx="762000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1" name="AutoShape 34">
            <a:extLst>
              <a:ext uri="{FF2B5EF4-FFF2-40B4-BE49-F238E27FC236}">
                <a16:creationId xmlns:a16="http://schemas.microsoft.com/office/drawing/2014/main" id="{F2025C07-CD51-CD0C-4AF4-0DE437866965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16046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2" name="AutoShape 35">
            <a:extLst>
              <a:ext uri="{FF2B5EF4-FFF2-40B4-BE49-F238E27FC236}">
                <a16:creationId xmlns:a16="http://schemas.microsoft.com/office/drawing/2014/main" id="{68FCAC10-887A-F302-5A48-937E9B8AD25D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6208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3" name="AutoShape 36">
            <a:extLst>
              <a:ext uri="{FF2B5EF4-FFF2-40B4-BE49-F238E27FC236}">
                <a16:creationId xmlns:a16="http://schemas.microsoft.com/office/drawing/2014/main" id="{2E423CA6-668B-ED41-0826-20E23C321C3C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20812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61" name="Picture 37">
            <a:extLst>
              <a:ext uri="{FF2B5EF4-FFF2-40B4-BE49-F238E27FC236}">
                <a16:creationId xmlns:a16="http://schemas.microsoft.com/office/drawing/2014/main" id="{2A78F1E1-42AE-F3D9-6F6C-D892FC68C2D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70475" y="2078671"/>
            <a:ext cx="609600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4" name="AutoShape 38">
            <a:extLst>
              <a:ext uri="{FF2B5EF4-FFF2-40B4-BE49-F238E27FC236}">
                <a16:creationId xmlns:a16="http://schemas.microsoft.com/office/drawing/2014/main" id="{A8FC92ED-9B59-BFCC-6125-544D6EFAE7D7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33480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63" name="Picture 39">
            <a:extLst>
              <a:ext uri="{FF2B5EF4-FFF2-40B4-BE49-F238E27FC236}">
                <a16:creationId xmlns:a16="http://schemas.microsoft.com/office/drawing/2014/main" id="{D8EC587C-B10E-B81F-59EC-E40C1F9AD9A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51425" y="3251887"/>
            <a:ext cx="628650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4" name="Picture 40">
            <a:extLst>
              <a:ext uri="{FF2B5EF4-FFF2-40B4-BE49-F238E27FC236}">
                <a16:creationId xmlns:a16="http://schemas.microsoft.com/office/drawing/2014/main" id="{E38C9A6E-DF1B-14D0-C704-2DD6B3F7DB0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3000" y="1043910"/>
            <a:ext cx="742950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5" name="Picture 41">
            <a:extLst>
              <a:ext uri="{FF2B5EF4-FFF2-40B4-BE49-F238E27FC236}">
                <a16:creationId xmlns:a16="http://schemas.microsoft.com/office/drawing/2014/main" id="{25AB3C69-7F60-7647-BD45-8A4B8998D37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65862" y="2085925"/>
            <a:ext cx="6191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6" name="Picture 42">
            <a:extLst>
              <a:ext uri="{FF2B5EF4-FFF2-40B4-BE49-F238E27FC236}">
                <a16:creationId xmlns:a16="http://schemas.microsoft.com/office/drawing/2014/main" id="{8B362C67-ABA7-1EE8-B685-A81B257C478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41900" y="4324351"/>
            <a:ext cx="71437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5" name="AutoShape 43">
            <a:extLst>
              <a:ext uri="{FF2B5EF4-FFF2-40B4-BE49-F238E27FC236}">
                <a16:creationId xmlns:a16="http://schemas.microsoft.com/office/drawing/2014/main" id="{92EF72A4-9658-6124-D46F-A125AFB36D93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73739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68" name="Picture 44">
            <a:extLst>
              <a:ext uri="{FF2B5EF4-FFF2-40B4-BE49-F238E27FC236}">
                <a16:creationId xmlns:a16="http://schemas.microsoft.com/office/drawing/2014/main" id="{6D101FA9-081E-CFB1-603E-835FFE03DA9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5485" y="4292753"/>
            <a:ext cx="7715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6" name="AutoShape 45">
            <a:extLst>
              <a:ext uri="{FF2B5EF4-FFF2-40B4-BE49-F238E27FC236}">
                <a16:creationId xmlns:a16="http://schemas.microsoft.com/office/drawing/2014/main" id="{9073D79C-79AD-A133-ED4E-A1803B76566D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8810625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70" name="Picture 46">
            <a:extLst>
              <a:ext uri="{FF2B5EF4-FFF2-40B4-BE49-F238E27FC236}">
                <a16:creationId xmlns:a16="http://schemas.microsoft.com/office/drawing/2014/main" id="{3D79AC8F-02F8-84C2-3D33-E7464D4FA60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70775" y="1155885"/>
            <a:ext cx="733425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7" name="AutoShape 47">
            <a:extLst>
              <a:ext uri="{FF2B5EF4-FFF2-40B4-BE49-F238E27FC236}">
                <a16:creationId xmlns:a16="http://schemas.microsoft.com/office/drawing/2014/main" id="{8E03D1EB-4887-DDD7-0B59-7D04FBBC8EDF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02473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8" name="AutoShape 48">
            <a:extLst>
              <a:ext uri="{FF2B5EF4-FFF2-40B4-BE49-F238E27FC236}">
                <a16:creationId xmlns:a16="http://schemas.microsoft.com/office/drawing/2014/main" id="{8D47C7B4-7C64-32B0-B7D6-40B75100F5E4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070768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9" name="AutoShape 49">
            <a:extLst>
              <a:ext uri="{FF2B5EF4-FFF2-40B4-BE49-F238E27FC236}">
                <a16:creationId xmlns:a16="http://schemas.microsoft.com/office/drawing/2014/main" id="{E0D67EBA-1C5F-CE0A-C402-69FCA9028DD0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116806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0" name="AutoShape 50">
            <a:extLst>
              <a:ext uri="{FF2B5EF4-FFF2-40B4-BE49-F238E27FC236}">
                <a16:creationId xmlns:a16="http://schemas.microsoft.com/office/drawing/2014/main" id="{E84FC73E-BB32-B34B-BED8-33FDE098CD00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16284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1" name="AutoShape 51">
            <a:extLst>
              <a:ext uri="{FF2B5EF4-FFF2-40B4-BE49-F238E27FC236}">
                <a16:creationId xmlns:a16="http://schemas.microsoft.com/office/drawing/2014/main" id="{28337FC9-F4DB-E0D4-5C71-A1DADE4DC10A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20888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76" name="Picture 52">
            <a:extLst>
              <a:ext uri="{FF2B5EF4-FFF2-40B4-BE49-F238E27FC236}">
                <a16:creationId xmlns:a16="http://schemas.microsoft.com/office/drawing/2014/main" id="{6F3EE9BF-0269-25A7-DEBE-6E53ED34852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03950" y="3158320"/>
            <a:ext cx="781050" cy="733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2" name="AutoShape 53">
            <a:extLst>
              <a:ext uri="{FF2B5EF4-FFF2-40B4-BE49-F238E27FC236}">
                <a16:creationId xmlns:a16="http://schemas.microsoft.com/office/drawing/2014/main" id="{B44929FB-DA62-0DCC-9024-021DD9B8531B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34858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78" name="Picture 54">
            <a:extLst>
              <a:ext uri="{FF2B5EF4-FFF2-40B4-BE49-F238E27FC236}">
                <a16:creationId xmlns:a16="http://schemas.microsoft.com/office/drawing/2014/main" id="{1CA5F0C8-F245-B867-E569-E6F8423F35F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70775" y="2093100"/>
            <a:ext cx="7334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79" name="Picture 55">
            <a:extLst>
              <a:ext uri="{FF2B5EF4-FFF2-40B4-BE49-F238E27FC236}">
                <a16:creationId xmlns:a16="http://schemas.microsoft.com/office/drawing/2014/main" id="{9AEFC9D2-20A8-E13A-F2EE-F23D6EA093D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09624" y="3203405"/>
            <a:ext cx="819150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3" name="AutoShape 56">
            <a:extLst>
              <a:ext uri="{FF2B5EF4-FFF2-40B4-BE49-F238E27FC236}">
                <a16:creationId xmlns:a16="http://schemas.microsoft.com/office/drawing/2014/main" id="{75602302-E87B-8298-73E0-D6E2A0CEB94D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58988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81" name="Picture 57">
            <a:extLst>
              <a:ext uri="{FF2B5EF4-FFF2-40B4-BE49-F238E27FC236}">
                <a16:creationId xmlns:a16="http://schemas.microsoft.com/office/drawing/2014/main" id="{7F4B9074-F9D3-3E70-6B54-33CB95EF4CD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70775" y="4330364"/>
            <a:ext cx="8096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2" name="Picture 58">
            <a:extLst>
              <a:ext uri="{FF2B5EF4-FFF2-40B4-BE49-F238E27FC236}">
                <a16:creationId xmlns:a16="http://schemas.microsoft.com/office/drawing/2014/main" id="{32524291-4A8A-5746-AAFB-23459BCD904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07584" y="4183363"/>
            <a:ext cx="1103991" cy="11021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3" name="Picture 59">
            <a:extLst>
              <a:ext uri="{FF2B5EF4-FFF2-40B4-BE49-F238E27FC236}">
                <a16:creationId xmlns:a16="http://schemas.microsoft.com/office/drawing/2014/main" id="{31BEE8A5-0F98-3C5A-881F-29E74CBFE51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11404" y="3131017"/>
            <a:ext cx="1102164" cy="11021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5" name="Picture 61">
            <a:extLst>
              <a:ext uri="{FF2B5EF4-FFF2-40B4-BE49-F238E27FC236}">
                <a16:creationId xmlns:a16="http://schemas.microsoft.com/office/drawing/2014/main" id="{AD7E84AD-6063-3D46-8352-481AAF132EF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28697" y="2085925"/>
            <a:ext cx="2288214" cy="847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6" name="Picture 62">
            <a:extLst>
              <a:ext uri="{FF2B5EF4-FFF2-40B4-BE49-F238E27FC236}">
                <a16:creationId xmlns:a16="http://schemas.microsoft.com/office/drawing/2014/main" id="{B076602F-983D-C726-514B-27500C2E5CC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07584" y="1009650"/>
            <a:ext cx="2288214" cy="847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62063815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llege Colors, Keys and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0129EBC1-3317-1D5A-3AA3-C59822ABD13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797050" y="1009650"/>
            <a:ext cx="305943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College of Arts, Media &amp; Design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76FEA8BC-2352-36C2-8036-6B2254456DE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797049" y="1544195"/>
            <a:ext cx="3565905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Khoury College of Computer Science</a:t>
            </a:r>
          </a:p>
        </p:txBody>
      </p:sp>
      <p:sp>
        <p:nvSpPr>
          <p:cNvPr id="30" name="Text Placeholder 27">
            <a:extLst>
              <a:ext uri="{FF2B5EF4-FFF2-40B4-BE49-F238E27FC236}">
                <a16:creationId xmlns:a16="http://schemas.microsoft.com/office/drawing/2014/main" id="{2CD0B3BE-3033-A7EB-E3C2-C7AB34B94A1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797050" y="2078671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College of Engineering</a:t>
            </a:r>
          </a:p>
        </p:txBody>
      </p:sp>
      <p:sp>
        <p:nvSpPr>
          <p:cNvPr id="31" name="Text Placeholder 27">
            <a:extLst>
              <a:ext uri="{FF2B5EF4-FFF2-40B4-BE49-F238E27FC236}">
                <a16:creationId xmlns:a16="http://schemas.microsoft.com/office/drawing/2014/main" id="{C94D331B-C564-3032-74B9-BE391757ACC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797049" y="2613147"/>
            <a:ext cx="3273425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 err="1"/>
              <a:t>Bouvé</a:t>
            </a:r>
            <a:r>
              <a:rPr lang="en-US"/>
              <a:t> College of Health Sciences</a:t>
            </a:r>
          </a:p>
        </p:txBody>
      </p:sp>
      <p:sp>
        <p:nvSpPr>
          <p:cNvPr id="32" name="Text Placeholder 27">
            <a:extLst>
              <a:ext uri="{FF2B5EF4-FFF2-40B4-BE49-F238E27FC236}">
                <a16:creationId xmlns:a16="http://schemas.microsoft.com/office/drawing/2014/main" id="{89FCD616-482F-BB5B-7721-8B8B14F4C12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797050" y="3147623"/>
            <a:ext cx="302387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College of Professional Studies</a:t>
            </a:r>
          </a:p>
        </p:txBody>
      </p:sp>
      <p:sp>
        <p:nvSpPr>
          <p:cNvPr id="33" name="Text Placeholder 27">
            <a:extLst>
              <a:ext uri="{FF2B5EF4-FFF2-40B4-BE49-F238E27FC236}">
                <a16:creationId xmlns:a16="http://schemas.microsoft.com/office/drawing/2014/main" id="{F73D9AE2-C9F1-ADB0-23F7-6930B916503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797050" y="3682099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College of Science</a:t>
            </a:r>
          </a:p>
        </p:txBody>
      </p:sp>
      <p:sp>
        <p:nvSpPr>
          <p:cNvPr id="34" name="Text Placeholder 27">
            <a:extLst>
              <a:ext uri="{FF2B5EF4-FFF2-40B4-BE49-F238E27FC236}">
                <a16:creationId xmlns:a16="http://schemas.microsoft.com/office/drawing/2014/main" id="{0721E596-E7DE-856A-5926-6F68B1BCC64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797050" y="4216575"/>
            <a:ext cx="395467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College of Social Sciences and Humanities</a:t>
            </a:r>
          </a:p>
        </p:txBody>
      </p:sp>
      <p:sp>
        <p:nvSpPr>
          <p:cNvPr id="35" name="Text Placeholder 27">
            <a:extLst>
              <a:ext uri="{FF2B5EF4-FFF2-40B4-BE49-F238E27FC236}">
                <a16:creationId xmlns:a16="http://schemas.microsoft.com/office/drawing/2014/main" id="{C394E1A2-6C40-CB70-28C9-3082A9D1367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797050" y="4751051"/>
            <a:ext cx="341503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Mills College</a:t>
            </a:r>
          </a:p>
        </p:txBody>
      </p:sp>
      <p:sp>
        <p:nvSpPr>
          <p:cNvPr id="36" name="Text Placeholder 27">
            <a:extLst>
              <a:ext uri="{FF2B5EF4-FFF2-40B4-BE49-F238E27FC236}">
                <a16:creationId xmlns:a16="http://schemas.microsoft.com/office/drawing/2014/main" id="{036EFE3B-DC86-8C5A-8B60-D27F1640499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797050" y="5285527"/>
            <a:ext cx="362331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err="1"/>
              <a:t>D’Amore</a:t>
            </a:r>
            <a:r>
              <a:rPr lang="en-US"/>
              <a:t>-McKim School of Business</a:t>
            </a:r>
          </a:p>
          <a:p>
            <a:pPr lvl="0"/>
            <a:endParaRPr lang="en-US"/>
          </a:p>
        </p:txBody>
      </p:sp>
      <p:sp>
        <p:nvSpPr>
          <p:cNvPr id="37" name="Title 1">
            <a:extLst>
              <a:ext uri="{FF2B5EF4-FFF2-40B4-BE49-F238E27FC236}">
                <a16:creationId xmlns:a16="http://schemas.microsoft.com/office/drawing/2014/main" id="{434CCA1C-B3AE-9793-77BC-77D80901918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4245" y="182880"/>
            <a:ext cx="11822596" cy="498122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3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Colors, Key and Icons</a:t>
            </a:r>
          </a:p>
        </p:txBody>
      </p:sp>
      <p:pic>
        <p:nvPicPr>
          <p:cNvPr id="1057" name="Picture 33">
            <a:extLst>
              <a:ext uri="{FF2B5EF4-FFF2-40B4-BE49-F238E27FC236}">
                <a16:creationId xmlns:a16="http://schemas.microsoft.com/office/drawing/2014/main" id="{781055BC-FDE2-8BBB-1E46-08F1756DD7A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66177" y="1454481"/>
            <a:ext cx="762000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1" name="AutoShape 34">
            <a:extLst>
              <a:ext uri="{FF2B5EF4-FFF2-40B4-BE49-F238E27FC236}">
                <a16:creationId xmlns:a16="http://schemas.microsoft.com/office/drawing/2014/main" id="{F2025C07-CD51-CD0C-4AF4-0DE437866965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16046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2" name="AutoShape 35">
            <a:extLst>
              <a:ext uri="{FF2B5EF4-FFF2-40B4-BE49-F238E27FC236}">
                <a16:creationId xmlns:a16="http://schemas.microsoft.com/office/drawing/2014/main" id="{68FCAC10-887A-F302-5A48-937E9B8AD25D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6208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3" name="AutoShape 36">
            <a:extLst>
              <a:ext uri="{FF2B5EF4-FFF2-40B4-BE49-F238E27FC236}">
                <a16:creationId xmlns:a16="http://schemas.microsoft.com/office/drawing/2014/main" id="{2E423CA6-668B-ED41-0826-20E23C321C3C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20812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61" name="Picture 37">
            <a:extLst>
              <a:ext uri="{FF2B5EF4-FFF2-40B4-BE49-F238E27FC236}">
                <a16:creationId xmlns:a16="http://schemas.microsoft.com/office/drawing/2014/main" id="{2A78F1E1-42AE-F3D9-6F6C-D892FC68C2D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42377" y="2523502"/>
            <a:ext cx="609600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4" name="AutoShape 38">
            <a:extLst>
              <a:ext uri="{FF2B5EF4-FFF2-40B4-BE49-F238E27FC236}">
                <a16:creationId xmlns:a16="http://schemas.microsoft.com/office/drawing/2014/main" id="{A8FC92ED-9B59-BFCC-6125-544D6EFAE7D7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33480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63" name="Picture 39">
            <a:extLst>
              <a:ext uri="{FF2B5EF4-FFF2-40B4-BE49-F238E27FC236}">
                <a16:creationId xmlns:a16="http://schemas.microsoft.com/office/drawing/2014/main" id="{D8EC587C-B10E-B81F-59EC-E40C1F9AD9A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23327" y="3696718"/>
            <a:ext cx="628650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4" name="Picture 40">
            <a:extLst>
              <a:ext uri="{FF2B5EF4-FFF2-40B4-BE49-F238E27FC236}">
                <a16:creationId xmlns:a16="http://schemas.microsoft.com/office/drawing/2014/main" id="{E38C9A6E-DF1B-14D0-C704-2DD6B3F7DB0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94902" y="1488741"/>
            <a:ext cx="742950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5" name="Picture 41">
            <a:extLst>
              <a:ext uri="{FF2B5EF4-FFF2-40B4-BE49-F238E27FC236}">
                <a16:creationId xmlns:a16="http://schemas.microsoft.com/office/drawing/2014/main" id="{25AB3C69-7F60-7647-BD45-8A4B8998D37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7764" y="2530756"/>
            <a:ext cx="6191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6" name="Picture 42">
            <a:extLst>
              <a:ext uri="{FF2B5EF4-FFF2-40B4-BE49-F238E27FC236}">
                <a16:creationId xmlns:a16="http://schemas.microsoft.com/office/drawing/2014/main" id="{8B362C67-ABA7-1EE8-B685-A81B257C478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3802" y="4769182"/>
            <a:ext cx="71437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5" name="AutoShape 43">
            <a:extLst>
              <a:ext uri="{FF2B5EF4-FFF2-40B4-BE49-F238E27FC236}">
                <a16:creationId xmlns:a16="http://schemas.microsoft.com/office/drawing/2014/main" id="{92EF72A4-9658-6124-D46F-A125AFB36D93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73739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68" name="Picture 44">
            <a:extLst>
              <a:ext uri="{FF2B5EF4-FFF2-40B4-BE49-F238E27FC236}">
                <a16:creationId xmlns:a16="http://schemas.microsoft.com/office/drawing/2014/main" id="{6D101FA9-081E-CFB1-603E-835FFE03DA9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97387" y="4737584"/>
            <a:ext cx="7715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6" name="AutoShape 45">
            <a:extLst>
              <a:ext uri="{FF2B5EF4-FFF2-40B4-BE49-F238E27FC236}">
                <a16:creationId xmlns:a16="http://schemas.microsoft.com/office/drawing/2014/main" id="{9073D79C-79AD-A133-ED4E-A1803B76566D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8810625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70" name="Picture 46">
            <a:extLst>
              <a:ext uri="{FF2B5EF4-FFF2-40B4-BE49-F238E27FC236}">
                <a16:creationId xmlns:a16="http://schemas.microsoft.com/office/drawing/2014/main" id="{3D79AC8F-02F8-84C2-3D33-E7464D4FA60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42677" y="1600716"/>
            <a:ext cx="733425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7" name="AutoShape 47">
            <a:extLst>
              <a:ext uri="{FF2B5EF4-FFF2-40B4-BE49-F238E27FC236}">
                <a16:creationId xmlns:a16="http://schemas.microsoft.com/office/drawing/2014/main" id="{8E03D1EB-4887-DDD7-0B59-7D04FBBC8EDF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02473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8" name="AutoShape 48">
            <a:extLst>
              <a:ext uri="{FF2B5EF4-FFF2-40B4-BE49-F238E27FC236}">
                <a16:creationId xmlns:a16="http://schemas.microsoft.com/office/drawing/2014/main" id="{8D47C7B4-7C64-32B0-B7D6-40B75100F5E4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070768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9" name="AutoShape 49">
            <a:extLst>
              <a:ext uri="{FF2B5EF4-FFF2-40B4-BE49-F238E27FC236}">
                <a16:creationId xmlns:a16="http://schemas.microsoft.com/office/drawing/2014/main" id="{E0D67EBA-1C5F-CE0A-C402-69FCA9028DD0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116806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0" name="AutoShape 50">
            <a:extLst>
              <a:ext uri="{FF2B5EF4-FFF2-40B4-BE49-F238E27FC236}">
                <a16:creationId xmlns:a16="http://schemas.microsoft.com/office/drawing/2014/main" id="{E84FC73E-BB32-B34B-BED8-33FDE098CD00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16284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1" name="AutoShape 51">
            <a:extLst>
              <a:ext uri="{FF2B5EF4-FFF2-40B4-BE49-F238E27FC236}">
                <a16:creationId xmlns:a16="http://schemas.microsoft.com/office/drawing/2014/main" id="{28337FC9-F4DB-E0D4-5C71-A1DADE4DC10A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20888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76" name="Picture 52">
            <a:extLst>
              <a:ext uri="{FF2B5EF4-FFF2-40B4-BE49-F238E27FC236}">
                <a16:creationId xmlns:a16="http://schemas.microsoft.com/office/drawing/2014/main" id="{6F3EE9BF-0269-25A7-DEBE-6E53ED34852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75852" y="3603151"/>
            <a:ext cx="781050" cy="733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2" name="AutoShape 53">
            <a:extLst>
              <a:ext uri="{FF2B5EF4-FFF2-40B4-BE49-F238E27FC236}">
                <a16:creationId xmlns:a16="http://schemas.microsoft.com/office/drawing/2014/main" id="{B44929FB-DA62-0DCC-9024-021DD9B8531B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34858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78" name="Picture 54">
            <a:extLst>
              <a:ext uri="{FF2B5EF4-FFF2-40B4-BE49-F238E27FC236}">
                <a16:creationId xmlns:a16="http://schemas.microsoft.com/office/drawing/2014/main" id="{1CA5F0C8-F245-B867-E569-E6F8423F35F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42677" y="2537931"/>
            <a:ext cx="7334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79" name="Picture 55">
            <a:extLst>
              <a:ext uri="{FF2B5EF4-FFF2-40B4-BE49-F238E27FC236}">
                <a16:creationId xmlns:a16="http://schemas.microsoft.com/office/drawing/2014/main" id="{9AEFC9D2-20A8-E13A-F2EE-F23D6EA093D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1526" y="3648236"/>
            <a:ext cx="819150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3" name="AutoShape 56">
            <a:extLst>
              <a:ext uri="{FF2B5EF4-FFF2-40B4-BE49-F238E27FC236}">
                <a16:creationId xmlns:a16="http://schemas.microsoft.com/office/drawing/2014/main" id="{75602302-E87B-8298-73E0-D6E2A0CEB94D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58988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81" name="Picture 57">
            <a:extLst>
              <a:ext uri="{FF2B5EF4-FFF2-40B4-BE49-F238E27FC236}">
                <a16:creationId xmlns:a16="http://schemas.microsoft.com/office/drawing/2014/main" id="{7F4B9074-F9D3-3E70-6B54-33CB95EF4CD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42677" y="4775195"/>
            <a:ext cx="8096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2" name="Picture 58">
            <a:extLst>
              <a:ext uri="{FF2B5EF4-FFF2-40B4-BE49-F238E27FC236}">
                <a16:creationId xmlns:a16="http://schemas.microsoft.com/office/drawing/2014/main" id="{32524291-4A8A-5746-AAFB-23459BCD904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79486" y="4628194"/>
            <a:ext cx="1103991" cy="11021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3" name="Picture 59">
            <a:extLst>
              <a:ext uri="{FF2B5EF4-FFF2-40B4-BE49-F238E27FC236}">
                <a16:creationId xmlns:a16="http://schemas.microsoft.com/office/drawing/2014/main" id="{31BEE8A5-0F98-3C5A-881F-29E74CBFE51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83306" y="3575848"/>
            <a:ext cx="1102164" cy="11021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5" name="Picture 61">
            <a:extLst>
              <a:ext uri="{FF2B5EF4-FFF2-40B4-BE49-F238E27FC236}">
                <a16:creationId xmlns:a16="http://schemas.microsoft.com/office/drawing/2014/main" id="{AD7E84AD-6063-3D46-8352-481AAF132EF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00599" y="2530756"/>
            <a:ext cx="2288214" cy="847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6" name="Picture 62">
            <a:extLst>
              <a:ext uri="{FF2B5EF4-FFF2-40B4-BE49-F238E27FC236}">
                <a16:creationId xmlns:a16="http://schemas.microsoft.com/office/drawing/2014/main" id="{B076602F-983D-C726-514B-27500C2E5CC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79486" y="1454481"/>
            <a:ext cx="2288214" cy="847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8B66CA9F-1FB9-6137-7B04-6088D0498FCD}"/>
              </a:ext>
            </a:extLst>
          </p:cNvPr>
          <p:cNvGrpSpPr/>
          <p:nvPr userDrawn="1"/>
        </p:nvGrpSpPr>
        <p:grpSpPr>
          <a:xfrm>
            <a:off x="1034903" y="1010093"/>
            <a:ext cx="627320" cy="5234766"/>
            <a:chOff x="1034903" y="1010093"/>
            <a:chExt cx="627320" cy="5234766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07A9851A-4FE5-EDBF-3CA2-29A696F72D4D}"/>
                </a:ext>
              </a:extLst>
            </p:cNvPr>
            <p:cNvSpPr/>
            <p:nvPr userDrawn="1"/>
          </p:nvSpPr>
          <p:spPr>
            <a:xfrm>
              <a:off x="1034903" y="1010093"/>
              <a:ext cx="616688" cy="340242"/>
            </a:xfrm>
            <a:prstGeom prst="rect">
              <a:avLst/>
            </a:prstGeom>
            <a:solidFill>
              <a:srgbClr val="463C57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BA9E439E-84BC-E69A-1FD0-5E30085FDF54}"/>
                </a:ext>
              </a:extLst>
            </p:cNvPr>
            <p:cNvSpPr/>
            <p:nvPr userDrawn="1"/>
          </p:nvSpPr>
          <p:spPr>
            <a:xfrm>
              <a:off x="1034903" y="1545266"/>
              <a:ext cx="616688" cy="340242"/>
            </a:xfrm>
            <a:prstGeom prst="rect">
              <a:avLst/>
            </a:prstGeom>
            <a:solidFill>
              <a:srgbClr val="545D6B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5EA66C9F-FBCA-9C90-9C5E-A2308C03BA8A}"/>
                </a:ext>
              </a:extLst>
            </p:cNvPr>
            <p:cNvSpPr/>
            <p:nvPr userDrawn="1"/>
          </p:nvSpPr>
          <p:spPr>
            <a:xfrm>
              <a:off x="1034903" y="2078671"/>
              <a:ext cx="616688" cy="340242"/>
            </a:xfrm>
            <a:prstGeom prst="rect">
              <a:avLst/>
            </a:prstGeom>
            <a:solidFill>
              <a:srgbClr val="4D715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0F98EB00-EEC6-D7F0-7D52-F91900E8534F}"/>
                </a:ext>
              </a:extLst>
            </p:cNvPr>
            <p:cNvSpPr/>
            <p:nvPr userDrawn="1"/>
          </p:nvSpPr>
          <p:spPr>
            <a:xfrm>
              <a:off x="1045535" y="2626245"/>
              <a:ext cx="616688" cy="340242"/>
            </a:xfrm>
            <a:prstGeom prst="rect">
              <a:avLst/>
            </a:prstGeom>
            <a:solidFill>
              <a:srgbClr val="748B5D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31885113-CD2D-D591-57AE-24E371259BB8}"/>
                </a:ext>
              </a:extLst>
            </p:cNvPr>
            <p:cNvSpPr/>
            <p:nvPr userDrawn="1"/>
          </p:nvSpPr>
          <p:spPr>
            <a:xfrm>
              <a:off x="1034903" y="3173819"/>
              <a:ext cx="616688" cy="340242"/>
            </a:xfrm>
            <a:prstGeom prst="rect">
              <a:avLst/>
            </a:prstGeom>
            <a:solidFill>
              <a:srgbClr val="95A26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25CF125E-F82D-A2E5-1A61-9D6F304619DA}"/>
                </a:ext>
              </a:extLst>
            </p:cNvPr>
            <p:cNvSpPr/>
            <p:nvPr userDrawn="1"/>
          </p:nvSpPr>
          <p:spPr>
            <a:xfrm>
              <a:off x="1045535" y="3721393"/>
              <a:ext cx="616688" cy="340242"/>
            </a:xfrm>
            <a:prstGeom prst="rect">
              <a:avLst/>
            </a:prstGeom>
            <a:solidFill>
              <a:srgbClr val="B6AE7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7943F6B5-028F-950E-5F0E-D961CE9F448D}"/>
                </a:ext>
              </a:extLst>
            </p:cNvPr>
            <p:cNvSpPr/>
            <p:nvPr userDrawn="1"/>
          </p:nvSpPr>
          <p:spPr>
            <a:xfrm>
              <a:off x="1045535" y="4267199"/>
              <a:ext cx="616688" cy="340242"/>
            </a:xfrm>
            <a:prstGeom prst="rect">
              <a:avLst/>
            </a:prstGeom>
            <a:solidFill>
              <a:srgbClr val="B68663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7BFD751D-1C09-5DD3-7F5F-DCF32522CF5B}"/>
                </a:ext>
              </a:extLst>
            </p:cNvPr>
            <p:cNvSpPr/>
            <p:nvPr userDrawn="1"/>
          </p:nvSpPr>
          <p:spPr>
            <a:xfrm>
              <a:off x="1034903" y="4813005"/>
              <a:ext cx="616688" cy="340242"/>
            </a:xfrm>
            <a:prstGeom prst="rect">
              <a:avLst/>
            </a:prstGeom>
            <a:solidFill>
              <a:srgbClr val="B63B4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0935DBA7-8CDC-B3A8-3AC9-E8F254177575}"/>
                </a:ext>
              </a:extLst>
            </p:cNvPr>
            <p:cNvSpPr/>
            <p:nvPr userDrawn="1"/>
          </p:nvSpPr>
          <p:spPr>
            <a:xfrm>
              <a:off x="1045535" y="5358811"/>
              <a:ext cx="616688" cy="340242"/>
            </a:xfrm>
            <a:prstGeom prst="rect">
              <a:avLst/>
            </a:prstGeom>
            <a:solidFill>
              <a:srgbClr val="98062D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AC0BA7A3-0F44-E98C-CEE5-98F1F0B839AF}"/>
                </a:ext>
              </a:extLst>
            </p:cNvPr>
            <p:cNvSpPr/>
            <p:nvPr userDrawn="1"/>
          </p:nvSpPr>
          <p:spPr>
            <a:xfrm>
              <a:off x="1034903" y="5904617"/>
              <a:ext cx="616688" cy="340242"/>
            </a:xfrm>
            <a:prstGeom prst="rect">
              <a:avLst/>
            </a:prstGeom>
            <a:solidFill>
              <a:srgbClr val="80002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" name="Text Placeholder 27">
            <a:extLst>
              <a:ext uri="{FF2B5EF4-FFF2-40B4-BE49-F238E27FC236}">
                <a16:creationId xmlns:a16="http://schemas.microsoft.com/office/drawing/2014/main" id="{A96719F2-AD8E-37FC-6963-70F3D0966A1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797050" y="5903546"/>
            <a:ext cx="367919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Northeastern University School of Law</a:t>
            </a:r>
          </a:p>
        </p:txBody>
      </p:sp>
    </p:spTree>
    <p:extLst>
      <p:ext uri="{BB962C8B-B14F-4D97-AF65-F5344CB8AC3E}">
        <p14:creationId xmlns:p14="http://schemas.microsoft.com/office/powerpoint/2010/main" val="3727181980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936928-3BCC-C3CF-8F35-A10B6F56B0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A6746D-E561-5CDE-FC36-953907C6D2F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E182BF-4A92-E604-A950-11446D76EB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B94E4D-8330-98E7-1EF3-F09AD190A4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FE8F2E-417D-8C78-B91B-21F1C3CF72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E9A795-8AA6-4189-9C5B-591D910047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7214331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Blank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62232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tags" Target="../tags/tag2.xml"/><Relationship Id="rId3" Type="http://schemas.openxmlformats.org/officeDocument/2006/relationships/slideLayout" Target="../slideLayouts/slideLayout21.xml"/><Relationship Id="rId7" Type="http://schemas.openxmlformats.org/officeDocument/2006/relationships/theme" Target="../theme/theme2.xml"/><Relationship Id="rId2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9.xml"/><Relationship Id="rId6" Type="http://schemas.openxmlformats.org/officeDocument/2006/relationships/slideLayout" Target="../slideLayouts/slideLayout24.xml"/><Relationship Id="rId11" Type="http://schemas.openxmlformats.org/officeDocument/2006/relationships/image" Target="../media/image2.png"/><Relationship Id="rId5" Type="http://schemas.openxmlformats.org/officeDocument/2006/relationships/slideLayout" Target="../slideLayouts/slideLayout23.xml"/><Relationship Id="rId10" Type="http://schemas.microsoft.com/office/2007/relationships/hdphoto" Target="../media/hdphoto1.wdp"/><Relationship Id="rId4" Type="http://schemas.openxmlformats.org/officeDocument/2006/relationships/slideLayout" Target="../slideLayouts/slideLayout22.xml"/><Relationship Id="rId9" Type="http://schemas.openxmlformats.org/officeDocument/2006/relationships/image" Target="../media/image1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13" Type="http://schemas.microsoft.com/office/2007/relationships/hdphoto" Target="../media/hdphoto1.wdp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11" Type="http://schemas.openxmlformats.org/officeDocument/2006/relationships/tags" Target="../tags/tag3.xml"/><Relationship Id="rId5" Type="http://schemas.openxmlformats.org/officeDocument/2006/relationships/slideLayout" Target="../slideLayouts/slideLayout29.xml"/><Relationship Id="rId10" Type="http://schemas.openxmlformats.org/officeDocument/2006/relationships/theme" Target="../theme/theme3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Relationship Id="rId14" Type="http://schemas.openxmlformats.org/officeDocument/2006/relationships/image" Target="../media/image2.png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microsoft.com/office/2007/relationships/hdphoto" Target="../media/hdphoto1.wdp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38.xml"/><Relationship Id="rId10" Type="http://schemas.openxmlformats.org/officeDocument/2006/relationships/tags" Target="../tags/tag4.xml"/><Relationship Id="rId4" Type="http://schemas.openxmlformats.org/officeDocument/2006/relationships/slideLayout" Target="../slideLayouts/slideLayout37.xml"/><Relationship Id="rId9" Type="http://schemas.openxmlformats.org/officeDocument/2006/relationships/theme" Target="../theme/theme4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9.xml"/><Relationship Id="rId13" Type="http://schemas.openxmlformats.org/officeDocument/2006/relationships/theme" Target="../theme/theme5.xml"/><Relationship Id="rId3" Type="http://schemas.openxmlformats.org/officeDocument/2006/relationships/slideLayout" Target="../slideLayouts/slideLayout44.xml"/><Relationship Id="rId7" Type="http://schemas.openxmlformats.org/officeDocument/2006/relationships/slideLayout" Target="../slideLayouts/slideLayout48.xml"/><Relationship Id="rId12" Type="http://schemas.openxmlformats.org/officeDocument/2006/relationships/slideLayout" Target="../slideLayouts/slideLayout53.xml"/><Relationship Id="rId17" Type="http://schemas.openxmlformats.org/officeDocument/2006/relationships/image" Target="../media/image2.png"/><Relationship Id="rId2" Type="http://schemas.openxmlformats.org/officeDocument/2006/relationships/slideLayout" Target="../slideLayouts/slideLayout43.xml"/><Relationship Id="rId16" Type="http://schemas.microsoft.com/office/2007/relationships/hdphoto" Target="../media/hdphoto1.wdp"/><Relationship Id="rId1" Type="http://schemas.openxmlformats.org/officeDocument/2006/relationships/slideLayout" Target="../slideLayouts/slideLayout42.xml"/><Relationship Id="rId6" Type="http://schemas.openxmlformats.org/officeDocument/2006/relationships/slideLayout" Target="../slideLayouts/slideLayout47.xml"/><Relationship Id="rId11" Type="http://schemas.openxmlformats.org/officeDocument/2006/relationships/slideLayout" Target="../slideLayouts/slideLayout52.xml"/><Relationship Id="rId5" Type="http://schemas.openxmlformats.org/officeDocument/2006/relationships/slideLayout" Target="../slideLayouts/slideLayout46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51.xml"/><Relationship Id="rId4" Type="http://schemas.openxmlformats.org/officeDocument/2006/relationships/slideLayout" Target="../slideLayouts/slideLayout45.xml"/><Relationship Id="rId9" Type="http://schemas.openxmlformats.org/officeDocument/2006/relationships/slideLayout" Target="../slideLayouts/slideLayout50.xml"/><Relationship Id="rId14" Type="http://schemas.openxmlformats.org/officeDocument/2006/relationships/tags" Target="../tags/tag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CD8C02B-8F5B-C114-D0B9-C873C4FA3C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5078" y="384790"/>
            <a:ext cx="10515600" cy="8147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How to Use Tables/ Charts: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BC813F-0871-A21A-B1CF-5129E8084D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61219" y="1402838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Go to View</a:t>
            </a:r>
          </a:p>
          <a:p>
            <a:pPr lvl="0"/>
            <a:r>
              <a:rPr lang="en-US"/>
              <a:t>Select Slide Master</a:t>
            </a:r>
          </a:p>
          <a:p>
            <a:pPr lvl="0"/>
            <a:r>
              <a:rPr lang="en-US"/>
              <a:t>Edit the table of your chose</a:t>
            </a:r>
          </a:p>
          <a:p>
            <a:pPr lvl="0"/>
            <a:r>
              <a:rPr lang="en-US"/>
              <a:t>Select close Slide Master once you’re done</a:t>
            </a:r>
          </a:p>
          <a:p>
            <a:pPr lvl="0"/>
            <a:r>
              <a:rPr lang="en-US"/>
              <a:t>Once you’re back on the home tab, select New Slide and pull the slide from there</a:t>
            </a:r>
          </a:p>
          <a:p>
            <a:pPr lvl="0"/>
            <a:endParaRPr lang="en-US"/>
          </a:p>
          <a:p>
            <a:pPr lvl="0"/>
            <a:endParaRPr lang="en-US"/>
          </a:p>
          <a:p>
            <a:pPr lvl="0"/>
            <a:endParaRPr lang="en-US"/>
          </a:p>
          <a:p>
            <a:pPr lvl="0"/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ABA9B0-203D-8B74-904E-74C23D613BC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8EFD1F-A349-CA8D-E011-D50F0514B7E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74BFF6-4E0B-C29A-515C-9ADEC0D1F2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5E9A795-8AA6-4189-9C5B-591D910047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95968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9" r:id="rId1"/>
    <p:sldLayoutId id="2147483681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83" r:id="rId9"/>
    <p:sldLayoutId id="2147483685" r:id="rId10"/>
    <p:sldLayoutId id="2147483684" r:id="rId11"/>
    <p:sldLayoutId id="2147483667" r:id="rId12"/>
    <p:sldLayoutId id="2147483669" r:id="rId13"/>
    <p:sldLayoutId id="2147483682" r:id="rId14"/>
    <p:sldLayoutId id="2147483724" r:id="rId15"/>
    <p:sldLayoutId id="2147483740" r:id="rId16"/>
    <p:sldLayoutId id="2147483749" r:id="rId17"/>
    <p:sldLayoutId id="2147483750" r:id="rId18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Lato Bold" panose="020F0502020204030203" pitchFamily="34" charset="0"/>
          <a:ea typeface="Lato Bold" panose="020F0502020204030203" pitchFamily="34" charset="0"/>
          <a:cs typeface="Lato Bold" panose="020F0502020204030203" pitchFamily="34" charset="0"/>
        </a:defRPr>
      </a:lvl1pPr>
    </p:titleStyle>
    <p:bodyStyle>
      <a:lvl1pPr marL="514350" indent="-514350" algn="l" defTabSz="914400" rtl="0" eaLnBrk="1" latinLnBrk="0" hangingPunct="1">
        <a:lnSpc>
          <a:spcPct val="90000"/>
        </a:lnSpc>
        <a:spcBef>
          <a:spcPts val="1000"/>
        </a:spcBef>
        <a:buFont typeface="+mj-lt"/>
        <a:buAutoNum type="arabicPeriod"/>
        <a:defRPr sz="2800" kern="1200">
          <a:solidFill>
            <a:schemeClr val="tx1"/>
          </a:solidFill>
          <a:latin typeface="Lato" panose="020F0502020204030203" pitchFamily="34" charset="0"/>
          <a:ea typeface="Lato" panose="020F0502020204030203" pitchFamily="34" charset="0"/>
          <a:cs typeface="Lato" panose="020F0502020204030203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Original Image path: \\S00769FR01\users$\ckim\Desktop\Northeastern-5.jpg&#10;Original Size: 2.2MB W:5,970px H:2,680px&#10;Compressed Size: 0.8MB W:1,920px H:861px (65.3% using JPEG compression of 95)&#10;Cropping: Left:0% Right:0% Top:0% Bottom:0%&#10;Last Updated: 7/26/2022 2:11:14 AM by ckim via Sasaki PPT Image Manager">
            <a:extLst>
              <a:ext uri="{FF2B5EF4-FFF2-40B4-BE49-F238E27FC236}">
                <a16:creationId xmlns:a16="http://schemas.microsoft.com/office/drawing/2014/main" id="{D57154F0-F5F7-A7C7-E8E1-54EAE59DBA14}"/>
              </a:ext>
            </a:extLst>
          </p:cNvPr>
          <p:cNvPicPr>
            <a:picLocks noChangeAspect="1"/>
          </p:cNvPicPr>
          <p:nvPr userDrawn="1">
            <p:custDataLst>
              <p:tags r:id="rId8"/>
            </p:custDataLst>
          </p:nvPr>
        </p:nvPicPr>
        <p:blipFill rotWithShape="1">
          <a:blip r:embed="rId9">
            <a:alphaModFix amt="35000"/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colorTemperature colorTemp="8800"/>
                    </a14:imgEffect>
                    <a14:imgEffect>
                      <a14:brightnessContrast bright="2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r="20278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effectLst/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28152A5-F8AE-FE44-73D2-F07D89EF5878}"/>
              </a:ext>
            </a:extLst>
          </p:cNvPr>
          <p:cNvSpPr txBox="1"/>
          <p:nvPr userDrawn="1"/>
        </p:nvSpPr>
        <p:spPr>
          <a:xfrm>
            <a:off x="182880" y="182880"/>
            <a:ext cx="842730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>
                <a:solidFill>
                  <a:srgbClr val="000000"/>
                </a:solidFill>
                <a:latin typeface="Lato Black" panose="020F0A02020204030203" pitchFamily="34" charset="0"/>
              </a:rPr>
              <a:t>Precedent Study Template</a:t>
            </a:r>
          </a:p>
          <a:p>
            <a:r>
              <a:rPr lang="en-US" sz="2800">
                <a:solidFill>
                  <a:srgbClr val="000000"/>
                </a:solidFill>
                <a:latin typeface="Lato" panose="020F0502020204030203" pitchFamily="34" charset="0"/>
              </a:rPr>
              <a:t>Northeastern University Boston Campus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69F2771-022D-DD1C-5A92-43D10C73FA4E}"/>
              </a:ext>
            </a:extLst>
          </p:cNvPr>
          <p:cNvPicPr>
            <a:picLocks noChangeAspect="1"/>
          </p:cNvPicPr>
          <p:nvPr userDrawn="1"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80" y="5760720"/>
            <a:ext cx="1099645" cy="850392"/>
          </a:xfrm>
          <a:prstGeom prst="rect">
            <a:avLst/>
          </a:prstGeom>
        </p:spPr>
      </p:pic>
      <p:sp>
        <p:nvSpPr>
          <p:cNvPr id="11" name="Text Placeholder 11">
            <a:extLst>
              <a:ext uri="{FF2B5EF4-FFF2-40B4-BE49-F238E27FC236}">
                <a16:creationId xmlns:a16="http://schemas.microsoft.com/office/drawing/2014/main" id="{245C4384-4330-0919-AF2D-D750B2DC5078}"/>
              </a:ext>
            </a:extLst>
          </p:cNvPr>
          <p:cNvSpPr txBox="1">
            <a:spLocks/>
          </p:cNvSpPr>
          <p:nvPr userDrawn="1"/>
        </p:nvSpPr>
        <p:spPr>
          <a:xfrm>
            <a:off x="182880" y="4037759"/>
            <a:ext cx="7533972" cy="59880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defRPr sz="3200" kern="1200">
                <a:solidFill>
                  <a:srgbClr val="000000"/>
                </a:solidFill>
                <a:latin typeface="Lato Bold" panose="020F0802020204030203" pitchFamily="34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[Presentation Title]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5CD0F790-D0CD-A393-FAE7-7ACE83E73D10}"/>
              </a:ext>
            </a:extLst>
          </p:cNvPr>
          <p:cNvSpPr txBox="1">
            <a:spLocks/>
          </p:cNvSpPr>
          <p:nvPr userDrawn="1"/>
        </p:nvSpPr>
        <p:spPr>
          <a:xfrm>
            <a:off x="182880" y="4717187"/>
            <a:ext cx="3980907" cy="400776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defRPr sz="1800" kern="1200">
                <a:solidFill>
                  <a:srgbClr val="000000"/>
                </a:solidFill>
                <a:latin typeface="Lato Bold" panose="020F0802020204030203" pitchFamily="34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[Date]</a:t>
            </a:r>
          </a:p>
        </p:txBody>
      </p:sp>
    </p:spTree>
    <p:extLst>
      <p:ext uri="{BB962C8B-B14F-4D97-AF65-F5344CB8AC3E}">
        <p14:creationId xmlns:p14="http://schemas.microsoft.com/office/powerpoint/2010/main" val="34366777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703" r:id="rId2"/>
    <p:sldLayoutId id="2147483700" r:id="rId3"/>
    <p:sldLayoutId id="2147483704" r:id="rId4"/>
    <p:sldLayoutId id="2147483701" r:id="rId5"/>
    <p:sldLayoutId id="2147483725" r:id="rId6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Original Image path: \\S00769FR01\users$\ckim\Desktop\Northeastern-5.jpg&#10;Original Size: 2.2MB W:5,970px H:2,680px&#10;Compressed Size: 0.8MB W:1,920px H:861px (65.3% using JPEG compression of 95)&#10;Cropping: Left:0% Right:0% Top:0% Bottom:0%&#10;Last Updated: 7/26/2022 2:11:14 AM by ckim via Sasaki PPT Image Manager">
            <a:extLst>
              <a:ext uri="{FF2B5EF4-FFF2-40B4-BE49-F238E27FC236}">
                <a16:creationId xmlns:a16="http://schemas.microsoft.com/office/drawing/2014/main" id="{D57154F0-F5F7-A7C7-E8E1-54EAE59DBA14}"/>
              </a:ext>
            </a:extLst>
          </p:cNvPr>
          <p:cNvPicPr>
            <a:picLocks noChangeAspect="1"/>
          </p:cNvPicPr>
          <p:nvPr userDrawn="1">
            <p:custDataLst>
              <p:tags r:id="rId11"/>
            </p:custDataLst>
          </p:nvPr>
        </p:nvPicPr>
        <p:blipFill rotWithShape="1">
          <a:blip r:embed="rId12">
            <a:alphaModFix amt="35000"/>
            <a:extLst>
              <a:ext uri="{BEBA8EAE-BF5A-486C-A8C5-ECC9F3942E4B}">
                <a14:imgProps xmlns:a14="http://schemas.microsoft.com/office/drawing/2010/main">
                  <a14:imgLayer r:embed="rId13">
                    <a14:imgEffect>
                      <a14:colorTemperature colorTemp="8800"/>
                    </a14:imgEffect>
                    <a14:imgEffect>
                      <a14:brightnessContrast bright="2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r="20278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effectLst/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28152A5-F8AE-FE44-73D2-F07D89EF5878}"/>
              </a:ext>
            </a:extLst>
          </p:cNvPr>
          <p:cNvSpPr txBox="1"/>
          <p:nvPr userDrawn="1"/>
        </p:nvSpPr>
        <p:spPr>
          <a:xfrm>
            <a:off x="182880" y="182880"/>
            <a:ext cx="842730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>
                <a:solidFill>
                  <a:srgbClr val="000000"/>
                </a:solidFill>
                <a:latin typeface="Lato Black" panose="020F0A02020204030203" pitchFamily="34" charset="0"/>
              </a:rPr>
              <a:t>Firm Precedent Study Template</a:t>
            </a:r>
          </a:p>
          <a:p>
            <a:r>
              <a:rPr lang="en-US" sz="2800">
                <a:solidFill>
                  <a:srgbClr val="000000"/>
                </a:solidFill>
                <a:latin typeface="Lato" panose="020F0502020204030203" pitchFamily="34" charset="0"/>
              </a:rPr>
              <a:t>Northeastern University Boston Campus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69F2771-022D-DD1C-5A92-43D10C73FA4E}"/>
              </a:ext>
            </a:extLst>
          </p:cNvPr>
          <p:cNvPicPr>
            <a:picLocks noChangeAspect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80" y="5760720"/>
            <a:ext cx="1099645" cy="850392"/>
          </a:xfrm>
          <a:prstGeom prst="rect">
            <a:avLst/>
          </a:prstGeom>
        </p:spPr>
      </p:pic>
      <p:sp>
        <p:nvSpPr>
          <p:cNvPr id="11" name="Text Placeholder 11">
            <a:extLst>
              <a:ext uri="{FF2B5EF4-FFF2-40B4-BE49-F238E27FC236}">
                <a16:creationId xmlns:a16="http://schemas.microsoft.com/office/drawing/2014/main" id="{245C4384-4330-0919-AF2D-D750B2DC5078}"/>
              </a:ext>
            </a:extLst>
          </p:cNvPr>
          <p:cNvSpPr txBox="1">
            <a:spLocks/>
          </p:cNvSpPr>
          <p:nvPr userDrawn="1"/>
        </p:nvSpPr>
        <p:spPr>
          <a:xfrm>
            <a:off x="182880" y="4037759"/>
            <a:ext cx="7533972" cy="59880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defRPr sz="3200" kern="1200">
                <a:solidFill>
                  <a:srgbClr val="000000"/>
                </a:solidFill>
                <a:latin typeface="Lato Bold" panose="020F0802020204030203" pitchFamily="34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[Presentation Title]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5CD0F790-D0CD-A393-FAE7-7ACE83E73D10}"/>
              </a:ext>
            </a:extLst>
          </p:cNvPr>
          <p:cNvSpPr txBox="1">
            <a:spLocks/>
          </p:cNvSpPr>
          <p:nvPr userDrawn="1"/>
        </p:nvSpPr>
        <p:spPr>
          <a:xfrm>
            <a:off x="182880" y="4717187"/>
            <a:ext cx="3980907" cy="400776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defRPr sz="1800" kern="1200">
                <a:solidFill>
                  <a:srgbClr val="000000"/>
                </a:solidFill>
                <a:latin typeface="Lato Bold" panose="020F0802020204030203" pitchFamily="34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[Date]</a:t>
            </a:r>
          </a:p>
        </p:txBody>
      </p:sp>
    </p:spTree>
    <p:extLst>
      <p:ext uri="{BB962C8B-B14F-4D97-AF65-F5344CB8AC3E}">
        <p14:creationId xmlns:p14="http://schemas.microsoft.com/office/powerpoint/2010/main" val="35483977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6" r:id="rId1"/>
    <p:sldLayoutId id="2147483707" r:id="rId2"/>
    <p:sldLayoutId id="2147483708" r:id="rId3"/>
    <p:sldLayoutId id="2147483711" r:id="rId4"/>
    <p:sldLayoutId id="2147483712" r:id="rId5"/>
    <p:sldLayoutId id="2147483710" r:id="rId6"/>
    <p:sldLayoutId id="2147483726" r:id="rId7"/>
    <p:sldLayoutId id="2147483744" r:id="rId8"/>
    <p:sldLayoutId id="2147483745" r:id="rId9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Original Image path: \\S00769FR01\users$\ckim\Desktop\Northeastern-5.jpg&#10;Original Size: 2.2MB W:5,970px H:2,680px&#10;Compressed Size: 0.8MB W:1,920px H:861px (65.3% using JPEG compression of 95)&#10;Cropping: Left:0% Right:0% Top:0% Bottom:0%&#10;Last Updated: 7/26/2022 2:11:14 AM by ckim via Sasaki PPT Image Manager">
            <a:extLst>
              <a:ext uri="{FF2B5EF4-FFF2-40B4-BE49-F238E27FC236}">
                <a16:creationId xmlns:a16="http://schemas.microsoft.com/office/drawing/2014/main" id="{D57154F0-F5F7-A7C7-E8E1-54EAE59DBA14}"/>
              </a:ext>
            </a:extLst>
          </p:cNvPr>
          <p:cNvPicPr>
            <a:picLocks noChangeAspect="1"/>
          </p:cNvPicPr>
          <p:nvPr userDrawn="1">
            <p:custDataLst>
              <p:tags r:id="rId10"/>
            </p:custDataLst>
          </p:nvPr>
        </p:nvPicPr>
        <p:blipFill rotWithShape="1">
          <a:blip r:embed="rId11">
            <a:alphaModFix amt="35000"/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colorTemperature colorTemp="8800"/>
                    </a14:imgEffect>
                    <a14:imgEffect>
                      <a14:brightnessContrast bright="2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r="20278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effectLst/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28152A5-F8AE-FE44-73D2-F07D89EF5878}"/>
              </a:ext>
            </a:extLst>
          </p:cNvPr>
          <p:cNvSpPr txBox="1"/>
          <p:nvPr userDrawn="1"/>
        </p:nvSpPr>
        <p:spPr>
          <a:xfrm>
            <a:off x="182880" y="182880"/>
            <a:ext cx="842730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>
                <a:solidFill>
                  <a:srgbClr val="000000"/>
                </a:solidFill>
                <a:latin typeface="Lato Black" panose="020F0A02020204030203" pitchFamily="34" charset="0"/>
              </a:rPr>
              <a:t>Template</a:t>
            </a:r>
          </a:p>
          <a:p>
            <a:r>
              <a:rPr lang="en-US" sz="2800">
                <a:solidFill>
                  <a:srgbClr val="000000"/>
                </a:solidFill>
                <a:latin typeface="Lato" panose="020F0502020204030203" pitchFamily="34" charset="0"/>
              </a:rPr>
              <a:t>Northeastern University Boston Campus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69F2771-022D-DD1C-5A92-43D10C73FA4E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80" y="5760720"/>
            <a:ext cx="1099645" cy="850392"/>
          </a:xfrm>
          <a:prstGeom prst="rect">
            <a:avLst/>
          </a:prstGeom>
        </p:spPr>
      </p:pic>
      <p:sp>
        <p:nvSpPr>
          <p:cNvPr id="11" name="Text Placeholder 11">
            <a:extLst>
              <a:ext uri="{FF2B5EF4-FFF2-40B4-BE49-F238E27FC236}">
                <a16:creationId xmlns:a16="http://schemas.microsoft.com/office/drawing/2014/main" id="{245C4384-4330-0919-AF2D-D750B2DC5078}"/>
              </a:ext>
            </a:extLst>
          </p:cNvPr>
          <p:cNvSpPr txBox="1">
            <a:spLocks/>
          </p:cNvSpPr>
          <p:nvPr userDrawn="1"/>
        </p:nvSpPr>
        <p:spPr>
          <a:xfrm>
            <a:off x="182880" y="4037759"/>
            <a:ext cx="7533972" cy="59880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defRPr sz="3200" kern="1200">
                <a:solidFill>
                  <a:srgbClr val="000000"/>
                </a:solidFill>
                <a:latin typeface="Lato Bold" panose="020F0802020204030203" pitchFamily="34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[Presentation Title]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5CD0F790-D0CD-A393-FAE7-7ACE83E73D10}"/>
              </a:ext>
            </a:extLst>
          </p:cNvPr>
          <p:cNvSpPr txBox="1">
            <a:spLocks/>
          </p:cNvSpPr>
          <p:nvPr userDrawn="1"/>
        </p:nvSpPr>
        <p:spPr>
          <a:xfrm>
            <a:off x="182880" y="4717187"/>
            <a:ext cx="3980907" cy="400776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defRPr sz="1800" kern="1200">
                <a:solidFill>
                  <a:srgbClr val="000000"/>
                </a:solidFill>
                <a:latin typeface="Lato Bold" panose="020F0802020204030203" pitchFamily="34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[Date]</a:t>
            </a:r>
          </a:p>
        </p:txBody>
      </p:sp>
    </p:spTree>
    <p:extLst>
      <p:ext uri="{BB962C8B-B14F-4D97-AF65-F5344CB8AC3E}">
        <p14:creationId xmlns:p14="http://schemas.microsoft.com/office/powerpoint/2010/main" val="16008382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  <p:sldLayoutId id="2147483715" r:id="rId2"/>
    <p:sldLayoutId id="2147483720" r:id="rId3"/>
    <p:sldLayoutId id="2147483721" r:id="rId4"/>
    <p:sldLayoutId id="2147483723" r:id="rId5"/>
    <p:sldLayoutId id="2147483719" r:id="rId6"/>
    <p:sldLayoutId id="2147483722" r:id="rId7"/>
    <p:sldLayoutId id="2147483746" r:id="rId8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Original Image path: \\S00769FR01\users$\ckim\Desktop\Northeastern-5.jpg&#10;Original Size: 2.2MB W:5,970px H:2,680px&#10;Compressed Size: 0.8MB W:1,920px H:861px (65.3% using JPEG compression of 95)&#10;Cropping: Left:0% Right:0% Top:0% Bottom:0%&#10;Last Updated: 7/26/2022 2:11:14 AM by ckim via Sasaki PPT Image Manager">
            <a:extLst>
              <a:ext uri="{FF2B5EF4-FFF2-40B4-BE49-F238E27FC236}">
                <a16:creationId xmlns:a16="http://schemas.microsoft.com/office/drawing/2014/main" id="{D57154F0-F5F7-A7C7-E8E1-54EAE59DBA14}"/>
              </a:ext>
            </a:extLst>
          </p:cNvPr>
          <p:cNvPicPr>
            <a:picLocks noChangeAspect="1"/>
          </p:cNvPicPr>
          <p:nvPr userDrawn="1">
            <p:custDataLst>
              <p:tags r:id="rId14"/>
            </p:custDataLst>
          </p:nvPr>
        </p:nvPicPr>
        <p:blipFill rotWithShape="1">
          <a:blip r:embed="rId15">
            <a:alphaModFix amt="35000"/>
            <a:extLst>
              <a:ext uri="{BEBA8EAE-BF5A-486C-A8C5-ECC9F3942E4B}">
                <a14:imgProps xmlns:a14="http://schemas.microsoft.com/office/drawing/2010/main">
                  <a14:imgLayer r:embed="rId16">
                    <a14:imgEffect>
                      <a14:colorTemperature colorTemp="8800"/>
                    </a14:imgEffect>
                    <a14:imgEffect>
                      <a14:brightnessContrast bright="2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r="20278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effectLst/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28152A5-F8AE-FE44-73D2-F07D89EF5878}"/>
              </a:ext>
            </a:extLst>
          </p:cNvPr>
          <p:cNvSpPr txBox="1"/>
          <p:nvPr userDrawn="1"/>
        </p:nvSpPr>
        <p:spPr>
          <a:xfrm>
            <a:off x="182880" y="182880"/>
            <a:ext cx="842730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>
                <a:solidFill>
                  <a:srgbClr val="000000"/>
                </a:solidFill>
                <a:latin typeface="Lato Black" panose="020F0A02020204030203" pitchFamily="34" charset="0"/>
              </a:rPr>
              <a:t>Consultant RFP Template</a:t>
            </a:r>
          </a:p>
          <a:p>
            <a:r>
              <a:rPr lang="en-US" sz="2800">
                <a:solidFill>
                  <a:srgbClr val="000000"/>
                </a:solidFill>
                <a:latin typeface="Lato" panose="020F0502020204030203" pitchFamily="34" charset="0"/>
              </a:rPr>
              <a:t>Northeastern University Boston Campus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69F2771-022D-DD1C-5A92-43D10C73FA4E}"/>
              </a:ext>
            </a:extLst>
          </p:cNvPr>
          <p:cNvPicPr>
            <a:picLocks noChangeAspect="1"/>
          </p:cNvPicPr>
          <p:nvPr userDrawn="1"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80" y="5760720"/>
            <a:ext cx="1099645" cy="850392"/>
          </a:xfrm>
          <a:prstGeom prst="rect">
            <a:avLst/>
          </a:prstGeom>
        </p:spPr>
      </p:pic>
      <p:sp>
        <p:nvSpPr>
          <p:cNvPr id="11" name="Text Placeholder 11">
            <a:extLst>
              <a:ext uri="{FF2B5EF4-FFF2-40B4-BE49-F238E27FC236}">
                <a16:creationId xmlns:a16="http://schemas.microsoft.com/office/drawing/2014/main" id="{245C4384-4330-0919-AF2D-D750B2DC5078}"/>
              </a:ext>
            </a:extLst>
          </p:cNvPr>
          <p:cNvSpPr txBox="1">
            <a:spLocks/>
          </p:cNvSpPr>
          <p:nvPr userDrawn="1"/>
        </p:nvSpPr>
        <p:spPr>
          <a:xfrm>
            <a:off x="182880" y="4037759"/>
            <a:ext cx="7533972" cy="59880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defRPr sz="3200" kern="1200">
                <a:solidFill>
                  <a:srgbClr val="000000"/>
                </a:solidFill>
                <a:latin typeface="Lato Bold" panose="020F0802020204030203" pitchFamily="34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[Presentation Title]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5CD0F790-D0CD-A393-FAE7-7ACE83E73D10}"/>
              </a:ext>
            </a:extLst>
          </p:cNvPr>
          <p:cNvSpPr txBox="1">
            <a:spLocks/>
          </p:cNvSpPr>
          <p:nvPr userDrawn="1"/>
        </p:nvSpPr>
        <p:spPr>
          <a:xfrm>
            <a:off x="182880" y="4717187"/>
            <a:ext cx="3980907" cy="400776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defRPr sz="1800" kern="1200">
                <a:solidFill>
                  <a:srgbClr val="000000"/>
                </a:solidFill>
                <a:latin typeface="Lato Bold" panose="020F0802020204030203" pitchFamily="34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[Date]</a:t>
            </a:r>
          </a:p>
        </p:txBody>
      </p:sp>
    </p:spTree>
    <p:extLst>
      <p:ext uri="{BB962C8B-B14F-4D97-AF65-F5344CB8AC3E}">
        <p14:creationId xmlns:p14="http://schemas.microsoft.com/office/powerpoint/2010/main" val="21072830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9" r:id="rId1"/>
    <p:sldLayoutId id="2147483730" r:id="rId2"/>
    <p:sldLayoutId id="2147483736" r:id="rId3"/>
    <p:sldLayoutId id="2147483731" r:id="rId4"/>
    <p:sldLayoutId id="2147483737" r:id="rId5"/>
    <p:sldLayoutId id="2147483732" r:id="rId6"/>
    <p:sldLayoutId id="2147483738" r:id="rId7"/>
    <p:sldLayoutId id="2147483733" r:id="rId8"/>
    <p:sldLayoutId id="2147483734" r:id="rId9"/>
    <p:sldLayoutId id="2147483735" r:id="rId10"/>
    <p:sldLayoutId id="2147483747" r:id="rId11"/>
    <p:sldLayoutId id="2147483748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26.jpeg"/><Relationship Id="rId5" Type="http://schemas.openxmlformats.org/officeDocument/2006/relationships/image" Target="../media/image25.jpeg"/><Relationship Id="rId4" Type="http://schemas.openxmlformats.org/officeDocument/2006/relationships/image" Target="../media/image24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31371" y="1390474"/>
            <a:ext cx="6096807" cy="2038526"/>
          </a:xfrm>
        </p:spPr>
        <p:txBody>
          <a:bodyPr>
            <a:normAutofit/>
          </a:bodyPr>
          <a:lstStyle/>
          <a:p>
            <a:r>
              <a:rPr lang="en-US" sz="5400">
                <a:latin typeface="+mj-lt"/>
                <a:ea typeface="Lato"/>
                <a:cs typeface="Arial"/>
              </a:rPr>
              <a:t>Fenway Lease</a:t>
            </a:r>
            <a:br>
              <a:rPr lang="en-US" sz="5400">
                <a:latin typeface="+mj-lt"/>
                <a:ea typeface="Lato"/>
                <a:cs typeface="Arial"/>
              </a:rPr>
            </a:br>
            <a:r>
              <a:rPr lang="en-US" sz="5400">
                <a:latin typeface="Lato"/>
                <a:ea typeface="Lato"/>
                <a:cs typeface="Arial"/>
              </a:rPr>
              <a:t>Opportunities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31371" y="3644371"/>
            <a:ext cx="6581087" cy="165576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1200">
                <a:latin typeface="+mj-lt"/>
              </a:rPr>
              <a:t>September 25, 2026</a:t>
            </a:r>
            <a:endParaRPr lang="en-US"/>
          </a:p>
        </p:txBody>
      </p:sp>
      <p:sp>
        <p:nvSpPr>
          <p:cNvPr id="4" name="Title Placeholder 1">
            <a:extLst>
              <a:ext uri="{FF2B5EF4-FFF2-40B4-BE49-F238E27FC236}">
                <a16:creationId xmlns:a16="http://schemas.microsoft.com/office/drawing/2014/main" id="{FF74370F-D703-4C89-9C92-61C87C3D6192}"/>
              </a:ext>
            </a:extLst>
          </p:cNvPr>
          <p:cNvSpPr txBox="1">
            <a:spLocks/>
          </p:cNvSpPr>
          <p:nvPr/>
        </p:nvSpPr>
        <p:spPr>
          <a:xfrm>
            <a:off x="631371" y="6043254"/>
            <a:ext cx="10515600" cy="8147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600">
                <a:latin typeface="Lato" panose="020F0502020204030203" pitchFamily="34" charset="0"/>
                <a:ea typeface="Lato Bold" panose="020F0502020204030203" pitchFamily="34" charset="0"/>
                <a:cs typeface="Lato Bold" panose="020F0502020204030203" pitchFamily="34" charset="0"/>
              </a:rPr>
              <a:t>Planning, Real Estate, and Facilities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071770" y="250000"/>
            <a:ext cx="800000" cy="330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FFFFFF"/>
                </a:solidFill>
              </a:defRPr>
            </a:lvl1pPr>
          </a:lstStyle>
          <a:p>
            <a:fld id="{22818F73-BEFD-4D2D-81AA-209F7D7B800B}" type="slidenum">
              <a:rPr lang="en-US" smtClean="0">
                <a:solidFill>
                  <a:srgbClr val="FFFFFF"/>
                </a:solidFill>
              </a:rPr>
              <a:t>1</a:t>
            </a:fld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134826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 descr="Boston's lab building has stagnated. Now what?">
            <a:extLst>
              <a:ext uri="{FF2B5EF4-FFF2-40B4-BE49-F238E27FC236}">
                <a16:creationId xmlns:a16="http://schemas.microsoft.com/office/drawing/2014/main" id="{56B2D73A-2328-C25A-DD66-69610611A62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626" r="12052"/>
          <a:stretch>
            <a:fillRect/>
          </a:stretch>
        </p:blipFill>
        <p:spPr>
          <a:xfrm>
            <a:off x="9464559" y="3468737"/>
            <a:ext cx="2360045" cy="188827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6E1DD18-9D96-6F2E-F27E-0199CD0F6AC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8012" t="17241" r="15917" b="7499"/>
          <a:stretch>
            <a:fillRect/>
          </a:stretch>
        </p:blipFill>
        <p:spPr>
          <a:xfrm>
            <a:off x="3438987" y="3468739"/>
            <a:ext cx="2382412" cy="180916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691879D-BEB8-B848-1AF7-2E88763A6E1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94" r="8982"/>
          <a:stretch>
            <a:fillRect/>
          </a:stretch>
        </p:blipFill>
        <p:spPr>
          <a:xfrm>
            <a:off x="451214" y="3468739"/>
            <a:ext cx="2380106" cy="1809167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DF85913-CA69-0DB9-F290-4F399BC121B3}"/>
              </a:ext>
            </a:extLst>
          </p:cNvPr>
          <p:cNvCxnSpPr>
            <a:cxnSpLocks/>
          </p:cNvCxnSpPr>
          <p:nvPr/>
        </p:nvCxnSpPr>
        <p:spPr>
          <a:xfrm>
            <a:off x="3110391" y="2025530"/>
            <a:ext cx="0" cy="3717076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D478D3C7-BFDB-B7FB-4BCC-2230D16CCF9D}"/>
              </a:ext>
            </a:extLst>
          </p:cNvPr>
          <p:cNvSpPr txBox="1"/>
          <p:nvPr/>
        </p:nvSpPr>
        <p:spPr>
          <a:xfrm>
            <a:off x="370112" y="2591587"/>
            <a:ext cx="306868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>
                <a:latin typeface="Lato"/>
              </a:rPr>
              <a:t>Extend lease</a:t>
            </a:r>
            <a:br>
              <a:rPr lang="en-US" sz="2000" b="1">
                <a:latin typeface="Lato"/>
              </a:rPr>
            </a:br>
            <a:r>
              <a:rPr lang="en-US" sz="2000" b="1">
                <a:latin typeface="Lato"/>
              </a:rPr>
              <a:t>at 140 The Fenway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C222CC1-6863-241F-E9A7-93B881CCCBB7}"/>
              </a:ext>
            </a:extLst>
          </p:cNvPr>
          <p:cNvSpPr txBox="1"/>
          <p:nvPr/>
        </p:nvSpPr>
        <p:spPr>
          <a:xfrm>
            <a:off x="370112" y="5357015"/>
            <a:ext cx="2809397" cy="76944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1600" dirty="0">
                <a:latin typeface="Lato"/>
              </a:rPr>
              <a:t>Maintain current location</a:t>
            </a:r>
          </a:p>
          <a:p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Lato"/>
              </a:rPr>
              <a:t>(No growth option)</a:t>
            </a:r>
            <a:endParaRPr lang="en-US" sz="1200" dirty="0">
              <a:solidFill>
                <a:schemeClr val="bg1">
                  <a:lumMod val="50000"/>
                </a:schemeClr>
              </a:solidFill>
              <a:latin typeface="Lato"/>
              <a:ea typeface="Lato"/>
              <a:cs typeface="Lato"/>
            </a:endParaRPr>
          </a:p>
          <a:p>
            <a:endParaRPr lang="en-US" sz="1600" dirty="0">
              <a:latin typeface="Lato"/>
              <a:ea typeface="Lato"/>
              <a:cs typeface="Lato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079B186-DE10-8C42-5731-3B479C8B084D}"/>
              </a:ext>
            </a:extLst>
          </p:cNvPr>
          <p:cNvSpPr txBox="1"/>
          <p:nvPr/>
        </p:nvSpPr>
        <p:spPr>
          <a:xfrm>
            <a:off x="370112" y="1829979"/>
            <a:ext cx="119742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>
                <a:solidFill>
                  <a:srgbClr val="C8102E"/>
                </a:solidFill>
                <a:latin typeface="Lato"/>
              </a:rPr>
              <a:t>01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524DF0E-4C67-6BE6-E4A5-74377857AC13}"/>
              </a:ext>
            </a:extLst>
          </p:cNvPr>
          <p:cNvSpPr txBox="1"/>
          <p:nvPr/>
        </p:nvSpPr>
        <p:spPr>
          <a:xfrm>
            <a:off x="3357884" y="2591587"/>
            <a:ext cx="306868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>
                <a:latin typeface="Lato"/>
              </a:rPr>
              <a:t>Relocate lab use</a:t>
            </a:r>
            <a:br>
              <a:rPr lang="en-US" sz="2000" b="1">
                <a:latin typeface="Lato"/>
              </a:rPr>
            </a:br>
            <a:r>
              <a:rPr lang="en-US" sz="2000" b="1">
                <a:latin typeface="Lato"/>
              </a:rPr>
              <a:t>to 4 Burlington Woods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FCF1701-6C56-2B39-4660-852B60299BCF}"/>
              </a:ext>
            </a:extLst>
          </p:cNvPr>
          <p:cNvSpPr txBox="1"/>
          <p:nvPr/>
        </p:nvSpPr>
        <p:spPr>
          <a:xfrm>
            <a:off x="3357884" y="5357015"/>
            <a:ext cx="280939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>
                <a:latin typeface="Lato"/>
              </a:rPr>
              <a:t>Non-lab uses elsewhere</a:t>
            </a:r>
          </a:p>
          <a:p>
            <a:r>
              <a:rPr lang="en-US" sz="1200">
                <a:solidFill>
                  <a:schemeClr val="bg1">
                    <a:lumMod val="50000"/>
                  </a:schemeClr>
                </a:solidFill>
                <a:latin typeface="Lato"/>
              </a:rPr>
              <a:t>(4BW infrastructure requires upgrades to support 140 TF research)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2CCE885-AA9A-4524-6F58-2F82B1C1A314}"/>
              </a:ext>
            </a:extLst>
          </p:cNvPr>
          <p:cNvSpPr txBox="1"/>
          <p:nvPr/>
        </p:nvSpPr>
        <p:spPr>
          <a:xfrm>
            <a:off x="3357884" y="1829979"/>
            <a:ext cx="119742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>
                <a:solidFill>
                  <a:srgbClr val="C8102E"/>
                </a:solidFill>
                <a:latin typeface="Lato"/>
              </a:rPr>
              <a:t>02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82DCBA4-6525-5502-8CE5-53FD3B484816}"/>
              </a:ext>
            </a:extLst>
          </p:cNvPr>
          <p:cNvSpPr txBox="1"/>
          <p:nvPr/>
        </p:nvSpPr>
        <p:spPr>
          <a:xfrm>
            <a:off x="6420611" y="2591587"/>
            <a:ext cx="306868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>
                <a:latin typeface="Lato"/>
              </a:rPr>
              <a:t>Lease lab space</a:t>
            </a:r>
            <a:br>
              <a:rPr lang="en-US" sz="2000" b="1">
                <a:latin typeface="Lato"/>
              </a:rPr>
            </a:br>
            <a:r>
              <a:rPr lang="en-US" sz="2000" b="1">
                <a:latin typeface="Lato"/>
              </a:rPr>
              <a:t>at 421 Park Drive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41273E2-00E9-69EC-9334-03D5022DA7E2}"/>
              </a:ext>
            </a:extLst>
          </p:cNvPr>
          <p:cNvSpPr txBox="1"/>
          <p:nvPr/>
        </p:nvSpPr>
        <p:spPr>
          <a:xfrm>
            <a:off x="6420611" y="5357015"/>
            <a:ext cx="280939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>
                <a:latin typeface="Lato"/>
              </a:rPr>
              <a:t>Non-lab uses elsewhere</a:t>
            </a:r>
          </a:p>
          <a:p>
            <a:r>
              <a:rPr lang="en-US" sz="1200">
                <a:solidFill>
                  <a:schemeClr val="bg1">
                    <a:lumMod val="50000"/>
                  </a:schemeClr>
                </a:solidFill>
                <a:latin typeface="Lato"/>
              </a:rPr>
              <a:t>(3a: 1 floor; 3b: 2 floors)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FD17772-BA9A-BB56-4BFC-8D4275EE502C}"/>
              </a:ext>
            </a:extLst>
          </p:cNvPr>
          <p:cNvSpPr txBox="1"/>
          <p:nvPr/>
        </p:nvSpPr>
        <p:spPr>
          <a:xfrm>
            <a:off x="6420611" y="1829979"/>
            <a:ext cx="1900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>
                <a:solidFill>
                  <a:srgbClr val="C8102E"/>
                </a:solidFill>
                <a:latin typeface="Lato"/>
              </a:rPr>
              <a:t>03a/b</a:t>
            </a:r>
          </a:p>
        </p:txBody>
      </p:sp>
      <p:pic>
        <p:nvPicPr>
          <p:cNvPr id="16" name="Picture 15" descr="421 Park Drive | Suffolk Construction %">
            <a:extLst>
              <a:ext uri="{FF2B5EF4-FFF2-40B4-BE49-F238E27FC236}">
                <a16:creationId xmlns:a16="http://schemas.microsoft.com/office/drawing/2014/main" id="{133D4836-B1DE-31FE-69A1-146A7FFD1603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-1" t="20742" r="-1"/>
          <a:stretch>
            <a:fillRect/>
          </a:stretch>
        </p:blipFill>
        <p:spPr>
          <a:xfrm>
            <a:off x="6528610" y="3468738"/>
            <a:ext cx="2382404" cy="1888277"/>
          </a:xfrm>
          <a:prstGeom prst="rect">
            <a:avLst/>
          </a:prstGeom>
        </p:spPr>
      </p:pic>
      <p:sp>
        <p:nvSpPr>
          <p:cNvPr id="20" name="Title Placeholder 1">
            <a:extLst>
              <a:ext uri="{FF2B5EF4-FFF2-40B4-BE49-F238E27FC236}">
                <a16:creationId xmlns:a16="http://schemas.microsoft.com/office/drawing/2014/main" id="{67E92E75-B9AD-6381-C290-45E67CAD6013}"/>
              </a:ext>
            </a:extLst>
          </p:cNvPr>
          <p:cNvSpPr txBox="1">
            <a:spLocks/>
          </p:cNvSpPr>
          <p:nvPr/>
        </p:nvSpPr>
        <p:spPr>
          <a:xfrm>
            <a:off x="320230" y="457200"/>
            <a:ext cx="7068174" cy="8147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>
                <a:latin typeface="Lato Bold" panose="020F0502020204030203" pitchFamily="34" charset="0"/>
                <a:ea typeface="Lato Bold" panose="020F0502020204030203" pitchFamily="34" charset="0"/>
                <a:cs typeface="Lato Bold" panose="020F0502020204030203" pitchFamily="34" charset="0"/>
              </a:rPr>
              <a:t>Options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69A1C469-97CA-F246-5FE4-0C9DE2EEE3E4}"/>
              </a:ext>
            </a:extLst>
          </p:cNvPr>
          <p:cNvCxnSpPr/>
          <p:nvPr/>
        </p:nvCxnSpPr>
        <p:spPr>
          <a:xfrm>
            <a:off x="451214" y="402771"/>
            <a:ext cx="1355815" cy="0"/>
          </a:xfrm>
          <a:prstGeom prst="line">
            <a:avLst/>
          </a:prstGeom>
          <a:ln w="28575">
            <a:solidFill>
              <a:srgbClr val="C810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10481B25-7528-ED9B-E69D-31DA5B96D7CB}"/>
              </a:ext>
            </a:extLst>
          </p:cNvPr>
          <p:cNvCxnSpPr>
            <a:cxnSpLocks/>
          </p:cNvCxnSpPr>
          <p:nvPr/>
        </p:nvCxnSpPr>
        <p:spPr>
          <a:xfrm>
            <a:off x="6173119" y="2036547"/>
            <a:ext cx="0" cy="3717076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BFBACBEC-0732-0132-D057-B47389005FDB}"/>
              </a:ext>
            </a:extLst>
          </p:cNvPr>
          <p:cNvSpPr txBox="1"/>
          <p:nvPr/>
        </p:nvSpPr>
        <p:spPr>
          <a:xfrm>
            <a:off x="9356561" y="2591587"/>
            <a:ext cx="306868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>
                <a:latin typeface="Lato"/>
              </a:rPr>
              <a:t>Lease lab space</a:t>
            </a:r>
            <a:br>
              <a:rPr lang="en-US" sz="2000" b="1">
                <a:latin typeface="Lato"/>
              </a:rPr>
            </a:br>
            <a:r>
              <a:rPr lang="en-US" sz="2000" b="1">
                <a:latin typeface="Lato"/>
              </a:rPr>
              <a:t>at 109 Brookline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20ED2D9-A7BE-660E-259D-0C428A235505}"/>
              </a:ext>
            </a:extLst>
          </p:cNvPr>
          <p:cNvSpPr txBox="1"/>
          <p:nvPr/>
        </p:nvSpPr>
        <p:spPr>
          <a:xfrm>
            <a:off x="9356561" y="5357015"/>
            <a:ext cx="280939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>
                <a:latin typeface="Lato"/>
              </a:rPr>
              <a:t>Non-lab uses elsewhere</a:t>
            </a:r>
          </a:p>
          <a:p>
            <a:r>
              <a:rPr lang="en-US" sz="1200">
                <a:solidFill>
                  <a:schemeClr val="bg1">
                    <a:lumMod val="50000"/>
                  </a:schemeClr>
                </a:solidFill>
                <a:latin typeface="Lato"/>
              </a:rPr>
              <a:t>(4a: 2 floors; 4b: 3 floors)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E53CEC0-860D-6189-0170-6BD400A4DFC9}"/>
              </a:ext>
            </a:extLst>
          </p:cNvPr>
          <p:cNvSpPr txBox="1"/>
          <p:nvPr/>
        </p:nvSpPr>
        <p:spPr>
          <a:xfrm>
            <a:off x="9356561" y="1829979"/>
            <a:ext cx="1900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>
                <a:solidFill>
                  <a:srgbClr val="C8102E"/>
                </a:solidFill>
                <a:latin typeface="Lato"/>
              </a:rPr>
              <a:t>04a/b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27292A91-5BF1-DA9D-F450-C99DE2B992D4}"/>
              </a:ext>
            </a:extLst>
          </p:cNvPr>
          <p:cNvCxnSpPr>
            <a:cxnSpLocks/>
          </p:cNvCxnSpPr>
          <p:nvPr/>
        </p:nvCxnSpPr>
        <p:spPr>
          <a:xfrm>
            <a:off x="9142120" y="2036547"/>
            <a:ext cx="0" cy="3717076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Slide Number Placeholder 29"/>
          <p:cNvSpPr>
            <a:spLocks noGrp="1"/>
          </p:cNvSpPr>
          <p:nvPr>
            <p:ph type="sldNum" sz="quarter" idx="4"/>
          </p:nvPr>
        </p:nvSpPr>
        <p:spPr>
          <a:xfrm>
            <a:off x="11071770" y="250000"/>
            <a:ext cx="800000" cy="330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FB3D4AA-9DD9-45FD-987B-E5AA81E691B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5869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E4A6AE7D-54B4-9687-0F9C-3261A33BA1B0}"/>
              </a:ext>
            </a:extLst>
          </p:cNvPr>
          <p:cNvSpPr txBox="1">
            <a:spLocks/>
          </p:cNvSpPr>
          <p:nvPr/>
        </p:nvSpPr>
        <p:spPr>
          <a:xfrm>
            <a:off x="320230" y="457200"/>
            <a:ext cx="7068174" cy="8147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>
                <a:latin typeface="Lato Bold" panose="020F0502020204030203" pitchFamily="34" charset="0"/>
                <a:ea typeface="Lato Bold" panose="020F0502020204030203" pitchFamily="34" charset="0"/>
                <a:cs typeface="Lato Bold" panose="020F0502020204030203" pitchFamily="34" charset="0"/>
              </a:rPr>
              <a:t>ROM Cost Comparison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A82D46D-ADA5-9E9B-6F30-241D2E59D5DE}"/>
              </a:ext>
            </a:extLst>
          </p:cNvPr>
          <p:cNvCxnSpPr/>
          <p:nvPr/>
        </p:nvCxnSpPr>
        <p:spPr>
          <a:xfrm>
            <a:off x="451214" y="402771"/>
            <a:ext cx="1355815" cy="0"/>
          </a:xfrm>
          <a:prstGeom prst="line">
            <a:avLst/>
          </a:prstGeom>
          <a:ln w="28575">
            <a:solidFill>
              <a:srgbClr val="C810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15E1966-EF34-C545-7DFB-C7B6A85376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1542861"/>
              </p:ext>
            </p:extLst>
          </p:nvPr>
        </p:nvGraphicFramePr>
        <p:xfrm>
          <a:off x="351513" y="1280000"/>
          <a:ext cx="11488972" cy="4630281"/>
        </p:xfrm>
        <a:graphic>
          <a:graphicData uri="http://schemas.openxmlformats.org/drawingml/2006/table">
            <a:tbl>
              <a:tblPr/>
              <a:tblGrid>
                <a:gridCol w="1030000"/>
                <a:gridCol w="1560000"/>
                <a:gridCol w="1483162"/>
                <a:gridCol w="1483162"/>
                <a:gridCol w="1483162"/>
                <a:gridCol w="1483162"/>
                <a:gridCol w="1483162"/>
                <a:gridCol w="1483162"/>
              </a:tblGrid>
              <a:tr h="74000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900" b="0" i="0" u="none" strike="noStrike">
                        <a:solidFill>
                          <a:srgbClr val="FFFFFF"/>
                        </a:solidFill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T="0" marB="0" anchor="b">
                    <a:lnL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FFFFFF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0</a:t>
                      </a:r>
                    </a:p>
                  </a:txBody>
                  <a:tcPr marT="0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Option 1</a:t>
                      </a:r>
                      <a:br>
                        <a:rPr lang="en-US" sz="1400" b="1" i="0" u="none" strike="noStrike">
                          <a:solidFill>
                            <a:srgbClr val="FFFFFF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</a:br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140 TF Existing </a:t>
                      </a:r>
                    </a:p>
                  </a:txBody>
                  <a:tcPr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0505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Option 2</a:t>
                      </a:r>
                      <a:br>
                        <a:rPr lang="en-US" sz="1400" b="1" i="0" u="none" strike="noStrike">
                          <a:solidFill>
                            <a:srgbClr val="FFFFFF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</a:br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4 Burlington Woods</a:t>
                      </a:r>
                    </a:p>
                  </a:txBody>
                  <a:tcPr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102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Option 3a</a:t>
                      </a:r>
                      <a:br>
                        <a:rPr lang="en-US" sz="1400" b="1" i="0" u="none" strike="noStrike">
                          <a:solidFill>
                            <a:srgbClr val="FFFFFF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</a:br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421 Park Drive </a:t>
                      </a:r>
                    </a:p>
                  </a:txBody>
                  <a:tcPr marT="0" marB="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Option 3b</a:t>
                      </a:r>
                      <a:br>
                        <a:rPr lang="en-US" sz="1400" b="1" i="0" u="none" strike="noStrike">
                          <a:solidFill>
                            <a:srgbClr val="FFFFFF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</a:br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421 Park Drive </a:t>
                      </a:r>
                    </a:p>
                  </a:txBody>
                  <a:tcPr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Option 4a</a:t>
                      </a:r>
                      <a:br>
                        <a:rPr lang="en-US" sz="1400" b="1" i="0" u="none" strike="noStrike">
                          <a:solidFill>
                            <a:srgbClr val="FFFFFF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</a:br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109 Brookline</a:t>
                      </a:r>
                    </a:p>
                  </a:txBody>
                  <a:tcPr marT="0" marB="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7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Option 4b</a:t>
                      </a:r>
                      <a:br>
                        <a:rPr lang="en-US" sz="1400" b="1" i="0" u="none" strike="noStrike">
                          <a:solidFill>
                            <a:srgbClr val="FFFFFF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</a:br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109 Brookline</a:t>
                      </a:r>
                    </a:p>
                  </a:txBody>
                  <a:tcPr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7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4802693"/>
                  </a:ext>
                </a:extLst>
              </a:tr>
              <a:tr h="283427">
                <a:tc rowSpan="3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Space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Number of Floors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Entire Building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Entire Building 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1 Floor</a:t>
                      </a:r>
                    </a:p>
                  </a:txBody>
                  <a:tcPr marT="0" marB="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2 Floors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2 Floors</a:t>
                      </a:r>
                    </a:p>
                  </a:txBody>
                  <a:tcPr marT="0" marB="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3 Floors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57754038"/>
                  </a:ext>
                </a:extLst>
              </a:tr>
              <a:tr h="283427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 Total RSF to lease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107,000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109,000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53,000 </a:t>
                      </a:r>
                    </a:p>
                  </a:txBody>
                  <a:tcPr marT="0" marB="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106,000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74,000 </a:t>
                      </a:r>
                    </a:p>
                  </a:txBody>
                  <a:tcPr marT="0" marB="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111,000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3565760"/>
                  </a:ext>
                </a:extLst>
              </a:tr>
              <a:tr h="283427">
                <a:tc vMerge="1"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T="0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Assignable SF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 xml:space="preserve">65,000 </a:t>
                      </a:r>
                      <a:r>
                        <a:rPr lang="en-US" sz="700" b="0" i="1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(~39,000 SF lab)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 xml:space="preserve">81,000 </a:t>
                      </a:r>
                      <a:r>
                        <a:rPr lang="en-US" sz="700" b="0" i="1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(~32,000 SF lab)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37,100 </a:t>
                      </a:r>
                    </a:p>
                  </a:txBody>
                  <a:tcPr marT="0" marB="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74,200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51,800 </a:t>
                      </a:r>
                    </a:p>
                  </a:txBody>
                  <a:tcPr marT="0" marB="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77,700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26037104"/>
                  </a:ext>
                </a:extLst>
              </a:tr>
              <a:tr h="11400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Capital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Net Capital Cost to NU</a:t>
                      </a:r>
                      <a:endParaRPr lang="en-US">
                        <a:latin typeface="Lato"/>
                        <a:ea typeface="Lato"/>
                        <a:cs typeface="Lato"/>
                      </a:endParaRPr>
                    </a:p>
                    <a:p>
                      <a:pPr lv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i="0" u="none" strike="noStrike" noProof="0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after $350/SF TI (Options 3a/3b/4a/4b)</a:t>
                      </a:r>
                      <a:endParaRPr lang="en-US" sz="1000" b="0" i="0" u="none" strike="noStrike" noProof="0">
                        <a:solidFill>
                          <a:srgbClr val="000000"/>
                        </a:solidFill>
                        <a:effectLst/>
                        <a:latin typeface="Lato"/>
                        <a:ea typeface="Lato"/>
                        <a:cs typeface="Lato"/>
                      </a:endParaRPr>
                    </a:p>
                    <a:p>
                      <a:pPr lv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000" b="1" i="0" u="none" strike="noStrike" noProof="0">
                        <a:solidFill>
                          <a:srgbClr val="000000"/>
                        </a:solidFill>
                        <a:effectLst/>
                        <a:latin typeface="Lato"/>
                        <a:ea typeface="Lato"/>
                        <a:cs typeface="Lato"/>
                      </a:endParaRPr>
                    </a:p>
                    <a:p>
                      <a:pPr lvl="0" algn="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Non-Lab/Office Reno Cost 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$47M</a:t>
                      </a:r>
                    </a:p>
                    <a:p>
                      <a:pPr lvl="0" 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C8102E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$439/SF (107,000 RSF)</a:t>
                      </a:r>
                    </a:p>
                    <a:p>
                      <a:pPr lvl="0" algn="ctr">
                        <a:buNone/>
                      </a:pP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Lato"/>
                        <a:ea typeface="Lato"/>
                        <a:cs typeface="Lato"/>
                      </a:endParaRPr>
                    </a:p>
                    <a:p>
                      <a:pPr lvl="0" algn="ctr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 -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$50M – $65M</a:t>
                      </a:r>
                    </a:p>
                    <a:p>
                      <a:pPr lvl="0" 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C8102E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$459-596/SF (109,000 RSF)</a:t>
                      </a:r>
                    </a:p>
                    <a:p>
                      <a:pPr lvl="0" algn="ctr">
                        <a:buNone/>
                      </a:pP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Lato"/>
                        <a:ea typeface="Lato"/>
                        <a:cs typeface="Lato"/>
                      </a:endParaRPr>
                    </a:p>
                    <a:p>
                      <a:pPr lvl="0" 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$6M – $10M (20,000 SF)</a:t>
                      </a:r>
                    </a:p>
                    <a:p>
                      <a:pPr lvl="0" 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C8102E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$300-500/SF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$16M – $19M</a:t>
                      </a:r>
                    </a:p>
                    <a:p>
                      <a:pPr lvl="0" 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C8102E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$300-350/SF (53,000 RSF)</a:t>
                      </a:r>
                    </a:p>
                    <a:p>
                      <a:pPr lvl="0" algn="ctr">
                        <a:buNone/>
                      </a:pP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Lato"/>
                        <a:ea typeface="Lato"/>
                        <a:cs typeface="Lato"/>
                      </a:endParaRPr>
                    </a:p>
                    <a:p>
                      <a:pPr lvl="0" 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003DA5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$6M – $10M (20,000 SF)</a:t>
                      </a:r>
                    </a:p>
                    <a:p>
                      <a:pPr lvl="0" 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C8102E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$300-500/SF</a:t>
                      </a:r>
                    </a:p>
                  </a:txBody>
                  <a:tcPr marT="0" marB="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$32M – $37M</a:t>
                      </a:r>
                    </a:p>
                    <a:p>
                      <a:pPr lvl="0" 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C8102E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$300-350/SF (106,000 RSF)</a:t>
                      </a:r>
                    </a:p>
                    <a:p>
                      <a:pPr lvl="0" algn="ctr">
                        <a:buNone/>
                      </a:pP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Lato"/>
                        <a:ea typeface="Lato"/>
                        <a:cs typeface="Lato"/>
                      </a:endParaRPr>
                    </a:p>
                    <a:p>
                      <a:pPr lvl="0" 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003DA5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$6M – $10M (20,000 SF)</a:t>
                      </a:r>
                    </a:p>
                    <a:p>
                      <a:pPr lvl="0" 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C8102E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$300-500/SF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$22M – $26M</a:t>
                      </a:r>
                    </a:p>
                    <a:p>
                      <a:pPr lvl="0" 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C8102E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$300-350/SF (74,000 RSF)</a:t>
                      </a:r>
                    </a:p>
                    <a:p>
                      <a:pPr lvl="0" algn="ctr">
                        <a:buNone/>
                      </a:pP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Lato"/>
                        <a:ea typeface="Lato"/>
                        <a:cs typeface="Lato"/>
                      </a:endParaRPr>
                    </a:p>
                    <a:p>
                      <a:pPr lvl="0" 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003DA5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$6M – $10M (20,000 SF)</a:t>
                      </a:r>
                    </a:p>
                    <a:p>
                      <a:pPr lvl="0" 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C8102E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$300-500/SF</a:t>
                      </a:r>
                    </a:p>
                  </a:txBody>
                  <a:tcPr marT="0" marB="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$33M – $39M</a:t>
                      </a:r>
                    </a:p>
                    <a:p>
                      <a:pPr lvl="0" 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C8102E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$300-350/SF (111,000 RSF)</a:t>
                      </a:r>
                    </a:p>
                    <a:p>
                      <a:pPr lvl="0" algn="ctr">
                        <a:buNone/>
                      </a:pP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Lato"/>
                        <a:ea typeface="Lato"/>
                        <a:cs typeface="Lato"/>
                      </a:endParaRPr>
                    </a:p>
                    <a:p>
                      <a:pPr lvl="0" 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003DA5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$6M – $10M (20,000 SF)</a:t>
                      </a:r>
                    </a:p>
                    <a:p>
                      <a:pPr lvl="0" 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C8102E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$300-500/SF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7427007"/>
                  </a:ext>
                </a:extLst>
              </a:tr>
              <a:tr h="480000">
                <a:tc row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Operating (10 years)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10 year Rent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$69M</a:t>
                      </a:r>
                    </a:p>
                    <a:p>
                      <a:pPr lvl="0" 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C8102E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$64/SF/yr (107,000 RSF)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$7M shuttle</a:t>
                      </a:r>
                    </a:p>
                    <a:p>
                      <a:pPr lvl="0" 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C8102E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$0.7M/yr ($6/SF/yr)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$50M </a:t>
                      </a:r>
                    </a:p>
                    <a:p>
                      <a:pPr lvl="0" 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C8102E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$93/SF/yr (53,000 RSF)</a:t>
                      </a:r>
                    </a:p>
                  </a:txBody>
                  <a:tcPr marT="0" marB="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$99M </a:t>
                      </a:r>
                    </a:p>
                    <a:p>
                      <a:pPr lvl="0" 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C8102E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$93/SF/yr (106,000 RSF)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$69M </a:t>
                      </a:r>
                    </a:p>
                    <a:p>
                      <a:pPr lvl="0" 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C8102E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$93/SF/yr (74,000 RSF)</a:t>
                      </a:r>
                    </a:p>
                  </a:txBody>
                  <a:tcPr marT="0" marB="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$103M </a:t>
                      </a:r>
                    </a:p>
                    <a:p>
                      <a:pPr lvl="0" 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C8102E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$93/SF/yr (111,000 RSF)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5715855"/>
                  </a:ext>
                </a:extLst>
              </a:tr>
              <a:tr h="480000">
                <a:tc vMerge="1"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 10 year taxes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-  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-  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$10M </a:t>
                      </a:r>
                    </a:p>
                    <a:p>
                      <a:pPr lvl="0" 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C8102E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$19/SF/yr (53,000 RSF)</a:t>
                      </a:r>
                    </a:p>
                  </a:txBody>
                  <a:tcPr marT="0" marB="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$20M </a:t>
                      </a:r>
                    </a:p>
                    <a:p>
                      <a:pPr lvl="0" 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C8102E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$19/SF/yr (106,000 RSF)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$14M </a:t>
                      </a:r>
                    </a:p>
                    <a:p>
                      <a:pPr lvl="0" 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C8102E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$19/SF/yr (74,000 RSF)</a:t>
                      </a:r>
                    </a:p>
                  </a:txBody>
                  <a:tcPr marT="0" marB="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$21M </a:t>
                      </a:r>
                    </a:p>
                    <a:p>
                      <a:pPr lvl="0" 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C8102E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$19/SF/yr (111,000 RSF)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17651850"/>
                  </a:ext>
                </a:extLst>
              </a:tr>
              <a:tr h="380000">
                <a:tc grid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10-Year Total Cost of Ownership/Lease (TCOL)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5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000" b="1"/>
                    </a:p>
                  </a:txBody>
                  <a:tcPr marL="0" marR="0" marT="0" marB="0" anchor="ctr">
                    <a:lnT w="254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$116M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$81M – $100M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$66M – $75M</a:t>
                      </a:r>
                    </a:p>
                  </a:txBody>
                  <a:tcPr marT="0" marB="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$138M – $150M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$94M – $104M</a:t>
                      </a:r>
                    </a:p>
                  </a:txBody>
                  <a:tcPr marT="0" marB="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$144M – $156M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5"/>
                    </a:solidFill>
                  </a:tcPr>
                </a:tc>
              </a:tr>
              <a:tr h="560000">
                <a:tc grid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25944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Annual Cost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000" b="1"/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25944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$10M/yr</a:t>
                      </a:r>
                    </a:p>
                    <a:p>
                      <a:pPr lvl="0" algn="ctr">
                        <a:buNone/>
                      </a:pPr>
                      <a:r>
                        <a:rPr lang="en-US" sz="750" b="1" i="0" u="none" strike="noStrike">
                          <a:solidFill>
                            <a:srgbClr val="C8102E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$93/SF/yr (107,000 RSF)</a:t>
                      </a:r>
                    </a:p>
                  </a:txBody>
                  <a:tcPr marL="27432" marR="27432"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25944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$6M – $7M/yr</a:t>
                      </a:r>
                    </a:p>
                    <a:p>
                      <a:pPr lvl="0" algn="ctr">
                        <a:buNone/>
                      </a:pPr>
                      <a:r>
                        <a:rPr lang="en-US" sz="750" b="1" i="0" u="none" strike="noStrike">
                          <a:solidFill>
                            <a:srgbClr val="C8102E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$56-67/SF/yr (109,000 RSF)</a:t>
                      </a:r>
                    </a:p>
                  </a:txBody>
                  <a:tcPr marL="27432" marR="27432"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25944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$6M – $7M/yr</a:t>
                      </a:r>
                    </a:p>
                    <a:p>
                      <a:pPr lvl="0" algn="ctr">
                        <a:buNone/>
                      </a:pPr>
                      <a:r>
                        <a:rPr lang="en-US" sz="750" b="1" i="0" u="none" strike="noStrike">
                          <a:solidFill>
                            <a:srgbClr val="C8102E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$112-123/SF/yr (53,000 RSF)</a:t>
                      </a:r>
                    </a:p>
                  </a:txBody>
                  <a:tcPr marL="27432" marR="27432" marT="0" marB="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25944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$13M – $14M/yr</a:t>
                      </a:r>
                    </a:p>
                    <a:p>
                      <a:pPr lvl="0" algn="ctr">
                        <a:buNone/>
                      </a:pPr>
                      <a:r>
                        <a:rPr lang="en-US" sz="750" b="1" i="0" u="none" strike="noStrike">
                          <a:solidFill>
                            <a:srgbClr val="C8102E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$124-132/SF/yr (106,000 RSF)</a:t>
                      </a:r>
                    </a:p>
                  </a:txBody>
                  <a:tcPr marL="27432" marR="27432"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25944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$9M/yr</a:t>
                      </a:r>
                    </a:p>
                    <a:p>
                      <a:pPr lvl="0" algn="ctr">
                        <a:buNone/>
                      </a:pPr>
                      <a:r>
                        <a:rPr lang="en-US" sz="750" b="1" i="0" u="none" strike="noStrike">
                          <a:solidFill>
                            <a:srgbClr val="C8102E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$119-128/SF/yr (74,000 RSF)</a:t>
                      </a:r>
                    </a:p>
                  </a:txBody>
                  <a:tcPr marL="27432" marR="27432" marT="0" marB="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25944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$14M – $15M/yr</a:t>
                      </a:r>
                    </a:p>
                    <a:p>
                      <a:pPr lvl="0" algn="ctr">
                        <a:buNone/>
                      </a:pPr>
                      <a:r>
                        <a:rPr lang="en-US" sz="750" b="1" i="0" u="none" strike="noStrike">
                          <a:solidFill>
                            <a:srgbClr val="C8102E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$124-132/SF/yr (111,000 RSF)</a:t>
                      </a:r>
                    </a:p>
                  </a:txBody>
                  <a:tcPr marL="27432" marR="27432"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573409C3-1495-97F4-0888-BCBC04201A1B}"/>
              </a:ext>
            </a:extLst>
          </p:cNvPr>
          <p:cNvSpPr txBox="1"/>
          <p:nvPr/>
        </p:nvSpPr>
        <p:spPr>
          <a:xfrm>
            <a:off x="320230" y="5920281"/>
            <a:ext cx="11551540" cy="77271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900" dirty="0">
                <a:latin typeface="Lato"/>
                <a:ea typeface="Lato"/>
                <a:cs typeface="Lato"/>
              </a:rPr>
              <a:t>Options 2/3a/3b/4a/4b: Non-Lab/Office Reno Cost covers relocating non-lab uses (24,700 ASF today → 20,000 SF in more efficient space); location TBD.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900" b="1" dirty="0">
                <a:solidFill>
                  <a:srgbClr val="003DA5"/>
                </a:solidFill>
                <a:latin typeface="Lato"/>
                <a:ea typeface="Lato"/>
                <a:cs typeface="Lato"/>
              </a:rPr>
              <a:t>Options 3a/3b/4a/4b: Reno funded from 4BW sale proceeds (still a cost). Annual Cost/TCOL net of 9% (trailing 10-yr endowment return) on ~$10M – $14M net proceeds: ~$0.9M – $1.3M/yr.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900" dirty="0">
                <a:latin typeface="Lato"/>
                <a:ea typeface="Lato"/>
                <a:cs typeface="Lato"/>
              </a:rPr>
              <a:t>Option 1: 140TF capital = $26M DM projection + $21M lab renewal (= $47M); $22M DM already spent to date is not included. Option 3a: 37,100 ASF assumes ~7% efficiency gain vs. 140TF’s 39,700 ASF (p. 4).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900" dirty="0">
                <a:latin typeface="Lato"/>
                <a:ea typeface="Lato"/>
                <a:cs typeface="Lato"/>
              </a:rPr>
              <a:t>$/SF (red) on Total RSF. 3a/3b/4a/4b: capital @ $300-350/SF; Assignable SF @ 70%; Annual Cost = Rent + Tax + capital @ 8% cap rate (landlord-financed); TCOL uses 10-yr synthetic rent on that capital. Options 1/2 add 30-yr P&amp;I @ 5% ($47M; $56M – $75M incl. reno); Option 2 adds ~$1.8M/yr opportunity cost (9% on $20M NU-owned value; ~$18M in TCOL) and a ~$0.7M/yr shuttle (2 buses, 12 hrs × 5 days/wk; 4.6 FTE drivers @ $30/hr + 40% benefits; vehicle and operating costs).</a:t>
            </a:r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4"/>
          </p:nvPr>
        </p:nvSpPr>
        <p:spPr>
          <a:xfrm>
            <a:off x="11071770" y="250000"/>
            <a:ext cx="800000" cy="330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EEFEB1-3031-4AB4-B1BA-DBE04B7A4FF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02858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C0F0B0CD-1685-B84E-2A6B-9AE9A8CD89EC}"/>
              </a:ext>
            </a:extLst>
          </p:cNvPr>
          <p:cNvSpPr/>
          <p:nvPr/>
        </p:nvSpPr>
        <p:spPr>
          <a:xfrm>
            <a:off x="6749649" y="1415442"/>
            <a:ext cx="4168779" cy="2495245"/>
          </a:xfrm>
          <a:prstGeom prst="rect">
            <a:avLst/>
          </a:prstGeom>
          <a:solidFill>
            <a:srgbClr val="F4F4F5"/>
          </a:solidFill>
          <a:ln w="9525"/>
        </p:spPr>
        <p:style>
          <a:lnRef idx="2">
            <a:srgbClr val="3A3A3F"/>
          </a:lnRef>
          <a:fillRef idx="1">
            <a:srgbClr val="3A3A3F"/>
          </a:fillRef>
          <a:effectRef idx="0">
            <a:srgbClr val="3A3A3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A385F6C-E751-76A2-5970-6C98201F17D5}"/>
              </a:ext>
            </a:extLst>
          </p:cNvPr>
          <p:cNvSpPr/>
          <p:nvPr/>
        </p:nvSpPr>
        <p:spPr>
          <a:xfrm>
            <a:off x="1287438" y="1415442"/>
            <a:ext cx="4168779" cy="5118661"/>
          </a:xfrm>
          <a:prstGeom prst="rect">
            <a:avLst/>
          </a:prstGeom>
          <a:solidFill>
            <a:schemeClr val="bg1"/>
          </a:solidFill>
          <a:ln w="9525"/>
        </p:spPr>
        <p:style>
          <a:lnRef idx="2">
            <a:srgbClr val="3A3A3F"/>
          </a:lnRef>
          <a:fillRef idx="1">
            <a:srgbClr val="3A3A3F"/>
          </a:fillRef>
          <a:effectRef idx="0">
            <a:srgbClr val="3A3A3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B3F921F-21BE-D297-970D-465614466FA3}"/>
              </a:ext>
            </a:extLst>
          </p:cNvPr>
          <p:cNvSpPr/>
          <p:nvPr/>
        </p:nvSpPr>
        <p:spPr>
          <a:xfrm>
            <a:off x="6749650" y="4362806"/>
            <a:ext cx="4168779" cy="2325082"/>
          </a:xfrm>
          <a:prstGeom prst="rect">
            <a:avLst/>
          </a:prstGeom>
          <a:solidFill>
            <a:srgbClr val="F4F4F5"/>
          </a:solidFill>
          <a:ln w="9525"/>
        </p:spPr>
        <p:style>
          <a:lnRef idx="2">
            <a:srgbClr val="3A3A3F"/>
          </a:lnRef>
          <a:fillRef idx="1">
            <a:srgbClr val="3A3A3F"/>
          </a:fillRef>
          <a:effectRef idx="0">
            <a:srgbClr val="3A3A3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5B00ADF-E662-00B2-6D2F-9E1997986E8F}"/>
              </a:ext>
            </a:extLst>
          </p:cNvPr>
          <p:cNvSpPr/>
          <p:nvPr/>
        </p:nvSpPr>
        <p:spPr>
          <a:xfrm>
            <a:off x="6758327" y="1992719"/>
            <a:ext cx="4123686" cy="1917969"/>
          </a:xfrm>
          <a:prstGeom prst="rect">
            <a:avLst/>
          </a:prstGeom>
          <a:noFill/>
          <a:ln>
            <a:noFill/>
            <a:prstDash val="dash"/>
          </a:ln>
        </p:spPr>
        <p:style>
          <a:lnRef idx="2">
            <a:srgbClr val="3A3A3F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A8CE7DD-255A-1A55-09F1-65A199A0D083}"/>
              </a:ext>
            </a:extLst>
          </p:cNvPr>
          <p:cNvSpPr/>
          <p:nvPr/>
        </p:nvSpPr>
        <p:spPr>
          <a:xfrm>
            <a:off x="6758327" y="4846646"/>
            <a:ext cx="4123686" cy="1802466"/>
          </a:xfrm>
          <a:prstGeom prst="rect">
            <a:avLst/>
          </a:prstGeom>
          <a:solidFill>
            <a:srgbClr val="F4F4F5"/>
          </a:solidFill>
          <a:ln w="9525">
            <a:noFill/>
            <a:prstDash val="solid"/>
          </a:ln>
        </p:spPr>
        <p:style>
          <a:lnRef idx="2">
            <a:srgbClr val="3A3A3F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0E63BD48-9474-7ACF-78CA-C114EC109B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23855116"/>
              </p:ext>
            </p:extLst>
          </p:nvPr>
        </p:nvGraphicFramePr>
        <p:xfrm>
          <a:off x="1514538" y="2173806"/>
          <a:ext cx="3714583" cy="153366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011850">
                  <a:extLst>
                    <a:ext uri="{9D8B030D-6E8A-4147-A177-3AD203B41FA5}">
                      <a16:colId xmlns:a16="http://schemas.microsoft.com/office/drawing/2014/main" val="1647393498"/>
                    </a:ext>
                  </a:extLst>
                </a:gridCol>
                <a:gridCol w="702733">
                  <a:extLst>
                    <a:ext uri="{9D8B030D-6E8A-4147-A177-3AD203B41FA5}">
                      <a16:colId xmlns:a16="http://schemas.microsoft.com/office/drawing/2014/main" val="1961718492"/>
                    </a:ext>
                  </a:extLst>
                </a:gridCol>
              </a:tblGrid>
              <a:tr h="22864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Space Type (Wet Lab)</a:t>
                      </a:r>
                    </a:p>
                  </a:txBody>
                  <a:tcPr marL="9525" marR="9525" marT="9525" marB="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b="1" u="none" strike="noStrike">
                          <a:effectLst/>
                          <a:latin typeface="+mn-lt"/>
                        </a:rPr>
                        <a:t>ASF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5780509"/>
                  </a:ext>
                </a:extLst>
              </a:tr>
              <a:tr h="220583">
                <a:tc>
                  <a:txBody>
                    <a:bodyPr/>
                    <a:lstStyle/>
                    <a:p>
                      <a:pPr lvl="1"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Wet Lab</a:t>
                      </a:r>
                    </a:p>
                  </a:txBody>
                  <a:tcPr marL="9525" marR="9525" marT="9525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u="none" strike="noStrike">
                          <a:effectLst/>
                          <a:latin typeface="+mn-lt"/>
                        </a:rPr>
                        <a:t>25,250 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63422650"/>
                  </a:ext>
                </a:extLst>
              </a:tr>
              <a:tr h="228641">
                <a:tc>
                  <a:txBody>
                    <a:bodyPr/>
                    <a:lstStyle/>
                    <a:p>
                      <a:pPr lvl="1"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Core Wet Lab Facility</a:t>
                      </a:r>
                    </a:p>
                  </a:txBody>
                  <a:tcPr marL="9525" marR="9525" marT="9525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3,350</a:t>
                      </a:r>
                    </a:p>
                  </a:txBody>
                  <a:tcPr marL="9525" marR="9525" marT="9525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47051913"/>
                  </a:ext>
                </a:extLst>
              </a:tr>
              <a:tr h="228641">
                <a:tc>
                  <a:txBody>
                    <a:bodyPr/>
                    <a:lstStyle/>
                    <a:p>
                      <a:pPr lvl="1"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Vivarium</a:t>
                      </a:r>
                    </a:p>
                  </a:txBody>
                  <a:tcPr marL="9525" marR="9525" marT="9525" marB="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3,000</a:t>
                      </a:r>
                    </a:p>
                  </a:txBody>
                  <a:tcPr marL="9525" marR="9525" marT="9525" marB="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3615099"/>
                  </a:ext>
                </a:extLst>
              </a:tr>
              <a:tr h="30576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Total Wet Lab</a:t>
                      </a:r>
                    </a:p>
                  </a:txBody>
                  <a:tcPr marL="9525" marR="9525" marT="9525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4F4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31,600</a:t>
                      </a:r>
                    </a:p>
                  </a:txBody>
                  <a:tcPr marL="9525" marR="9525" marT="9525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4F4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0477610"/>
                  </a:ext>
                </a:extLst>
              </a:tr>
              <a:tr h="22864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Total Office Facilities (Wet Lab)</a:t>
                      </a:r>
                    </a:p>
                  </a:txBody>
                  <a:tcPr marL="9525" marR="9525" marT="9525" marB="0" anchor="b">
                    <a:solidFill>
                      <a:srgbClr val="F4F4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8,100</a:t>
                      </a:r>
                    </a:p>
                  </a:txBody>
                  <a:tcPr marL="9525" marR="9525" marT="9525" marB="0" anchor="b">
                    <a:solidFill>
                      <a:srgbClr val="F4F4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1072714"/>
                  </a:ext>
                </a:extLst>
              </a:tr>
              <a:tr h="9045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3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3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88831744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415879F8-5AAF-3246-59F9-D405AFA2D9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7736762"/>
              </p:ext>
            </p:extLst>
          </p:nvPr>
        </p:nvGraphicFramePr>
        <p:xfrm>
          <a:off x="1514538" y="5015750"/>
          <a:ext cx="3714583" cy="116304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011850">
                  <a:extLst>
                    <a:ext uri="{9D8B030D-6E8A-4147-A177-3AD203B41FA5}">
                      <a16:colId xmlns:a16="http://schemas.microsoft.com/office/drawing/2014/main" val="1647393498"/>
                    </a:ext>
                  </a:extLst>
                </a:gridCol>
                <a:gridCol w="702733">
                  <a:extLst>
                    <a:ext uri="{9D8B030D-6E8A-4147-A177-3AD203B41FA5}">
                      <a16:colId xmlns:a16="http://schemas.microsoft.com/office/drawing/2014/main" val="1961718492"/>
                    </a:ext>
                  </a:extLst>
                </a:gridCol>
              </a:tblGrid>
              <a:tr h="22864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Space Type (Non-wet Lab)</a:t>
                      </a:r>
                    </a:p>
                  </a:txBody>
                  <a:tcPr marL="9525" marR="9525" marT="9525" marB="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b="1" u="none" strike="noStrike">
                          <a:effectLst/>
                          <a:latin typeface="+mn-lt"/>
                        </a:rPr>
                        <a:t>ASF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5780509"/>
                  </a:ext>
                </a:extLst>
              </a:tr>
              <a:tr h="248478">
                <a:tc>
                  <a:txBody>
                    <a:bodyPr/>
                    <a:lstStyle/>
                    <a:p>
                      <a:pPr lvl="1"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Office Facilities (Non-wet Lab)</a:t>
                      </a:r>
                    </a:p>
                  </a:txBody>
                  <a:tcPr marL="9525" marR="9525" marT="9525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15,500</a:t>
                      </a:r>
                    </a:p>
                  </a:txBody>
                  <a:tcPr marL="9525" marR="9525" marT="9525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5263931"/>
                  </a:ext>
                </a:extLst>
              </a:tr>
              <a:tr h="228641">
                <a:tc>
                  <a:txBody>
                    <a:bodyPr/>
                    <a:lstStyle/>
                    <a:p>
                      <a:pPr lvl="1"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Computational Lab (COE grad)</a:t>
                      </a:r>
                    </a:p>
                  </a:txBody>
                  <a:tcPr marL="9525" marR="9525" marT="9525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6,400</a:t>
                      </a:r>
                    </a:p>
                  </a:txBody>
                  <a:tcPr marL="9525" marR="9525" marT="9525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9118002"/>
                  </a:ext>
                </a:extLst>
              </a:tr>
              <a:tr h="228641">
                <a:tc>
                  <a:txBody>
                    <a:bodyPr/>
                    <a:lstStyle/>
                    <a:p>
                      <a:pPr lvl="1"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Conference Facility</a:t>
                      </a:r>
                    </a:p>
                  </a:txBody>
                  <a:tcPr marL="9525" marR="9525" marT="9525" marB="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2,800</a:t>
                      </a:r>
                    </a:p>
                  </a:txBody>
                  <a:tcPr marL="9525" marR="9525" marT="9525" marB="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8534650"/>
                  </a:ext>
                </a:extLst>
              </a:tr>
              <a:tr h="22864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Total Non-wet Lab Uses</a:t>
                      </a:r>
                    </a:p>
                  </a:txBody>
                  <a:tcPr marL="9525" marR="9525" marT="9525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24,700</a:t>
                      </a:r>
                    </a:p>
                  </a:txBody>
                  <a:tcPr marL="9525" marR="9525" marT="9525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602117"/>
                  </a:ext>
                </a:extLst>
              </a:tr>
            </a:tbl>
          </a:graphicData>
        </a:graphic>
      </p:graphicFrame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07C3D50F-0EF4-61A7-AC0D-E69D6677CDF3}"/>
              </a:ext>
            </a:extLst>
          </p:cNvPr>
          <p:cNvSpPr txBox="1">
            <a:spLocks/>
          </p:cNvSpPr>
          <p:nvPr/>
        </p:nvSpPr>
        <p:spPr>
          <a:xfrm>
            <a:off x="1514537" y="1326374"/>
            <a:ext cx="3714583" cy="8147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200" b="1">
                <a:latin typeface="Lato Bold" panose="020F0502020204030203" pitchFamily="34" charset="0"/>
                <a:ea typeface="Lato Bold" panose="020F0502020204030203" pitchFamily="34" charset="0"/>
                <a:cs typeface="Lato Bold" panose="020F0502020204030203" pitchFamily="34" charset="0"/>
              </a:rPr>
              <a:t>140TF Demand</a:t>
            </a:r>
          </a:p>
        </p:txBody>
      </p:sp>
      <p:sp>
        <p:nvSpPr>
          <p:cNvPr id="11" name="Title Placeholder 1">
            <a:extLst>
              <a:ext uri="{FF2B5EF4-FFF2-40B4-BE49-F238E27FC236}">
                <a16:creationId xmlns:a16="http://schemas.microsoft.com/office/drawing/2014/main" id="{4D21B60C-A960-659D-29F5-B57225820489}"/>
              </a:ext>
            </a:extLst>
          </p:cNvPr>
          <p:cNvSpPr txBox="1">
            <a:spLocks/>
          </p:cNvSpPr>
          <p:nvPr/>
        </p:nvSpPr>
        <p:spPr>
          <a:xfrm>
            <a:off x="7206494" y="1436544"/>
            <a:ext cx="3227354" cy="6275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200" b="1">
                <a:latin typeface="Lato Bold" panose="020F0502020204030203" pitchFamily="34" charset="0"/>
                <a:ea typeface="Lato Bold" panose="020F0502020204030203" pitchFamily="34" charset="0"/>
                <a:cs typeface="Lato Bold" panose="020F0502020204030203" pitchFamily="34" charset="0"/>
              </a:rPr>
              <a:t>4BW Supply</a:t>
            </a: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A6A6FAEC-EA63-8E20-F260-1F269F624D7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015503"/>
              </p:ext>
            </p:extLst>
          </p:nvPr>
        </p:nvGraphicFramePr>
        <p:xfrm>
          <a:off x="6962879" y="2173806"/>
          <a:ext cx="3714583" cy="152174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011850">
                  <a:extLst>
                    <a:ext uri="{9D8B030D-6E8A-4147-A177-3AD203B41FA5}">
                      <a16:colId xmlns:a16="http://schemas.microsoft.com/office/drawing/2014/main" val="1647393498"/>
                    </a:ext>
                  </a:extLst>
                </a:gridCol>
                <a:gridCol w="702733">
                  <a:extLst>
                    <a:ext uri="{9D8B030D-6E8A-4147-A177-3AD203B41FA5}">
                      <a16:colId xmlns:a16="http://schemas.microsoft.com/office/drawing/2014/main" val="1961718492"/>
                    </a:ext>
                  </a:extLst>
                </a:gridCol>
              </a:tblGrid>
              <a:tr h="22864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Space Type (Wet Lab)</a:t>
                      </a:r>
                    </a:p>
                  </a:txBody>
                  <a:tcPr marL="9525" marR="9525" marT="952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4E4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b="1" u="none" strike="noStrike">
                          <a:effectLst/>
                          <a:latin typeface="+mn-lt"/>
                        </a:rPr>
                        <a:t>ASF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4E4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5780509"/>
                  </a:ext>
                </a:extLst>
              </a:tr>
              <a:tr h="677865">
                <a:tc gridSpan="2">
                  <a:txBody>
                    <a:bodyPr/>
                    <a:lstStyle/>
                    <a:p>
                      <a:pPr lvl="1"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4 floors of Office &amp; Low Intensity Research Lab space; 1 floor Parking &amp; Utility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63422650"/>
                  </a:ext>
                </a:extLst>
              </a:tr>
              <a:tr h="29614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Total Wet Lab</a:t>
                      </a:r>
                    </a:p>
                  </a:txBody>
                  <a:tcPr marL="9525" marR="9525" marT="9525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4E4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37,400</a:t>
                      </a:r>
                    </a:p>
                  </a:txBody>
                  <a:tcPr marL="9525" marR="9525" marT="9525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4E4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0477610"/>
                  </a:ext>
                </a:extLst>
              </a:tr>
              <a:tr h="22864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Total Office Facilities</a:t>
                      </a:r>
                    </a:p>
                  </a:txBody>
                  <a:tcPr marL="9525" marR="9525" marT="952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43,600</a:t>
                      </a:r>
                    </a:p>
                  </a:txBody>
                  <a:tcPr marL="9525" marR="9525" marT="952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11072714"/>
                  </a:ext>
                </a:extLst>
              </a:tr>
              <a:tr h="9045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3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3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88831744"/>
                  </a:ext>
                </a:extLst>
              </a:tr>
            </a:tbl>
          </a:graphicData>
        </a:graphic>
      </p:graphicFrame>
      <p:sp>
        <p:nvSpPr>
          <p:cNvPr id="13" name="Title Placeholder 1">
            <a:extLst>
              <a:ext uri="{FF2B5EF4-FFF2-40B4-BE49-F238E27FC236}">
                <a16:creationId xmlns:a16="http://schemas.microsoft.com/office/drawing/2014/main" id="{04763A9A-9B52-3BCB-9295-AFDB52CC454B}"/>
              </a:ext>
            </a:extLst>
          </p:cNvPr>
          <p:cNvSpPr txBox="1">
            <a:spLocks/>
          </p:cNvSpPr>
          <p:nvPr/>
        </p:nvSpPr>
        <p:spPr>
          <a:xfrm>
            <a:off x="7206494" y="4405308"/>
            <a:ext cx="3227354" cy="6056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200" b="1">
                <a:latin typeface="Lato Bold" panose="020F0502020204030203" pitchFamily="34" charset="0"/>
                <a:ea typeface="Lato Bold" panose="020F0502020204030203" pitchFamily="34" charset="0"/>
                <a:cs typeface="Lato Bold" panose="020F0502020204030203" pitchFamily="34" charset="0"/>
              </a:rPr>
              <a:t>Boston Campus Supply</a:t>
            </a:r>
          </a:p>
        </p:txBody>
      </p: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55208BC6-7B6E-D47D-464B-9D3A9CDADF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6009382"/>
              </p:ext>
            </p:extLst>
          </p:nvPr>
        </p:nvGraphicFramePr>
        <p:xfrm>
          <a:off x="6962879" y="5032765"/>
          <a:ext cx="3714583" cy="136362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011850">
                  <a:extLst>
                    <a:ext uri="{9D8B030D-6E8A-4147-A177-3AD203B41FA5}">
                      <a16:colId xmlns:a16="http://schemas.microsoft.com/office/drawing/2014/main" val="1647393498"/>
                    </a:ext>
                  </a:extLst>
                </a:gridCol>
                <a:gridCol w="702733">
                  <a:extLst>
                    <a:ext uri="{9D8B030D-6E8A-4147-A177-3AD203B41FA5}">
                      <a16:colId xmlns:a16="http://schemas.microsoft.com/office/drawing/2014/main" val="1961718492"/>
                    </a:ext>
                  </a:extLst>
                </a:gridCol>
              </a:tblGrid>
              <a:tr h="22864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Space Type (Non-wet Lab)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4E4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b="1" u="none" strike="noStrike">
                          <a:effectLst/>
                          <a:latin typeface="+mn-lt"/>
                        </a:rPr>
                        <a:t>ASF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4E4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5780509"/>
                  </a:ext>
                </a:extLst>
              </a:tr>
              <a:tr h="348177">
                <a:tc gridSpan="2"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5263931"/>
                  </a:ext>
                </a:extLst>
              </a:tr>
              <a:tr h="363495">
                <a:tc grid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2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TBD</a:t>
                      </a:r>
                      <a:br>
                        <a:rPr lang="en-US" sz="22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</a:b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Available supply not yet defined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9118002"/>
                  </a:ext>
                </a:extLst>
              </a:tr>
              <a:tr h="228641">
                <a:tc gridSpan="2"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8534650"/>
                  </a:ext>
                </a:extLst>
              </a:tr>
            </a:tbl>
          </a:graphicData>
        </a:graphic>
      </p:graphicFrame>
      <p:sp>
        <p:nvSpPr>
          <p:cNvPr id="15" name="Arrow: Right 16">
            <a:extLst>
              <a:ext uri="{FF2B5EF4-FFF2-40B4-BE49-F238E27FC236}">
                <a16:creationId xmlns:a16="http://schemas.microsoft.com/office/drawing/2014/main" id="{C37FD52F-B785-09FF-8BE8-4DF7496CBAE2}"/>
              </a:ext>
            </a:extLst>
          </p:cNvPr>
          <p:cNvSpPr/>
          <p:nvPr/>
        </p:nvSpPr>
        <p:spPr>
          <a:xfrm>
            <a:off x="5666911" y="2603069"/>
            <a:ext cx="820077" cy="406206"/>
          </a:xfrm>
          <a:prstGeom prst="rightArrow">
            <a:avLst/>
          </a:prstGeom>
          <a:solidFill>
            <a:srgbClr val="C8102E"/>
          </a:solidFill>
        </p:spPr>
        <p:style>
          <a:lnRef idx="2">
            <a:srgbClr val="3A3A3F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Arrow: Right 17">
            <a:extLst>
              <a:ext uri="{FF2B5EF4-FFF2-40B4-BE49-F238E27FC236}">
                <a16:creationId xmlns:a16="http://schemas.microsoft.com/office/drawing/2014/main" id="{5E94B398-37ED-DEA3-0983-1D04CAABBA8F}"/>
              </a:ext>
            </a:extLst>
          </p:cNvPr>
          <p:cNvSpPr/>
          <p:nvPr/>
        </p:nvSpPr>
        <p:spPr>
          <a:xfrm>
            <a:off x="5685961" y="5428893"/>
            <a:ext cx="820077" cy="406206"/>
          </a:xfrm>
          <a:prstGeom prst="rightArrow">
            <a:avLst/>
          </a:prstGeom>
          <a:solidFill>
            <a:srgbClr val="C8102E"/>
          </a:solidFill>
        </p:spPr>
        <p:style>
          <a:lnRef idx="2">
            <a:srgbClr val="3A3A3F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9DC08C2-BCE3-E54A-95B1-54A8FDF4FC6D}"/>
              </a:ext>
            </a:extLst>
          </p:cNvPr>
          <p:cNvSpPr/>
          <p:nvPr/>
        </p:nvSpPr>
        <p:spPr>
          <a:xfrm>
            <a:off x="1318662" y="1992719"/>
            <a:ext cx="4123686" cy="4639377"/>
          </a:xfrm>
          <a:prstGeom prst="rect">
            <a:avLst/>
          </a:prstGeom>
          <a:noFill/>
          <a:ln>
            <a:noFill/>
            <a:prstDash val="dash"/>
          </a:ln>
        </p:spPr>
        <p:style>
          <a:lnRef idx="2">
            <a:srgbClr val="3A3A3F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9A464BC-C57A-6B92-F0A7-C52377EDC290}"/>
              </a:ext>
            </a:extLst>
          </p:cNvPr>
          <p:cNvSpPr txBox="1"/>
          <p:nvPr/>
        </p:nvSpPr>
        <p:spPr>
          <a:xfrm>
            <a:off x="1454381" y="4515931"/>
            <a:ext cx="3987967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i="1">
                <a:solidFill>
                  <a:schemeClr val="bg1">
                    <a:lumMod val="50000"/>
                  </a:schemeClr>
                </a:solidFill>
              </a:rPr>
              <a:t>Assess to remain on Boston campus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D7D34DC1-D85D-688C-86DA-928C42176FA1}"/>
              </a:ext>
            </a:extLst>
          </p:cNvPr>
          <p:cNvCxnSpPr>
            <a:cxnSpLocks/>
          </p:cNvCxnSpPr>
          <p:nvPr/>
        </p:nvCxnSpPr>
        <p:spPr>
          <a:xfrm>
            <a:off x="1533524" y="4802183"/>
            <a:ext cx="3695596" cy="0"/>
          </a:xfrm>
          <a:prstGeom prst="straightConnector1">
            <a:avLst/>
          </a:prstGeom>
          <a:ln w="28575"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20" name="Title Placeholder 1">
            <a:extLst>
              <a:ext uri="{FF2B5EF4-FFF2-40B4-BE49-F238E27FC236}">
                <a16:creationId xmlns:a16="http://schemas.microsoft.com/office/drawing/2014/main" id="{29A0EA8A-D4E4-7CE5-6A04-E6204531026F}"/>
              </a:ext>
            </a:extLst>
          </p:cNvPr>
          <p:cNvSpPr txBox="1">
            <a:spLocks/>
          </p:cNvSpPr>
          <p:nvPr/>
        </p:nvSpPr>
        <p:spPr>
          <a:xfrm>
            <a:off x="320229" y="457200"/>
            <a:ext cx="7744117" cy="8147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>
                <a:latin typeface="Lato Bold" panose="020F0502020204030203" pitchFamily="34" charset="0"/>
                <a:ea typeface="Lato Bold" panose="020F0502020204030203" pitchFamily="34" charset="0"/>
                <a:cs typeface="Lato Bold" panose="020F0502020204030203" pitchFamily="34" charset="0"/>
              </a:rPr>
              <a:t>Demand &amp; Supply Comparison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469D7580-D853-FF34-E01A-68F057CF234A}"/>
              </a:ext>
            </a:extLst>
          </p:cNvPr>
          <p:cNvCxnSpPr/>
          <p:nvPr/>
        </p:nvCxnSpPr>
        <p:spPr>
          <a:xfrm>
            <a:off x="451214" y="402771"/>
            <a:ext cx="1355815" cy="0"/>
          </a:xfrm>
          <a:prstGeom prst="line">
            <a:avLst/>
          </a:prstGeom>
          <a:ln w="28575">
            <a:solidFill>
              <a:srgbClr val="C8102E"/>
            </a:solidFill>
          </a:ln>
        </p:spPr>
        <p:style>
          <a:lnRef idx="2">
            <a:srgbClr val="3A3A3F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11071770" y="250000"/>
            <a:ext cx="800000" cy="330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AAF1214-5588-40D8-B3A9-2C7F9091EADA}" type="slidenum">
              <a:rPr lang="en-US" smtClean="0"/>
              <a:t>1</a:t>
            </a:fld>
            <a:endParaRPr lang="en-US"/>
          </a:p>
        </p:txBody>
      </p:sp>
      <p:sp>
        <p:nvSpPr>
          <p:cNvPr id="23" name="TextBox 22"/>
          <p:cNvSpPr txBox="1"/>
          <p:nvPr/>
        </p:nvSpPr>
        <p:spPr>
          <a:xfrm>
            <a:off x="6749649" y="3930000"/>
            <a:ext cx="4168779" cy="30000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Autofit/>
          </a:bodyPr>
          <a:lstStyle/>
          <a:p>
            <a:pPr algn="ctr"/>
            <a:r>
              <a:rPr lang="en-US" sz="1050" i="1" dirty="0">
                <a:solidFill>
                  <a:srgbClr val="000000"/>
                </a:solidFill>
                <a:latin typeface="+mn-lt"/>
              </a:rPr>
              <a:t>4BW requires $50M – $65M upgrade to support wet lab/vivarium (see p. 3).</a:t>
            </a:r>
          </a:p>
        </p:txBody>
      </p:sp>
    </p:spTree>
    <p:extLst>
      <p:ext uri="{BB962C8B-B14F-4D97-AF65-F5344CB8AC3E}">
        <p14:creationId xmlns:p14="http://schemas.microsoft.com/office/powerpoint/2010/main" val="30288062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4BF67A17-71CF-FC44-17AD-8D68CEFD9B40}"/>
              </a:ext>
            </a:extLst>
          </p:cNvPr>
          <p:cNvSpPr txBox="1">
            <a:spLocks/>
          </p:cNvSpPr>
          <p:nvPr/>
        </p:nvSpPr>
        <p:spPr>
          <a:xfrm>
            <a:off x="320229" y="457200"/>
            <a:ext cx="7744117" cy="8147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>
                <a:latin typeface="Lato Bold" panose="020F0502020204030203" pitchFamily="34" charset="0"/>
                <a:ea typeface="Lato Bold" panose="020F0502020204030203" pitchFamily="34" charset="0"/>
                <a:cs typeface="Lato Bold" panose="020F0502020204030203" pitchFamily="34" charset="0"/>
              </a:rPr>
              <a:t>Additional Considerations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AB88B49A-710B-E09A-C768-0134A7DAB69D}"/>
              </a:ext>
            </a:extLst>
          </p:cNvPr>
          <p:cNvCxnSpPr/>
          <p:nvPr/>
        </p:nvCxnSpPr>
        <p:spPr>
          <a:xfrm>
            <a:off x="451214" y="402771"/>
            <a:ext cx="1355815" cy="0"/>
          </a:xfrm>
          <a:prstGeom prst="line">
            <a:avLst/>
          </a:prstGeom>
          <a:ln w="28575">
            <a:solidFill>
              <a:srgbClr val="C810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42819016-E237-F8E8-721F-6F71BE34F6D8}"/>
              </a:ext>
            </a:extLst>
          </p:cNvPr>
          <p:cNvSpPr>
            <a:spLocks noGrp="1"/>
          </p:cNvSpPr>
          <p:nvPr/>
        </p:nvSpPr>
        <p:spPr>
          <a:xfrm>
            <a:off x="945588" y="1463974"/>
            <a:ext cx="9972128" cy="507493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Real Text Pro" charset="0"/>
                <a:ea typeface="Real Text Pro" charset="0"/>
                <a:cs typeface="Real Text Pro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Real Text Pro" charset="0"/>
                <a:ea typeface="Real Text Pro" charset="0"/>
                <a:cs typeface="Real Text Pro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Real Text Pro" charset="0"/>
                <a:ea typeface="Real Text Pro" charset="0"/>
                <a:cs typeface="Real Text Pro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Real Text Pro" charset="0"/>
                <a:ea typeface="Real Text Pro" charset="0"/>
                <a:cs typeface="Real Text Pro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Real Text Pro" charset="0"/>
                <a:ea typeface="Real Text Pro" charset="0"/>
                <a:cs typeface="Real Text Pro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>
                <a:latin typeface="Lato"/>
              </a:rPr>
              <a:t>Relocate some 140 TF functions to on-campus:</a:t>
            </a:r>
          </a:p>
          <a:p>
            <a:pPr lvl="1"/>
            <a:r>
              <a:rPr lang="en-US" sz="1600" dirty="0">
                <a:latin typeface="Lato"/>
              </a:rPr>
              <a:t>School of Pharmacy non-lab uses.</a:t>
            </a:r>
          </a:p>
          <a:p>
            <a:pPr lvl="1"/>
            <a:r>
              <a:rPr lang="en-US" sz="1600" dirty="0">
                <a:latin typeface="Lato"/>
              </a:rPr>
              <a:t>College of Engineering computational research.</a:t>
            </a:r>
          </a:p>
          <a:p>
            <a:pPr lvl="1"/>
            <a:r>
              <a:rPr lang="en-US" sz="1600" dirty="0">
                <a:latin typeface="Lato"/>
              </a:rPr>
              <a:t>Conference facility.</a:t>
            </a:r>
          </a:p>
          <a:p>
            <a:pPr marL="0" indent="0">
              <a:buNone/>
            </a:pPr>
            <a:endParaRPr lang="en-US" sz="2000" dirty="0">
              <a:latin typeface="Lato"/>
            </a:endParaRPr>
          </a:p>
          <a:p>
            <a:r>
              <a:rPr lang="en-US" sz="2000" dirty="0">
                <a:latin typeface="Lato"/>
              </a:rPr>
              <a:t>Plan for growth opportunities and long-term research plan</a:t>
            </a:r>
          </a:p>
          <a:p>
            <a:pPr lvl="1"/>
            <a:r>
              <a:rPr lang="en-US" sz="1600" dirty="0">
                <a:latin typeface="Lato"/>
              </a:rPr>
              <a:t>Assess multi-year research growth and student enrollment projections.</a:t>
            </a:r>
          </a:p>
          <a:p>
            <a:pPr lvl="1"/>
            <a:r>
              <a:rPr lang="en-US" sz="1600" dirty="0">
                <a:latin typeface="Lato"/>
              </a:rPr>
              <a:t>Align timing of Master Plan projects with the above demand.</a:t>
            </a:r>
          </a:p>
          <a:p>
            <a:pPr lvl="1"/>
            <a:r>
              <a:rPr lang="en-US" sz="1600" dirty="0">
                <a:latin typeface="Lato"/>
              </a:rPr>
              <a:t>Use Fenway lease opportunities now to bridge to those future projects and demand.</a:t>
            </a:r>
          </a:p>
          <a:p>
            <a:endParaRPr lang="en-US" sz="2000" dirty="0">
              <a:latin typeface="Lato" panose="020F0502020204030203" pitchFamily="34" charset="0"/>
            </a:endParaRPr>
          </a:p>
          <a:p>
            <a:endParaRPr lang="en-US" sz="2000" dirty="0">
              <a:latin typeface="Lato" panose="020F0502020204030203" pitchFamily="34" charset="0"/>
            </a:endParaRPr>
          </a:p>
          <a:p>
            <a:pPr marL="0" indent="0">
              <a:buNone/>
            </a:pPr>
            <a:endParaRPr lang="en-US" sz="2000" dirty="0">
              <a:latin typeface="Lato" panose="020F0502020204030203" pitchFamily="34" charset="0"/>
            </a:endParaRPr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4"/>
          </p:nvPr>
        </p:nvSpPr>
        <p:spPr>
          <a:xfrm>
            <a:off x="11071770" y="250000"/>
            <a:ext cx="800000" cy="330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5370657-BCAD-410F-B549-244DD30E1C1D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52941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B85F1ACF-4CAC-83AD-A133-B1F468F45714}"/>
              </a:ext>
            </a:extLst>
          </p:cNvPr>
          <p:cNvSpPr txBox="1">
            <a:spLocks/>
          </p:cNvSpPr>
          <p:nvPr/>
        </p:nvSpPr>
        <p:spPr>
          <a:xfrm>
            <a:off x="320229" y="457200"/>
            <a:ext cx="7744117" cy="8147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>
                <a:latin typeface="Lato Bold" panose="020F0502020204030203" pitchFamily="34" charset="0"/>
                <a:ea typeface="Lato Bold" panose="020F0502020204030203" pitchFamily="34" charset="0"/>
                <a:cs typeface="Lato Bold" panose="020F0502020204030203" pitchFamily="34" charset="0"/>
              </a:rPr>
              <a:t>Next Steps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1F68A1E1-569A-271E-9E0B-30C8A6AD78E1}"/>
              </a:ext>
            </a:extLst>
          </p:cNvPr>
          <p:cNvCxnSpPr/>
          <p:nvPr/>
        </p:nvCxnSpPr>
        <p:spPr>
          <a:xfrm>
            <a:off x="451214" y="402771"/>
            <a:ext cx="1355815" cy="0"/>
          </a:xfrm>
          <a:prstGeom prst="line">
            <a:avLst/>
          </a:prstGeom>
          <a:ln w="28575">
            <a:solidFill>
              <a:srgbClr val="C810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AA83E145-65B3-DBDD-3C91-BC97C08F44A8}"/>
              </a:ext>
            </a:extLst>
          </p:cNvPr>
          <p:cNvSpPr>
            <a:spLocks noGrp="1"/>
          </p:cNvSpPr>
          <p:nvPr/>
        </p:nvSpPr>
        <p:spPr>
          <a:xfrm>
            <a:off x="715109" y="1676400"/>
            <a:ext cx="10283072" cy="419635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Real Text Pro" charset="0"/>
                <a:ea typeface="Real Text Pro" charset="0"/>
                <a:cs typeface="Real Text Pro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Real Text Pro" charset="0"/>
                <a:ea typeface="Real Text Pro" charset="0"/>
                <a:cs typeface="Real Text Pro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Real Text Pro" charset="0"/>
                <a:ea typeface="Real Text Pro" charset="0"/>
                <a:cs typeface="Real Text Pro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Real Text Pro" charset="0"/>
                <a:ea typeface="Real Text Pro" charset="0"/>
                <a:cs typeface="Real Text Pro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Real Text Pro" charset="0"/>
                <a:ea typeface="Real Text Pro" charset="0"/>
                <a:cs typeface="Real Text Pro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>
                <a:latin typeface="Lato"/>
              </a:rPr>
              <a:t>Confirm 140 The Fenway strategy</a:t>
            </a:r>
          </a:p>
          <a:p>
            <a:pPr lvl="1"/>
            <a:r>
              <a:rPr lang="en-US" sz="1600">
                <a:latin typeface="Lato"/>
              </a:rPr>
              <a:t>If able to stay, would NU extend lease? </a:t>
            </a:r>
          </a:p>
          <a:p>
            <a:pPr lvl="1"/>
            <a:r>
              <a:rPr lang="en-US" sz="1600">
                <a:latin typeface="Lato"/>
              </a:rPr>
              <a:t>Understand extension period lease terms and physical risks</a:t>
            </a:r>
          </a:p>
          <a:p>
            <a:pPr marL="457200" lvl="1" indent="0">
              <a:buNone/>
            </a:pPr>
            <a:endParaRPr lang="en-US" sz="1600">
              <a:latin typeface="Lato"/>
            </a:endParaRPr>
          </a:p>
          <a:p>
            <a:r>
              <a:rPr lang="en-US" sz="2000">
                <a:latin typeface="Lato"/>
              </a:rPr>
              <a:t>Confirm space and timing assumptions. </a:t>
            </a:r>
          </a:p>
          <a:p>
            <a:pPr lvl="1"/>
            <a:r>
              <a:rPr lang="en-US" sz="1600">
                <a:latin typeface="Lato"/>
              </a:rPr>
              <a:t>Recommend 2029 occupancy target to leverage current lab lease market</a:t>
            </a:r>
          </a:p>
          <a:p>
            <a:pPr lvl="1"/>
            <a:r>
              <a:rPr lang="en-US" sz="1600">
                <a:latin typeface="Lato"/>
              </a:rPr>
              <a:t>Determine total square feet required to meet overall goals.</a:t>
            </a:r>
          </a:p>
          <a:p>
            <a:pPr marL="457200" lvl="1" indent="0">
              <a:buNone/>
            </a:pPr>
            <a:endParaRPr lang="en-US" sz="1600">
              <a:latin typeface="Lato"/>
            </a:endParaRPr>
          </a:p>
          <a:p>
            <a:r>
              <a:rPr lang="en-US" sz="2000">
                <a:latin typeface="Lato"/>
              </a:rPr>
              <a:t>Request proposals from landlord including turnkey estimate/SF.</a:t>
            </a:r>
          </a:p>
          <a:p>
            <a:pPr marL="0" indent="0">
              <a:buNone/>
            </a:pPr>
            <a:endParaRPr lang="en-US" sz="2000">
              <a:latin typeface="Lato"/>
            </a:endParaRPr>
          </a:p>
          <a:p>
            <a:r>
              <a:rPr lang="en-US" sz="2000">
                <a:latin typeface="Lato"/>
              </a:rPr>
              <a:t>Create test fits of primary lab uses in each building to understand efficiency.</a:t>
            </a:r>
          </a:p>
          <a:p>
            <a:pPr marL="0" indent="0">
              <a:buNone/>
            </a:pPr>
            <a:endParaRPr lang="en-US" sz="2000">
              <a:latin typeface="Lato"/>
            </a:endParaRPr>
          </a:p>
          <a:p>
            <a:r>
              <a:rPr lang="en-US" sz="2000">
                <a:latin typeface="Lato"/>
              </a:rPr>
              <a:t>Explore vivarium opportunities - sharing and exhaust pathways.</a:t>
            </a:r>
          </a:p>
          <a:p>
            <a:endParaRPr lang="en-US" sz="2000">
              <a:latin typeface="Lato" panose="020F0502020204030203" pitchFamily="34" charset="0"/>
            </a:endParaRPr>
          </a:p>
          <a:p>
            <a:endParaRPr lang="en-US" sz="2000">
              <a:latin typeface="Lato" panose="020F0502020204030203" pitchFamily="34" charset="0"/>
            </a:endParaRPr>
          </a:p>
          <a:p>
            <a:pPr marL="0" indent="0">
              <a:buNone/>
            </a:pPr>
            <a:endParaRPr lang="en-US" sz="2000">
              <a:latin typeface="Lato" panose="020F0502020204030203" pitchFamily="34" charset="0"/>
            </a:endParaRPr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4"/>
          </p:nvPr>
        </p:nvSpPr>
        <p:spPr>
          <a:xfrm>
            <a:off x="11071770" y="250000"/>
            <a:ext cx="800000" cy="330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78C3625-26BD-4FFA-9574-3D8F8368DCBD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422898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ROPBOTTOM" val="0"/>
  <p:tag name="CROPLEFT" val="0"/>
  <p:tag name="CROPRIGHT" val="0"/>
  <p:tag name="CROPSTATE" val="CROPPED"/>
  <p:tag name="CROPTOP" val="0"/>
  <p:tag name="IMGINFO" val="﻿&lt;?xml version=&quot;1.0&quot; encoding=&quot;utf-8&quot;?&gt;&lt;ImageInfo OptBytes=&quot;813300&quot; OrigBytes=&quot;2345784&quot; User=&quot;ckim&quot; Quality=&quot;95&quot;&gt;&lt;OrigSize&gt;&lt;Width&gt;5970&lt;/Width&gt;&lt;Height&gt;2680&lt;/Height&gt;&lt;/OrigSize&gt;&lt;OptSize&gt;&lt;Width&gt;1920&lt;/Width&gt;&lt;Height&gt;861&lt;/Height&gt;&lt;/OptSize&gt;&lt;LastUpdate&gt;2022-07-26T02:11:14.3306691-04:00&lt;/LastUpdate&gt;&lt;CropInfo Left=&quot;0&quot; Right=&quot;0&quot; Top=&quot;0&quot; Bottom=&quot;0&quot; /&gt;&lt;/ImageInfo&gt;"/>
  <p:tag name="IMGPATH" val="\\S00769FR01\users$\ckim\Desktop\Northeastern-5.jpg"/>
  <p:tag name="POINT_HEIGHT" val="645.75"/>
  <p:tag name="POINT_WIDTH" val="144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ROPBOTTOM" val="0"/>
  <p:tag name="CROPLEFT" val="0"/>
  <p:tag name="CROPRIGHT" val="0"/>
  <p:tag name="CROPSTATE" val="CROPPED"/>
  <p:tag name="CROPTOP" val="0"/>
  <p:tag name="IMGINFO" val="﻿&lt;?xml version=&quot;1.0&quot; encoding=&quot;utf-8&quot;?&gt;&lt;ImageInfo OptBytes=&quot;813300&quot; OrigBytes=&quot;2345784&quot; User=&quot;ckim&quot; Quality=&quot;95&quot;&gt;&lt;OrigSize&gt;&lt;Width&gt;5970&lt;/Width&gt;&lt;Height&gt;2680&lt;/Height&gt;&lt;/OrigSize&gt;&lt;OptSize&gt;&lt;Width&gt;1920&lt;/Width&gt;&lt;Height&gt;861&lt;/Height&gt;&lt;/OptSize&gt;&lt;LastUpdate&gt;2022-07-26T02:11:14.3306691-04:00&lt;/LastUpdate&gt;&lt;CropInfo Left=&quot;0&quot; Right=&quot;0&quot; Top=&quot;0&quot; Bottom=&quot;0&quot; /&gt;&lt;/ImageInfo&gt;"/>
  <p:tag name="IMGPATH" val="\\S00769FR01\users$\ckim\Desktop\Northeastern-5.jpg"/>
  <p:tag name="POINT_HEIGHT" val="645.75"/>
  <p:tag name="POINT_WIDTH" val="144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ROPBOTTOM" val="0"/>
  <p:tag name="CROPLEFT" val="0"/>
  <p:tag name="CROPRIGHT" val="0"/>
  <p:tag name="CROPSTATE" val="CROPPED"/>
  <p:tag name="CROPTOP" val="0"/>
  <p:tag name="IMGINFO" val="﻿&lt;?xml version=&quot;1.0&quot; encoding=&quot;utf-8&quot;?&gt;&lt;ImageInfo OptBytes=&quot;813300&quot; OrigBytes=&quot;2345784&quot; User=&quot;ckim&quot; Quality=&quot;95&quot;&gt;&lt;OrigSize&gt;&lt;Width&gt;5970&lt;/Width&gt;&lt;Height&gt;2680&lt;/Height&gt;&lt;/OrigSize&gt;&lt;OptSize&gt;&lt;Width&gt;1920&lt;/Width&gt;&lt;Height&gt;861&lt;/Height&gt;&lt;/OptSize&gt;&lt;LastUpdate&gt;2022-07-26T02:11:14.3306691-04:00&lt;/LastUpdate&gt;&lt;CropInfo Left=&quot;0&quot; Right=&quot;0&quot; Top=&quot;0&quot; Bottom=&quot;0&quot; /&gt;&lt;/ImageInfo&gt;"/>
  <p:tag name="IMGPATH" val="\\S00769FR01\users$\ckim\Desktop\Northeastern-5.jpg"/>
  <p:tag name="POINT_HEIGHT" val="645.75"/>
  <p:tag name="POINT_WIDTH" val="1440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ROPBOTTOM" val="0"/>
  <p:tag name="CROPLEFT" val="0"/>
  <p:tag name="CROPRIGHT" val="0"/>
  <p:tag name="CROPSTATE" val="CROPPED"/>
  <p:tag name="CROPTOP" val="0"/>
  <p:tag name="IMGINFO" val="﻿&lt;?xml version=&quot;1.0&quot; encoding=&quot;utf-8&quot;?&gt;&lt;ImageInfo OptBytes=&quot;813300&quot; OrigBytes=&quot;2345784&quot; User=&quot;ckim&quot; Quality=&quot;95&quot;&gt;&lt;OrigSize&gt;&lt;Width&gt;5970&lt;/Width&gt;&lt;Height&gt;2680&lt;/Height&gt;&lt;/OrigSize&gt;&lt;OptSize&gt;&lt;Width&gt;1920&lt;/Width&gt;&lt;Height&gt;861&lt;/Height&gt;&lt;/OptSize&gt;&lt;LastUpdate&gt;2022-07-26T02:11:14.3306691-04:00&lt;/LastUpdate&gt;&lt;CropInfo Left=&quot;0&quot; Right=&quot;0&quot; Top=&quot;0&quot; Bottom=&quot;0&quot; /&gt;&lt;/ImageInfo&gt;"/>
  <p:tag name="IMGPATH" val="\\S00769FR01\users$\ckim\Desktop\Northeastern-5.jpg"/>
  <p:tag name="POINT_HEIGHT" val="645.75"/>
  <p:tag name="POINT_WIDTH" val="1440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ROPBOTTOM" val="0"/>
  <p:tag name="CROPLEFT" val="0"/>
  <p:tag name="CROPRIGHT" val="0"/>
  <p:tag name="CROPSTATE" val="CROPPED"/>
  <p:tag name="CROPTOP" val="0"/>
  <p:tag name="IMGINFO" val="﻿&lt;?xml version=&quot;1.0&quot; encoding=&quot;utf-8&quot;?&gt;&lt;ImageInfo OptBytes=&quot;813300&quot; OrigBytes=&quot;2345784&quot; User=&quot;ckim&quot; Quality=&quot;95&quot;&gt;&lt;OrigSize&gt;&lt;Width&gt;5970&lt;/Width&gt;&lt;Height&gt;2680&lt;/Height&gt;&lt;/OrigSize&gt;&lt;OptSize&gt;&lt;Width&gt;1920&lt;/Width&gt;&lt;Height&gt;861&lt;/Height&gt;&lt;/OptSize&gt;&lt;LastUpdate&gt;2022-07-26T02:11:14.3306691-04:00&lt;/LastUpdate&gt;&lt;CropInfo Left=&quot;0&quot; Right=&quot;0&quot; Top=&quot;0&quot; Bottom=&quot;0&quot; /&gt;&lt;/ImageInfo&gt;"/>
  <p:tag name="IMGPATH" val="\\S00769FR01\users$\ckim\Desktop\Northeastern-5.jpg"/>
  <p:tag name="POINT_HEIGHT" val="645.75"/>
  <p:tag name="POINT_WIDTH" val="1440"/>
</p:tagLst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3A3A3F"/>
      </a:dk2>
      <a:lt2>
        <a:srgbClr val="F4F4F5"/>
      </a:lt2>
      <a:accent1>
        <a:srgbClr val="C8102E"/>
      </a:accent1>
      <a:accent2>
        <a:srgbClr val="3A3A3F"/>
      </a:accent2>
      <a:accent3>
        <a:srgbClr val="8A8D8F"/>
      </a:accent3>
      <a:accent4>
        <a:srgbClr val="A4804A"/>
      </a:accent4>
      <a:accent5>
        <a:srgbClr val="A50D24"/>
      </a:accent5>
      <a:accent6>
        <a:srgbClr val="6B6B70"/>
      </a:accent6>
      <a:hlink>
        <a:srgbClr val="467886"/>
      </a:hlink>
      <a:folHlink>
        <a:srgbClr val="96607D"/>
      </a:folHlink>
    </a:clrScheme>
    <a:fontScheme name="Office">
      <a:majorFont>
        <a:latin typeface="Lat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Lat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Precedent Study Template">
  <a:themeElements>
    <a:clrScheme name="Green Yellow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Firm Precedent Study Template">
  <a:themeElements>
    <a:clrScheme name="Green Yellow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4.xml><?xml version="1.0" encoding="utf-8"?>
<a:theme xmlns:a="http://schemas.openxmlformats.org/drawingml/2006/main" name="Problem Solving Template">
  <a:themeElements>
    <a:clrScheme name="Green Yellow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5.xml><?xml version="1.0" encoding="utf-8"?>
<a:theme xmlns:a="http://schemas.openxmlformats.org/drawingml/2006/main" name="Consultant RFP Template">
  <a:themeElements>
    <a:clrScheme name="Green Yellow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9E3400E2195574194CC176A36109E77" ma:contentTypeVersion="21" ma:contentTypeDescription="Create a new document." ma:contentTypeScope="" ma:versionID="1ccc62cf86a754cf43cdb4273ec29858">
  <xsd:schema xmlns:xsd="http://www.w3.org/2001/XMLSchema" xmlns:xs="http://www.w3.org/2001/XMLSchema" xmlns:p="http://schemas.microsoft.com/office/2006/metadata/properties" xmlns:ns1="http://schemas.microsoft.com/sharepoint/v3" xmlns:ns2="eb7df3ed-3661-4b11-8f4f-07ddd69d4739" xmlns:ns3="6250eaf0-41d4-4bc8-876f-8a3bc404f7b4" xmlns:ns4="e9952153-5aa5-42e8-8300-ccc6398e6c31" targetNamespace="http://schemas.microsoft.com/office/2006/metadata/properties" ma:root="true" ma:fieldsID="9a36d792ea07843597dbaf3e8ace29f5" ns1:_="" ns2:_="" ns3:_="" ns4:_="">
    <xsd:import namespace="http://schemas.microsoft.com/sharepoint/v3"/>
    <xsd:import namespace="eb7df3ed-3661-4b11-8f4f-07ddd69d4739"/>
    <xsd:import namespace="6250eaf0-41d4-4bc8-876f-8a3bc404f7b4"/>
    <xsd:import namespace="e9952153-5aa5-42e8-8300-ccc6398e6c3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LengthInSeconds" minOccurs="0"/>
                <xsd:element ref="ns2:lcf76f155ced4ddcb4097134ff3c332f" minOccurs="0"/>
                <xsd:element ref="ns4:TaxCatchAll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  <xsd:element ref="ns1:_ip_UnifiedCompliancePolicyProperties" minOccurs="0"/>
                <xsd:element ref="ns1:_ip_UnifiedCompliancePolicyUIAc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6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7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b7df3ed-3661-4b11-8f4f-07ddd69d473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1" nillable="true" ma:displayName="MediaServiceDateTaken" ma:hidden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4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5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16" nillable="true" ma:displayName="Location" ma:internalName="MediaServiceLocation" ma:readOnly="true">
      <xsd:simpleType>
        <xsd:restriction base="dms:Text"/>
      </xsd:simpleType>
    </xsd:element>
    <xsd:element name="MediaLengthInSeconds" ma:index="19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99a8f194-becd-4f93-a34b-b9b3045b787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5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250eaf0-41d4-4bc8-876f-8a3bc404f7b4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9952153-5aa5-42e8-8300-ccc6398e6c31" elementFormDefault="qualified">
    <xsd:import namespace="http://schemas.microsoft.com/office/2006/documentManagement/types"/>
    <xsd:import namespace="http://schemas.microsoft.com/office/infopath/2007/PartnerControls"/>
    <xsd:element name="TaxCatchAll" ma:index="22" nillable="true" ma:displayName="Taxonomy Catch All Column" ma:hidden="true" ma:list="{848707a1-c1c5-4963-bf0a-56d6c494d4d5}" ma:internalName="TaxCatchAll" ma:showField="CatchAllData" ma:web="6250eaf0-41d4-4bc8-876f-8a3bc404f7b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e9952153-5aa5-42e8-8300-ccc6398e6c31" xsi:nil="true"/>
    <lcf76f155ced4ddcb4097134ff3c332f xmlns="eb7df3ed-3661-4b11-8f4f-07ddd69d4739">
      <Terms xmlns="http://schemas.microsoft.com/office/infopath/2007/PartnerControls"/>
    </lcf76f155ced4ddcb4097134ff3c332f>
    <SharedWithUsers xmlns="6250eaf0-41d4-4bc8-876f-8a3bc404f7b4">
      <UserInfo>
        <DisplayName>Beane, Lionel</DisplayName>
        <AccountId>750</AccountId>
        <AccountType/>
      </UserInfo>
    </SharedWithUsers>
    <_ip_UnifiedCompliancePolicyUIAction xmlns="http://schemas.microsoft.com/sharepoint/v3" xsi:nil="true"/>
    <_ip_UnifiedCompliancePolicyProperties xmlns="http://schemas.microsoft.com/sharepoint/v3" xsi:nil="true"/>
  </documentManagement>
</p:properties>
</file>

<file path=customXml/itemProps1.xml><?xml version="1.0" encoding="utf-8"?>
<ds:datastoreItem xmlns:ds="http://schemas.openxmlformats.org/officeDocument/2006/customXml" ds:itemID="{E9B0916C-8F2C-45E1-BC18-201B6D6272B0}">
  <ds:schemaRefs>
    <ds:schemaRef ds:uri="6250eaf0-41d4-4bc8-876f-8a3bc404f7b4"/>
    <ds:schemaRef ds:uri="e9952153-5aa5-42e8-8300-ccc6398e6c31"/>
    <ds:schemaRef ds:uri="eb7df3ed-3661-4b11-8f4f-07ddd69d4739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1A266CA9-FF4D-4EE9-B750-4FF2744EE45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B884119-3772-4AA4-BBE9-21D14E1F5E13}">
  <ds:schemaRefs>
    <ds:schemaRef ds:uri="6250eaf0-41d4-4bc8-876f-8a3bc404f7b4"/>
    <ds:schemaRef ds:uri="e9952153-5aa5-42e8-8300-ccc6398e6c31"/>
    <ds:schemaRef ds:uri="eb7df3ed-3661-4b11-8f4f-07ddd69d4739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XML/1998/namespace"/>
  </ds:schemaRefs>
</ds:datastoreItem>
</file>

<file path=docMetadata/LabelInfo.xml><?xml version="1.0" encoding="utf-8"?>
<clbl:labelList xmlns:clbl="http://schemas.microsoft.com/office/2020/mipLabelMetadata">
  <clbl:label id="{7893ce20-a697-4fd6-a4da-14011f6a471d}" enabled="1" method="Standard" siteId="{a8eec281-aaa3-4dae-ac9b-9a398b9215e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505</Words>
  <Application>Microsoft Office PowerPoint</Application>
  <PresentationFormat>Widescreen</PresentationFormat>
  <Paragraphs>136</Paragraphs>
  <Slides>6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5</vt:i4>
      </vt:variant>
      <vt:variant>
        <vt:lpstr>Slide Titles</vt:lpstr>
      </vt:variant>
      <vt:variant>
        <vt:i4>6</vt:i4>
      </vt:variant>
    </vt:vector>
  </HeadingPairs>
  <TitlesOfParts>
    <vt:vector size="21" baseType="lpstr">
      <vt:lpstr>Aptos</vt:lpstr>
      <vt:lpstr>Aptos Display</vt:lpstr>
      <vt:lpstr>Arial</vt:lpstr>
      <vt:lpstr>Courier New</vt:lpstr>
      <vt:lpstr>Lato</vt:lpstr>
      <vt:lpstr>Lato Black</vt:lpstr>
      <vt:lpstr>Lato Bold</vt:lpstr>
      <vt:lpstr>Real Head Pro</vt:lpstr>
      <vt:lpstr>Real Text Pro</vt:lpstr>
      <vt:lpstr>Wingdings</vt:lpstr>
      <vt:lpstr>Custom Design</vt:lpstr>
      <vt:lpstr>Precedent Study Template</vt:lpstr>
      <vt:lpstr>Firm Precedent Study Template</vt:lpstr>
      <vt:lpstr>Problem Solving Template</vt:lpstr>
      <vt:lpstr>Consultant RFP Template</vt:lpstr>
      <vt:lpstr>Fenway Lease Opportunities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Patel, Divya</dc:creator>
  <cp:lastModifiedBy>O'Meally, Lissa</cp:lastModifiedBy>
  <cp:revision>57</cp:revision>
  <cp:lastPrinted>2026-01-30T16:52:03Z</cp:lastPrinted>
  <dcterms:created xsi:type="dcterms:W3CDTF">2024-06-06T16:46:03Z</dcterms:created>
  <dcterms:modified xsi:type="dcterms:W3CDTF">2026-09-25T23:12:33Z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ontentTypeId">
    <vt:lpwstr>0x01010069E3400E2195574194CC176A36109E77</vt:lpwstr>
  </property>
</Properties>
</file>