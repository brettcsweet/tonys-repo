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(4a: 2 floors; 4b: 3 floors)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04a/b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030000"/>
                <a:gridCol w="1560000"/>
                <a:gridCol w="1483162"/>
                <a:gridCol w="1483162"/>
                <a:gridCol w="1483162"/>
                <a:gridCol w="1483162"/>
                <a:gridCol w="1483162"/>
                <a:gridCol w="1483162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34,450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48,100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3a/3b/4a/4b)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$60M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$459-550/SF (109,000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$22M – $26M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(74,000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$66M – $80M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– $108M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 – $6M/yr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$42-51/SF/yr (109,000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 – 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$126-133/SF/yr (74,000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2/3a/3b/4a/4b: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3a/3b/4a/4b: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34,450 ASF assumes ~13%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3a/3b/4a/4b: capital @ $300-350/SF; Assignable SF @ 65%; Annual Cost = Rent + Tax + capital @ 8% cap rate (landlord-financed); TCOL uses 10-yr synthetic rent on that capital, not the outlay. Options 1/2 add 30-yr P&amp;I @ 5% ($47M; $56M – $70M incl. reno); Option 2 adds ~$1M/yr opportunity cost (5% on $20M NU-owned value; ~$10M in TCOL).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$60M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