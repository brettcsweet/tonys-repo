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24,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(Infrastructure does not support </a:t>
            </a:r>
            <a:b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</a:b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140 TF research as is)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780281"/>
        </p:xfrm>
        <a:graphic>
          <a:graphicData uri="http://schemas.openxmlformats.org/drawingml/2006/table">
            <a:tbl>
              <a:tblPr/>
              <a:tblGrid>
                <a:gridCol w="1351254">
                  <a:extLst>
                    <a:ext uri="{9D8B030D-6E8A-4147-A177-3AD203B41FA5}">
                      <a16:colId xmlns:a16="http://schemas.microsoft.com/office/drawing/2014/main" val="1775924910"/>
                    </a:ext>
                  </a:extLst>
                </a:gridCol>
                <a:gridCol w="1897944">
                  <a:extLst>
                    <a:ext uri="{9D8B030D-6E8A-4147-A177-3AD203B41FA5}">
                      <a16:colId xmlns:a16="http://schemas.microsoft.com/office/drawing/2014/main" val="4208592942"/>
                    </a:ext>
                  </a:extLst>
                </a:gridCol>
                <a:gridCol w="1845347">
                  <a:extLst>
                    <a:ext uri="{9D8B030D-6E8A-4147-A177-3AD203B41FA5}">
                      <a16:colId xmlns:a16="http://schemas.microsoft.com/office/drawing/2014/main" val="4291500169"/>
                    </a:ext>
                  </a:extLst>
                </a:gridCol>
                <a:gridCol w="2111188">
                  <a:extLst>
                    <a:ext uri="{9D8B030D-6E8A-4147-A177-3AD203B41FA5}">
                      <a16:colId xmlns:a16="http://schemas.microsoft.com/office/drawing/2014/main" val="1773431624"/>
                    </a:ext>
                  </a:extLst>
                </a:gridCol>
                <a:gridCol w="2085811">
                  <a:extLst>
                    <a:ext uri="{9D8B030D-6E8A-4147-A177-3AD203B41FA5}">
                      <a16:colId xmlns:a16="http://schemas.microsoft.com/office/drawing/2014/main" val="3024947518"/>
                    </a:ext>
                  </a:extLst>
                </a:gridCol>
                <a:gridCol w="2197428">
                  <a:extLst>
                    <a:ext uri="{9D8B030D-6E8A-4147-A177-3AD203B41FA5}">
                      <a16:colId xmlns:a16="http://schemas.microsoft.com/office/drawing/2014/main" val="2932155272"/>
                    </a:ext>
                  </a:extLst>
                </a:gridCol>
              </a:tblGrid>
              <a:tr h="83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TI allowance ($350/SF)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$413/SF (109,000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$51M – $55M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$151M – $159M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$156M – $165M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62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$84/SF/yr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$3.9M/yr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$36/SF/yr (109,000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$132-142/SF/yr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$15M – $16M/yr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$135-144/SF/yr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607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Additional costs to relocate non lab uses. Location TBD.  </a:t>
            </a: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3a/3b: Non-Lab/Office Reno costs will be paid from proceeds of the 4 Burlington Woods sale.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140TF capital includes $26M DM projection + $21M lab renewal.  In addition, $22M DM spent on 140TF to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(red): Total RSF basis; Rent/Tax &amp; Annual Cost=$/SF/yr, TCOL=cumulative. 3a/3b Capital @ $300-350/SF ($350/SF benchmark); Reno @ 20,000 SF, $300-500/SF. 3a/3b Assignable SF @ 65%. Annual Cost=Rent+Tax $/SF/yr + 3a/3b landlord-financed capital @ 8% cap rate; 3a/3b TCOL uses that capital’s 10-yr synthetic rent (×8%×10yrs), not the outlay. Option 1 adds 5% capital cost on $47M (leased, no opportunity cost). Option 2 adds 30-yr P&amp;I on $45M @ 5% (~$2.9M/yr) + ~$1M/yr (5% opportunity cost of $20M, NU-owned).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TFW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